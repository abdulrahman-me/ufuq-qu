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3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4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6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7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8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9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10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11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12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13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14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15.xml" ContentType="application/vnd.openxmlformats-officedocument.presentationml.notesSlid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16.xml" ContentType="application/vnd.openxmlformats-officedocument.presentationml.notesSlid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17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18.xml" ContentType="application/vnd.openxmlformats-officedocument.presentationml.notesSlide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19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20.xml" ContentType="application/vnd.openxmlformats-officedocument.presentationml.notesSlid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21.xml" ContentType="application/vnd.openxmlformats-officedocument.presentationml.notesSlide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22.xml" ContentType="application/vnd.openxmlformats-officedocument.presentationml.notesSlid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23.xml" ContentType="application/vnd.openxmlformats-officedocument.presentationml.notesSlide+xml"/>
  <Override PartName="/ppt/tags/tag4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sldIdLst>
    <p:sldId id="256" r:id="rId2"/>
    <p:sldId id="257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8" r:id="rId16"/>
    <p:sldId id="277" r:id="rId17"/>
    <p:sldId id="279" r:id="rId18"/>
    <p:sldId id="280" r:id="rId19"/>
    <p:sldId id="281" r:id="rId20"/>
    <p:sldId id="284" r:id="rId21"/>
    <p:sldId id="282" r:id="rId22"/>
    <p:sldId id="283" r:id="rId23"/>
    <p:sldId id="288" r:id="rId24"/>
    <p:sldId id="289" r:id="rId25"/>
    <p:sldId id="285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yfa" initials="H" lastIdx="8" clrIdx="0"/>
  <p:cmAuthor id="2" name="Soha S.Zaghloul" initials="SZ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62"/>
    <p:restoredTop sz="94719"/>
  </p:normalViewPr>
  <p:slideViewPr>
    <p:cSldViewPr>
      <p:cViewPr varScale="1">
        <p:scale>
          <a:sx n="148" d="100"/>
          <a:sy n="148" d="100"/>
        </p:scale>
        <p:origin x="2472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F34CE5-5371-4E63-BCEB-0069C9C00441}" type="datetimeFigureOut">
              <a:rPr lang="en-US" smtClean="0"/>
              <a:pPr/>
              <a:t>3/26/24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C812F4-FF93-4B05-95F7-68431D05057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602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4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6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8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0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7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2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8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4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9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6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8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0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2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4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6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8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0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7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2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8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4.xm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9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6.xml"/></Relationships>
</file>

<file path=ppt/notesSlides/_rels/notesSlide1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8.xml"/></Relationships>
</file>

<file path=ppt/notesSlides/_rels/notesSlide2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40.xml"/></Relationships>
</file>

<file path=ppt/notesSlides/_rels/notesSlide2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42.xml"/></Relationships>
</file>

<file path=ppt/notesSlides/_rels/notesSlide2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44.xml"/></Relationships>
</file>

<file path=ppt/notesSlides/_rels/notesSlide2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4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9923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2841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6086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2072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4094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1249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3224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1057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1353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8744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2585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4509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1883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2637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4243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0799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8084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6044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6283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2426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5767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57674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576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F0825574-E5D2-4BDE-BFB3-FDF071A8F0CB}" type="datetimeFigureOut">
              <a:rPr lang="en-US" smtClean="0"/>
              <a:pPr/>
              <a:t>3/26/24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E20CA51C-10A0-498A-8694-5423B51E252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25574-E5D2-4BDE-BFB3-FDF071A8F0CB}" type="datetimeFigureOut">
              <a:rPr lang="en-US" smtClean="0"/>
              <a:pPr/>
              <a:t>3/26/24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CA51C-10A0-498A-8694-5423B51E252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25574-E5D2-4BDE-BFB3-FDF071A8F0CB}" type="datetimeFigureOut">
              <a:rPr lang="en-US" smtClean="0"/>
              <a:pPr/>
              <a:t>3/26/24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CA51C-10A0-498A-8694-5423B51E252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25574-E5D2-4BDE-BFB3-FDF071A8F0CB}" type="datetimeFigureOut">
              <a:rPr lang="en-US" smtClean="0"/>
              <a:pPr/>
              <a:t>3/26/24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CA51C-10A0-498A-8694-5423B51E252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25574-E5D2-4BDE-BFB3-FDF071A8F0CB}" type="datetimeFigureOut">
              <a:rPr lang="en-US" smtClean="0"/>
              <a:pPr/>
              <a:t>3/26/24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CA51C-10A0-498A-8694-5423B51E252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25574-E5D2-4BDE-BFB3-FDF071A8F0CB}" type="datetimeFigureOut">
              <a:rPr lang="en-US" smtClean="0"/>
              <a:pPr/>
              <a:t>3/26/24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CA51C-10A0-498A-8694-5423B51E252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25574-E5D2-4BDE-BFB3-FDF071A8F0CB}" type="datetimeFigureOut">
              <a:rPr lang="en-US" smtClean="0"/>
              <a:pPr/>
              <a:t>3/26/24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CA51C-10A0-498A-8694-5423B51E252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F0825574-E5D2-4BDE-BFB3-FDF071A8F0CB}" type="datetimeFigureOut">
              <a:rPr lang="en-US" smtClean="0"/>
              <a:pPr/>
              <a:t>3/26/24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CA51C-10A0-498A-8694-5423B51E252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F0825574-E5D2-4BDE-BFB3-FDF071A8F0CB}" type="datetimeFigureOut">
              <a:rPr lang="en-US" smtClean="0"/>
              <a:pPr/>
              <a:t>3/26/24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E20CA51C-10A0-498A-8694-5423B51E252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25574-E5D2-4BDE-BFB3-FDF071A8F0CB}" type="datetimeFigureOut">
              <a:rPr lang="en-US" smtClean="0"/>
              <a:pPr/>
              <a:t>3/26/24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CA51C-10A0-498A-8694-5423B51E252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25574-E5D2-4BDE-BFB3-FDF071A8F0CB}" type="datetimeFigureOut">
              <a:rPr lang="en-US" smtClean="0"/>
              <a:pPr/>
              <a:t>3/26/24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CA51C-10A0-498A-8694-5423B51E252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F0825574-E5D2-4BDE-BFB3-FDF071A8F0CB}" type="datetimeFigureOut">
              <a:rPr lang="en-US" smtClean="0"/>
              <a:pPr/>
              <a:t>3/26/24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E20CA51C-10A0-498A-8694-5423B51E252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/>
          </p:cNvSpPr>
          <p:nvPr>
            <p:ph type="ctrTitle"/>
          </p:nvPr>
        </p:nvSpPr>
        <p:spPr>
          <a:xfrm>
            <a:off x="251521" y="2708920"/>
            <a:ext cx="8640960" cy="1152128"/>
          </a:xfrm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anchor="b">
            <a:normAutofit fontScale="900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br>
              <a:rPr lang="en-US" sz="5400" dirty="0">
                <a:solidFill>
                  <a:srgbClr val="C00000"/>
                </a:solidFill>
              </a:rPr>
            </a:br>
            <a:br>
              <a:rPr lang="en-US" sz="5400" dirty="0">
                <a:solidFill>
                  <a:srgbClr val="C00000"/>
                </a:solidFill>
              </a:rPr>
            </a:br>
            <a:r>
              <a:rPr lang="en-US" sz="5400" dirty="0">
                <a:solidFill>
                  <a:srgbClr val="C00000"/>
                </a:solidFill>
              </a:rPr>
              <a:t> </a:t>
            </a:r>
            <a:r>
              <a:rPr lang="en-US" sz="5400">
                <a:solidFill>
                  <a:srgbClr val="C00000"/>
                </a:solidFill>
              </a:rPr>
              <a:t>REPETITION (2)</a:t>
            </a:r>
            <a:endParaRPr lang="en-US" sz="5400" dirty="0">
              <a:solidFill>
                <a:srgbClr val="C00000"/>
              </a:solidFill>
            </a:endParaRPr>
          </a:p>
        </p:txBody>
      </p:sp>
      <p:sp>
        <p:nvSpPr>
          <p:cNvPr id="5" name="PPTShape_0"/>
          <p:cNvSpPr txBox="1">
            <a:spLocks/>
          </p:cNvSpPr>
          <p:nvPr/>
        </p:nvSpPr>
        <p:spPr>
          <a:xfrm>
            <a:off x="72008" y="5949280"/>
            <a:ext cx="1895071" cy="64633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>
            <a:defPPr>
              <a:defRPr lang="en-US"/>
            </a:defPPr>
            <a:lvl1pPr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Tahoma" charset="0"/>
                <a:ea typeface="ＭＳ Ｐゴシック" charset="0"/>
                <a:cs typeface="Arial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5pPr>
            <a:lvl6pPr defTabSz="457200">
              <a:defRPr>
                <a:latin typeface="Tahoma" charset="0"/>
                <a:ea typeface="ＭＳ Ｐゴシック" charset="0"/>
                <a:cs typeface="Arial" charset="0"/>
              </a:defRPr>
            </a:lvl6pPr>
            <a:lvl7pPr defTabSz="457200">
              <a:defRPr>
                <a:latin typeface="Tahoma" charset="0"/>
                <a:ea typeface="ＭＳ Ｐゴシック" charset="0"/>
                <a:cs typeface="Arial" charset="0"/>
              </a:defRPr>
            </a:lvl7pPr>
            <a:lvl8pPr defTabSz="457200">
              <a:defRPr>
                <a:latin typeface="Tahoma" charset="0"/>
                <a:ea typeface="ＭＳ Ｐゴシック" charset="0"/>
                <a:cs typeface="Arial" charset="0"/>
              </a:defRPr>
            </a:lvl8pPr>
            <a:lvl9pPr defTabSz="457200">
              <a:defRPr>
                <a:latin typeface="Tahoma" charset="0"/>
                <a:ea typeface="ＭＳ Ｐゴシック" charset="0"/>
                <a:cs typeface="Arial" charset="0"/>
              </a:defRPr>
            </a:lvl9pPr>
          </a:lstStyle>
          <a:p>
            <a:r>
              <a:rPr lang="en-US"/>
              <a:t>CS 1301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644008" y="3861048"/>
            <a:ext cx="4248472" cy="12241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dirty="0">
                <a:solidFill>
                  <a:srgbClr val="00B0F0"/>
                </a:solidFill>
              </a:rPr>
              <a:t>while</a:t>
            </a:r>
          </a:p>
        </p:txBody>
      </p:sp>
    </p:spTree>
    <p:extLst>
      <p:ext uri="{BB962C8B-B14F-4D97-AF65-F5344CB8AC3E}">
        <p14:creationId xmlns:p14="http://schemas.microsoft.com/office/powerpoint/2010/main" val="3472846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2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612648" y="1110952"/>
            <a:ext cx="8153400" cy="5486400"/>
          </a:xfrm>
          <a:prstGeom prst="foldedCorner">
            <a:avLst>
              <a:gd name="adj" fmla="val 36304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marL="0" indent="0"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2400" dirty="0">
                <a:latin typeface="Tahoma" charset="0"/>
                <a:cs typeface="Arial" charset="0"/>
              </a:rPr>
              <a:t>1. The </a:t>
            </a:r>
            <a:r>
              <a:rPr lang="en-US" sz="2400" dirty="0">
                <a:solidFill>
                  <a:srgbClr val="00B0F0"/>
                </a:solidFill>
                <a:latin typeface="Tahoma" charset="0"/>
                <a:cs typeface="Arial" charset="0"/>
              </a:rPr>
              <a:t>while </a:t>
            </a:r>
            <a:r>
              <a:rPr lang="en-US" sz="2400" dirty="0">
                <a:latin typeface="Tahoma" charset="0"/>
                <a:cs typeface="Arial" charset="0"/>
              </a:rPr>
              <a:t>statement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2000" dirty="0">
                <a:solidFill>
                  <a:srgbClr val="0000FF"/>
                </a:solidFill>
                <a:latin typeface="Tahoma" charset="0"/>
                <a:cs typeface="Arial" charset="0"/>
              </a:rPr>
              <a:t>	1.1 Syntax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2000" dirty="0">
                <a:solidFill>
                  <a:srgbClr val="0000FF"/>
                </a:solidFill>
                <a:latin typeface="Tahoma" charset="0"/>
                <a:cs typeface="Arial" charset="0"/>
              </a:rPr>
              <a:t>	1.2 Flowchart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2000" dirty="0">
                <a:solidFill>
                  <a:srgbClr val="0000FF"/>
                </a:solidFill>
                <a:latin typeface="Tahoma" charset="0"/>
                <a:cs typeface="Arial" charset="0"/>
              </a:rPr>
              <a:t>	1.3 Counter-controlled loop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2000" dirty="0">
                <a:solidFill>
                  <a:srgbClr val="0000FF"/>
                </a:solidFill>
                <a:latin typeface="Tahoma" charset="0"/>
                <a:cs typeface="Arial" charset="0"/>
              </a:rPr>
              <a:t>	1.4 Sentinel-controlled loop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Tahoma" charset="0"/>
                <a:cs typeface="Arial" charset="0"/>
              </a:rPr>
              <a:t>		1.4.1 Programming Hint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2000" dirty="0">
                <a:solidFill>
                  <a:srgbClr val="0000FF"/>
                </a:solidFill>
                <a:latin typeface="Tahoma" charset="0"/>
                <a:cs typeface="Arial" charset="0"/>
              </a:rPr>
              <a:t>	1.5 Flag-controlled loop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777240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Outline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657535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1.1 SYNTAX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1. The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while </a:t>
            </a:r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Statement</a:t>
            </a:r>
            <a:endParaRPr lang="en-US" sz="28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691679" y="1340768"/>
            <a:ext cx="7215369" cy="648072"/>
          </a:xfrm>
          <a:prstGeom prst="roundRect">
            <a:avLst>
              <a:gd name="adj" fmla="val 3415"/>
            </a:avLst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>
                <a:solidFill>
                  <a:srgbClr val="00B0F0"/>
                </a:solidFill>
              </a:rPr>
              <a:t>while </a:t>
            </a:r>
            <a:r>
              <a:rPr lang="en-US" sz="1600" dirty="0">
                <a:solidFill>
                  <a:srgbClr val="0000FF"/>
                </a:solidFill>
              </a:rPr>
              <a:t>(logical expression)</a:t>
            </a:r>
          </a:p>
          <a:p>
            <a:r>
              <a:rPr lang="en-US" sz="1600" dirty="0">
                <a:solidFill>
                  <a:srgbClr val="0000FF"/>
                </a:solidFill>
              </a:rPr>
              <a:t>  statement 1;</a:t>
            </a:r>
          </a:p>
          <a:p>
            <a:r>
              <a:rPr lang="en-US" sz="1600" dirty="0">
                <a:solidFill>
                  <a:srgbClr val="0000FF"/>
                </a:solidFill>
              </a:rPr>
              <a:t> 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504" y="1340768"/>
            <a:ext cx="1440160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SYNTAX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91679" y="2348880"/>
            <a:ext cx="7215369" cy="1800200"/>
          </a:xfrm>
          <a:prstGeom prst="roundRect">
            <a:avLst>
              <a:gd name="adj" fmla="val 3415"/>
            </a:avLst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>
                <a:solidFill>
                  <a:srgbClr val="00B0F0"/>
                </a:solidFill>
              </a:rPr>
              <a:t>while </a:t>
            </a:r>
            <a:r>
              <a:rPr lang="en-US" sz="1600" dirty="0">
                <a:solidFill>
                  <a:srgbClr val="0000FF"/>
                </a:solidFill>
              </a:rPr>
              <a:t>(logical expression)</a:t>
            </a:r>
          </a:p>
          <a:p>
            <a:r>
              <a:rPr lang="en-US" sz="1600" dirty="0">
                <a:solidFill>
                  <a:srgbClr val="0000FF"/>
                </a:solidFill>
              </a:rPr>
              <a:t>   </a:t>
            </a:r>
            <a:r>
              <a:rPr lang="en-US" sz="1600" dirty="0">
                <a:solidFill>
                  <a:srgbClr val="FF0000"/>
                </a:solidFill>
              </a:rPr>
              <a:t>{</a:t>
            </a:r>
            <a:r>
              <a:rPr lang="en-US" sz="1600" dirty="0">
                <a:solidFill>
                  <a:srgbClr val="0000FF"/>
                </a:solidFill>
              </a:rPr>
              <a:t> </a:t>
            </a:r>
          </a:p>
          <a:p>
            <a:r>
              <a:rPr lang="en-US" sz="1600" dirty="0">
                <a:solidFill>
                  <a:srgbClr val="0000FF"/>
                </a:solidFill>
              </a:rPr>
              <a:t>     statement 1;</a:t>
            </a:r>
          </a:p>
          <a:p>
            <a:r>
              <a:rPr lang="en-US" sz="1600" dirty="0">
                <a:solidFill>
                  <a:srgbClr val="0000FF"/>
                </a:solidFill>
              </a:rPr>
              <a:t>     statement 2;</a:t>
            </a:r>
          </a:p>
          <a:p>
            <a:r>
              <a:rPr lang="en-US" sz="1600" dirty="0">
                <a:solidFill>
                  <a:srgbClr val="0000FF"/>
                </a:solidFill>
              </a:rPr>
              <a:t>     ---</a:t>
            </a:r>
          </a:p>
          <a:p>
            <a:r>
              <a:rPr lang="en-US" sz="1600" dirty="0">
                <a:solidFill>
                  <a:srgbClr val="0000FF"/>
                </a:solidFill>
              </a:rPr>
              <a:t>     statement </a:t>
            </a:r>
            <a:r>
              <a:rPr lang="en-US" sz="1600">
                <a:solidFill>
                  <a:srgbClr val="0000FF"/>
                </a:solidFill>
              </a:rPr>
              <a:t>n;</a:t>
            </a:r>
            <a:endParaRPr lang="en-US" sz="1600" dirty="0">
              <a:solidFill>
                <a:srgbClr val="0000FF"/>
              </a:solidFill>
            </a:endParaRPr>
          </a:p>
          <a:p>
            <a:r>
              <a:rPr lang="en-US" sz="1600" dirty="0">
                <a:solidFill>
                  <a:srgbClr val="0000FF"/>
                </a:solidFill>
              </a:rPr>
              <a:t>   </a:t>
            </a:r>
            <a:r>
              <a:rPr lang="en-US" sz="1600" dirty="0">
                <a:solidFill>
                  <a:srgbClr val="FF0000"/>
                </a:solidFill>
              </a:rPr>
              <a:t>}</a:t>
            </a:r>
          </a:p>
          <a:p>
            <a:endParaRPr lang="en-US" sz="1600" dirty="0">
              <a:solidFill>
                <a:srgbClr val="FF0000"/>
              </a:solidFill>
            </a:endParaRPr>
          </a:p>
          <a:p>
            <a:r>
              <a:rPr lang="en-US" sz="1600" dirty="0">
                <a:solidFill>
                  <a:srgbClr val="0000FF"/>
                </a:solidFill>
              </a:rPr>
              <a:t> 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7504" y="2348880"/>
            <a:ext cx="1440160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SYNTAX 2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7393053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/>
          <p:cNvSpPr txBox="1"/>
          <p:nvPr/>
        </p:nvSpPr>
        <p:spPr>
          <a:xfrm>
            <a:off x="323528" y="5334077"/>
            <a:ext cx="864096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US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loop control variable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should be initialized before entering the loop.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3528" y="5680062"/>
            <a:ext cx="864096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US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loop control variable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should also be updated inside the body loop to avoid infinite loops.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1.2 FLOWCHART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1. The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while </a:t>
            </a:r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Statement</a:t>
            </a:r>
            <a:endParaRPr lang="en-US" sz="28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51520" y="1484784"/>
            <a:ext cx="2880320" cy="360040"/>
          </a:xfrm>
          <a:prstGeom prst="rect">
            <a:avLst/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Initialize Variable(s)</a:t>
            </a:r>
          </a:p>
        </p:txBody>
      </p:sp>
      <p:sp>
        <p:nvSpPr>
          <p:cNvPr id="14" name="Flowchart: Decision 13"/>
          <p:cNvSpPr/>
          <p:nvPr/>
        </p:nvSpPr>
        <p:spPr>
          <a:xfrm>
            <a:off x="251520" y="2564904"/>
            <a:ext cx="2880320" cy="1008112"/>
          </a:xfrm>
          <a:prstGeom prst="flowChartDecision">
            <a:avLst/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Logical Expression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6405" y="2888940"/>
            <a:ext cx="1877723" cy="360040"/>
          </a:xfrm>
          <a:prstGeom prst="rect">
            <a:avLst/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Statement</a:t>
            </a:r>
            <a:r>
              <a:rPr lang="en-US" b="1" dirty="0">
                <a:solidFill>
                  <a:srgbClr val="FF0000"/>
                </a:solidFill>
              </a:rPr>
              <a:t>(s)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94677" y="2780928"/>
            <a:ext cx="1877723" cy="626586"/>
          </a:xfrm>
          <a:prstGeom prst="rect">
            <a:avLst/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Update </a:t>
            </a:r>
            <a:r>
              <a:rPr lang="en-US" b="1" dirty="0">
                <a:solidFill>
                  <a:srgbClr val="FF0000"/>
                </a:solidFill>
              </a:rPr>
              <a:t>Variable(s)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1691680" y="1196752"/>
            <a:ext cx="0" cy="288032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1691680" y="1844824"/>
            <a:ext cx="0" cy="720080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3131840" y="3068960"/>
            <a:ext cx="714565" cy="0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5724128" y="3068960"/>
            <a:ext cx="570549" cy="0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987824" y="2802414"/>
            <a:ext cx="720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B050"/>
                </a:solidFill>
              </a:rPr>
              <a:t>True</a:t>
            </a:r>
          </a:p>
        </p:txBody>
      </p:sp>
      <p:cxnSp>
        <p:nvCxnSpPr>
          <p:cNvPr id="24" name="Straight Arrow Connector 23"/>
          <p:cNvCxnSpPr>
            <a:stCxn id="16" idx="0"/>
          </p:cNvCxnSpPr>
          <p:nvPr/>
        </p:nvCxnSpPr>
        <p:spPr>
          <a:xfrm flipH="1" flipV="1">
            <a:off x="7233538" y="2276872"/>
            <a:ext cx="1" cy="504056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H="1">
            <a:off x="1691680" y="2276872"/>
            <a:ext cx="5541859" cy="0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1691680" y="3573016"/>
            <a:ext cx="0" cy="360040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1511660" y="3933056"/>
            <a:ext cx="360040" cy="288032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1511660" y="908720"/>
            <a:ext cx="360040" cy="288032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899592" y="3594502"/>
            <a:ext cx="720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False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3528" y="4988090"/>
            <a:ext cx="8640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US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variable(s)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 the “</a:t>
            </a:r>
            <a:r>
              <a:rPr lang="en-US" dirty="0">
                <a:solidFill>
                  <a:srgbClr val="CC00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logical expression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” is/are the </a:t>
            </a:r>
            <a:r>
              <a:rPr lang="en-US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loop control variable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3528" y="4365104"/>
            <a:ext cx="8640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US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while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statement repeats the statement(s) as long as the </a:t>
            </a:r>
            <a:r>
              <a:rPr lang="en-US" dirty="0">
                <a:solidFill>
                  <a:srgbClr val="CC00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logical expression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</a:t>
            </a:r>
            <a:r>
              <a:rPr lang="en-US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true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8224" y="3068960"/>
            <a:ext cx="1296144" cy="288032"/>
          </a:xfrm>
          <a:prstGeom prst="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9795695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500"/>
                            </p:stCondLst>
                            <p:childTnLst>
                              <p:par>
                                <p:cTn id="4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0"/>
                            </p:stCondLst>
                            <p:childTnLst>
                              <p:par>
                                <p:cTn id="5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  <p:bldP spid="17" grpId="0" animBg="1"/>
      <p:bldP spid="13" grpId="0" animBg="1"/>
      <p:bldP spid="14" grpId="0" animBg="1"/>
      <p:bldP spid="15" grpId="0" animBg="1"/>
      <p:bldP spid="16" grpId="0" animBg="1"/>
      <p:bldP spid="23" grpId="0"/>
      <p:bldP spid="27" grpId="0" animBg="1"/>
      <p:bldP spid="28" grpId="0" animBg="1"/>
      <p:bldP spid="29" grpId="0"/>
      <p:bldP spid="31" grpId="0"/>
      <p:bldP spid="33" grpId="0"/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1.3 COUNTER-CONTROLLED LOOP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1. The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while </a:t>
            </a:r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Statement</a:t>
            </a:r>
            <a:endParaRPr lang="en-US" sz="28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35"/>
          <p:cNvGrpSpPr/>
          <p:nvPr/>
        </p:nvGrpSpPr>
        <p:grpSpPr>
          <a:xfrm>
            <a:off x="1688941" y="1268760"/>
            <a:ext cx="7275546" cy="2585323"/>
            <a:chOff x="323528" y="1536605"/>
            <a:chExt cx="7848872" cy="2431041"/>
          </a:xfrm>
        </p:grpSpPr>
        <p:sp>
          <p:nvSpPr>
            <p:cNvPr id="37" name="TextBox 36"/>
            <p:cNvSpPr txBox="1"/>
            <p:nvPr/>
          </p:nvSpPr>
          <p:spPr>
            <a:xfrm>
              <a:off x="792577" y="1536605"/>
              <a:ext cx="7379823" cy="2431041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00B0F0"/>
                  </a:solidFill>
                </a:rPr>
                <a:t>int</a:t>
              </a:r>
              <a:r>
                <a:rPr lang="en-US" dirty="0">
                  <a:solidFill>
                    <a:srgbClr val="00B0F0"/>
                  </a:solidFill>
                </a:rPr>
                <a:t> </a:t>
              </a:r>
              <a:r>
                <a:rPr lang="en-US" dirty="0">
                  <a:solidFill>
                    <a:srgbClr val="0000FF"/>
                  </a:solidFill>
                </a:rPr>
                <a:t>j = 5, iteration = 1;   </a:t>
              </a:r>
              <a:r>
                <a:rPr lang="en-US" sz="1600" dirty="0">
                  <a:solidFill>
                    <a:srgbClr val="00B050"/>
                  </a:solidFill>
                </a:rPr>
                <a:t>//initialize j: the loop control variable</a:t>
              </a:r>
              <a:endParaRPr lang="en-US" dirty="0">
                <a:solidFill>
                  <a:srgbClr val="00B050"/>
                </a:solidFill>
              </a:endParaRPr>
            </a:p>
            <a:p>
              <a:r>
                <a:rPr lang="en-US" dirty="0">
                  <a:solidFill>
                    <a:srgbClr val="00B0F0"/>
                  </a:solidFill>
                </a:rPr>
                <a:t>while</a:t>
              </a:r>
              <a:r>
                <a:rPr lang="en-US" dirty="0">
                  <a:solidFill>
                    <a:srgbClr val="0000FF"/>
                  </a:solidFill>
                </a:rPr>
                <a:t> (j &lt;= 20)   </a:t>
              </a:r>
              <a:r>
                <a:rPr lang="en-US" sz="1400" dirty="0">
                  <a:solidFill>
                    <a:srgbClr val="00B050"/>
                  </a:solidFill>
                </a:rPr>
                <a:t>//test the condition before entering the loop</a:t>
              </a:r>
              <a:endParaRPr lang="en-US" dirty="0">
                <a:solidFill>
                  <a:srgbClr val="00B050"/>
                </a:solidFill>
              </a:endParaRPr>
            </a:p>
            <a:p>
              <a:r>
                <a:rPr lang="en-US" dirty="0">
                  <a:solidFill>
                    <a:srgbClr val="0000FF"/>
                  </a:solidFill>
                </a:rPr>
                <a:t>  {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  </a:t>
              </a:r>
              <a:r>
                <a:rPr lang="en-US" dirty="0" err="1">
                  <a:solidFill>
                    <a:srgbClr val="0000FF"/>
                  </a:solidFill>
                </a:rPr>
                <a:t>System.out.printf</a:t>
              </a:r>
              <a:r>
                <a:rPr lang="en-US" dirty="0">
                  <a:solidFill>
                    <a:srgbClr val="0000FF"/>
                  </a:solidFill>
                </a:rPr>
                <a:t> (“iteration = %d, j = %</a:t>
              </a:r>
              <a:r>
                <a:rPr lang="en-US" dirty="0" err="1">
                  <a:solidFill>
                    <a:srgbClr val="0000FF"/>
                  </a:solidFill>
                </a:rPr>
                <a:t>d%n</a:t>
              </a:r>
              <a:r>
                <a:rPr lang="en-US" dirty="0">
                  <a:solidFill>
                    <a:srgbClr val="0000FF"/>
                  </a:solidFill>
                </a:rPr>
                <a:t>”, iteration, j);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  iteration++;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  j = j + 5;	</a:t>
              </a:r>
              <a:r>
                <a:rPr lang="en-US" sz="1600" dirty="0">
                  <a:solidFill>
                    <a:srgbClr val="00B050"/>
                  </a:solidFill>
                </a:rPr>
                <a:t>//update the control loop variable j</a:t>
              </a:r>
              <a:endParaRPr lang="en-US" dirty="0">
                <a:solidFill>
                  <a:srgbClr val="00B050"/>
                </a:solidFill>
              </a:endParaRPr>
            </a:p>
            <a:p>
              <a:r>
                <a:rPr lang="en-US" dirty="0">
                  <a:solidFill>
                    <a:srgbClr val="0000FF"/>
                  </a:solidFill>
                </a:rPr>
                <a:t>  }</a:t>
              </a:r>
            </a:p>
            <a:p>
              <a:r>
                <a:rPr lang="en-US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dirty="0">
                  <a:solidFill>
                    <a:srgbClr val="0000FF"/>
                  </a:solidFill>
                </a:rPr>
                <a:t> (“After the loop, iteration = %d, j = %d“, iteration, j);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23528" y="1536605"/>
              <a:ext cx="469049" cy="24310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9</a:t>
              </a:r>
            </a:p>
          </p:txBody>
        </p:sp>
      </p:grpSp>
      <p:sp>
        <p:nvSpPr>
          <p:cNvPr id="39" name="Rounded Rectangle 38"/>
          <p:cNvSpPr/>
          <p:nvPr/>
        </p:nvSpPr>
        <p:spPr>
          <a:xfrm>
            <a:off x="251520" y="1268760"/>
            <a:ext cx="1296144" cy="50405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Example 1</a:t>
            </a:r>
          </a:p>
        </p:txBody>
      </p:sp>
      <p:grpSp>
        <p:nvGrpSpPr>
          <p:cNvPr id="40" name="Group 39"/>
          <p:cNvGrpSpPr/>
          <p:nvPr/>
        </p:nvGrpSpPr>
        <p:grpSpPr>
          <a:xfrm>
            <a:off x="1832956" y="3962673"/>
            <a:ext cx="7131532" cy="1169552"/>
            <a:chOff x="831805" y="1236822"/>
            <a:chExt cx="7340595" cy="1169550"/>
          </a:xfrm>
        </p:grpSpPr>
        <p:sp>
          <p:nvSpPr>
            <p:cNvPr id="41" name="TextBox 40"/>
            <p:cNvSpPr txBox="1"/>
            <p:nvPr/>
          </p:nvSpPr>
          <p:spPr>
            <a:xfrm>
              <a:off x="1301912" y="1236822"/>
              <a:ext cx="6870488" cy="1169550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Iteration = 1, j =5</a:t>
              </a:r>
            </a:p>
            <a:p>
              <a:r>
                <a:rPr lang="en-US" sz="1400" dirty="0">
                  <a:solidFill>
                    <a:schemeClr val="bg1"/>
                  </a:solidFill>
                </a:rPr>
                <a:t>Iteration = 2, j = 10</a:t>
              </a:r>
            </a:p>
            <a:p>
              <a:r>
                <a:rPr lang="en-US" sz="1400" dirty="0">
                  <a:solidFill>
                    <a:schemeClr val="bg1"/>
                  </a:solidFill>
                </a:rPr>
                <a:t>Iteration = 3, j = 15</a:t>
              </a:r>
            </a:p>
            <a:p>
              <a:r>
                <a:rPr lang="en-US" sz="1400" dirty="0">
                  <a:solidFill>
                    <a:schemeClr val="bg1"/>
                  </a:solidFill>
                </a:rPr>
                <a:t>Iteration = 4, j = 20</a:t>
              </a:r>
            </a:p>
            <a:p>
              <a:r>
                <a:rPr lang="en-US" sz="1400" dirty="0">
                  <a:solidFill>
                    <a:schemeClr val="bg1"/>
                  </a:solidFill>
                </a:rPr>
                <a:t>After the loop, iteration = 5, j = 25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831805" y="1236822"/>
              <a:ext cx="447534" cy="11695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3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4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5</a:t>
              </a:r>
            </a:p>
          </p:txBody>
        </p:sp>
      </p:grpSp>
      <p:sp>
        <p:nvSpPr>
          <p:cNvPr id="43" name="Rounded Rectangle 42"/>
          <p:cNvSpPr/>
          <p:nvPr/>
        </p:nvSpPr>
        <p:spPr>
          <a:xfrm>
            <a:off x="251520" y="3962673"/>
            <a:ext cx="1296144" cy="331478"/>
          </a:xfrm>
          <a:prstGeom prst="roundRect">
            <a:avLst/>
          </a:prstGeom>
          <a:solidFill>
            <a:srgbClr val="00B0F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3528" y="5190877"/>
            <a:ext cx="8640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fact, Example 1 may be written using a </a:t>
            </a:r>
            <a:r>
              <a:rPr lang="en-US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loop as follows:</a:t>
            </a:r>
          </a:p>
        </p:txBody>
      </p:sp>
      <p:grpSp>
        <p:nvGrpSpPr>
          <p:cNvPr id="45" name="Group 44"/>
          <p:cNvGrpSpPr/>
          <p:nvPr/>
        </p:nvGrpSpPr>
        <p:grpSpPr>
          <a:xfrm>
            <a:off x="1691680" y="5517232"/>
            <a:ext cx="7272806" cy="923330"/>
            <a:chOff x="323528" y="2951986"/>
            <a:chExt cx="7845916" cy="868230"/>
          </a:xfrm>
        </p:grpSpPr>
        <p:sp>
          <p:nvSpPr>
            <p:cNvPr id="46" name="TextBox 45"/>
            <p:cNvSpPr txBox="1"/>
            <p:nvPr/>
          </p:nvSpPr>
          <p:spPr>
            <a:xfrm>
              <a:off x="789621" y="2951986"/>
              <a:ext cx="7379823" cy="868230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F0"/>
                  </a:solidFill>
                </a:rPr>
                <a:t>for</a:t>
              </a:r>
              <a:r>
                <a:rPr lang="en-US" dirty="0">
                  <a:solidFill>
                    <a:srgbClr val="0000FF"/>
                  </a:solidFill>
                </a:rPr>
                <a:t> (j=5; j &lt;=20; j = j + 5)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{----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}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323528" y="2951986"/>
              <a:ext cx="469049" cy="8682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3</a:t>
              </a: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323528" y="6093296"/>
            <a:ext cx="864096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Therefore, it is known as a </a:t>
            </a:r>
            <a:r>
              <a:rPr lang="en-US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counter-controlled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loop.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5726762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39" grpId="0" animBg="1"/>
      <p:bldP spid="43" grpId="0" animBg="1"/>
      <p:bldP spid="44" grpId="0"/>
      <p:bldP spid="4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1.4 SENTINEL-CONTROLLED LOOP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1. The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while </a:t>
            </a:r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Statement</a:t>
            </a:r>
            <a:endParaRPr lang="en-US" sz="28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7504" y="1268760"/>
            <a:ext cx="8928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Sometimes, we don’t know how many times we want to repeat the loop.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504" y="1647237"/>
            <a:ext cx="8928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this case, the </a:t>
            </a:r>
            <a:r>
              <a:rPr lang="en-US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statement cannot be used.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504" y="2025714"/>
            <a:ext cx="8928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Therefore, the program is designed to repeat the loop until a </a:t>
            </a:r>
            <a:r>
              <a:rPr lang="en-US" dirty="0">
                <a:solidFill>
                  <a:srgbClr val="CC00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special value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met.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504" y="2348880"/>
            <a:ext cx="8928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 special value is called </a:t>
            </a:r>
            <a:r>
              <a:rPr lang="en-US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sentinel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504" y="2926685"/>
            <a:ext cx="8928992" cy="646331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value of the sentinel should be carefully selected, so that it cannot be by anyway a part of the data.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504" y="3862789"/>
            <a:ext cx="8928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Examples of sentinel values: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504" y="4148982"/>
            <a:ext cx="8928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sentinel &gt; 100 or sentinel &lt; 0 for students’ scores ranging from 0 to 100.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504" y="4435175"/>
            <a:ext cx="8928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sentinel &lt; 0 when dealing with positive numbers.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504" y="4721368"/>
            <a:ext cx="8928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sentinel = ‘*’ or any special character if the input is from ‘a’ to ‘z’.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504" y="5007561"/>
            <a:ext cx="8928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sentinel = “***” if the input is names of students/employees.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504" y="5293754"/>
            <a:ext cx="8928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sentinel &lt; 0 for prices input.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504" y="5579948"/>
            <a:ext cx="8928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 so on…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4521043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0" grpId="0"/>
      <p:bldP spid="21" grpId="0"/>
      <p:bldP spid="22" grpId="0"/>
      <p:bldP spid="23" grpId="0"/>
      <p:bldP spid="28" grpId="0" animBg="1"/>
      <p:bldP spid="29" grpId="0"/>
      <p:bldP spid="30" grpId="0"/>
      <p:bldP spid="31" grpId="0"/>
      <p:bldP spid="32" grpId="0"/>
      <p:bldP spid="33" grpId="0"/>
      <p:bldP spid="34" grpId="0"/>
      <p:bldP spid="3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1.4 SENTINEL-CONTROLLED LOOP – PROGRAM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1. The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while </a:t>
            </a:r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Statement</a:t>
            </a:r>
            <a:endParaRPr lang="en-US" sz="28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51520" y="1268760"/>
            <a:ext cx="8712968" cy="720080"/>
          </a:xfrm>
          <a:prstGeom prst="roundRect">
            <a:avLst>
              <a:gd name="adj" fmla="val 4976"/>
            </a:avLst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Write a program that calculates the sum and the average of a set of positive numbers. Select an appropriate sentinel value to end user input.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6951" y="2060848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619672" y="2060848"/>
            <a:ext cx="7344816" cy="504056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Number </a:t>
            </a:r>
            <a:r>
              <a:rPr lang="en-US" dirty="0">
                <a:solidFill>
                  <a:srgbClr val="FF3399"/>
                </a:solidFill>
              </a:rPr>
              <a:t>(variable: </a:t>
            </a:r>
            <a:r>
              <a:rPr lang="en-US" dirty="0" err="1">
                <a:solidFill>
                  <a:srgbClr val="FF3399"/>
                </a:solidFill>
              </a:rPr>
              <a:t>num</a:t>
            </a:r>
            <a:r>
              <a:rPr lang="en-US" dirty="0">
                <a:solidFill>
                  <a:srgbClr val="FF3399"/>
                </a:solidFill>
              </a:rPr>
              <a:t>, type: </a:t>
            </a:r>
            <a:r>
              <a:rPr lang="en-US" dirty="0">
                <a:solidFill>
                  <a:srgbClr val="00B0F0"/>
                </a:solidFill>
              </a:rPr>
              <a:t>double </a:t>
            </a:r>
            <a:r>
              <a:rPr lang="en-US" dirty="0">
                <a:solidFill>
                  <a:srgbClr val="FF3399"/>
                </a:solidFill>
              </a:rPr>
              <a:t>or </a:t>
            </a:r>
            <a:r>
              <a:rPr lang="en-US" dirty="0" err="1">
                <a:solidFill>
                  <a:srgbClr val="00B0F0"/>
                </a:solidFill>
              </a:rPr>
              <a:t>int</a:t>
            </a:r>
            <a:r>
              <a:rPr lang="en-US" dirty="0">
                <a:solidFill>
                  <a:srgbClr val="FF3399"/>
                </a:solidFill>
              </a:rPr>
              <a:t>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51520" y="2636912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634241" y="2636912"/>
            <a:ext cx="7344816" cy="72008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summation </a:t>
            </a:r>
            <a:r>
              <a:rPr lang="en-US" dirty="0">
                <a:solidFill>
                  <a:srgbClr val="FF3399"/>
                </a:solidFill>
              </a:rPr>
              <a:t>(variable: sum, type: </a:t>
            </a:r>
            <a:r>
              <a:rPr lang="en-US" dirty="0" err="1">
                <a:solidFill>
                  <a:srgbClr val="00B0F0"/>
                </a:solidFill>
              </a:rPr>
              <a:t>int</a:t>
            </a:r>
            <a:r>
              <a:rPr lang="en-US" dirty="0">
                <a:solidFill>
                  <a:srgbClr val="FF3399"/>
                </a:solidFill>
              </a:rPr>
              <a:t>)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average </a:t>
            </a:r>
            <a:r>
              <a:rPr lang="en-US" dirty="0">
                <a:solidFill>
                  <a:srgbClr val="FF3399"/>
                </a:solidFill>
              </a:rPr>
              <a:t>(variable: average, type: </a:t>
            </a:r>
            <a:r>
              <a:rPr lang="en-US" dirty="0">
                <a:solidFill>
                  <a:srgbClr val="00B0F0"/>
                </a:solidFill>
              </a:rPr>
              <a:t>double</a:t>
            </a:r>
            <a:r>
              <a:rPr lang="en-US" dirty="0">
                <a:solidFill>
                  <a:srgbClr val="FF3399"/>
                </a:solidFill>
              </a:rPr>
              <a:t>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51520" y="3501008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PROCESS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634241" y="3429000"/>
            <a:ext cx="7344816" cy="3312368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Set a sentinel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 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	</a:t>
            </a:r>
            <a:r>
              <a:rPr lang="en-US" dirty="0">
                <a:solidFill>
                  <a:srgbClr val="CC0099"/>
                </a:solidFill>
                <a:sym typeface="Wingdings" panose="05000000000000000000" pitchFamily="2" charset="2"/>
              </a:rPr>
              <a:t>Since all numbers are positive, sentinel = -1 (or any </a:t>
            </a:r>
          </a:p>
          <a:p>
            <a:r>
              <a:rPr lang="en-US" dirty="0">
                <a:solidFill>
                  <a:srgbClr val="CC0099"/>
                </a:solidFill>
                <a:sym typeface="Wingdings" panose="05000000000000000000" pitchFamily="2" charset="2"/>
              </a:rPr>
              <a:t>	negative number).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Initialize sum = 0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Initialize count = 0 </a:t>
            </a:r>
            <a:r>
              <a:rPr lang="en-US" dirty="0">
                <a:solidFill>
                  <a:srgbClr val="CC0099"/>
                </a:solidFill>
                <a:sym typeface="Wingdings" panose="05000000000000000000" pitchFamily="2" charset="2"/>
              </a:rPr>
              <a:t>( to count the number of input values)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Accept input from the user.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Repeat as long as input is not equal to the sentinel: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	sum = sum +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num</a:t>
            </a:r>
            <a:endParaRPr lang="en-US" dirty="0">
              <a:solidFill>
                <a:schemeClr val="accent1">
                  <a:lumMod val="50000"/>
                </a:schemeClr>
              </a:solidFill>
              <a:sym typeface="Wingdings" panose="05000000000000000000" pitchFamily="2" charset="2"/>
            </a:endParaRP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	count = count + 1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	accept a new value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average = sum / count	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2440" y="6237312"/>
            <a:ext cx="365760" cy="365125"/>
          </a:xfrm>
        </p:spPr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7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678106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9" grpId="0" animBg="1"/>
      <p:bldP spid="24" grpId="0" animBg="1"/>
      <p:bldP spid="25" grpId="0" animBg="1"/>
      <p:bldP spid="26" grpId="0" animBg="1"/>
      <p:bldP spid="27" grpId="0" animBg="1"/>
      <p:bldP spid="36" grpId="0" animBg="1"/>
      <p:bldP spid="3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0" name="Straight Arrow Connector 69"/>
          <p:cNvCxnSpPr/>
          <p:nvPr/>
        </p:nvCxnSpPr>
        <p:spPr>
          <a:xfrm>
            <a:off x="4968043" y="1844824"/>
            <a:ext cx="20061" cy="18912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Double Brace 61"/>
          <p:cNvSpPr/>
          <p:nvPr/>
        </p:nvSpPr>
        <p:spPr>
          <a:xfrm>
            <a:off x="2627784" y="3611411"/>
            <a:ext cx="2088232" cy="681685"/>
          </a:xfrm>
          <a:prstGeom prst="bracePair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rgbClr val="0000FF"/>
                </a:solidFill>
              </a:rPr>
              <a:t>num</a:t>
            </a:r>
            <a:r>
              <a:rPr lang="en-US" sz="1200" dirty="0"/>
              <a:t> should be read once before the loop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59" name="Double Brace 58"/>
          <p:cNvSpPr/>
          <p:nvPr/>
        </p:nvSpPr>
        <p:spPr>
          <a:xfrm>
            <a:off x="4716016" y="4877002"/>
            <a:ext cx="3493244" cy="1720350"/>
          </a:xfrm>
          <a:prstGeom prst="bracePair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These statements are to be repeated as long as the logical expression is true </a:t>
            </a:r>
            <a:r>
              <a:rPr lang="en-US" dirty="0">
                <a:solidFill>
                  <a:srgbClr val="0000FF"/>
                </a:solidFill>
                <a:sym typeface="Wingdings" panose="05000000000000000000" pitchFamily="2" charset="2"/>
              </a:rPr>
              <a:t> inside the loop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1.4 SENTINEL-CONTROLLED LOOP - FLOWCHART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1. The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while </a:t>
            </a:r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Statement</a:t>
            </a:r>
            <a:endParaRPr lang="en-US" sz="28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2440" y="6237312"/>
            <a:ext cx="365760" cy="365125"/>
          </a:xfrm>
        </p:spPr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20" name="AutoShape 67"/>
          <p:cNvSpPr>
            <a:spLocks noChangeArrowheads="1"/>
          </p:cNvSpPr>
          <p:nvPr/>
        </p:nvSpPr>
        <p:spPr bwMode="auto">
          <a:xfrm>
            <a:off x="1476933" y="1340768"/>
            <a:ext cx="1151706" cy="288032"/>
          </a:xfrm>
          <a:prstGeom prst="flowChartTerminator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Start</a:t>
            </a:r>
          </a:p>
        </p:txBody>
      </p:sp>
      <p:sp>
        <p:nvSpPr>
          <p:cNvPr id="21" name="AutoShape 68"/>
          <p:cNvSpPr>
            <a:spLocks noChangeArrowheads="1"/>
          </p:cNvSpPr>
          <p:nvPr/>
        </p:nvSpPr>
        <p:spPr bwMode="auto">
          <a:xfrm>
            <a:off x="1117749" y="1844824"/>
            <a:ext cx="1870075" cy="358775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SENTINEL = -1</a:t>
            </a:r>
          </a:p>
        </p:txBody>
      </p:sp>
      <p:cxnSp>
        <p:nvCxnSpPr>
          <p:cNvPr id="22" name="Straight Arrow Connector 21"/>
          <p:cNvCxnSpPr>
            <a:stCxn id="20" idx="2"/>
          </p:cNvCxnSpPr>
          <p:nvPr/>
        </p:nvCxnSpPr>
        <p:spPr>
          <a:xfrm>
            <a:off x="2052786" y="1628800"/>
            <a:ext cx="1" cy="21602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H="1">
            <a:off x="2052786" y="2203599"/>
            <a:ext cx="1" cy="21728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AutoShape 68"/>
          <p:cNvSpPr>
            <a:spLocks noChangeArrowheads="1"/>
          </p:cNvSpPr>
          <p:nvPr/>
        </p:nvSpPr>
        <p:spPr bwMode="auto">
          <a:xfrm>
            <a:off x="1115616" y="2420888"/>
            <a:ext cx="1870075" cy="358775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sum = 0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 flipH="1">
            <a:off x="2050653" y="2779663"/>
            <a:ext cx="1" cy="21728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AutoShape 68"/>
          <p:cNvSpPr>
            <a:spLocks noChangeArrowheads="1"/>
          </p:cNvSpPr>
          <p:nvPr/>
        </p:nvSpPr>
        <p:spPr bwMode="auto">
          <a:xfrm>
            <a:off x="1115616" y="2996952"/>
            <a:ext cx="1870075" cy="358775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count = 0</a:t>
            </a:r>
          </a:p>
        </p:txBody>
      </p:sp>
      <p:cxnSp>
        <p:nvCxnSpPr>
          <p:cNvPr id="31" name="Straight Arrow Connector 30"/>
          <p:cNvCxnSpPr/>
          <p:nvPr/>
        </p:nvCxnSpPr>
        <p:spPr>
          <a:xfrm flipH="1">
            <a:off x="2050653" y="3355727"/>
            <a:ext cx="1" cy="21728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AutoShape 68"/>
          <p:cNvSpPr>
            <a:spLocks noChangeArrowheads="1"/>
          </p:cNvSpPr>
          <p:nvPr/>
        </p:nvSpPr>
        <p:spPr bwMode="auto">
          <a:xfrm>
            <a:off x="1115616" y="3573016"/>
            <a:ext cx="1870075" cy="358775"/>
          </a:xfrm>
          <a:prstGeom prst="flowChartInputOutpu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Read </a:t>
            </a:r>
            <a:r>
              <a:rPr lang="en-US" sz="1600" dirty="0" err="1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num</a:t>
            </a:r>
            <a:endParaRPr lang="en-US" sz="1600" dirty="0"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34" name="AutoShape 73"/>
          <p:cNvSpPr>
            <a:spLocks noChangeArrowheads="1"/>
          </p:cNvSpPr>
          <p:nvPr/>
        </p:nvSpPr>
        <p:spPr bwMode="auto">
          <a:xfrm>
            <a:off x="1151409" y="4149080"/>
            <a:ext cx="1798488" cy="1080319"/>
          </a:xfrm>
          <a:prstGeom prst="flowChartDecision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200" b="1" dirty="0" err="1">
                <a:solidFill>
                  <a:srgbClr val="0000FF"/>
                </a:solidFill>
                <a:latin typeface="Arial" charset="0"/>
                <a:cs typeface="Arial" charset="0"/>
              </a:rPr>
              <a:t>num</a:t>
            </a:r>
            <a:r>
              <a:rPr lang="en-US" sz="1200" b="1" dirty="0">
                <a:latin typeface="Arial" charset="0"/>
                <a:cs typeface="Arial" charset="0"/>
              </a:rPr>
              <a:t> !=</a:t>
            </a:r>
            <a:r>
              <a:rPr lang="en-US" sz="1200" b="1" dirty="0">
                <a:solidFill>
                  <a:srgbClr val="0000FF"/>
                </a:solidFill>
                <a:latin typeface="Arial" charset="0"/>
                <a:cs typeface="Arial" charset="0"/>
              </a:rPr>
              <a:t>SENTINEL </a:t>
            </a:r>
            <a:endParaRPr lang="en-US" sz="1200" b="1" dirty="0">
              <a:solidFill>
                <a:srgbClr val="0000FF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35" name="Straight Arrow Connector 34"/>
          <p:cNvCxnSpPr/>
          <p:nvPr/>
        </p:nvCxnSpPr>
        <p:spPr>
          <a:xfrm>
            <a:off x="2050654" y="3952082"/>
            <a:ext cx="1" cy="21602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2952030" y="4689239"/>
            <a:ext cx="11211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915816" y="4437112"/>
            <a:ext cx="720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B050"/>
                </a:solidFill>
              </a:rPr>
              <a:t>TRUE</a:t>
            </a:r>
          </a:p>
        </p:txBody>
      </p:sp>
      <p:cxnSp>
        <p:nvCxnSpPr>
          <p:cNvPr id="40" name="Straight Arrow Connector 39"/>
          <p:cNvCxnSpPr/>
          <p:nvPr/>
        </p:nvCxnSpPr>
        <p:spPr>
          <a:xfrm>
            <a:off x="4067943" y="4697207"/>
            <a:ext cx="1" cy="21602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AutoShape 68"/>
          <p:cNvSpPr>
            <a:spLocks noChangeArrowheads="1"/>
          </p:cNvSpPr>
          <p:nvPr/>
        </p:nvSpPr>
        <p:spPr bwMode="auto">
          <a:xfrm>
            <a:off x="3131840" y="4870624"/>
            <a:ext cx="1870075" cy="358775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count = </a:t>
            </a:r>
            <a:r>
              <a:rPr lang="en-US" sz="1600" dirty="0">
                <a:solidFill>
                  <a:srgbClr val="0000FF"/>
                </a:solidFill>
                <a:effectLst/>
                <a:latin typeface="Arial" charset="0"/>
                <a:cs typeface="Arial" charset="0"/>
              </a:rPr>
              <a:t>count </a:t>
            </a:r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+ 1</a:t>
            </a:r>
          </a:p>
        </p:txBody>
      </p:sp>
      <p:cxnSp>
        <p:nvCxnSpPr>
          <p:cNvPr id="42" name="Straight Arrow Connector 41"/>
          <p:cNvCxnSpPr/>
          <p:nvPr/>
        </p:nvCxnSpPr>
        <p:spPr>
          <a:xfrm flipH="1">
            <a:off x="4066877" y="5229399"/>
            <a:ext cx="1" cy="21728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AutoShape 68"/>
          <p:cNvSpPr>
            <a:spLocks noChangeArrowheads="1"/>
          </p:cNvSpPr>
          <p:nvPr/>
        </p:nvSpPr>
        <p:spPr bwMode="auto">
          <a:xfrm>
            <a:off x="3131840" y="5446688"/>
            <a:ext cx="1870075" cy="358775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sum = </a:t>
            </a:r>
            <a:r>
              <a:rPr lang="en-US" sz="1600" dirty="0">
                <a:solidFill>
                  <a:srgbClr val="0000FF"/>
                </a:solidFill>
                <a:effectLst/>
                <a:latin typeface="Arial" charset="0"/>
                <a:cs typeface="Arial" charset="0"/>
              </a:rPr>
              <a:t>sum </a:t>
            </a:r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+ </a:t>
            </a:r>
            <a:r>
              <a:rPr lang="en-US" sz="1600" dirty="0" err="1">
                <a:solidFill>
                  <a:srgbClr val="0000FF"/>
                </a:solidFill>
                <a:effectLst/>
                <a:latin typeface="Arial" charset="0"/>
                <a:cs typeface="Arial" charset="0"/>
              </a:rPr>
              <a:t>num</a:t>
            </a:r>
            <a:endParaRPr lang="en-US" sz="1600" dirty="0">
              <a:solidFill>
                <a:srgbClr val="0000FF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44" name="Straight Arrow Connector 43"/>
          <p:cNvCxnSpPr/>
          <p:nvPr/>
        </p:nvCxnSpPr>
        <p:spPr>
          <a:xfrm flipH="1">
            <a:off x="4073128" y="5810234"/>
            <a:ext cx="1" cy="21728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AutoShape 68"/>
          <p:cNvSpPr>
            <a:spLocks noChangeArrowheads="1"/>
          </p:cNvSpPr>
          <p:nvPr/>
        </p:nvSpPr>
        <p:spPr bwMode="auto">
          <a:xfrm>
            <a:off x="3138091" y="6027523"/>
            <a:ext cx="1870075" cy="358775"/>
          </a:xfrm>
          <a:prstGeom prst="flowChartInputOutpu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Read </a:t>
            </a:r>
            <a:r>
              <a:rPr lang="en-US" sz="1600" dirty="0" err="1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num</a:t>
            </a:r>
            <a:endParaRPr lang="en-US" sz="1600" dirty="0"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46" name="Straight Arrow Connector 45"/>
          <p:cNvCxnSpPr/>
          <p:nvPr/>
        </p:nvCxnSpPr>
        <p:spPr>
          <a:xfrm flipH="1">
            <a:off x="4055383" y="6400808"/>
            <a:ext cx="1" cy="21728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flipH="1">
            <a:off x="1979712" y="6598025"/>
            <a:ext cx="2093418" cy="2007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endCxn id="34" idx="2"/>
          </p:cNvCxnSpPr>
          <p:nvPr/>
        </p:nvCxnSpPr>
        <p:spPr>
          <a:xfrm flipV="1">
            <a:off x="2030108" y="5229399"/>
            <a:ext cx="20545" cy="138661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flipH="1" flipV="1">
            <a:off x="683568" y="4697207"/>
            <a:ext cx="469974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282382" y="4491067"/>
            <a:ext cx="451011" cy="446088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1" name="Oval 50"/>
          <p:cNvSpPr/>
          <p:nvPr/>
        </p:nvSpPr>
        <p:spPr>
          <a:xfrm>
            <a:off x="7411042" y="332656"/>
            <a:ext cx="451011" cy="446088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52" name="Straight Arrow Connector 51"/>
          <p:cNvCxnSpPr>
            <a:endCxn id="64" idx="0"/>
          </p:cNvCxnSpPr>
          <p:nvPr/>
        </p:nvCxnSpPr>
        <p:spPr>
          <a:xfrm>
            <a:off x="7636549" y="778744"/>
            <a:ext cx="2" cy="43045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AutoShape 68"/>
          <p:cNvSpPr>
            <a:spLocks noChangeArrowheads="1"/>
          </p:cNvSpPr>
          <p:nvPr/>
        </p:nvSpPr>
        <p:spPr bwMode="auto">
          <a:xfrm>
            <a:off x="6372200" y="2600275"/>
            <a:ext cx="2520280" cy="358775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latin typeface="Arial" charset="0"/>
                <a:cs typeface="Arial" charset="0"/>
              </a:rPr>
              <a:t>a</a:t>
            </a:r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verage = </a:t>
            </a:r>
            <a:r>
              <a:rPr lang="en-US" sz="1600" dirty="0">
                <a:solidFill>
                  <a:srgbClr val="0000FF"/>
                </a:solidFill>
                <a:effectLst/>
                <a:latin typeface="Arial" charset="0"/>
                <a:cs typeface="Arial" charset="0"/>
              </a:rPr>
              <a:t>sum </a:t>
            </a:r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/ </a:t>
            </a:r>
            <a:r>
              <a:rPr lang="en-US" sz="1600" dirty="0">
                <a:solidFill>
                  <a:srgbClr val="0000FF"/>
                </a:solidFill>
                <a:effectLst/>
                <a:latin typeface="Arial" charset="0"/>
                <a:cs typeface="Arial" charset="0"/>
              </a:rPr>
              <a:t>count</a:t>
            </a:r>
          </a:p>
        </p:txBody>
      </p:sp>
      <p:cxnSp>
        <p:nvCxnSpPr>
          <p:cNvPr id="54" name="Straight Arrow Connector 53"/>
          <p:cNvCxnSpPr>
            <a:stCxn id="53" idx="2"/>
          </p:cNvCxnSpPr>
          <p:nvPr/>
        </p:nvCxnSpPr>
        <p:spPr>
          <a:xfrm>
            <a:off x="7632340" y="2959050"/>
            <a:ext cx="4210" cy="25392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AutoShape 68"/>
          <p:cNvSpPr>
            <a:spLocks noChangeArrowheads="1"/>
          </p:cNvSpPr>
          <p:nvPr/>
        </p:nvSpPr>
        <p:spPr bwMode="auto">
          <a:xfrm>
            <a:off x="3707904" y="1529772"/>
            <a:ext cx="2520280" cy="358776"/>
          </a:xfrm>
          <a:prstGeom prst="flowChartInputOutpu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Print </a:t>
            </a:r>
            <a:r>
              <a:rPr lang="en-US" sz="1600" dirty="0">
                <a:solidFill>
                  <a:srgbClr val="0000FF"/>
                </a:solidFill>
                <a:effectLst/>
                <a:latin typeface="Arial" charset="0"/>
                <a:cs typeface="Arial" charset="0"/>
              </a:rPr>
              <a:t>“No input data”</a:t>
            </a:r>
          </a:p>
        </p:txBody>
      </p:sp>
      <p:cxnSp>
        <p:nvCxnSpPr>
          <p:cNvPr id="56" name="Straight Arrow Connector 55"/>
          <p:cNvCxnSpPr>
            <a:stCxn id="69" idx="4"/>
            <a:endCxn id="57" idx="0"/>
          </p:cNvCxnSpPr>
          <p:nvPr/>
        </p:nvCxnSpPr>
        <p:spPr>
          <a:xfrm flipH="1">
            <a:off x="7632340" y="3573016"/>
            <a:ext cx="4211" cy="36004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AutoShape 67"/>
          <p:cNvSpPr>
            <a:spLocks noChangeArrowheads="1"/>
          </p:cNvSpPr>
          <p:nvPr/>
        </p:nvSpPr>
        <p:spPr bwMode="auto">
          <a:xfrm>
            <a:off x="7056487" y="3933056"/>
            <a:ext cx="1151706" cy="288032"/>
          </a:xfrm>
          <a:prstGeom prst="flowChartTerminator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rtl="1"/>
            <a:r>
              <a:rPr lang="en-US" sz="1600" dirty="0">
                <a:latin typeface="Arial" charset="0"/>
                <a:cs typeface="Arial" charset="0"/>
              </a:rPr>
              <a:t>End</a:t>
            </a:r>
            <a:endParaRPr lang="en-US" sz="1600" dirty="0"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83568" y="4352567"/>
            <a:ext cx="720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FALSE</a:t>
            </a:r>
          </a:p>
        </p:txBody>
      </p:sp>
      <p:sp>
        <p:nvSpPr>
          <p:cNvPr id="63" name="Double Brace 62"/>
          <p:cNvSpPr/>
          <p:nvPr/>
        </p:nvSpPr>
        <p:spPr>
          <a:xfrm>
            <a:off x="827584" y="5555627"/>
            <a:ext cx="2088232" cy="681685"/>
          </a:xfrm>
          <a:prstGeom prst="bracePair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200" dirty="0"/>
              <a:t>Process</a:t>
            </a:r>
            <a:r>
              <a:rPr lang="en-US" sz="1200" dirty="0">
                <a:solidFill>
                  <a:srgbClr val="0000FF"/>
                </a:solidFill>
              </a:rPr>
              <a:t> </a:t>
            </a:r>
            <a:r>
              <a:rPr lang="en-US" sz="1200" dirty="0" err="1">
                <a:solidFill>
                  <a:srgbClr val="0000FF"/>
                </a:solidFill>
              </a:rPr>
              <a:t>num</a:t>
            </a:r>
            <a:r>
              <a:rPr lang="en-US" sz="1200" dirty="0"/>
              <a:t>, before reading another value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64" name="AutoShape 73"/>
          <p:cNvSpPr>
            <a:spLocks noChangeArrowheads="1"/>
          </p:cNvSpPr>
          <p:nvPr/>
        </p:nvSpPr>
        <p:spPr bwMode="auto">
          <a:xfrm>
            <a:off x="6737307" y="1209194"/>
            <a:ext cx="1798488" cy="982108"/>
          </a:xfrm>
          <a:prstGeom prst="flowChartDecision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200" b="1" dirty="0">
                <a:solidFill>
                  <a:srgbClr val="0000FF"/>
                </a:solidFill>
                <a:latin typeface="Arial" charset="0"/>
                <a:cs typeface="Arial" charset="0"/>
              </a:rPr>
              <a:t>count </a:t>
            </a:r>
            <a:r>
              <a:rPr lang="en-US" sz="1200" b="1" dirty="0">
                <a:latin typeface="Arial" charset="0"/>
                <a:cs typeface="Arial" charset="0"/>
              </a:rPr>
              <a:t>!= 0</a:t>
            </a:r>
            <a:endParaRPr lang="en-US" sz="1200" b="1" dirty="0">
              <a:effectLst/>
              <a:latin typeface="Arial" charset="0"/>
              <a:cs typeface="Arial" charset="0"/>
            </a:endParaRPr>
          </a:p>
        </p:txBody>
      </p:sp>
      <p:cxnSp>
        <p:nvCxnSpPr>
          <p:cNvPr id="65" name="Straight Arrow Connector 64"/>
          <p:cNvCxnSpPr>
            <a:endCxn id="53" idx="0"/>
          </p:cNvCxnSpPr>
          <p:nvPr/>
        </p:nvCxnSpPr>
        <p:spPr>
          <a:xfrm flipH="1">
            <a:off x="7632340" y="2203599"/>
            <a:ext cx="7273" cy="39667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7815715" y="2240408"/>
            <a:ext cx="720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B050"/>
                </a:solidFill>
              </a:rPr>
              <a:t>TRUE</a:t>
            </a:r>
          </a:p>
        </p:txBody>
      </p:sp>
      <p:cxnSp>
        <p:nvCxnSpPr>
          <p:cNvPr id="67" name="Straight Arrow Connector 66"/>
          <p:cNvCxnSpPr>
            <a:endCxn id="55" idx="5"/>
          </p:cNvCxnSpPr>
          <p:nvPr/>
        </p:nvCxnSpPr>
        <p:spPr>
          <a:xfrm flipH="1" flipV="1">
            <a:off x="5976156" y="1709160"/>
            <a:ext cx="761151" cy="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6228184" y="1495817"/>
            <a:ext cx="720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FALSE</a:t>
            </a:r>
          </a:p>
        </p:txBody>
      </p:sp>
      <p:sp>
        <p:nvSpPr>
          <p:cNvPr id="69" name="AutoShape 68"/>
          <p:cNvSpPr>
            <a:spLocks noChangeArrowheads="1"/>
          </p:cNvSpPr>
          <p:nvPr/>
        </p:nvSpPr>
        <p:spPr bwMode="auto">
          <a:xfrm>
            <a:off x="6376411" y="3214240"/>
            <a:ext cx="2520280" cy="358776"/>
          </a:xfrm>
          <a:prstGeom prst="flowChartInputOutpu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Print </a:t>
            </a:r>
            <a:r>
              <a:rPr lang="en-US" sz="1600" dirty="0">
                <a:solidFill>
                  <a:srgbClr val="0000FF"/>
                </a:solidFill>
                <a:latin typeface="Arial" charset="0"/>
                <a:cs typeface="Arial" charset="0"/>
              </a:rPr>
              <a:t>sum, average</a:t>
            </a:r>
            <a:endParaRPr lang="en-US" sz="1600" dirty="0">
              <a:solidFill>
                <a:srgbClr val="0000FF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71" name="Straight Arrow Connector 70"/>
          <p:cNvCxnSpPr/>
          <p:nvPr/>
        </p:nvCxnSpPr>
        <p:spPr>
          <a:xfrm>
            <a:off x="4988104" y="3717032"/>
            <a:ext cx="2651509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Double Brace 60"/>
          <p:cNvSpPr/>
          <p:nvPr/>
        </p:nvSpPr>
        <p:spPr>
          <a:xfrm>
            <a:off x="2699792" y="1844825"/>
            <a:ext cx="2088232" cy="1562126"/>
          </a:xfrm>
          <a:prstGeom prst="bracePair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t" anchorCtr="0"/>
          <a:lstStyle/>
          <a:p>
            <a:pPr algn="ctr"/>
            <a:r>
              <a:rPr lang="en-US" sz="1200" dirty="0"/>
              <a:t>Initialization steps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60" name="Double Brace 59"/>
          <p:cNvSpPr/>
          <p:nvPr/>
        </p:nvSpPr>
        <p:spPr>
          <a:xfrm>
            <a:off x="4211960" y="2486535"/>
            <a:ext cx="2485132" cy="1265867"/>
          </a:xfrm>
          <a:prstGeom prst="bracePair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FF"/>
                </a:solidFill>
              </a:rPr>
              <a:t>We need to execute these statements once only </a:t>
            </a:r>
            <a:r>
              <a:rPr lang="en-US" sz="1400" dirty="0">
                <a:solidFill>
                  <a:srgbClr val="0000FF"/>
                </a:solidFill>
                <a:sym typeface="Wingdings" panose="05000000000000000000" pitchFamily="2" charset="2"/>
              </a:rPr>
              <a:t> out of the loop body</a:t>
            </a:r>
            <a:endParaRPr lang="en-US" sz="1400" dirty="0">
              <a:solidFill>
                <a:srgbClr val="0000FF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8744563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6500"/>
                            </p:stCondLst>
                            <p:childTnLst>
                              <p:par>
                                <p:cTn id="6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7000"/>
                            </p:stCondLst>
                            <p:childTnLst>
                              <p:par>
                                <p:cTn id="6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7500"/>
                            </p:stCondLst>
                            <p:childTnLst>
                              <p:par>
                                <p:cTn id="6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8000"/>
                            </p:stCondLst>
                            <p:childTnLst>
                              <p:par>
                                <p:cTn id="7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8500"/>
                            </p:stCondLst>
                            <p:childTnLst>
                              <p:par>
                                <p:cTn id="7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9000"/>
                            </p:stCondLst>
                            <p:childTnLst>
                              <p:par>
                                <p:cTn id="8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9500"/>
                            </p:stCondLst>
                            <p:childTnLst>
                              <p:par>
                                <p:cTn id="8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0000"/>
                            </p:stCondLst>
                            <p:childTnLst>
                              <p:par>
                                <p:cTn id="8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0500"/>
                            </p:stCondLst>
                            <p:childTnLst>
                              <p:par>
                                <p:cTn id="9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1000"/>
                            </p:stCondLst>
                            <p:childTnLst>
                              <p:par>
                                <p:cTn id="9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1500"/>
                            </p:stCondLst>
                            <p:childTnLst>
                              <p:par>
                                <p:cTn id="10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500"/>
                            </p:stCondLst>
                            <p:childTnLst>
                              <p:par>
                                <p:cTn id="1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1500"/>
                            </p:stCondLst>
                            <p:childTnLst>
                              <p:par>
                                <p:cTn id="12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2000"/>
                            </p:stCondLst>
                            <p:childTnLst>
                              <p:par>
                                <p:cTn id="12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1000"/>
                            </p:stCondLst>
                            <p:childTnLst>
                              <p:par>
                                <p:cTn id="1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1500"/>
                            </p:stCondLst>
                            <p:childTnLst>
                              <p:par>
                                <p:cTn id="1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2000"/>
                            </p:stCondLst>
                            <p:childTnLst>
                              <p:par>
                                <p:cTn id="15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2500"/>
                            </p:stCondLst>
                            <p:childTnLst>
                              <p:par>
                                <p:cTn id="1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3000"/>
                            </p:stCondLst>
                            <p:childTnLst>
                              <p:par>
                                <p:cTn id="16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  <p:bldP spid="59" grpId="0" animBg="1"/>
      <p:bldP spid="17" grpId="0" animBg="1"/>
      <p:bldP spid="20" grpId="0" animBg="1"/>
      <p:bldP spid="21" grpId="0" animBg="1"/>
      <p:bldP spid="28" grpId="0" animBg="1"/>
      <p:bldP spid="30" grpId="0" animBg="1"/>
      <p:bldP spid="33" grpId="0" animBg="1"/>
      <p:bldP spid="34" grpId="0" animBg="1"/>
      <p:bldP spid="39" grpId="0"/>
      <p:bldP spid="41" grpId="0" animBg="1"/>
      <p:bldP spid="43" grpId="0" animBg="1"/>
      <p:bldP spid="45" grpId="0" animBg="1"/>
      <p:bldP spid="50" grpId="0" animBg="1"/>
      <p:bldP spid="51" grpId="0" animBg="1"/>
      <p:bldP spid="53" grpId="0" animBg="1"/>
      <p:bldP spid="55" grpId="0" animBg="1"/>
      <p:bldP spid="57" grpId="0" animBg="1"/>
      <p:bldP spid="58" grpId="0"/>
      <p:bldP spid="63" grpId="0" animBg="1"/>
      <p:bldP spid="64" grpId="0" animBg="1"/>
      <p:bldP spid="66" grpId="0"/>
      <p:bldP spid="68" grpId="0"/>
      <p:bldP spid="69" grpId="0" animBg="1"/>
      <p:bldP spid="61" grpId="0" animBg="1"/>
      <p:bldP spid="6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1.4 SENTINEL-CONTROLLED LOOP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/>
          <p:cNvGrpSpPr/>
          <p:nvPr/>
        </p:nvGrpSpPr>
        <p:grpSpPr>
          <a:xfrm>
            <a:off x="179512" y="924391"/>
            <a:ext cx="8784976" cy="5816977"/>
            <a:chOff x="323528" y="1236822"/>
            <a:chExt cx="7848872" cy="5628361"/>
          </a:xfrm>
        </p:grpSpPr>
        <p:sp>
          <p:nvSpPr>
            <p:cNvPr id="16" name="TextBox 15"/>
            <p:cNvSpPr txBox="1"/>
            <p:nvPr/>
          </p:nvSpPr>
          <p:spPr>
            <a:xfrm>
              <a:off x="323528" y="1236822"/>
              <a:ext cx="576064" cy="56283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13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14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15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16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17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18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19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20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21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22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23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24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25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26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27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28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29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30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31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71600" y="1236822"/>
              <a:ext cx="7200800" cy="5628361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// import necessary libraries</a:t>
              </a:r>
            </a:p>
            <a:p>
              <a:r>
                <a:rPr lang="en-US" sz="1200" dirty="0">
                  <a:solidFill>
                    <a:srgbClr val="00B0F0"/>
                  </a:solidFill>
                </a:rPr>
                <a:t>import</a:t>
              </a:r>
              <a:r>
                <a:rPr lang="en-US" sz="1200" dirty="0">
                  <a:solidFill>
                    <a:srgbClr val="0000FF"/>
                  </a:solidFill>
                </a:rPr>
                <a:t> </a:t>
              </a:r>
              <a:r>
                <a:rPr lang="en-US" sz="1200" dirty="0" err="1">
                  <a:solidFill>
                    <a:srgbClr val="0000FF"/>
                  </a:solidFill>
                </a:rPr>
                <a:t>java.util.Scanner</a:t>
              </a:r>
              <a:r>
                <a:rPr lang="en-US" sz="1200" dirty="0">
                  <a:solidFill>
                    <a:srgbClr val="0000FF"/>
                  </a:solidFill>
                </a:rPr>
                <a:t>;		</a:t>
              </a:r>
              <a:endParaRPr lang="en-US" sz="1200" dirty="0">
                <a:solidFill>
                  <a:srgbClr val="00B050"/>
                </a:solidFill>
              </a:endParaRPr>
            </a:p>
            <a:p>
              <a:r>
                <a:rPr lang="en-US" sz="1200" dirty="0">
                  <a:solidFill>
                    <a:srgbClr val="00B0F0"/>
                  </a:solidFill>
                </a:rPr>
                <a:t>public class</a:t>
              </a:r>
              <a:r>
                <a:rPr lang="en-US" sz="1200" dirty="0">
                  <a:solidFill>
                    <a:srgbClr val="0000FF"/>
                  </a:solidFill>
                </a:rPr>
                <a:t> </a:t>
              </a:r>
              <a:r>
                <a:rPr lang="en-US" sz="1200" dirty="0" err="1">
                  <a:solidFill>
                    <a:srgbClr val="0000FF"/>
                  </a:solidFill>
                </a:rPr>
                <a:t>whileSentinel</a:t>
              </a:r>
              <a:endParaRPr lang="en-US" sz="1200" dirty="0">
                <a:solidFill>
                  <a:srgbClr val="0000FF"/>
                </a:solidFill>
              </a:endParaRPr>
            </a:p>
            <a:p>
              <a:r>
                <a:rPr lang="en-US" sz="1200" dirty="0">
                  <a:solidFill>
                    <a:srgbClr val="0000FF"/>
                  </a:solidFill>
                </a:rPr>
                <a:t>{</a:t>
              </a:r>
            </a:p>
            <a:p>
              <a:r>
                <a:rPr lang="en-US" sz="1200" dirty="0">
                  <a:solidFill>
                    <a:srgbClr val="00B0F0"/>
                  </a:solidFill>
                </a:rPr>
                <a:t>      public static void</a:t>
              </a:r>
              <a:r>
                <a:rPr lang="en-US" sz="1200" dirty="0">
                  <a:solidFill>
                    <a:srgbClr val="0000FF"/>
                  </a:solidFill>
                </a:rPr>
                <a:t> main (String[] </a:t>
              </a:r>
              <a:r>
                <a:rPr lang="en-US" sz="1200" dirty="0" err="1">
                  <a:solidFill>
                    <a:srgbClr val="0000FF"/>
                  </a:solidFill>
                </a:rPr>
                <a:t>args</a:t>
              </a:r>
              <a:r>
                <a:rPr lang="en-US" sz="1200" dirty="0">
                  <a:solidFill>
                    <a:srgbClr val="0000FF"/>
                  </a:solidFill>
                </a:rPr>
                <a:t>)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      {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Scanner read = </a:t>
              </a:r>
              <a:r>
                <a:rPr lang="en-US" sz="1200" dirty="0">
                  <a:solidFill>
                    <a:srgbClr val="00B0F0"/>
                  </a:solidFill>
                </a:rPr>
                <a:t>new</a:t>
              </a:r>
              <a:r>
                <a:rPr lang="en-US" sz="1200" dirty="0">
                  <a:solidFill>
                    <a:srgbClr val="0000FF"/>
                  </a:solidFill>
                </a:rPr>
                <a:t> Scanner (</a:t>
              </a:r>
              <a:r>
                <a:rPr lang="en-US" sz="1200" dirty="0" err="1">
                  <a:solidFill>
                    <a:srgbClr val="0000FF"/>
                  </a:solidFill>
                </a:rPr>
                <a:t>System.in</a:t>
              </a:r>
              <a:r>
                <a:rPr lang="en-US" sz="1200" dirty="0">
                  <a:solidFill>
                    <a:srgbClr val="0000FF"/>
                  </a:solidFill>
                </a:rPr>
                <a:t>);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                   </a:t>
              </a:r>
              <a:r>
                <a:rPr lang="en-US" sz="1200" dirty="0">
                  <a:solidFill>
                    <a:srgbClr val="00B0F0"/>
                  </a:solidFill>
                </a:rPr>
                <a:t>final </a:t>
              </a:r>
              <a:r>
                <a:rPr lang="en-US" sz="1200" dirty="0" err="1">
                  <a:solidFill>
                    <a:srgbClr val="00B0F0"/>
                  </a:solidFill>
                </a:rPr>
                <a:t>int</a:t>
              </a:r>
              <a:r>
                <a:rPr lang="en-US" sz="1200" dirty="0">
                  <a:solidFill>
                    <a:srgbClr val="00B0F0"/>
                  </a:solidFill>
                </a:rPr>
                <a:t> </a:t>
              </a:r>
              <a:r>
                <a:rPr lang="en-US" sz="1200" dirty="0">
                  <a:solidFill>
                    <a:srgbClr val="0000FF"/>
                  </a:solidFill>
                </a:rPr>
                <a:t>SENTINEL = -1;   </a:t>
              </a:r>
              <a:r>
                <a:rPr lang="en-US" sz="1200" dirty="0">
                  <a:solidFill>
                    <a:srgbClr val="00B050"/>
                  </a:solidFill>
                </a:rPr>
                <a:t>//define a sentinel</a:t>
              </a:r>
              <a:endParaRPr lang="en-US" sz="1200" dirty="0">
                <a:solidFill>
                  <a:srgbClr val="0000FF"/>
                </a:solidFill>
              </a:endParaRPr>
            </a:p>
            <a:p>
              <a:r>
                <a:rPr lang="en-US" sz="1200" dirty="0">
                  <a:solidFill>
                    <a:srgbClr val="0000FF"/>
                  </a:solidFill>
                </a:rPr>
                <a:t>            </a:t>
              </a:r>
              <a:r>
                <a:rPr lang="en-US" sz="1200" dirty="0"/>
                <a:t>// Declaration section: to declare needed variables</a:t>
              </a:r>
            </a:p>
            <a:p>
              <a:r>
                <a:rPr lang="en-US" sz="1200" dirty="0"/>
                <a:t>	</a:t>
              </a:r>
              <a:r>
                <a:rPr lang="en-US" sz="1200" dirty="0" err="1">
                  <a:solidFill>
                    <a:srgbClr val="00B0F0"/>
                  </a:solidFill>
                </a:rPr>
                <a:t>int</a:t>
              </a:r>
              <a:r>
                <a:rPr lang="en-US" sz="1200" dirty="0">
                  <a:solidFill>
                    <a:srgbClr val="0000FF"/>
                  </a:solidFill>
                </a:rPr>
                <a:t> </a:t>
              </a:r>
              <a:r>
                <a:rPr lang="en-US" sz="1200" dirty="0" err="1">
                  <a:solidFill>
                    <a:srgbClr val="0000FF"/>
                  </a:solidFill>
                </a:rPr>
                <a:t>num</a:t>
              </a:r>
              <a:r>
                <a:rPr lang="en-US" sz="1200" dirty="0">
                  <a:solidFill>
                    <a:srgbClr val="0000FF"/>
                  </a:solidFill>
                </a:rPr>
                <a:t>, sum = 0, count = 0;  </a:t>
              </a:r>
              <a:r>
                <a:rPr lang="en-US" sz="1200" dirty="0">
                  <a:solidFill>
                    <a:srgbClr val="00B050"/>
                  </a:solidFill>
                </a:rPr>
                <a:t>//initialize sum and count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</a:t>
              </a:r>
              <a:r>
                <a:rPr lang="en-US" sz="1200" dirty="0">
                  <a:solidFill>
                    <a:srgbClr val="00B0F0"/>
                  </a:solidFill>
                </a:rPr>
                <a:t>double </a:t>
              </a:r>
              <a:r>
                <a:rPr lang="en-US" sz="1200" dirty="0">
                  <a:solidFill>
                    <a:srgbClr val="0000FF"/>
                  </a:solidFill>
                </a:rPr>
                <a:t>average = 0.0;</a:t>
              </a:r>
            </a:p>
            <a:p>
              <a:r>
                <a:rPr lang="en-US" sz="1200" dirty="0"/>
                <a:t>           // Input section: to enter values of used variables</a:t>
              </a:r>
            </a:p>
            <a:p>
              <a:r>
                <a:rPr lang="en-US" sz="1200" dirty="0"/>
                <a:t>	</a:t>
              </a:r>
              <a:r>
                <a:rPr lang="en-US" sz="1200" dirty="0" err="1">
                  <a:solidFill>
                    <a:srgbClr val="0000FF"/>
                  </a:solidFill>
                </a:rPr>
                <a:t>System.out.printf</a:t>
              </a:r>
              <a:r>
                <a:rPr lang="en-US" sz="1200" dirty="0">
                  <a:solidFill>
                    <a:srgbClr val="0000FF"/>
                  </a:solidFill>
                </a:rPr>
                <a:t> (“Enter number or %d to end input”, SENTINEL);   </a:t>
              </a:r>
              <a:r>
                <a:rPr lang="en-US" sz="1200" dirty="0">
                  <a:solidFill>
                    <a:srgbClr val="00B050"/>
                  </a:solidFill>
                </a:rPr>
                <a:t>//prompt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</a:t>
              </a:r>
              <a:r>
                <a:rPr lang="en-US" sz="1200" dirty="0" err="1">
                  <a:solidFill>
                    <a:srgbClr val="0000FF"/>
                  </a:solidFill>
                </a:rPr>
                <a:t>num</a:t>
              </a:r>
              <a:r>
                <a:rPr lang="en-US" sz="1200" dirty="0">
                  <a:solidFill>
                    <a:srgbClr val="0000FF"/>
                  </a:solidFill>
                </a:rPr>
                <a:t> = </a:t>
              </a:r>
              <a:r>
                <a:rPr lang="en-US" sz="1200" dirty="0" err="1">
                  <a:solidFill>
                    <a:srgbClr val="0000FF"/>
                  </a:solidFill>
                </a:rPr>
                <a:t>read.</a:t>
              </a:r>
              <a:r>
                <a:rPr lang="en-US" sz="1200" dirty="0" err="1">
                  <a:solidFill>
                    <a:srgbClr val="00B050"/>
                  </a:solidFill>
                </a:rPr>
                <a:t>nextInt</a:t>
              </a:r>
              <a:r>
                <a:rPr lang="en-US" sz="1200" dirty="0">
                  <a:solidFill>
                    <a:srgbClr val="00B050"/>
                  </a:solidFill>
                </a:rPr>
                <a:t>()</a:t>
              </a:r>
              <a:r>
                <a:rPr lang="en-US" sz="1200" dirty="0">
                  <a:solidFill>
                    <a:srgbClr val="0000FF"/>
                  </a:solidFill>
                </a:rPr>
                <a:t>;  </a:t>
              </a:r>
              <a:r>
                <a:rPr lang="en-US" sz="1200" dirty="0">
                  <a:solidFill>
                    <a:srgbClr val="00B050"/>
                  </a:solidFill>
                </a:rPr>
                <a:t> //read once before the loop</a:t>
              </a:r>
            </a:p>
            <a:p>
              <a:r>
                <a:rPr lang="en-US" sz="1200" dirty="0"/>
                <a:t>            // Processing section: processing statements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</a:t>
              </a:r>
              <a:r>
                <a:rPr lang="en-US" sz="1200" dirty="0">
                  <a:solidFill>
                    <a:srgbClr val="00B0F0"/>
                  </a:solidFill>
                </a:rPr>
                <a:t>while</a:t>
              </a:r>
              <a:r>
                <a:rPr lang="en-US" sz="1200" dirty="0">
                  <a:solidFill>
                    <a:srgbClr val="0000FF"/>
                  </a:solidFill>
                </a:rPr>
                <a:t> (</a:t>
              </a:r>
              <a:r>
                <a:rPr lang="en-US" sz="1200" dirty="0" err="1">
                  <a:solidFill>
                    <a:srgbClr val="0000FF"/>
                  </a:solidFill>
                </a:rPr>
                <a:t>num</a:t>
              </a:r>
              <a:r>
                <a:rPr lang="en-US" sz="1200" dirty="0">
                  <a:solidFill>
                    <a:srgbClr val="0000FF"/>
                  </a:solidFill>
                </a:rPr>
                <a:t> != SENTINEL)   </a:t>
              </a:r>
              <a:r>
                <a:rPr lang="en-US" sz="1200" dirty="0">
                  <a:solidFill>
                    <a:srgbClr val="00B050"/>
                  </a:solidFill>
                </a:rPr>
                <a:t>//Enter the loop if </a:t>
              </a:r>
              <a:r>
                <a:rPr lang="en-US" sz="1200" dirty="0" err="1">
                  <a:solidFill>
                    <a:srgbClr val="00B050"/>
                  </a:solidFill>
                </a:rPr>
                <a:t>num</a:t>
              </a:r>
              <a:r>
                <a:rPr lang="en-US" sz="1200" dirty="0">
                  <a:solidFill>
                    <a:srgbClr val="00B050"/>
                  </a:solidFill>
                </a:rPr>
                <a:t>!=-1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   {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    count++;	    </a:t>
              </a:r>
              <a:r>
                <a:rPr lang="en-US" sz="1200" dirty="0">
                  <a:solidFill>
                    <a:srgbClr val="00B050"/>
                  </a:solidFill>
                </a:rPr>
                <a:t>// process then re-read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    sum = sum + </a:t>
              </a:r>
              <a:r>
                <a:rPr lang="en-US" sz="1200" dirty="0" err="1">
                  <a:solidFill>
                    <a:srgbClr val="0000FF"/>
                  </a:solidFill>
                </a:rPr>
                <a:t>num</a:t>
              </a:r>
              <a:r>
                <a:rPr lang="en-US" sz="1200" dirty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    </a:t>
              </a:r>
              <a:r>
                <a:rPr lang="en-US" sz="1200" dirty="0" err="1">
                  <a:solidFill>
                    <a:srgbClr val="0000FF"/>
                  </a:solidFill>
                </a:rPr>
                <a:t>System.out.printf</a:t>
              </a:r>
              <a:r>
                <a:rPr lang="en-US" sz="1200" dirty="0">
                  <a:solidFill>
                    <a:srgbClr val="0000FF"/>
                  </a:solidFill>
                </a:rPr>
                <a:t> (“Enter next number, or %d to end, SENTINEL); </a:t>
              </a:r>
              <a:r>
                <a:rPr lang="en-US" sz="1200" dirty="0">
                  <a:solidFill>
                    <a:srgbClr val="00B050"/>
                  </a:solidFill>
                </a:rPr>
                <a:t>//prompt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    </a:t>
              </a:r>
              <a:r>
                <a:rPr lang="en-US" sz="1200" dirty="0" err="1">
                  <a:solidFill>
                    <a:srgbClr val="0000FF"/>
                  </a:solidFill>
                </a:rPr>
                <a:t>num</a:t>
              </a:r>
              <a:r>
                <a:rPr lang="en-US" sz="1200" dirty="0">
                  <a:solidFill>
                    <a:srgbClr val="0000FF"/>
                  </a:solidFill>
                </a:rPr>
                <a:t> = </a:t>
              </a:r>
              <a:r>
                <a:rPr lang="en-US" sz="1200" dirty="0" err="1">
                  <a:solidFill>
                    <a:srgbClr val="0000FF"/>
                  </a:solidFill>
                </a:rPr>
                <a:t>read.</a:t>
              </a:r>
              <a:r>
                <a:rPr lang="en-US" sz="1200" dirty="0" err="1">
                  <a:solidFill>
                    <a:srgbClr val="00B050"/>
                  </a:solidFill>
                </a:rPr>
                <a:t>nextInt</a:t>
              </a:r>
              <a:r>
                <a:rPr lang="en-US" sz="1200" dirty="0">
                  <a:solidFill>
                    <a:srgbClr val="00B050"/>
                  </a:solidFill>
                </a:rPr>
                <a:t>()</a:t>
              </a:r>
              <a:r>
                <a:rPr lang="en-US" sz="1200" dirty="0">
                  <a:solidFill>
                    <a:srgbClr val="0000FF"/>
                  </a:solidFill>
                </a:rPr>
                <a:t>;	</a:t>
              </a:r>
              <a:r>
                <a:rPr lang="en-US" sz="1200" dirty="0">
                  <a:solidFill>
                    <a:srgbClr val="00B050"/>
                  </a:solidFill>
                </a:rPr>
                <a:t>//read next number</a:t>
              </a:r>
            </a:p>
            <a:p>
              <a:r>
                <a:rPr lang="en-US" sz="1200" dirty="0">
                  <a:solidFill>
                    <a:srgbClr val="00B050"/>
                  </a:solidFill>
                </a:rPr>
                <a:t>	   </a:t>
              </a:r>
              <a:r>
                <a:rPr lang="en-US" sz="1200" dirty="0">
                  <a:solidFill>
                    <a:srgbClr val="0000FF"/>
                  </a:solidFill>
                </a:rPr>
                <a:t>} </a:t>
              </a:r>
              <a:r>
                <a:rPr lang="en-US" sz="1200" dirty="0">
                  <a:solidFill>
                    <a:srgbClr val="00B050"/>
                  </a:solidFill>
                </a:rPr>
                <a:t>//end while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</a:t>
              </a:r>
              <a:r>
                <a:rPr lang="en-US" sz="12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200" dirty="0">
                  <a:solidFill>
                    <a:srgbClr val="0000FF"/>
                  </a:solidFill>
                </a:rPr>
                <a:t> (“End of data input”);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</a:t>
              </a:r>
              <a:r>
                <a:rPr lang="en-US" sz="1200" dirty="0">
                  <a:solidFill>
                    <a:srgbClr val="00B0F0"/>
                  </a:solidFill>
                </a:rPr>
                <a:t>if</a:t>
              </a:r>
              <a:r>
                <a:rPr lang="en-US" sz="1200" dirty="0">
                  <a:solidFill>
                    <a:srgbClr val="0000FF"/>
                  </a:solidFill>
                </a:rPr>
                <a:t> (count != 0)</a:t>
              </a:r>
            </a:p>
            <a:p>
              <a:r>
                <a:rPr lang="en-US" sz="1200" dirty="0">
                  <a:solidFill>
                    <a:srgbClr val="00B050"/>
                  </a:solidFill>
                </a:rPr>
                <a:t>  	   </a:t>
              </a:r>
              <a:r>
                <a:rPr lang="en-US" sz="1200" dirty="0">
                  <a:solidFill>
                    <a:srgbClr val="0000FF"/>
                  </a:solidFill>
                </a:rPr>
                <a:t>average = (double)(sum)/count;	</a:t>
              </a:r>
              <a:r>
                <a:rPr lang="en-US" sz="1200" dirty="0">
                  <a:solidFill>
                    <a:srgbClr val="00B050"/>
                  </a:solidFill>
                </a:rPr>
                <a:t>//to avoid result truncation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</a:t>
              </a:r>
              <a:r>
                <a:rPr lang="en-US" sz="1200" dirty="0">
                  <a:solidFill>
                    <a:srgbClr val="00B0F0"/>
                  </a:solidFill>
                </a:rPr>
                <a:t>else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   </a:t>
              </a:r>
              <a:r>
                <a:rPr lang="en-US" sz="12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200" dirty="0">
                  <a:solidFill>
                    <a:srgbClr val="0000FF"/>
                  </a:solidFill>
                </a:rPr>
                <a:t> (“No input”);</a:t>
              </a:r>
            </a:p>
            <a:p>
              <a:r>
                <a:rPr lang="en-US" sz="1200" dirty="0"/>
                <a:t>            // Output section: display program output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</a:t>
              </a:r>
              <a:r>
                <a:rPr lang="en-US" sz="1200" dirty="0" err="1">
                  <a:solidFill>
                    <a:srgbClr val="0000FF"/>
                  </a:solidFill>
                </a:rPr>
                <a:t>System.out.printf</a:t>
              </a:r>
              <a:r>
                <a:rPr lang="en-US" sz="1200" dirty="0">
                  <a:solidFill>
                    <a:srgbClr val="0000FF"/>
                  </a:solidFill>
                </a:rPr>
                <a:t> (“Sum = %d, Average = %.2f”, sum, average);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      } </a:t>
              </a:r>
              <a:r>
                <a:rPr lang="en-US" sz="1200" dirty="0">
                  <a:solidFill>
                    <a:srgbClr val="00B050"/>
                  </a:solidFill>
                </a:rPr>
                <a:t>// end main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} </a:t>
              </a:r>
              <a:r>
                <a:rPr lang="en-US" sz="1200" dirty="0">
                  <a:solidFill>
                    <a:srgbClr val="00B050"/>
                  </a:solidFill>
                </a:rPr>
                <a:t>// end class</a:t>
              </a: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1. The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while </a:t>
            </a:r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Statement</a:t>
            </a:r>
            <a:endParaRPr lang="en-US" sz="28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2440" y="6237312"/>
            <a:ext cx="365760" cy="365125"/>
          </a:xfrm>
        </p:spPr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904876" y="2564904"/>
            <a:ext cx="8059611" cy="21602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06917" y="3284984"/>
            <a:ext cx="8059611" cy="216024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899592" y="4005064"/>
            <a:ext cx="8059611" cy="432048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906917" y="4581128"/>
            <a:ext cx="8059611" cy="216024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899592" y="5157192"/>
            <a:ext cx="8059611" cy="21602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Callout 9"/>
          <p:cNvSpPr/>
          <p:nvPr/>
        </p:nvSpPr>
        <p:spPr>
          <a:xfrm>
            <a:off x="6588224" y="5733256"/>
            <a:ext cx="2448272" cy="1008112"/>
          </a:xfrm>
          <a:prstGeom prst="wedgeEllipseCallout">
            <a:avLst>
              <a:gd name="adj1" fmla="val -136578"/>
              <a:gd name="adj2" fmla="val -72629"/>
            </a:avLst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If no input </a:t>
            </a:r>
            <a:r>
              <a:rPr lang="en-US" dirty="0">
                <a:solidFill>
                  <a:srgbClr val="0000FF"/>
                </a:solidFill>
                <a:sym typeface="Wingdings" panose="05000000000000000000" pitchFamily="2" charset="2"/>
              </a:rPr>
              <a:t> count = 0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899592" y="2222376"/>
            <a:ext cx="8059611" cy="21602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99592" y="3645024"/>
            <a:ext cx="8059611" cy="21602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1475656" y="4005064"/>
            <a:ext cx="432048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1475656" y="4005064"/>
            <a:ext cx="0" cy="86409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1475656" y="4869160"/>
            <a:ext cx="432048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62995041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1" grpId="0" animBg="1"/>
      <p:bldP spid="12" grpId="0" animBg="1"/>
      <p:bldP spid="13" grpId="0" animBg="1"/>
      <p:bldP spid="19" grpId="0" animBg="1"/>
      <p:bldP spid="20" grpId="0" animBg="1"/>
      <p:bldP spid="10" grpId="0" animBg="1"/>
      <p:bldP spid="21" grpId="0" animBg="1"/>
      <p:bldP spid="2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FF"/>
                </a:solidFill>
              </a:rPr>
              <a:t>USER INPUT VALIDATION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1.2.1 PROGRAMMING HINT</a:t>
            </a:r>
            <a:endParaRPr lang="en-US" sz="28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2440" y="6237312"/>
            <a:ext cx="365760" cy="365125"/>
          </a:xfrm>
        </p:spPr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107504" y="1268760"/>
            <a:ext cx="8928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US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while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loop may be used to control user input. It gives the user chances to enter the correct required data.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504" y="1846565"/>
            <a:ext cx="8928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Suppose the program requires a positive integer from the user. The following code illustrates the idea: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179512" y="2570128"/>
            <a:ext cx="8784976" cy="3970318"/>
            <a:chOff x="323528" y="1236822"/>
            <a:chExt cx="7848872" cy="3841578"/>
          </a:xfrm>
        </p:grpSpPr>
        <p:sp>
          <p:nvSpPr>
            <p:cNvPr id="26" name="TextBox 25"/>
            <p:cNvSpPr txBox="1"/>
            <p:nvPr/>
          </p:nvSpPr>
          <p:spPr>
            <a:xfrm>
              <a:off x="323528" y="1236822"/>
              <a:ext cx="576064" cy="38415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13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14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15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16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17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18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971600" y="1236822"/>
              <a:ext cx="7200800" cy="3841578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// import necessary libraries</a:t>
              </a:r>
            </a:p>
            <a:p>
              <a:r>
                <a:rPr lang="en-US" sz="1400" dirty="0">
                  <a:solidFill>
                    <a:srgbClr val="00B0F0"/>
                  </a:solidFill>
                </a:rPr>
                <a:t>import</a:t>
              </a:r>
              <a:r>
                <a:rPr lang="en-US" sz="1400" dirty="0">
                  <a:solidFill>
                    <a:srgbClr val="0000FF"/>
                  </a:solidFill>
                </a:rPr>
                <a:t> </a:t>
              </a:r>
              <a:r>
                <a:rPr lang="en-US" sz="1400" dirty="0" err="1">
                  <a:solidFill>
                    <a:srgbClr val="0000FF"/>
                  </a:solidFill>
                </a:rPr>
                <a:t>java.util.Scanner</a:t>
              </a:r>
              <a:r>
                <a:rPr lang="en-US" sz="1400" dirty="0">
                  <a:solidFill>
                    <a:srgbClr val="0000FF"/>
                  </a:solidFill>
                </a:rPr>
                <a:t>;		</a:t>
              </a:r>
              <a:endParaRPr lang="en-US" sz="1400" dirty="0">
                <a:solidFill>
                  <a:srgbClr val="00B050"/>
                </a:solidFill>
              </a:endParaRPr>
            </a:p>
            <a:p>
              <a:r>
                <a:rPr lang="en-US" sz="1400" dirty="0">
                  <a:solidFill>
                    <a:srgbClr val="00B0F0"/>
                  </a:solidFill>
                </a:rPr>
                <a:t>public class</a:t>
              </a:r>
              <a:r>
                <a:rPr lang="en-US" sz="1400" dirty="0">
                  <a:solidFill>
                    <a:srgbClr val="0000FF"/>
                  </a:solidFill>
                </a:rPr>
                <a:t> </a:t>
              </a:r>
              <a:r>
                <a:rPr lang="en-US" sz="1400" dirty="0" err="1">
                  <a:solidFill>
                    <a:srgbClr val="0000FF"/>
                  </a:solidFill>
                </a:rPr>
                <a:t>whileSentinel</a:t>
              </a:r>
              <a:endParaRPr lang="en-US" sz="1400" dirty="0">
                <a:solidFill>
                  <a:srgbClr val="0000FF"/>
                </a:solidFill>
              </a:endParaRPr>
            </a:p>
            <a:p>
              <a:r>
                <a:rPr lang="en-US" sz="1400" dirty="0">
                  <a:solidFill>
                    <a:srgbClr val="0000FF"/>
                  </a:solidFill>
                </a:rPr>
                <a:t>{</a:t>
              </a:r>
            </a:p>
            <a:p>
              <a:r>
                <a:rPr lang="en-US" sz="1400" dirty="0">
                  <a:solidFill>
                    <a:srgbClr val="00B0F0"/>
                  </a:solidFill>
                </a:rPr>
                <a:t>      public static void</a:t>
              </a:r>
              <a:r>
                <a:rPr lang="en-US" sz="1400" dirty="0">
                  <a:solidFill>
                    <a:srgbClr val="0000FF"/>
                  </a:solidFill>
                </a:rPr>
                <a:t> main (String[] </a:t>
              </a:r>
              <a:r>
                <a:rPr lang="en-US" sz="1400" dirty="0" err="1">
                  <a:solidFill>
                    <a:srgbClr val="0000FF"/>
                  </a:solidFill>
                </a:rPr>
                <a:t>args</a:t>
              </a:r>
              <a:r>
                <a:rPr lang="en-US" sz="1400" dirty="0">
                  <a:solidFill>
                    <a:srgbClr val="0000FF"/>
                  </a:solidFill>
                </a:rPr>
                <a:t>)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{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Scanner read = </a:t>
              </a:r>
              <a:r>
                <a:rPr lang="en-US" sz="1400" dirty="0">
                  <a:solidFill>
                    <a:srgbClr val="00B0F0"/>
                  </a:solidFill>
                </a:rPr>
                <a:t>new</a:t>
              </a:r>
              <a:r>
                <a:rPr lang="en-US" sz="1400" dirty="0">
                  <a:solidFill>
                    <a:srgbClr val="0000FF"/>
                  </a:solidFill>
                </a:rPr>
                <a:t> Scanner (</a:t>
              </a:r>
              <a:r>
                <a:rPr lang="en-US" sz="1400" dirty="0" err="1">
                  <a:solidFill>
                    <a:srgbClr val="0000FF"/>
                  </a:solidFill>
                </a:rPr>
                <a:t>System.in</a:t>
              </a:r>
              <a:r>
                <a:rPr lang="en-US" sz="1400" dirty="0">
                  <a:solidFill>
                    <a:srgbClr val="0000FF"/>
                  </a:solidFill>
                </a:rPr>
                <a:t>);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</a:t>
              </a:r>
              <a:r>
                <a:rPr lang="en-US" sz="1400" dirty="0" err="1">
                  <a:solidFill>
                    <a:srgbClr val="00B0F0"/>
                  </a:solidFill>
                </a:rPr>
                <a:t>int</a:t>
              </a:r>
              <a:r>
                <a:rPr lang="en-US" sz="1400" dirty="0">
                  <a:solidFill>
                    <a:srgbClr val="0000FF"/>
                  </a:solidFill>
                </a:rPr>
                <a:t> </a:t>
              </a:r>
              <a:r>
                <a:rPr lang="en-US" sz="1400" dirty="0" err="1">
                  <a:solidFill>
                    <a:srgbClr val="0000FF"/>
                  </a:solidFill>
                </a:rPr>
                <a:t>num</a:t>
              </a:r>
              <a:r>
                <a:rPr lang="en-US" sz="1400" dirty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</a:t>
              </a:r>
              <a:r>
                <a:rPr lang="en-US" sz="14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400" dirty="0">
                  <a:solidFill>
                    <a:srgbClr val="0000FF"/>
                  </a:solidFill>
                </a:rPr>
                <a:t> (“Enter a positive number”);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</a:t>
              </a:r>
              <a:r>
                <a:rPr lang="en-US" sz="1400" dirty="0" err="1">
                  <a:solidFill>
                    <a:srgbClr val="0000FF"/>
                  </a:solidFill>
                </a:rPr>
                <a:t>num</a:t>
              </a:r>
              <a:r>
                <a:rPr lang="en-US" sz="1400" dirty="0">
                  <a:solidFill>
                    <a:srgbClr val="0000FF"/>
                  </a:solidFill>
                </a:rPr>
                <a:t> = </a:t>
              </a:r>
              <a:r>
                <a:rPr lang="en-US" sz="1400" dirty="0" err="1">
                  <a:solidFill>
                    <a:srgbClr val="0000FF"/>
                  </a:solidFill>
                </a:rPr>
                <a:t>read.</a:t>
              </a:r>
              <a:r>
                <a:rPr lang="en-US" sz="1400" dirty="0" err="1">
                  <a:solidFill>
                    <a:srgbClr val="00B050"/>
                  </a:solidFill>
                </a:rPr>
                <a:t>nextInt</a:t>
              </a:r>
              <a:r>
                <a:rPr lang="en-US" sz="1400" dirty="0">
                  <a:solidFill>
                    <a:srgbClr val="00B050"/>
                  </a:solidFill>
                </a:rPr>
                <a:t>()</a:t>
              </a:r>
              <a:r>
                <a:rPr lang="en-US" sz="1400" dirty="0">
                  <a:solidFill>
                    <a:srgbClr val="0000FF"/>
                  </a:solidFill>
                </a:rPr>
                <a:t>;	</a:t>
              </a:r>
              <a:r>
                <a:rPr lang="en-US" sz="1400" dirty="0">
                  <a:solidFill>
                    <a:srgbClr val="00B050"/>
                  </a:solidFill>
                </a:rPr>
                <a:t>//read </a:t>
              </a:r>
              <a:r>
                <a:rPr lang="en-US" sz="1400" dirty="0" err="1">
                  <a:solidFill>
                    <a:srgbClr val="00B050"/>
                  </a:solidFill>
                </a:rPr>
                <a:t>num</a:t>
              </a:r>
              <a:r>
                <a:rPr lang="en-US" sz="1400" dirty="0">
                  <a:solidFill>
                    <a:srgbClr val="00B050"/>
                  </a:solidFill>
                </a:rPr>
                <a:t> for the first time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</a:t>
              </a:r>
              <a:r>
                <a:rPr lang="en-US" sz="1400" dirty="0">
                  <a:solidFill>
                    <a:srgbClr val="00B0F0"/>
                  </a:solidFill>
                </a:rPr>
                <a:t>while </a:t>
              </a:r>
              <a:r>
                <a:rPr lang="en-US" sz="1400" dirty="0">
                  <a:solidFill>
                    <a:srgbClr val="0000FF"/>
                  </a:solidFill>
                </a:rPr>
                <a:t>(</a:t>
              </a:r>
              <a:r>
                <a:rPr lang="en-US" sz="1400" dirty="0" err="1">
                  <a:solidFill>
                    <a:srgbClr val="0000FF"/>
                  </a:solidFill>
                </a:rPr>
                <a:t>num</a:t>
              </a:r>
              <a:r>
                <a:rPr lang="en-US" sz="1400" dirty="0">
                  <a:solidFill>
                    <a:srgbClr val="0000FF"/>
                  </a:solidFill>
                </a:rPr>
                <a:t> &lt; 0)	</a:t>
              </a:r>
              <a:r>
                <a:rPr lang="en-US" sz="1400" dirty="0">
                  <a:solidFill>
                    <a:srgbClr val="00B050"/>
                  </a:solidFill>
                </a:rPr>
                <a:t>// if </a:t>
              </a:r>
              <a:r>
                <a:rPr lang="en-US" sz="1400" dirty="0" err="1">
                  <a:solidFill>
                    <a:srgbClr val="00B050"/>
                  </a:solidFill>
                </a:rPr>
                <a:t>num</a:t>
              </a:r>
              <a:r>
                <a:rPr lang="en-US" sz="1400" dirty="0">
                  <a:solidFill>
                    <a:srgbClr val="00B050"/>
                  </a:solidFill>
                </a:rPr>
                <a:t> is negative, the program enters the loop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    {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</a:t>
              </a:r>
              <a:r>
                <a:rPr lang="en-US" sz="14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400" dirty="0">
                  <a:solidFill>
                    <a:srgbClr val="0000FF"/>
                  </a:solidFill>
                </a:rPr>
                <a:t> (“Invalid input. Try once more”);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</a:t>
              </a:r>
              <a:r>
                <a:rPr lang="en-US" sz="1400" dirty="0" err="1">
                  <a:solidFill>
                    <a:srgbClr val="0000FF"/>
                  </a:solidFill>
                </a:rPr>
                <a:t>num</a:t>
              </a:r>
              <a:r>
                <a:rPr lang="en-US" sz="1400" dirty="0">
                  <a:solidFill>
                    <a:srgbClr val="0000FF"/>
                  </a:solidFill>
                </a:rPr>
                <a:t> = </a:t>
              </a:r>
              <a:r>
                <a:rPr lang="en-US" sz="1400" dirty="0" err="1">
                  <a:solidFill>
                    <a:srgbClr val="0000FF"/>
                  </a:solidFill>
                </a:rPr>
                <a:t>read.</a:t>
              </a:r>
              <a:r>
                <a:rPr lang="en-US" sz="1400" dirty="0" err="1">
                  <a:solidFill>
                    <a:srgbClr val="00B050"/>
                  </a:solidFill>
                </a:rPr>
                <a:t>nextInt</a:t>
              </a:r>
              <a:r>
                <a:rPr lang="en-US" sz="1400" dirty="0">
                  <a:solidFill>
                    <a:srgbClr val="00B050"/>
                  </a:solidFill>
                </a:rPr>
                <a:t>()</a:t>
              </a:r>
              <a:r>
                <a:rPr lang="en-US" sz="1400" dirty="0">
                  <a:solidFill>
                    <a:srgbClr val="0000FF"/>
                  </a:solidFill>
                </a:rPr>
                <a:t>;     </a:t>
              </a:r>
              <a:r>
                <a:rPr lang="en-US" sz="1400" dirty="0">
                  <a:solidFill>
                    <a:srgbClr val="00B050"/>
                  </a:solidFill>
                </a:rPr>
                <a:t>//read </a:t>
              </a:r>
              <a:r>
                <a:rPr lang="en-US" sz="1400" dirty="0" err="1">
                  <a:solidFill>
                    <a:srgbClr val="00B050"/>
                  </a:solidFill>
                </a:rPr>
                <a:t>num</a:t>
              </a:r>
              <a:r>
                <a:rPr lang="en-US" sz="1400" dirty="0">
                  <a:solidFill>
                    <a:srgbClr val="00B050"/>
                  </a:solidFill>
                </a:rPr>
                <a:t> again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    } </a:t>
              </a:r>
              <a:r>
                <a:rPr lang="en-US" sz="1400" dirty="0">
                  <a:solidFill>
                    <a:srgbClr val="00B050"/>
                  </a:solidFill>
                </a:rPr>
                <a:t>//end while</a:t>
              </a:r>
            </a:p>
            <a:p>
              <a:r>
                <a:rPr lang="en-US" sz="1400" dirty="0">
                  <a:solidFill>
                    <a:srgbClr val="00B050"/>
                  </a:solidFill>
                </a:rPr>
                <a:t>          //the loop ends when </a:t>
              </a:r>
              <a:r>
                <a:rPr lang="en-US" sz="1400" dirty="0" err="1">
                  <a:solidFill>
                    <a:srgbClr val="00B050"/>
                  </a:solidFill>
                </a:rPr>
                <a:t>num</a:t>
              </a:r>
              <a:r>
                <a:rPr lang="en-US" sz="1400" dirty="0">
                  <a:solidFill>
                    <a:srgbClr val="00B050"/>
                  </a:solidFill>
                </a:rPr>
                <a:t> is &gt;= 0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} </a:t>
              </a:r>
              <a:r>
                <a:rPr lang="en-US" sz="1400" dirty="0">
                  <a:solidFill>
                    <a:srgbClr val="00B050"/>
                  </a:solidFill>
                </a:rPr>
                <a:t>// end main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} </a:t>
              </a:r>
              <a:r>
                <a:rPr lang="en-US" sz="1400" dirty="0">
                  <a:solidFill>
                    <a:srgbClr val="00B050"/>
                  </a:solidFill>
                </a:rPr>
                <a:t>// end class</a:t>
              </a:r>
            </a:p>
          </p:txBody>
        </p:sp>
      </p:grpSp>
      <p:sp>
        <p:nvSpPr>
          <p:cNvPr id="28" name="Rectangle 27"/>
          <p:cNvSpPr/>
          <p:nvPr/>
        </p:nvSpPr>
        <p:spPr>
          <a:xfrm>
            <a:off x="899592" y="4725144"/>
            <a:ext cx="8059611" cy="1080120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Callout 28"/>
          <p:cNvSpPr/>
          <p:nvPr/>
        </p:nvSpPr>
        <p:spPr>
          <a:xfrm>
            <a:off x="6300192" y="2852936"/>
            <a:ext cx="2448272" cy="1296144"/>
          </a:xfrm>
          <a:prstGeom prst="wedgeEllipseCallout">
            <a:avLst>
              <a:gd name="adj1" fmla="val -185021"/>
              <a:gd name="adj2" fmla="val 105786"/>
            </a:avLst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Forces the user to enter a positive value</a:t>
            </a:r>
            <a:endParaRPr lang="en-US" dirty="0">
              <a:solidFill>
                <a:srgbClr val="00B0F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3759513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3" grpId="0"/>
      <p:bldP spid="24" grpId="0"/>
      <p:bldP spid="28" grpId="0" animBg="1"/>
      <p:bldP spid="2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FF"/>
                </a:solidFill>
              </a:rPr>
              <a:t>USER INPUT VALIDATION - </a:t>
            </a:r>
            <a:r>
              <a:rPr lang="en-US" b="1" dirty="0">
                <a:solidFill>
                  <a:schemeClr val="bg1"/>
                </a:solidFill>
              </a:rPr>
              <a:t>FLOWCHART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1.2.1 PROGRAMMING HINT</a:t>
            </a:r>
            <a:endParaRPr lang="en-US" sz="28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2440" y="6237312"/>
            <a:ext cx="365760" cy="365125"/>
          </a:xfrm>
        </p:spPr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20" name="AutoShape 67"/>
          <p:cNvSpPr>
            <a:spLocks noChangeArrowheads="1"/>
          </p:cNvSpPr>
          <p:nvPr/>
        </p:nvSpPr>
        <p:spPr bwMode="auto">
          <a:xfrm>
            <a:off x="3993095" y="1412776"/>
            <a:ext cx="1151706" cy="288032"/>
          </a:xfrm>
          <a:prstGeom prst="flowChartTerminator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Start</a:t>
            </a:r>
          </a:p>
        </p:txBody>
      </p:sp>
      <p:cxnSp>
        <p:nvCxnSpPr>
          <p:cNvPr id="22" name="Straight Arrow Connector 21"/>
          <p:cNvCxnSpPr>
            <a:stCxn id="20" idx="2"/>
          </p:cNvCxnSpPr>
          <p:nvPr/>
        </p:nvCxnSpPr>
        <p:spPr>
          <a:xfrm>
            <a:off x="4568948" y="1700808"/>
            <a:ext cx="1" cy="21602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AutoShape 68"/>
          <p:cNvSpPr>
            <a:spLocks noChangeArrowheads="1"/>
          </p:cNvSpPr>
          <p:nvPr/>
        </p:nvSpPr>
        <p:spPr bwMode="auto">
          <a:xfrm>
            <a:off x="3611232" y="1916832"/>
            <a:ext cx="1870075" cy="358775"/>
          </a:xfrm>
          <a:prstGeom prst="flowChartInputOutpu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Read </a:t>
            </a:r>
            <a:r>
              <a:rPr lang="en-US" sz="1600" dirty="0" err="1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num</a:t>
            </a:r>
            <a:endParaRPr lang="en-US" sz="1600" dirty="0"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34" name="AutoShape 73"/>
          <p:cNvSpPr>
            <a:spLocks noChangeArrowheads="1"/>
          </p:cNvSpPr>
          <p:nvPr/>
        </p:nvSpPr>
        <p:spPr bwMode="auto">
          <a:xfrm>
            <a:off x="3647025" y="2492896"/>
            <a:ext cx="1798488" cy="1080319"/>
          </a:xfrm>
          <a:prstGeom prst="flowChartDecision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b="1" dirty="0" err="1">
                <a:solidFill>
                  <a:srgbClr val="0000FF"/>
                </a:solidFill>
                <a:latin typeface="Arial" charset="0"/>
                <a:cs typeface="Arial" charset="0"/>
              </a:rPr>
              <a:t>num</a:t>
            </a:r>
            <a:r>
              <a:rPr lang="en-US" sz="1400" b="1" dirty="0">
                <a:latin typeface="Arial" charset="0"/>
                <a:cs typeface="Arial" charset="0"/>
              </a:rPr>
              <a:t> &lt; 0?</a:t>
            </a:r>
            <a:endParaRPr lang="en-US" sz="1400" b="1" dirty="0">
              <a:solidFill>
                <a:srgbClr val="0000FF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35" name="Straight Arrow Connector 34"/>
          <p:cNvCxnSpPr/>
          <p:nvPr/>
        </p:nvCxnSpPr>
        <p:spPr>
          <a:xfrm>
            <a:off x="4546270" y="2295898"/>
            <a:ext cx="1" cy="21602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5447646" y="3033055"/>
            <a:ext cx="1141646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411432" y="2780928"/>
            <a:ext cx="720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B050"/>
                </a:solidFill>
              </a:rPr>
              <a:t>TRUE</a:t>
            </a:r>
          </a:p>
        </p:txBody>
      </p:sp>
      <p:cxnSp>
        <p:nvCxnSpPr>
          <p:cNvPr id="44" name="Straight Arrow Connector 43"/>
          <p:cNvCxnSpPr/>
          <p:nvPr/>
        </p:nvCxnSpPr>
        <p:spPr>
          <a:xfrm>
            <a:off x="6571546" y="3033055"/>
            <a:ext cx="17745" cy="59745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AutoShape 68"/>
          <p:cNvSpPr>
            <a:spLocks noChangeArrowheads="1"/>
          </p:cNvSpPr>
          <p:nvPr/>
        </p:nvSpPr>
        <p:spPr bwMode="auto">
          <a:xfrm>
            <a:off x="5654253" y="3630514"/>
            <a:ext cx="1870075" cy="358775"/>
          </a:xfrm>
          <a:prstGeom prst="flowChartInputOutpu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Read </a:t>
            </a:r>
            <a:r>
              <a:rPr lang="en-US" sz="1600" dirty="0" err="1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num</a:t>
            </a:r>
            <a:endParaRPr lang="en-US" sz="1600" dirty="0"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46" name="Straight Arrow Connector 45"/>
          <p:cNvCxnSpPr/>
          <p:nvPr/>
        </p:nvCxnSpPr>
        <p:spPr>
          <a:xfrm>
            <a:off x="6571547" y="4003799"/>
            <a:ext cx="17745" cy="86536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flipH="1">
            <a:off x="4495874" y="4869160"/>
            <a:ext cx="2093418" cy="2007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endCxn id="34" idx="2"/>
          </p:cNvCxnSpPr>
          <p:nvPr/>
        </p:nvCxnSpPr>
        <p:spPr>
          <a:xfrm flipH="1" flipV="1">
            <a:off x="4546269" y="3573215"/>
            <a:ext cx="2" cy="131601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flipH="1">
            <a:off x="2862771" y="3041025"/>
            <a:ext cx="786387" cy="1690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Flowchart: Preparation 49"/>
          <p:cNvSpPr/>
          <p:nvPr/>
        </p:nvSpPr>
        <p:spPr>
          <a:xfrm>
            <a:off x="827584" y="2834883"/>
            <a:ext cx="2035187" cy="446088"/>
          </a:xfrm>
          <a:prstGeom prst="flowChartPreparation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Continue the program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131840" y="2780928"/>
            <a:ext cx="720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FALSE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2685237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500"/>
                            </p:stCondLst>
                            <p:childTnLst>
                              <p:par>
                                <p:cTn id="4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0"/>
                            </p:stCondLst>
                            <p:childTnLst>
                              <p:par>
                                <p:cTn id="4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500"/>
                            </p:stCondLst>
                            <p:childTnLst>
                              <p:par>
                                <p:cTn id="5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000"/>
                            </p:stCondLst>
                            <p:childTnLst>
                              <p:par>
                                <p:cTn id="5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6500"/>
                            </p:stCondLst>
                            <p:childTnLst>
                              <p:par>
                                <p:cTn id="6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0" grpId="0" animBg="1"/>
      <p:bldP spid="33" grpId="0" animBg="1"/>
      <p:bldP spid="34" grpId="0" animBg="1"/>
      <p:bldP spid="39" grpId="0"/>
      <p:bldP spid="45" grpId="0" animBg="1"/>
      <p:bldP spid="50" grpId="0" animBg="1"/>
      <p:bldP spid="5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Double Brace 59"/>
          <p:cNvSpPr/>
          <p:nvPr/>
        </p:nvSpPr>
        <p:spPr>
          <a:xfrm>
            <a:off x="6479356" y="4005064"/>
            <a:ext cx="2485132" cy="957122"/>
          </a:xfrm>
          <a:prstGeom prst="bracePair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FF"/>
                </a:solidFill>
              </a:rPr>
              <a:t>found is set to </a:t>
            </a:r>
            <a:r>
              <a:rPr lang="en-US" sz="1400" dirty="0">
                <a:solidFill>
                  <a:srgbClr val="00B0F0"/>
                </a:solidFill>
              </a:rPr>
              <a:t>true</a:t>
            </a:r>
            <a:r>
              <a:rPr lang="en-US" sz="1400" dirty="0">
                <a:solidFill>
                  <a:srgbClr val="0000FF"/>
                </a:solidFill>
              </a:rPr>
              <a:t> when a specific condition is evaluated to </a:t>
            </a:r>
            <a:r>
              <a:rPr lang="en-US" sz="1400" dirty="0">
                <a:solidFill>
                  <a:srgbClr val="00B0F0"/>
                </a:solidFill>
              </a:rPr>
              <a:t>true</a:t>
            </a:r>
          </a:p>
        </p:txBody>
      </p:sp>
      <p:sp>
        <p:nvSpPr>
          <p:cNvPr id="59" name="Double Brace 58"/>
          <p:cNvSpPr/>
          <p:nvPr/>
        </p:nvSpPr>
        <p:spPr>
          <a:xfrm>
            <a:off x="305098" y="3938181"/>
            <a:ext cx="2485132" cy="606210"/>
          </a:xfrm>
          <a:prstGeom prst="bracePair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FF"/>
                </a:solidFill>
              </a:rPr>
              <a:t>The loop ends when found = </a:t>
            </a:r>
            <a:r>
              <a:rPr lang="en-US" sz="1400" dirty="0">
                <a:solidFill>
                  <a:srgbClr val="00B0F0"/>
                </a:solidFill>
              </a:rPr>
              <a:t>true</a:t>
            </a:r>
          </a:p>
        </p:txBody>
      </p:sp>
      <p:sp>
        <p:nvSpPr>
          <p:cNvPr id="58" name="Double Brace 57"/>
          <p:cNvSpPr/>
          <p:nvPr/>
        </p:nvSpPr>
        <p:spPr>
          <a:xfrm>
            <a:off x="3599036" y="2473870"/>
            <a:ext cx="2485132" cy="595090"/>
          </a:xfrm>
          <a:prstGeom prst="bracePair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FF"/>
                </a:solidFill>
              </a:rPr>
              <a:t>The </a:t>
            </a:r>
            <a:r>
              <a:rPr lang="en-US" sz="1400" dirty="0" err="1">
                <a:solidFill>
                  <a:srgbClr val="0000FF"/>
                </a:solidFill>
              </a:rPr>
              <a:t>boolean</a:t>
            </a:r>
            <a:r>
              <a:rPr lang="en-US" sz="1400" dirty="0">
                <a:solidFill>
                  <a:srgbClr val="0000FF"/>
                </a:solidFill>
              </a:rPr>
              <a:t> value is initially set to </a:t>
            </a:r>
            <a:r>
              <a:rPr lang="en-US" sz="1400" dirty="0">
                <a:solidFill>
                  <a:srgbClr val="00B0F0"/>
                </a:solidFill>
              </a:rPr>
              <a:t>false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1.5 FLAG-CONTROLLED LOOP - FLOWCHART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1. The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while </a:t>
            </a:r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Statement</a:t>
            </a:r>
            <a:endParaRPr lang="en-US" sz="28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7504" y="1196752"/>
            <a:ext cx="8928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flag-controlled </a:t>
            </a:r>
            <a:r>
              <a:rPr lang="en-US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while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loop uses a </a:t>
            </a:r>
            <a:r>
              <a:rPr lang="en-US" dirty="0" err="1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boolean</a:t>
            </a:r>
            <a:r>
              <a:rPr lang="en-US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variable to control the loop rather than a logical expression as in the counter-controlled or the sentinel-controlled.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504" y="1700808"/>
            <a:ext cx="8928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flowchart may be depicted as follows:</a:t>
            </a:r>
          </a:p>
        </p:txBody>
      </p:sp>
      <p:sp>
        <p:nvSpPr>
          <p:cNvPr id="24" name="AutoShape 67"/>
          <p:cNvSpPr>
            <a:spLocks noChangeArrowheads="1"/>
          </p:cNvSpPr>
          <p:nvPr/>
        </p:nvSpPr>
        <p:spPr bwMode="auto">
          <a:xfrm>
            <a:off x="2408919" y="2060848"/>
            <a:ext cx="1151706" cy="288032"/>
          </a:xfrm>
          <a:prstGeom prst="flowChartTerminator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Start</a:t>
            </a:r>
          </a:p>
        </p:txBody>
      </p:sp>
      <p:cxnSp>
        <p:nvCxnSpPr>
          <p:cNvPr id="25" name="Straight Arrow Connector 24"/>
          <p:cNvCxnSpPr>
            <a:stCxn id="24" idx="2"/>
          </p:cNvCxnSpPr>
          <p:nvPr/>
        </p:nvCxnSpPr>
        <p:spPr>
          <a:xfrm>
            <a:off x="2984772" y="2348880"/>
            <a:ext cx="1" cy="21602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AutoShape 68"/>
          <p:cNvSpPr>
            <a:spLocks noChangeArrowheads="1"/>
          </p:cNvSpPr>
          <p:nvPr/>
        </p:nvSpPr>
        <p:spPr bwMode="auto">
          <a:xfrm>
            <a:off x="2027056" y="2564904"/>
            <a:ext cx="1870075" cy="358775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found = </a:t>
            </a:r>
            <a:r>
              <a:rPr lang="en-US" sz="1600" dirty="0">
                <a:solidFill>
                  <a:srgbClr val="00B0F0"/>
                </a:solidFill>
                <a:effectLst/>
                <a:latin typeface="Arial" charset="0"/>
                <a:cs typeface="Arial" charset="0"/>
              </a:rPr>
              <a:t>false</a:t>
            </a:r>
          </a:p>
        </p:txBody>
      </p:sp>
      <p:sp>
        <p:nvSpPr>
          <p:cNvPr id="27" name="AutoShape 73"/>
          <p:cNvSpPr>
            <a:spLocks noChangeArrowheads="1"/>
          </p:cNvSpPr>
          <p:nvPr/>
        </p:nvSpPr>
        <p:spPr bwMode="auto">
          <a:xfrm>
            <a:off x="2062849" y="3140968"/>
            <a:ext cx="1798488" cy="1080319"/>
          </a:xfrm>
          <a:prstGeom prst="flowChartDecision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b="1" dirty="0">
                <a:latin typeface="Arial" charset="0"/>
                <a:cs typeface="Arial" charset="0"/>
              </a:rPr>
              <a:t>!(</a:t>
            </a:r>
            <a:r>
              <a:rPr lang="en-US" sz="1400" b="1" dirty="0">
                <a:solidFill>
                  <a:srgbClr val="0000FF"/>
                </a:solidFill>
                <a:latin typeface="Arial" charset="0"/>
                <a:cs typeface="Arial" charset="0"/>
              </a:rPr>
              <a:t>found</a:t>
            </a:r>
            <a:r>
              <a:rPr lang="en-US" sz="1400" b="1" dirty="0">
                <a:latin typeface="Arial" charset="0"/>
                <a:cs typeface="Arial" charset="0"/>
              </a:rPr>
              <a:t>)?</a:t>
            </a:r>
            <a:endParaRPr lang="en-US" sz="1400" b="1" dirty="0">
              <a:effectLst/>
              <a:latin typeface="Arial" charset="0"/>
              <a:cs typeface="Arial" charset="0"/>
            </a:endParaRPr>
          </a:p>
        </p:txBody>
      </p:sp>
      <p:cxnSp>
        <p:nvCxnSpPr>
          <p:cNvPr id="36" name="Straight Arrow Connector 35"/>
          <p:cNvCxnSpPr/>
          <p:nvPr/>
        </p:nvCxnSpPr>
        <p:spPr>
          <a:xfrm>
            <a:off x="2962094" y="2943970"/>
            <a:ext cx="1" cy="21602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3863470" y="3681127"/>
            <a:ext cx="1141646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827256" y="3429000"/>
            <a:ext cx="720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B050"/>
                </a:solidFill>
              </a:rPr>
              <a:t>TRUE</a:t>
            </a:r>
          </a:p>
        </p:txBody>
      </p:sp>
      <p:cxnSp>
        <p:nvCxnSpPr>
          <p:cNvPr id="39" name="Straight Arrow Connector 38"/>
          <p:cNvCxnSpPr/>
          <p:nvPr/>
        </p:nvCxnSpPr>
        <p:spPr>
          <a:xfrm>
            <a:off x="4987370" y="3681127"/>
            <a:ext cx="1" cy="29872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AutoShape 68"/>
          <p:cNvSpPr>
            <a:spLocks noChangeArrowheads="1"/>
          </p:cNvSpPr>
          <p:nvPr/>
        </p:nvSpPr>
        <p:spPr bwMode="auto">
          <a:xfrm>
            <a:off x="4070077" y="4006329"/>
            <a:ext cx="1870075" cy="358775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Statement(s)</a:t>
            </a:r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6997108" y="5746979"/>
            <a:ext cx="13103" cy="56234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endCxn id="27" idx="2"/>
          </p:cNvCxnSpPr>
          <p:nvPr/>
        </p:nvCxnSpPr>
        <p:spPr>
          <a:xfrm flipV="1">
            <a:off x="2962093" y="4221287"/>
            <a:ext cx="0" cy="134630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H="1">
            <a:off x="1475656" y="3689097"/>
            <a:ext cx="589327" cy="1690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Flowchart: Preparation 44"/>
          <p:cNvSpPr/>
          <p:nvPr/>
        </p:nvSpPr>
        <p:spPr>
          <a:xfrm>
            <a:off x="107504" y="3482955"/>
            <a:ext cx="1368152" cy="446088"/>
          </a:xfrm>
          <a:prstGeom prst="flowChartPreparation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Continue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47664" y="3429000"/>
            <a:ext cx="720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FALSE</a:t>
            </a:r>
          </a:p>
        </p:txBody>
      </p:sp>
      <p:sp>
        <p:nvSpPr>
          <p:cNvPr id="47" name="AutoShape 73"/>
          <p:cNvSpPr>
            <a:spLocks noChangeArrowheads="1"/>
          </p:cNvSpPr>
          <p:nvPr/>
        </p:nvSpPr>
        <p:spPr bwMode="auto">
          <a:xfrm>
            <a:off x="3853632" y="4544391"/>
            <a:ext cx="2230536" cy="1080319"/>
          </a:xfrm>
          <a:prstGeom prst="flowChartDecision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b="1" dirty="0">
                <a:latin typeface="Arial" charset="0"/>
                <a:cs typeface="Arial" charset="0"/>
              </a:rPr>
              <a:t>Logical Expression?</a:t>
            </a:r>
            <a:endParaRPr lang="en-US" sz="1400" b="1" dirty="0">
              <a:effectLst/>
              <a:latin typeface="Arial" charset="0"/>
              <a:cs typeface="Arial" charset="0"/>
            </a:endParaRPr>
          </a:p>
        </p:txBody>
      </p:sp>
      <p:cxnSp>
        <p:nvCxnSpPr>
          <p:cNvPr id="48" name="Straight Arrow Connector 47"/>
          <p:cNvCxnSpPr/>
          <p:nvPr/>
        </p:nvCxnSpPr>
        <p:spPr>
          <a:xfrm>
            <a:off x="4967189" y="4347393"/>
            <a:ext cx="1" cy="21602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47" idx="3"/>
          </p:cNvCxnSpPr>
          <p:nvPr/>
        </p:nvCxnSpPr>
        <p:spPr>
          <a:xfrm flipV="1">
            <a:off x="6084168" y="5084550"/>
            <a:ext cx="926043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084168" y="4832423"/>
            <a:ext cx="720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B050"/>
                </a:solidFill>
              </a:rPr>
              <a:t>TRUE</a:t>
            </a:r>
          </a:p>
        </p:txBody>
      </p:sp>
      <p:cxnSp>
        <p:nvCxnSpPr>
          <p:cNvPr id="51" name="Straight Arrow Connector 50"/>
          <p:cNvCxnSpPr/>
          <p:nvPr/>
        </p:nvCxnSpPr>
        <p:spPr>
          <a:xfrm>
            <a:off x="6998559" y="5089475"/>
            <a:ext cx="1" cy="29872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AutoShape 68"/>
          <p:cNvSpPr>
            <a:spLocks noChangeArrowheads="1"/>
          </p:cNvSpPr>
          <p:nvPr/>
        </p:nvSpPr>
        <p:spPr bwMode="auto">
          <a:xfrm>
            <a:off x="6063521" y="5388204"/>
            <a:ext cx="1870075" cy="358775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latin typeface="Arial" charset="0"/>
                <a:cs typeface="Arial" charset="0"/>
              </a:rPr>
              <a:t>f</a:t>
            </a:r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ound = </a:t>
            </a:r>
            <a:r>
              <a:rPr lang="en-US" sz="1600" dirty="0">
                <a:solidFill>
                  <a:srgbClr val="00B0F0"/>
                </a:solidFill>
                <a:effectLst/>
                <a:latin typeface="Arial" charset="0"/>
                <a:cs typeface="Arial" charset="0"/>
              </a:rPr>
              <a:t>true</a:t>
            </a:r>
          </a:p>
        </p:txBody>
      </p:sp>
      <p:sp>
        <p:nvSpPr>
          <p:cNvPr id="53" name="AutoShape 68"/>
          <p:cNvSpPr>
            <a:spLocks noChangeArrowheads="1"/>
          </p:cNvSpPr>
          <p:nvPr/>
        </p:nvSpPr>
        <p:spPr bwMode="auto">
          <a:xfrm>
            <a:off x="2027055" y="5567591"/>
            <a:ext cx="1870075" cy="358775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Statement(s)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83968" y="5600273"/>
            <a:ext cx="720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FALSE</a:t>
            </a:r>
          </a:p>
        </p:txBody>
      </p:sp>
      <p:cxnSp>
        <p:nvCxnSpPr>
          <p:cNvPr id="74" name="Straight Arrow Connector 73"/>
          <p:cNvCxnSpPr/>
          <p:nvPr/>
        </p:nvCxnSpPr>
        <p:spPr>
          <a:xfrm flipH="1">
            <a:off x="2962092" y="6309320"/>
            <a:ext cx="2005097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>
            <a:stCxn id="47" idx="2"/>
          </p:cNvCxnSpPr>
          <p:nvPr/>
        </p:nvCxnSpPr>
        <p:spPr>
          <a:xfrm>
            <a:off x="4968900" y="5624710"/>
            <a:ext cx="0" cy="68461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>
            <a:endCxn id="53" idx="2"/>
          </p:cNvCxnSpPr>
          <p:nvPr/>
        </p:nvCxnSpPr>
        <p:spPr>
          <a:xfrm flipH="1" flipV="1">
            <a:off x="2962093" y="5926366"/>
            <a:ext cx="2" cy="38295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H="1">
            <a:off x="4968900" y="6309320"/>
            <a:ext cx="2058689" cy="0"/>
          </a:xfrm>
          <a:prstGeom prst="straightConnector1">
            <a:avLst/>
          </a:prstGeom>
          <a:ln w="28575">
            <a:solidFill>
              <a:schemeClr val="tx1"/>
            </a:solidFill>
            <a:tailEnd type="diamond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Double Brace 76"/>
          <p:cNvSpPr/>
          <p:nvPr/>
        </p:nvSpPr>
        <p:spPr>
          <a:xfrm>
            <a:off x="6300192" y="6093296"/>
            <a:ext cx="2485132" cy="504056"/>
          </a:xfrm>
          <a:prstGeom prst="bracePair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FF"/>
                </a:solidFill>
              </a:rPr>
              <a:t>This will be the last iteration of the loop</a:t>
            </a:r>
            <a:endParaRPr lang="en-US" sz="1400" dirty="0">
              <a:solidFill>
                <a:srgbClr val="00B0F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3824173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500"/>
                            </p:stCondLst>
                            <p:childTnLst>
                              <p:par>
                                <p:cTn id="4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000"/>
                            </p:stCondLst>
                            <p:childTnLst>
                              <p:par>
                                <p:cTn id="4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500"/>
                            </p:stCondLst>
                            <p:childTnLst>
                              <p:par>
                                <p:cTn id="5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0"/>
                            </p:stCondLst>
                            <p:childTnLst>
                              <p:par>
                                <p:cTn id="5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500"/>
                            </p:stCondLst>
                            <p:childTnLst>
                              <p:par>
                                <p:cTn id="6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6000"/>
                            </p:stCondLst>
                            <p:childTnLst>
                              <p:par>
                                <p:cTn id="6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6500"/>
                            </p:stCondLst>
                            <p:childTnLst>
                              <p:par>
                                <p:cTn id="7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7000"/>
                            </p:stCondLst>
                            <p:childTnLst>
                              <p:par>
                                <p:cTn id="7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7500"/>
                            </p:stCondLst>
                            <p:childTnLst>
                              <p:par>
                                <p:cTn id="7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000"/>
                            </p:stCondLst>
                            <p:childTnLst>
                              <p:par>
                                <p:cTn id="9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500"/>
                            </p:stCondLst>
                            <p:childTnLst>
                              <p:par>
                                <p:cTn id="9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2000"/>
                            </p:stCondLst>
                            <p:childTnLst>
                              <p:par>
                                <p:cTn id="10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10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12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3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14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4000"/>
                            </p:stCondLst>
                            <p:childTnLst>
                              <p:par>
                                <p:cTn id="116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1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4500"/>
                            </p:stCondLst>
                            <p:childTnLst>
                              <p:par>
                                <p:cTn id="120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1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22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5000"/>
                            </p:stCondLst>
                            <p:childTnLst>
                              <p:par>
                                <p:cTn id="124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2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500"/>
                            </p:stCondLst>
                            <p:childTnLst>
                              <p:par>
                                <p:cTn id="128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3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6000"/>
                            </p:stCondLst>
                            <p:childTnLst>
                              <p:par>
                                <p:cTn id="132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3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500"/>
                            </p:stCondLst>
                            <p:childTnLst>
                              <p:par>
                                <p:cTn id="14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59" grpId="0" animBg="1"/>
      <p:bldP spid="58" grpId="0" animBg="1"/>
      <p:bldP spid="17" grpId="0" animBg="1"/>
      <p:bldP spid="20" grpId="0"/>
      <p:bldP spid="19" grpId="0"/>
      <p:bldP spid="24" grpId="0" animBg="1"/>
      <p:bldP spid="26" grpId="0" animBg="1"/>
      <p:bldP spid="27" grpId="0" animBg="1"/>
      <p:bldP spid="38" grpId="0"/>
      <p:bldP spid="40" grpId="0" animBg="1"/>
      <p:bldP spid="45" grpId="0" animBg="1"/>
      <p:bldP spid="46" grpId="0"/>
      <p:bldP spid="47" grpId="0" animBg="1"/>
      <p:bldP spid="50" grpId="0"/>
      <p:bldP spid="52" grpId="0" animBg="1"/>
      <p:bldP spid="53" grpId="0" animBg="1"/>
      <p:bldP spid="57" grpId="0"/>
      <p:bldP spid="7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1.5 FLAG-CONTROLLED LOOP - CODE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1. The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while </a:t>
            </a:r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Statement</a:t>
            </a:r>
            <a:endParaRPr lang="en-US" sz="28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107504" y="1268760"/>
            <a:ext cx="8928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code of the flag-controlled loop is as follows:</a:t>
            </a:r>
          </a:p>
        </p:txBody>
      </p:sp>
      <p:grpSp>
        <p:nvGrpSpPr>
          <p:cNvPr id="55" name="Group 54"/>
          <p:cNvGrpSpPr/>
          <p:nvPr/>
        </p:nvGrpSpPr>
        <p:grpSpPr>
          <a:xfrm>
            <a:off x="179512" y="1761778"/>
            <a:ext cx="8784976" cy="3539430"/>
            <a:chOff x="323528" y="1236822"/>
            <a:chExt cx="7848872" cy="3424662"/>
          </a:xfrm>
        </p:grpSpPr>
        <p:sp>
          <p:nvSpPr>
            <p:cNvPr id="56" name="TextBox 55"/>
            <p:cNvSpPr txBox="1"/>
            <p:nvPr/>
          </p:nvSpPr>
          <p:spPr>
            <a:xfrm>
              <a:off x="323528" y="1236822"/>
              <a:ext cx="576064" cy="34246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13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14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15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16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971600" y="1236822"/>
              <a:ext cx="7200800" cy="3424662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00B0F0"/>
                  </a:solidFill>
                </a:rPr>
                <a:t>public class</a:t>
              </a:r>
              <a:r>
                <a:rPr lang="en-US" sz="1400" dirty="0">
                  <a:solidFill>
                    <a:srgbClr val="0000FF"/>
                  </a:solidFill>
                </a:rPr>
                <a:t> </a:t>
              </a:r>
              <a:r>
                <a:rPr lang="en-US" sz="1400" dirty="0" err="1">
                  <a:solidFill>
                    <a:srgbClr val="0000FF"/>
                  </a:solidFill>
                </a:rPr>
                <a:t>whileFlag</a:t>
              </a:r>
              <a:endParaRPr lang="en-US" sz="1400" dirty="0">
                <a:solidFill>
                  <a:srgbClr val="0000FF"/>
                </a:solidFill>
              </a:endParaRPr>
            </a:p>
            <a:p>
              <a:r>
                <a:rPr lang="en-US" sz="1400" dirty="0">
                  <a:solidFill>
                    <a:srgbClr val="0000FF"/>
                  </a:solidFill>
                </a:rPr>
                <a:t>{</a:t>
              </a:r>
            </a:p>
            <a:p>
              <a:r>
                <a:rPr lang="en-US" sz="1400" dirty="0">
                  <a:solidFill>
                    <a:srgbClr val="00B0F0"/>
                  </a:solidFill>
                </a:rPr>
                <a:t>   public static void</a:t>
              </a:r>
              <a:r>
                <a:rPr lang="en-US" sz="1400" dirty="0">
                  <a:solidFill>
                    <a:srgbClr val="0000FF"/>
                  </a:solidFill>
                </a:rPr>
                <a:t> main (String[] </a:t>
              </a:r>
              <a:r>
                <a:rPr lang="en-US" sz="1400" dirty="0" err="1">
                  <a:solidFill>
                    <a:srgbClr val="0000FF"/>
                  </a:solidFill>
                </a:rPr>
                <a:t>args</a:t>
              </a:r>
              <a:r>
                <a:rPr lang="en-US" sz="1400" dirty="0">
                  <a:solidFill>
                    <a:srgbClr val="0000FF"/>
                  </a:solidFill>
                </a:rPr>
                <a:t>)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{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</a:t>
              </a:r>
              <a:r>
                <a:rPr lang="en-US" sz="1400" dirty="0" err="1">
                  <a:solidFill>
                    <a:srgbClr val="00B0F0"/>
                  </a:solidFill>
                </a:rPr>
                <a:t>boolean</a:t>
              </a:r>
              <a:r>
                <a:rPr lang="en-US" sz="1400" dirty="0">
                  <a:solidFill>
                    <a:srgbClr val="0000FF"/>
                  </a:solidFill>
                </a:rPr>
                <a:t> found = </a:t>
              </a:r>
              <a:r>
                <a:rPr lang="en-US" sz="1400" dirty="0">
                  <a:solidFill>
                    <a:srgbClr val="00B0F0"/>
                  </a:solidFill>
                </a:rPr>
                <a:t>false</a:t>
              </a:r>
              <a:r>
                <a:rPr lang="en-US" sz="1400" dirty="0">
                  <a:solidFill>
                    <a:srgbClr val="0000FF"/>
                  </a:solidFill>
                </a:rPr>
                <a:t>;     </a:t>
              </a:r>
              <a:r>
                <a:rPr lang="en-US" sz="1400" dirty="0">
                  <a:solidFill>
                    <a:srgbClr val="00B050"/>
                  </a:solidFill>
                </a:rPr>
                <a:t>//initialize the </a:t>
              </a:r>
              <a:r>
                <a:rPr lang="en-US" sz="1400" dirty="0" err="1">
                  <a:solidFill>
                    <a:srgbClr val="00B050"/>
                  </a:solidFill>
                </a:rPr>
                <a:t>boolean</a:t>
              </a:r>
              <a:r>
                <a:rPr lang="en-US" sz="1400" dirty="0">
                  <a:solidFill>
                    <a:srgbClr val="00B050"/>
                  </a:solidFill>
                </a:rPr>
                <a:t> variable to false</a:t>
              </a:r>
            </a:p>
            <a:p>
              <a:r>
                <a:rPr lang="en-US" sz="1400" dirty="0">
                  <a:solidFill>
                    <a:srgbClr val="00B0F0"/>
                  </a:solidFill>
                </a:rPr>
                <a:t>         while </a:t>
              </a:r>
              <a:r>
                <a:rPr lang="en-US" sz="1400" dirty="0">
                  <a:solidFill>
                    <a:srgbClr val="0000FF"/>
                  </a:solidFill>
                </a:rPr>
                <a:t>(!found)		</a:t>
              </a:r>
              <a:r>
                <a:rPr lang="en-US" sz="1400" dirty="0">
                  <a:solidFill>
                    <a:srgbClr val="00B050"/>
                  </a:solidFill>
                </a:rPr>
                <a:t>//test for the value of found</a:t>
              </a:r>
            </a:p>
            <a:p>
              <a:r>
                <a:rPr lang="en-US" sz="1400" dirty="0">
                  <a:solidFill>
                    <a:srgbClr val="00B050"/>
                  </a:solidFill>
                </a:rPr>
                <a:t>			//repeat as long as found is false (!found is true)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    {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</a:t>
              </a:r>
              <a:r>
                <a:rPr lang="en-US" sz="1400" dirty="0">
                  <a:solidFill>
                    <a:srgbClr val="CC0099"/>
                  </a:solidFill>
                </a:rPr>
                <a:t>&lt;statements&gt;</a:t>
              </a:r>
            </a:p>
            <a:p>
              <a:pPr lvl="2"/>
              <a:r>
                <a:rPr lang="en-US" sz="1400" dirty="0">
                  <a:solidFill>
                    <a:srgbClr val="00B0F0"/>
                  </a:solidFill>
                </a:rPr>
                <a:t>if</a:t>
              </a:r>
              <a:r>
                <a:rPr lang="en-US" sz="1400" dirty="0">
                  <a:solidFill>
                    <a:srgbClr val="0000FF"/>
                  </a:solidFill>
                </a:rPr>
                <a:t> (</a:t>
              </a:r>
              <a:r>
                <a:rPr lang="en-US" sz="1400" dirty="0">
                  <a:solidFill>
                    <a:srgbClr val="CC0099"/>
                  </a:solidFill>
                </a:rPr>
                <a:t>logical expression</a:t>
              </a:r>
              <a:r>
                <a:rPr lang="en-US" sz="1400" dirty="0">
                  <a:solidFill>
                    <a:srgbClr val="0000FF"/>
                  </a:solidFill>
                </a:rPr>
                <a:t>)</a:t>
              </a:r>
            </a:p>
            <a:p>
              <a:pPr lvl="2"/>
              <a:r>
                <a:rPr lang="en-US" sz="1400" dirty="0">
                  <a:solidFill>
                    <a:srgbClr val="0000FF"/>
                  </a:solidFill>
                </a:rPr>
                <a:t>   found = </a:t>
              </a:r>
              <a:r>
                <a:rPr lang="en-US" sz="1400" dirty="0">
                  <a:solidFill>
                    <a:srgbClr val="00B0F0"/>
                  </a:solidFill>
                </a:rPr>
                <a:t>true</a:t>
              </a:r>
              <a:r>
                <a:rPr lang="en-US" sz="1400" dirty="0">
                  <a:solidFill>
                    <a:srgbClr val="0000FF"/>
                  </a:solidFill>
                </a:rPr>
                <a:t>;	</a:t>
              </a:r>
              <a:r>
                <a:rPr lang="en-US" sz="1400" dirty="0">
                  <a:solidFill>
                    <a:srgbClr val="00B050"/>
                  </a:solidFill>
                </a:rPr>
                <a:t>//if the logical expression is true, update found</a:t>
              </a:r>
            </a:p>
            <a:p>
              <a:pPr lvl="2"/>
              <a:r>
                <a:rPr lang="en-US" sz="1400" dirty="0">
                  <a:solidFill>
                    <a:srgbClr val="CC0099"/>
                  </a:solidFill>
                </a:rPr>
                <a:t>&lt;statements&gt;</a:t>
              </a:r>
              <a:r>
                <a:rPr lang="en-US" sz="1400" dirty="0">
                  <a:solidFill>
                    <a:srgbClr val="0000FF"/>
                  </a:solidFill>
                </a:rPr>
                <a:t>           </a:t>
              </a:r>
              <a:r>
                <a:rPr lang="en-US" sz="1400" dirty="0">
                  <a:solidFill>
                    <a:srgbClr val="00B050"/>
                  </a:solidFill>
                </a:rPr>
                <a:t>//complete the iteration if found=false or true</a:t>
              </a:r>
            </a:p>
            <a:p>
              <a:pPr lvl="1"/>
              <a:r>
                <a:rPr lang="en-US" sz="1400" dirty="0">
                  <a:solidFill>
                    <a:srgbClr val="0000FF"/>
                  </a:solidFill>
                </a:rPr>
                <a:t>     } </a:t>
              </a:r>
              <a:r>
                <a:rPr lang="en-US" sz="1400" dirty="0">
                  <a:solidFill>
                    <a:srgbClr val="00B050"/>
                  </a:solidFill>
                </a:rPr>
                <a:t>//end while</a:t>
              </a:r>
            </a:p>
            <a:p>
              <a:r>
                <a:rPr lang="en-US" sz="1400" dirty="0">
                  <a:solidFill>
                    <a:srgbClr val="00B050"/>
                  </a:solidFill>
                </a:rPr>
                <a:t>          //the loop ends when found is true 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} </a:t>
              </a:r>
              <a:r>
                <a:rPr lang="en-US" sz="1400" dirty="0">
                  <a:solidFill>
                    <a:srgbClr val="00B050"/>
                  </a:solidFill>
                </a:rPr>
                <a:t>// end main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} </a:t>
              </a:r>
              <a:r>
                <a:rPr lang="en-US" sz="1400" dirty="0">
                  <a:solidFill>
                    <a:srgbClr val="00B050"/>
                  </a:solidFill>
                </a:rPr>
                <a:t>// end class</a:t>
              </a:r>
            </a:p>
          </p:txBody>
        </p:sp>
      </p:grpSp>
      <p:sp>
        <p:nvSpPr>
          <p:cNvPr id="62" name="Rectangle 61"/>
          <p:cNvSpPr/>
          <p:nvPr/>
        </p:nvSpPr>
        <p:spPr>
          <a:xfrm>
            <a:off x="904876" y="2636912"/>
            <a:ext cx="8059611" cy="21602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>
            <a:off x="899592" y="2852936"/>
            <a:ext cx="8059611" cy="21602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>
            <a:off x="904877" y="3717032"/>
            <a:ext cx="8059611" cy="432048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2725400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54" grpId="0"/>
      <p:bldP spid="62" grpId="0" animBg="1"/>
      <p:bldP spid="63" grpId="0" animBg="1"/>
      <p:bldP spid="6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/>
          <p:cNvSpPr txBox="1"/>
          <p:nvPr/>
        </p:nvSpPr>
        <p:spPr>
          <a:xfrm>
            <a:off x="107504" y="5539298"/>
            <a:ext cx="8928992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you want to generate a random value of type </a:t>
            </a:r>
            <a:r>
              <a:rPr lang="en-US" dirty="0" err="1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that ranges between 0 (inclusive) and 1000 (exclusive), do the following:</a:t>
            </a:r>
          </a:p>
          <a:p>
            <a:pPr>
              <a:buClr>
                <a:srgbClr val="FF0000"/>
              </a:buClr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  <a:r>
              <a:rPr lang="en-US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</a:t>
            </a:r>
            <a:r>
              <a:rPr lang="en-US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= (</a:t>
            </a:r>
            <a:r>
              <a:rPr lang="en-US" dirty="0" err="1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</a:t>
            </a:r>
            <a:r>
              <a:rPr lang="en-US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)(</a:t>
            </a:r>
            <a:r>
              <a:rPr lang="en-US" dirty="0" err="1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Math.random</a:t>
            </a:r>
            <a:r>
              <a:rPr lang="en-US" dirty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() </a:t>
            </a:r>
            <a:r>
              <a:rPr lang="en-US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* 1000) </a:t>
            </a:r>
            <a:r>
              <a:rPr lang="en-US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 </a:t>
            </a:r>
            <a:r>
              <a:rPr lang="en-US" dirty="0">
                <a:solidFill>
                  <a:srgbClr val="CC00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((</a:t>
            </a:r>
            <a:r>
              <a:rPr lang="en-US" dirty="0" err="1">
                <a:solidFill>
                  <a:srgbClr val="CC00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num</a:t>
            </a:r>
            <a:r>
              <a:rPr lang="en-US" dirty="0">
                <a:solidFill>
                  <a:srgbClr val="CC00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 &gt;=0) &amp;&amp; (</a:t>
            </a:r>
            <a:r>
              <a:rPr lang="en-US" dirty="0" err="1">
                <a:solidFill>
                  <a:srgbClr val="CC00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num</a:t>
            </a:r>
            <a:r>
              <a:rPr lang="en-US" dirty="0">
                <a:solidFill>
                  <a:srgbClr val="CC00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 &lt; 1000))</a:t>
            </a:r>
          </a:p>
          <a:p>
            <a:pPr>
              <a:buClr>
                <a:srgbClr val="FF0000"/>
              </a:buClr>
            </a:pPr>
            <a:r>
              <a:rPr lang="en-US" dirty="0">
                <a:solidFill>
                  <a:srgbClr val="CC00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and so on…</a:t>
            </a:r>
            <a:endParaRPr lang="en-US" dirty="0">
              <a:solidFill>
                <a:srgbClr val="CC0099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1.5 FLAG-CONTROLLED LOOP - PROGRAM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1. The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while </a:t>
            </a:r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Statement</a:t>
            </a:r>
            <a:endParaRPr lang="en-US" sz="28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07504" y="1268760"/>
            <a:ext cx="8928992" cy="1008112"/>
          </a:xfrm>
          <a:prstGeom prst="roundRect">
            <a:avLst>
              <a:gd name="adj" fmla="val 4976"/>
            </a:avLst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en-US" sz="1600" dirty="0"/>
              <a:t>Write a program that prompts the user to guess a number between 0 and 100; then displays an appropriate message with each guess. The guess is to be compared with a generated random number. The program also outputs the number of trials at the end.</a:t>
            </a:r>
          </a:p>
          <a:p>
            <a:endParaRPr lang="en-US" sz="1600" dirty="0"/>
          </a:p>
        </p:txBody>
      </p:sp>
      <p:sp>
        <p:nvSpPr>
          <p:cNvPr id="20" name="TextBox 19"/>
          <p:cNvSpPr txBox="1"/>
          <p:nvPr/>
        </p:nvSpPr>
        <p:spPr>
          <a:xfrm>
            <a:off x="107504" y="2276872"/>
            <a:ext cx="8928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random number is generated using the pre-defined method </a:t>
            </a:r>
            <a:r>
              <a:rPr lang="en-US" dirty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random()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504" y="2564904"/>
            <a:ext cx="8928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random()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belongs to the pre-defined class </a:t>
            </a:r>
            <a:r>
              <a:rPr lang="en-US" dirty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Math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504" y="2875970"/>
            <a:ext cx="8928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So, it is written as </a:t>
            </a:r>
            <a:r>
              <a:rPr lang="en-US" dirty="0" err="1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Math.random</a:t>
            </a:r>
            <a:r>
              <a:rPr lang="en-US" dirty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()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504" y="3187036"/>
            <a:ext cx="8928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US" dirty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Math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class belongs to the package </a:t>
            </a:r>
            <a:r>
              <a:rPr lang="en-US" dirty="0" err="1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java.lang</a:t>
            </a:r>
            <a:r>
              <a:rPr lang="en-US" dirty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.*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504" y="3498102"/>
            <a:ext cx="8928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 err="1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Math.random</a:t>
            </a:r>
            <a:r>
              <a:rPr lang="en-US" dirty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()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returns a value of type </a:t>
            </a:r>
            <a:r>
              <a:rPr lang="en-US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double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greater than or equal to zero and less than 1.0. </a:t>
            </a:r>
            <a:r>
              <a:rPr lang="en-US" dirty="0">
                <a:solidFill>
                  <a:srgbClr val="CC00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((</a:t>
            </a:r>
            <a:r>
              <a:rPr lang="en-US" dirty="0" err="1">
                <a:solidFill>
                  <a:srgbClr val="CC00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Math.random</a:t>
            </a:r>
            <a:r>
              <a:rPr lang="en-US" dirty="0">
                <a:solidFill>
                  <a:srgbClr val="CC00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() &gt;= 0.0) &amp;&amp; (</a:t>
            </a:r>
            <a:r>
              <a:rPr lang="en-US" dirty="0" err="1">
                <a:solidFill>
                  <a:srgbClr val="CC00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Math.random</a:t>
            </a:r>
            <a:r>
              <a:rPr lang="en-US" dirty="0">
                <a:solidFill>
                  <a:srgbClr val="CC00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() &lt; 1.0))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504" y="4086167"/>
            <a:ext cx="8928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you want to generate a random value of type </a:t>
            </a:r>
            <a:r>
              <a:rPr lang="en-US" dirty="0" err="1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use type casting as follows:</a:t>
            </a:r>
          </a:p>
          <a:p>
            <a:pPr>
              <a:buClr>
                <a:srgbClr val="FF0000"/>
              </a:buClr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  <a:r>
              <a:rPr lang="en-US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</a:t>
            </a:r>
            <a:r>
              <a:rPr lang="en-US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= (</a:t>
            </a:r>
            <a:r>
              <a:rPr lang="en-US" dirty="0" err="1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</a:t>
            </a:r>
            <a:r>
              <a:rPr lang="en-US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)(</a:t>
            </a:r>
            <a:r>
              <a:rPr lang="en-US" dirty="0" err="1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Math.random</a:t>
            </a:r>
            <a:r>
              <a:rPr lang="en-US" dirty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()</a:t>
            </a:r>
            <a:r>
              <a:rPr lang="en-US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</a:t>
            </a:r>
            <a:r>
              <a:rPr lang="en-US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 </a:t>
            </a:r>
            <a:r>
              <a:rPr lang="en-US" dirty="0">
                <a:solidFill>
                  <a:srgbClr val="CC00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((</a:t>
            </a:r>
            <a:r>
              <a:rPr lang="en-US" dirty="0" err="1">
                <a:solidFill>
                  <a:srgbClr val="CC00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num</a:t>
            </a:r>
            <a:r>
              <a:rPr lang="en-US" dirty="0">
                <a:solidFill>
                  <a:srgbClr val="CC00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 &gt;=0) &amp;&amp; (</a:t>
            </a:r>
            <a:r>
              <a:rPr lang="en-US" dirty="0" err="1">
                <a:solidFill>
                  <a:srgbClr val="CC00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num</a:t>
            </a:r>
            <a:r>
              <a:rPr lang="en-US" dirty="0">
                <a:solidFill>
                  <a:srgbClr val="CC00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 &lt; 1))</a:t>
            </a:r>
            <a:endParaRPr lang="en-US" dirty="0">
              <a:solidFill>
                <a:srgbClr val="CC0099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7504" y="4674232"/>
            <a:ext cx="89289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you want to generate a random value of type </a:t>
            </a:r>
            <a:r>
              <a:rPr lang="en-US" dirty="0" err="1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that ranges between 0 (inclusive) and 100 (exclusive), do the following:</a:t>
            </a:r>
          </a:p>
          <a:p>
            <a:pPr>
              <a:buClr>
                <a:srgbClr val="FF0000"/>
              </a:buClr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  <a:r>
              <a:rPr lang="en-US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</a:t>
            </a:r>
            <a:r>
              <a:rPr lang="en-US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= (</a:t>
            </a:r>
            <a:r>
              <a:rPr lang="en-US" dirty="0" err="1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</a:t>
            </a:r>
            <a:r>
              <a:rPr lang="en-US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)(</a:t>
            </a:r>
            <a:r>
              <a:rPr lang="en-US" dirty="0" err="1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Math.random</a:t>
            </a:r>
            <a:r>
              <a:rPr lang="en-US" dirty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() </a:t>
            </a:r>
            <a:r>
              <a:rPr lang="en-US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* 100) </a:t>
            </a:r>
            <a:r>
              <a:rPr lang="en-US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 </a:t>
            </a:r>
            <a:r>
              <a:rPr lang="en-US" dirty="0">
                <a:solidFill>
                  <a:srgbClr val="CC00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((</a:t>
            </a:r>
            <a:r>
              <a:rPr lang="en-US" dirty="0" err="1">
                <a:solidFill>
                  <a:srgbClr val="CC00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num</a:t>
            </a:r>
            <a:r>
              <a:rPr lang="en-US" dirty="0">
                <a:solidFill>
                  <a:srgbClr val="CC00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 &gt;=0) &amp;&amp; (</a:t>
            </a:r>
            <a:r>
              <a:rPr lang="en-US" dirty="0" err="1">
                <a:solidFill>
                  <a:srgbClr val="CC00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num</a:t>
            </a:r>
            <a:r>
              <a:rPr lang="en-US" dirty="0">
                <a:solidFill>
                  <a:srgbClr val="CC00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 &lt; 100))</a:t>
            </a:r>
            <a:endParaRPr lang="en-US" dirty="0">
              <a:solidFill>
                <a:srgbClr val="CC0099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256064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17" grpId="0" animBg="1"/>
      <p:bldP spid="11" grpId="0" animBg="1"/>
      <p:bldP spid="20" grpId="0"/>
      <p:bldP spid="21" grpId="0"/>
      <p:bldP spid="22" grpId="0"/>
      <p:bldP spid="23" grpId="0"/>
      <p:bldP spid="24" grpId="0"/>
      <p:bldP spid="25" grpId="0"/>
      <p:bldP spid="2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1.5 FLAG-CONTROLLED LOOP - PROGRAM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1. The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while </a:t>
            </a:r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Statement</a:t>
            </a:r>
            <a:endParaRPr lang="en-US" sz="28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36951" y="3068960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19672" y="3068960"/>
            <a:ext cx="7344816" cy="504056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Guessed number </a:t>
            </a:r>
            <a:r>
              <a:rPr lang="en-US" dirty="0">
                <a:solidFill>
                  <a:srgbClr val="FF3399"/>
                </a:solidFill>
              </a:rPr>
              <a:t>(variable: guess, type: </a:t>
            </a:r>
            <a:r>
              <a:rPr lang="en-US" dirty="0" err="1">
                <a:solidFill>
                  <a:srgbClr val="00B0F0"/>
                </a:solidFill>
              </a:rPr>
              <a:t>int</a:t>
            </a:r>
            <a:r>
              <a:rPr lang="en-US" dirty="0">
                <a:solidFill>
                  <a:srgbClr val="FF3399"/>
                </a:solidFill>
              </a:rPr>
              <a:t>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1520" y="3789040"/>
            <a:ext cx="1296144" cy="6480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34241" y="3789040"/>
            <a:ext cx="7344816" cy="648072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An appropriate message 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Number of trials </a:t>
            </a:r>
            <a:r>
              <a:rPr lang="en-US" dirty="0">
                <a:solidFill>
                  <a:srgbClr val="CC0099"/>
                </a:solidFill>
              </a:rPr>
              <a:t>(variable: trials, type: </a:t>
            </a:r>
            <a:r>
              <a:rPr lang="en-US" dirty="0" err="1">
                <a:solidFill>
                  <a:srgbClr val="00B0F0"/>
                </a:solidFill>
              </a:rPr>
              <a:t>int</a:t>
            </a:r>
            <a:r>
              <a:rPr lang="en-US" dirty="0">
                <a:solidFill>
                  <a:srgbClr val="CC0099"/>
                </a:solidFill>
              </a:rPr>
              <a:t>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1520" y="4653136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34241" y="4653136"/>
            <a:ext cx="7344816" cy="504056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>
                <a:solidFill>
                  <a:schemeClr val="accent1">
                    <a:lumMod val="50000"/>
                  </a:schemeClr>
                </a:solidFill>
              </a:rPr>
              <a:t>See the algorithm in the next slide.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7504" y="1412776"/>
            <a:ext cx="8928992" cy="1440160"/>
          </a:xfrm>
          <a:prstGeom prst="roundRect">
            <a:avLst>
              <a:gd name="adj" fmla="val 4976"/>
            </a:avLst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en-US" dirty="0"/>
              <a:t>Write a program that prompts the user to guess a number between 0 and 100; then displays an appropriate message with each guess. The guess is to be compared with a generated random number. The program also outputs the number of trials at the end.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3270766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2" grpId="0" animBg="1"/>
      <p:bldP spid="13" grpId="0" animBg="1"/>
      <p:bldP spid="14" grpId="0" animBg="1"/>
      <p:bldP spid="15" grpId="0" animBg="1"/>
      <p:bldP spid="20" grpId="0" animBg="1"/>
      <p:bldP spid="21" grpId="0" animBg="1"/>
      <p:bldP spid="2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251520" y="1268760"/>
            <a:ext cx="8712968" cy="54726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14363" indent="-342900">
              <a:lnSpc>
                <a:spcPct val="90000"/>
              </a:lnSpc>
              <a:buAutoNum type="arabicPeriod"/>
            </a:pPr>
            <a:r>
              <a:rPr lang="en-US" sz="2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Start the program</a:t>
            </a:r>
          </a:p>
          <a:p>
            <a:pPr marL="271463">
              <a:lnSpc>
                <a:spcPct val="90000"/>
              </a:lnSpc>
            </a:pPr>
            <a:endParaRPr lang="en-US" sz="20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71463">
              <a:lnSpc>
                <a:spcPct val="90000"/>
              </a:lnSpc>
            </a:pPr>
            <a:r>
              <a:rPr lang="en-US" sz="2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2. Set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trials </a:t>
            </a:r>
            <a:r>
              <a:rPr lang="en-US" sz="2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2000" dirty="0" err="1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</a:t>
            </a:r>
            <a:r>
              <a:rPr lang="en-US" sz="2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to zero.</a:t>
            </a:r>
          </a:p>
          <a:p>
            <a:pPr marL="271463">
              <a:lnSpc>
                <a:spcPct val="90000"/>
              </a:lnSpc>
            </a:pPr>
            <a:r>
              <a:rPr lang="en-US" sz="2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3. Set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done </a:t>
            </a:r>
            <a:r>
              <a:rPr lang="en-US" sz="2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2000" dirty="0" err="1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boolean</a:t>
            </a:r>
            <a:r>
              <a:rPr lang="en-US" sz="2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to </a:t>
            </a:r>
            <a:r>
              <a:rPr lang="en-US" sz="2000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false</a:t>
            </a:r>
            <a:r>
              <a:rPr lang="en-US" sz="2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L="271463">
              <a:lnSpc>
                <a:spcPct val="90000"/>
              </a:lnSpc>
            </a:pPr>
            <a:r>
              <a:rPr lang="en-US" sz="2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4. Generate an </a:t>
            </a:r>
            <a:r>
              <a:rPr lang="en-US" sz="2000" dirty="0" err="1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</a:t>
            </a:r>
            <a:r>
              <a:rPr lang="en-US" sz="2000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random number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rand </a:t>
            </a:r>
            <a:r>
              <a:rPr lang="en-US" sz="2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between 0 and 100.</a:t>
            </a:r>
          </a:p>
          <a:p>
            <a:pPr marL="271463">
              <a:lnSpc>
                <a:spcPct val="90000"/>
              </a:lnSpc>
            </a:pPr>
            <a:r>
              <a:rPr lang="en-US" sz="2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5. Get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guess </a:t>
            </a:r>
            <a:r>
              <a:rPr lang="en-US" sz="2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from the user.</a:t>
            </a:r>
          </a:p>
          <a:p>
            <a:pPr marL="271463">
              <a:lnSpc>
                <a:spcPct val="90000"/>
              </a:lnSpc>
            </a:pPr>
            <a:r>
              <a:rPr lang="en-US" sz="2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6. Repeat as long as not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done</a:t>
            </a:r>
            <a:r>
              <a:rPr lang="en-US" sz="2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  <a:p>
            <a:pPr marL="271463">
              <a:lnSpc>
                <a:spcPct val="90000"/>
              </a:lnSpc>
            </a:pPr>
            <a:r>
              <a:rPr lang="en-US" sz="2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6.1 if (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guess </a:t>
            </a:r>
            <a:r>
              <a:rPr lang="en-US" sz="2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&gt;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rand</a:t>
            </a:r>
            <a:r>
              <a:rPr lang="en-US" sz="2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  <a:p>
            <a:pPr marL="271463">
              <a:lnSpc>
                <a:spcPct val="90000"/>
              </a:lnSpc>
            </a:pPr>
            <a:r>
              <a:rPr lang="en-US" sz="2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6.1.1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message </a:t>
            </a:r>
            <a:r>
              <a:rPr lang="en-US" sz="2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= “Guess is too large”</a:t>
            </a:r>
          </a:p>
          <a:p>
            <a:pPr marL="271463">
              <a:lnSpc>
                <a:spcPct val="90000"/>
              </a:lnSpc>
            </a:pPr>
            <a:r>
              <a:rPr lang="en-US" sz="2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6.1.2 increment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trials</a:t>
            </a:r>
          </a:p>
          <a:p>
            <a:pPr marL="271463">
              <a:lnSpc>
                <a:spcPct val="90000"/>
              </a:lnSpc>
            </a:pPr>
            <a:r>
              <a:rPr lang="en-US" sz="2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6.2 if (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guess </a:t>
            </a:r>
            <a:r>
              <a:rPr lang="en-US" sz="2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&lt;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rand</a:t>
            </a:r>
            <a:r>
              <a:rPr lang="en-US" sz="2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  <a:p>
            <a:pPr marL="271463">
              <a:lnSpc>
                <a:spcPct val="90000"/>
              </a:lnSpc>
            </a:pPr>
            <a:r>
              <a:rPr lang="en-US" sz="2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6.2.1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message </a:t>
            </a:r>
            <a:r>
              <a:rPr lang="en-US" sz="2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= “Guess is too small”</a:t>
            </a:r>
          </a:p>
          <a:p>
            <a:pPr marL="271463">
              <a:lnSpc>
                <a:spcPct val="90000"/>
              </a:lnSpc>
            </a:pPr>
            <a:r>
              <a:rPr lang="en-US" sz="2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6.2.2 increment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trials</a:t>
            </a:r>
          </a:p>
          <a:p>
            <a:pPr marL="271463">
              <a:lnSpc>
                <a:spcPct val="90000"/>
              </a:lnSpc>
            </a:pPr>
            <a:r>
              <a:rPr lang="en-US" sz="2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6.3 if (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guess </a:t>
            </a:r>
            <a:r>
              <a:rPr lang="en-US" sz="2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==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rand</a:t>
            </a:r>
            <a:r>
              <a:rPr lang="en-US" sz="2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  <a:p>
            <a:pPr marL="271463">
              <a:lnSpc>
                <a:spcPct val="90000"/>
              </a:lnSpc>
            </a:pPr>
            <a:r>
              <a:rPr lang="en-US" sz="2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6.3.1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message </a:t>
            </a:r>
            <a:r>
              <a:rPr lang="en-US" sz="2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= “You win!!”</a:t>
            </a:r>
          </a:p>
          <a:p>
            <a:pPr marL="271463">
              <a:lnSpc>
                <a:spcPct val="90000"/>
              </a:lnSpc>
            </a:pPr>
            <a:r>
              <a:rPr lang="en-US" sz="2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6.3.2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done </a:t>
            </a:r>
            <a:r>
              <a:rPr lang="en-US" sz="2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= </a:t>
            </a:r>
            <a:r>
              <a:rPr lang="en-US" sz="2000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true</a:t>
            </a:r>
          </a:p>
          <a:p>
            <a:pPr marL="271463">
              <a:lnSpc>
                <a:spcPct val="90000"/>
              </a:lnSpc>
            </a:pPr>
            <a:r>
              <a:rPr lang="en-US" sz="2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7. Print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trials</a:t>
            </a:r>
          </a:p>
          <a:p>
            <a:pPr marL="271463">
              <a:lnSpc>
                <a:spcPct val="90000"/>
              </a:lnSpc>
            </a:pPr>
            <a:endParaRPr lang="en-US" sz="20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71463">
              <a:lnSpc>
                <a:spcPct val="90000"/>
              </a:lnSpc>
            </a:pPr>
            <a:r>
              <a:rPr lang="en-US" sz="2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8. End program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1.5 FLAG-CONTROLLED LOOP - ALGORITHM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1. The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while </a:t>
            </a:r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Statement</a:t>
            </a:r>
            <a:endParaRPr lang="en-US" sz="28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65587855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000"/>
                            </p:stCondLst>
                            <p:childTnLst>
                              <p:par>
                                <p:cTn id="6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000"/>
                            </p:stCondLst>
                            <p:childTnLst>
                              <p:par>
                                <p:cTn id="8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2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000"/>
                            </p:stCondLst>
                            <p:childTnLst>
                              <p:par>
                                <p:cTn id="8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2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2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000"/>
                            </p:stCondLst>
                            <p:childTnLst>
                              <p:par>
                                <p:cTn id="9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2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2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2000"/>
                            </p:stCondLst>
                            <p:childTnLst>
                              <p:par>
                                <p:cTn id="10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2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2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2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2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20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20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20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uiExpand="1" build="p" animBg="1"/>
      <p:bldP spid="1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1.5 FLAG-CONTROLLED LOOP - FLOWCHART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1. The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while </a:t>
            </a:r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Statement</a:t>
            </a:r>
            <a:endParaRPr lang="en-US" sz="28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AutoShape 67"/>
          <p:cNvSpPr>
            <a:spLocks noChangeArrowheads="1"/>
          </p:cNvSpPr>
          <p:nvPr/>
        </p:nvSpPr>
        <p:spPr bwMode="auto">
          <a:xfrm>
            <a:off x="1840081" y="1345350"/>
            <a:ext cx="1151706" cy="288032"/>
          </a:xfrm>
          <a:prstGeom prst="flowChartTerminator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Start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2415934" y="1633382"/>
            <a:ext cx="1" cy="21602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AutoShape 68"/>
          <p:cNvSpPr>
            <a:spLocks noChangeArrowheads="1"/>
          </p:cNvSpPr>
          <p:nvPr/>
        </p:nvSpPr>
        <p:spPr bwMode="auto">
          <a:xfrm>
            <a:off x="1480897" y="1849406"/>
            <a:ext cx="1870075" cy="358775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latin typeface="Arial" charset="0"/>
                <a:cs typeface="Arial" charset="0"/>
              </a:rPr>
              <a:t>trials = 0</a:t>
            </a:r>
            <a:endParaRPr lang="en-US" sz="1600" dirty="0">
              <a:solidFill>
                <a:srgbClr val="00B0F0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2415934" y="2228472"/>
            <a:ext cx="1" cy="21602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AutoShape 68"/>
          <p:cNvSpPr>
            <a:spLocks noChangeArrowheads="1"/>
          </p:cNvSpPr>
          <p:nvPr/>
        </p:nvSpPr>
        <p:spPr bwMode="auto">
          <a:xfrm>
            <a:off x="1480897" y="2473870"/>
            <a:ext cx="1870075" cy="358775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latin typeface="Arial" charset="0"/>
                <a:cs typeface="Arial" charset="0"/>
              </a:rPr>
              <a:t>done</a:t>
            </a:r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= </a:t>
            </a:r>
            <a:r>
              <a:rPr lang="en-US" sz="1600" dirty="0">
                <a:solidFill>
                  <a:srgbClr val="00B0F0"/>
                </a:solidFill>
                <a:effectLst/>
                <a:latin typeface="Arial" charset="0"/>
                <a:cs typeface="Arial" charset="0"/>
              </a:rPr>
              <a:t>false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2415934" y="2852936"/>
            <a:ext cx="1" cy="21602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AutoShape 68"/>
          <p:cNvSpPr>
            <a:spLocks noChangeArrowheads="1"/>
          </p:cNvSpPr>
          <p:nvPr/>
        </p:nvSpPr>
        <p:spPr bwMode="auto">
          <a:xfrm>
            <a:off x="1480897" y="3068960"/>
            <a:ext cx="1870075" cy="358775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latin typeface="Arial" charset="0"/>
                <a:cs typeface="Arial" charset="0"/>
              </a:rPr>
              <a:t>Generate rand</a:t>
            </a:r>
            <a:endParaRPr lang="en-US" sz="1600" dirty="0">
              <a:solidFill>
                <a:srgbClr val="00B0F0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2415934" y="3448026"/>
            <a:ext cx="1" cy="21602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AutoShape 73"/>
          <p:cNvSpPr>
            <a:spLocks noChangeArrowheads="1"/>
          </p:cNvSpPr>
          <p:nvPr/>
        </p:nvSpPr>
        <p:spPr bwMode="auto">
          <a:xfrm>
            <a:off x="1516690" y="3645024"/>
            <a:ext cx="1798488" cy="1080319"/>
          </a:xfrm>
          <a:prstGeom prst="flowChartDecision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b="1" dirty="0">
                <a:latin typeface="Arial" charset="0"/>
                <a:cs typeface="Arial" charset="0"/>
              </a:rPr>
              <a:t>!(</a:t>
            </a:r>
            <a:r>
              <a:rPr lang="en-US" sz="1400" b="1" dirty="0">
                <a:solidFill>
                  <a:srgbClr val="0000FF"/>
                </a:solidFill>
                <a:latin typeface="Arial" charset="0"/>
                <a:cs typeface="Arial" charset="0"/>
              </a:rPr>
              <a:t>done</a:t>
            </a:r>
            <a:r>
              <a:rPr lang="en-US" sz="1400" b="1" dirty="0">
                <a:latin typeface="Arial" charset="0"/>
                <a:cs typeface="Arial" charset="0"/>
              </a:rPr>
              <a:t>)?</a:t>
            </a:r>
            <a:endParaRPr lang="en-US" sz="1400" b="1" dirty="0">
              <a:effectLst/>
              <a:latin typeface="Arial" charset="0"/>
              <a:cs typeface="Arial" charset="0"/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3312070" y="4185183"/>
            <a:ext cx="395834" cy="797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131840" y="3944089"/>
            <a:ext cx="720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B050"/>
                </a:solidFill>
              </a:rPr>
              <a:t>TRUE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 flipH="1">
            <a:off x="899592" y="4193153"/>
            <a:ext cx="660267" cy="1690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42540" y="3944089"/>
            <a:ext cx="720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FALSE</a:t>
            </a:r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4862920" y="1484784"/>
            <a:ext cx="1" cy="21602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AutoShape 68"/>
          <p:cNvSpPr>
            <a:spLocks noChangeArrowheads="1"/>
          </p:cNvSpPr>
          <p:nvPr/>
        </p:nvSpPr>
        <p:spPr bwMode="auto">
          <a:xfrm>
            <a:off x="3928949" y="1700808"/>
            <a:ext cx="1870075" cy="358775"/>
          </a:xfrm>
          <a:prstGeom prst="flowChartInputOutpu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Read </a:t>
            </a:r>
            <a:r>
              <a:rPr lang="en-US" sz="1600" dirty="0">
                <a:latin typeface="Arial" charset="0"/>
                <a:cs typeface="Arial" charset="0"/>
              </a:rPr>
              <a:t>guess</a:t>
            </a:r>
            <a:endParaRPr lang="en-US" sz="1600" dirty="0"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32" name="Straight Arrow Connector 31"/>
          <p:cNvCxnSpPr/>
          <p:nvPr/>
        </p:nvCxnSpPr>
        <p:spPr>
          <a:xfrm>
            <a:off x="4862920" y="2075615"/>
            <a:ext cx="1" cy="21602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AutoShape 73"/>
          <p:cNvSpPr>
            <a:spLocks noChangeArrowheads="1"/>
          </p:cNvSpPr>
          <p:nvPr/>
        </p:nvSpPr>
        <p:spPr bwMode="auto">
          <a:xfrm>
            <a:off x="3963676" y="2272613"/>
            <a:ext cx="1798488" cy="1080319"/>
          </a:xfrm>
          <a:prstGeom prst="flowChartDecision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b="1" dirty="0">
                <a:solidFill>
                  <a:srgbClr val="0000FF"/>
                </a:solidFill>
                <a:latin typeface="Arial" charset="0"/>
                <a:cs typeface="Arial" charset="0"/>
              </a:rPr>
              <a:t>guess </a:t>
            </a:r>
            <a:r>
              <a:rPr lang="en-US" sz="1400" b="1" dirty="0">
                <a:latin typeface="Arial" charset="0"/>
                <a:cs typeface="Arial" charset="0"/>
              </a:rPr>
              <a:t>&gt; </a:t>
            </a:r>
            <a:r>
              <a:rPr lang="en-US" sz="1400" b="1" dirty="0">
                <a:solidFill>
                  <a:srgbClr val="0000FF"/>
                </a:solidFill>
                <a:latin typeface="Arial" charset="0"/>
                <a:cs typeface="Arial" charset="0"/>
              </a:rPr>
              <a:t>rand</a:t>
            </a:r>
            <a:r>
              <a:rPr lang="en-US" sz="1400" b="1" dirty="0">
                <a:latin typeface="Arial" charset="0"/>
                <a:cs typeface="Arial" charset="0"/>
              </a:rPr>
              <a:t>?</a:t>
            </a:r>
            <a:endParaRPr lang="en-US" sz="1400" b="1" dirty="0">
              <a:effectLst/>
              <a:latin typeface="Arial" charset="0"/>
              <a:cs typeface="Arial" charset="0"/>
            </a:endParaRPr>
          </a:p>
        </p:txBody>
      </p:sp>
      <p:cxnSp>
        <p:nvCxnSpPr>
          <p:cNvPr id="35" name="Straight Arrow Connector 34"/>
          <p:cNvCxnSpPr/>
          <p:nvPr/>
        </p:nvCxnSpPr>
        <p:spPr>
          <a:xfrm>
            <a:off x="5768250" y="2812772"/>
            <a:ext cx="534831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652120" y="2575937"/>
            <a:ext cx="720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B050"/>
                </a:solidFill>
              </a:rPr>
              <a:t>TRUE</a:t>
            </a:r>
          </a:p>
        </p:txBody>
      </p:sp>
      <p:sp>
        <p:nvSpPr>
          <p:cNvPr id="37" name="AutoShape 68"/>
          <p:cNvSpPr>
            <a:spLocks noChangeArrowheads="1"/>
          </p:cNvSpPr>
          <p:nvPr/>
        </p:nvSpPr>
        <p:spPr bwMode="auto">
          <a:xfrm>
            <a:off x="5301054" y="3089251"/>
            <a:ext cx="1870075" cy="358775"/>
          </a:xfrm>
          <a:prstGeom prst="flowChartInputOutpu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Print “Large”</a:t>
            </a:r>
          </a:p>
        </p:txBody>
      </p:sp>
      <p:cxnSp>
        <p:nvCxnSpPr>
          <p:cNvPr id="38" name="Straight Arrow Connector 37"/>
          <p:cNvCxnSpPr/>
          <p:nvPr/>
        </p:nvCxnSpPr>
        <p:spPr>
          <a:xfrm>
            <a:off x="4860031" y="3340014"/>
            <a:ext cx="1" cy="21602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211960" y="3296017"/>
            <a:ext cx="720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FALSE</a:t>
            </a:r>
          </a:p>
        </p:txBody>
      </p:sp>
      <p:cxnSp>
        <p:nvCxnSpPr>
          <p:cNvPr id="40" name="Straight Arrow Connector 39"/>
          <p:cNvCxnSpPr/>
          <p:nvPr/>
        </p:nvCxnSpPr>
        <p:spPr>
          <a:xfrm>
            <a:off x="6303081" y="2832645"/>
            <a:ext cx="0" cy="25660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AutoShape 73"/>
          <p:cNvSpPr>
            <a:spLocks noChangeArrowheads="1"/>
          </p:cNvSpPr>
          <p:nvPr/>
        </p:nvSpPr>
        <p:spPr bwMode="auto">
          <a:xfrm>
            <a:off x="3959723" y="3513727"/>
            <a:ext cx="1798488" cy="1080319"/>
          </a:xfrm>
          <a:prstGeom prst="flowChartDecision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b="1" dirty="0">
                <a:solidFill>
                  <a:srgbClr val="0000FF"/>
                </a:solidFill>
                <a:latin typeface="Arial" charset="0"/>
                <a:cs typeface="Arial" charset="0"/>
              </a:rPr>
              <a:t>guess </a:t>
            </a:r>
            <a:r>
              <a:rPr lang="en-US" sz="1400" b="1" dirty="0">
                <a:latin typeface="Arial" charset="0"/>
                <a:cs typeface="Arial" charset="0"/>
              </a:rPr>
              <a:t>&lt; </a:t>
            </a:r>
            <a:r>
              <a:rPr lang="en-US" sz="1400" b="1" dirty="0">
                <a:solidFill>
                  <a:srgbClr val="0000FF"/>
                </a:solidFill>
                <a:latin typeface="Arial" charset="0"/>
                <a:cs typeface="Arial" charset="0"/>
              </a:rPr>
              <a:t>rand</a:t>
            </a:r>
            <a:r>
              <a:rPr lang="en-US" sz="1400" b="1" dirty="0">
                <a:latin typeface="Arial" charset="0"/>
                <a:cs typeface="Arial" charset="0"/>
              </a:rPr>
              <a:t>?</a:t>
            </a:r>
            <a:endParaRPr lang="en-US" sz="1400" b="1" dirty="0">
              <a:effectLst/>
              <a:latin typeface="Arial" charset="0"/>
              <a:cs typeface="Arial" charset="0"/>
            </a:endParaRPr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5764297" y="4053886"/>
            <a:ext cx="534831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580112" y="3789040"/>
            <a:ext cx="720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B050"/>
                </a:solidFill>
              </a:rPr>
              <a:t>TRUE</a:t>
            </a:r>
          </a:p>
        </p:txBody>
      </p:sp>
      <p:sp>
        <p:nvSpPr>
          <p:cNvPr id="44" name="AutoShape 68"/>
          <p:cNvSpPr>
            <a:spLocks noChangeArrowheads="1"/>
          </p:cNvSpPr>
          <p:nvPr/>
        </p:nvSpPr>
        <p:spPr bwMode="auto">
          <a:xfrm>
            <a:off x="5297101" y="4330365"/>
            <a:ext cx="1870075" cy="358775"/>
          </a:xfrm>
          <a:prstGeom prst="flowChartInputOutpu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Print “Small”</a:t>
            </a:r>
          </a:p>
        </p:txBody>
      </p:sp>
      <p:cxnSp>
        <p:nvCxnSpPr>
          <p:cNvPr id="45" name="Straight Arrow Connector 44"/>
          <p:cNvCxnSpPr/>
          <p:nvPr/>
        </p:nvCxnSpPr>
        <p:spPr>
          <a:xfrm>
            <a:off x="4858966" y="4581128"/>
            <a:ext cx="1" cy="21602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211960" y="4520153"/>
            <a:ext cx="720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FALSE</a:t>
            </a:r>
          </a:p>
        </p:txBody>
      </p:sp>
      <p:cxnSp>
        <p:nvCxnSpPr>
          <p:cNvPr id="47" name="Straight Arrow Connector 46"/>
          <p:cNvCxnSpPr/>
          <p:nvPr/>
        </p:nvCxnSpPr>
        <p:spPr>
          <a:xfrm>
            <a:off x="6299128" y="4073759"/>
            <a:ext cx="0" cy="25660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7" idx="5"/>
          </p:cNvCxnSpPr>
          <p:nvPr/>
        </p:nvCxnSpPr>
        <p:spPr>
          <a:xfrm flipV="1">
            <a:off x="6984122" y="3268638"/>
            <a:ext cx="759118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stCxn id="44" idx="5"/>
          </p:cNvCxnSpPr>
          <p:nvPr/>
        </p:nvCxnSpPr>
        <p:spPr>
          <a:xfrm flipV="1">
            <a:off x="6980169" y="4509752"/>
            <a:ext cx="763071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>
            <a:off x="7743240" y="3268638"/>
            <a:ext cx="0" cy="66441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 flipV="1">
            <a:off x="7743240" y="3939001"/>
            <a:ext cx="0" cy="57075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7743240" y="3933056"/>
            <a:ext cx="288032" cy="0"/>
          </a:xfrm>
          <a:prstGeom prst="straightConnector1">
            <a:avLst/>
          </a:prstGeom>
          <a:ln w="28575">
            <a:solidFill>
              <a:schemeClr val="tx1"/>
            </a:solidFill>
            <a:headEnd type="diamond" w="lg" len="lg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AutoShape 68"/>
          <p:cNvSpPr>
            <a:spLocks noChangeArrowheads="1"/>
          </p:cNvSpPr>
          <p:nvPr/>
        </p:nvSpPr>
        <p:spPr bwMode="auto">
          <a:xfrm>
            <a:off x="8049018" y="3753668"/>
            <a:ext cx="1027475" cy="358775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solidFill>
                  <a:srgbClr val="0000FF"/>
                </a:solidFill>
                <a:latin typeface="Arial" charset="0"/>
                <a:cs typeface="Arial" charset="0"/>
              </a:rPr>
              <a:t>trials</a:t>
            </a:r>
            <a:r>
              <a:rPr lang="en-US" sz="1600" dirty="0">
                <a:latin typeface="Arial" charset="0"/>
                <a:cs typeface="Arial" charset="0"/>
              </a:rPr>
              <a:t>++</a:t>
            </a:r>
            <a:endParaRPr lang="en-US" sz="1600" dirty="0">
              <a:solidFill>
                <a:srgbClr val="00B0F0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59" name="AutoShape 68"/>
          <p:cNvSpPr>
            <a:spLocks noChangeArrowheads="1"/>
          </p:cNvSpPr>
          <p:nvPr/>
        </p:nvSpPr>
        <p:spPr bwMode="auto">
          <a:xfrm>
            <a:off x="3923928" y="4797152"/>
            <a:ext cx="1870075" cy="358775"/>
          </a:xfrm>
          <a:prstGeom prst="flowChartInputOutpu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Print “Win”</a:t>
            </a:r>
          </a:p>
        </p:txBody>
      </p:sp>
      <p:cxnSp>
        <p:nvCxnSpPr>
          <p:cNvPr id="60" name="Straight Arrow Connector 59"/>
          <p:cNvCxnSpPr/>
          <p:nvPr/>
        </p:nvCxnSpPr>
        <p:spPr>
          <a:xfrm>
            <a:off x="4861854" y="5158457"/>
            <a:ext cx="1" cy="21602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AutoShape 68"/>
          <p:cNvSpPr>
            <a:spLocks noChangeArrowheads="1"/>
          </p:cNvSpPr>
          <p:nvPr/>
        </p:nvSpPr>
        <p:spPr bwMode="auto">
          <a:xfrm>
            <a:off x="3926816" y="5374481"/>
            <a:ext cx="1870075" cy="358775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done = </a:t>
            </a:r>
            <a:r>
              <a:rPr lang="en-US" sz="1600" dirty="0">
                <a:solidFill>
                  <a:srgbClr val="00B0F0"/>
                </a:solidFill>
                <a:effectLst/>
                <a:latin typeface="Arial" charset="0"/>
                <a:cs typeface="Arial" charset="0"/>
              </a:rPr>
              <a:t>true</a:t>
            </a:r>
          </a:p>
        </p:txBody>
      </p:sp>
      <p:cxnSp>
        <p:nvCxnSpPr>
          <p:cNvPr id="63" name="Straight Arrow Connector 62"/>
          <p:cNvCxnSpPr>
            <a:stCxn id="58" idx="2"/>
          </p:cNvCxnSpPr>
          <p:nvPr/>
        </p:nvCxnSpPr>
        <p:spPr>
          <a:xfrm flipH="1">
            <a:off x="8562755" y="4112443"/>
            <a:ext cx="1" cy="219687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 flipH="1">
            <a:off x="4858965" y="6309320"/>
            <a:ext cx="3703793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endCxn id="19" idx="2"/>
          </p:cNvCxnSpPr>
          <p:nvPr/>
        </p:nvCxnSpPr>
        <p:spPr>
          <a:xfrm flipV="1">
            <a:off x="2415934" y="4725343"/>
            <a:ext cx="0" cy="158397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/>
          <p:nvPr/>
        </p:nvCxnSpPr>
        <p:spPr>
          <a:xfrm>
            <a:off x="971599" y="4206572"/>
            <a:ext cx="0" cy="6625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AutoShape 68"/>
          <p:cNvSpPr>
            <a:spLocks noChangeArrowheads="1"/>
          </p:cNvSpPr>
          <p:nvPr/>
        </p:nvSpPr>
        <p:spPr bwMode="auto">
          <a:xfrm>
            <a:off x="36561" y="4869160"/>
            <a:ext cx="1870075" cy="358775"/>
          </a:xfrm>
          <a:prstGeom prst="flowChartInputOutpu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Print </a:t>
            </a:r>
            <a:r>
              <a:rPr lang="en-US" sz="1600" dirty="0">
                <a:solidFill>
                  <a:srgbClr val="0000FF"/>
                </a:solidFill>
                <a:effectLst/>
                <a:latin typeface="Arial" charset="0"/>
                <a:cs typeface="Arial" charset="0"/>
              </a:rPr>
              <a:t>trials</a:t>
            </a:r>
          </a:p>
        </p:txBody>
      </p:sp>
      <p:cxnSp>
        <p:nvCxnSpPr>
          <p:cNvPr id="73" name="Straight Arrow Connector 72"/>
          <p:cNvCxnSpPr/>
          <p:nvPr/>
        </p:nvCxnSpPr>
        <p:spPr>
          <a:xfrm>
            <a:off x="954860" y="5222574"/>
            <a:ext cx="0" cy="33129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AutoShape 67"/>
          <p:cNvSpPr>
            <a:spLocks noChangeArrowheads="1"/>
          </p:cNvSpPr>
          <p:nvPr/>
        </p:nvSpPr>
        <p:spPr bwMode="auto">
          <a:xfrm>
            <a:off x="364984" y="5566680"/>
            <a:ext cx="1151706" cy="288032"/>
          </a:xfrm>
          <a:prstGeom prst="flowChartTerminator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rtl="1"/>
            <a:r>
              <a:rPr lang="en-US" sz="1600" dirty="0">
                <a:latin typeface="Arial" charset="0"/>
                <a:cs typeface="Arial" charset="0"/>
              </a:rPr>
              <a:t>End</a:t>
            </a:r>
            <a:endParaRPr lang="en-US" sz="1600" dirty="0"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78" name="Straight Arrow Connector 77"/>
          <p:cNvCxnSpPr/>
          <p:nvPr/>
        </p:nvCxnSpPr>
        <p:spPr>
          <a:xfrm flipV="1">
            <a:off x="3707904" y="1484785"/>
            <a:ext cx="0" cy="27168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>
            <a:off x="3707904" y="1484784"/>
            <a:ext cx="1156082" cy="458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>
            <a:stCxn id="61" idx="2"/>
          </p:cNvCxnSpPr>
          <p:nvPr/>
        </p:nvCxnSpPr>
        <p:spPr>
          <a:xfrm>
            <a:off x="4861854" y="5733256"/>
            <a:ext cx="2132" cy="57606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/>
          <p:nvPr/>
        </p:nvCxnSpPr>
        <p:spPr>
          <a:xfrm flipH="1">
            <a:off x="2415935" y="6309320"/>
            <a:ext cx="2448051" cy="0"/>
          </a:xfrm>
          <a:prstGeom prst="straightConnector1">
            <a:avLst/>
          </a:prstGeom>
          <a:ln w="28575">
            <a:solidFill>
              <a:schemeClr val="tx1"/>
            </a:solidFill>
            <a:headEnd type="diamond" w="lg" len="lg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31688109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500"/>
                            </p:stCondLst>
                            <p:childTnLst>
                              <p:par>
                                <p:cTn id="6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000"/>
                            </p:stCondLst>
                            <p:childTnLst>
                              <p:par>
                                <p:cTn id="6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500"/>
                            </p:stCondLst>
                            <p:childTnLst>
                              <p:par>
                                <p:cTn id="6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3000"/>
                            </p:stCondLst>
                            <p:childTnLst>
                              <p:par>
                                <p:cTn id="7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00"/>
                            </p:stCondLst>
                            <p:childTnLst>
                              <p:par>
                                <p:cTn id="8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00"/>
                            </p:stCondLst>
                            <p:childTnLst>
                              <p:par>
                                <p:cTn id="1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1000"/>
                            </p:stCondLst>
                            <p:childTnLst>
                              <p:par>
                                <p:cTn id="1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1500"/>
                            </p:stCondLst>
                            <p:childTnLst>
                              <p:par>
                                <p:cTn id="1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2500"/>
                            </p:stCondLst>
                            <p:childTnLst>
                              <p:par>
                                <p:cTn id="14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3000"/>
                            </p:stCondLst>
                            <p:childTnLst>
                              <p:par>
                                <p:cTn id="15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4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3500"/>
                            </p:stCondLst>
                            <p:childTnLst>
                              <p:par>
                                <p:cTn id="15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500"/>
                            </p:stCondLst>
                            <p:childTnLst>
                              <p:par>
                                <p:cTn id="17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1500"/>
                            </p:stCondLst>
                            <p:childTnLst>
                              <p:par>
                                <p:cTn id="18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8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0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91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3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94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500"/>
                            </p:stCondLst>
                            <p:childTnLst>
                              <p:par>
                                <p:cTn id="20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1000"/>
                            </p:stCondLst>
                            <p:childTnLst>
                              <p:par>
                                <p:cTn id="20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1500"/>
                            </p:stCondLst>
                            <p:childTnLst>
                              <p:par>
                                <p:cTn id="2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>
                            <p:stCondLst>
                              <p:cond delay="2000"/>
                            </p:stCondLst>
                            <p:childTnLst>
                              <p:par>
                                <p:cTn id="2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9" grpId="0" animBg="1"/>
      <p:bldP spid="11" grpId="0" animBg="1"/>
      <p:bldP spid="13" grpId="0" animBg="1"/>
      <p:bldP spid="15" grpId="0" animBg="1"/>
      <p:bldP spid="19" grpId="0" animBg="1"/>
      <p:bldP spid="22" grpId="0"/>
      <p:bldP spid="25" grpId="0"/>
      <p:bldP spid="31" grpId="0" animBg="1"/>
      <p:bldP spid="33" grpId="0" animBg="1"/>
      <p:bldP spid="36" grpId="0"/>
      <p:bldP spid="37" grpId="0" animBg="1"/>
      <p:bldP spid="39" grpId="0"/>
      <p:bldP spid="41" grpId="0" animBg="1"/>
      <p:bldP spid="43" grpId="0"/>
      <p:bldP spid="44" grpId="0" animBg="1"/>
      <p:bldP spid="46" grpId="0"/>
      <p:bldP spid="58" grpId="0" animBg="1"/>
      <p:bldP spid="59" grpId="0" animBg="1"/>
      <p:bldP spid="61" grpId="0" animBg="1"/>
      <p:bldP spid="72" grpId="0" animBg="1"/>
      <p:bldP spid="7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1.5 FLAG-CONTROLLED LOOP - CODE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/>
          <p:cNvGrpSpPr/>
          <p:nvPr/>
        </p:nvGrpSpPr>
        <p:grpSpPr>
          <a:xfrm>
            <a:off x="148096" y="1412776"/>
            <a:ext cx="8784976" cy="2677656"/>
            <a:chOff x="323528" y="1236822"/>
            <a:chExt cx="7848872" cy="2590833"/>
          </a:xfrm>
        </p:grpSpPr>
        <p:sp>
          <p:nvSpPr>
            <p:cNvPr id="10" name="TextBox 9"/>
            <p:cNvSpPr txBox="1"/>
            <p:nvPr/>
          </p:nvSpPr>
          <p:spPr>
            <a:xfrm>
              <a:off x="323528" y="1236822"/>
              <a:ext cx="576064" cy="25908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12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71600" y="1236822"/>
              <a:ext cx="7200800" cy="2590833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// import necessary libraries</a:t>
              </a:r>
            </a:p>
            <a:p>
              <a:r>
                <a:rPr lang="en-US" sz="1400" dirty="0">
                  <a:solidFill>
                    <a:srgbClr val="00B0F0"/>
                  </a:solidFill>
                </a:rPr>
                <a:t>import</a:t>
              </a:r>
              <a:r>
                <a:rPr lang="en-US" sz="1400" dirty="0">
                  <a:solidFill>
                    <a:srgbClr val="0000FF"/>
                  </a:solidFill>
                </a:rPr>
                <a:t> </a:t>
              </a:r>
              <a:r>
                <a:rPr lang="en-US" sz="1400" dirty="0" err="1">
                  <a:solidFill>
                    <a:srgbClr val="0000FF"/>
                  </a:solidFill>
                </a:rPr>
                <a:t>java.util.Scanner</a:t>
              </a:r>
              <a:r>
                <a:rPr lang="en-US" sz="1400" dirty="0">
                  <a:solidFill>
                    <a:srgbClr val="0000FF"/>
                  </a:solidFill>
                </a:rPr>
                <a:t>;		</a:t>
              </a:r>
              <a:endParaRPr lang="en-US" sz="1400" dirty="0">
                <a:solidFill>
                  <a:srgbClr val="00B050"/>
                </a:solidFill>
              </a:endParaRPr>
            </a:p>
            <a:p>
              <a:r>
                <a:rPr lang="en-US" sz="1400" dirty="0">
                  <a:solidFill>
                    <a:srgbClr val="00B0F0"/>
                  </a:solidFill>
                </a:rPr>
                <a:t>public class</a:t>
              </a:r>
              <a:r>
                <a:rPr lang="en-US" sz="1400" dirty="0">
                  <a:solidFill>
                    <a:srgbClr val="0000FF"/>
                  </a:solidFill>
                </a:rPr>
                <a:t> </a:t>
              </a:r>
              <a:r>
                <a:rPr lang="en-US" sz="1400" dirty="0" err="1">
                  <a:solidFill>
                    <a:srgbClr val="0000FF"/>
                  </a:solidFill>
                </a:rPr>
                <a:t>guessGame</a:t>
              </a:r>
              <a:endParaRPr lang="en-US" sz="1400" dirty="0">
                <a:solidFill>
                  <a:srgbClr val="0000FF"/>
                </a:solidFill>
              </a:endParaRPr>
            </a:p>
            <a:p>
              <a:r>
                <a:rPr lang="en-US" sz="1400" dirty="0">
                  <a:solidFill>
                    <a:srgbClr val="0000FF"/>
                  </a:solidFill>
                </a:rPr>
                <a:t>{</a:t>
              </a:r>
            </a:p>
            <a:p>
              <a:r>
                <a:rPr lang="en-US" sz="1400" dirty="0">
                  <a:solidFill>
                    <a:srgbClr val="00B0F0"/>
                  </a:solidFill>
                </a:rPr>
                <a:t>     public static void</a:t>
              </a:r>
              <a:r>
                <a:rPr lang="en-US" sz="1400" dirty="0">
                  <a:solidFill>
                    <a:srgbClr val="0000FF"/>
                  </a:solidFill>
                </a:rPr>
                <a:t> main (String[] </a:t>
              </a:r>
              <a:r>
                <a:rPr lang="en-US" sz="1400" dirty="0" err="1">
                  <a:solidFill>
                    <a:srgbClr val="0000FF"/>
                  </a:solidFill>
                </a:rPr>
                <a:t>args</a:t>
              </a:r>
              <a:r>
                <a:rPr lang="en-US" sz="1400" dirty="0">
                  <a:solidFill>
                    <a:srgbClr val="0000FF"/>
                  </a:solidFill>
                </a:rPr>
                <a:t>)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{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Scanner read = </a:t>
              </a:r>
              <a:r>
                <a:rPr lang="en-US" sz="1400" dirty="0">
                  <a:solidFill>
                    <a:srgbClr val="00B0F0"/>
                  </a:solidFill>
                </a:rPr>
                <a:t>new</a:t>
              </a:r>
              <a:r>
                <a:rPr lang="en-US" sz="1400" dirty="0">
                  <a:solidFill>
                    <a:srgbClr val="0000FF"/>
                  </a:solidFill>
                </a:rPr>
                <a:t> Scanner (</a:t>
              </a:r>
              <a:r>
                <a:rPr lang="en-US" sz="1400" dirty="0" err="1">
                  <a:solidFill>
                    <a:srgbClr val="0000FF"/>
                  </a:solidFill>
                </a:rPr>
                <a:t>System.in</a:t>
              </a:r>
              <a:r>
                <a:rPr lang="en-US" sz="1400" dirty="0">
                  <a:solidFill>
                    <a:srgbClr val="0000FF"/>
                  </a:solidFill>
                </a:rPr>
                <a:t>);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   </a:t>
              </a:r>
              <a:r>
                <a:rPr lang="en-US" sz="1400" dirty="0"/>
                <a:t>// Declaration section: to declare needed variables</a:t>
              </a:r>
            </a:p>
            <a:p>
              <a:r>
                <a:rPr lang="en-US" sz="1400" dirty="0"/>
                <a:t>	</a:t>
              </a:r>
              <a:r>
                <a:rPr lang="en-US" sz="1400" dirty="0" err="1">
                  <a:solidFill>
                    <a:srgbClr val="00B0F0"/>
                  </a:solidFill>
                </a:rPr>
                <a:t>int</a:t>
              </a:r>
              <a:r>
                <a:rPr lang="en-US" sz="1400" dirty="0">
                  <a:solidFill>
                    <a:srgbClr val="0000FF"/>
                  </a:solidFill>
                </a:rPr>
                <a:t> rand, guess, trials = 0;  </a:t>
              </a:r>
              <a:r>
                <a:rPr lang="en-US" sz="1400" dirty="0">
                  <a:solidFill>
                    <a:srgbClr val="00B050"/>
                  </a:solidFill>
                </a:rPr>
                <a:t>//initialize trials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</a:t>
              </a:r>
              <a:r>
                <a:rPr lang="en-US" sz="1400" dirty="0" err="1">
                  <a:solidFill>
                    <a:srgbClr val="00B0F0"/>
                  </a:solidFill>
                </a:rPr>
                <a:t>boolean</a:t>
              </a:r>
              <a:r>
                <a:rPr lang="en-US" sz="1400" dirty="0">
                  <a:solidFill>
                    <a:srgbClr val="00B0F0"/>
                  </a:solidFill>
                </a:rPr>
                <a:t>  </a:t>
              </a:r>
              <a:r>
                <a:rPr lang="en-US" sz="1400" dirty="0">
                  <a:solidFill>
                    <a:srgbClr val="0000FF"/>
                  </a:solidFill>
                </a:rPr>
                <a:t>done = </a:t>
              </a:r>
              <a:r>
                <a:rPr lang="en-US" sz="1400" dirty="0">
                  <a:solidFill>
                    <a:srgbClr val="00B0F0"/>
                  </a:solidFill>
                </a:rPr>
                <a:t>false</a:t>
              </a:r>
              <a:r>
                <a:rPr lang="en-US" sz="1400" dirty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sz="1400" dirty="0">
                  <a:solidFill>
                    <a:srgbClr val="00B050"/>
                  </a:solidFill>
                </a:rPr>
                <a:t>                //generate a random number between 0 and 100</a:t>
              </a:r>
              <a:endParaRPr lang="en-US" sz="1400" dirty="0"/>
            </a:p>
            <a:p>
              <a:r>
                <a:rPr lang="en-US" sz="1400" dirty="0"/>
                <a:t>	</a:t>
              </a:r>
              <a:r>
                <a:rPr lang="en-US" sz="1400" dirty="0">
                  <a:solidFill>
                    <a:srgbClr val="0000FF"/>
                  </a:solidFill>
                </a:rPr>
                <a:t>rand = (</a:t>
              </a:r>
              <a:r>
                <a:rPr lang="en-US" sz="1400" dirty="0" err="1">
                  <a:solidFill>
                    <a:srgbClr val="00B0F0"/>
                  </a:solidFill>
                </a:rPr>
                <a:t>int</a:t>
              </a:r>
              <a:r>
                <a:rPr lang="en-US" sz="1400" dirty="0">
                  <a:solidFill>
                    <a:srgbClr val="0000FF"/>
                  </a:solidFill>
                </a:rPr>
                <a:t>)(</a:t>
              </a:r>
              <a:r>
                <a:rPr lang="en-US" sz="1400" dirty="0" err="1">
                  <a:solidFill>
                    <a:srgbClr val="00B050"/>
                  </a:solidFill>
                </a:rPr>
                <a:t>Math.random</a:t>
              </a:r>
              <a:r>
                <a:rPr lang="en-US" sz="1400" dirty="0">
                  <a:solidFill>
                    <a:srgbClr val="00B050"/>
                  </a:solidFill>
                </a:rPr>
                <a:t>() </a:t>
              </a:r>
              <a:r>
                <a:rPr lang="en-US" sz="1400" dirty="0">
                  <a:solidFill>
                    <a:srgbClr val="0000FF"/>
                  </a:solidFill>
                </a:rPr>
                <a:t>* 100); </a:t>
              </a:r>
              <a:endParaRPr lang="en-US" sz="1400" dirty="0">
                <a:solidFill>
                  <a:srgbClr val="00B050"/>
                </a:solidFill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1. The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while </a:t>
            </a:r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Statement</a:t>
            </a:r>
            <a:endParaRPr lang="en-US" sz="28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47151069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1.5 FLAG-CONTROLLED LOOP – CODE (2)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/>
          <p:cNvGrpSpPr/>
          <p:nvPr/>
        </p:nvGrpSpPr>
        <p:grpSpPr>
          <a:xfrm>
            <a:off x="179512" y="764704"/>
            <a:ext cx="8784976" cy="5909310"/>
            <a:chOff x="323528" y="1236822"/>
            <a:chExt cx="7848872" cy="5717702"/>
          </a:xfrm>
        </p:grpSpPr>
        <p:sp>
          <p:nvSpPr>
            <p:cNvPr id="10" name="TextBox 9"/>
            <p:cNvSpPr txBox="1"/>
            <p:nvPr/>
          </p:nvSpPr>
          <p:spPr>
            <a:xfrm>
              <a:off x="323528" y="1236822"/>
              <a:ext cx="576064" cy="57177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13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14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15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16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17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18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19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20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21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22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23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24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25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26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27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28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29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30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31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32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33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34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35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36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37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38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39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71600" y="1236822"/>
              <a:ext cx="7200800" cy="5717702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0000FF"/>
                  </a:solidFill>
                </a:rPr>
                <a:t>	</a:t>
              </a:r>
              <a:r>
                <a:rPr lang="en-US" sz="1400" dirty="0">
                  <a:solidFill>
                    <a:srgbClr val="00B0F0"/>
                  </a:solidFill>
                </a:rPr>
                <a:t>while</a:t>
              </a:r>
              <a:r>
                <a:rPr lang="en-US" sz="1400" dirty="0">
                  <a:solidFill>
                    <a:srgbClr val="0000FF"/>
                  </a:solidFill>
                </a:rPr>
                <a:t> (!done)   </a:t>
              </a:r>
              <a:r>
                <a:rPr lang="en-US" sz="1400" dirty="0">
                  <a:solidFill>
                    <a:srgbClr val="00B050"/>
                  </a:solidFill>
                </a:rPr>
                <a:t>//Repeat as long as the flag is false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   {</a:t>
              </a:r>
            </a:p>
            <a:p>
              <a:r>
                <a:rPr lang="en-US" sz="1400" dirty="0"/>
                <a:t>                         // Input section: to enter values of used variables</a:t>
              </a:r>
            </a:p>
            <a:p>
              <a:r>
                <a:rPr lang="en-US" sz="1400" dirty="0"/>
                <a:t>                             </a:t>
              </a:r>
              <a:r>
                <a:rPr lang="en-US" sz="1400" dirty="0" err="1">
                  <a:solidFill>
                    <a:srgbClr val="0000FF"/>
                  </a:solidFill>
                </a:rPr>
                <a:t>System.out.print</a:t>
              </a:r>
              <a:r>
                <a:rPr lang="en-US" sz="1400" dirty="0">
                  <a:solidFill>
                    <a:srgbClr val="0000FF"/>
                  </a:solidFill>
                </a:rPr>
                <a:t> (“Guess a number between 0 and 100 ”);   </a:t>
              </a:r>
              <a:r>
                <a:rPr lang="en-US" sz="1400" dirty="0">
                  <a:solidFill>
                    <a:srgbClr val="00B050"/>
                  </a:solidFill>
                </a:rPr>
                <a:t>//prompt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             guess = </a:t>
              </a:r>
              <a:r>
                <a:rPr lang="en-US" sz="1400" dirty="0" err="1">
                  <a:solidFill>
                    <a:srgbClr val="0000FF"/>
                  </a:solidFill>
                </a:rPr>
                <a:t>read.</a:t>
              </a:r>
              <a:r>
                <a:rPr lang="en-US" sz="1400" dirty="0" err="1">
                  <a:solidFill>
                    <a:srgbClr val="00B050"/>
                  </a:solidFill>
                </a:rPr>
                <a:t>nextInt</a:t>
              </a:r>
              <a:r>
                <a:rPr lang="en-US" sz="1400" dirty="0">
                  <a:solidFill>
                    <a:srgbClr val="00B050"/>
                  </a:solidFill>
                </a:rPr>
                <a:t>()</a:t>
              </a:r>
              <a:r>
                <a:rPr lang="en-US" sz="1400" dirty="0">
                  <a:solidFill>
                    <a:srgbClr val="0000FF"/>
                  </a:solidFill>
                </a:rPr>
                <a:t>;  </a:t>
              </a:r>
              <a:r>
                <a:rPr lang="en-US" sz="1400" dirty="0">
                  <a:solidFill>
                    <a:srgbClr val="00B050"/>
                  </a:solidFill>
                </a:rPr>
                <a:t> //read guessed number</a:t>
              </a:r>
            </a:p>
            <a:p>
              <a:r>
                <a:rPr lang="en-US" sz="1400" dirty="0"/>
                <a:t>	        // Processing section: processing statements</a:t>
              </a:r>
              <a:endParaRPr lang="en-US" sz="1400" dirty="0">
                <a:solidFill>
                  <a:srgbClr val="0000FF"/>
                </a:solidFill>
              </a:endParaRPr>
            </a:p>
            <a:p>
              <a:r>
                <a:rPr lang="en-US" sz="1400" dirty="0">
                  <a:solidFill>
                    <a:srgbClr val="0000FF"/>
                  </a:solidFill>
                </a:rPr>
                <a:t>	             </a:t>
              </a:r>
              <a:r>
                <a:rPr lang="en-US" sz="1400" dirty="0">
                  <a:solidFill>
                    <a:srgbClr val="00B0F0"/>
                  </a:solidFill>
                </a:rPr>
                <a:t>if</a:t>
              </a:r>
              <a:r>
                <a:rPr lang="en-US" sz="1400" dirty="0">
                  <a:solidFill>
                    <a:srgbClr val="0000FF"/>
                  </a:solidFill>
                </a:rPr>
                <a:t> (guess &gt; rand)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                { 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                  </a:t>
              </a:r>
              <a:r>
                <a:rPr lang="en-US" sz="14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400" dirty="0">
                  <a:solidFill>
                    <a:srgbClr val="0000FF"/>
                  </a:solidFill>
                </a:rPr>
                <a:t> (“Guess too large”);	    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                  trials++;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                }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            </a:t>
              </a:r>
              <a:r>
                <a:rPr lang="en-US" sz="1400" dirty="0">
                  <a:solidFill>
                    <a:srgbClr val="00B0F0"/>
                  </a:solidFill>
                </a:rPr>
                <a:t>else </a:t>
              </a:r>
            </a:p>
            <a:p>
              <a:r>
                <a:rPr lang="en-US" sz="1400" dirty="0">
                  <a:solidFill>
                    <a:srgbClr val="00B0F0"/>
                  </a:solidFill>
                </a:rPr>
                <a:t>                                if</a:t>
              </a:r>
              <a:r>
                <a:rPr lang="en-US" sz="1400" dirty="0">
                  <a:solidFill>
                    <a:srgbClr val="0000FF"/>
                  </a:solidFill>
                </a:rPr>
                <a:t> (guess &lt; rand)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                      {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	        </a:t>
              </a:r>
              <a:r>
                <a:rPr lang="en-US" sz="14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400" dirty="0">
                  <a:solidFill>
                    <a:srgbClr val="0000FF"/>
                  </a:solidFill>
                </a:rPr>
                <a:t> (“Guess too small”);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	        trials++;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	     }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                  </a:t>
              </a:r>
              <a:r>
                <a:rPr lang="en-US" sz="1400" dirty="0">
                  <a:solidFill>
                    <a:srgbClr val="00B0F0"/>
                  </a:solidFill>
                </a:rPr>
                <a:t>else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	     {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	       </a:t>
              </a:r>
              <a:r>
                <a:rPr lang="en-US" sz="14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400" dirty="0">
                  <a:solidFill>
                    <a:srgbClr val="0000FF"/>
                  </a:solidFill>
                </a:rPr>
                <a:t> (“You win!!”);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	       done = </a:t>
              </a:r>
              <a:r>
                <a:rPr lang="en-US" sz="1400" dirty="0">
                  <a:solidFill>
                    <a:srgbClr val="00B0F0"/>
                  </a:solidFill>
                </a:rPr>
                <a:t>true</a:t>
              </a:r>
              <a:r>
                <a:rPr lang="en-US" sz="1400" dirty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	    }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   } </a:t>
              </a:r>
              <a:r>
                <a:rPr lang="en-US" sz="1400" dirty="0">
                  <a:solidFill>
                    <a:srgbClr val="00B050"/>
                  </a:solidFill>
                </a:rPr>
                <a:t>//end while</a:t>
              </a:r>
            </a:p>
            <a:p>
              <a:r>
                <a:rPr lang="en-US" sz="1400" dirty="0"/>
                <a:t>                 // Output section: display program output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</a:t>
              </a:r>
              <a:r>
                <a:rPr lang="en-US" sz="1400" dirty="0" err="1">
                  <a:solidFill>
                    <a:srgbClr val="0000FF"/>
                  </a:solidFill>
                </a:rPr>
                <a:t>System.out.printf</a:t>
              </a:r>
              <a:r>
                <a:rPr lang="en-US" sz="1400" dirty="0">
                  <a:solidFill>
                    <a:srgbClr val="0000FF"/>
                  </a:solidFill>
                </a:rPr>
                <a:t> (“Number of trials = %3d”, trials);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} </a:t>
              </a:r>
              <a:r>
                <a:rPr lang="en-US" sz="1400" dirty="0">
                  <a:solidFill>
                    <a:srgbClr val="00B050"/>
                  </a:solidFill>
                </a:rPr>
                <a:t>// end main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} </a:t>
              </a:r>
              <a:r>
                <a:rPr lang="en-US" sz="1400" dirty="0">
                  <a:solidFill>
                    <a:srgbClr val="00B050"/>
                  </a:solidFill>
                </a:rPr>
                <a:t>// end class</a:t>
              </a: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1. The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while </a:t>
            </a:r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Statement</a:t>
            </a:r>
            <a:endParaRPr lang="en-US" sz="28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2483768" y="2420888"/>
            <a:ext cx="216024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2483768" y="2420888"/>
            <a:ext cx="0" cy="61468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2483768" y="3035573"/>
            <a:ext cx="216024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2843808" y="3645024"/>
            <a:ext cx="216024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2843808" y="3645024"/>
            <a:ext cx="0" cy="64807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2843808" y="4293096"/>
            <a:ext cx="216024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2843808" y="4725144"/>
            <a:ext cx="216024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2843808" y="4725144"/>
            <a:ext cx="0" cy="64807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2843808" y="5373216"/>
            <a:ext cx="216024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1691680" y="1124744"/>
            <a:ext cx="360040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1691680" y="1124744"/>
            <a:ext cx="0" cy="450011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1691680" y="5624859"/>
            <a:ext cx="360040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H="1">
            <a:off x="2123728" y="3356992"/>
            <a:ext cx="79208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2123728" y="2204864"/>
            <a:ext cx="0" cy="115212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2123728" y="2204864"/>
            <a:ext cx="468052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H="1">
            <a:off x="2123728" y="4653136"/>
            <a:ext cx="1152128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V="1">
            <a:off x="2123728" y="3501008"/>
            <a:ext cx="0" cy="1152128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2123728" y="3501008"/>
            <a:ext cx="540060" cy="0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96334988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500"/>
                            </p:stCondLst>
                            <p:childTnLst>
                              <p:par>
                                <p:cTn id="45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0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1.5 FLAG-CONTROLLED LOOP – CODE (2)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/>
          <p:cNvGrpSpPr/>
          <p:nvPr/>
        </p:nvGrpSpPr>
        <p:grpSpPr>
          <a:xfrm>
            <a:off x="179512" y="764704"/>
            <a:ext cx="8784976" cy="5909310"/>
            <a:chOff x="323528" y="1236822"/>
            <a:chExt cx="7848872" cy="5717702"/>
          </a:xfrm>
        </p:grpSpPr>
        <p:sp>
          <p:nvSpPr>
            <p:cNvPr id="10" name="TextBox 9"/>
            <p:cNvSpPr txBox="1"/>
            <p:nvPr/>
          </p:nvSpPr>
          <p:spPr>
            <a:xfrm>
              <a:off x="323528" y="1236822"/>
              <a:ext cx="576064" cy="57177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13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14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15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16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17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18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19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20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21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22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23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24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25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26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27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28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29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30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31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32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33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34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35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36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37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38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39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71600" y="1236822"/>
              <a:ext cx="7200800" cy="5717702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0000FF"/>
                  </a:solidFill>
                </a:rPr>
                <a:t>	</a:t>
              </a:r>
              <a:r>
                <a:rPr lang="en-US" sz="1400" dirty="0">
                  <a:solidFill>
                    <a:srgbClr val="00B0F0"/>
                  </a:solidFill>
                </a:rPr>
                <a:t>while</a:t>
              </a:r>
              <a:r>
                <a:rPr lang="en-US" sz="1400" dirty="0">
                  <a:solidFill>
                    <a:srgbClr val="0000FF"/>
                  </a:solidFill>
                </a:rPr>
                <a:t> (!done)   </a:t>
              </a:r>
              <a:r>
                <a:rPr lang="en-US" sz="1400" dirty="0">
                  <a:solidFill>
                    <a:srgbClr val="00B050"/>
                  </a:solidFill>
                </a:rPr>
                <a:t>//Repeat as long as the flag is false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   {</a:t>
              </a:r>
            </a:p>
            <a:p>
              <a:r>
                <a:rPr lang="en-US" sz="1400" dirty="0"/>
                <a:t>                         // Input section: to enter values of used variables</a:t>
              </a:r>
            </a:p>
            <a:p>
              <a:r>
                <a:rPr lang="en-US" sz="1400" dirty="0"/>
                <a:t>                             </a:t>
              </a:r>
              <a:r>
                <a:rPr lang="en-US" sz="1400" dirty="0" err="1">
                  <a:solidFill>
                    <a:srgbClr val="0000FF"/>
                  </a:solidFill>
                </a:rPr>
                <a:t>System.out.print</a:t>
              </a:r>
              <a:r>
                <a:rPr lang="en-US" sz="1400" dirty="0">
                  <a:solidFill>
                    <a:srgbClr val="0000FF"/>
                  </a:solidFill>
                </a:rPr>
                <a:t> (“Guess a number between 0 and 100 ”);   </a:t>
              </a:r>
              <a:r>
                <a:rPr lang="en-US" sz="1400" dirty="0">
                  <a:solidFill>
                    <a:srgbClr val="00B050"/>
                  </a:solidFill>
                </a:rPr>
                <a:t>//prompt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             guess = </a:t>
              </a:r>
              <a:r>
                <a:rPr lang="en-US" sz="1400" dirty="0" err="1">
                  <a:solidFill>
                    <a:srgbClr val="0000FF"/>
                  </a:solidFill>
                </a:rPr>
                <a:t>read.</a:t>
              </a:r>
              <a:r>
                <a:rPr lang="en-US" sz="1400" dirty="0" err="1">
                  <a:solidFill>
                    <a:srgbClr val="00B050"/>
                  </a:solidFill>
                </a:rPr>
                <a:t>nextInt</a:t>
              </a:r>
              <a:r>
                <a:rPr lang="en-US" sz="1400" dirty="0">
                  <a:solidFill>
                    <a:srgbClr val="00B050"/>
                  </a:solidFill>
                </a:rPr>
                <a:t>()</a:t>
              </a:r>
              <a:r>
                <a:rPr lang="en-US" sz="1400" dirty="0">
                  <a:solidFill>
                    <a:srgbClr val="0000FF"/>
                  </a:solidFill>
                </a:rPr>
                <a:t>;  </a:t>
              </a:r>
              <a:r>
                <a:rPr lang="en-US" sz="1400" dirty="0">
                  <a:solidFill>
                    <a:srgbClr val="00B050"/>
                  </a:solidFill>
                </a:rPr>
                <a:t> //read guessed number</a:t>
              </a:r>
            </a:p>
            <a:p>
              <a:r>
                <a:rPr lang="en-US" sz="1400" dirty="0"/>
                <a:t>	        // Processing section: processing statements</a:t>
              </a:r>
              <a:endParaRPr lang="en-US" sz="1400" dirty="0">
                <a:solidFill>
                  <a:srgbClr val="0000FF"/>
                </a:solidFill>
              </a:endParaRPr>
            </a:p>
            <a:p>
              <a:r>
                <a:rPr lang="en-US" sz="1400" dirty="0">
                  <a:solidFill>
                    <a:srgbClr val="0000FF"/>
                  </a:solidFill>
                </a:rPr>
                <a:t>	             </a:t>
              </a:r>
              <a:r>
                <a:rPr lang="en-US" sz="1400" dirty="0">
                  <a:solidFill>
                    <a:srgbClr val="00B0F0"/>
                  </a:solidFill>
                </a:rPr>
                <a:t>if</a:t>
              </a:r>
              <a:r>
                <a:rPr lang="en-US" sz="1400" dirty="0">
                  <a:solidFill>
                    <a:srgbClr val="0000FF"/>
                  </a:solidFill>
                </a:rPr>
                <a:t> (guess &gt; rand)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                { 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                  </a:t>
              </a:r>
              <a:r>
                <a:rPr lang="en-US" sz="14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400" dirty="0">
                  <a:solidFill>
                    <a:srgbClr val="0000FF"/>
                  </a:solidFill>
                </a:rPr>
                <a:t> (“Guess too large”);	    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                  trials++;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                }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            </a:t>
              </a:r>
              <a:r>
                <a:rPr lang="en-US" sz="1400" dirty="0">
                  <a:solidFill>
                    <a:srgbClr val="00B0F0"/>
                  </a:solidFill>
                </a:rPr>
                <a:t>else </a:t>
              </a:r>
            </a:p>
            <a:p>
              <a:r>
                <a:rPr lang="en-US" sz="1400" dirty="0">
                  <a:solidFill>
                    <a:srgbClr val="00B0F0"/>
                  </a:solidFill>
                </a:rPr>
                <a:t>                                if</a:t>
              </a:r>
              <a:r>
                <a:rPr lang="en-US" sz="1400" dirty="0">
                  <a:solidFill>
                    <a:srgbClr val="0000FF"/>
                  </a:solidFill>
                </a:rPr>
                <a:t> (guess &lt; rand)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                      {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	        </a:t>
              </a:r>
              <a:r>
                <a:rPr lang="en-US" sz="14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400" dirty="0">
                  <a:solidFill>
                    <a:srgbClr val="0000FF"/>
                  </a:solidFill>
                </a:rPr>
                <a:t> (“Guess too small”);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	        trials++;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	     }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                  </a:t>
              </a:r>
              <a:r>
                <a:rPr lang="en-US" sz="1400" dirty="0">
                  <a:solidFill>
                    <a:srgbClr val="00B0F0"/>
                  </a:solidFill>
                </a:rPr>
                <a:t>else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	     {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	       </a:t>
              </a:r>
              <a:r>
                <a:rPr lang="en-US" sz="14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400" dirty="0">
                  <a:solidFill>
                    <a:srgbClr val="0000FF"/>
                  </a:solidFill>
                </a:rPr>
                <a:t> (“You win!!”);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	       done = </a:t>
              </a:r>
              <a:r>
                <a:rPr lang="en-US" sz="1400" dirty="0">
                  <a:solidFill>
                    <a:srgbClr val="00B0F0"/>
                  </a:solidFill>
                </a:rPr>
                <a:t>true</a:t>
              </a:r>
              <a:r>
                <a:rPr lang="en-US" sz="1400" dirty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	    }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   } </a:t>
              </a:r>
              <a:r>
                <a:rPr lang="en-US" sz="1400" dirty="0">
                  <a:solidFill>
                    <a:srgbClr val="00B050"/>
                  </a:solidFill>
                </a:rPr>
                <a:t>//end while</a:t>
              </a:r>
            </a:p>
            <a:p>
              <a:r>
                <a:rPr lang="en-US" sz="1400" dirty="0"/>
                <a:t>                 // Output section: display program output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</a:t>
              </a:r>
              <a:r>
                <a:rPr lang="en-US" sz="1400" dirty="0" err="1">
                  <a:solidFill>
                    <a:srgbClr val="0000FF"/>
                  </a:solidFill>
                </a:rPr>
                <a:t>System.out.printf</a:t>
              </a:r>
              <a:r>
                <a:rPr lang="en-US" sz="1400" dirty="0">
                  <a:solidFill>
                    <a:srgbClr val="0000FF"/>
                  </a:solidFill>
                </a:rPr>
                <a:t> (“Number of trials = %3d”, trials);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} </a:t>
              </a:r>
              <a:r>
                <a:rPr lang="en-US" sz="1400" dirty="0">
                  <a:solidFill>
                    <a:srgbClr val="00B050"/>
                  </a:solidFill>
                </a:rPr>
                <a:t>// end main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} </a:t>
              </a:r>
              <a:r>
                <a:rPr lang="en-US" sz="1400" dirty="0">
                  <a:solidFill>
                    <a:srgbClr val="00B050"/>
                  </a:solidFill>
                </a:rPr>
                <a:t>// end class</a:t>
              </a: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1. The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while </a:t>
            </a:r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Statement</a:t>
            </a:r>
            <a:endParaRPr lang="en-US" sz="28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843808" y="2060848"/>
            <a:ext cx="1224136" cy="216024"/>
          </a:xfrm>
          <a:prstGeom prst="rect">
            <a:avLst/>
          </a:prstGeom>
          <a:solidFill>
            <a:schemeClr val="accent2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915816" y="2492896"/>
            <a:ext cx="3312368" cy="216024"/>
          </a:xfrm>
          <a:prstGeom prst="rect">
            <a:avLst/>
          </a:prstGeom>
          <a:solidFill>
            <a:schemeClr val="accent2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2915816" y="2708920"/>
            <a:ext cx="3312368" cy="216024"/>
          </a:xfrm>
          <a:prstGeom prst="rect">
            <a:avLst/>
          </a:prstGeom>
          <a:solidFill>
            <a:schemeClr val="accent2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2038230" y="5517232"/>
            <a:ext cx="1224136" cy="216024"/>
          </a:xfrm>
          <a:prstGeom prst="rect">
            <a:avLst/>
          </a:prstGeom>
          <a:solidFill>
            <a:schemeClr val="accent2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1874189" y="812174"/>
            <a:ext cx="1224136" cy="216024"/>
          </a:xfrm>
          <a:prstGeom prst="rect">
            <a:avLst/>
          </a:prstGeom>
          <a:solidFill>
            <a:schemeClr val="accent2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/>
          <p:cNvSpPr/>
          <p:nvPr/>
        </p:nvSpPr>
        <p:spPr>
          <a:xfrm>
            <a:off x="6660232" y="2708920"/>
            <a:ext cx="2160240" cy="792088"/>
          </a:xfrm>
          <a:prstGeom prst="rect">
            <a:avLst/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guess &gt; rand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7400282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3" grpId="0" animBg="1"/>
      <p:bldP spid="12" grpId="0" animBg="1"/>
      <p:bldP spid="13" grpId="0" animBg="1"/>
      <p:bldP spid="47" grpId="0" animBg="1"/>
      <p:bldP spid="48" grpId="0" animBg="1"/>
      <p:bldP spid="5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1.5 FLAG-CONTROLLED LOOP – CODE (2)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/>
          <p:cNvGrpSpPr/>
          <p:nvPr/>
        </p:nvGrpSpPr>
        <p:grpSpPr>
          <a:xfrm>
            <a:off x="179512" y="764704"/>
            <a:ext cx="8784976" cy="5909310"/>
            <a:chOff x="323528" y="1236822"/>
            <a:chExt cx="7848872" cy="5717702"/>
          </a:xfrm>
        </p:grpSpPr>
        <p:sp>
          <p:nvSpPr>
            <p:cNvPr id="10" name="TextBox 9"/>
            <p:cNvSpPr txBox="1"/>
            <p:nvPr/>
          </p:nvSpPr>
          <p:spPr>
            <a:xfrm>
              <a:off x="323528" y="1236822"/>
              <a:ext cx="576064" cy="57177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13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14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15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16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17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18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19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20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21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22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23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24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25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26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27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28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29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30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31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32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33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34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35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36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37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38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39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71600" y="1236822"/>
              <a:ext cx="7200800" cy="5717702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0000FF"/>
                  </a:solidFill>
                </a:rPr>
                <a:t>	</a:t>
              </a:r>
              <a:r>
                <a:rPr lang="en-US" sz="1400" dirty="0">
                  <a:solidFill>
                    <a:srgbClr val="00B0F0"/>
                  </a:solidFill>
                </a:rPr>
                <a:t>while</a:t>
              </a:r>
              <a:r>
                <a:rPr lang="en-US" sz="1400" dirty="0">
                  <a:solidFill>
                    <a:srgbClr val="0000FF"/>
                  </a:solidFill>
                </a:rPr>
                <a:t> (!done)   </a:t>
              </a:r>
              <a:r>
                <a:rPr lang="en-US" sz="1400" dirty="0">
                  <a:solidFill>
                    <a:srgbClr val="00B050"/>
                  </a:solidFill>
                </a:rPr>
                <a:t>//Repeat as long as the flag is false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   {</a:t>
              </a:r>
            </a:p>
            <a:p>
              <a:r>
                <a:rPr lang="en-US" sz="1400" dirty="0"/>
                <a:t>                         // Input section: to enter values of used variables</a:t>
              </a:r>
            </a:p>
            <a:p>
              <a:r>
                <a:rPr lang="en-US" sz="1400" dirty="0"/>
                <a:t>                             </a:t>
              </a:r>
              <a:r>
                <a:rPr lang="en-US" sz="1400" dirty="0" err="1">
                  <a:solidFill>
                    <a:srgbClr val="0000FF"/>
                  </a:solidFill>
                </a:rPr>
                <a:t>System.out.print</a:t>
              </a:r>
              <a:r>
                <a:rPr lang="en-US" sz="1400" dirty="0">
                  <a:solidFill>
                    <a:srgbClr val="0000FF"/>
                  </a:solidFill>
                </a:rPr>
                <a:t> (“Guess a number between 0 and 100 ”);   </a:t>
              </a:r>
              <a:r>
                <a:rPr lang="en-US" sz="1400" dirty="0">
                  <a:solidFill>
                    <a:srgbClr val="00B050"/>
                  </a:solidFill>
                </a:rPr>
                <a:t>//prompt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             guess = </a:t>
              </a:r>
              <a:r>
                <a:rPr lang="en-US" sz="1400" dirty="0" err="1">
                  <a:solidFill>
                    <a:srgbClr val="0000FF"/>
                  </a:solidFill>
                </a:rPr>
                <a:t>read.</a:t>
              </a:r>
              <a:r>
                <a:rPr lang="en-US" sz="1400" dirty="0" err="1">
                  <a:solidFill>
                    <a:srgbClr val="00B050"/>
                  </a:solidFill>
                </a:rPr>
                <a:t>nextInt</a:t>
              </a:r>
              <a:r>
                <a:rPr lang="en-US" sz="1400" dirty="0">
                  <a:solidFill>
                    <a:srgbClr val="00B050"/>
                  </a:solidFill>
                </a:rPr>
                <a:t>()</a:t>
              </a:r>
              <a:r>
                <a:rPr lang="en-US" sz="1400" dirty="0">
                  <a:solidFill>
                    <a:srgbClr val="0000FF"/>
                  </a:solidFill>
                </a:rPr>
                <a:t>;  </a:t>
              </a:r>
              <a:r>
                <a:rPr lang="en-US" sz="1400" dirty="0">
                  <a:solidFill>
                    <a:srgbClr val="00B050"/>
                  </a:solidFill>
                </a:rPr>
                <a:t> //read guessed number</a:t>
              </a:r>
            </a:p>
            <a:p>
              <a:r>
                <a:rPr lang="en-US" sz="1400" dirty="0"/>
                <a:t>	        // Processing section: processing statements</a:t>
              </a:r>
              <a:endParaRPr lang="en-US" sz="1400" dirty="0">
                <a:solidFill>
                  <a:srgbClr val="0000FF"/>
                </a:solidFill>
              </a:endParaRPr>
            </a:p>
            <a:p>
              <a:r>
                <a:rPr lang="en-US" sz="1400" dirty="0">
                  <a:solidFill>
                    <a:srgbClr val="0000FF"/>
                  </a:solidFill>
                </a:rPr>
                <a:t>	             </a:t>
              </a:r>
              <a:r>
                <a:rPr lang="en-US" sz="1400" dirty="0">
                  <a:solidFill>
                    <a:srgbClr val="00B0F0"/>
                  </a:solidFill>
                </a:rPr>
                <a:t>if</a:t>
              </a:r>
              <a:r>
                <a:rPr lang="en-US" sz="1400" dirty="0">
                  <a:solidFill>
                    <a:srgbClr val="0000FF"/>
                  </a:solidFill>
                </a:rPr>
                <a:t> (guess &gt; rand)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                { 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                  </a:t>
              </a:r>
              <a:r>
                <a:rPr lang="en-US" sz="14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400" dirty="0">
                  <a:solidFill>
                    <a:srgbClr val="0000FF"/>
                  </a:solidFill>
                </a:rPr>
                <a:t> (“Guess too large”);	    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                  trials++;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                }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            </a:t>
              </a:r>
              <a:r>
                <a:rPr lang="en-US" sz="1400" dirty="0">
                  <a:solidFill>
                    <a:srgbClr val="00B0F0"/>
                  </a:solidFill>
                </a:rPr>
                <a:t>else </a:t>
              </a:r>
            </a:p>
            <a:p>
              <a:r>
                <a:rPr lang="en-US" sz="1400" dirty="0">
                  <a:solidFill>
                    <a:srgbClr val="00B0F0"/>
                  </a:solidFill>
                </a:rPr>
                <a:t>                                if</a:t>
              </a:r>
              <a:r>
                <a:rPr lang="en-US" sz="1400" dirty="0">
                  <a:solidFill>
                    <a:srgbClr val="0000FF"/>
                  </a:solidFill>
                </a:rPr>
                <a:t> (guess &lt; rand)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                      {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	        </a:t>
              </a:r>
              <a:r>
                <a:rPr lang="en-US" sz="14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400" dirty="0">
                  <a:solidFill>
                    <a:srgbClr val="0000FF"/>
                  </a:solidFill>
                </a:rPr>
                <a:t> (“Guess too small”);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	        trials++;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	     }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                  </a:t>
              </a:r>
              <a:r>
                <a:rPr lang="en-US" sz="1400" dirty="0">
                  <a:solidFill>
                    <a:srgbClr val="00B0F0"/>
                  </a:solidFill>
                </a:rPr>
                <a:t>else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	     {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	       </a:t>
              </a:r>
              <a:r>
                <a:rPr lang="en-US" sz="14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400" dirty="0">
                  <a:solidFill>
                    <a:srgbClr val="0000FF"/>
                  </a:solidFill>
                </a:rPr>
                <a:t> (“You win!!”);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	       done = </a:t>
              </a:r>
              <a:r>
                <a:rPr lang="en-US" sz="1400" dirty="0">
                  <a:solidFill>
                    <a:srgbClr val="00B0F0"/>
                  </a:solidFill>
                </a:rPr>
                <a:t>true</a:t>
              </a:r>
              <a:r>
                <a:rPr lang="en-US" sz="1400" dirty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	    }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   } </a:t>
              </a:r>
              <a:r>
                <a:rPr lang="en-US" sz="1400" dirty="0">
                  <a:solidFill>
                    <a:srgbClr val="00B050"/>
                  </a:solidFill>
                </a:rPr>
                <a:t>//end while</a:t>
              </a:r>
            </a:p>
            <a:p>
              <a:r>
                <a:rPr lang="en-US" sz="1400" dirty="0"/>
                <a:t>                 // Output section: display program output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</a:t>
              </a:r>
              <a:r>
                <a:rPr lang="en-US" sz="1400" dirty="0" err="1">
                  <a:solidFill>
                    <a:srgbClr val="0000FF"/>
                  </a:solidFill>
                </a:rPr>
                <a:t>System.out.printf</a:t>
              </a:r>
              <a:r>
                <a:rPr lang="en-US" sz="1400" dirty="0">
                  <a:solidFill>
                    <a:srgbClr val="0000FF"/>
                  </a:solidFill>
                </a:rPr>
                <a:t> (“Number of trials = %3d”, trials);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} </a:t>
              </a:r>
              <a:r>
                <a:rPr lang="en-US" sz="1400" dirty="0">
                  <a:solidFill>
                    <a:srgbClr val="00B050"/>
                  </a:solidFill>
                </a:rPr>
                <a:t>// end main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} </a:t>
              </a:r>
              <a:r>
                <a:rPr lang="en-US" sz="1400" dirty="0">
                  <a:solidFill>
                    <a:srgbClr val="00B050"/>
                  </a:solidFill>
                </a:rPr>
                <a:t>// end class</a:t>
              </a: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1. The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while </a:t>
            </a:r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Statement</a:t>
            </a:r>
            <a:endParaRPr lang="en-US" sz="28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2038230" y="5517232"/>
            <a:ext cx="1224136" cy="216024"/>
          </a:xfrm>
          <a:prstGeom prst="rect">
            <a:avLst/>
          </a:prstGeom>
          <a:solidFill>
            <a:srgbClr val="0000FF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1874189" y="812174"/>
            <a:ext cx="1224136" cy="216024"/>
          </a:xfrm>
          <a:prstGeom prst="rect">
            <a:avLst/>
          </a:prstGeom>
          <a:solidFill>
            <a:srgbClr val="0000FF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2987824" y="3356992"/>
            <a:ext cx="1224136" cy="216024"/>
          </a:xfrm>
          <a:prstGeom prst="rect">
            <a:avLst/>
          </a:prstGeom>
          <a:solidFill>
            <a:srgbClr val="0000FF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3203848" y="3789040"/>
            <a:ext cx="3312368" cy="216024"/>
          </a:xfrm>
          <a:prstGeom prst="rect">
            <a:avLst/>
          </a:prstGeom>
          <a:solidFill>
            <a:srgbClr val="0000FF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3203848" y="4005064"/>
            <a:ext cx="3312368" cy="216024"/>
          </a:xfrm>
          <a:prstGeom prst="rect">
            <a:avLst/>
          </a:prstGeom>
          <a:solidFill>
            <a:srgbClr val="0000FF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2555776" y="3140968"/>
            <a:ext cx="1224136" cy="216024"/>
          </a:xfrm>
          <a:prstGeom prst="rect">
            <a:avLst/>
          </a:prstGeom>
          <a:solidFill>
            <a:srgbClr val="0000FF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2843808" y="2096852"/>
            <a:ext cx="1224136" cy="216024"/>
          </a:xfrm>
          <a:prstGeom prst="rect">
            <a:avLst/>
          </a:prstGeom>
          <a:solidFill>
            <a:srgbClr val="0000FF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6660232" y="2708920"/>
            <a:ext cx="2160240" cy="792088"/>
          </a:xfrm>
          <a:prstGeom prst="rect">
            <a:avLst/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guess &lt; rand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3592739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36" grpId="0" animBg="1"/>
      <p:bldP spid="37" grpId="0" animBg="1"/>
      <p:bldP spid="3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1.5 FLAG-CONTROLLED LOOP – CODE (2)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/>
          <p:cNvGrpSpPr/>
          <p:nvPr/>
        </p:nvGrpSpPr>
        <p:grpSpPr>
          <a:xfrm>
            <a:off x="179512" y="764704"/>
            <a:ext cx="8784976" cy="5909310"/>
            <a:chOff x="323528" y="1236822"/>
            <a:chExt cx="7848872" cy="5717702"/>
          </a:xfrm>
        </p:grpSpPr>
        <p:sp>
          <p:nvSpPr>
            <p:cNvPr id="10" name="TextBox 9"/>
            <p:cNvSpPr txBox="1"/>
            <p:nvPr/>
          </p:nvSpPr>
          <p:spPr>
            <a:xfrm>
              <a:off x="323528" y="1236822"/>
              <a:ext cx="576064" cy="57177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13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14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15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16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17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18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19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20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21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22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23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24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25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26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27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28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29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30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31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32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33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34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35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36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37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38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39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71600" y="1236822"/>
              <a:ext cx="7200800" cy="5717702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0000FF"/>
                  </a:solidFill>
                </a:rPr>
                <a:t>	</a:t>
              </a:r>
              <a:r>
                <a:rPr lang="en-US" sz="1400" dirty="0">
                  <a:solidFill>
                    <a:srgbClr val="00B0F0"/>
                  </a:solidFill>
                </a:rPr>
                <a:t>while</a:t>
              </a:r>
              <a:r>
                <a:rPr lang="en-US" sz="1400" dirty="0">
                  <a:solidFill>
                    <a:srgbClr val="0000FF"/>
                  </a:solidFill>
                </a:rPr>
                <a:t> (!done)   </a:t>
              </a:r>
              <a:r>
                <a:rPr lang="en-US" sz="1400" dirty="0">
                  <a:solidFill>
                    <a:srgbClr val="00B050"/>
                  </a:solidFill>
                </a:rPr>
                <a:t>//Repeat as long as the flag is false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   {</a:t>
              </a:r>
            </a:p>
            <a:p>
              <a:r>
                <a:rPr lang="en-US" sz="1400" dirty="0"/>
                <a:t>                         // Input section: to enter values of used variables</a:t>
              </a:r>
            </a:p>
            <a:p>
              <a:r>
                <a:rPr lang="en-US" sz="1400" dirty="0"/>
                <a:t>                             </a:t>
              </a:r>
              <a:r>
                <a:rPr lang="en-US" sz="1400" dirty="0" err="1">
                  <a:solidFill>
                    <a:srgbClr val="0000FF"/>
                  </a:solidFill>
                </a:rPr>
                <a:t>System.out.print</a:t>
              </a:r>
              <a:r>
                <a:rPr lang="en-US" sz="1400" dirty="0">
                  <a:solidFill>
                    <a:srgbClr val="0000FF"/>
                  </a:solidFill>
                </a:rPr>
                <a:t> (“Guess a number between 0 and 100 ”);   </a:t>
              </a:r>
              <a:r>
                <a:rPr lang="en-US" sz="1400" dirty="0">
                  <a:solidFill>
                    <a:srgbClr val="00B050"/>
                  </a:solidFill>
                </a:rPr>
                <a:t>//prompt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             guess = </a:t>
              </a:r>
              <a:r>
                <a:rPr lang="en-US" sz="1400" dirty="0" err="1">
                  <a:solidFill>
                    <a:srgbClr val="0000FF"/>
                  </a:solidFill>
                </a:rPr>
                <a:t>read.</a:t>
              </a:r>
              <a:r>
                <a:rPr lang="en-US" sz="1400" dirty="0" err="1">
                  <a:solidFill>
                    <a:srgbClr val="00B050"/>
                  </a:solidFill>
                </a:rPr>
                <a:t>nextInt</a:t>
              </a:r>
              <a:r>
                <a:rPr lang="en-US" sz="1400" dirty="0">
                  <a:solidFill>
                    <a:srgbClr val="00B050"/>
                  </a:solidFill>
                </a:rPr>
                <a:t>()</a:t>
              </a:r>
              <a:r>
                <a:rPr lang="en-US" sz="1400" dirty="0">
                  <a:solidFill>
                    <a:srgbClr val="0000FF"/>
                  </a:solidFill>
                </a:rPr>
                <a:t>;  </a:t>
              </a:r>
              <a:r>
                <a:rPr lang="en-US" sz="1400" dirty="0">
                  <a:solidFill>
                    <a:srgbClr val="00B050"/>
                  </a:solidFill>
                </a:rPr>
                <a:t> //read guessed number</a:t>
              </a:r>
            </a:p>
            <a:p>
              <a:r>
                <a:rPr lang="en-US" sz="1400" dirty="0"/>
                <a:t>	        // Processing section: processing statements</a:t>
              </a:r>
              <a:endParaRPr lang="en-US" sz="1400" dirty="0">
                <a:solidFill>
                  <a:srgbClr val="0000FF"/>
                </a:solidFill>
              </a:endParaRPr>
            </a:p>
            <a:p>
              <a:r>
                <a:rPr lang="en-US" sz="1400" dirty="0">
                  <a:solidFill>
                    <a:srgbClr val="0000FF"/>
                  </a:solidFill>
                </a:rPr>
                <a:t>	             </a:t>
              </a:r>
              <a:r>
                <a:rPr lang="en-US" sz="1400" dirty="0">
                  <a:solidFill>
                    <a:srgbClr val="00B0F0"/>
                  </a:solidFill>
                </a:rPr>
                <a:t>if</a:t>
              </a:r>
              <a:r>
                <a:rPr lang="en-US" sz="1400" dirty="0">
                  <a:solidFill>
                    <a:srgbClr val="0000FF"/>
                  </a:solidFill>
                </a:rPr>
                <a:t> (guess &gt; rand)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                { 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                  </a:t>
              </a:r>
              <a:r>
                <a:rPr lang="en-US" sz="14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400" dirty="0">
                  <a:solidFill>
                    <a:srgbClr val="0000FF"/>
                  </a:solidFill>
                </a:rPr>
                <a:t> (“Guess too large”);	    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                  trials++;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                }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            </a:t>
              </a:r>
              <a:r>
                <a:rPr lang="en-US" sz="1400" dirty="0">
                  <a:solidFill>
                    <a:srgbClr val="00B0F0"/>
                  </a:solidFill>
                </a:rPr>
                <a:t>else </a:t>
              </a:r>
            </a:p>
            <a:p>
              <a:r>
                <a:rPr lang="en-US" sz="1400" dirty="0">
                  <a:solidFill>
                    <a:srgbClr val="00B0F0"/>
                  </a:solidFill>
                </a:rPr>
                <a:t>                                if</a:t>
              </a:r>
              <a:r>
                <a:rPr lang="en-US" sz="1400" dirty="0">
                  <a:solidFill>
                    <a:srgbClr val="0000FF"/>
                  </a:solidFill>
                </a:rPr>
                <a:t> (guess &lt; rand)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                      {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	        </a:t>
              </a:r>
              <a:r>
                <a:rPr lang="en-US" sz="14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400" dirty="0">
                  <a:solidFill>
                    <a:srgbClr val="0000FF"/>
                  </a:solidFill>
                </a:rPr>
                <a:t> (“Guess too small”);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	        trials++;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	     }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                  </a:t>
              </a:r>
              <a:r>
                <a:rPr lang="en-US" sz="1400" dirty="0">
                  <a:solidFill>
                    <a:srgbClr val="00B0F0"/>
                  </a:solidFill>
                </a:rPr>
                <a:t>else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	     {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	       </a:t>
              </a:r>
              <a:r>
                <a:rPr lang="en-US" sz="14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400" dirty="0">
                  <a:solidFill>
                    <a:srgbClr val="0000FF"/>
                  </a:solidFill>
                </a:rPr>
                <a:t> (“You win!!”);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	       done = </a:t>
              </a:r>
              <a:r>
                <a:rPr lang="en-US" sz="1400" dirty="0">
                  <a:solidFill>
                    <a:srgbClr val="00B0F0"/>
                  </a:solidFill>
                </a:rPr>
                <a:t>true</a:t>
              </a:r>
              <a:r>
                <a:rPr lang="en-US" sz="1400" dirty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	    }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   } </a:t>
              </a:r>
              <a:r>
                <a:rPr lang="en-US" sz="1400" dirty="0">
                  <a:solidFill>
                    <a:srgbClr val="00B050"/>
                  </a:solidFill>
                </a:rPr>
                <a:t>//end while</a:t>
              </a:r>
            </a:p>
            <a:p>
              <a:r>
                <a:rPr lang="en-US" sz="1400" dirty="0"/>
                <a:t>                 // Output section: display program output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</a:t>
              </a:r>
              <a:r>
                <a:rPr lang="en-US" sz="1400" dirty="0" err="1">
                  <a:solidFill>
                    <a:srgbClr val="0000FF"/>
                  </a:solidFill>
                </a:rPr>
                <a:t>System.out.printf</a:t>
              </a:r>
              <a:r>
                <a:rPr lang="en-US" sz="1400" dirty="0">
                  <a:solidFill>
                    <a:srgbClr val="0000FF"/>
                  </a:solidFill>
                </a:rPr>
                <a:t> (“Number of trials = %3d”, trials);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} </a:t>
              </a:r>
              <a:r>
                <a:rPr lang="en-US" sz="1400" dirty="0">
                  <a:solidFill>
                    <a:srgbClr val="00B050"/>
                  </a:solidFill>
                </a:rPr>
                <a:t>// end main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} </a:t>
              </a:r>
              <a:r>
                <a:rPr lang="en-US" sz="1400" dirty="0">
                  <a:solidFill>
                    <a:srgbClr val="00B050"/>
                  </a:solidFill>
                </a:rPr>
                <a:t>// end class</a:t>
              </a: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1. The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while </a:t>
            </a:r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Statement</a:t>
            </a:r>
            <a:endParaRPr lang="en-US" sz="28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2038230" y="5517232"/>
            <a:ext cx="1224136" cy="216024"/>
          </a:xfrm>
          <a:prstGeom prst="rect">
            <a:avLst/>
          </a:prstGeom>
          <a:solidFill>
            <a:srgbClr val="7030A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1874189" y="812174"/>
            <a:ext cx="1224136" cy="216024"/>
          </a:xfrm>
          <a:prstGeom prst="rect">
            <a:avLst/>
          </a:prstGeom>
          <a:solidFill>
            <a:srgbClr val="7030A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2843808" y="4401108"/>
            <a:ext cx="1224136" cy="216024"/>
          </a:xfrm>
          <a:prstGeom prst="rect">
            <a:avLst/>
          </a:prstGeom>
          <a:solidFill>
            <a:srgbClr val="7030A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3059832" y="4833156"/>
            <a:ext cx="3312368" cy="216024"/>
          </a:xfrm>
          <a:prstGeom prst="rect">
            <a:avLst/>
          </a:prstGeom>
          <a:solidFill>
            <a:srgbClr val="7030A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3059832" y="5085184"/>
            <a:ext cx="3312368" cy="216024"/>
          </a:xfrm>
          <a:prstGeom prst="rect">
            <a:avLst/>
          </a:prstGeom>
          <a:solidFill>
            <a:srgbClr val="7030A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2843808" y="2060848"/>
            <a:ext cx="1224136" cy="216024"/>
          </a:xfrm>
          <a:prstGeom prst="rect">
            <a:avLst/>
          </a:prstGeom>
          <a:solidFill>
            <a:srgbClr val="7030A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2555776" y="3130480"/>
            <a:ext cx="1224136" cy="216024"/>
          </a:xfrm>
          <a:prstGeom prst="rect">
            <a:avLst/>
          </a:prstGeom>
          <a:solidFill>
            <a:srgbClr val="7030A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2987824" y="3356992"/>
            <a:ext cx="1224136" cy="216024"/>
          </a:xfrm>
          <a:prstGeom prst="rect">
            <a:avLst/>
          </a:prstGeom>
          <a:solidFill>
            <a:srgbClr val="7030A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6660232" y="2708920"/>
            <a:ext cx="2160240" cy="792088"/>
          </a:xfrm>
          <a:prstGeom prst="rect">
            <a:avLst/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guess == rand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6370756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37" grpId="0" animBg="1"/>
      <p:bldP spid="38" grpId="0" animBg="1"/>
      <p:bldP spid="39" grpId="0" animBg="1"/>
      <p:bldP spid="3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2800" dirty="0">
                <a:solidFill>
                  <a:schemeClr val="accent2"/>
                </a:solidFill>
                <a:latin typeface="Tahoma" charset="0"/>
                <a:cs typeface="Arial" charset="0"/>
              </a:rPr>
              <a:t>Programming Example: Fibonacci Number</a:t>
            </a:r>
          </a:p>
        </p:txBody>
      </p:sp>
      <p:sp>
        <p:nvSpPr>
          <p:cNvPr id="19" name="Content Placeholder 1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016691"/>
          </a:xfrm>
        </p:spPr>
        <p:txBody>
          <a:bodyPr>
            <a:normAutofit/>
          </a:bodyPr>
          <a:lstStyle/>
          <a:p>
            <a:pPr marL="609600" indent="-609600"/>
            <a:r>
              <a:rPr lang="en-US" sz="2400" dirty="0"/>
              <a:t>Fibonacci formula for any Fibonacci sequence:</a:t>
            </a:r>
          </a:p>
          <a:p>
            <a:pPr marL="609600" indent="-609600">
              <a:buFont typeface="Wingdings" pitchFamily="2" charset="2"/>
              <a:buNone/>
            </a:pPr>
            <a:r>
              <a:rPr lang="en-US" sz="2400" dirty="0"/>
              <a:t>	</a:t>
            </a:r>
            <a:r>
              <a:rPr lang="en-US" sz="2400" i="1" dirty="0">
                <a:cs typeface="Times New Roman" pitchFamily="18" charset="0"/>
              </a:rPr>
              <a:t>a</a:t>
            </a:r>
            <a:r>
              <a:rPr lang="en-US" sz="2400" i="1" baseline="-30000" dirty="0">
                <a:cs typeface="Times New Roman" pitchFamily="18" charset="0"/>
              </a:rPr>
              <a:t>n</a:t>
            </a:r>
            <a:r>
              <a:rPr lang="en-US" sz="2400" dirty="0">
                <a:cs typeface="Times New Roman" pitchFamily="18" charset="0"/>
              </a:rPr>
              <a:t> = </a:t>
            </a:r>
            <a:r>
              <a:rPr lang="en-US" sz="2400" i="1" dirty="0">
                <a:cs typeface="Times New Roman" pitchFamily="18" charset="0"/>
              </a:rPr>
              <a:t>a</a:t>
            </a:r>
            <a:r>
              <a:rPr lang="en-US" sz="2400" i="1" baseline="-30000" dirty="0">
                <a:cs typeface="Times New Roman" pitchFamily="18" charset="0"/>
              </a:rPr>
              <a:t>n</a:t>
            </a:r>
            <a:r>
              <a:rPr lang="en-US" sz="2400" baseline="-30000" dirty="0">
                <a:cs typeface="Times New Roman" pitchFamily="18" charset="0"/>
              </a:rPr>
              <a:t>-1</a:t>
            </a:r>
            <a:r>
              <a:rPr lang="en-US" sz="2400" dirty="0">
                <a:cs typeface="Times New Roman" pitchFamily="18" charset="0"/>
              </a:rPr>
              <a:t> + </a:t>
            </a:r>
            <a:r>
              <a:rPr lang="en-US" sz="2400" i="1" dirty="0">
                <a:cs typeface="Times New Roman" pitchFamily="18" charset="0"/>
              </a:rPr>
              <a:t>a</a:t>
            </a:r>
            <a:r>
              <a:rPr lang="en-US" sz="2400" i="1" baseline="-30000" dirty="0">
                <a:cs typeface="Times New Roman" pitchFamily="18" charset="0"/>
              </a:rPr>
              <a:t>n</a:t>
            </a:r>
            <a:r>
              <a:rPr lang="en-US" sz="2400" baseline="-30000" dirty="0">
                <a:cs typeface="Times New Roman" pitchFamily="18" charset="0"/>
              </a:rPr>
              <a:t>-2</a:t>
            </a:r>
            <a:endParaRPr lang="en-US" sz="2400" dirty="0">
              <a:cs typeface="Times New Roman" pitchFamily="18" charset="0"/>
            </a:endParaRPr>
          </a:p>
          <a:p>
            <a:pPr marL="609600" indent="-609600"/>
            <a:r>
              <a:rPr lang="en-US" sz="2400" dirty="0"/>
              <a:t>Input: F</a:t>
            </a:r>
            <a:r>
              <a:rPr lang="en-US" sz="2400" dirty="0">
                <a:cs typeface="Times New Roman" pitchFamily="18" charset="0"/>
              </a:rPr>
              <a:t>irst two Fibonacci numbers in sequence, position in sequence of desired Fibonacci number (n).</a:t>
            </a:r>
          </a:p>
          <a:p>
            <a:pPr marL="990600" lvl="1" indent="-533400"/>
            <a:r>
              <a:rPr lang="en-US" sz="2200" dirty="0" err="1">
                <a:solidFill>
                  <a:schemeClr val="accent2"/>
                </a:solidFill>
                <a:latin typeface="Courier New" pitchFamily="49" charset="0"/>
                <a:cs typeface="Times New Roman" pitchFamily="18" charset="0"/>
              </a:rPr>
              <a:t>int</a:t>
            </a:r>
            <a:r>
              <a:rPr lang="en-US" sz="2200" dirty="0">
                <a:cs typeface="Times New Roman" pitchFamily="18" charset="0"/>
              </a:rPr>
              <a:t> </a:t>
            </a:r>
            <a:r>
              <a:rPr lang="en-US" sz="2200" dirty="0">
                <a:latin typeface="Courier New" pitchFamily="49" charset="0"/>
                <a:cs typeface="Times New Roman" pitchFamily="18" charset="0"/>
              </a:rPr>
              <a:t>previous1</a:t>
            </a:r>
            <a:r>
              <a:rPr lang="en-US" sz="2200" dirty="0">
                <a:cs typeface="Times New Roman" pitchFamily="18" charset="0"/>
              </a:rPr>
              <a:t> = Fibonacci number 1</a:t>
            </a:r>
          </a:p>
          <a:p>
            <a:pPr marL="990600" lvl="1" indent="-533400"/>
            <a:r>
              <a:rPr lang="en-US" sz="2200" dirty="0" err="1">
                <a:solidFill>
                  <a:schemeClr val="accent2"/>
                </a:solidFill>
                <a:latin typeface="Courier New" pitchFamily="49" charset="0"/>
                <a:cs typeface="Times New Roman" pitchFamily="18" charset="0"/>
              </a:rPr>
              <a:t>int</a:t>
            </a:r>
            <a:r>
              <a:rPr lang="en-US" sz="2200" dirty="0">
                <a:cs typeface="Times New Roman" pitchFamily="18" charset="0"/>
              </a:rPr>
              <a:t> </a:t>
            </a:r>
            <a:r>
              <a:rPr lang="en-US" sz="2200" dirty="0">
                <a:latin typeface="Courier New" pitchFamily="49" charset="0"/>
                <a:cs typeface="Times New Roman" pitchFamily="18" charset="0"/>
              </a:rPr>
              <a:t>previous2</a:t>
            </a:r>
            <a:r>
              <a:rPr lang="en-US" sz="2200" dirty="0">
                <a:cs typeface="Times New Roman" pitchFamily="18" charset="0"/>
              </a:rPr>
              <a:t> = Fibonacci number 2</a:t>
            </a:r>
          </a:p>
          <a:p>
            <a:pPr marL="990600" lvl="1" indent="-533400"/>
            <a:r>
              <a:rPr lang="en-US" sz="2200" dirty="0" err="1">
                <a:solidFill>
                  <a:schemeClr val="accent2"/>
                </a:solidFill>
                <a:latin typeface="Courier New" pitchFamily="49" charset="0"/>
                <a:cs typeface="Times New Roman" pitchFamily="18" charset="0"/>
              </a:rPr>
              <a:t>int</a:t>
            </a:r>
            <a:r>
              <a:rPr lang="en-US" sz="2200" dirty="0">
                <a:cs typeface="Times New Roman" pitchFamily="18" charset="0"/>
              </a:rPr>
              <a:t> </a:t>
            </a:r>
            <a:r>
              <a:rPr lang="en-US" sz="2200" dirty="0" err="1">
                <a:latin typeface="Courier New" pitchFamily="49" charset="0"/>
                <a:cs typeface="Times New Roman" pitchFamily="18" charset="0"/>
              </a:rPr>
              <a:t>nthFibonacci</a:t>
            </a:r>
            <a:r>
              <a:rPr lang="en-US" sz="2200" dirty="0">
                <a:cs typeface="Times New Roman" pitchFamily="18" charset="0"/>
              </a:rPr>
              <a:t> = Position of nth Fibonacci number</a:t>
            </a:r>
          </a:p>
          <a:p>
            <a:pPr marL="609600" indent="-609600"/>
            <a:r>
              <a:rPr lang="en-US" sz="2400" dirty="0">
                <a:cs typeface="Times New Roman" pitchFamily="18" charset="0"/>
              </a:rPr>
              <a:t>Output: nth Fibonacci number. </a:t>
            </a:r>
            <a:endParaRPr lang="en-US" sz="2400" dirty="0"/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63707564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2800" dirty="0">
                <a:solidFill>
                  <a:schemeClr val="accent2"/>
                </a:solidFill>
                <a:latin typeface="Tahoma" charset="0"/>
                <a:cs typeface="Arial" charset="0"/>
              </a:rPr>
              <a:t>Programming Example: Fibonacci Number</a:t>
            </a:r>
          </a:p>
        </p:txBody>
      </p:sp>
      <p:sp>
        <p:nvSpPr>
          <p:cNvPr id="6" name="Content Placeholder 1"/>
          <p:cNvSpPr txBox="1">
            <a:spLocks/>
          </p:cNvSpPr>
          <p:nvPr/>
        </p:nvSpPr>
        <p:spPr>
          <a:xfrm>
            <a:off x="609600" y="762000"/>
            <a:ext cx="8229600" cy="5867400"/>
          </a:xfrm>
          <a:prstGeom prst="rect">
            <a:avLst/>
          </a:prstGeom>
        </p:spPr>
        <p:txBody>
          <a:bodyPr vert="horz">
            <a:normAutofit fontScale="92500" lnSpcReduction="10000"/>
          </a:bodyPr>
          <a:lstStyle/>
          <a:p>
            <a:pPr marL="365760" lvl="0" indent="-256032">
              <a:lnSpc>
                <a:spcPct val="80000"/>
              </a:lnSpc>
              <a:spcBef>
                <a:spcPts val="400"/>
              </a:spcBef>
              <a:buClr>
                <a:schemeClr val="accent1"/>
              </a:buClr>
              <a:buSzPct val="68000"/>
            </a:pPr>
            <a:endParaRPr lang="en-US" sz="2800" dirty="0"/>
          </a:p>
          <a:p>
            <a:pPr marL="365760" lvl="0" indent="-256032">
              <a:lnSpc>
                <a:spcPct val="80000"/>
              </a:lnSpc>
              <a:spcBef>
                <a:spcPts val="400"/>
              </a:spcBef>
              <a:buClr>
                <a:schemeClr val="accent1"/>
              </a:buClr>
              <a:buSzPct val="68000"/>
            </a:pPr>
            <a:r>
              <a:rPr lang="en-US" sz="2800" dirty="0"/>
              <a:t>Fibonacci Sequence</a:t>
            </a:r>
          </a:p>
          <a:p>
            <a:pPr marL="365760" lvl="0" indent="-256032">
              <a:lnSpc>
                <a:spcPct val="80000"/>
              </a:lnSpc>
              <a:spcBef>
                <a:spcPts val="400"/>
              </a:spcBef>
              <a:buClr>
                <a:schemeClr val="accent1"/>
              </a:buClr>
              <a:buSzPct val="68000"/>
            </a:pPr>
            <a:endParaRPr lang="en-US" sz="2400" dirty="0">
              <a:cs typeface="Times New Roman" pitchFamily="18" charset="0"/>
            </a:endParaRPr>
          </a:p>
          <a:p>
            <a:pPr marL="365760" marR="0" lvl="0" indent="-256032" algn="l" defTabSz="914400" rtl="0" eaLnBrk="1" fontAlgn="auto" latinLnBrk="0" hangingPunct="1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" pitchFamily="2" charset="2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if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(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nthFibonacci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== 1)</a:t>
            </a:r>
          </a:p>
          <a:p>
            <a:pPr marL="365760" marR="0" lvl="0" indent="-256032" algn="l" defTabSz="914400" rtl="0" eaLnBrk="1" fontAlgn="auto" latinLnBrk="0" hangingPunct="1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" pitchFamily="2" charset="2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        current = previous1;</a:t>
            </a:r>
          </a:p>
          <a:p>
            <a:pPr marL="365760" marR="0" lvl="0" indent="-256032" algn="l" defTabSz="914400" rtl="0" eaLnBrk="1" fontAlgn="auto" latinLnBrk="0" hangingPunct="1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" pitchFamily="2" charset="2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else if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(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nthFibonacci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== 2)</a:t>
            </a:r>
          </a:p>
          <a:p>
            <a:pPr marL="365760" marR="0" lvl="0" indent="-256032" algn="l" defTabSz="914400" rtl="0" eaLnBrk="1" fontAlgn="auto" latinLnBrk="0" hangingPunct="1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" pitchFamily="2" charset="2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             current = previous2;</a:t>
            </a:r>
          </a:p>
          <a:p>
            <a:pPr marL="365760" marR="0" lvl="0" indent="-256032" algn="l" defTabSz="914400" rtl="0" eaLnBrk="1" fontAlgn="auto" latinLnBrk="0" hangingPunct="1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" pitchFamily="2" charset="2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else</a:t>
            </a:r>
          </a:p>
          <a:p>
            <a:pPr marL="365760" marR="0" lvl="0" indent="-256032" algn="l" defTabSz="914400" rtl="0" eaLnBrk="1" fontAlgn="auto" latinLnBrk="0" hangingPunct="1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" pitchFamily="2" charset="2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{</a:t>
            </a:r>
          </a:p>
          <a:p>
            <a:pPr marL="365760" marR="0" lvl="0" indent="-256032" algn="l" defTabSz="914400" rtl="0" eaLnBrk="1" fontAlgn="auto" latinLnBrk="0" hangingPunct="1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" pitchFamily="2" charset="2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  counter = 3;                                 </a:t>
            </a:r>
          </a:p>
          <a:p>
            <a:pPr marL="365760" marR="0" lvl="0" indent="-256032" algn="l" defTabSz="914400" rtl="0" eaLnBrk="1" fontAlgn="auto" latinLnBrk="0" hangingPunct="1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" pitchFamily="2" charset="2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          </a:t>
            </a:r>
          </a:p>
          <a:p>
            <a:pPr marL="365760" marR="0" lvl="0" indent="-256032" algn="l" defTabSz="914400" rtl="0" eaLnBrk="1" fontAlgn="auto" latinLnBrk="0" hangingPunct="1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" pitchFamily="2" charset="2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while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(counter &lt;=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nthFibonacci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)</a:t>
            </a:r>
          </a:p>
          <a:p>
            <a:pPr marL="365760" marR="0" lvl="0" indent="-256032" algn="l" defTabSz="914400" rtl="0" eaLnBrk="1" fontAlgn="auto" latinLnBrk="0" hangingPunct="1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" pitchFamily="2" charset="2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  {</a:t>
            </a:r>
          </a:p>
          <a:p>
            <a:pPr marL="365760" marR="0" lvl="0" indent="-256032" algn="l" defTabSz="914400" rtl="0" eaLnBrk="1" fontAlgn="auto" latinLnBrk="0" hangingPunct="1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" pitchFamily="2" charset="2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       current = previous2 + previous1;</a:t>
            </a:r>
          </a:p>
          <a:p>
            <a:pPr marL="365760" marR="0" lvl="0" indent="-256032" algn="l" defTabSz="914400" rtl="0" eaLnBrk="1" fontAlgn="auto" latinLnBrk="0" hangingPunct="1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" pitchFamily="2" charset="2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       previous1 = previous2;</a:t>
            </a:r>
          </a:p>
          <a:p>
            <a:pPr marL="365760" marR="0" lvl="0" indent="-256032" algn="l" defTabSz="914400" rtl="0" eaLnBrk="1" fontAlgn="auto" latinLnBrk="0" hangingPunct="1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" pitchFamily="2" charset="2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       previous2 = current; </a:t>
            </a:r>
          </a:p>
          <a:p>
            <a:pPr marL="365760" marR="0" lvl="0" indent="-256032" algn="l" defTabSz="914400" rtl="0" eaLnBrk="1" fontAlgn="auto" latinLnBrk="0" hangingPunct="1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" pitchFamily="2" charset="2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       counter++;                               </a:t>
            </a:r>
          </a:p>
          <a:p>
            <a:pPr marL="365760" marR="0" lvl="0" indent="-256032" algn="l" defTabSz="914400" rtl="0" eaLnBrk="1" fontAlgn="auto" latinLnBrk="0" hangingPunct="1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" pitchFamily="2" charset="2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   }</a:t>
            </a:r>
          </a:p>
          <a:p>
            <a:pPr marL="365760" marR="0" lvl="0" indent="-256032" algn="l" defTabSz="914400" rtl="0" eaLnBrk="1" fontAlgn="auto" latinLnBrk="0" hangingPunct="1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" pitchFamily="2" charset="2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}</a:t>
            </a: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tabLst/>
              <a:defRPr/>
            </a:pP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63707564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144000" cy="685800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 </a:t>
            </a:r>
            <a:fld id="{D8D24581-BA14-4640-B752-9AB0FD1B9A37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116558"/>
            <a:ext cx="8229600" cy="792162"/>
          </a:xfr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Self-Check Exercises (1) 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052737"/>
            <a:ext cx="8229600" cy="3528391"/>
          </a:xfrm>
        </p:spPr>
        <p:txBody>
          <a:bodyPr>
            <a:noAutofit/>
          </a:bodyPr>
          <a:lstStyle/>
          <a:p>
            <a:pPr marL="109728" lvl="0" indent="0" algn="just" hangingPunct="0">
              <a:buNone/>
            </a:pP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Write a complete program that calculates and prints the bill for Riyadh’s power consumption. The rates vary depending on whether the user is residential, commercial, or industrial. A code of R corresponds to a Residential, C corresponds to a Commercial, and I to Industrial. Any other code should be treated as an error.</a:t>
            </a:r>
          </a:p>
          <a:p>
            <a:pPr marL="109728" indent="0" algn="just" hangingPunct="0">
              <a:buNone/>
            </a:pP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The program should read the power consumption rate in KWH (Kilowatt per Hour); then it calculates the due amount according to the following:</a:t>
            </a:r>
          </a:p>
          <a:p>
            <a:pPr marL="109728" indent="0" algn="just">
              <a:buNone/>
            </a:pP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The rate is SAR 5 per KWH for Residential, SAR 10 per KWH for Commercial and SAR 20 per KWH for Industrial.</a:t>
            </a:r>
          </a:p>
          <a:p>
            <a:pPr marL="109728" indent="0" algn="just">
              <a:buNone/>
            </a:pPr>
            <a:endParaRPr lang="en-US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09728" indent="0" algn="just">
              <a:buNone/>
            </a:pP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Select and apply an appropriate sentinel that stops the program.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406" y="6496070"/>
            <a:ext cx="40005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W5.2 while</a:t>
            </a:r>
          </a:p>
        </p:txBody>
      </p:sp>
      <p:sp>
        <p:nvSpPr>
          <p:cNvPr id="8" name="Explosion 1 7"/>
          <p:cNvSpPr/>
          <p:nvPr/>
        </p:nvSpPr>
        <p:spPr>
          <a:xfrm>
            <a:off x="6987894" y="5301208"/>
            <a:ext cx="1872208" cy="1435224"/>
          </a:xfrm>
          <a:prstGeom prst="irregularSeal1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FF0000"/>
                </a:solidFill>
              </a:rPr>
              <a:t>IMPORTANT</a:t>
            </a:r>
          </a:p>
        </p:txBody>
      </p:sp>
    </p:spTree>
    <p:extLst>
      <p:ext uri="{BB962C8B-B14F-4D97-AF65-F5344CB8AC3E}">
        <p14:creationId xmlns:p14="http://schemas.microsoft.com/office/powerpoint/2010/main" val="141575647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20542bfc-dd8b-421d-868b-1ab188d50257"/>
  <p:tag name="ARTICULATE_SLIDE_NAV" val="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1338</TotalTime>
  <Words>3637</Words>
  <Application>Microsoft Macintosh PowerPoint</Application>
  <PresentationFormat>On-screen Show (4:3)</PresentationFormat>
  <Paragraphs>714</Paragraphs>
  <Slides>25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6" baseType="lpstr">
      <vt:lpstr>Arial</vt:lpstr>
      <vt:lpstr>Calibri</vt:lpstr>
      <vt:lpstr>Courier New</vt:lpstr>
      <vt:lpstr>Lucida Sans Unicode</vt:lpstr>
      <vt:lpstr>Tahoma</vt:lpstr>
      <vt:lpstr>Times New Roman</vt:lpstr>
      <vt:lpstr>Verdana</vt:lpstr>
      <vt:lpstr>Wingdings</vt:lpstr>
      <vt:lpstr>Wingdings 2</vt:lpstr>
      <vt:lpstr>Wingdings 3</vt:lpstr>
      <vt:lpstr>Concourse</vt:lpstr>
      <vt:lpstr>   REPETITION (2)</vt:lpstr>
      <vt:lpstr>Outline</vt:lpstr>
      <vt:lpstr>1. The while Statement</vt:lpstr>
      <vt:lpstr>1. The while Statement</vt:lpstr>
      <vt:lpstr>1. The while Statement</vt:lpstr>
      <vt:lpstr>1. The while Statement</vt:lpstr>
      <vt:lpstr>1. The while Statement</vt:lpstr>
      <vt:lpstr>1. The while Statement</vt:lpstr>
      <vt:lpstr>1. The while Statement</vt:lpstr>
      <vt:lpstr>1.2.1 PROGRAMMING HINT</vt:lpstr>
      <vt:lpstr>1.2.1 PROGRAMMING HINT</vt:lpstr>
      <vt:lpstr>1. The while Statement</vt:lpstr>
      <vt:lpstr>1. The while Statement</vt:lpstr>
      <vt:lpstr>1. The while Statement</vt:lpstr>
      <vt:lpstr>1. The while Statement</vt:lpstr>
      <vt:lpstr>1. The while Statement</vt:lpstr>
      <vt:lpstr>1. The while Statement</vt:lpstr>
      <vt:lpstr>1. The while Statement</vt:lpstr>
      <vt:lpstr>1. The while Statement</vt:lpstr>
      <vt:lpstr>1. The while Statement</vt:lpstr>
      <vt:lpstr>1. The while Statement</vt:lpstr>
      <vt:lpstr>1. The while Statement</vt:lpstr>
      <vt:lpstr>Programming Example: Fibonacci Number</vt:lpstr>
      <vt:lpstr>Programming Example: Fibonacci Number</vt:lpstr>
      <vt:lpstr>Self-Check Exercises (1)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REPETITION (2)</dc:title>
  <dc:creator>Soha S.Zaghloul</dc:creator>
  <cp:lastModifiedBy>عبدالعزيز محمد دخيل الحميضي</cp:lastModifiedBy>
  <cp:revision>106</cp:revision>
  <dcterms:created xsi:type="dcterms:W3CDTF">2015-02-28T11:10:39Z</dcterms:created>
  <dcterms:modified xsi:type="dcterms:W3CDTF">2024-03-26T09:38:34Z</dcterms:modified>
</cp:coreProperties>
</file>