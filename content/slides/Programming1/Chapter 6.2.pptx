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4" r:id="rId9"/>
    <p:sldId id="262" r:id="rId10"/>
    <p:sldId id="266" r:id="rId11"/>
    <p:sldId id="267" r:id="rId12"/>
    <p:sldId id="274" r:id="rId13"/>
    <p:sldId id="272" r:id="rId14"/>
    <p:sldId id="273" r:id="rId15"/>
    <p:sldId id="275" r:id="rId16"/>
    <p:sldId id="279" r:id="rId17"/>
    <p:sldId id="277" r:id="rId18"/>
    <p:sldId id="276" r:id="rId19"/>
    <p:sldId id="278" r:id="rId20"/>
    <p:sldId id="280" r:id="rId21"/>
    <p:sldId id="281" r:id="rId22"/>
    <p:sldId id="282" r:id="rId23"/>
    <p:sldId id="283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33CC"/>
    <a:srgbClr val="FFFF99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50" d="100"/>
          <a:sy n="50" d="100"/>
        </p:scale>
        <p:origin x="-1090" y="-1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2AB164-E64D-4A2F-B98C-1009A1F1636B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0E8B85-83AE-4C25-BB17-15D7F490D0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85376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2A0DC6B-B57B-44D8-BBA0-5F5A16745A04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F18D2EA-A20A-41AF-964E-F2D5FF4735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2A0DC6B-B57B-44D8-BBA0-5F5A16745A04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F18D2EA-A20A-41AF-964E-F2D5FF4735D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2A0DC6B-B57B-44D8-BBA0-5F5A16745A04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F18D2EA-A20A-41AF-964E-F2D5FF4735D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2A0DC6B-B57B-44D8-BBA0-5F5A16745A04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F18D2EA-A20A-41AF-964E-F2D5FF4735D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2A0DC6B-B57B-44D8-BBA0-5F5A16745A04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F18D2EA-A20A-41AF-964E-F2D5FF4735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2A0DC6B-B57B-44D8-BBA0-5F5A16745A04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F18D2EA-A20A-41AF-964E-F2D5FF4735D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2A0DC6B-B57B-44D8-BBA0-5F5A16745A04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F18D2EA-A20A-41AF-964E-F2D5FF4735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2A0DC6B-B57B-44D8-BBA0-5F5A16745A04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F18D2EA-A20A-41AF-964E-F2D5FF4735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2A0DC6B-B57B-44D8-BBA0-5F5A16745A04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F18D2EA-A20A-41AF-964E-F2D5FF4735D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2A0DC6B-B57B-44D8-BBA0-5F5A16745A04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F18D2EA-A20A-41AF-964E-F2D5FF4735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2A0DC6B-B57B-44D8-BBA0-5F5A16745A04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F18D2EA-A20A-41AF-964E-F2D5FF4735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2A0DC6B-B57B-44D8-BBA0-5F5A16745A04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F18D2EA-A20A-41AF-964E-F2D5FF4735D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/>
          </p:cNvSpPr>
          <p:nvPr>
            <p:ph type="ctrTitle"/>
          </p:nvPr>
        </p:nvSpPr>
        <p:spPr>
          <a:xfrm>
            <a:off x="1019543" y="2276872"/>
            <a:ext cx="7872937" cy="1800200"/>
          </a:xfrm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anchor="b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5400" dirty="0">
                <a:solidFill>
                  <a:srgbClr val="C00000"/>
                </a:solidFill>
              </a:rPr>
              <a:t/>
            </a:r>
            <a:br>
              <a:rPr lang="en-US" sz="5400" dirty="0">
                <a:solidFill>
                  <a:srgbClr val="C00000"/>
                </a:solidFill>
              </a:rPr>
            </a:br>
            <a:r>
              <a:rPr lang="en-US" sz="5400" dirty="0">
                <a:solidFill>
                  <a:srgbClr val="C00000"/>
                </a:solidFill>
              </a:rPr>
              <a:t/>
            </a:r>
            <a:br>
              <a:rPr lang="en-US" sz="5400" dirty="0">
                <a:solidFill>
                  <a:srgbClr val="C00000"/>
                </a:solidFill>
              </a:rPr>
            </a:br>
            <a:r>
              <a:rPr lang="en-US" sz="5400" dirty="0" smtClean="0">
                <a:solidFill>
                  <a:srgbClr val="C00000"/>
                </a:solidFill>
              </a:rPr>
              <a:t>USER-DEFINED METHODS</a:t>
            </a:r>
            <a:endParaRPr lang="en-US" sz="5400" dirty="0">
              <a:solidFill>
                <a:srgbClr val="C00000"/>
              </a:solidFill>
            </a:endParaRPr>
          </a:p>
        </p:txBody>
      </p:sp>
      <p:sp>
        <p:nvSpPr>
          <p:cNvPr id="5" name="PPTShape_0"/>
          <p:cNvSpPr txBox="1">
            <a:spLocks/>
          </p:cNvSpPr>
          <p:nvPr/>
        </p:nvSpPr>
        <p:spPr>
          <a:xfrm>
            <a:off x="72008" y="5949280"/>
            <a:ext cx="1869423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defPPr>
              <a:defRPr lang="en-US"/>
            </a:defPPr>
            <a:lvl1pPr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Tahoma" charset="0"/>
                <a:ea typeface="ＭＳ Ｐゴシック" charset="0"/>
                <a:cs typeface="Arial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5pPr>
            <a:lvl6pPr defTabSz="457200">
              <a:defRPr>
                <a:latin typeface="Tahoma" charset="0"/>
                <a:ea typeface="ＭＳ Ｐゴシック" charset="0"/>
                <a:cs typeface="Arial" charset="0"/>
              </a:defRPr>
            </a:lvl6pPr>
            <a:lvl7pPr defTabSz="457200">
              <a:defRPr>
                <a:latin typeface="Tahoma" charset="0"/>
                <a:ea typeface="ＭＳ Ｐゴシック" charset="0"/>
                <a:cs typeface="Arial" charset="0"/>
              </a:defRPr>
            </a:lvl7pPr>
            <a:lvl8pPr defTabSz="457200">
              <a:defRPr>
                <a:latin typeface="Tahoma" charset="0"/>
                <a:ea typeface="ＭＳ Ｐゴシック" charset="0"/>
                <a:cs typeface="Arial" charset="0"/>
              </a:defRPr>
            </a:lvl8pPr>
            <a:lvl9pPr defTabSz="457200">
              <a:defRPr>
                <a:latin typeface="Tahoma" charset="0"/>
                <a:ea typeface="ＭＳ Ｐゴシック" charset="0"/>
                <a:cs typeface="Arial" charset="0"/>
              </a:defRPr>
            </a:lvl9pPr>
          </a:lstStyle>
          <a:p>
            <a:r>
              <a:rPr lang="en-US" dirty="0" smtClean="0"/>
              <a:t>CS 1301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131840" y="3933056"/>
            <a:ext cx="5760640" cy="1224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4000" dirty="0" smtClean="0">
                <a:solidFill>
                  <a:srgbClr val="00B0F0"/>
                </a:solidFill>
              </a:rPr>
              <a:t>Value-returning</a:t>
            </a:r>
            <a:endParaRPr lang="en-US" sz="40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59060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612648" y="1052736"/>
            <a:ext cx="8153400" cy="5616624"/>
          </a:xfrm>
          <a:prstGeom prst="foldedCorner">
            <a:avLst>
              <a:gd name="adj" fmla="val 3630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ahoma" charset="0"/>
                <a:cs typeface="Arial" charset="0"/>
              </a:rPr>
              <a:t>1. Introduction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ahoma" charset="0"/>
                <a:cs typeface="Arial" charset="0"/>
              </a:rPr>
              <a:t>2. The </a:t>
            </a:r>
            <a:r>
              <a:rPr lang="en-US" sz="2000" dirty="0" smtClean="0">
                <a:solidFill>
                  <a:srgbClr val="00B0F0"/>
                </a:solidFill>
                <a:latin typeface="Tahoma" charset="0"/>
                <a:cs typeface="Arial" charset="0"/>
              </a:rPr>
              <a:t>return </a:t>
            </a:r>
            <a:r>
              <a:rPr lang="en-US" sz="2000" dirty="0" smtClean="0">
                <a:latin typeface="Tahoma" charset="0"/>
                <a:cs typeface="Arial" charset="0"/>
              </a:rPr>
              <a:t>statement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ahoma" charset="0"/>
                <a:cs typeface="Arial" charset="0"/>
              </a:rPr>
              <a:t>3. Examples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ahoma" charset="0"/>
                <a:cs typeface="Arial" charset="0"/>
              </a:rPr>
              <a:t>4. Calling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ahoma" charset="0"/>
                <a:cs typeface="Arial" charset="0"/>
              </a:rPr>
              <a:t>5. Local variables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ahoma" charset="0"/>
                <a:cs typeface="Arial" charset="0"/>
              </a:rPr>
              <a:t>6. Important notes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ahoma" charset="0"/>
                <a:cs typeface="Arial" charset="0"/>
              </a:rPr>
              <a:t>7. Summary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ahoma" charset="0"/>
                <a:cs typeface="Arial" charset="0"/>
              </a:rPr>
              <a:t>8. Programming Examples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endParaRPr lang="en-US" sz="2000" dirty="0" smtClean="0">
              <a:latin typeface="Tahoma" charset="0"/>
              <a:cs typeface="Arial" charset="0"/>
            </a:endParaRP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endParaRPr lang="en-US" sz="2000" dirty="0" smtClean="0">
              <a:latin typeface="Tahoma" charset="0"/>
              <a:cs typeface="Arial" charset="0"/>
            </a:endParaRP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endParaRPr lang="en-US" sz="2000" dirty="0" smtClean="0">
              <a:latin typeface="Tahoma" charset="0"/>
              <a:cs typeface="Arial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Outline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747891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INTRODUCTION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23528" y="83671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contrast to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void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methods, value-returning methods have a data type.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3528" y="126876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other words, value-returning methods may be of type 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char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etc…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3528" y="1988757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following methods are examples of value-returning methods: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3528" y="2708754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u="sng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boolean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isLowerCase</a:t>
            </a:r>
            <a:r>
              <a:rPr lang="en-US" sz="2000" dirty="0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char </a:t>
            </a:r>
            <a:r>
              <a:rPr lang="en-US" sz="2000" dirty="0" err="1" smtClean="0"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3528" y="3120975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u="sng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long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round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 </a:t>
            </a:r>
            <a:r>
              <a:rPr lang="en-US" sz="2000" dirty="0" smtClean="0"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3528" y="353319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u="sng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char</a:t>
            </a:r>
            <a:r>
              <a:rPr lang="en-US" sz="2000" dirty="0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toUpperCase</a:t>
            </a:r>
            <a:r>
              <a:rPr lang="en-US" sz="2000" dirty="0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char </a:t>
            </a:r>
            <a:r>
              <a:rPr lang="en-US" sz="2000" dirty="0" err="1" smtClean="0"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3528" y="3945417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types of the previous pre-defined functions are 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boolean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and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char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respectively.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3528" y="4653136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other words, these methods calculate and return a </a:t>
            </a:r>
            <a:r>
              <a:rPr lang="en-US" sz="2000" u="sng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single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value whose type is the same as the method’s type.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3528" y="5373216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Remember that the complete method header of </a:t>
            </a:r>
            <a:r>
              <a:rPr lang="en-US" sz="2000" dirty="0" err="1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isLowerCase</a:t>
            </a:r>
            <a:r>
              <a:rPr lang="en-US" sz="2000" dirty="0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example is as follows: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3528" y="5981218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FF0000"/>
              </a:buClr>
            </a:pP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 static 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boolean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isLowerCase</a:t>
            </a:r>
            <a:r>
              <a:rPr lang="en-US" sz="2000" dirty="0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char </a:t>
            </a:r>
            <a:r>
              <a:rPr lang="en-US" sz="2000" dirty="0" err="1" smtClean="0"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97602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3" grpId="0"/>
      <p:bldP spid="24" grpId="0"/>
      <p:bldP spid="13" grpId="0"/>
      <p:bldP spid="14" grpId="0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</a:t>
            </a:r>
            <a:r>
              <a:rPr lang="en-US" sz="4000" dirty="0" smtClean="0">
                <a:solidFill>
                  <a:srgbClr val="00B0F0"/>
                </a:solidFill>
                <a:latin typeface="Tahoma" charset="0"/>
                <a:cs typeface="Arial" charset="0"/>
              </a:rPr>
              <a:t>return 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23528" y="836712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 value-returning method uses a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statement to return (pass) its value.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3528" y="3399093"/>
            <a:ext cx="8640960" cy="400110"/>
          </a:xfrm>
          <a:prstGeom prst="rect">
            <a:avLst/>
          </a:prstGeom>
          <a:solidFill>
            <a:srgbClr val="FFFF99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type of the returned expression is the same as the method’s type.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267744" y="1916832"/>
            <a:ext cx="5832648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B0F0"/>
                </a:solidFill>
              </a:rPr>
              <a:t>return </a:t>
            </a:r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expr;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27584" y="1916832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SYNTAX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23528" y="394525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statement is the last line executed in the method. After that, control is transferred back to the caller method (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main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example).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23528" y="285293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returned value may be variable, constant value or expression.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3528" y="4725144"/>
            <a:ext cx="8640960" cy="400110"/>
          </a:xfrm>
          <a:prstGeom prst="rect">
            <a:avLst/>
          </a:prstGeom>
          <a:solidFill>
            <a:srgbClr val="FFFF99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A return statement can return one value only. </a:t>
            </a:r>
          </a:p>
        </p:txBody>
      </p:sp>
    </p:spTree>
    <p:extLst>
      <p:ext uri="{BB962C8B-B14F-4D97-AF65-F5344CB8AC3E}">
        <p14:creationId xmlns="" xmlns:p14="http://schemas.microsoft.com/office/powerpoint/2010/main" val="313094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3" grpId="0" animBg="1"/>
      <p:bldP spid="15" grpId="0" animBg="1"/>
      <p:bldP spid="25" grpId="0" animBg="1"/>
      <p:bldP spid="26" grpId="0"/>
      <p:bldP spid="27" grpId="0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EXAMPLES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5</a:t>
            </a:fld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79512" y="1268760"/>
            <a:ext cx="8784977" cy="1779240"/>
            <a:chOff x="323528" y="1236822"/>
            <a:chExt cx="7848873" cy="1475983"/>
          </a:xfrm>
        </p:grpSpPr>
        <p:sp>
          <p:nvSpPr>
            <p:cNvPr id="21" name="TextBox 20"/>
            <p:cNvSpPr txBox="1"/>
            <p:nvPr/>
          </p:nvSpPr>
          <p:spPr>
            <a:xfrm>
              <a:off x="788528" y="1236822"/>
              <a:ext cx="7383873" cy="1475983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rgbClr val="00B0F0"/>
                  </a:solidFill>
                </a:rPr>
                <a:t>public static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calcAbsolute</a:t>
              </a:r>
              <a:r>
                <a:rPr lang="en-US" sz="1600" dirty="0" smtClean="0">
                  <a:solidFill>
                    <a:srgbClr val="0000FF"/>
                  </a:solidFill>
                </a:rPr>
                <a:t> </a:t>
              </a:r>
              <a:r>
                <a:rPr lang="en-US" sz="1600" dirty="0" smtClean="0"/>
                <a:t>(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number</a:t>
              </a:r>
              <a:r>
                <a:rPr lang="en-US" sz="1600" dirty="0" smtClean="0"/>
                <a:t>)</a:t>
              </a:r>
            </a:p>
            <a:p>
              <a:r>
                <a:rPr lang="en-US" sz="1600" dirty="0" smtClean="0"/>
                <a:t>{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</a:t>
              </a:r>
              <a:r>
                <a:rPr lang="en-US" sz="1600" dirty="0" smtClean="0">
                  <a:solidFill>
                    <a:srgbClr val="00B0F0"/>
                  </a:solidFill>
                </a:rPr>
                <a:t>if</a:t>
              </a:r>
              <a:r>
                <a:rPr lang="en-US" sz="1600" dirty="0" smtClean="0"/>
                <a:t> (</a:t>
              </a:r>
              <a:r>
                <a:rPr lang="en-US" sz="1600" dirty="0" smtClean="0">
                  <a:solidFill>
                    <a:srgbClr val="FF33CC"/>
                  </a:solidFill>
                </a:rPr>
                <a:t>number</a:t>
              </a:r>
              <a:r>
                <a:rPr lang="en-US" sz="1600" dirty="0" smtClean="0"/>
                <a:t> &lt; 0)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</a:t>
              </a:r>
              <a:r>
                <a:rPr lang="en-US" sz="1600" dirty="0" smtClean="0">
                  <a:solidFill>
                    <a:srgbClr val="FF33CC"/>
                  </a:solidFill>
                </a:rPr>
                <a:t>number </a:t>
              </a:r>
              <a:r>
                <a:rPr lang="en-US" sz="1600" dirty="0" smtClean="0"/>
                <a:t>= -</a:t>
              </a:r>
              <a:r>
                <a:rPr lang="en-US" sz="1600" dirty="0" smtClean="0">
                  <a:solidFill>
                    <a:srgbClr val="FF33CC"/>
                  </a:solidFill>
                </a:rPr>
                <a:t>number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 smtClean="0"/>
                <a:t>   </a:t>
              </a:r>
              <a:r>
                <a:rPr lang="en-US" sz="1600" dirty="0" smtClean="0">
                  <a:solidFill>
                    <a:srgbClr val="00B0F0"/>
                  </a:solidFill>
                </a:rPr>
                <a:t>return</a:t>
              </a:r>
              <a:r>
                <a:rPr lang="en-US" sz="1600" dirty="0" smtClean="0"/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number</a:t>
              </a:r>
              <a:r>
                <a:rPr lang="en-US" sz="1600" dirty="0" smtClean="0"/>
                <a:t>;  </a:t>
              </a:r>
            </a:p>
            <a:p>
              <a:r>
                <a:rPr lang="en-US" sz="1600" dirty="0" smtClean="0"/>
                <a:t>}</a:t>
              </a:r>
              <a:r>
                <a:rPr lang="en-US" sz="1600" dirty="0" smtClean="0">
                  <a:solidFill>
                    <a:srgbClr val="00B050"/>
                  </a:solidFill>
                </a:rPr>
                <a:t> //end of abs</a:t>
              </a:r>
              <a:endParaRPr lang="en-US" sz="1600" dirty="0">
                <a:solidFill>
                  <a:srgbClr val="00B050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3528" y="1236822"/>
              <a:ext cx="450344" cy="1475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6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3528" y="74289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User-defined method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calcAbsolute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may have the following definition: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3528" y="3368606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User-defined method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maximum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returns the largest of three integer numbers: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179512" y="4145012"/>
            <a:ext cx="8784977" cy="2560588"/>
            <a:chOff x="323528" y="1236822"/>
            <a:chExt cx="7848873" cy="2170565"/>
          </a:xfrm>
        </p:grpSpPr>
        <p:sp>
          <p:nvSpPr>
            <p:cNvPr id="25" name="TextBox 24"/>
            <p:cNvSpPr txBox="1"/>
            <p:nvPr/>
          </p:nvSpPr>
          <p:spPr>
            <a:xfrm>
              <a:off x="788528" y="1236822"/>
              <a:ext cx="7383873" cy="217056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rgbClr val="00B0F0"/>
                  </a:solidFill>
                </a:rPr>
                <a:t>public static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maximum </a:t>
              </a:r>
              <a:r>
                <a:rPr lang="en-US" sz="1600" dirty="0" smtClean="0"/>
                <a:t>(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num1</a:t>
              </a:r>
              <a:r>
                <a:rPr lang="en-US" sz="1600" dirty="0" smtClean="0"/>
                <a:t>,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num2</a:t>
              </a:r>
              <a:r>
                <a:rPr lang="en-US" sz="1600" dirty="0" smtClean="0"/>
                <a:t>,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num3</a:t>
              </a:r>
              <a:r>
                <a:rPr lang="en-US" sz="1600" dirty="0" smtClean="0"/>
                <a:t>)</a:t>
              </a:r>
            </a:p>
            <a:p>
              <a:r>
                <a:rPr lang="en-US" sz="1600" dirty="0" smtClean="0"/>
                <a:t>{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/>
                <a:t> max = </a:t>
              </a:r>
              <a:r>
                <a:rPr lang="en-US" sz="1600" dirty="0" smtClean="0">
                  <a:solidFill>
                    <a:srgbClr val="FF33CC"/>
                  </a:solidFill>
                </a:rPr>
                <a:t>num1</a:t>
              </a:r>
              <a:r>
                <a:rPr lang="en-US" sz="1600" dirty="0" smtClean="0"/>
                <a:t>; 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</a:t>
              </a:r>
              <a:r>
                <a:rPr lang="en-US" sz="1600" dirty="0" smtClean="0">
                  <a:solidFill>
                    <a:srgbClr val="00B0F0"/>
                  </a:solidFill>
                </a:rPr>
                <a:t>if</a:t>
              </a:r>
              <a:r>
                <a:rPr lang="en-US" sz="1600" dirty="0" smtClean="0"/>
                <a:t> (</a:t>
              </a:r>
              <a:r>
                <a:rPr lang="en-US" sz="1600" dirty="0" smtClean="0">
                  <a:solidFill>
                    <a:srgbClr val="FF33CC"/>
                  </a:solidFill>
                </a:rPr>
                <a:t>num2</a:t>
              </a:r>
              <a:r>
                <a:rPr lang="en-US" sz="1600" dirty="0" smtClean="0"/>
                <a:t> &gt; max)</a:t>
              </a:r>
            </a:p>
            <a:p>
              <a:r>
                <a:rPr lang="en-US" sz="1600" dirty="0" smtClean="0"/>
                <a:t>      max = </a:t>
              </a:r>
              <a:r>
                <a:rPr lang="en-US" sz="1600" dirty="0" smtClean="0">
                  <a:solidFill>
                    <a:srgbClr val="FF33CC"/>
                  </a:solidFill>
                </a:rPr>
                <a:t>num2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</a:t>
              </a:r>
              <a:r>
                <a:rPr lang="en-US" sz="1600" dirty="0" smtClean="0">
                  <a:solidFill>
                    <a:srgbClr val="00B0F0"/>
                  </a:solidFill>
                </a:rPr>
                <a:t>if</a:t>
              </a:r>
              <a:r>
                <a:rPr lang="en-US" sz="1600" dirty="0" smtClean="0"/>
                <a:t> (</a:t>
              </a:r>
              <a:r>
                <a:rPr lang="en-US" sz="1600" dirty="0" smtClean="0">
                  <a:solidFill>
                    <a:srgbClr val="FF33CC"/>
                  </a:solidFill>
                </a:rPr>
                <a:t>num3 </a:t>
              </a:r>
              <a:r>
                <a:rPr lang="en-US" sz="1600" dirty="0" smtClean="0"/>
                <a:t>&gt; max)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max = </a:t>
              </a:r>
              <a:r>
                <a:rPr lang="en-US" sz="1600" dirty="0" smtClean="0">
                  <a:solidFill>
                    <a:srgbClr val="FF33CC"/>
                  </a:solidFill>
                </a:rPr>
                <a:t>num3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 smtClean="0"/>
                <a:t>   </a:t>
              </a:r>
              <a:r>
                <a:rPr lang="en-US" sz="1600" dirty="0" smtClean="0">
                  <a:solidFill>
                    <a:srgbClr val="00B0F0"/>
                  </a:solidFill>
                </a:rPr>
                <a:t>return</a:t>
              </a:r>
              <a:r>
                <a:rPr lang="en-US" sz="1600" dirty="0" smtClean="0"/>
                <a:t> max;</a:t>
              </a:r>
            </a:p>
            <a:p>
              <a:r>
                <a:rPr lang="en-US" sz="1600" dirty="0" smtClean="0"/>
                <a:t>}</a:t>
              </a:r>
              <a:r>
                <a:rPr lang="en-US" sz="1600" dirty="0" smtClean="0">
                  <a:solidFill>
                    <a:srgbClr val="00B050"/>
                  </a:solidFill>
                </a:rPr>
                <a:t> //end of maximum</a:t>
              </a:r>
              <a:endParaRPr lang="en-US" sz="1600" dirty="0">
                <a:solidFill>
                  <a:srgbClr val="00B050"/>
                </a:solidFill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23528" y="1236822"/>
              <a:ext cx="450344" cy="2170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9</a:t>
              </a:r>
            </a:p>
          </p:txBody>
        </p:sp>
      </p:grpSp>
      <p:sp>
        <p:nvSpPr>
          <p:cNvPr id="29" name="Rectangle 28"/>
          <p:cNvSpPr/>
          <p:nvPr/>
        </p:nvSpPr>
        <p:spPr>
          <a:xfrm>
            <a:off x="683568" y="2288416"/>
            <a:ext cx="8280919" cy="226184"/>
          </a:xfrm>
          <a:prstGeom prst="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Callout 27"/>
          <p:cNvSpPr/>
          <p:nvPr/>
        </p:nvSpPr>
        <p:spPr>
          <a:xfrm>
            <a:off x="6732240" y="1443700"/>
            <a:ext cx="1944216" cy="653152"/>
          </a:xfrm>
          <a:prstGeom prst="wedgeEllipseCallout">
            <a:avLst>
              <a:gd name="adj1" fmla="val -140658"/>
              <a:gd name="adj2" fmla="val -52923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000FF"/>
                </a:solidFill>
              </a:rPr>
              <a:t>Method header</a:t>
            </a:r>
            <a:endParaRPr lang="en-US" sz="1400" dirty="0">
              <a:solidFill>
                <a:srgbClr val="00B0F0"/>
              </a:solidFill>
            </a:endParaRPr>
          </a:p>
        </p:txBody>
      </p:sp>
      <p:sp>
        <p:nvSpPr>
          <p:cNvPr id="30" name="Oval Callout 29"/>
          <p:cNvSpPr/>
          <p:nvPr/>
        </p:nvSpPr>
        <p:spPr>
          <a:xfrm>
            <a:off x="4267200" y="1828800"/>
            <a:ext cx="2448272" cy="990600"/>
          </a:xfrm>
          <a:prstGeom prst="wedgeEllipseCallout">
            <a:avLst>
              <a:gd name="adj1" fmla="val -114540"/>
              <a:gd name="adj2" fmla="val 9570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000FF"/>
                </a:solidFill>
              </a:rPr>
              <a:t>Method type is </a:t>
            </a:r>
            <a:r>
              <a:rPr lang="en-US" sz="1400" dirty="0" err="1" smtClean="0">
                <a:solidFill>
                  <a:srgbClr val="00B0F0"/>
                </a:solidFill>
              </a:rPr>
              <a:t>int</a:t>
            </a:r>
            <a:r>
              <a:rPr lang="en-US" sz="1400" dirty="0" smtClean="0">
                <a:solidFill>
                  <a:srgbClr val="00B0F0"/>
                </a:solidFill>
              </a:rPr>
              <a:t> </a:t>
            </a:r>
            <a:r>
              <a:rPr lang="en-US" sz="1400" dirty="0" smtClean="0">
                <a:solidFill>
                  <a:srgbClr val="0000FF"/>
                </a:solidFill>
                <a:sym typeface="Wingdings" panose="05000000000000000000" pitchFamily="2" charset="2"/>
              </a:rPr>
              <a:t> </a:t>
            </a:r>
            <a:r>
              <a:rPr lang="en-US" sz="1400" dirty="0" smtClean="0">
                <a:solidFill>
                  <a:srgbClr val="00B0F0"/>
                </a:solidFill>
                <a:sym typeface="Wingdings" panose="05000000000000000000" pitchFamily="2" charset="2"/>
              </a:rPr>
              <a:t>return</a:t>
            </a:r>
            <a:r>
              <a:rPr lang="en-US" sz="1400" dirty="0" smtClean="0">
                <a:solidFill>
                  <a:srgbClr val="0000FF"/>
                </a:solidFill>
                <a:sym typeface="Wingdings" panose="05000000000000000000" pitchFamily="2" charset="2"/>
              </a:rPr>
              <a:t> an </a:t>
            </a:r>
            <a:r>
              <a:rPr lang="en-US" sz="1400" dirty="0" err="1" smtClean="0">
                <a:solidFill>
                  <a:srgbClr val="00B0F0"/>
                </a:solidFill>
                <a:sym typeface="Wingdings" panose="05000000000000000000" pitchFamily="2" charset="2"/>
              </a:rPr>
              <a:t>int</a:t>
            </a:r>
            <a:r>
              <a:rPr lang="en-US" sz="1400" dirty="0" smtClean="0">
                <a:solidFill>
                  <a:srgbClr val="00B0F0"/>
                </a:solidFill>
                <a:sym typeface="Wingdings" panose="05000000000000000000" pitchFamily="2" charset="2"/>
              </a:rPr>
              <a:t> </a:t>
            </a:r>
            <a:r>
              <a:rPr lang="en-US" sz="1400" dirty="0" smtClean="0">
                <a:solidFill>
                  <a:srgbClr val="0000FF"/>
                </a:solidFill>
                <a:sym typeface="Wingdings" panose="05000000000000000000" pitchFamily="2" charset="2"/>
              </a:rPr>
              <a:t>variable</a:t>
            </a:r>
            <a:endParaRPr lang="en-US" sz="1400" dirty="0">
              <a:solidFill>
                <a:srgbClr val="00B0F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83568" y="4174924"/>
            <a:ext cx="8280919" cy="22618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Callout 22"/>
          <p:cNvSpPr/>
          <p:nvPr/>
        </p:nvSpPr>
        <p:spPr>
          <a:xfrm>
            <a:off x="7275984" y="4720064"/>
            <a:ext cx="1563216" cy="653152"/>
          </a:xfrm>
          <a:prstGeom prst="wedgeEllipseCallout">
            <a:avLst>
              <a:gd name="adj1" fmla="val -89809"/>
              <a:gd name="adj2" fmla="val -113261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000FF"/>
                </a:solidFill>
              </a:rPr>
              <a:t>Method header</a:t>
            </a:r>
            <a:endParaRPr lang="en-US" sz="1400" dirty="0">
              <a:solidFill>
                <a:srgbClr val="00B0F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83568" y="5904451"/>
            <a:ext cx="8280919" cy="226184"/>
          </a:xfrm>
          <a:prstGeom prst="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Callout 30"/>
          <p:cNvSpPr/>
          <p:nvPr/>
        </p:nvSpPr>
        <p:spPr>
          <a:xfrm>
            <a:off x="4572000" y="5625480"/>
            <a:ext cx="2448272" cy="1003920"/>
          </a:xfrm>
          <a:prstGeom prst="wedgeEllipseCallout">
            <a:avLst>
              <a:gd name="adj1" fmla="val -131517"/>
              <a:gd name="adj2" fmla="val -12127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000FF"/>
                </a:solidFill>
              </a:rPr>
              <a:t>Method type is </a:t>
            </a:r>
            <a:r>
              <a:rPr lang="en-US" sz="1400" dirty="0" err="1" smtClean="0">
                <a:solidFill>
                  <a:srgbClr val="00B0F0"/>
                </a:solidFill>
              </a:rPr>
              <a:t>int</a:t>
            </a:r>
            <a:r>
              <a:rPr lang="en-US" sz="1400" dirty="0" smtClean="0">
                <a:solidFill>
                  <a:srgbClr val="00B0F0"/>
                </a:solidFill>
              </a:rPr>
              <a:t> </a:t>
            </a:r>
            <a:r>
              <a:rPr lang="en-US" sz="1400" dirty="0" smtClean="0">
                <a:solidFill>
                  <a:srgbClr val="0000FF"/>
                </a:solidFill>
                <a:sym typeface="Wingdings" panose="05000000000000000000" pitchFamily="2" charset="2"/>
              </a:rPr>
              <a:t> </a:t>
            </a:r>
            <a:r>
              <a:rPr lang="en-US" sz="1400" dirty="0" smtClean="0">
                <a:solidFill>
                  <a:srgbClr val="00B0F0"/>
                </a:solidFill>
                <a:sym typeface="Wingdings" panose="05000000000000000000" pitchFamily="2" charset="2"/>
              </a:rPr>
              <a:t>return</a:t>
            </a:r>
            <a:r>
              <a:rPr lang="en-US" sz="1400" dirty="0" smtClean="0">
                <a:solidFill>
                  <a:srgbClr val="0000FF"/>
                </a:solidFill>
                <a:sym typeface="Wingdings" panose="05000000000000000000" pitchFamily="2" charset="2"/>
              </a:rPr>
              <a:t> an </a:t>
            </a:r>
            <a:r>
              <a:rPr lang="en-US" sz="1400" dirty="0" err="1" smtClean="0">
                <a:solidFill>
                  <a:srgbClr val="00B0F0"/>
                </a:solidFill>
                <a:sym typeface="Wingdings" panose="05000000000000000000" pitchFamily="2" charset="2"/>
              </a:rPr>
              <a:t>int</a:t>
            </a:r>
            <a:r>
              <a:rPr lang="en-US" sz="1400" dirty="0" smtClean="0">
                <a:solidFill>
                  <a:srgbClr val="00B0F0"/>
                </a:solidFill>
                <a:sym typeface="Wingdings" panose="05000000000000000000" pitchFamily="2" charset="2"/>
              </a:rPr>
              <a:t> </a:t>
            </a:r>
            <a:r>
              <a:rPr lang="en-US" sz="1400" dirty="0" smtClean="0">
                <a:solidFill>
                  <a:srgbClr val="0000FF"/>
                </a:solidFill>
                <a:sym typeface="Wingdings" panose="05000000000000000000" pitchFamily="2" charset="2"/>
              </a:rPr>
              <a:t>variable</a:t>
            </a:r>
            <a:endParaRPr lang="en-US" sz="1400" dirty="0">
              <a:solidFill>
                <a:srgbClr val="00B0F0"/>
              </a:solidFill>
            </a:endParaRPr>
          </a:p>
        </p:txBody>
      </p:sp>
      <p:sp>
        <p:nvSpPr>
          <p:cNvPr id="32" name="Oval Callout 31"/>
          <p:cNvSpPr/>
          <p:nvPr/>
        </p:nvSpPr>
        <p:spPr>
          <a:xfrm>
            <a:off x="4343400" y="4495800"/>
            <a:ext cx="2448272" cy="990600"/>
          </a:xfrm>
          <a:prstGeom prst="wedgeEllipseCallout">
            <a:avLst>
              <a:gd name="adj1" fmla="val -116849"/>
              <a:gd name="adj2" fmla="val -15163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000FF"/>
                </a:solidFill>
              </a:rPr>
              <a:t>max </a:t>
            </a:r>
            <a:r>
              <a:rPr lang="en-US" sz="1400" dirty="0" smtClean="0">
                <a:solidFill>
                  <a:schemeClr val="tx1"/>
                </a:solidFill>
              </a:rPr>
              <a:t>is a variable local to the method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39234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29" grpId="0" animBg="1"/>
      <p:bldP spid="28" grpId="0" animBg="1"/>
      <p:bldP spid="30" grpId="0" animBg="1"/>
      <p:bldP spid="18" grpId="0" animBg="1"/>
      <p:bldP spid="23" grpId="0" animBg="1"/>
      <p:bldP spid="24" grpId="0" animBg="1"/>
      <p:bldP spid="31" grpId="0" animBg="1"/>
      <p:bldP spid="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4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CALLING 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>
          <a:xfrm>
            <a:off x="8763000" y="6477000"/>
            <a:ext cx="365760" cy="365125"/>
          </a:xfrm>
        </p:spPr>
        <p:txBody>
          <a:bodyPr/>
          <a:lstStyle/>
          <a:p>
            <a:fld id="{DA934484-767D-4C48-AF0E-A1438A969E5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EXAMPLE 1</a:t>
            </a:r>
            <a:endParaRPr lang="en-US" b="1" dirty="0"/>
          </a:p>
        </p:txBody>
      </p:sp>
      <p:cxnSp>
        <p:nvCxnSpPr>
          <p:cNvPr id="22" name="Straight Connector 21"/>
          <p:cNvCxnSpPr/>
          <p:nvPr/>
        </p:nvCxnSpPr>
        <p:spPr>
          <a:xfrm>
            <a:off x="0" y="121920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179513" y="1730499"/>
            <a:ext cx="8507288" cy="4975101"/>
            <a:chOff x="323528" y="1236822"/>
            <a:chExt cx="7848873" cy="4717368"/>
          </a:xfrm>
        </p:grpSpPr>
        <p:sp>
          <p:nvSpPr>
            <p:cNvPr id="24" name="TextBox 23"/>
            <p:cNvSpPr txBox="1"/>
            <p:nvPr/>
          </p:nvSpPr>
          <p:spPr>
            <a:xfrm>
              <a:off x="788528" y="1236822"/>
              <a:ext cx="7383873" cy="471736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rgbClr val="00B0F0"/>
                  </a:solidFill>
                </a:rPr>
                <a:t>public class </a:t>
              </a:r>
              <a:r>
                <a:rPr lang="en-US" sz="1600" dirty="0" smtClean="0">
                  <a:solidFill>
                    <a:srgbClr val="0000FF"/>
                  </a:solidFill>
                </a:rPr>
                <a:t>calling1</a:t>
              </a:r>
            </a:p>
            <a:p>
              <a:r>
                <a:rPr lang="en-US" sz="1600" dirty="0" smtClean="0"/>
                <a:t>{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</a:t>
              </a:r>
              <a:r>
                <a:rPr lang="en-US" sz="1600" dirty="0" smtClean="0">
                  <a:solidFill>
                    <a:srgbClr val="00B0F0"/>
                  </a:solidFill>
                </a:rPr>
                <a:t>public static void main </a:t>
              </a:r>
              <a:r>
                <a:rPr lang="en-US" sz="1600" dirty="0" smtClean="0"/>
                <a:t>(</a:t>
              </a:r>
              <a:r>
                <a:rPr lang="en-US" sz="1600" dirty="0" smtClean="0">
                  <a:solidFill>
                    <a:srgbClr val="00B0F0"/>
                  </a:solidFill>
                </a:rPr>
                <a:t>String[]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args</a:t>
              </a:r>
              <a:r>
                <a:rPr lang="en-US" sz="1600" dirty="0" smtClean="0"/>
                <a:t>)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{</a:t>
              </a: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    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x </a:t>
              </a:r>
              <a:r>
                <a:rPr lang="en-US" sz="1600" dirty="0" smtClean="0"/>
                <a:t>= -5,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y</a:t>
              </a:r>
              <a:r>
                <a:rPr lang="en-US" sz="1600" dirty="0" smtClean="0"/>
                <a:t> = 3, </a:t>
              </a:r>
              <a:r>
                <a:rPr lang="en-US" sz="1600" dirty="0" smtClean="0">
                  <a:solidFill>
                    <a:srgbClr val="0000FF"/>
                  </a:solidFill>
                </a:rPr>
                <a:t>z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/>
                <a:t>= 0, </a:t>
              </a:r>
              <a:r>
                <a:rPr lang="en-US" sz="1600" dirty="0" smtClean="0">
                  <a:solidFill>
                    <a:srgbClr val="0000FF"/>
                  </a:solidFill>
                </a:rPr>
                <a:t>smallest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  </a:t>
              </a:r>
              <a:r>
                <a:rPr lang="en-US" sz="1600" dirty="0" smtClean="0">
                  <a:solidFill>
                    <a:srgbClr val="0000FF"/>
                  </a:solidFill>
                </a:rPr>
                <a:t>smallest </a:t>
              </a:r>
              <a:r>
                <a:rPr lang="en-US" sz="1600" dirty="0" smtClean="0"/>
                <a:t>=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minimum</a:t>
              </a:r>
              <a:r>
                <a:rPr lang="en-US" sz="1600" dirty="0" smtClean="0"/>
                <a:t>(</a:t>
              </a:r>
              <a:r>
                <a:rPr lang="en-US" sz="1600" dirty="0" smtClean="0">
                  <a:solidFill>
                    <a:srgbClr val="0000FF"/>
                  </a:solidFill>
                </a:rPr>
                <a:t>x</a:t>
              </a:r>
              <a:r>
                <a:rPr lang="en-US" sz="1600" dirty="0" smtClean="0"/>
                <a:t>,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y</a:t>
              </a:r>
              <a:r>
                <a:rPr lang="en-US" sz="1600" dirty="0" smtClean="0"/>
                <a:t>,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z</a:t>
              </a:r>
              <a:r>
                <a:rPr lang="en-US" sz="1600" dirty="0" smtClean="0"/>
                <a:t>);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</a:t>
              </a:r>
              <a:r>
                <a:rPr lang="en-US" sz="1600" dirty="0" err="1" smtClean="0"/>
                <a:t>System.out.printf</a:t>
              </a:r>
              <a:r>
                <a:rPr lang="en-US" sz="1600" dirty="0" smtClean="0"/>
                <a:t> (“Smallest number = %d”,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smallest</a:t>
              </a:r>
              <a:r>
                <a:rPr lang="en-US" sz="1600" dirty="0" smtClean="0"/>
                <a:t>);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}</a:t>
              </a:r>
              <a:r>
                <a:rPr lang="en-US" sz="1600" dirty="0" smtClean="0">
                  <a:solidFill>
                    <a:srgbClr val="00B050"/>
                  </a:solidFill>
                </a:rPr>
                <a:t> //end main</a:t>
              </a:r>
            </a:p>
            <a:p>
              <a:endParaRPr lang="en-US" sz="1600" dirty="0" smtClean="0">
                <a:solidFill>
                  <a:srgbClr val="00B050"/>
                </a:solidFill>
              </a:endParaRPr>
            </a:p>
            <a:p>
              <a:r>
                <a:rPr lang="en-US" sz="1600" dirty="0" smtClean="0">
                  <a:solidFill>
                    <a:srgbClr val="00B050"/>
                  </a:solidFill>
                </a:rPr>
                <a:t>// returns the minimum of three integers</a:t>
              </a:r>
              <a:endParaRPr lang="en-US" sz="1600" dirty="0">
                <a:solidFill>
                  <a:srgbClr val="00B050"/>
                </a:solidFill>
              </a:endParaRP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   public static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minimum</a:t>
              </a:r>
              <a:r>
                <a:rPr lang="en-US" sz="1600" dirty="0" smtClean="0"/>
                <a:t>(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num1</a:t>
              </a:r>
              <a:r>
                <a:rPr lang="en-US" sz="1600" dirty="0" smtClean="0"/>
                <a:t>,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num2</a:t>
              </a:r>
              <a:r>
                <a:rPr lang="en-US" sz="1600" dirty="0" smtClean="0"/>
                <a:t>,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num3</a:t>
              </a:r>
              <a:r>
                <a:rPr lang="en-US" sz="1600" dirty="0" smtClean="0"/>
                <a:t>)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{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 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min</a:t>
              </a:r>
              <a:r>
                <a:rPr lang="en-US" sz="1600" dirty="0" smtClean="0"/>
                <a:t> =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num1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  if </a:t>
              </a:r>
              <a:r>
                <a:rPr lang="en-US" sz="1600" dirty="0" smtClean="0"/>
                <a:t>(</a:t>
              </a:r>
              <a:r>
                <a:rPr lang="en-US" sz="1600" dirty="0" smtClean="0">
                  <a:solidFill>
                    <a:srgbClr val="FF33CC"/>
                  </a:solidFill>
                </a:rPr>
                <a:t>num2 </a:t>
              </a:r>
              <a:r>
                <a:rPr lang="en-US" sz="1600" dirty="0" smtClean="0"/>
                <a:t>&lt;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min</a:t>
              </a:r>
              <a:r>
                <a:rPr lang="en-US" sz="1600" dirty="0" smtClean="0"/>
                <a:t>)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     </a:t>
              </a:r>
              <a:r>
                <a:rPr lang="en-US" sz="1600" dirty="0" smtClean="0">
                  <a:solidFill>
                    <a:srgbClr val="0000FF"/>
                  </a:solidFill>
                </a:rPr>
                <a:t>min </a:t>
              </a:r>
              <a:r>
                <a:rPr lang="en-US" sz="1600" dirty="0" smtClean="0"/>
                <a:t>= </a:t>
              </a:r>
              <a:r>
                <a:rPr lang="en-US" sz="1600" dirty="0" smtClean="0">
                  <a:solidFill>
                    <a:srgbClr val="FF33CC"/>
                  </a:solidFill>
                </a:rPr>
                <a:t>num2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  if </a:t>
              </a:r>
              <a:r>
                <a:rPr lang="en-US" sz="1600" dirty="0" smtClean="0"/>
                <a:t>(</a:t>
              </a:r>
              <a:r>
                <a:rPr lang="en-US" sz="1600" dirty="0" smtClean="0">
                  <a:solidFill>
                    <a:srgbClr val="FF33CC"/>
                  </a:solidFill>
                </a:rPr>
                <a:t>num3 </a:t>
              </a:r>
              <a:r>
                <a:rPr lang="en-US" sz="1600" dirty="0" smtClean="0"/>
                <a:t>&lt; </a:t>
              </a:r>
              <a:r>
                <a:rPr lang="en-US" sz="1600" dirty="0" smtClean="0">
                  <a:solidFill>
                    <a:srgbClr val="0000FF"/>
                  </a:solidFill>
                </a:rPr>
                <a:t>min</a:t>
              </a:r>
              <a:r>
                <a:rPr lang="en-US" sz="1600" dirty="0" smtClean="0"/>
                <a:t>)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     </a:t>
              </a:r>
              <a:r>
                <a:rPr lang="en-US" sz="1600" dirty="0" smtClean="0">
                  <a:solidFill>
                    <a:srgbClr val="0000FF"/>
                  </a:solidFill>
                </a:rPr>
                <a:t>min </a:t>
              </a:r>
              <a:r>
                <a:rPr lang="en-US" sz="1600" dirty="0" smtClean="0"/>
                <a:t>=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num3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  return </a:t>
              </a:r>
              <a:r>
                <a:rPr lang="en-US" sz="1600" dirty="0" smtClean="0">
                  <a:solidFill>
                    <a:srgbClr val="0000FF"/>
                  </a:solidFill>
                </a:rPr>
                <a:t>min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</a:t>
              </a:r>
              <a:r>
                <a:rPr lang="en-US" sz="1600" dirty="0" smtClean="0"/>
                <a:t>}</a:t>
              </a:r>
            </a:p>
            <a:p>
              <a:r>
                <a:rPr lang="en-US" sz="1600" dirty="0" smtClean="0"/>
                <a:t> }</a:t>
              </a:r>
              <a:endParaRPr lang="en-US" sz="1600" dirty="0" smtClean="0">
                <a:solidFill>
                  <a:srgbClr val="00B050"/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23528" y="1236822"/>
              <a:ext cx="450344" cy="47173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1516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20</a:t>
              </a:r>
            </a:p>
          </p:txBody>
        </p:sp>
      </p:grpSp>
      <p:sp>
        <p:nvSpPr>
          <p:cNvPr id="29" name="Oval Callout 28"/>
          <p:cNvSpPr/>
          <p:nvPr/>
        </p:nvSpPr>
        <p:spPr>
          <a:xfrm>
            <a:off x="6553200" y="4800600"/>
            <a:ext cx="2448272" cy="685800"/>
          </a:xfrm>
          <a:prstGeom prst="wedgeEllipseCallout">
            <a:avLst>
              <a:gd name="adj1" fmla="val -47195"/>
              <a:gd name="adj2" fmla="val -111334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Method header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83569" y="2971790"/>
            <a:ext cx="8280919" cy="257546"/>
          </a:xfrm>
          <a:prstGeom prst="rect">
            <a:avLst/>
          </a:prstGeom>
          <a:solidFill>
            <a:schemeClr val="accent2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Callout 32"/>
          <p:cNvSpPr/>
          <p:nvPr/>
        </p:nvSpPr>
        <p:spPr>
          <a:xfrm>
            <a:off x="5922352" y="2209800"/>
            <a:ext cx="3221648" cy="1152128"/>
          </a:xfrm>
          <a:prstGeom prst="wedgeEllipseCallout">
            <a:avLst>
              <a:gd name="adj1" fmla="val -95433"/>
              <a:gd name="adj2" fmla="val 29116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The result of the method </a:t>
            </a:r>
            <a:r>
              <a:rPr lang="en-US" sz="1400" dirty="0" smtClean="0">
                <a:solidFill>
                  <a:srgbClr val="0000FF"/>
                </a:solidFill>
              </a:rPr>
              <a:t>minimum </a:t>
            </a:r>
            <a:r>
              <a:rPr lang="en-US" sz="1400" dirty="0" smtClean="0">
                <a:solidFill>
                  <a:schemeClr val="tx1"/>
                </a:solidFill>
              </a:rPr>
              <a:t>(</a:t>
            </a:r>
            <a:r>
              <a:rPr lang="en-US" sz="1400" dirty="0" smtClean="0">
                <a:solidFill>
                  <a:srgbClr val="0000FF"/>
                </a:solidFill>
              </a:rPr>
              <a:t>min </a:t>
            </a:r>
            <a:r>
              <a:rPr lang="en-US" sz="1400" dirty="0" smtClean="0">
                <a:solidFill>
                  <a:schemeClr val="tx1"/>
                </a:solidFill>
              </a:rPr>
              <a:t>in the </a:t>
            </a:r>
            <a:r>
              <a:rPr lang="en-US" sz="1400" dirty="0" smtClean="0">
                <a:solidFill>
                  <a:srgbClr val="00B0F0"/>
                </a:solidFill>
              </a:rPr>
              <a:t>return </a:t>
            </a:r>
            <a:r>
              <a:rPr lang="en-US" sz="1400" dirty="0" smtClean="0">
                <a:solidFill>
                  <a:schemeClr val="tx1"/>
                </a:solidFill>
              </a:rPr>
              <a:t>statement) is stored in </a:t>
            </a:r>
            <a:r>
              <a:rPr lang="en-US" sz="1400" dirty="0" smtClean="0">
                <a:solidFill>
                  <a:srgbClr val="0000FF"/>
                </a:solidFill>
              </a:rPr>
              <a:t>smallest</a:t>
            </a:r>
            <a:r>
              <a:rPr lang="en-US" sz="1400" dirty="0" smtClean="0">
                <a:solidFill>
                  <a:schemeClr val="tx1"/>
                </a:solidFill>
              </a:rPr>
              <a:t>.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5" name="Oval Callout 34"/>
          <p:cNvSpPr/>
          <p:nvPr/>
        </p:nvSpPr>
        <p:spPr>
          <a:xfrm>
            <a:off x="6705600" y="1219200"/>
            <a:ext cx="2295872" cy="1030213"/>
          </a:xfrm>
          <a:prstGeom prst="wedgeEllipseCallout">
            <a:avLst>
              <a:gd name="adj1" fmla="val -165559"/>
              <a:gd name="adj2" fmla="val 130621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000FF"/>
                </a:solidFill>
              </a:rPr>
              <a:t>The actual parameters x, y, z got values in line 6.</a:t>
            </a:r>
            <a:endParaRPr lang="en-US" sz="1400" dirty="0">
              <a:solidFill>
                <a:srgbClr val="FF33CC"/>
              </a:solidFill>
            </a:endParaRPr>
          </a:p>
        </p:txBody>
      </p:sp>
      <p:sp>
        <p:nvSpPr>
          <p:cNvPr id="36" name="Oval Callout 35"/>
          <p:cNvSpPr/>
          <p:nvPr/>
        </p:nvSpPr>
        <p:spPr>
          <a:xfrm>
            <a:off x="3352800" y="4724400"/>
            <a:ext cx="3024336" cy="914400"/>
          </a:xfrm>
          <a:prstGeom prst="wedgeEllipseCallout">
            <a:avLst>
              <a:gd name="adj1" fmla="val -23361"/>
              <a:gd name="adj2" fmla="val -79973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X corresponds to num1;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 y corresponds to num2; 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z corresponds to num3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0" y="127629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value-returning method is used as if it was a variable.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14321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9" grpId="0" animBg="1"/>
      <p:bldP spid="30" grpId="0" animBg="1"/>
      <p:bldP spid="33" grpId="0" animBg="1"/>
      <p:bldP spid="35" grpId="0" animBg="1"/>
      <p:bldP spid="36" grpId="0" animBg="1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4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CALLING 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>
          <a:xfrm>
            <a:off x="8610600" y="6400800"/>
            <a:ext cx="365760" cy="365125"/>
          </a:xfrm>
        </p:spPr>
        <p:txBody>
          <a:bodyPr/>
          <a:lstStyle/>
          <a:p>
            <a:fld id="{DA934484-767D-4C48-AF0E-A1438A969E59}" type="slidenum">
              <a:rPr lang="en-US" sz="2000" smtClean="0"/>
              <a:pPr/>
              <a:t>7</a:t>
            </a:fld>
            <a:endParaRPr lang="en-US" sz="2000" dirty="0"/>
          </a:p>
        </p:txBody>
      </p:sp>
      <p:sp>
        <p:nvSpPr>
          <p:cNvPr id="34" name="TextBox 33"/>
          <p:cNvSpPr txBox="1"/>
          <p:nvPr/>
        </p:nvSpPr>
        <p:spPr>
          <a:xfrm>
            <a:off x="228600" y="990600"/>
            <a:ext cx="8640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When calling a value-returning method, it can be used as: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28600" y="1715869"/>
            <a:ext cx="864096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0" lvl="3" indent="-4572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right-hand side of an assignment statement.</a:t>
            </a:r>
          </a:p>
          <a:p>
            <a:pPr marL="1828800" lvl="3" indent="-457200">
              <a:buClr>
                <a:srgbClr val="FF0000"/>
              </a:buClr>
            </a:pPr>
            <a:r>
              <a:rPr lang="en-US" dirty="0" smtClean="0">
                <a:solidFill>
                  <a:srgbClr val="0000FF"/>
                </a:solidFill>
              </a:rPr>
              <a:t>	smallest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00B0F0"/>
                </a:solidFill>
              </a:rPr>
              <a:t> </a:t>
            </a:r>
            <a:r>
              <a:rPr lang="en-US" dirty="0" smtClean="0">
                <a:solidFill>
                  <a:srgbClr val="0000FF"/>
                </a:solidFill>
              </a:rPr>
              <a:t>minimum</a:t>
            </a:r>
            <a:r>
              <a:rPr lang="en-US" dirty="0" smtClean="0"/>
              <a:t>(</a:t>
            </a:r>
            <a:r>
              <a:rPr lang="en-US" dirty="0" smtClean="0">
                <a:solidFill>
                  <a:srgbClr val="0000FF"/>
                </a:solidFill>
              </a:rPr>
              <a:t>x</a:t>
            </a:r>
            <a:r>
              <a:rPr lang="en-US" dirty="0" smtClean="0"/>
              <a:t>,</a:t>
            </a:r>
            <a:r>
              <a:rPr lang="en-US" dirty="0" smtClean="0">
                <a:solidFill>
                  <a:srgbClr val="00B0F0"/>
                </a:solidFill>
              </a:rPr>
              <a:t> </a:t>
            </a:r>
            <a:r>
              <a:rPr lang="en-US" dirty="0" smtClean="0">
                <a:solidFill>
                  <a:srgbClr val="0000FF"/>
                </a:solidFill>
              </a:rPr>
              <a:t>y</a:t>
            </a:r>
            <a:r>
              <a:rPr lang="en-US" dirty="0" smtClean="0"/>
              <a:t>,</a:t>
            </a:r>
            <a:r>
              <a:rPr lang="en-US" dirty="0" smtClean="0">
                <a:solidFill>
                  <a:srgbClr val="00B0F0"/>
                </a:solidFill>
              </a:rPr>
              <a:t> </a:t>
            </a:r>
            <a:r>
              <a:rPr lang="en-US" dirty="0" smtClean="0">
                <a:solidFill>
                  <a:srgbClr val="0000FF"/>
                </a:solidFill>
              </a:rPr>
              <a:t>z</a:t>
            </a:r>
            <a:r>
              <a:rPr lang="en-US" dirty="0" smtClean="0"/>
              <a:t>);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28600" y="2608258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0" lvl="3" indent="-4572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an output statement.</a:t>
            </a:r>
            <a:r>
              <a:rPr lang="en-US" sz="2000" dirty="0" smtClean="0">
                <a:solidFill>
                  <a:srgbClr val="0000FF"/>
                </a:solidFill>
              </a:rPr>
              <a:t> </a:t>
            </a:r>
          </a:p>
          <a:p>
            <a:pPr marL="1828800" lvl="3" indent="-457200">
              <a:buClr>
                <a:srgbClr val="FF0000"/>
              </a:buClr>
            </a:pPr>
            <a:r>
              <a:rPr lang="en-US" sz="2000" dirty="0" smtClean="0">
                <a:solidFill>
                  <a:srgbClr val="0000FF"/>
                </a:solidFill>
              </a:rPr>
              <a:t>	</a:t>
            </a:r>
            <a:r>
              <a:rPr lang="en-US" dirty="0" err="1" smtClean="0">
                <a:solidFill>
                  <a:srgbClr val="0000FF"/>
                </a:solidFill>
              </a:rPr>
              <a:t>System.out.printf</a:t>
            </a:r>
            <a:r>
              <a:rPr lang="en-US" dirty="0" smtClean="0">
                <a:solidFill>
                  <a:srgbClr val="0000FF"/>
                </a:solidFill>
              </a:rPr>
              <a:t> ("Smallest number = %d\n", minimum(7, 3, 10));</a:t>
            </a:r>
            <a:endParaRPr lang="en-US" sz="20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828800" lvl="3" indent="-457200">
              <a:buClr>
                <a:srgbClr val="FF0000"/>
              </a:buClr>
              <a:buFont typeface="Courier New" panose="02070309020205020404" pitchFamily="49" charset="0"/>
              <a:buChar char="o"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8600" y="3690228"/>
            <a:ext cx="864096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0" lvl="3" indent="-4572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an arithmetic operation.</a:t>
            </a:r>
          </a:p>
          <a:p>
            <a:pPr marL="1828800" lvl="3" indent="-457200">
              <a:buClr>
                <a:srgbClr val="FF0000"/>
              </a:buClr>
            </a:pP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pl-PL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 w = y + minimum(3, 2, 1);</a:t>
            </a:r>
            <a:endParaRPr lang="en-US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28600" y="4743018"/>
            <a:ext cx="86409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0" lvl="3" indent="-4572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a condition or a relational operation.</a:t>
            </a:r>
          </a:p>
          <a:p>
            <a:pPr marL="1828800" lvl="3" indent="-457200">
              <a:buClr>
                <a:srgbClr val="FF0000"/>
              </a:buClr>
            </a:pP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if( minimum(score1, score2, score3) &lt; 60 )</a:t>
            </a:r>
          </a:p>
          <a:p>
            <a:pPr marL="1828800" lvl="3" indent="-457200">
              <a:buClr>
                <a:srgbClr val="FF0000"/>
              </a:buClr>
            </a:pP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            </a:t>
            </a:r>
            <a:r>
              <a:rPr lang="en-US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System.out.println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("you should solve more exercises"); </a:t>
            </a:r>
            <a:endParaRPr lang="en-US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84569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8" grpId="0"/>
      <p:bldP spid="43" grpId="0"/>
      <p:bldP spid="44" grpId="0"/>
      <p:bldP spid="4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4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CALLING 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EXAMPLE 1 : TAKE CARE…!!</a:t>
            </a:r>
            <a:endParaRPr lang="en-US" b="1" dirty="0"/>
          </a:p>
        </p:txBody>
      </p:sp>
      <p:cxnSp>
        <p:nvCxnSpPr>
          <p:cNvPr id="22" name="Straight Connector 21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179512" y="1340768"/>
            <a:ext cx="8784977" cy="5047536"/>
            <a:chOff x="323528" y="1236822"/>
            <a:chExt cx="7848873" cy="4746310"/>
          </a:xfrm>
        </p:grpSpPr>
        <p:sp>
          <p:nvSpPr>
            <p:cNvPr id="24" name="TextBox 23"/>
            <p:cNvSpPr txBox="1"/>
            <p:nvPr/>
          </p:nvSpPr>
          <p:spPr>
            <a:xfrm>
              <a:off x="788528" y="1236822"/>
              <a:ext cx="7383873" cy="474631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dirty="0" smtClean="0"/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public class </a:t>
              </a:r>
              <a:r>
                <a:rPr lang="en-US" sz="1400" dirty="0" smtClean="0">
                  <a:solidFill>
                    <a:srgbClr val="0000FF"/>
                  </a:solidFill>
                </a:rPr>
                <a:t>calling2</a:t>
              </a:r>
            </a:p>
            <a:p>
              <a:r>
                <a:rPr lang="en-US" sz="1400" dirty="0" smtClean="0"/>
                <a:t>{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</a:t>
              </a:r>
              <a:r>
                <a:rPr lang="en-US" sz="1400" dirty="0" smtClean="0">
                  <a:solidFill>
                    <a:srgbClr val="00B0F0"/>
                  </a:solidFill>
                </a:rPr>
                <a:t>public static void main </a:t>
              </a:r>
              <a:r>
                <a:rPr lang="en-US" sz="1400" dirty="0" smtClean="0"/>
                <a:t>(</a:t>
              </a:r>
              <a:r>
                <a:rPr lang="en-US" sz="1400" dirty="0" smtClean="0">
                  <a:solidFill>
                    <a:srgbClr val="00B0F0"/>
                  </a:solidFill>
                </a:rPr>
                <a:t>String[]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args</a:t>
              </a:r>
              <a:r>
                <a:rPr lang="en-US" sz="1400" dirty="0" smtClean="0"/>
                <a:t>)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{</a:t>
              </a: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 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x </a:t>
              </a:r>
              <a:r>
                <a:rPr lang="en-US" sz="1400" dirty="0" smtClean="0"/>
                <a:t>= -5,</a:t>
              </a:r>
              <a:r>
                <a:rPr lang="en-US" sz="1400" dirty="0" smtClean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y</a:t>
              </a:r>
              <a:r>
                <a:rPr lang="en-US" sz="1400" dirty="0" smtClean="0"/>
                <a:t> = 3, </a:t>
              </a:r>
              <a:r>
                <a:rPr lang="en-US" sz="1400" dirty="0" smtClean="0">
                  <a:solidFill>
                    <a:srgbClr val="0000FF"/>
                  </a:solidFill>
                </a:rPr>
                <a:t>z</a:t>
              </a:r>
              <a:r>
                <a:rPr lang="en-US" sz="1400" dirty="0" smtClean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/>
                <a:t>= 0;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>
                  <a:solidFill>
                    <a:srgbClr val="00B0F0"/>
                  </a:solidFill>
                </a:rPr>
                <a:t>   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smallest</a:t>
              </a:r>
              <a:r>
                <a:rPr lang="en-US" sz="1400" dirty="0" smtClean="0"/>
                <a:t>;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>
                  <a:solidFill>
                    <a:srgbClr val="00B0F0"/>
                  </a:solidFill>
                </a:rPr>
                <a:t>    </a:t>
              </a:r>
              <a:r>
                <a:rPr lang="en-US" sz="1400" dirty="0" smtClean="0">
                  <a:solidFill>
                    <a:srgbClr val="0000FF"/>
                  </a:solidFill>
                </a:rPr>
                <a:t>smallest </a:t>
              </a:r>
              <a:r>
                <a:rPr lang="en-US" sz="1400" dirty="0" smtClean="0"/>
                <a:t>=</a:t>
              </a:r>
              <a:r>
                <a:rPr lang="en-US" sz="1400" dirty="0" smtClean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minimum</a:t>
              </a:r>
              <a:r>
                <a:rPr lang="en-US" sz="1400" dirty="0" smtClean="0"/>
                <a:t>(</a:t>
              </a:r>
              <a:r>
                <a:rPr lang="en-US" sz="1400" dirty="0" smtClean="0">
                  <a:solidFill>
                    <a:srgbClr val="0000FF"/>
                  </a:solidFill>
                </a:rPr>
                <a:t>x</a:t>
              </a:r>
              <a:r>
                <a:rPr lang="en-US" sz="1400" dirty="0" smtClean="0"/>
                <a:t>,</a:t>
              </a:r>
              <a:r>
                <a:rPr lang="en-US" sz="1400" dirty="0" smtClean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y</a:t>
              </a:r>
              <a:r>
                <a:rPr lang="en-US" sz="1400" dirty="0" smtClean="0"/>
                <a:t>,</a:t>
              </a:r>
              <a:r>
                <a:rPr lang="en-US" sz="1400" dirty="0" smtClean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z</a:t>
              </a:r>
              <a:r>
                <a:rPr lang="en-US" sz="1400" dirty="0" smtClean="0"/>
                <a:t>);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</a:t>
              </a:r>
              <a:r>
                <a:rPr lang="en-US" sz="1400" dirty="0" err="1" smtClean="0"/>
                <a:t>System.out.printf</a:t>
              </a:r>
              <a:r>
                <a:rPr lang="en-US" sz="1400" dirty="0" smtClean="0"/>
                <a:t> (“Smallest number = %d”,</a:t>
              </a:r>
              <a:r>
                <a:rPr lang="en-US" sz="1400" dirty="0" smtClean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smallest</a:t>
              </a:r>
              <a:r>
                <a:rPr lang="en-US" sz="1400" dirty="0" smtClean="0"/>
                <a:t>);</a:t>
              </a:r>
            </a:p>
            <a:p>
              <a:r>
                <a:rPr lang="en-US" sz="1400" dirty="0" smtClean="0"/>
                <a:t>     </a:t>
              </a:r>
              <a:r>
                <a:rPr lang="en-US" sz="1400" dirty="0" err="1"/>
                <a:t>System.out.printf</a:t>
              </a:r>
              <a:r>
                <a:rPr lang="en-US" sz="1400" dirty="0"/>
                <a:t> (“Smallest number = %d”,</a:t>
              </a:r>
              <a:r>
                <a:rPr lang="en-US" sz="1400" dirty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min</a:t>
              </a:r>
              <a:r>
                <a:rPr lang="en-US" sz="1400" dirty="0" smtClean="0"/>
                <a:t>);      </a:t>
              </a:r>
            </a:p>
            <a:p>
              <a:r>
                <a:rPr lang="en-US" sz="1400" dirty="0" smtClean="0"/>
                <a:t>     </a:t>
              </a:r>
              <a:r>
                <a:rPr lang="en-US" sz="1400" dirty="0" err="1"/>
                <a:t>System.out.printf</a:t>
              </a:r>
              <a:r>
                <a:rPr lang="en-US" sz="1400" dirty="0"/>
                <a:t> (“Smallest number = %d”,</a:t>
              </a:r>
              <a:r>
                <a:rPr lang="en-US" sz="1400" dirty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minimum(x</a:t>
              </a:r>
              <a:r>
                <a:rPr lang="en-US" sz="1400" dirty="0" smtClean="0"/>
                <a:t>,</a:t>
              </a:r>
              <a:r>
                <a:rPr lang="en-US" sz="1400" dirty="0" smtClean="0">
                  <a:solidFill>
                    <a:srgbClr val="0000FF"/>
                  </a:solidFill>
                </a:rPr>
                <a:t> y</a:t>
              </a:r>
              <a:r>
                <a:rPr lang="en-US" sz="1400" dirty="0" smtClean="0"/>
                <a:t>,</a:t>
              </a:r>
              <a:r>
                <a:rPr lang="en-US" sz="1400" dirty="0" smtClean="0">
                  <a:solidFill>
                    <a:srgbClr val="0000FF"/>
                  </a:solidFill>
                </a:rPr>
                <a:t> z</a:t>
              </a:r>
              <a:r>
                <a:rPr lang="en-US" sz="1400" dirty="0" smtClean="0"/>
                <a:t>));</a:t>
              </a:r>
            </a:p>
            <a:p>
              <a:r>
                <a:rPr lang="en-US" sz="1400" dirty="0" smtClean="0"/>
                <a:t>   }</a:t>
              </a:r>
              <a:r>
                <a:rPr lang="en-US" sz="1400" dirty="0" smtClean="0">
                  <a:solidFill>
                    <a:srgbClr val="00B050"/>
                  </a:solidFill>
                </a:rPr>
                <a:t> //end main</a:t>
              </a:r>
            </a:p>
            <a:p>
              <a:r>
                <a:rPr lang="en-US" sz="1400" dirty="0" smtClean="0">
                  <a:solidFill>
                    <a:srgbClr val="00B050"/>
                  </a:solidFill>
                </a:rPr>
                <a:t>// returns the minimum of three integers</a:t>
              </a:r>
              <a:endParaRPr lang="en-US" sz="1400" dirty="0">
                <a:solidFill>
                  <a:srgbClr val="00B050"/>
                </a:solidFill>
              </a:endParaRP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public static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minimum</a:t>
              </a:r>
              <a:r>
                <a:rPr lang="en-US" sz="1400" dirty="0" smtClean="0"/>
                <a:t>(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>
                  <a:solidFill>
                    <a:srgbClr val="FF33CC"/>
                  </a:solidFill>
                </a:rPr>
                <a:t>num1</a:t>
              </a:r>
              <a:r>
                <a:rPr lang="en-US" sz="1400" dirty="0" smtClean="0"/>
                <a:t>,</a:t>
              </a:r>
              <a:r>
                <a:rPr lang="en-US" sz="1400" dirty="0" smtClean="0">
                  <a:solidFill>
                    <a:srgbClr val="00B0F0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>
                  <a:solidFill>
                    <a:srgbClr val="FF33CC"/>
                  </a:solidFill>
                </a:rPr>
                <a:t>num2</a:t>
              </a:r>
              <a:r>
                <a:rPr lang="en-US" sz="1400" dirty="0" smtClean="0"/>
                <a:t>,</a:t>
              </a:r>
              <a:r>
                <a:rPr lang="en-US" sz="1400" dirty="0" smtClean="0">
                  <a:solidFill>
                    <a:srgbClr val="00B0F0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>
                  <a:solidFill>
                    <a:srgbClr val="FF33CC"/>
                  </a:solidFill>
                </a:rPr>
                <a:t>num3</a:t>
              </a:r>
              <a:r>
                <a:rPr lang="en-US" sz="1400" dirty="0" smtClean="0"/>
                <a:t>)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{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>
                  <a:solidFill>
                    <a:srgbClr val="00B0F0"/>
                  </a:solidFill>
                </a:rPr>
                <a:t>   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min</a:t>
              </a:r>
              <a:r>
                <a:rPr lang="en-US" sz="1400" dirty="0" smtClean="0"/>
                <a:t> =</a:t>
              </a:r>
              <a:r>
                <a:rPr lang="en-US" sz="1400" dirty="0" smtClean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>
                  <a:solidFill>
                    <a:srgbClr val="FF33CC"/>
                  </a:solidFill>
                </a:rPr>
                <a:t>num1</a:t>
              </a:r>
              <a:r>
                <a:rPr lang="en-US" sz="1400" dirty="0" smtClean="0"/>
                <a:t>;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>
                  <a:solidFill>
                    <a:srgbClr val="00B0F0"/>
                  </a:solidFill>
                </a:rPr>
                <a:t>    if </a:t>
              </a:r>
              <a:r>
                <a:rPr lang="en-US" sz="1400" dirty="0" smtClean="0"/>
                <a:t>(</a:t>
              </a:r>
              <a:r>
                <a:rPr lang="en-US" sz="1400" dirty="0" smtClean="0">
                  <a:solidFill>
                    <a:srgbClr val="FF33CC"/>
                  </a:solidFill>
                </a:rPr>
                <a:t>num2 </a:t>
              </a:r>
              <a:r>
                <a:rPr lang="en-US" sz="1400" dirty="0" smtClean="0"/>
                <a:t>&lt;</a:t>
              </a:r>
              <a:r>
                <a:rPr lang="en-US" sz="1400" dirty="0" smtClean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min</a:t>
              </a:r>
              <a:r>
                <a:rPr lang="en-US" sz="1400" dirty="0" smtClean="0"/>
                <a:t>)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>
                  <a:solidFill>
                    <a:srgbClr val="00B0F0"/>
                  </a:solidFill>
                </a:rPr>
                <a:t>       </a:t>
              </a:r>
              <a:r>
                <a:rPr lang="en-US" sz="1400" dirty="0" smtClean="0">
                  <a:solidFill>
                    <a:srgbClr val="0000FF"/>
                  </a:solidFill>
                </a:rPr>
                <a:t>min </a:t>
              </a:r>
              <a:r>
                <a:rPr lang="en-US" sz="1400" dirty="0" smtClean="0"/>
                <a:t>= </a:t>
              </a:r>
              <a:r>
                <a:rPr lang="en-US" sz="1400" dirty="0" smtClean="0">
                  <a:solidFill>
                    <a:srgbClr val="FF33CC"/>
                  </a:solidFill>
                </a:rPr>
                <a:t>num2</a:t>
              </a:r>
              <a:r>
                <a:rPr lang="en-US" sz="1400" dirty="0" smtClean="0"/>
                <a:t>;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>
                  <a:solidFill>
                    <a:srgbClr val="00B0F0"/>
                  </a:solidFill>
                </a:rPr>
                <a:t>    if </a:t>
              </a:r>
              <a:r>
                <a:rPr lang="en-US" sz="1400" dirty="0" smtClean="0"/>
                <a:t>(</a:t>
              </a:r>
              <a:r>
                <a:rPr lang="en-US" sz="1400" dirty="0" smtClean="0">
                  <a:solidFill>
                    <a:srgbClr val="FF33CC"/>
                  </a:solidFill>
                </a:rPr>
                <a:t>num3 </a:t>
              </a:r>
              <a:r>
                <a:rPr lang="en-US" sz="1400" dirty="0" smtClean="0"/>
                <a:t>&lt; </a:t>
              </a:r>
              <a:r>
                <a:rPr lang="en-US" sz="1400" dirty="0" smtClean="0">
                  <a:solidFill>
                    <a:srgbClr val="0000FF"/>
                  </a:solidFill>
                </a:rPr>
                <a:t>min</a:t>
              </a:r>
              <a:r>
                <a:rPr lang="en-US" sz="1400" dirty="0" smtClean="0"/>
                <a:t>)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>
                  <a:solidFill>
                    <a:srgbClr val="00B0F0"/>
                  </a:solidFill>
                </a:rPr>
                <a:t>       </a:t>
              </a:r>
              <a:r>
                <a:rPr lang="en-US" sz="1400" dirty="0" smtClean="0">
                  <a:solidFill>
                    <a:srgbClr val="0000FF"/>
                  </a:solidFill>
                </a:rPr>
                <a:t>min </a:t>
              </a:r>
              <a:r>
                <a:rPr lang="en-US" sz="1400" dirty="0" smtClean="0"/>
                <a:t>=</a:t>
              </a:r>
              <a:r>
                <a:rPr lang="en-US" sz="1400" dirty="0" smtClean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>
                  <a:solidFill>
                    <a:srgbClr val="FF33CC"/>
                  </a:solidFill>
                </a:rPr>
                <a:t>num3</a:t>
              </a:r>
              <a:r>
                <a:rPr lang="en-US" sz="1400" dirty="0" smtClean="0"/>
                <a:t>;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>
                  <a:solidFill>
                    <a:srgbClr val="00B0F0"/>
                  </a:solidFill>
                </a:rPr>
                <a:t>    return </a:t>
              </a:r>
              <a:r>
                <a:rPr lang="en-US" sz="1400" dirty="0" smtClean="0">
                  <a:solidFill>
                    <a:srgbClr val="0000FF"/>
                  </a:solidFill>
                </a:rPr>
                <a:t>min</a:t>
              </a:r>
              <a:r>
                <a:rPr lang="en-US" sz="1400" dirty="0" smtClean="0"/>
                <a:t>;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>
                  <a:solidFill>
                    <a:srgbClr val="00B0F0"/>
                  </a:solidFill>
                </a:rPr>
                <a:t>  </a:t>
              </a:r>
              <a:r>
                <a:rPr lang="en-US" sz="1400" dirty="0" smtClean="0"/>
                <a:t>}</a:t>
              </a:r>
              <a:r>
                <a:rPr lang="en-US" sz="1400" dirty="0" smtClean="0">
                  <a:solidFill>
                    <a:srgbClr val="00B050"/>
                  </a:solidFill>
                </a:rPr>
                <a:t> //end minimum</a:t>
              </a:r>
            </a:p>
            <a:p>
              <a:r>
                <a:rPr lang="en-US" sz="1400" dirty="0" smtClean="0"/>
                <a:t>}</a:t>
              </a:r>
              <a:r>
                <a:rPr lang="en-US" sz="1400" dirty="0" smtClean="0">
                  <a:solidFill>
                    <a:srgbClr val="00B0F0"/>
                  </a:solidFill>
                </a:rPr>
                <a:t> </a:t>
              </a:r>
              <a:r>
                <a:rPr lang="en-US" sz="1400" dirty="0" smtClean="0">
                  <a:solidFill>
                    <a:srgbClr val="00B050"/>
                  </a:solidFill>
                </a:rPr>
                <a:t>//end class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23528" y="1236822"/>
              <a:ext cx="450344" cy="4746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en-US" sz="1400" dirty="0" smtClean="0">
                <a:solidFill>
                  <a:srgbClr val="FF0000"/>
                </a:solidFill>
              </a:endParaRP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1516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22</a:t>
              </a:r>
            </a:p>
          </p:txBody>
        </p:sp>
      </p:grpSp>
      <p:sp>
        <p:nvSpPr>
          <p:cNvPr id="30" name="Rectangle 29"/>
          <p:cNvSpPr/>
          <p:nvPr/>
        </p:nvSpPr>
        <p:spPr>
          <a:xfrm>
            <a:off x="683569" y="3284984"/>
            <a:ext cx="8280919" cy="257546"/>
          </a:xfrm>
          <a:prstGeom prst="rect">
            <a:avLst/>
          </a:prstGeom>
          <a:solidFill>
            <a:srgbClr val="FFC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/>
          <p:cNvCxnSpPr/>
          <p:nvPr/>
        </p:nvCxnSpPr>
        <p:spPr>
          <a:xfrm>
            <a:off x="971600" y="3413757"/>
            <a:ext cx="439248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Callout 17"/>
          <p:cNvSpPr/>
          <p:nvPr/>
        </p:nvSpPr>
        <p:spPr>
          <a:xfrm>
            <a:off x="5364088" y="4581128"/>
            <a:ext cx="2448272" cy="936104"/>
          </a:xfrm>
          <a:prstGeom prst="wedgeEllipseCallout">
            <a:avLst>
              <a:gd name="adj1" fmla="val -39883"/>
              <a:gd name="adj2" fmla="val -148558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Line 11: Correct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83568" y="3501008"/>
            <a:ext cx="8280919" cy="22618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Callout 14"/>
          <p:cNvSpPr/>
          <p:nvPr/>
        </p:nvSpPr>
        <p:spPr>
          <a:xfrm>
            <a:off x="6573704" y="3645024"/>
            <a:ext cx="2448272" cy="936104"/>
          </a:xfrm>
          <a:prstGeom prst="wedgeEllipseCallout">
            <a:avLst>
              <a:gd name="adj1" fmla="val -42102"/>
              <a:gd name="adj2" fmla="val -76990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Line 10:ERROR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50799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0" grpId="0" animBg="1"/>
      <p:bldP spid="18" grpId="0" animBg="1"/>
      <p:bldP spid="19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323528" y="6033482"/>
            <a:ext cx="8640960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statement passes the value of a local variable (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min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this example) to the caller method (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main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example).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5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LOCAL VARIABLES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23528" y="83671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Let us re-consider the previous method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minimum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3528" y="357301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Variables declared </a:t>
            </a:r>
            <a:r>
              <a:rPr lang="en-US" sz="2000" u="sng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inside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method are known as 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local variables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179512" y="1236822"/>
            <a:ext cx="8784977" cy="2308324"/>
            <a:chOff x="323528" y="1236822"/>
            <a:chExt cx="7848873" cy="2170565"/>
          </a:xfrm>
        </p:grpSpPr>
        <p:sp>
          <p:nvSpPr>
            <p:cNvPr id="25" name="TextBox 24"/>
            <p:cNvSpPr txBox="1"/>
            <p:nvPr/>
          </p:nvSpPr>
          <p:spPr>
            <a:xfrm>
              <a:off x="788528" y="1236822"/>
              <a:ext cx="7383873" cy="217056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rgbClr val="00B0F0"/>
                  </a:solidFill>
                </a:rPr>
                <a:t>public static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minimum </a:t>
              </a:r>
              <a:r>
                <a:rPr lang="en-US" sz="1600" dirty="0" smtClean="0"/>
                <a:t>(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num1</a:t>
              </a:r>
              <a:r>
                <a:rPr lang="en-US" sz="1600" dirty="0" smtClean="0"/>
                <a:t>,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num2</a:t>
              </a:r>
              <a:r>
                <a:rPr lang="en-US" sz="1600" dirty="0" smtClean="0"/>
                <a:t>,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num3</a:t>
              </a:r>
              <a:r>
                <a:rPr lang="en-US" sz="1600" dirty="0" smtClean="0"/>
                <a:t>)</a:t>
              </a:r>
            </a:p>
            <a:p>
              <a:r>
                <a:rPr lang="en-US" sz="1600" dirty="0" smtClean="0"/>
                <a:t>{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/>
                <a:t> min = </a:t>
              </a:r>
              <a:r>
                <a:rPr lang="en-US" sz="1600" dirty="0" smtClean="0">
                  <a:solidFill>
                    <a:srgbClr val="FF33CC"/>
                  </a:solidFill>
                </a:rPr>
                <a:t>num1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</a:t>
              </a:r>
              <a:r>
                <a:rPr lang="en-US" sz="1600" dirty="0" smtClean="0">
                  <a:solidFill>
                    <a:srgbClr val="00B0F0"/>
                  </a:solidFill>
                </a:rPr>
                <a:t>if</a:t>
              </a:r>
              <a:r>
                <a:rPr lang="en-US" sz="1600" dirty="0" smtClean="0"/>
                <a:t> (</a:t>
              </a:r>
              <a:r>
                <a:rPr lang="en-US" sz="1600" dirty="0" smtClean="0">
                  <a:solidFill>
                    <a:srgbClr val="FF33CC"/>
                  </a:solidFill>
                </a:rPr>
                <a:t>num2</a:t>
              </a:r>
              <a:r>
                <a:rPr lang="en-US" sz="1600" dirty="0" smtClean="0"/>
                <a:t> &lt; min)</a:t>
              </a:r>
            </a:p>
            <a:p>
              <a:r>
                <a:rPr lang="en-US" sz="1600" dirty="0" smtClean="0"/>
                <a:t>      min = </a:t>
              </a:r>
              <a:r>
                <a:rPr lang="en-US" sz="1600" dirty="0" smtClean="0">
                  <a:solidFill>
                    <a:srgbClr val="FF33CC"/>
                  </a:solidFill>
                </a:rPr>
                <a:t>num2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</a:t>
              </a:r>
              <a:r>
                <a:rPr lang="en-US" sz="1600" dirty="0" smtClean="0">
                  <a:solidFill>
                    <a:srgbClr val="00B0F0"/>
                  </a:solidFill>
                </a:rPr>
                <a:t>if</a:t>
              </a:r>
              <a:r>
                <a:rPr lang="en-US" sz="1600" dirty="0" smtClean="0"/>
                <a:t> (</a:t>
              </a:r>
              <a:r>
                <a:rPr lang="en-US" sz="1600" dirty="0" smtClean="0">
                  <a:solidFill>
                    <a:srgbClr val="FF33CC"/>
                  </a:solidFill>
                </a:rPr>
                <a:t>num3 </a:t>
              </a:r>
              <a:r>
                <a:rPr lang="en-US" sz="1600" dirty="0" smtClean="0"/>
                <a:t>&lt; min)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min = </a:t>
              </a:r>
              <a:r>
                <a:rPr lang="en-US" sz="1600" dirty="0" smtClean="0">
                  <a:solidFill>
                    <a:srgbClr val="FF33CC"/>
                  </a:solidFill>
                </a:rPr>
                <a:t>num3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 smtClean="0"/>
                <a:t>   </a:t>
              </a:r>
              <a:r>
                <a:rPr lang="en-US" sz="1600" dirty="0" smtClean="0">
                  <a:solidFill>
                    <a:srgbClr val="00B0F0"/>
                  </a:solidFill>
                </a:rPr>
                <a:t>return</a:t>
              </a:r>
              <a:r>
                <a:rPr lang="en-US" sz="1600" dirty="0" smtClean="0"/>
                <a:t> min;</a:t>
              </a:r>
            </a:p>
            <a:p>
              <a:r>
                <a:rPr lang="en-US" sz="1600" dirty="0" smtClean="0"/>
                <a:t>}</a:t>
              </a:r>
              <a:r>
                <a:rPr lang="en-US" sz="1600" dirty="0" smtClean="0">
                  <a:solidFill>
                    <a:srgbClr val="00B050"/>
                  </a:solidFill>
                </a:rPr>
                <a:t> //end minimum</a:t>
              </a:r>
              <a:endParaRPr lang="en-US" sz="1600" dirty="0">
                <a:solidFill>
                  <a:srgbClr val="00B050"/>
                </a:solidFill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23528" y="1236822"/>
              <a:ext cx="450344" cy="2170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9</a:t>
              </a:r>
            </a:p>
          </p:txBody>
        </p:sp>
      </p:grpSp>
      <p:sp>
        <p:nvSpPr>
          <p:cNvPr id="32" name="Rectangle 31"/>
          <p:cNvSpPr/>
          <p:nvPr/>
        </p:nvSpPr>
        <p:spPr>
          <a:xfrm>
            <a:off x="683568" y="1762656"/>
            <a:ext cx="8280919" cy="22618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Callout 32"/>
          <p:cNvSpPr/>
          <p:nvPr/>
        </p:nvSpPr>
        <p:spPr>
          <a:xfrm>
            <a:off x="5652120" y="2311690"/>
            <a:ext cx="2088232" cy="1183052"/>
          </a:xfrm>
          <a:prstGeom prst="wedgeEllipseCallout">
            <a:avLst>
              <a:gd name="adj1" fmla="val -189438"/>
              <a:gd name="adj2" fmla="val -86405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The variable </a:t>
            </a:r>
            <a:r>
              <a:rPr lang="en-US" sz="1400" dirty="0" smtClean="0">
                <a:solidFill>
                  <a:srgbClr val="0000FF"/>
                </a:solidFill>
              </a:rPr>
              <a:t>min </a:t>
            </a:r>
            <a:r>
              <a:rPr lang="en-US" sz="1400" dirty="0" smtClean="0">
                <a:solidFill>
                  <a:schemeClr val="tx1"/>
                </a:solidFill>
              </a:rPr>
              <a:t>is known as a local variable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23528" y="410901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Variables which are local to a method are not seen outside. 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23528" y="5301208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say that the scope of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min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the method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minimum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in which it is declared.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3528" y="4593322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other words, local variables can be used ONLY within the methods in which they are declared.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92674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5" grpId="0"/>
      <p:bldP spid="19" grpId="0"/>
      <p:bldP spid="32" grpId="0" animBg="1"/>
      <p:bldP spid="33" grpId="0" animBg="1"/>
      <p:bldP spid="34" grpId="0"/>
      <p:bldP spid="38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6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IMPORTANT NOTES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6.1 A USER-DEFINED METHOD CAN CALL ANOTHER ONE (1)</a:t>
            </a:r>
            <a:endParaRPr lang="en-US" b="1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179512" y="1340768"/>
            <a:ext cx="8784977" cy="5060032"/>
            <a:chOff x="323528" y="1236822"/>
            <a:chExt cx="7848873" cy="4254307"/>
          </a:xfrm>
        </p:grpSpPr>
        <p:sp>
          <p:nvSpPr>
            <p:cNvPr id="15" name="TextBox 14"/>
            <p:cNvSpPr txBox="1"/>
            <p:nvPr/>
          </p:nvSpPr>
          <p:spPr>
            <a:xfrm>
              <a:off x="788528" y="1236822"/>
              <a:ext cx="7383873" cy="4254307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solidFill>
                    <a:srgbClr val="00B0F0"/>
                  </a:solidFill>
                </a:rPr>
                <a:t>    import </a:t>
              </a:r>
              <a:r>
                <a:rPr lang="en-US" sz="1200" dirty="0" err="1" smtClean="0">
                  <a:solidFill>
                    <a:srgbClr val="FF0000"/>
                  </a:solidFill>
                </a:rPr>
                <a:t>java.util</a:t>
              </a:r>
              <a:r>
                <a:rPr lang="en-US" sz="1200" dirty="0" err="1" smtClean="0">
                  <a:solidFill>
                    <a:srgbClr val="0000FF"/>
                  </a:solidFill>
                </a:rPr>
                <a:t>.Scanner</a:t>
              </a:r>
              <a:r>
                <a:rPr lang="en-US" sz="1200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200" dirty="0" smtClean="0">
                  <a:solidFill>
                    <a:srgbClr val="00B0F0"/>
                  </a:solidFill>
                </a:rPr>
                <a:t>    public class</a:t>
              </a:r>
              <a:r>
                <a:rPr lang="en-US" sz="1200" dirty="0" smtClean="0">
                  <a:solidFill>
                    <a:srgbClr val="0000FF"/>
                  </a:solidFill>
                </a:rPr>
                <a:t> </a:t>
              </a:r>
              <a:r>
                <a:rPr lang="en-US" sz="1200" dirty="0" err="1" smtClean="0">
                  <a:solidFill>
                    <a:srgbClr val="0000FF"/>
                  </a:solidFill>
                </a:rPr>
                <a:t>methodCallAnother</a:t>
              </a:r>
              <a:endParaRPr lang="en-US" sz="1200" dirty="0" smtClean="0">
                <a:solidFill>
                  <a:srgbClr val="0000FF"/>
                </a:solidFill>
              </a:endParaRPr>
            </a:p>
            <a:p>
              <a:r>
                <a:rPr lang="en-US" sz="1200" dirty="0" smtClean="0"/>
                <a:t>    {</a:t>
              </a:r>
            </a:p>
            <a:p>
              <a:r>
                <a:rPr lang="en-US" sz="1200" dirty="0"/>
                <a:t> </a:t>
              </a:r>
              <a:r>
                <a:rPr lang="en-US" sz="1200" dirty="0" smtClean="0"/>
                <a:t>      </a:t>
              </a:r>
              <a:r>
                <a:rPr lang="en-US" sz="1200" dirty="0" smtClean="0">
                  <a:solidFill>
                    <a:srgbClr val="00B0F0"/>
                  </a:solidFill>
                </a:rPr>
                <a:t>static </a:t>
              </a:r>
              <a:r>
                <a:rPr lang="en-US" sz="1200" dirty="0" smtClean="0"/>
                <a:t>Scanner read = </a:t>
              </a:r>
              <a:r>
                <a:rPr lang="en-US" sz="1200" dirty="0" smtClean="0">
                  <a:solidFill>
                    <a:srgbClr val="00B0F0"/>
                  </a:solidFill>
                </a:rPr>
                <a:t>new </a:t>
              </a:r>
              <a:r>
                <a:rPr lang="en-US" sz="1200" dirty="0" smtClean="0"/>
                <a:t>Scanner (System.in);</a:t>
              </a:r>
            </a:p>
            <a:p>
              <a:r>
                <a:rPr lang="en-US" sz="1200" dirty="0" smtClean="0">
                  <a:solidFill>
                    <a:srgbClr val="00B0F0"/>
                  </a:solidFill>
                </a:rPr>
                <a:t>       public static void main(String[] </a:t>
              </a:r>
              <a:r>
                <a:rPr lang="en-US" sz="1200" dirty="0" err="1" smtClean="0">
                  <a:solidFill>
                    <a:srgbClr val="00B0F0"/>
                  </a:solidFill>
                </a:rPr>
                <a:t>args</a:t>
              </a:r>
              <a:r>
                <a:rPr lang="en-US" sz="1200" dirty="0" smtClean="0">
                  <a:solidFill>
                    <a:srgbClr val="00B0F0"/>
                  </a:solidFill>
                </a:rPr>
                <a:t>)</a:t>
              </a:r>
            </a:p>
            <a:p>
              <a:r>
                <a:rPr lang="en-US" sz="1200" dirty="0"/>
                <a:t> </a:t>
              </a:r>
              <a:r>
                <a:rPr lang="en-US" sz="1200" dirty="0" smtClean="0"/>
                <a:t>      {</a:t>
              </a:r>
            </a:p>
            <a:p>
              <a:r>
                <a:rPr lang="en-US" sz="1200" dirty="0" smtClean="0">
                  <a:solidFill>
                    <a:srgbClr val="00B0F0"/>
                  </a:solidFill>
                </a:rPr>
                <a:t>         double x=10.25, y=13.75, z=21.67</a:t>
              </a:r>
              <a:r>
                <a:rPr lang="en-US" sz="1200" dirty="0" smtClean="0"/>
                <a:t>;</a:t>
              </a:r>
            </a:p>
            <a:p>
              <a:r>
                <a:rPr lang="en-US" sz="1200" dirty="0">
                  <a:solidFill>
                    <a:srgbClr val="0000FF"/>
                  </a:solidFill>
                </a:rPr>
                <a:t> </a:t>
              </a:r>
              <a:r>
                <a:rPr lang="en-US" sz="1200" dirty="0" smtClean="0">
                  <a:solidFill>
                    <a:srgbClr val="0000FF"/>
                  </a:solidFill>
                </a:rPr>
                <a:t>        average (x, y, z)</a:t>
              </a:r>
              <a:r>
                <a:rPr lang="en-US" sz="1200" dirty="0" smtClean="0"/>
                <a:t>;</a:t>
              </a:r>
            </a:p>
            <a:p>
              <a:r>
                <a:rPr lang="en-US" sz="1200" dirty="0" smtClean="0"/>
                <a:t>       } </a:t>
              </a:r>
              <a:r>
                <a:rPr lang="en-US" sz="1200" dirty="0" smtClean="0">
                  <a:solidFill>
                    <a:srgbClr val="00B050"/>
                  </a:solidFill>
                </a:rPr>
                <a:t>//end of main</a:t>
              </a:r>
            </a:p>
            <a:p>
              <a:endParaRPr lang="en-US" sz="1200" dirty="0" smtClean="0">
                <a:solidFill>
                  <a:srgbClr val="00B050"/>
                </a:solidFill>
              </a:endParaRPr>
            </a:p>
            <a:p>
              <a:r>
                <a:rPr lang="en-US" sz="1200" dirty="0" smtClean="0">
                  <a:solidFill>
                    <a:srgbClr val="00B050"/>
                  </a:solidFill>
                </a:rPr>
                <a:t>       </a:t>
              </a:r>
              <a:r>
                <a:rPr lang="en-US" sz="1200" dirty="0" smtClean="0">
                  <a:solidFill>
                    <a:srgbClr val="00B0F0"/>
                  </a:solidFill>
                </a:rPr>
                <a:t>public static void </a:t>
              </a:r>
              <a:r>
                <a:rPr lang="en-US" sz="1200" dirty="0" smtClean="0">
                  <a:solidFill>
                    <a:srgbClr val="0000FF"/>
                  </a:solidFill>
                </a:rPr>
                <a:t>average </a:t>
              </a:r>
              <a:r>
                <a:rPr lang="en-US" sz="1200" dirty="0" smtClean="0"/>
                <a:t>(</a:t>
              </a:r>
              <a:r>
                <a:rPr lang="en-US" sz="1200" dirty="0" smtClean="0">
                  <a:solidFill>
                    <a:srgbClr val="00B0F0"/>
                  </a:solidFill>
                </a:rPr>
                <a:t>double num1, double num2, double num3</a:t>
              </a:r>
              <a:r>
                <a:rPr lang="en-US" sz="1200" dirty="0" smtClean="0"/>
                <a:t>)</a:t>
              </a:r>
            </a:p>
            <a:p>
              <a:r>
                <a:rPr lang="en-US" sz="1200" dirty="0" smtClean="0"/>
                <a:t>       {</a:t>
              </a:r>
            </a:p>
            <a:p>
              <a:r>
                <a:rPr lang="en-US" sz="1200" dirty="0">
                  <a:solidFill>
                    <a:srgbClr val="00B050"/>
                  </a:solidFill>
                </a:rPr>
                <a:t> </a:t>
              </a:r>
              <a:r>
                <a:rPr lang="en-US" sz="1200" dirty="0" smtClean="0">
                  <a:solidFill>
                    <a:srgbClr val="00B050"/>
                  </a:solidFill>
                </a:rPr>
                <a:t>           </a:t>
              </a:r>
              <a:r>
                <a:rPr lang="en-US" sz="1200" dirty="0" smtClean="0">
                  <a:solidFill>
                    <a:srgbClr val="00B0F0"/>
                  </a:solidFill>
                </a:rPr>
                <a:t>double total;</a:t>
              </a:r>
              <a:endParaRPr lang="en-US" sz="1200" dirty="0" smtClean="0"/>
            </a:p>
            <a:p>
              <a:r>
                <a:rPr lang="en-US" sz="1200" dirty="0"/>
                <a:t> </a:t>
              </a:r>
              <a:r>
                <a:rPr lang="en-US" sz="1200" dirty="0" smtClean="0"/>
                <a:t>           </a:t>
              </a:r>
              <a:r>
                <a:rPr lang="en-US" sz="1200" dirty="0" smtClean="0">
                  <a:solidFill>
                    <a:srgbClr val="0000FF"/>
                  </a:solidFill>
                </a:rPr>
                <a:t>total = sum (num1, num2, num3)</a:t>
              </a:r>
              <a:r>
                <a:rPr lang="en-US" sz="1200" dirty="0" smtClean="0"/>
                <a:t>;</a:t>
              </a:r>
            </a:p>
            <a:p>
              <a:r>
                <a:rPr lang="en-US" sz="1200" dirty="0" smtClean="0"/>
                <a:t>            </a:t>
              </a:r>
              <a:r>
                <a:rPr lang="en-US" sz="1200" dirty="0" err="1" smtClean="0"/>
                <a:t>System.out.println</a:t>
              </a:r>
              <a:r>
                <a:rPr lang="en-US" sz="1200" dirty="0" smtClean="0"/>
                <a:t>( total/3.0); </a:t>
              </a:r>
              <a:endParaRPr lang="en-US" sz="1200" dirty="0" smtClean="0">
                <a:solidFill>
                  <a:srgbClr val="00B050"/>
                </a:solidFill>
              </a:endParaRPr>
            </a:p>
            <a:p>
              <a:r>
                <a:rPr lang="en-US" sz="1200" dirty="0">
                  <a:solidFill>
                    <a:srgbClr val="00B050"/>
                  </a:solidFill>
                </a:rPr>
                <a:t> </a:t>
              </a:r>
              <a:r>
                <a:rPr lang="en-US" sz="1200" dirty="0" smtClean="0">
                  <a:solidFill>
                    <a:srgbClr val="00B050"/>
                  </a:solidFill>
                </a:rPr>
                <a:t>      </a:t>
              </a:r>
              <a:r>
                <a:rPr lang="en-US" sz="1200" dirty="0" smtClean="0"/>
                <a:t>}</a:t>
              </a:r>
              <a:endParaRPr lang="en-US" sz="1200" dirty="0" smtClean="0">
                <a:solidFill>
                  <a:srgbClr val="00B050"/>
                </a:solidFill>
              </a:endParaRPr>
            </a:p>
            <a:p>
              <a:r>
                <a:rPr lang="en-US" sz="1200" dirty="0" smtClean="0">
                  <a:solidFill>
                    <a:srgbClr val="00B050"/>
                  </a:solidFill>
                </a:rPr>
                <a:t>      </a:t>
              </a:r>
              <a:endParaRPr lang="en-US" sz="1200" dirty="0">
                <a:solidFill>
                  <a:srgbClr val="00B050"/>
                </a:solidFill>
              </a:endParaRPr>
            </a:p>
            <a:p>
              <a:r>
                <a:rPr lang="en-US" sz="1200" dirty="0" smtClean="0">
                  <a:solidFill>
                    <a:srgbClr val="00B0F0"/>
                  </a:solidFill>
                </a:rPr>
                <a:t>      public static double </a:t>
              </a:r>
              <a:r>
                <a:rPr lang="en-US" sz="1200" dirty="0" smtClean="0">
                  <a:solidFill>
                    <a:srgbClr val="0000FF"/>
                  </a:solidFill>
                </a:rPr>
                <a:t>sum(</a:t>
              </a:r>
              <a:r>
                <a:rPr lang="en-US" sz="1200" dirty="0" smtClean="0">
                  <a:solidFill>
                    <a:srgbClr val="00B0F0"/>
                  </a:solidFill>
                </a:rPr>
                <a:t>double a, double b, double c</a:t>
              </a:r>
              <a:r>
                <a:rPr lang="en-US" sz="1200" dirty="0" smtClean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sz="1200" dirty="0"/>
                <a:t> </a:t>
              </a:r>
              <a:r>
                <a:rPr lang="en-US" sz="1200" dirty="0" smtClean="0"/>
                <a:t>     {</a:t>
              </a:r>
            </a:p>
            <a:p>
              <a:r>
                <a:rPr lang="en-US" sz="1200" dirty="0" smtClean="0">
                  <a:solidFill>
                    <a:srgbClr val="0000FF"/>
                  </a:solidFill>
                </a:rPr>
                <a:t>        double </a:t>
              </a:r>
              <a:r>
                <a:rPr lang="en-US" sz="1200" dirty="0" smtClean="0">
                  <a:solidFill>
                    <a:srgbClr val="00B0F0"/>
                  </a:solidFill>
                </a:rPr>
                <a:t>result</a:t>
              </a:r>
              <a:r>
                <a:rPr lang="en-US" sz="1200" dirty="0" smtClean="0"/>
                <a:t>; </a:t>
              </a:r>
            </a:p>
            <a:p>
              <a:r>
                <a:rPr lang="en-US" sz="1200" dirty="0" smtClean="0"/>
                <a:t>        result = a + b + c;</a:t>
              </a:r>
              <a:endParaRPr lang="en-US" sz="1200" dirty="0" smtClean="0">
                <a:solidFill>
                  <a:srgbClr val="0000FF"/>
                </a:solidFill>
              </a:endParaRPr>
            </a:p>
            <a:p>
              <a:r>
                <a:rPr lang="en-US" sz="1200" dirty="0"/>
                <a:t> </a:t>
              </a:r>
              <a:r>
                <a:rPr lang="en-US" sz="1200" dirty="0" smtClean="0"/>
                <a:t>       return result; </a:t>
              </a:r>
            </a:p>
            <a:p>
              <a:r>
                <a:rPr lang="en-US" sz="1200" dirty="0" smtClean="0"/>
                <a:t>      }</a:t>
              </a:r>
              <a:r>
                <a:rPr lang="en-US" sz="1200" b="1" dirty="0" smtClean="0">
                  <a:solidFill>
                    <a:srgbClr val="FF0000"/>
                  </a:solidFill>
                </a:rPr>
                <a:t> </a:t>
              </a:r>
              <a:endParaRPr lang="en-US" sz="1200" dirty="0" smtClean="0">
                <a:solidFill>
                  <a:srgbClr val="00B050"/>
                </a:solidFill>
              </a:endParaRPr>
            </a:p>
            <a:p>
              <a:r>
                <a:rPr lang="en-US" sz="1200" dirty="0" smtClean="0"/>
                <a:t> } </a:t>
              </a:r>
              <a:r>
                <a:rPr lang="en-US" sz="1200" dirty="0" smtClean="0">
                  <a:solidFill>
                    <a:srgbClr val="00B050"/>
                  </a:solidFill>
                </a:rPr>
                <a:t>//end of class</a:t>
              </a:r>
              <a:endParaRPr lang="en-US" sz="1200" dirty="0">
                <a:solidFill>
                  <a:srgbClr val="00B050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23528" y="1236822"/>
              <a:ext cx="450344" cy="4254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21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22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23</a:t>
              </a:r>
            </a:p>
            <a:p>
              <a:pPr algn="r"/>
              <a:r>
                <a:rPr lang="en-US" sz="1200" dirty="0" smtClean="0">
                  <a:solidFill>
                    <a:srgbClr val="FF0000"/>
                  </a:solidFill>
                </a:rPr>
                <a:t>24</a:t>
              </a:r>
            </a:p>
          </p:txBody>
        </p:sp>
      </p:grpSp>
      <p:sp>
        <p:nvSpPr>
          <p:cNvPr id="20" name="Rectangle 19"/>
          <p:cNvSpPr/>
          <p:nvPr/>
        </p:nvSpPr>
        <p:spPr>
          <a:xfrm>
            <a:off x="683568" y="2662438"/>
            <a:ext cx="8280919" cy="185537"/>
          </a:xfrm>
          <a:prstGeom prst="rect">
            <a:avLst/>
          </a:prstGeom>
          <a:solidFill>
            <a:schemeClr val="accent2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83568" y="3762749"/>
            <a:ext cx="8280919" cy="185537"/>
          </a:xfrm>
          <a:prstGeom prst="rect">
            <a:avLst/>
          </a:prstGeom>
          <a:solidFill>
            <a:schemeClr val="accent2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83568" y="3193926"/>
            <a:ext cx="8280919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83568" y="4477705"/>
            <a:ext cx="8280919" cy="180020"/>
          </a:xfrm>
          <a:prstGeom prst="rect">
            <a:avLst/>
          </a:prstGeom>
          <a:solidFill>
            <a:schemeClr val="accent1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/>
          <p:cNvCxnSpPr/>
          <p:nvPr/>
        </p:nvCxnSpPr>
        <p:spPr>
          <a:xfrm flipV="1">
            <a:off x="971600" y="2564904"/>
            <a:ext cx="0" cy="216024"/>
          </a:xfrm>
          <a:prstGeom prst="line">
            <a:avLst/>
          </a:prstGeom>
          <a:ln w="28575">
            <a:solidFill>
              <a:schemeClr val="tx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323528" y="2780928"/>
            <a:ext cx="6480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23528" y="2780928"/>
            <a:ext cx="0" cy="54006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rot="5400000">
            <a:off x="24606" y="3586165"/>
            <a:ext cx="580234" cy="19841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rot="5400000">
            <a:off x="-152400" y="4191000"/>
            <a:ext cx="762000" cy="152400"/>
          </a:xfrm>
          <a:prstGeom prst="bentConnector3">
            <a:avLst>
              <a:gd name="adj1" fmla="val 50000"/>
            </a:avLst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rot="5400000">
            <a:off x="-342106" y="5067300"/>
            <a:ext cx="989806" cy="794"/>
          </a:xfrm>
          <a:prstGeom prst="straightConnector1">
            <a:avLst/>
          </a:prstGeom>
          <a:ln w="28575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3203848" y="5562600"/>
            <a:ext cx="2808312" cy="0"/>
          </a:xfrm>
          <a:prstGeom prst="straightConnector1">
            <a:avLst/>
          </a:prstGeom>
          <a:ln w="28575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rot="16200000" flipV="1">
            <a:off x="5410202" y="4952999"/>
            <a:ext cx="1219199" cy="3"/>
          </a:xfrm>
          <a:prstGeom prst="straightConnector1">
            <a:avLst/>
          </a:prstGeom>
          <a:ln w="28575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2411760" y="4349477"/>
            <a:ext cx="3581950" cy="0"/>
          </a:xfrm>
          <a:prstGeom prst="straightConnector1">
            <a:avLst/>
          </a:prstGeom>
          <a:ln w="28575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2483768" y="4229844"/>
            <a:ext cx="3528392" cy="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rot="16200000" flipV="1">
            <a:off x="5382952" y="3554152"/>
            <a:ext cx="1266056" cy="764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2430210" y="2924944"/>
            <a:ext cx="3581950" cy="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573688" y="1412776"/>
            <a:ext cx="2808312" cy="1152128"/>
          </a:xfrm>
          <a:prstGeom prst="rect">
            <a:avLst/>
          </a:prstGeom>
          <a:solidFill>
            <a:srgbClr val="FFFF99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chemeClr val="tx1"/>
                </a:solidFill>
              </a:rPr>
              <a:t>Color change means control is transferred to a different method.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10029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23" grpId="0" animBg="1"/>
      <p:bldP spid="24" grpId="0" animBg="1"/>
      <p:bldP spid="25" grpId="0" animBg="1"/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6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IMPORTANT NOTES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6.2 CAN A </a:t>
            </a:r>
            <a:r>
              <a:rPr lang="en-US" b="1" dirty="0"/>
              <a:t>USER-DEFINED METHOD </a:t>
            </a:r>
            <a:r>
              <a:rPr lang="en-US" b="1" dirty="0" smtClean="0"/>
              <a:t>CALL ITSELF?</a:t>
            </a:r>
            <a:endParaRPr lang="en-US" b="1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23528" y="122869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answer is YES. However, this is out of the scope of this course.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23528" y="158873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is called “recursion”.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11576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44" grpId="0"/>
      <p:bldP spid="4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6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IMPORTANT NOTES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6.3 ALTERNATE PATHS IN A VALUE-RETURNING METHOD (1)</a:t>
            </a:r>
            <a:endParaRPr lang="en-US" b="1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/>
          <p:cNvGrpSpPr/>
          <p:nvPr/>
        </p:nvGrpSpPr>
        <p:grpSpPr>
          <a:xfrm>
            <a:off x="179512" y="1340768"/>
            <a:ext cx="8784977" cy="4770537"/>
            <a:chOff x="323528" y="1236822"/>
            <a:chExt cx="7848873" cy="4485841"/>
          </a:xfrm>
        </p:grpSpPr>
        <p:sp>
          <p:nvSpPr>
            <p:cNvPr id="41" name="TextBox 40"/>
            <p:cNvSpPr txBox="1"/>
            <p:nvPr/>
          </p:nvSpPr>
          <p:spPr>
            <a:xfrm>
              <a:off x="788528" y="1236822"/>
              <a:ext cx="7383873" cy="4485841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rgbClr val="00B0F0"/>
                  </a:solidFill>
                </a:rPr>
                <a:t>import </a:t>
              </a:r>
              <a:r>
                <a:rPr lang="en-US" sz="1600" dirty="0" err="1" smtClean="0">
                  <a:solidFill>
                    <a:srgbClr val="FF0000"/>
                  </a:solidFill>
                </a:rPr>
                <a:t>java.util</a:t>
              </a:r>
              <a:r>
                <a:rPr lang="en-US" sz="1600" dirty="0" smtClean="0">
                  <a:solidFill>
                    <a:srgbClr val="FF0000"/>
                  </a:solidFill>
                </a:rPr>
                <a:t>.*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public class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alternatePaths</a:t>
              </a:r>
              <a:endParaRPr lang="en-US" sz="1600" dirty="0" smtClean="0">
                <a:solidFill>
                  <a:srgbClr val="0000FF"/>
                </a:solidFill>
              </a:endParaRPr>
            </a:p>
            <a:p>
              <a:r>
                <a:rPr lang="en-US" sz="1600" dirty="0" smtClean="0"/>
                <a:t>{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</a:t>
              </a:r>
              <a:r>
                <a:rPr lang="en-US" sz="1600" dirty="0" smtClean="0">
                  <a:solidFill>
                    <a:srgbClr val="00B0F0"/>
                  </a:solidFill>
                </a:rPr>
                <a:t>public static void main </a:t>
              </a:r>
              <a:r>
                <a:rPr lang="en-US" sz="1600" dirty="0" smtClean="0"/>
                <a:t>(</a:t>
              </a:r>
              <a:r>
                <a:rPr lang="en-US" sz="1600" dirty="0" smtClean="0">
                  <a:solidFill>
                    <a:srgbClr val="00B0F0"/>
                  </a:solidFill>
                </a:rPr>
                <a:t>String[]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args</a:t>
              </a:r>
              <a:r>
                <a:rPr lang="en-US" sz="1600" dirty="0" smtClean="0"/>
                <a:t>)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{</a:t>
              </a: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    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x </a:t>
              </a:r>
              <a:r>
                <a:rPr lang="en-US" sz="1600" dirty="0" smtClean="0"/>
                <a:t>= -5,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y</a:t>
              </a:r>
              <a:r>
                <a:rPr lang="en-US" sz="1600" dirty="0" smtClean="0"/>
                <a:t> = 3;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 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smallest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  </a:t>
              </a:r>
              <a:r>
                <a:rPr lang="en-US" sz="1600" dirty="0" smtClean="0">
                  <a:solidFill>
                    <a:srgbClr val="0000FF"/>
                  </a:solidFill>
                </a:rPr>
                <a:t>smallest </a:t>
              </a:r>
              <a:r>
                <a:rPr lang="en-US" sz="1600" dirty="0" smtClean="0"/>
                <a:t>=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minimum</a:t>
              </a:r>
              <a:r>
                <a:rPr lang="en-US" sz="1600" dirty="0" smtClean="0"/>
                <a:t>(</a:t>
              </a:r>
              <a:r>
                <a:rPr lang="en-US" sz="1600" dirty="0" smtClean="0">
                  <a:solidFill>
                    <a:srgbClr val="0000FF"/>
                  </a:solidFill>
                </a:rPr>
                <a:t>x</a:t>
              </a:r>
              <a:r>
                <a:rPr lang="en-US" sz="1600" dirty="0" smtClean="0"/>
                <a:t>,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y</a:t>
              </a:r>
              <a:r>
                <a:rPr lang="en-US" sz="1600" dirty="0" smtClean="0"/>
                <a:t>);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</a:t>
              </a:r>
              <a:r>
                <a:rPr lang="en-US" sz="1600" dirty="0" err="1" smtClean="0"/>
                <a:t>System.out.printf</a:t>
              </a:r>
              <a:r>
                <a:rPr lang="en-US" sz="1600" dirty="0" smtClean="0"/>
                <a:t> (“Smallest number = %d”,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smallest</a:t>
              </a:r>
              <a:r>
                <a:rPr lang="en-US" sz="1600" dirty="0" smtClean="0"/>
                <a:t>);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}</a:t>
              </a:r>
              <a:r>
                <a:rPr lang="en-US" sz="1600" dirty="0" smtClean="0">
                  <a:solidFill>
                    <a:srgbClr val="00B050"/>
                  </a:solidFill>
                </a:rPr>
                <a:t> //end main</a:t>
              </a:r>
            </a:p>
            <a:p>
              <a:r>
                <a:rPr lang="en-US" sz="1600" dirty="0" smtClean="0">
                  <a:solidFill>
                    <a:srgbClr val="00B050"/>
                  </a:solidFill>
                </a:rPr>
                <a:t>// returns the minimum of two integers</a:t>
              </a:r>
              <a:endParaRPr lang="en-US" sz="1600" dirty="0">
                <a:solidFill>
                  <a:srgbClr val="00B050"/>
                </a:solidFill>
              </a:endParaRP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   public static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minimum</a:t>
              </a:r>
              <a:r>
                <a:rPr lang="en-US" sz="1600" dirty="0" smtClean="0"/>
                <a:t>(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num1</a:t>
              </a:r>
              <a:r>
                <a:rPr lang="en-US" sz="1600" dirty="0" smtClean="0"/>
                <a:t>,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num2</a:t>
              </a:r>
              <a:r>
                <a:rPr lang="en-US" sz="1600" dirty="0" smtClean="0"/>
                <a:t>)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{</a:t>
              </a: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     if </a:t>
              </a:r>
              <a:r>
                <a:rPr lang="en-US" sz="1600" dirty="0" smtClean="0"/>
                <a:t>(</a:t>
              </a:r>
              <a:r>
                <a:rPr lang="en-US" sz="1600" dirty="0" smtClean="0">
                  <a:solidFill>
                    <a:srgbClr val="FF33CC"/>
                  </a:solidFill>
                </a:rPr>
                <a:t>num1 </a:t>
              </a:r>
              <a:r>
                <a:rPr lang="en-US" sz="1600" dirty="0" smtClean="0"/>
                <a:t>&lt;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num2</a:t>
              </a:r>
              <a:r>
                <a:rPr lang="en-US" sz="1600" dirty="0" smtClean="0"/>
                <a:t>)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     return </a:t>
              </a:r>
              <a:r>
                <a:rPr lang="en-US" sz="1600" dirty="0" smtClean="0">
                  <a:solidFill>
                    <a:srgbClr val="FF33CC"/>
                  </a:solidFill>
                </a:rPr>
                <a:t>num1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  if </a:t>
              </a:r>
              <a:r>
                <a:rPr lang="en-US" sz="1600" dirty="0" smtClean="0"/>
                <a:t>(</a:t>
              </a:r>
              <a:r>
                <a:rPr lang="en-US" sz="1600" dirty="0" smtClean="0">
                  <a:solidFill>
                    <a:srgbClr val="FF33CC"/>
                  </a:solidFill>
                </a:rPr>
                <a:t>num2 </a:t>
              </a:r>
              <a:r>
                <a:rPr lang="en-US" sz="1600" dirty="0" smtClean="0"/>
                <a:t>&lt; </a:t>
              </a:r>
              <a:r>
                <a:rPr lang="en-US" sz="1600" dirty="0" smtClean="0">
                  <a:solidFill>
                    <a:srgbClr val="FF33CC"/>
                  </a:solidFill>
                </a:rPr>
                <a:t>num1</a:t>
              </a:r>
              <a:r>
                <a:rPr lang="en-US" sz="1600" dirty="0" smtClean="0"/>
                <a:t>);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     return </a:t>
              </a:r>
              <a:r>
                <a:rPr lang="en-US" sz="1600" dirty="0" smtClean="0">
                  <a:solidFill>
                    <a:srgbClr val="FF33CC"/>
                  </a:solidFill>
                </a:rPr>
                <a:t>num2</a:t>
              </a:r>
              <a:r>
                <a:rPr lang="en-US" sz="1600" dirty="0" smtClean="0">
                  <a:solidFill>
                    <a:srgbClr val="0000FF"/>
                  </a:solidFill>
                </a:rPr>
                <a:t>;</a:t>
              </a:r>
              <a:endParaRPr lang="en-US" sz="1600" dirty="0" smtClean="0"/>
            </a:p>
            <a:p>
              <a:r>
                <a:rPr lang="en-US" sz="1600" dirty="0" smtClean="0"/>
                <a:t>   }</a:t>
              </a:r>
              <a:r>
                <a:rPr lang="en-US" sz="1600" dirty="0" smtClean="0">
                  <a:solidFill>
                    <a:srgbClr val="00B050"/>
                  </a:solidFill>
                </a:rPr>
                <a:t> //end minimum</a:t>
              </a:r>
            </a:p>
            <a:p>
              <a:r>
                <a:rPr lang="en-US" sz="1600" dirty="0" smtClean="0"/>
                <a:t>}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50"/>
                  </a:solidFill>
                </a:rPr>
                <a:t>//end class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23528" y="1236822"/>
              <a:ext cx="450344" cy="4485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1516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19</a:t>
              </a:r>
            </a:p>
          </p:txBody>
        </p:sp>
      </p:grpSp>
      <p:sp>
        <p:nvSpPr>
          <p:cNvPr id="43" name="Oval Callout 42"/>
          <p:cNvSpPr/>
          <p:nvPr/>
        </p:nvSpPr>
        <p:spPr>
          <a:xfrm>
            <a:off x="6084168" y="3356992"/>
            <a:ext cx="2448272" cy="1368152"/>
          </a:xfrm>
          <a:prstGeom prst="wedgeEllipseCallout">
            <a:avLst>
              <a:gd name="adj1" fmla="val -164133"/>
              <a:gd name="adj2" fmla="val 67063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ERROR: </a:t>
            </a:r>
          </a:p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What will the method return if (num1 == num2)?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55576" y="4437112"/>
            <a:ext cx="2304256" cy="1152128"/>
          </a:xfrm>
          <a:prstGeom prst="rect">
            <a:avLst/>
          </a:prstGeom>
          <a:solidFill>
            <a:srgbClr val="FF0000">
              <a:alpha val="2500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ultiply 2"/>
          <p:cNvSpPr/>
          <p:nvPr/>
        </p:nvSpPr>
        <p:spPr>
          <a:xfrm>
            <a:off x="2771800" y="5085184"/>
            <a:ext cx="1152128" cy="882105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20293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43" grpId="0" animBg="1"/>
      <p:bldP spid="2" grpId="0" animBg="1"/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6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IMPORTANT NOTES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6.3 ALTERNATE PATHS IN A VALUE-RETURNING METHOD (2)</a:t>
            </a:r>
            <a:endParaRPr lang="en-US" b="1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/>
          <p:cNvGrpSpPr/>
          <p:nvPr/>
        </p:nvGrpSpPr>
        <p:grpSpPr>
          <a:xfrm>
            <a:off x="179512" y="1340768"/>
            <a:ext cx="8784977" cy="4770537"/>
            <a:chOff x="323528" y="1236822"/>
            <a:chExt cx="7848873" cy="4485841"/>
          </a:xfrm>
        </p:grpSpPr>
        <p:sp>
          <p:nvSpPr>
            <p:cNvPr id="41" name="TextBox 40"/>
            <p:cNvSpPr txBox="1"/>
            <p:nvPr/>
          </p:nvSpPr>
          <p:spPr>
            <a:xfrm>
              <a:off x="788528" y="1236822"/>
              <a:ext cx="7383873" cy="4485841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rgbClr val="00B0F0"/>
                  </a:solidFill>
                </a:rPr>
                <a:t>import </a:t>
              </a:r>
              <a:r>
                <a:rPr lang="en-US" sz="1600" dirty="0" err="1" smtClean="0">
                  <a:solidFill>
                    <a:srgbClr val="FF0000"/>
                  </a:solidFill>
                </a:rPr>
                <a:t>java.util</a:t>
              </a:r>
              <a:r>
                <a:rPr lang="en-US" sz="1600" dirty="0" smtClean="0">
                  <a:solidFill>
                    <a:srgbClr val="FF0000"/>
                  </a:solidFill>
                </a:rPr>
                <a:t>.*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public class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alternatePaths</a:t>
              </a:r>
              <a:endParaRPr lang="en-US" sz="1600" dirty="0" smtClean="0">
                <a:solidFill>
                  <a:srgbClr val="0000FF"/>
                </a:solidFill>
              </a:endParaRPr>
            </a:p>
            <a:p>
              <a:r>
                <a:rPr lang="en-US" sz="1600" dirty="0" smtClean="0"/>
                <a:t>{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</a:t>
              </a:r>
              <a:r>
                <a:rPr lang="en-US" sz="1600" dirty="0" smtClean="0">
                  <a:solidFill>
                    <a:srgbClr val="00B0F0"/>
                  </a:solidFill>
                </a:rPr>
                <a:t>public static void main </a:t>
              </a:r>
              <a:r>
                <a:rPr lang="en-US" sz="1600" dirty="0" smtClean="0"/>
                <a:t>(</a:t>
              </a:r>
              <a:r>
                <a:rPr lang="en-US" sz="1600" dirty="0" smtClean="0">
                  <a:solidFill>
                    <a:srgbClr val="00B0F0"/>
                  </a:solidFill>
                </a:rPr>
                <a:t>String[]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args</a:t>
              </a:r>
              <a:r>
                <a:rPr lang="en-US" sz="1600" dirty="0" smtClean="0"/>
                <a:t>)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{</a:t>
              </a: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    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x </a:t>
              </a:r>
              <a:r>
                <a:rPr lang="en-US" sz="1600" dirty="0" smtClean="0"/>
                <a:t>= -5,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y</a:t>
              </a:r>
              <a:r>
                <a:rPr lang="en-US" sz="1600" dirty="0" smtClean="0"/>
                <a:t> = 3;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 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smallest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  </a:t>
              </a:r>
              <a:r>
                <a:rPr lang="en-US" sz="1600" dirty="0" smtClean="0">
                  <a:solidFill>
                    <a:srgbClr val="0000FF"/>
                  </a:solidFill>
                </a:rPr>
                <a:t>smallest </a:t>
              </a:r>
              <a:r>
                <a:rPr lang="en-US" sz="1600" dirty="0" smtClean="0"/>
                <a:t>=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minimum</a:t>
              </a:r>
              <a:r>
                <a:rPr lang="en-US" sz="1600" dirty="0" smtClean="0"/>
                <a:t>(</a:t>
              </a:r>
              <a:r>
                <a:rPr lang="en-US" sz="1600" dirty="0" smtClean="0">
                  <a:solidFill>
                    <a:srgbClr val="0000FF"/>
                  </a:solidFill>
                </a:rPr>
                <a:t>x</a:t>
              </a:r>
              <a:r>
                <a:rPr lang="en-US" sz="1600" dirty="0" smtClean="0"/>
                <a:t>,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y</a:t>
              </a:r>
              <a:r>
                <a:rPr lang="en-US" sz="1600" dirty="0" smtClean="0"/>
                <a:t>);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</a:t>
              </a:r>
              <a:r>
                <a:rPr lang="en-US" sz="1600" dirty="0" err="1" smtClean="0"/>
                <a:t>System.out.printf</a:t>
              </a:r>
              <a:r>
                <a:rPr lang="en-US" sz="1600" dirty="0" smtClean="0"/>
                <a:t> (“Smallest number = %d”,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smallest</a:t>
              </a:r>
              <a:r>
                <a:rPr lang="en-US" sz="1600" dirty="0" smtClean="0"/>
                <a:t>);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}</a:t>
              </a:r>
              <a:r>
                <a:rPr lang="en-US" sz="1600" dirty="0" smtClean="0">
                  <a:solidFill>
                    <a:srgbClr val="00B050"/>
                  </a:solidFill>
                </a:rPr>
                <a:t> //end main</a:t>
              </a:r>
            </a:p>
            <a:p>
              <a:r>
                <a:rPr lang="en-US" sz="1600" dirty="0" smtClean="0">
                  <a:solidFill>
                    <a:srgbClr val="00B050"/>
                  </a:solidFill>
                </a:rPr>
                <a:t>// returns the minimum of two integers</a:t>
              </a:r>
              <a:endParaRPr lang="en-US" sz="1600" dirty="0">
                <a:solidFill>
                  <a:srgbClr val="00B050"/>
                </a:solidFill>
              </a:endParaRP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   public static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minimum</a:t>
              </a:r>
              <a:r>
                <a:rPr lang="en-US" sz="1600" dirty="0" smtClean="0"/>
                <a:t>(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num1</a:t>
              </a:r>
              <a:r>
                <a:rPr lang="en-US" sz="1600" dirty="0" smtClean="0"/>
                <a:t>,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num2</a:t>
              </a:r>
              <a:r>
                <a:rPr lang="en-US" sz="1600" dirty="0" smtClean="0"/>
                <a:t>)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{</a:t>
              </a: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     if </a:t>
              </a:r>
              <a:r>
                <a:rPr lang="en-US" sz="1600" dirty="0" smtClean="0"/>
                <a:t>(</a:t>
              </a:r>
              <a:r>
                <a:rPr lang="en-US" sz="1600" dirty="0" smtClean="0">
                  <a:solidFill>
                    <a:srgbClr val="FF33CC"/>
                  </a:solidFill>
                </a:rPr>
                <a:t>num1 </a:t>
              </a:r>
              <a:r>
                <a:rPr lang="en-US" sz="1600" dirty="0" smtClean="0"/>
                <a:t>&lt;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num2</a:t>
              </a:r>
              <a:r>
                <a:rPr lang="en-US" sz="1600" dirty="0" smtClean="0"/>
                <a:t>)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     return </a:t>
              </a:r>
              <a:r>
                <a:rPr lang="en-US" sz="1600" dirty="0" smtClean="0">
                  <a:solidFill>
                    <a:srgbClr val="FF33CC"/>
                  </a:solidFill>
                </a:rPr>
                <a:t>num1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  else</a:t>
              </a: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        return </a:t>
              </a:r>
              <a:r>
                <a:rPr lang="en-US" sz="1600" dirty="0" smtClean="0">
                  <a:solidFill>
                    <a:srgbClr val="FF33CC"/>
                  </a:solidFill>
                </a:rPr>
                <a:t>num2</a:t>
              </a:r>
              <a:r>
                <a:rPr lang="en-US" sz="1600" dirty="0" smtClean="0">
                  <a:solidFill>
                    <a:srgbClr val="0000FF"/>
                  </a:solidFill>
                </a:rPr>
                <a:t>;</a:t>
              </a:r>
              <a:endParaRPr lang="en-US" sz="1600" dirty="0" smtClean="0"/>
            </a:p>
            <a:p>
              <a:r>
                <a:rPr lang="en-US" sz="1600" dirty="0" smtClean="0"/>
                <a:t>   }</a:t>
              </a:r>
              <a:r>
                <a:rPr lang="en-US" sz="1600" dirty="0" smtClean="0">
                  <a:solidFill>
                    <a:srgbClr val="00B050"/>
                  </a:solidFill>
                </a:rPr>
                <a:t> //end minimum</a:t>
              </a:r>
            </a:p>
            <a:p>
              <a:r>
                <a:rPr lang="en-US" sz="1600" dirty="0" smtClean="0"/>
                <a:t>}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50"/>
                  </a:solidFill>
                </a:rPr>
                <a:t>//end class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23528" y="1236822"/>
              <a:ext cx="450344" cy="4485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1516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19</a:t>
              </a:r>
            </a:p>
          </p:txBody>
        </p:sp>
      </p:grpSp>
      <p:sp>
        <p:nvSpPr>
          <p:cNvPr id="14" name="Oval Callout 13"/>
          <p:cNvSpPr/>
          <p:nvPr/>
        </p:nvSpPr>
        <p:spPr>
          <a:xfrm>
            <a:off x="5796136" y="4694220"/>
            <a:ext cx="2088232" cy="1183052"/>
          </a:xfrm>
          <a:prstGeom prst="wedgeEllipseCallout">
            <a:avLst>
              <a:gd name="adj1" fmla="val -184235"/>
              <a:gd name="adj2" fmla="val -27480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CORRECT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55576" y="4437112"/>
            <a:ext cx="2304256" cy="1152128"/>
          </a:xfrm>
          <a:prstGeom prst="rect">
            <a:avLst/>
          </a:prstGeom>
          <a:solidFill>
            <a:srgbClr val="FFC000">
              <a:alpha val="2500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78830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4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6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IMPORTANT NOTES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6.3 ALTERNATE PATHS IN A VALUE-RETURNING METHOD (3)</a:t>
            </a:r>
            <a:endParaRPr lang="en-US" b="1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/>
          <p:cNvGrpSpPr/>
          <p:nvPr/>
        </p:nvGrpSpPr>
        <p:grpSpPr>
          <a:xfrm>
            <a:off x="179512" y="1340768"/>
            <a:ext cx="8784977" cy="4770537"/>
            <a:chOff x="323528" y="1236822"/>
            <a:chExt cx="7848873" cy="4485841"/>
          </a:xfrm>
        </p:grpSpPr>
        <p:sp>
          <p:nvSpPr>
            <p:cNvPr id="41" name="TextBox 40"/>
            <p:cNvSpPr txBox="1"/>
            <p:nvPr/>
          </p:nvSpPr>
          <p:spPr>
            <a:xfrm>
              <a:off x="788528" y="1236822"/>
              <a:ext cx="7383873" cy="4485841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rgbClr val="00B0F0"/>
                  </a:solidFill>
                </a:rPr>
                <a:t>import </a:t>
              </a:r>
              <a:r>
                <a:rPr lang="en-US" sz="1600" dirty="0" err="1" smtClean="0">
                  <a:solidFill>
                    <a:srgbClr val="FF0000"/>
                  </a:solidFill>
                </a:rPr>
                <a:t>java.util</a:t>
              </a:r>
              <a:r>
                <a:rPr lang="en-US" sz="1600" dirty="0" smtClean="0">
                  <a:solidFill>
                    <a:srgbClr val="FF0000"/>
                  </a:solidFill>
                </a:rPr>
                <a:t>.*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public class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alternatePaths</a:t>
              </a:r>
              <a:endParaRPr lang="en-US" sz="1600" dirty="0" smtClean="0">
                <a:solidFill>
                  <a:srgbClr val="0000FF"/>
                </a:solidFill>
              </a:endParaRPr>
            </a:p>
            <a:p>
              <a:r>
                <a:rPr lang="en-US" sz="1600" dirty="0" smtClean="0"/>
                <a:t>{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</a:t>
              </a:r>
              <a:r>
                <a:rPr lang="en-US" sz="1600" dirty="0" smtClean="0">
                  <a:solidFill>
                    <a:srgbClr val="00B0F0"/>
                  </a:solidFill>
                </a:rPr>
                <a:t>public static void main </a:t>
              </a:r>
              <a:r>
                <a:rPr lang="en-US" sz="1600" dirty="0" smtClean="0"/>
                <a:t>(</a:t>
              </a:r>
              <a:r>
                <a:rPr lang="en-US" sz="1600" dirty="0" smtClean="0">
                  <a:solidFill>
                    <a:srgbClr val="00B0F0"/>
                  </a:solidFill>
                </a:rPr>
                <a:t>String[]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args</a:t>
              </a:r>
              <a:r>
                <a:rPr lang="en-US" sz="1600" dirty="0" smtClean="0"/>
                <a:t>)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{</a:t>
              </a: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    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x </a:t>
              </a:r>
              <a:r>
                <a:rPr lang="en-US" sz="1600" dirty="0" smtClean="0"/>
                <a:t>= -5,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y</a:t>
              </a:r>
              <a:r>
                <a:rPr lang="en-US" sz="1600" dirty="0" smtClean="0"/>
                <a:t> = 3;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 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smallest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  </a:t>
              </a:r>
              <a:r>
                <a:rPr lang="en-US" sz="1600" dirty="0" smtClean="0">
                  <a:solidFill>
                    <a:srgbClr val="0000FF"/>
                  </a:solidFill>
                </a:rPr>
                <a:t>smallest </a:t>
              </a:r>
              <a:r>
                <a:rPr lang="en-US" sz="1600" dirty="0" smtClean="0"/>
                <a:t>=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minimum</a:t>
              </a:r>
              <a:r>
                <a:rPr lang="en-US" sz="1600" dirty="0" smtClean="0"/>
                <a:t>(</a:t>
              </a:r>
              <a:r>
                <a:rPr lang="en-US" sz="1600" dirty="0" smtClean="0">
                  <a:solidFill>
                    <a:srgbClr val="0000FF"/>
                  </a:solidFill>
                </a:rPr>
                <a:t>x</a:t>
              </a:r>
              <a:r>
                <a:rPr lang="en-US" sz="1600" dirty="0" smtClean="0"/>
                <a:t>,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y</a:t>
              </a:r>
              <a:r>
                <a:rPr lang="en-US" sz="1600" dirty="0" smtClean="0"/>
                <a:t>);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</a:t>
              </a:r>
              <a:r>
                <a:rPr lang="en-US" sz="1600" dirty="0" err="1" smtClean="0"/>
                <a:t>System.out.printf</a:t>
              </a:r>
              <a:r>
                <a:rPr lang="en-US" sz="1600" dirty="0" smtClean="0"/>
                <a:t> (“Smallest number = %d”,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smallest</a:t>
              </a:r>
              <a:r>
                <a:rPr lang="en-US" sz="1600" dirty="0" smtClean="0"/>
                <a:t>);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}</a:t>
              </a:r>
              <a:r>
                <a:rPr lang="en-US" sz="1600" dirty="0" smtClean="0">
                  <a:solidFill>
                    <a:srgbClr val="00B050"/>
                  </a:solidFill>
                </a:rPr>
                <a:t> //end main</a:t>
              </a:r>
            </a:p>
            <a:p>
              <a:r>
                <a:rPr lang="en-US" sz="1600" dirty="0" smtClean="0">
                  <a:solidFill>
                    <a:srgbClr val="00B050"/>
                  </a:solidFill>
                </a:rPr>
                <a:t>// returns the minimum of two integers</a:t>
              </a:r>
              <a:endParaRPr lang="en-US" sz="1600" dirty="0">
                <a:solidFill>
                  <a:srgbClr val="00B050"/>
                </a:solidFill>
              </a:endParaRP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   public static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minimum</a:t>
              </a:r>
              <a:r>
                <a:rPr lang="en-US" sz="1600" dirty="0" smtClean="0"/>
                <a:t>(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num1</a:t>
              </a:r>
              <a:r>
                <a:rPr lang="en-US" sz="1600" dirty="0" smtClean="0"/>
                <a:t>,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num2</a:t>
              </a:r>
              <a:r>
                <a:rPr lang="en-US" sz="1600" dirty="0" smtClean="0"/>
                <a:t>)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{</a:t>
              </a: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     if </a:t>
              </a:r>
              <a:r>
                <a:rPr lang="en-US" sz="1600" dirty="0" smtClean="0"/>
                <a:t>(</a:t>
              </a:r>
              <a:r>
                <a:rPr lang="en-US" sz="1600" dirty="0" smtClean="0">
                  <a:solidFill>
                    <a:srgbClr val="FF33CC"/>
                  </a:solidFill>
                </a:rPr>
                <a:t>num1 </a:t>
              </a:r>
              <a:r>
                <a:rPr lang="en-US" sz="1600" dirty="0" smtClean="0"/>
                <a:t>&lt;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num2</a:t>
              </a:r>
              <a:r>
                <a:rPr lang="en-US" sz="1600" dirty="0" smtClean="0"/>
                <a:t>)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     return </a:t>
              </a:r>
              <a:r>
                <a:rPr lang="en-US" sz="1600" dirty="0" smtClean="0">
                  <a:solidFill>
                    <a:srgbClr val="FF33CC"/>
                  </a:solidFill>
                </a:rPr>
                <a:t>num1</a:t>
              </a:r>
              <a:r>
                <a:rPr lang="en-US" sz="1600" dirty="0" smtClean="0"/>
                <a:t>;</a:t>
              </a:r>
            </a:p>
            <a:p>
              <a:endParaRPr lang="en-US" sz="1600" dirty="0" smtClean="0">
                <a:solidFill>
                  <a:srgbClr val="00B0F0"/>
                </a:solidFill>
              </a:endParaRP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     return </a:t>
              </a:r>
              <a:r>
                <a:rPr lang="en-US" sz="1600" dirty="0" smtClean="0">
                  <a:solidFill>
                    <a:srgbClr val="FF33CC"/>
                  </a:solidFill>
                </a:rPr>
                <a:t>num2</a:t>
              </a:r>
              <a:r>
                <a:rPr lang="en-US" sz="1600" dirty="0" smtClean="0">
                  <a:solidFill>
                    <a:srgbClr val="0000FF"/>
                  </a:solidFill>
                </a:rPr>
                <a:t>;</a:t>
              </a:r>
              <a:endParaRPr lang="en-US" sz="1600" dirty="0" smtClean="0"/>
            </a:p>
            <a:p>
              <a:r>
                <a:rPr lang="en-US" sz="1600" dirty="0" smtClean="0"/>
                <a:t>   }</a:t>
              </a:r>
              <a:r>
                <a:rPr lang="en-US" sz="1600" dirty="0" smtClean="0">
                  <a:solidFill>
                    <a:srgbClr val="00B050"/>
                  </a:solidFill>
                </a:rPr>
                <a:t> //end minimum</a:t>
              </a:r>
            </a:p>
            <a:p>
              <a:r>
                <a:rPr lang="en-US" sz="1600" dirty="0" smtClean="0"/>
                <a:t>}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50"/>
                  </a:solidFill>
                </a:rPr>
                <a:t>//end class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23528" y="1236822"/>
              <a:ext cx="450344" cy="4485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1516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19</a:t>
              </a:r>
            </a:p>
          </p:txBody>
        </p:sp>
      </p:grpSp>
      <p:sp>
        <p:nvSpPr>
          <p:cNvPr id="14" name="Oval Callout 13"/>
          <p:cNvSpPr/>
          <p:nvPr/>
        </p:nvSpPr>
        <p:spPr>
          <a:xfrm>
            <a:off x="5796136" y="4694220"/>
            <a:ext cx="2088232" cy="1183052"/>
          </a:xfrm>
          <a:prstGeom prst="wedgeEllipseCallout">
            <a:avLst>
              <a:gd name="adj1" fmla="val -184235"/>
              <a:gd name="adj2" fmla="val -27480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CORRECT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55576" y="4437112"/>
            <a:ext cx="2304256" cy="1152128"/>
          </a:xfrm>
          <a:prstGeom prst="rect">
            <a:avLst/>
          </a:prstGeom>
          <a:solidFill>
            <a:srgbClr val="FFC000">
              <a:alpha val="2500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78641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4" grpId="0" animBg="1"/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7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SUMMARY 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7.1 COMPARING VOID AND VALUE-RETURNING METHODS</a:t>
            </a:r>
            <a:endParaRPr lang="en-US" b="1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190806640"/>
              </p:ext>
            </p:extLst>
          </p:nvPr>
        </p:nvGraphicFramePr>
        <p:xfrm>
          <a:off x="251520" y="1420872"/>
          <a:ext cx="8640960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/>
                <a:gridCol w="3384376"/>
                <a:gridCol w="3456384"/>
              </a:tblGrid>
              <a:tr h="370840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0000FF"/>
                          </a:solidFill>
                        </a:rPr>
                        <a:t>void</a:t>
                      </a:r>
                      <a:endParaRPr 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0000FF"/>
                          </a:solidFill>
                        </a:rPr>
                        <a:t>value-returning</a:t>
                      </a:r>
                      <a:endParaRPr 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rgbClr val="0000FF"/>
                          </a:solidFill>
                        </a:rPr>
                        <a:t>return</a:t>
                      </a:r>
                      <a:r>
                        <a:rPr lang="en-US" sz="1800" b="1" baseline="0" dirty="0" smtClean="0">
                          <a:solidFill>
                            <a:srgbClr val="0000FF"/>
                          </a:solidFill>
                        </a:rPr>
                        <a:t> data?</a:t>
                      </a:r>
                      <a:endParaRPr lang="en-US" sz="1800" b="1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0000FF"/>
                          </a:solidFill>
                        </a:rPr>
                        <a:t>No</a:t>
                      </a:r>
                      <a:endParaRPr 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0000FF"/>
                          </a:solidFill>
                        </a:rPr>
                        <a:t>Yes</a:t>
                      </a:r>
                      <a:endParaRPr 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rgbClr val="0000FF"/>
                          </a:solidFill>
                        </a:rPr>
                        <a:t>Parameter list</a:t>
                      </a:r>
                      <a:endParaRPr lang="en-US" sz="1800" b="1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0000FF"/>
                          </a:solidFill>
                        </a:rPr>
                        <a:t>May include from</a:t>
                      </a:r>
                      <a:r>
                        <a:rPr lang="en-US" sz="1800" baseline="0" dirty="0" smtClean="0">
                          <a:solidFill>
                            <a:srgbClr val="0000FF"/>
                          </a:solidFill>
                        </a:rPr>
                        <a:t> zero to any number of parameters</a:t>
                      </a:r>
                      <a:endParaRPr 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rgbClr val="0000FF"/>
                          </a:solidFill>
                        </a:rPr>
                        <a:t>May include from</a:t>
                      </a:r>
                      <a:r>
                        <a:rPr lang="en-US" sz="1800" baseline="0" dirty="0" smtClean="0">
                          <a:solidFill>
                            <a:srgbClr val="0000FF"/>
                          </a:solidFill>
                        </a:rPr>
                        <a:t> zero to any number of parameters</a:t>
                      </a:r>
                      <a:endParaRPr lang="en-US" sz="1800" dirty="0" smtClean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rgbClr val="0000FF"/>
                          </a:solidFill>
                        </a:rPr>
                        <a:t>Calling</a:t>
                      </a:r>
                      <a:endParaRPr lang="en-US" sz="1800" b="1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0000FF"/>
                          </a:solidFill>
                        </a:rPr>
                        <a:t>Stand-alone statement in the caller method</a:t>
                      </a:r>
                      <a:endParaRPr 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rgbClr val="0000FF"/>
                          </a:solidFill>
                        </a:rPr>
                        <a:t>Used in</a:t>
                      </a:r>
                      <a:r>
                        <a:rPr lang="en-US" sz="1800" baseline="0" dirty="0" smtClean="0">
                          <a:solidFill>
                            <a:srgbClr val="0000FF"/>
                          </a:solidFill>
                        </a:rPr>
                        <a:t> the same way as variables in the caller method</a:t>
                      </a:r>
                      <a:endParaRPr lang="en-US" sz="1800" dirty="0" smtClean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715616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5110" y="823087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7.2 VARIABLES USED IN METHODS</a:t>
            </a:r>
            <a:endParaRPr lang="en-US" b="1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7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SUMMARY 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16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872471708"/>
              </p:ext>
            </p:extLst>
          </p:nvPr>
        </p:nvGraphicFramePr>
        <p:xfrm>
          <a:off x="266629" y="1484784"/>
          <a:ext cx="8640961" cy="283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503"/>
                <a:gridCol w="2031748"/>
                <a:gridCol w="2503563"/>
                <a:gridCol w="2912147"/>
              </a:tblGrid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rgbClr val="0000FF"/>
                          </a:solidFill>
                        </a:rPr>
                        <a:t>Formal Parameters</a:t>
                      </a:r>
                      <a:endParaRPr lang="en-US" sz="16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rgbClr val="0000FF"/>
                          </a:solidFill>
                        </a:rPr>
                        <a:t>Local Variables</a:t>
                      </a:r>
                      <a:endParaRPr lang="en-US" sz="16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rgbClr val="0000FF"/>
                          </a:solidFill>
                        </a:rPr>
                        <a:t>Actual Parameters</a:t>
                      </a:r>
                      <a:endParaRPr lang="en-US" sz="16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0000FF"/>
                          </a:solidFill>
                        </a:rPr>
                        <a:t>Defined where?</a:t>
                      </a:r>
                      <a:endParaRPr lang="en-US" sz="1600" b="1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rgbClr val="0000FF"/>
                          </a:solidFill>
                        </a:rPr>
                        <a:t>Method header</a:t>
                      </a:r>
                      <a:endParaRPr lang="en-US" sz="16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rgbClr val="0000FF"/>
                          </a:solidFill>
                        </a:rPr>
                        <a:t>Inside the method</a:t>
                      </a:r>
                      <a:endParaRPr lang="en-US" sz="16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rgbClr val="0000FF"/>
                          </a:solidFill>
                        </a:rPr>
                        <a:t>Caller method</a:t>
                      </a:r>
                      <a:endParaRPr lang="en-US" sz="16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0000FF"/>
                          </a:solidFill>
                        </a:rPr>
                        <a:t>Used where?</a:t>
                      </a:r>
                      <a:endParaRPr lang="en-US" sz="1600" b="1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rgbClr val="0000FF"/>
                          </a:solidFill>
                        </a:rPr>
                        <a:t>Inside the method</a:t>
                      </a:r>
                      <a:endParaRPr lang="en-US" sz="16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rgbClr val="0000FF"/>
                          </a:solidFill>
                        </a:rPr>
                        <a:t>Inside the method. Also, declared inside the method.</a:t>
                      </a: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rgbClr val="0000FF"/>
                          </a:solidFill>
                        </a:rPr>
                        <a:t>Values replace formal parameters of the called method</a:t>
                      </a: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0000FF"/>
                          </a:solidFill>
                        </a:rPr>
                        <a:t>Value</a:t>
                      </a:r>
                      <a:endParaRPr lang="en-US" sz="1600" b="1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rgbClr val="0000FF"/>
                          </a:solidFill>
                        </a:rPr>
                        <a:t>Actual parameters pass their values to the formal parameters</a:t>
                      </a:r>
                      <a:endParaRPr lang="en-US" sz="16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rgbClr val="0000FF"/>
                          </a:solidFill>
                        </a:rPr>
                        <a:t>Are given values inside the method</a:t>
                      </a: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rgbClr val="0000FF"/>
                          </a:solidFill>
                        </a:rPr>
                        <a:t>Should have values before being used</a:t>
                      </a:r>
                      <a:r>
                        <a:rPr lang="en-US" sz="1600" baseline="0" dirty="0" smtClean="0">
                          <a:solidFill>
                            <a:srgbClr val="0000FF"/>
                          </a:solidFill>
                        </a:rPr>
                        <a:t> to call a method.</a:t>
                      </a:r>
                      <a:endParaRPr lang="en-US" sz="1600" dirty="0" smtClean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118939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7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SUMMARY 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7.3 METHOD CALLING</a:t>
            </a:r>
            <a:endParaRPr lang="en-US" b="1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3528" y="122869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Make sure the following conditions are satisfied between the caller and called methods:</a:t>
            </a:r>
            <a:endParaRPr lang="en-US" sz="20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3528" y="187676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number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parameters is equal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3528" y="244484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parameter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relevant (important) 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3528" y="301292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corresponding parameters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types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the same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3528" y="358100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Don’t write the </a:t>
            </a:r>
            <a:r>
              <a:rPr lang="en-US" sz="2000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types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the actual parameters in the caller method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80729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2" grpId="0"/>
      <p:bldP spid="14" grpId="0"/>
      <p:bldP spid="15" grpId="0"/>
      <p:bldP spid="22" grpId="0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798864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7.4 THE RETURN STATEMENT</a:t>
            </a:r>
            <a:endParaRPr lang="en-US" b="1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7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SUMMARY 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18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23528" y="126876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Make sure of the following in the value-returning methods:</a:t>
            </a:r>
            <a:endParaRPr lang="en-US" sz="20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3528" y="1944125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value is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returned</a:t>
            </a:r>
            <a:endParaRPr lang="en-US" sz="20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23528" y="261949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returned value has the same data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 the method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23528" y="3294855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paths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considered to return a value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23528" y="397022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Remember that the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statement is the last to execute in the method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23528" y="4953362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Remember that the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statement passes a single value to the  caller method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97870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8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PROGRAMMING EXAMPLES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798864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8.1 PROGRAM 1</a:t>
            </a:r>
            <a:endParaRPr lang="en-US" b="1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79512" y="1350646"/>
            <a:ext cx="8784976" cy="1646306"/>
          </a:xfrm>
          <a:prstGeom prst="roundRect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600" dirty="0"/>
              <a:t>Write a </a:t>
            </a:r>
            <a:r>
              <a:rPr lang="en-US" sz="1600" dirty="0" smtClean="0"/>
              <a:t>complete program that includes a method to </a:t>
            </a:r>
            <a:r>
              <a:rPr lang="en-US" sz="1600" u="sng" dirty="0" smtClean="0"/>
              <a:t>restrict</a:t>
            </a:r>
            <a:r>
              <a:rPr lang="fr-FR" sz="1600" dirty="0"/>
              <a:t> </a:t>
            </a:r>
            <a:r>
              <a:rPr lang="en-US" sz="1600" dirty="0" smtClean="0"/>
              <a:t>(enforce) that the score of a student falls between 0 and 100. The method name is </a:t>
            </a:r>
            <a:r>
              <a:rPr lang="en-US" sz="1600" u="sng" dirty="0" smtClean="0"/>
              <a:t>validate</a:t>
            </a:r>
            <a:r>
              <a:rPr lang="en-US" sz="1600" dirty="0" smtClean="0"/>
              <a:t>, it is of type </a:t>
            </a:r>
            <a:r>
              <a:rPr lang="en-US" sz="1600" dirty="0" err="1" smtClean="0"/>
              <a:t>boolean</a:t>
            </a:r>
            <a:r>
              <a:rPr lang="en-US" sz="1600" dirty="0" smtClean="0"/>
              <a:t>. The formal parameter list includes the read score, the minimum allowed score and the maximum allowed score. </a:t>
            </a:r>
          </a:p>
          <a:p>
            <a:pPr algn="just"/>
            <a:r>
              <a:rPr lang="en-US" sz="1600" dirty="0" smtClean="0"/>
              <a:t>The program should then call a method to calculate and return the corresponding letter grade.</a:t>
            </a:r>
            <a:endParaRPr lang="en-US" sz="1600" dirty="0"/>
          </a:p>
        </p:txBody>
      </p:sp>
      <p:sp>
        <p:nvSpPr>
          <p:cNvPr id="31" name="Rounded Rectangle 30"/>
          <p:cNvSpPr/>
          <p:nvPr/>
        </p:nvSpPr>
        <p:spPr>
          <a:xfrm>
            <a:off x="236951" y="3140968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INPUT</a:t>
            </a:r>
            <a:endParaRPr lang="en-US" dirty="0"/>
          </a:p>
        </p:txBody>
      </p:sp>
      <p:sp>
        <p:nvSpPr>
          <p:cNvPr id="32" name="Rounded Rectangle 31"/>
          <p:cNvSpPr/>
          <p:nvPr/>
        </p:nvSpPr>
        <p:spPr>
          <a:xfrm>
            <a:off x="1619672" y="3140968"/>
            <a:ext cx="7344816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Student’s numeric score (variable: </a:t>
            </a:r>
            <a:r>
              <a:rPr lang="en-US" dirty="0" err="1" smtClean="0">
                <a:solidFill>
                  <a:srgbClr val="0000FF"/>
                </a:solidFill>
              </a:rPr>
              <a:t>studentScore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, type: </a:t>
            </a:r>
            <a:r>
              <a:rPr lang="en-US" dirty="0" err="1" smtClean="0">
                <a:solidFill>
                  <a:srgbClr val="00B0F0"/>
                </a:solidFill>
              </a:rPr>
              <a:t>int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1520" y="3717032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OUTPUT</a:t>
            </a:r>
            <a:endParaRPr lang="en-US" dirty="0"/>
          </a:p>
        </p:txBody>
      </p:sp>
      <p:sp>
        <p:nvSpPr>
          <p:cNvPr id="34" name="Rounded Rectangle 33"/>
          <p:cNvSpPr/>
          <p:nvPr/>
        </p:nvSpPr>
        <p:spPr>
          <a:xfrm>
            <a:off x="1634241" y="3717032"/>
            <a:ext cx="7344816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Student’s letter grade (variable: </a:t>
            </a:r>
            <a:r>
              <a:rPr lang="en-US" dirty="0" err="1" smtClean="0">
                <a:solidFill>
                  <a:srgbClr val="0000FF"/>
                </a:solidFill>
              </a:rPr>
              <a:t>studentGrade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, type: </a:t>
            </a:r>
            <a:r>
              <a:rPr lang="en-US" dirty="0" smtClean="0">
                <a:solidFill>
                  <a:srgbClr val="00B0F0"/>
                </a:solidFill>
              </a:rPr>
              <a:t>char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lang="en-US" dirty="0" smtClean="0">
              <a:solidFill>
                <a:srgbClr val="FF3399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251520" y="4293096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Method1</a:t>
            </a:r>
            <a:endParaRPr lang="en-US" dirty="0"/>
          </a:p>
        </p:txBody>
      </p:sp>
      <p:sp>
        <p:nvSpPr>
          <p:cNvPr id="36" name="Rounded Rectangle 35"/>
          <p:cNvSpPr/>
          <p:nvPr/>
        </p:nvSpPr>
        <p:spPr>
          <a:xfrm>
            <a:off x="1634241" y="4293096"/>
            <a:ext cx="7344816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B0F0"/>
                </a:solidFill>
              </a:rPr>
              <a:t>public static </a:t>
            </a:r>
            <a:r>
              <a:rPr lang="en-US" dirty="0" err="1" smtClean="0">
                <a:solidFill>
                  <a:srgbClr val="00B0F0"/>
                </a:solidFill>
              </a:rPr>
              <a:t>boolean</a:t>
            </a:r>
            <a:r>
              <a:rPr lang="en-US" dirty="0" smtClean="0">
                <a:solidFill>
                  <a:srgbClr val="00B0F0"/>
                </a:solidFill>
              </a:rPr>
              <a:t> </a:t>
            </a:r>
            <a:r>
              <a:rPr lang="en-US" dirty="0" smtClean="0">
                <a:solidFill>
                  <a:srgbClr val="0000FF"/>
                </a:solidFill>
              </a:rPr>
              <a:t>validate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en-US" dirty="0" err="1" smtClean="0">
                <a:solidFill>
                  <a:srgbClr val="00B0F0"/>
                </a:solidFill>
              </a:rPr>
              <a:t>int</a:t>
            </a:r>
            <a:r>
              <a:rPr lang="en-US" dirty="0" smtClean="0">
                <a:solidFill>
                  <a:srgbClr val="00B0F0"/>
                </a:solidFill>
              </a:rPr>
              <a:t> </a:t>
            </a:r>
            <a:r>
              <a:rPr lang="en-US" dirty="0" smtClean="0">
                <a:solidFill>
                  <a:srgbClr val="FF33CC"/>
                </a:solidFill>
              </a:rPr>
              <a:t>number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n-US" dirty="0" err="1" smtClean="0">
                <a:solidFill>
                  <a:srgbClr val="00B0F0"/>
                </a:solidFill>
              </a:rPr>
              <a:t>int</a:t>
            </a:r>
            <a:r>
              <a:rPr lang="en-US" dirty="0" smtClean="0">
                <a:solidFill>
                  <a:srgbClr val="00B0F0"/>
                </a:solidFill>
              </a:rPr>
              <a:t> </a:t>
            </a:r>
            <a:r>
              <a:rPr lang="en-US" dirty="0" smtClean="0">
                <a:solidFill>
                  <a:srgbClr val="FF33CC"/>
                </a:solidFill>
              </a:rPr>
              <a:t>min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n-US" dirty="0" err="1" smtClean="0">
                <a:solidFill>
                  <a:srgbClr val="00B0F0"/>
                </a:solidFill>
              </a:rPr>
              <a:t>int</a:t>
            </a:r>
            <a:r>
              <a:rPr lang="en-US" dirty="0" smtClean="0">
                <a:solidFill>
                  <a:srgbClr val="00B0F0"/>
                </a:solidFill>
              </a:rPr>
              <a:t> </a:t>
            </a:r>
            <a:r>
              <a:rPr lang="en-US" dirty="0" smtClean="0">
                <a:solidFill>
                  <a:srgbClr val="FF33CC"/>
                </a:solidFill>
              </a:rPr>
              <a:t>max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lang="en-US" dirty="0" smtClean="0">
              <a:solidFill>
                <a:srgbClr val="FF3399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251520" y="4869160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Method2</a:t>
            </a:r>
            <a:endParaRPr lang="en-US" dirty="0"/>
          </a:p>
        </p:txBody>
      </p:sp>
      <p:sp>
        <p:nvSpPr>
          <p:cNvPr id="38" name="Rounded Rectangle 37"/>
          <p:cNvSpPr/>
          <p:nvPr/>
        </p:nvSpPr>
        <p:spPr>
          <a:xfrm>
            <a:off x="1634241" y="4869160"/>
            <a:ext cx="7344816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B0F0"/>
                </a:solidFill>
              </a:rPr>
              <a:t>public static char </a:t>
            </a:r>
            <a:r>
              <a:rPr lang="en-US" dirty="0" err="1" smtClean="0">
                <a:solidFill>
                  <a:srgbClr val="0000FF"/>
                </a:solidFill>
              </a:rPr>
              <a:t>letterGrade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en-US" dirty="0" err="1" smtClean="0">
                <a:solidFill>
                  <a:srgbClr val="00B0F0"/>
                </a:solidFill>
              </a:rPr>
              <a:t>int</a:t>
            </a:r>
            <a:r>
              <a:rPr lang="en-US" dirty="0" smtClean="0">
                <a:solidFill>
                  <a:srgbClr val="00B0F0"/>
                </a:solidFill>
              </a:rPr>
              <a:t> </a:t>
            </a:r>
            <a:r>
              <a:rPr lang="en-US" dirty="0" err="1" smtClean="0">
                <a:solidFill>
                  <a:srgbClr val="FF33CC"/>
                </a:solidFill>
              </a:rPr>
              <a:t>numGrade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lang="en-US" dirty="0" smtClean="0">
              <a:solidFill>
                <a:srgbClr val="FF3399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49368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8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PROGRAMMING EXAMPLES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798864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8.1 PROGRAM 1 – SOLUTION (1)</a:t>
            </a:r>
            <a:endParaRPr lang="en-US" b="1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>
            <a:off x="179512" y="1340768"/>
            <a:ext cx="8784977" cy="5078313"/>
            <a:chOff x="323528" y="1236822"/>
            <a:chExt cx="7848873" cy="4775249"/>
          </a:xfrm>
        </p:grpSpPr>
        <p:sp>
          <p:nvSpPr>
            <p:cNvPr id="20" name="TextBox 19"/>
            <p:cNvSpPr txBox="1"/>
            <p:nvPr/>
          </p:nvSpPr>
          <p:spPr>
            <a:xfrm>
              <a:off x="788528" y="1236822"/>
              <a:ext cx="7383873" cy="4775249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B0F0"/>
                  </a:solidFill>
                </a:rPr>
                <a:t>import </a:t>
              </a:r>
              <a:r>
                <a:rPr lang="en-US" smtClean="0">
                  <a:solidFill>
                    <a:srgbClr val="FF0000"/>
                  </a:solidFill>
                </a:rPr>
                <a:t>java.util.Scanner</a:t>
              </a:r>
              <a:r>
                <a:rPr lang="en-US" smtClean="0"/>
                <a:t>;</a:t>
              </a:r>
              <a:endParaRPr lang="en-US" dirty="0" smtClean="0"/>
            </a:p>
            <a:p>
              <a:r>
                <a:rPr lang="en-US" dirty="0" smtClean="0">
                  <a:solidFill>
                    <a:srgbClr val="00B0F0"/>
                  </a:solidFill>
                </a:rPr>
                <a:t>public class </a:t>
              </a:r>
              <a:r>
                <a:rPr lang="en-US" dirty="0" smtClean="0">
                  <a:solidFill>
                    <a:srgbClr val="0000FF"/>
                  </a:solidFill>
                </a:rPr>
                <a:t>program1</a:t>
              </a:r>
            </a:p>
            <a:p>
              <a:r>
                <a:rPr lang="en-US" dirty="0" smtClean="0"/>
                <a:t>{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  </a:t>
              </a:r>
              <a:r>
                <a:rPr lang="en-US" dirty="0" smtClean="0">
                  <a:solidFill>
                    <a:srgbClr val="00B0F0"/>
                  </a:solidFill>
                </a:rPr>
                <a:t>static </a:t>
              </a:r>
              <a:r>
                <a:rPr lang="en-US" dirty="0" smtClean="0"/>
                <a:t>Scanner </a:t>
              </a:r>
              <a:r>
                <a:rPr lang="en-US" dirty="0" smtClean="0">
                  <a:solidFill>
                    <a:srgbClr val="0000FF"/>
                  </a:solidFill>
                </a:rPr>
                <a:t>read</a:t>
              </a:r>
              <a:r>
                <a:rPr lang="en-US" dirty="0" smtClean="0"/>
                <a:t> = </a:t>
              </a:r>
              <a:r>
                <a:rPr lang="en-US" dirty="0" smtClean="0">
                  <a:solidFill>
                    <a:srgbClr val="00B0F0"/>
                  </a:solidFill>
                </a:rPr>
                <a:t>new </a:t>
              </a:r>
              <a:r>
                <a:rPr lang="en-US" dirty="0" smtClean="0"/>
                <a:t>Scanner (System.in);</a:t>
              </a:r>
            </a:p>
            <a:p>
              <a:r>
                <a:rPr lang="en-US" dirty="0" smtClean="0"/>
                <a:t>   </a:t>
              </a:r>
              <a:r>
                <a:rPr lang="en-US" dirty="0" smtClean="0">
                  <a:solidFill>
                    <a:srgbClr val="00B0F0"/>
                  </a:solidFill>
                </a:rPr>
                <a:t>public static void main </a:t>
              </a:r>
              <a:r>
                <a:rPr lang="en-US" dirty="0" smtClean="0"/>
                <a:t>(</a:t>
              </a:r>
              <a:r>
                <a:rPr lang="en-US" dirty="0" smtClean="0">
                  <a:solidFill>
                    <a:srgbClr val="00B0F0"/>
                  </a:solidFill>
                </a:rPr>
                <a:t>String[] </a:t>
              </a:r>
              <a:r>
                <a:rPr lang="en-US" dirty="0" err="1" smtClean="0">
                  <a:solidFill>
                    <a:srgbClr val="00B0F0"/>
                  </a:solidFill>
                </a:rPr>
                <a:t>args</a:t>
              </a:r>
              <a:r>
                <a:rPr lang="en-US" dirty="0" smtClean="0"/>
                <a:t>)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  {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     </a:t>
              </a:r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B0F0"/>
                  </a:solidFill>
                </a:rPr>
                <a:t> </a:t>
              </a:r>
              <a:r>
                <a:rPr lang="en-US" dirty="0" err="1" smtClean="0">
                  <a:solidFill>
                    <a:srgbClr val="0000FF"/>
                  </a:solidFill>
                </a:rPr>
                <a:t>studentScore</a:t>
              </a:r>
              <a:r>
                <a:rPr lang="en-US" dirty="0" smtClean="0"/>
                <a:t>;</a:t>
              </a:r>
            </a:p>
            <a:p>
              <a:r>
                <a:rPr lang="en-US" dirty="0" smtClean="0"/>
                <a:t>     </a:t>
              </a:r>
              <a:r>
                <a:rPr lang="en-US" dirty="0" smtClean="0">
                  <a:solidFill>
                    <a:srgbClr val="00B0F0"/>
                  </a:solidFill>
                </a:rPr>
                <a:t>char</a:t>
              </a:r>
              <a:r>
                <a:rPr lang="en-US" dirty="0" smtClean="0"/>
                <a:t> </a:t>
              </a:r>
              <a:r>
                <a:rPr lang="en-US" dirty="0" err="1" smtClean="0">
                  <a:solidFill>
                    <a:srgbClr val="0000FF"/>
                  </a:solidFill>
                </a:rPr>
                <a:t>studentGrade</a:t>
              </a:r>
              <a:r>
                <a:rPr lang="en-US" dirty="0" smtClean="0"/>
                <a:t>;</a:t>
              </a:r>
            </a:p>
            <a:p>
              <a:r>
                <a:rPr lang="en-US" dirty="0" smtClean="0"/>
                <a:t>     </a:t>
              </a:r>
              <a:r>
                <a:rPr lang="en-US" dirty="0" err="1" smtClean="0">
                  <a:solidFill>
                    <a:srgbClr val="00B0F0"/>
                  </a:solidFill>
                </a:rPr>
                <a:t>boolean</a:t>
              </a:r>
              <a:r>
                <a:rPr lang="en-US" dirty="0" smtClean="0">
                  <a:solidFill>
                    <a:srgbClr val="00B0F0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allowed </a:t>
              </a:r>
              <a:r>
                <a:rPr lang="en-US" dirty="0" smtClean="0"/>
                <a:t>= </a:t>
              </a:r>
              <a:r>
                <a:rPr lang="en-US" dirty="0" smtClean="0">
                  <a:solidFill>
                    <a:srgbClr val="00B0F0"/>
                  </a:solidFill>
                </a:rPr>
                <a:t>false</a:t>
              </a:r>
              <a:r>
                <a:rPr lang="en-US" dirty="0" smtClean="0"/>
                <a:t>;</a:t>
              </a:r>
            </a:p>
            <a:p>
              <a:r>
                <a:rPr lang="en-US" dirty="0" smtClean="0"/>
                <a:t>     </a:t>
              </a:r>
              <a:r>
                <a:rPr lang="en-US" dirty="0" smtClean="0">
                  <a:solidFill>
                    <a:srgbClr val="00B0F0"/>
                  </a:solidFill>
                </a:rPr>
                <a:t>do</a:t>
              </a:r>
              <a:endParaRPr lang="en-US" dirty="0" smtClean="0"/>
            </a:p>
            <a:p>
              <a:r>
                <a:rPr lang="en-US" dirty="0"/>
                <a:t> </a:t>
              </a:r>
              <a:r>
                <a:rPr lang="en-US" dirty="0" smtClean="0"/>
                <a:t>       {</a:t>
              </a:r>
            </a:p>
            <a:p>
              <a:r>
                <a:rPr lang="en-US" dirty="0" smtClean="0"/>
                <a:t>          </a:t>
              </a:r>
              <a:r>
                <a:rPr lang="en-US" dirty="0" err="1" smtClean="0"/>
                <a:t>System.out.println</a:t>
              </a:r>
              <a:r>
                <a:rPr lang="en-US" dirty="0" smtClean="0"/>
                <a:t> (“Please enter student’s score: “);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         </a:t>
              </a:r>
              <a:r>
                <a:rPr lang="en-US" dirty="0" err="1" smtClean="0">
                  <a:solidFill>
                    <a:srgbClr val="0000FF"/>
                  </a:solidFill>
                </a:rPr>
                <a:t>studentScore</a:t>
              </a:r>
              <a:r>
                <a:rPr lang="en-US" dirty="0" smtClean="0">
                  <a:solidFill>
                    <a:srgbClr val="0000FF"/>
                  </a:solidFill>
                </a:rPr>
                <a:t> </a:t>
              </a:r>
              <a:r>
                <a:rPr lang="en-US" dirty="0" smtClean="0"/>
                <a:t>= </a:t>
              </a:r>
              <a:r>
                <a:rPr lang="en-US" dirty="0" err="1" smtClean="0">
                  <a:solidFill>
                    <a:srgbClr val="0000FF"/>
                  </a:solidFill>
                </a:rPr>
                <a:t>read</a:t>
              </a:r>
              <a:r>
                <a:rPr lang="en-US" dirty="0" err="1" smtClean="0"/>
                <a:t>.</a:t>
              </a:r>
              <a:r>
                <a:rPr lang="en-US" dirty="0" err="1" smtClean="0">
                  <a:solidFill>
                    <a:srgbClr val="00B050"/>
                  </a:solidFill>
                </a:rPr>
                <a:t>nextInt</a:t>
              </a:r>
              <a:r>
                <a:rPr lang="en-US" dirty="0" smtClean="0">
                  <a:solidFill>
                    <a:srgbClr val="00B050"/>
                  </a:solidFill>
                </a:rPr>
                <a:t>()</a:t>
              </a:r>
              <a:r>
                <a:rPr lang="en-US" dirty="0" smtClean="0"/>
                <a:t>;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         </a:t>
              </a:r>
              <a:r>
                <a:rPr lang="en-US" dirty="0" smtClean="0">
                  <a:solidFill>
                    <a:srgbClr val="0000FF"/>
                  </a:solidFill>
                </a:rPr>
                <a:t>allowed </a:t>
              </a:r>
              <a:r>
                <a:rPr lang="en-US" dirty="0" smtClean="0"/>
                <a:t>= </a:t>
              </a:r>
              <a:r>
                <a:rPr lang="en-US" dirty="0" smtClean="0">
                  <a:solidFill>
                    <a:srgbClr val="0000FF"/>
                  </a:solidFill>
                </a:rPr>
                <a:t>validate</a:t>
              </a:r>
              <a:r>
                <a:rPr lang="en-US" dirty="0" smtClean="0"/>
                <a:t>(</a:t>
              </a:r>
              <a:r>
                <a:rPr lang="en-US" dirty="0" err="1" smtClean="0">
                  <a:solidFill>
                    <a:srgbClr val="0000FF"/>
                  </a:solidFill>
                </a:rPr>
                <a:t>studentScore</a:t>
              </a:r>
              <a:r>
                <a:rPr lang="en-US" dirty="0" smtClean="0"/>
                <a:t>, 0, 100);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       } </a:t>
              </a:r>
              <a:r>
                <a:rPr lang="en-US" dirty="0" smtClean="0">
                  <a:solidFill>
                    <a:srgbClr val="00B0F0"/>
                  </a:solidFill>
                </a:rPr>
                <a:t>while </a:t>
              </a:r>
              <a:r>
                <a:rPr lang="en-US" dirty="0" smtClean="0"/>
                <a:t>(!</a:t>
              </a:r>
              <a:r>
                <a:rPr lang="en-US" dirty="0" smtClean="0">
                  <a:solidFill>
                    <a:srgbClr val="0000FF"/>
                  </a:solidFill>
                </a:rPr>
                <a:t>allowed</a:t>
              </a:r>
              <a:r>
                <a:rPr lang="en-US" dirty="0" smtClean="0"/>
                <a:t>);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     </a:t>
              </a:r>
              <a:r>
                <a:rPr lang="en-US" dirty="0" err="1" smtClean="0">
                  <a:solidFill>
                    <a:srgbClr val="0000FF"/>
                  </a:solidFill>
                </a:rPr>
                <a:t>studentGrade</a:t>
              </a:r>
              <a:r>
                <a:rPr lang="en-US" dirty="0" smtClean="0">
                  <a:solidFill>
                    <a:srgbClr val="0000FF"/>
                  </a:solidFill>
                </a:rPr>
                <a:t> </a:t>
              </a:r>
              <a:r>
                <a:rPr lang="en-US" dirty="0" smtClean="0"/>
                <a:t>= </a:t>
              </a:r>
              <a:r>
                <a:rPr lang="en-US" dirty="0" err="1" smtClean="0">
                  <a:solidFill>
                    <a:srgbClr val="0000FF"/>
                  </a:solidFill>
                </a:rPr>
                <a:t>letterGrade</a:t>
              </a:r>
              <a:r>
                <a:rPr lang="en-US" dirty="0" smtClean="0"/>
                <a:t>(</a:t>
              </a:r>
              <a:r>
                <a:rPr lang="en-US" dirty="0" err="1" smtClean="0">
                  <a:solidFill>
                    <a:srgbClr val="0000FF"/>
                  </a:solidFill>
                </a:rPr>
                <a:t>studentScore</a:t>
              </a:r>
              <a:r>
                <a:rPr lang="en-US" dirty="0" smtClean="0"/>
                <a:t>);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     </a:t>
              </a:r>
              <a:r>
                <a:rPr lang="en-US" dirty="0" err="1" smtClean="0"/>
                <a:t>System.out.printf</a:t>
              </a:r>
              <a:r>
                <a:rPr lang="en-US" dirty="0" smtClean="0"/>
                <a:t> (“Student’s grade = %c”, </a:t>
              </a:r>
              <a:r>
                <a:rPr lang="en-US" dirty="0" err="1" smtClean="0">
                  <a:solidFill>
                    <a:srgbClr val="0000FF"/>
                  </a:solidFill>
                </a:rPr>
                <a:t>studentGrade</a:t>
              </a:r>
              <a:r>
                <a:rPr lang="en-US" dirty="0" smtClean="0"/>
                <a:t>);</a:t>
              </a:r>
            </a:p>
            <a:p>
              <a:r>
                <a:rPr lang="en-US" dirty="0" smtClean="0"/>
                <a:t>   }</a:t>
              </a:r>
              <a:r>
                <a:rPr lang="en-US" dirty="0" smtClean="0">
                  <a:solidFill>
                    <a:srgbClr val="00B050"/>
                  </a:solidFill>
                </a:rPr>
                <a:t> //end main  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3528" y="1236822"/>
              <a:ext cx="450344" cy="4775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1516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18</a:t>
              </a:r>
            </a:p>
          </p:txBody>
        </p:sp>
      </p:grpSp>
      <p:sp>
        <p:nvSpPr>
          <p:cNvPr id="11" name="Rectangle 10"/>
          <p:cNvSpPr/>
          <p:nvPr/>
        </p:nvSpPr>
        <p:spPr>
          <a:xfrm>
            <a:off x="683568" y="4971655"/>
            <a:ext cx="8280919" cy="257545"/>
          </a:xfrm>
          <a:prstGeom prst="rect">
            <a:avLst/>
          </a:prstGeom>
          <a:solidFill>
            <a:schemeClr val="accent2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83568" y="5475711"/>
            <a:ext cx="8280919" cy="257545"/>
          </a:xfrm>
          <a:prstGeom prst="rect">
            <a:avLst/>
          </a:prstGeom>
          <a:solidFill>
            <a:schemeClr val="accent2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Callout 17"/>
          <p:cNvSpPr/>
          <p:nvPr/>
        </p:nvSpPr>
        <p:spPr>
          <a:xfrm>
            <a:off x="6228184" y="2750004"/>
            <a:ext cx="2088232" cy="1183052"/>
          </a:xfrm>
          <a:prstGeom prst="wedgeEllipseCallout">
            <a:avLst>
              <a:gd name="adj1" fmla="val -113567"/>
              <a:gd name="adj2" fmla="val 144704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>
                <a:solidFill>
                  <a:schemeClr val="tx1"/>
                </a:solidFill>
              </a:rPr>
              <a:t>studentScore</a:t>
            </a:r>
            <a:r>
              <a:rPr lang="en-US" sz="1400" dirty="0" smtClean="0">
                <a:solidFill>
                  <a:schemeClr val="tx1"/>
                </a:solidFill>
              </a:rPr>
              <a:t> got its value in line 13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2" name="Oval Callout 21"/>
          <p:cNvSpPr/>
          <p:nvPr/>
        </p:nvSpPr>
        <p:spPr>
          <a:xfrm>
            <a:off x="6228184" y="2750004"/>
            <a:ext cx="2088232" cy="1183052"/>
          </a:xfrm>
          <a:prstGeom prst="wedgeEllipseCallout">
            <a:avLst>
              <a:gd name="adj1" fmla="val -56772"/>
              <a:gd name="adj2" fmla="val 197507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>
                <a:solidFill>
                  <a:srgbClr val="0000FF"/>
                </a:solidFill>
              </a:rPr>
              <a:t>studentScore</a:t>
            </a:r>
            <a:r>
              <a:rPr lang="en-US" sz="1400" dirty="0" smtClean="0">
                <a:solidFill>
                  <a:srgbClr val="0000FF"/>
                </a:solidFill>
              </a:rPr>
              <a:t> </a:t>
            </a:r>
            <a:r>
              <a:rPr lang="en-US" sz="1400" dirty="0" smtClean="0">
                <a:solidFill>
                  <a:schemeClr val="tx1"/>
                </a:solidFill>
              </a:rPr>
              <a:t>got its value in line 13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46341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1" grpId="0" animBg="1"/>
      <p:bldP spid="12" grpId="0" animBg="1"/>
      <p:bldP spid="18" grpId="0" animBg="1"/>
      <p:bldP spid="2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8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PROGRAMMING EXAMPLES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798864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8.1 PROGRAM 1 – SOLUTION (2)</a:t>
            </a:r>
            <a:endParaRPr lang="en-US" b="1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>
            <a:off x="179512" y="1340768"/>
            <a:ext cx="8784977" cy="5016758"/>
            <a:chOff x="323528" y="1236822"/>
            <a:chExt cx="7848873" cy="4717368"/>
          </a:xfrm>
        </p:grpSpPr>
        <p:sp>
          <p:nvSpPr>
            <p:cNvPr id="20" name="TextBox 19"/>
            <p:cNvSpPr txBox="1"/>
            <p:nvPr/>
          </p:nvSpPr>
          <p:spPr>
            <a:xfrm>
              <a:off x="788528" y="1236822"/>
              <a:ext cx="7383873" cy="471736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rgbClr val="00B0F0"/>
                  </a:solidFill>
                </a:rPr>
                <a:t>public static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boolean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validate</a:t>
              </a:r>
              <a:r>
                <a:rPr lang="en-US" sz="1600" dirty="0" smtClean="0"/>
                <a:t>(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/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number</a:t>
              </a:r>
              <a:r>
                <a:rPr lang="en-US" sz="1600" dirty="0" smtClean="0"/>
                <a:t>,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min</a:t>
              </a:r>
              <a:r>
                <a:rPr lang="en-US" sz="1600" dirty="0" smtClean="0"/>
                <a:t>,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max</a:t>
              </a:r>
              <a:r>
                <a:rPr lang="en-US" sz="1600" dirty="0" smtClean="0"/>
                <a:t>)</a:t>
              </a:r>
            </a:p>
            <a:p>
              <a:r>
                <a:rPr lang="en-US" sz="1600" dirty="0" smtClean="0"/>
                <a:t>{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</a:t>
              </a:r>
              <a:r>
                <a:rPr lang="en-US" sz="1600" dirty="0" smtClean="0">
                  <a:solidFill>
                    <a:srgbClr val="00B0F0"/>
                  </a:solidFill>
                </a:rPr>
                <a:t>if</a:t>
              </a:r>
              <a:r>
                <a:rPr lang="en-US" sz="1600" dirty="0" smtClean="0"/>
                <a:t> ((</a:t>
              </a:r>
              <a:r>
                <a:rPr lang="en-US" sz="1600" dirty="0" smtClean="0">
                  <a:solidFill>
                    <a:srgbClr val="FF33CC"/>
                  </a:solidFill>
                </a:rPr>
                <a:t>number </a:t>
              </a:r>
              <a:r>
                <a:rPr lang="en-US" sz="1600" dirty="0" smtClean="0"/>
                <a:t>&lt; </a:t>
              </a:r>
              <a:r>
                <a:rPr lang="en-US" sz="1600" dirty="0" smtClean="0">
                  <a:solidFill>
                    <a:srgbClr val="FF33CC"/>
                  </a:solidFill>
                </a:rPr>
                <a:t>min</a:t>
              </a:r>
              <a:r>
                <a:rPr lang="en-US" sz="1600" dirty="0" smtClean="0"/>
                <a:t>) || (</a:t>
              </a:r>
              <a:r>
                <a:rPr lang="en-US" sz="1600" dirty="0" smtClean="0">
                  <a:solidFill>
                    <a:srgbClr val="FF33CC"/>
                  </a:solidFill>
                </a:rPr>
                <a:t>number </a:t>
              </a:r>
              <a:r>
                <a:rPr lang="en-US" sz="1600" dirty="0" smtClean="0"/>
                <a:t>&gt; </a:t>
              </a:r>
              <a:r>
                <a:rPr lang="en-US" sz="1600" dirty="0" smtClean="0">
                  <a:solidFill>
                    <a:srgbClr val="FF33CC"/>
                  </a:solidFill>
                </a:rPr>
                <a:t>max</a:t>
              </a:r>
              <a:r>
                <a:rPr lang="en-US" sz="1600" dirty="0" smtClean="0"/>
                <a:t>))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</a:t>
              </a:r>
              <a:r>
                <a:rPr lang="en-US" sz="1600" dirty="0" smtClean="0">
                  <a:solidFill>
                    <a:srgbClr val="00B0F0"/>
                  </a:solidFill>
                </a:rPr>
                <a:t>return false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</a:t>
              </a:r>
              <a:r>
                <a:rPr lang="en-US" sz="1600" dirty="0" smtClean="0">
                  <a:solidFill>
                    <a:srgbClr val="00B0F0"/>
                  </a:solidFill>
                </a:rPr>
                <a:t>return true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 smtClean="0"/>
                <a:t>} </a:t>
              </a:r>
              <a:r>
                <a:rPr lang="en-US" sz="1600" dirty="0" smtClean="0">
                  <a:solidFill>
                    <a:srgbClr val="00B050"/>
                  </a:solidFill>
                </a:rPr>
                <a:t>// end validate</a:t>
              </a:r>
            </a:p>
            <a:p>
              <a:endParaRPr lang="en-US" sz="1600" dirty="0"/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public static char</a:t>
              </a:r>
              <a:r>
                <a:rPr lang="en-US" sz="1600" dirty="0" smtClean="0"/>
                <a:t>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letterGrade</a:t>
              </a:r>
              <a:r>
                <a:rPr lang="en-US" sz="1600" dirty="0" smtClean="0"/>
                <a:t>(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/>
                <a:t> </a:t>
              </a:r>
              <a:r>
                <a:rPr lang="en-US" sz="1600" dirty="0" err="1" smtClean="0">
                  <a:solidFill>
                    <a:srgbClr val="FF33CC"/>
                  </a:solidFill>
                </a:rPr>
                <a:t>numGrade</a:t>
              </a:r>
              <a:r>
                <a:rPr lang="en-US" sz="1600" dirty="0" smtClean="0"/>
                <a:t>)</a:t>
              </a:r>
            </a:p>
            <a:p>
              <a:r>
                <a:rPr lang="en-US" sz="1600" dirty="0" smtClean="0"/>
                <a:t>{</a:t>
              </a:r>
            </a:p>
            <a:p>
              <a:r>
                <a:rPr lang="en-US" sz="1600" dirty="0" smtClean="0"/>
                <a:t>   </a:t>
              </a:r>
              <a:r>
                <a:rPr lang="en-US" sz="1600" dirty="0" smtClean="0">
                  <a:solidFill>
                    <a:srgbClr val="00B0F0"/>
                  </a:solidFill>
                </a:rPr>
                <a:t>switch</a:t>
              </a:r>
              <a:r>
                <a:rPr lang="en-US" sz="1600" dirty="0" smtClean="0"/>
                <a:t> (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numGrade</a:t>
              </a:r>
              <a:r>
                <a:rPr lang="en-US" sz="1600" dirty="0" smtClean="0"/>
                <a:t>/10)</a:t>
              </a:r>
            </a:p>
            <a:p>
              <a:r>
                <a:rPr lang="en-US" sz="1600" dirty="0" smtClean="0"/>
                <a:t>     {</a:t>
              </a:r>
            </a:p>
            <a:p>
              <a:r>
                <a:rPr lang="en-US" sz="1600" dirty="0" smtClean="0"/>
                <a:t>       </a:t>
              </a:r>
              <a:r>
                <a:rPr lang="en-US" sz="1600" dirty="0" smtClean="0">
                  <a:solidFill>
                    <a:srgbClr val="00B0F0"/>
                  </a:solidFill>
                </a:rPr>
                <a:t>case</a:t>
              </a:r>
              <a:r>
                <a:rPr lang="en-US" sz="1600" dirty="0" smtClean="0"/>
                <a:t> 10:</a:t>
              </a:r>
            </a:p>
            <a:p>
              <a:r>
                <a:rPr lang="en-US" sz="1600" dirty="0" smtClean="0"/>
                <a:t>       </a:t>
              </a:r>
              <a:r>
                <a:rPr lang="en-US" sz="1600" dirty="0" smtClean="0">
                  <a:solidFill>
                    <a:srgbClr val="00B0F0"/>
                  </a:solidFill>
                </a:rPr>
                <a:t>case</a:t>
              </a:r>
              <a:r>
                <a:rPr lang="en-US" sz="1600" dirty="0" smtClean="0"/>
                <a:t> 9: </a:t>
              </a:r>
              <a:r>
                <a:rPr lang="en-US" sz="1600" dirty="0" smtClean="0">
                  <a:solidFill>
                    <a:srgbClr val="00B0F0"/>
                  </a:solidFill>
                </a:rPr>
                <a:t>return </a:t>
              </a:r>
              <a:r>
                <a:rPr lang="en-US" sz="1600" dirty="0" smtClean="0"/>
                <a:t>‘A’;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 </a:t>
              </a:r>
              <a:r>
                <a:rPr lang="en-US" sz="1600" dirty="0" smtClean="0">
                  <a:solidFill>
                    <a:srgbClr val="00B0F0"/>
                  </a:solidFill>
                </a:rPr>
                <a:t>case</a:t>
              </a:r>
              <a:r>
                <a:rPr lang="en-US" sz="1600" dirty="0" smtClean="0"/>
                <a:t> 8: </a:t>
              </a:r>
              <a:r>
                <a:rPr lang="en-US" sz="1600" dirty="0" smtClean="0">
                  <a:solidFill>
                    <a:srgbClr val="00B0F0"/>
                  </a:solidFill>
                </a:rPr>
                <a:t>return </a:t>
              </a:r>
              <a:r>
                <a:rPr lang="en-US" sz="1600" dirty="0" smtClean="0"/>
                <a:t>‘B’;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 </a:t>
              </a:r>
              <a:r>
                <a:rPr lang="en-US" sz="1600" dirty="0" smtClean="0">
                  <a:solidFill>
                    <a:srgbClr val="00B0F0"/>
                  </a:solidFill>
                </a:rPr>
                <a:t>case</a:t>
              </a:r>
              <a:r>
                <a:rPr lang="en-US" sz="1600" dirty="0" smtClean="0"/>
                <a:t> 7: </a:t>
              </a:r>
              <a:r>
                <a:rPr lang="en-US" sz="1600" dirty="0" smtClean="0">
                  <a:solidFill>
                    <a:srgbClr val="00B0F0"/>
                  </a:solidFill>
                </a:rPr>
                <a:t>return </a:t>
              </a:r>
              <a:r>
                <a:rPr lang="en-US" sz="1600" dirty="0" smtClean="0"/>
                <a:t>‘C’;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 </a:t>
              </a:r>
              <a:r>
                <a:rPr lang="en-US" sz="1600" dirty="0" smtClean="0">
                  <a:solidFill>
                    <a:srgbClr val="00B0F0"/>
                  </a:solidFill>
                </a:rPr>
                <a:t>case</a:t>
              </a:r>
              <a:r>
                <a:rPr lang="en-US" sz="1600" dirty="0" smtClean="0"/>
                <a:t> 6: </a:t>
              </a:r>
              <a:r>
                <a:rPr lang="en-US" sz="1600" dirty="0" smtClean="0">
                  <a:solidFill>
                    <a:srgbClr val="00B0F0"/>
                  </a:solidFill>
                </a:rPr>
                <a:t>return </a:t>
              </a:r>
              <a:r>
                <a:rPr lang="en-US" sz="1600" dirty="0" smtClean="0"/>
                <a:t>‘D’;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 </a:t>
              </a:r>
              <a:r>
                <a:rPr lang="en-US" sz="1600" dirty="0" smtClean="0">
                  <a:solidFill>
                    <a:srgbClr val="00B0F0"/>
                  </a:solidFill>
                </a:rPr>
                <a:t>default</a:t>
              </a:r>
              <a:r>
                <a:rPr lang="en-US" sz="1600" dirty="0" smtClean="0"/>
                <a:t>: </a:t>
              </a:r>
              <a:r>
                <a:rPr lang="en-US" sz="1600" dirty="0" smtClean="0">
                  <a:solidFill>
                    <a:srgbClr val="00B0F0"/>
                  </a:solidFill>
                </a:rPr>
                <a:t>return</a:t>
              </a:r>
              <a:r>
                <a:rPr lang="en-US" sz="1600" dirty="0" smtClean="0"/>
                <a:t> ‘F’;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} </a:t>
              </a:r>
              <a:r>
                <a:rPr lang="en-US" sz="1600" dirty="0" smtClean="0">
                  <a:solidFill>
                    <a:srgbClr val="00B050"/>
                  </a:solidFill>
                </a:rPr>
                <a:t>//end switch</a:t>
              </a:r>
            </a:p>
            <a:p>
              <a:r>
                <a:rPr lang="en-US" sz="1600" dirty="0" smtClean="0"/>
                <a:t>}</a:t>
              </a:r>
              <a:r>
                <a:rPr lang="en-US" sz="1600" dirty="0" smtClean="0">
                  <a:solidFill>
                    <a:srgbClr val="00B050"/>
                  </a:solidFill>
                </a:rPr>
                <a:t>//end </a:t>
              </a:r>
              <a:r>
                <a:rPr lang="en-US" sz="1600" dirty="0" err="1" smtClean="0">
                  <a:solidFill>
                    <a:srgbClr val="00B050"/>
                  </a:solidFill>
                </a:rPr>
                <a:t>letterGrade</a:t>
              </a:r>
              <a:endParaRPr lang="en-US" sz="1600" dirty="0" smtClean="0">
                <a:solidFill>
                  <a:srgbClr val="00B050"/>
                </a:solidFill>
              </a:endParaRPr>
            </a:p>
            <a:p>
              <a:r>
                <a:rPr lang="en-US" sz="1600" dirty="0" smtClean="0"/>
                <a:t>} </a:t>
              </a:r>
              <a:r>
                <a:rPr lang="en-US" sz="1600" dirty="0" smtClean="0">
                  <a:solidFill>
                    <a:srgbClr val="00B050"/>
                  </a:solidFill>
                </a:rPr>
                <a:t>//end class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3528" y="1236822"/>
              <a:ext cx="450344" cy="47173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21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22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23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24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25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26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27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28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29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30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31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32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33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34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35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36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37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38</a:t>
              </a:r>
            </a:p>
          </p:txBody>
        </p:sp>
      </p:grpSp>
      <p:sp>
        <p:nvSpPr>
          <p:cNvPr id="10" name="Rectangle 9"/>
          <p:cNvSpPr/>
          <p:nvPr/>
        </p:nvSpPr>
        <p:spPr>
          <a:xfrm>
            <a:off x="683568" y="1412776"/>
            <a:ext cx="8280919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83568" y="3068960"/>
            <a:ext cx="8280919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83568" y="2132856"/>
            <a:ext cx="8280919" cy="432048"/>
          </a:xfrm>
          <a:prstGeom prst="rect">
            <a:avLst/>
          </a:prstGeom>
          <a:solidFill>
            <a:srgbClr val="00206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683568" y="4077072"/>
            <a:ext cx="8280919" cy="1440160"/>
          </a:xfrm>
          <a:prstGeom prst="rect">
            <a:avLst/>
          </a:prstGeom>
          <a:solidFill>
            <a:srgbClr val="00206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Callout 17"/>
          <p:cNvSpPr/>
          <p:nvPr/>
        </p:nvSpPr>
        <p:spPr>
          <a:xfrm>
            <a:off x="6228184" y="2750004"/>
            <a:ext cx="2088232" cy="1183052"/>
          </a:xfrm>
          <a:prstGeom prst="wedgeEllipseCallout">
            <a:avLst>
              <a:gd name="adj1" fmla="val -134810"/>
              <a:gd name="adj2" fmla="val -85640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Are all possible cases considered?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2" name="Oval Callout 21"/>
          <p:cNvSpPr/>
          <p:nvPr/>
        </p:nvSpPr>
        <p:spPr>
          <a:xfrm>
            <a:off x="6228184" y="2750004"/>
            <a:ext cx="2088232" cy="1183052"/>
          </a:xfrm>
          <a:prstGeom prst="wedgeEllipseCallout">
            <a:avLst>
              <a:gd name="adj1" fmla="val -194639"/>
              <a:gd name="adj2" fmla="val 126338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Are all possible cases considered?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21650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0" grpId="0" animBg="1"/>
      <p:bldP spid="11" grpId="0" animBg="1"/>
      <p:bldP spid="12" grpId="0" animBg="1"/>
      <p:bldP spid="19" grpId="0" animBg="1"/>
      <p:bldP spid="18" grpId="0" animBg="1"/>
      <p:bldP spid="2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 </a:t>
            </a:r>
            <a:fld id="{D8D24581-BA14-4640-B752-9AB0FD1B9A37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558"/>
            <a:ext cx="8229600" cy="792162"/>
          </a:xfr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Self-Check Exercises (1)  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406" y="6496070"/>
            <a:ext cx="4000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W7.2 User-defined methods: value-returning</a:t>
            </a:r>
            <a:endParaRPr lang="en-US" sz="1200" dirty="0"/>
          </a:p>
        </p:txBody>
      </p:sp>
      <p:sp>
        <p:nvSpPr>
          <p:cNvPr id="8" name="Rounded Rectangle 7"/>
          <p:cNvSpPr/>
          <p:nvPr/>
        </p:nvSpPr>
        <p:spPr>
          <a:xfrm>
            <a:off x="107504" y="980728"/>
            <a:ext cx="8856984" cy="4188381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a complete modular program that displays a menu, and performs the appropriate action accordingly in the corresponding </a:t>
            </a:r>
            <a:r>
              <a:rPr lang="en-US" sz="20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method. </a:t>
            </a:r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menu and the </a:t>
            </a:r>
            <a:r>
              <a:rPr lang="en-US" sz="20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 </a:t>
            </a:r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names are listed below:</a:t>
            </a:r>
          </a:p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buClr>
                <a:srgbClr val="FF0000"/>
              </a:buClr>
            </a:pP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		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Action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Name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Return</a:t>
            </a:r>
          </a:p>
          <a:p>
            <a:pPr algn="just">
              <a:buClr>
                <a:srgbClr val="FF0000"/>
              </a:buClr>
            </a:pPr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		Exchange num1 and num2	Swap 		nothing</a:t>
            </a:r>
          </a:p>
          <a:p>
            <a:pPr algn="just">
              <a:buClr>
                <a:srgbClr val="FF0000"/>
              </a:buClr>
            </a:pPr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		Exchange num2 and num3	Swap		nothing</a:t>
            </a:r>
          </a:p>
          <a:p>
            <a:pPr algn="just">
              <a:buClr>
                <a:srgbClr val="FF0000"/>
              </a:buClr>
            </a:pPr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		Exchange num1 and num3	Swap		nothing</a:t>
            </a:r>
          </a:p>
          <a:p>
            <a:pPr algn="just">
              <a:buClr>
                <a:srgbClr val="FF0000"/>
              </a:buClr>
            </a:pPr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		Sort the three numbers		Sort		nothing</a:t>
            </a:r>
          </a:p>
          <a:p>
            <a:pPr algn="just">
              <a:buClr>
                <a:srgbClr val="FF0000"/>
              </a:buClr>
            </a:pPr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		Find their minimum		Min		</a:t>
            </a:r>
            <a:r>
              <a:rPr lang="en-US" sz="20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</a:p>
          <a:p>
            <a:pPr algn="just">
              <a:buClr>
                <a:srgbClr val="FF0000"/>
              </a:buClr>
            </a:pPr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		Find their maximum		Max		</a:t>
            </a:r>
            <a:r>
              <a:rPr lang="en-US" sz="20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endParaRPr lang="en-US" sz="20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buClr>
                <a:srgbClr val="FF0000"/>
              </a:buClr>
            </a:pPr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		Find their average		Average		double</a:t>
            </a:r>
          </a:p>
        </p:txBody>
      </p:sp>
    </p:spTree>
    <p:extLst>
      <p:ext uri="{BB962C8B-B14F-4D97-AF65-F5344CB8AC3E}">
        <p14:creationId xmlns="" xmlns:p14="http://schemas.microsoft.com/office/powerpoint/2010/main" val="1300500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 </a:t>
            </a:r>
            <a:fld id="{D8D24581-BA14-4640-B752-9AB0FD1B9A37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558"/>
            <a:ext cx="8229600" cy="792162"/>
          </a:xfr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Self-Check Exercises (2)  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406" y="6496070"/>
            <a:ext cx="4000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W7.2 User-defined methods: value-returning</a:t>
            </a:r>
            <a:endParaRPr lang="en-US" sz="1200" dirty="0"/>
          </a:p>
        </p:txBody>
      </p:sp>
      <p:sp>
        <p:nvSpPr>
          <p:cNvPr id="9" name="Content Placeholder 3"/>
          <p:cNvSpPr>
            <a:spLocks noGrp="1"/>
          </p:cNvSpPr>
          <p:nvPr>
            <p:ph idx="1"/>
          </p:nvPr>
        </p:nvSpPr>
        <p:spPr>
          <a:xfrm>
            <a:off x="179512" y="1052736"/>
            <a:ext cx="8712968" cy="5096431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a modular program that calculates and prints the bill for Riyadh’s power consumption. The rates vary depending on whether the user is residential, commercial, or industrial. A code of R corresponds to a Residential, C corresponds to a Commercial, and I to Industrial. Any other code should be treated as an error. The program should read the power consumption rate in KWH (Kilowatt per Hour); then it calculates the due amount according to the following:</a:t>
            </a:r>
          </a:p>
          <a:p>
            <a:pPr marL="0" indent="0" algn="just">
              <a:buClr>
                <a:srgbClr val="FF0000"/>
              </a:buCl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rate is SAR 5 per KWH for Residential, SAR 10 per KWH for Commercial and SAR 20 per KWH for Industrial.</a:t>
            </a:r>
          </a:p>
          <a:p>
            <a:pPr marL="0" indent="0" algn="just">
              <a:buClr>
                <a:srgbClr val="FF0000"/>
              </a:buCl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input data should be made in the main method. The calculation of the due amount is made in a method called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DueAmount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0" indent="0" algn="just">
              <a:buClr>
                <a:srgbClr val="FF0000"/>
              </a:buCl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total of the amounts due should also be calculated.</a:t>
            </a:r>
          </a:p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13870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1807</TotalTime>
  <Words>2518</Words>
  <Application>Microsoft Office PowerPoint</Application>
  <PresentationFormat>On-screen Show (4:3)</PresentationFormat>
  <Paragraphs>560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Concourse</vt:lpstr>
      <vt:lpstr>  USER-DEFINED METHODS</vt:lpstr>
      <vt:lpstr>Outline</vt:lpstr>
      <vt:lpstr>1. INTRODUCTION</vt:lpstr>
      <vt:lpstr>2. return STATEMENT</vt:lpstr>
      <vt:lpstr>3. EXAMPLES</vt:lpstr>
      <vt:lpstr>4. CALLING </vt:lpstr>
      <vt:lpstr>4. CALLING </vt:lpstr>
      <vt:lpstr>4. CALLING </vt:lpstr>
      <vt:lpstr>5. LOCAL VARIABLES</vt:lpstr>
      <vt:lpstr>6. IMPORTANT NOTES</vt:lpstr>
      <vt:lpstr>6. IMPORTANT NOTES</vt:lpstr>
      <vt:lpstr>6. IMPORTANT NOTES</vt:lpstr>
      <vt:lpstr>6. IMPORTANT NOTES</vt:lpstr>
      <vt:lpstr>6. IMPORTANT NOTES</vt:lpstr>
      <vt:lpstr>7. SUMMARY </vt:lpstr>
      <vt:lpstr>7. SUMMARY </vt:lpstr>
      <vt:lpstr>7. SUMMARY </vt:lpstr>
      <vt:lpstr>7. SUMMARY </vt:lpstr>
      <vt:lpstr>8. PROGRAMMING EXAMPLES</vt:lpstr>
      <vt:lpstr>8. PROGRAMMING EXAMPLES</vt:lpstr>
      <vt:lpstr>8. PROGRAMMING EXAMPLES</vt:lpstr>
      <vt:lpstr>Self-Check Exercises (1)  </vt:lpstr>
      <vt:lpstr>Self-Check Exercises (2) 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USER-DEFINED METHODS</dc:title>
  <dc:creator>Soha S.Zaghloul</dc:creator>
  <cp:lastModifiedBy>Omar</cp:lastModifiedBy>
  <cp:revision>99</cp:revision>
  <dcterms:created xsi:type="dcterms:W3CDTF">2015-04-09T13:50:13Z</dcterms:created>
  <dcterms:modified xsi:type="dcterms:W3CDTF">2016-11-20T11:28:04Z</dcterms:modified>
</cp:coreProperties>
</file>