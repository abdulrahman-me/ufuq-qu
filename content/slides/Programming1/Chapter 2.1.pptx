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0"/>
  </p:notesMasterIdLst>
  <p:sldIdLst>
    <p:sldId id="257" r:id="rId2"/>
    <p:sldId id="293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306" r:id="rId11"/>
    <p:sldId id="309" r:id="rId12"/>
    <p:sldId id="269" r:id="rId13"/>
    <p:sldId id="270" r:id="rId14"/>
    <p:sldId id="272" r:id="rId15"/>
    <p:sldId id="287" r:id="rId16"/>
    <p:sldId id="294" r:id="rId17"/>
    <p:sldId id="275" r:id="rId18"/>
    <p:sldId id="277" r:id="rId19"/>
    <p:sldId id="296" r:id="rId20"/>
    <p:sldId id="298" r:id="rId21"/>
    <p:sldId id="297" r:id="rId22"/>
    <p:sldId id="299" r:id="rId23"/>
    <p:sldId id="300" r:id="rId24"/>
    <p:sldId id="301" r:id="rId25"/>
    <p:sldId id="302" r:id="rId26"/>
    <p:sldId id="308" r:id="rId27"/>
    <p:sldId id="303" r:id="rId28"/>
    <p:sldId id="304" r:id="rId29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608DD-8206-410E-B321-0AE4BCB545BC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DEF53-F410-46B7-AB6C-2FA571C740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604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DEF53-F410-46B7-AB6C-2FA571C7400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 smtClean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96A4435-4DEA-4DED-A8B8-78B493354C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981200"/>
            <a:ext cx="4000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4000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73152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229600" y="6477000"/>
            <a:ext cx="762000" cy="152400"/>
          </a:xfrm>
        </p:spPr>
        <p:txBody>
          <a:bodyPr/>
          <a:lstStyle>
            <a:lvl1pPr>
              <a:defRPr/>
            </a:lvl1pPr>
          </a:lstStyle>
          <a:p>
            <a:fld id="{5A241DC0-C739-47CD-97BB-D9596BD8F9AC}" type="slidenum">
              <a:rPr lang="x-none"/>
              <a:pPr/>
              <a:t>‹#›</a:t>
            </a:fld>
            <a:endParaRPr lang="en-US" dirty="0"/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5A1C68-F048-4C66-8544-2D3BD35A5879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25A1C68-F048-4C66-8544-2D3BD35A58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821160" y="2996952"/>
            <a:ext cx="707132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PROBLEM SOLVING </a:t>
            </a:r>
          </a:p>
        </p:txBody>
      </p:sp>
      <p:sp>
        <p:nvSpPr>
          <p:cNvPr id="6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 smtClean="0">
                <a:latin typeface="Tahoma" charset="0"/>
                <a:cs typeface="Arial" charset="0"/>
              </a:rPr>
              <a:t>1. Introduction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</a:t>
            </a:r>
            <a:r>
              <a:rPr lang="en-US" dirty="0" smtClean="0">
                <a:latin typeface="Tahoma" charset="0"/>
                <a:cs typeface="Arial" charset="0"/>
              </a:rPr>
              <a:t>. Problem Definition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</a:t>
            </a:r>
            <a:r>
              <a:rPr lang="en-US" dirty="0" smtClean="0">
                <a:latin typeface="Tahoma" charset="0"/>
                <a:cs typeface="Arial" charset="0"/>
              </a:rPr>
              <a:t>. Problem Analysis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</a:t>
            </a:r>
            <a:r>
              <a:rPr lang="en-US" dirty="0" smtClean="0">
                <a:latin typeface="Tahoma" charset="0"/>
                <a:cs typeface="Arial" charset="0"/>
              </a:rPr>
              <a:t>. Solution Design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4.1 Basic Steps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4.2 Algorithm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4.3 Flowchart</a:t>
            </a:r>
            <a:endParaRPr lang="en-US" dirty="0">
              <a:solidFill>
                <a:srgbClr val="0000FF"/>
              </a:solidFill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>
                <a:latin typeface="Tahoma" charset="0"/>
                <a:cs typeface="Arial" charset="0"/>
              </a:rPr>
              <a:t>5. Examples</a:t>
            </a:r>
            <a:endParaRPr lang="en-US" dirty="0"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99033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207293"/>
            <a:ext cx="8640960" cy="4525963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basic steps to solve a problem are: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Definition: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Define the main problem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Analysis: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inputs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outputs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processing operations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 Design: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detailed steps that the computer will follow to reach the expected result</a:t>
            </a:r>
            <a:endParaRPr lang="x-none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9728" indent="0" algn="just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1. Introduction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23528" y="2204864"/>
            <a:ext cx="8533705" cy="57606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rogram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rints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sum of two numbers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Arrow 3"/>
          <p:cNvSpPr/>
          <p:nvPr/>
        </p:nvSpPr>
        <p:spPr>
          <a:xfrm>
            <a:off x="1763688" y="836712"/>
            <a:ext cx="5616624" cy="122413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What is/are your target(s)?</a:t>
            </a:r>
            <a:endParaRPr lang="en-US" sz="2000" b="1" dirty="0"/>
          </a:p>
        </p:txBody>
      </p:sp>
      <p:sp>
        <p:nvSpPr>
          <p:cNvPr id="5" name="Oval 4"/>
          <p:cNvSpPr/>
          <p:nvPr/>
        </p:nvSpPr>
        <p:spPr>
          <a:xfrm>
            <a:off x="3923928" y="2200053"/>
            <a:ext cx="2448272" cy="468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23528" y="2816932"/>
            <a:ext cx="8533705" cy="6480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rogram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rints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average of three numbers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923928" y="2799905"/>
            <a:ext cx="3024336" cy="4850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323528" y="3501008"/>
            <a:ext cx="8533705" cy="1080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rogram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rints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volume of a cube and the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sum of its surfaces’ areas.</a:t>
            </a:r>
          </a:p>
        </p:txBody>
      </p:sp>
      <p:sp>
        <p:nvSpPr>
          <p:cNvPr id="20" name="Oval 19"/>
          <p:cNvSpPr/>
          <p:nvPr/>
        </p:nvSpPr>
        <p:spPr>
          <a:xfrm>
            <a:off x="323528" y="3933056"/>
            <a:ext cx="3240360" cy="4353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966856" y="3501008"/>
            <a:ext cx="2045303" cy="468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Problem Definition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 animBg="1"/>
      <p:bldP spid="17" grpId="0"/>
      <p:bldP spid="18" grpId="0" animBg="1"/>
      <p:bldP spid="19" grpId="0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988840"/>
            <a:ext cx="8640959" cy="2952328"/>
          </a:xfrm>
          <a:ln/>
        </p:spPr>
        <p:txBody>
          <a:bodyPr>
            <a:normAutofit fontScale="85000" lnSpcReduction="20000"/>
          </a:bodyPr>
          <a:lstStyle/>
          <a:p>
            <a:pPr marL="0" indent="-60960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 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numbers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000" baseline="30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(x1) </a:t>
            </a: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Value=?  entered by the user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baseline="30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(x2) </a:t>
            </a: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Value=?  entered by the user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summation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(sum)</a:t>
            </a:r>
          </a:p>
          <a:p>
            <a:pPr marL="990600" lvl="1" indent="-533400">
              <a:lnSpc>
                <a:spcPct val="90000"/>
              </a:lnSpc>
              <a:buNone/>
            </a:pPr>
            <a:endParaRPr lang="en-US" sz="2000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Processing: (Input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Summation = first +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second </a:t>
            </a:r>
          </a:p>
          <a:p>
            <a:pPr marL="990600" lvl="1" indent="-53340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= x1 + x2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103822"/>
            <a:ext cx="8585448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Problem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Analysis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Example 1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511660" y="836712"/>
            <a:ext cx="6120680" cy="122413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Identify Input, Output and Processing steps</a:t>
            </a:r>
            <a:endParaRPr lang="en-US" sz="2000" b="1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91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913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913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9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9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9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uiExpand="1" build="p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358775" y="1052736"/>
            <a:ext cx="8533705" cy="5184575"/>
          </a:xfrm>
          <a:ln/>
        </p:spPr>
        <p:txBody>
          <a:bodyPr>
            <a:normAutofit/>
          </a:bodyPr>
          <a:lstStyle/>
          <a:p>
            <a:pPr marL="0" indent="-609600">
              <a:buNone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three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000" baseline="30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(x1)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990600" lvl="1" indent="-53340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Value=?  entered by the user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baseline="30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(x2) </a:t>
            </a:r>
          </a:p>
          <a:p>
            <a:pPr marL="990600" lvl="1" indent="-53340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Value=?  entered by the user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sz="2000" baseline="30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(x3) </a:t>
            </a:r>
          </a:p>
          <a:p>
            <a:pPr marL="990600" lvl="1" indent="-53340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Value=?  entered by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user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:</a:t>
            </a:r>
          </a:p>
          <a:p>
            <a:pPr marL="990600" lvl="1" indent="-53340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990600" lvl="1" indent="-533400">
              <a:buNone/>
            </a:pPr>
            <a:endParaRPr lang="en-US" sz="2000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(Input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=  (first + second + third ) /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  <a:p>
            <a:pPr marL="990600" lvl="1" indent="-533400">
              <a:buNone/>
            </a:pP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(x1 + x2 + x3) / 3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1520" y="103822"/>
            <a:ext cx="8585448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Problem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Analysis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Example 2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016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016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0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0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0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784976" cy="5328592"/>
          </a:xfrm>
          <a:ln/>
        </p:spPr>
        <p:txBody>
          <a:bodyPr>
            <a:normAutofit/>
          </a:bodyPr>
          <a:lstStyle/>
          <a:p>
            <a:pPr marL="0" indent="-609600" algn="l">
              <a:buNone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of a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cube and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sum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surfaces’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areas</a:t>
            </a: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Side length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(L) 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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Value=?  entered by the user</a:t>
            </a: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(V)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surface area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(A)</a:t>
            </a:r>
          </a:p>
          <a:p>
            <a:pPr marL="609600" indent="-609600">
              <a:buFont typeface="Wingdings" pitchFamily="2" charset="2"/>
              <a:buNone/>
            </a:pPr>
            <a:endParaRPr lang="en-US" sz="2000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(Input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Output)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= side  * side  * side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= L * L * L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area = ( side * side ) * 6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= L * L * 6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1520" y="103822"/>
            <a:ext cx="8585448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Problem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Analysis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Example 3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118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118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1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1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1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1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1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1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1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1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1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685800" y="1052736"/>
            <a:ext cx="4103688" cy="698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Problem Definition</a:t>
            </a:r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685800" y="2276698"/>
            <a:ext cx="4103688" cy="698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Problem Analysis</a:t>
            </a:r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685800" y="3502248"/>
            <a:ext cx="4103688" cy="646331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dirty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Solution Design</a:t>
            </a:r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467544" y="4221386"/>
            <a:ext cx="4536504" cy="2123658"/>
          </a:xfrm>
          <a:prstGeom prst="rect">
            <a:avLst/>
          </a:prstGeom>
          <a:solidFill>
            <a:schemeClr val="bg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Design a solution for the problem by writing an </a:t>
            </a:r>
            <a:r>
              <a:rPr lang="en-US" sz="2400" dirty="0" smtClean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algorithm. </a:t>
            </a:r>
          </a:p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main ways that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can be represented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pseudo code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flowchart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smtClean="0">
                <a:solidFill>
                  <a:schemeClr val="tx1"/>
                </a:solidFill>
              </a:rPr>
              <a:t> </a:t>
            </a:r>
            <a:endParaRPr lang="en-US" sz="2400" dirty="0">
              <a:solidFill>
                <a:srgbClr val="FF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2217" name="AutoShape 9"/>
          <p:cNvSpPr>
            <a:spLocks noChangeArrowheads="1"/>
          </p:cNvSpPr>
          <p:nvPr/>
        </p:nvSpPr>
        <p:spPr bwMode="auto">
          <a:xfrm>
            <a:off x="6444208" y="1556792"/>
            <a:ext cx="2521521" cy="1223962"/>
          </a:xfrm>
          <a:prstGeom prst="flowChartAlternateProcess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rtl="1"/>
            <a:r>
              <a:rPr lang="en-US" sz="32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Pseudo code</a:t>
            </a:r>
            <a:endParaRPr lang="en-US" sz="32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2218" name="AutoShape 10"/>
          <p:cNvSpPr>
            <a:spLocks noChangeArrowheads="1"/>
          </p:cNvSpPr>
          <p:nvPr/>
        </p:nvSpPr>
        <p:spPr bwMode="auto">
          <a:xfrm>
            <a:off x="6372200" y="4725144"/>
            <a:ext cx="2593405" cy="1223963"/>
          </a:xfrm>
          <a:prstGeom prst="flowChartAlternateProcess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Flowchart</a:t>
            </a:r>
            <a:endParaRPr lang="en-US" sz="32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222213" idx="3"/>
          </p:cNvCxnSpPr>
          <p:nvPr/>
        </p:nvCxnSpPr>
        <p:spPr>
          <a:xfrm>
            <a:off x="4789488" y="3825414"/>
            <a:ext cx="502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876256" y="357301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668344" y="2744836"/>
            <a:ext cx="0" cy="82818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7668344" y="3789040"/>
            <a:ext cx="0" cy="93610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804248" y="3789040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2211" idx="2"/>
            <a:endCxn id="222212" idx="0"/>
          </p:cNvCxnSpPr>
          <p:nvPr/>
        </p:nvCxnSpPr>
        <p:spPr>
          <a:xfrm>
            <a:off x="2737644" y="1751236"/>
            <a:ext cx="0" cy="52546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22212" idx="2"/>
            <a:endCxn id="222213" idx="0"/>
          </p:cNvCxnSpPr>
          <p:nvPr/>
        </p:nvCxnSpPr>
        <p:spPr>
          <a:xfrm>
            <a:off x="2737644" y="2975198"/>
            <a:ext cx="0" cy="527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251520" y="103822"/>
            <a:ext cx="8585448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 Solution Design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auto">
          <a:xfrm>
            <a:off x="4932040" y="3140968"/>
            <a:ext cx="1944216" cy="1223962"/>
          </a:xfrm>
          <a:prstGeom prst="flowChartAlternateProcess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rtl="1"/>
            <a:r>
              <a:rPr lang="en-US" sz="3200" dirty="0" smtClean="0"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Algorithm</a:t>
            </a:r>
            <a:endParaRPr lang="en-US" sz="3200" dirty="0"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animBg="1"/>
      <p:bldP spid="222212" grpId="0" animBg="1"/>
      <p:bldP spid="222213" grpId="0" animBg="1"/>
      <p:bldP spid="222214" grpId="0" animBg="1"/>
      <p:bldP spid="222217" grpId="0" animBg="1"/>
      <p:bldP spid="222218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611188" y="1196752"/>
            <a:ext cx="7993062" cy="5355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Read all the inputs</a:t>
            </a:r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611188" y="2674341"/>
            <a:ext cx="7993062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Calculate operations 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611188" y="4149799"/>
            <a:ext cx="7993062" cy="588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GB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Print the output</a:t>
            </a:r>
            <a:endParaRPr lang="en-US" sz="360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25283" idx="2"/>
            <a:endCxn id="225284" idx="0"/>
          </p:cNvCxnSpPr>
          <p:nvPr/>
        </p:nvCxnSpPr>
        <p:spPr>
          <a:xfrm>
            <a:off x="4607719" y="1732283"/>
            <a:ext cx="0" cy="9420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225284" idx="2"/>
            <a:endCxn id="225285" idx="0"/>
          </p:cNvCxnSpPr>
          <p:nvPr/>
        </p:nvCxnSpPr>
        <p:spPr>
          <a:xfrm>
            <a:off x="4607719" y="3207741"/>
            <a:ext cx="0" cy="9420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Solution Design – Basic Steps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animBg="1"/>
      <p:bldP spid="225284" grpId="0" animBg="1"/>
      <p:bldP spid="22528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Solution Design - Algorithm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1268760"/>
            <a:ext cx="83529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An algorithm is a plan, a set of step-by-step instructions to resolve a problem. </a:t>
            </a:r>
            <a:endParaRPr lang="ar-SA" sz="3200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9036496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Solution Design – pseudo code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1268760"/>
            <a:ext cx="835292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/>
              <a:t>Pseudo Code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 An </a:t>
            </a:r>
            <a:r>
              <a:rPr lang="en-US" sz="2000" dirty="0" smtClean="0"/>
              <a:t>informal language similar to language of humans.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Is </a:t>
            </a:r>
            <a:r>
              <a:rPr lang="en-US" sz="2000" dirty="0" smtClean="0"/>
              <a:t>not considered programming language.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Helps </a:t>
            </a:r>
            <a:r>
              <a:rPr lang="en-US" sz="2000" dirty="0" smtClean="0"/>
              <a:t>programmers to write program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Does </a:t>
            </a:r>
            <a:r>
              <a:rPr lang="en-US" sz="2000" dirty="0" smtClean="0"/>
              <a:t>not run on computers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Should </a:t>
            </a:r>
            <a:r>
              <a:rPr lang="en-US" sz="2000" dirty="0" smtClean="0"/>
              <a:t>contain input, output and calculation actions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Can </a:t>
            </a:r>
            <a:r>
              <a:rPr lang="en-US" sz="2000" dirty="0" smtClean="0"/>
              <a:t>be easily converted for different programming languages ​​such as Pascal, Java, C++.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</a:t>
            </a:r>
            <a:endParaRPr lang="en-US" b="1" dirty="0"/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712968" cy="432048"/>
          </a:xfrm>
          <a:ln/>
        </p:spPr>
        <p:txBody>
          <a:bodyPr>
            <a:normAutofit fontScale="85000" lnSpcReduction="10000"/>
          </a:bodyPr>
          <a:lstStyle/>
          <a:p>
            <a:pPr marL="0" indent="-25400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pseudo code to write suitable algorithm  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numbers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lnSpc>
                <a:spcPct val="90000"/>
              </a:lnSpc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520" y="1700808"/>
            <a:ext cx="8640960" cy="3960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4363" indent="-342900">
              <a:lnSpc>
                <a:spcPct val="90000"/>
              </a:lnSpc>
              <a:buAutoNum type="arabicPeriod"/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first number and save it in the variable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second number and save it in the variable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endParaRPr lang="en-US" sz="2000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Add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both numbers and save the result in the variable 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		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= N1 + N2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endParaRPr lang="en-US" sz="2000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Print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End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552" y="2348880"/>
            <a:ext cx="7056784" cy="72008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9552" y="3429000"/>
            <a:ext cx="7056784" cy="72008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9552" y="4509120"/>
            <a:ext cx="7056784" cy="43204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pseudo code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7020272" y="2276872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INPUT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Left Arrow 16"/>
          <p:cNvSpPr/>
          <p:nvPr/>
        </p:nvSpPr>
        <p:spPr>
          <a:xfrm>
            <a:off x="7020272" y="3356992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PROCESSING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>
            <a:off x="7020272" y="4293096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OUTPUT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242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4259" grpId="0" build="p" animBg="1"/>
      <p:bldP spid="5" grpId="0" uiExpand="1" build="p" animBg="1"/>
      <p:bldP spid="10" grpId="0" animBg="1"/>
      <p:bldP spid="11" grpId="0" animBg="1"/>
      <p:bldP spid="12" grpId="0" animBg="1"/>
      <p:bldP spid="4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12776"/>
            <a:ext cx="8496944" cy="369332"/>
          </a:xfrm>
          <a:ln/>
        </p:spPr>
        <p:txBody>
          <a:bodyPr wrap="square">
            <a:spAutoFit/>
          </a:bodyPr>
          <a:lstStyle/>
          <a:p>
            <a:pPr marL="0" indent="-25400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algorithm 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three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1520" y="1916832"/>
            <a:ext cx="8640960" cy="4176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Start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</a:p>
          <a:p>
            <a:pPr marL="1857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first number and save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num1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second number and save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num2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third number and save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num3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1857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Add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three numbers and save the result in the variable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 </a:t>
            </a:r>
          </a:p>
          <a:p>
            <a:pPr marL="185738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	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	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num1 + num2 + num3</a:t>
            </a: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Divide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3 and save the result in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 </a:t>
            </a:r>
          </a:p>
          <a:p>
            <a:pPr marL="185738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	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	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avg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=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sum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/ 3 </a:t>
            </a:r>
            <a:endParaRPr lang="en-US" sz="2000" dirty="0" smtClean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marL="1857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7. Print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the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result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avg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)</a:t>
            </a:r>
          </a:p>
          <a:p>
            <a:pPr marL="1857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marL="1857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8. End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the program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536" y="2492896"/>
            <a:ext cx="7776864" cy="936104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95536" y="3645024"/>
            <a:ext cx="7776864" cy="1224136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6" y="5013176"/>
            <a:ext cx="7776864" cy="43204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</a:t>
            </a:r>
            <a:endParaRPr lang="en-US" b="1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pseudo code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Left Arrow 16"/>
          <p:cNvSpPr/>
          <p:nvPr/>
        </p:nvSpPr>
        <p:spPr>
          <a:xfrm>
            <a:off x="7020272" y="2528900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INPUT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>
            <a:off x="7020272" y="3825044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PROCESSING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7020272" y="4797152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OUTPUT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263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0"/>
                            </p:stCondLst>
                            <p:childTnLst>
                              <p:par>
                                <p:cTn id="9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 animBg="1"/>
      <p:bldP spid="3" grpId="0" uiExpand="1" build="p" animBg="1"/>
      <p:bldP spid="10" grpId="0" animBg="1"/>
      <p:bldP spid="11" grpId="0" animBg="1"/>
      <p:bldP spid="12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12776"/>
            <a:ext cx="8712967" cy="720080"/>
          </a:xfrm>
          <a:ln/>
        </p:spPr>
        <p:txBody>
          <a:bodyPr>
            <a:noAutofit/>
          </a:bodyPr>
          <a:lstStyle/>
          <a:p>
            <a:pPr marL="0" indent="-254000"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pseudo code to write suitable algorithm 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of a cube and the sum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surfaces’ areas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1520" y="2132856"/>
            <a:ext cx="8640960" cy="4608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27038" indent="-342900">
              <a:lnSpc>
                <a:spcPct val="90000"/>
              </a:lnSpc>
              <a:buAutoNum type="arabicPeriod"/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</a:p>
          <a:p>
            <a:pPr marL="841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length of the side and save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the variable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841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Calculate the volume and save the result in the variable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84138" algn="ctr">
              <a:lnSpc>
                <a:spcPct val="90000"/>
              </a:lnSpc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= L* L* L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Calculate the sum of surfaces’ areas  and store the result in the </a:t>
            </a: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pPr marL="84138" algn="ctr">
              <a:lnSpc>
                <a:spcPct val="90000"/>
              </a:lnSpc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= 6 * L* L</a:t>
            </a:r>
          </a:p>
          <a:p>
            <a:pPr marL="84138" algn="ctr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Print output1: the variable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Volume ) </a:t>
            </a: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Print  output2: the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( Surface </a:t>
            </a: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84138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4138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End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528" y="2996952"/>
            <a:ext cx="8280920" cy="43204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3528" y="3573016"/>
            <a:ext cx="8280920" cy="151216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3528" y="5157192"/>
            <a:ext cx="8280920" cy="72008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412776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pseudo code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80728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3</a:t>
            </a:r>
            <a:endParaRPr lang="en-US" b="1" dirty="0"/>
          </a:p>
        </p:txBody>
      </p:sp>
      <p:sp>
        <p:nvSpPr>
          <p:cNvPr id="17" name="Left Arrow 16"/>
          <p:cNvSpPr/>
          <p:nvPr/>
        </p:nvSpPr>
        <p:spPr>
          <a:xfrm>
            <a:off x="7020272" y="2780928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INPUT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>
            <a:off x="7020272" y="3897052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PROCESSING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7020272" y="5085184"/>
            <a:ext cx="2016224" cy="86409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OUTPUT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283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000"/>
                            </p:stCondLst>
                            <p:childTnLst>
                              <p:par>
                                <p:cTn id="9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nimBg="1"/>
      <p:bldP spid="9" grpId="0" uiExpand="1" build="p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1144488"/>
            <a:ext cx="8686800" cy="3292624"/>
          </a:xfrm>
        </p:spPr>
        <p:txBody>
          <a:bodyPr>
            <a:normAutofit lnSpcReduction="10000"/>
          </a:bodyPr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charset="0"/>
                <a:cs typeface="Arial" charset="0"/>
              </a:rPr>
              <a:t>A flowchart is the graphical representation of the algorithm.</a:t>
            </a:r>
          </a:p>
          <a:p>
            <a:pPr algn="just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charset="0"/>
                <a:cs typeface="Arial" charset="0"/>
              </a:rPr>
              <a:t>The flowchart illustrates the previously developed algorithm in more details.</a:t>
            </a:r>
          </a:p>
          <a:p>
            <a:pPr algn="just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charset="0"/>
                <a:cs typeface="Arial" charset="0"/>
              </a:rPr>
              <a:t>These details make the algorithm very close to the code implementation in any high level programming language.</a:t>
            </a:r>
          </a:p>
          <a:p>
            <a:pPr algn="just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charset="0"/>
                <a:cs typeface="Arial" charset="0"/>
              </a:rPr>
              <a:t>Worth to mention, that both algorithm and flowchart are independent of the used programming language.</a:t>
            </a:r>
          </a:p>
          <a:p>
            <a:pPr algn="just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charset="0"/>
                <a:cs typeface="Arial" charset="0"/>
              </a:rPr>
              <a:t>The flowchart uses standard symbols to illustrate each action. These symbols are shown in the next slide.</a:t>
            </a:r>
            <a:endParaRPr lang="en-US" sz="2000" dirty="0"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834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314655" y="908720"/>
            <a:ext cx="3034499" cy="421858"/>
            <a:chOff x="314655" y="1520665"/>
            <a:chExt cx="3034499" cy="261941"/>
          </a:xfrm>
        </p:grpSpPr>
        <p:sp>
          <p:nvSpPr>
            <p:cNvPr id="9" name="AutoShape 67"/>
            <p:cNvSpPr>
              <a:spLocks noChangeArrowheads="1"/>
            </p:cNvSpPr>
            <p:nvPr/>
          </p:nvSpPr>
          <p:spPr bwMode="auto">
            <a:xfrm>
              <a:off x="314655" y="1520665"/>
              <a:ext cx="1441450" cy="261941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Start</a:t>
              </a:r>
            </a:p>
          </p:txBody>
        </p:sp>
        <p:sp>
          <p:nvSpPr>
            <p:cNvPr id="10" name="AutoShape 70"/>
            <p:cNvSpPr>
              <a:spLocks noChangeArrowheads="1"/>
            </p:cNvSpPr>
            <p:nvPr/>
          </p:nvSpPr>
          <p:spPr bwMode="auto">
            <a:xfrm>
              <a:off x="1907704" y="1520665"/>
              <a:ext cx="1441450" cy="261940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End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851920" y="909729"/>
            <a:ext cx="5040560" cy="4198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Start/End of the program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37629" y="1599335"/>
            <a:ext cx="3598267" cy="358775"/>
            <a:chOff x="37629" y="2025477"/>
            <a:chExt cx="3598267" cy="358775"/>
          </a:xfrm>
        </p:grpSpPr>
        <p:sp>
          <p:nvSpPr>
            <p:cNvPr id="13" name="AutoShape 68"/>
            <p:cNvSpPr>
              <a:spLocks noChangeArrowheads="1"/>
            </p:cNvSpPr>
            <p:nvPr/>
          </p:nvSpPr>
          <p:spPr bwMode="auto">
            <a:xfrm>
              <a:off x="37629" y="2025477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n1</a:t>
              </a:r>
            </a:p>
          </p:txBody>
        </p:sp>
        <p:sp>
          <p:nvSpPr>
            <p:cNvPr id="14" name="AutoShape 71"/>
            <p:cNvSpPr>
              <a:spLocks noChangeArrowheads="1"/>
            </p:cNvSpPr>
            <p:nvPr/>
          </p:nvSpPr>
          <p:spPr bwMode="auto">
            <a:xfrm>
              <a:off x="1691208" y="2025477"/>
              <a:ext cx="1944688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Print n1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851920" y="1562822"/>
            <a:ext cx="5040560" cy="431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Read/Print the variable named </a:t>
            </a:r>
            <a:r>
              <a:rPr lang="en-US" sz="20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AutoShape 69"/>
          <p:cNvSpPr>
            <a:spLocks noChangeArrowheads="1"/>
          </p:cNvSpPr>
          <p:nvPr/>
        </p:nvSpPr>
        <p:spPr bwMode="auto">
          <a:xfrm>
            <a:off x="1907704" y="2241439"/>
            <a:ext cx="1366837" cy="43065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= 5</a:t>
            </a:r>
          </a:p>
        </p:txBody>
      </p:sp>
      <p:sp>
        <p:nvSpPr>
          <p:cNvPr id="17" name="AutoShape 72"/>
          <p:cNvSpPr>
            <a:spLocks noChangeArrowheads="1"/>
          </p:cNvSpPr>
          <p:nvPr/>
        </p:nvSpPr>
        <p:spPr bwMode="auto">
          <a:xfrm>
            <a:off x="1907703" y="2990683"/>
            <a:ext cx="1366837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N2 = n1+3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1920" y="2204864"/>
            <a:ext cx="5040560" cy="5038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Assignment operation: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</a:t>
            </a:r>
            <a:r>
              <a:rPr lang="en-US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given the value 5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51920" y="2990112"/>
            <a:ext cx="5040560" cy="5038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Arithmetic operation: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</a:t>
            </a:r>
            <a:r>
              <a:rPr lang="en-US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 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equals the value of </a:t>
            </a:r>
            <a:r>
              <a:rPr lang="en-US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 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plus 3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179513" y="3685470"/>
            <a:ext cx="3347415" cy="576263"/>
            <a:chOff x="179513" y="3716833"/>
            <a:chExt cx="3347415" cy="576263"/>
          </a:xfrm>
        </p:grpSpPr>
        <p:sp>
          <p:nvSpPr>
            <p:cNvPr id="21" name="AutoShape 73"/>
            <p:cNvSpPr>
              <a:spLocks noChangeArrowheads="1"/>
            </p:cNvSpPr>
            <p:nvPr/>
          </p:nvSpPr>
          <p:spPr bwMode="auto">
            <a:xfrm>
              <a:off x="829942" y="3716833"/>
              <a:ext cx="1798488" cy="576263"/>
            </a:xfrm>
            <a:prstGeom prst="flowChartDecision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n1 &gt; 3</a:t>
              </a:r>
            </a:p>
          </p:txBody>
        </p:sp>
        <p:sp>
          <p:nvSpPr>
            <p:cNvPr id="22" name="Line 74"/>
            <p:cNvSpPr>
              <a:spLocks noChangeShapeType="1"/>
            </p:cNvSpPr>
            <p:nvPr/>
          </p:nvSpPr>
          <p:spPr bwMode="auto">
            <a:xfrm flipV="1">
              <a:off x="2627783" y="3983578"/>
              <a:ext cx="899145" cy="205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75"/>
            <p:cNvSpPr>
              <a:spLocks noChangeShapeType="1"/>
            </p:cNvSpPr>
            <p:nvPr/>
          </p:nvSpPr>
          <p:spPr bwMode="auto">
            <a:xfrm flipV="1">
              <a:off x="179513" y="4004170"/>
              <a:ext cx="650428" cy="7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lg" len="lg"/>
              <a:tailEnd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4655" y="3738518"/>
              <a:ext cx="7289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/>
                <a:t>True</a:t>
              </a:r>
              <a:endParaRPr lang="en-US" sz="16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39752" y="3738518"/>
              <a:ext cx="758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/>
                <a:t>False</a:t>
              </a:r>
              <a:endParaRPr lang="en-US" sz="1600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3851920" y="3685470"/>
            <a:ext cx="5040560" cy="5762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Decision: 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sz="16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 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greater than 3? If True (yes) follow the left arrow. If False (no) follow the right arrow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971600" y="4508724"/>
            <a:ext cx="1729234" cy="576460"/>
            <a:chOff x="971600" y="5013176"/>
            <a:chExt cx="1729234" cy="576262"/>
          </a:xfrm>
        </p:grpSpPr>
        <p:sp>
          <p:nvSpPr>
            <p:cNvPr id="29" name="Line 77"/>
            <p:cNvSpPr>
              <a:spLocks noChangeShapeType="1"/>
            </p:cNvSpPr>
            <p:nvPr/>
          </p:nvSpPr>
          <p:spPr bwMode="auto">
            <a:xfrm flipH="1">
              <a:off x="1476872" y="5230589"/>
              <a:ext cx="12239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78"/>
            <p:cNvSpPr>
              <a:spLocks noChangeShapeType="1"/>
            </p:cNvSpPr>
            <p:nvPr/>
          </p:nvSpPr>
          <p:spPr bwMode="auto">
            <a:xfrm>
              <a:off x="1547267" y="5445224"/>
              <a:ext cx="1152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79"/>
            <p:cNvSpPr>
              <a:spLocks noChangeShapeType="1"/>
            </p:cNvSpPr>
            <p:nvPr/>
          </p:nvSpPr>
          <p:spPr bwMode="auto">
            <a:xfrm>
              <a:off x="1118097" y="5085184"/>
              <a:ext cx="0" cy="503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80"/>
            <p:cNvSpPr>
              <a:spLocks noChangeShapeType="1"/>
            </p:cNvSpPr>
            <p:nvPr/>
          </p:nvSpPr>
          <p:spPr bwMode="auto">
            <a:xfrm flipV="1">
              <a:off x="971600" y="5013176"/>
              <a:ext cx="0" cy="576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3851920" y="4570989"/>
            <a:ext cx="5040560" cy="4519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Connector arrows: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connects between symbols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985516" y="5228927"/>
            <a:ext cx="722388" cy="648345"/>
            <a:chOff x="2985516" y="5589240"/>
            <a:chExt cx="722388" cy="648345"/>
          </a:xfrm>
        </p:grpSpPr>
        <p:sp>
          <p:nvSpPr>
            <p:cNvPr id="34" name="AutoShape 81"/>
            <p:cNvSpPr>
              <a:spLocks noChangeArrowheads="1"/>
            </p:cNvSpPr>
            <p:nvPr/>
          </p:nvSpPr>
          <p:spPr bwMode="auto">
            <a:xfrm>
              <a:off x="2985516" y="5589885"/>
              <a:ext cx="360363" cy="287337"/>
            </a:xfrm>
            <a:prstGeom prst="flowChartConnec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35" name="Line 82"/>
            <p:cNvSpPr>
              <a:spLocks noChangeShapeType="1"/>
            </p:cNvSpPr>
            <p:nvPr/>
          </p:nvSpPr>
          <p:spPr bwMode="auto">
            <a:xfrm flipH="1">
              <a:off x="3203004" y="5877222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83"/>
            <p:cNvSpPr>
              <a:spLocks noChangeShapeType="1"/>
            </p:cNvSpPr>
            <p:nvPr/>
          </p:nvSpPr>
          <p:spPr bwMode="auto">
            <a:xfrm flipH="1">
              <a:off x="3492004" y="5589240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AutoShape 84"/>
            <p:cNvSpPr>
              <a:spLocks noChangeArrowheads="1"/>
            </p:cNvSpPr>
            <p:nvPr/>
          </p:nvSpPr>
          <p:spPr bwMode="auto">
            <a:xfrm>
              <a:off x="3345954" y="5949602"/>
              <a:ext cx="361950" cy="287338"/>
            </a:xfrm>
            <a:prstGeom prst="flowChartConnec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 smtClean="0"/>
                <a:t>2</a:t>
              </a:r>
              <a:endParaRPr lang="en-US" sz="1600" dirty="0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3851920" y="5274363"/>
            <a:ext cx="5040560" cy="5574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Connector points: 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marking points to sub-flowcharts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AutoShape 86"/>
          <p:cNvSpPr>
            <a:spLocks noChangeArrowheads="1"/>
          </p:cNvSpPr>
          <p:nvPr/>
        </p:nvSpPr>
        <p:spPr bwMode="auto">
          <a:xfrm>
            <a:off x="827683" y="6041818"/>
            <a:ext cx="2016125" cy="457432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// my name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1920" y="6029626"/>
            <a:ext cx="5040560" cy="4818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Comment: 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compiler discards comments. Here </a:t>
            </a:r>
            <a:r>
              <a:rPr lang="en-US" sz="1600" i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name 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written as a comment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5435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6" grpId="0" animBg="1"/>
      <p:bldP spid="33" grpId="0" animBg="1"/>
      <p:bldP spid="38" grpId="0" animBg="1"/>
      <p:bldP spid="39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228600" y="6207968"/>
            <a:ext cx="8807896" cy="5334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Note that variables should have different names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</a:t>
            </a:r>
            <a:endParaRPr lang="en-US" b="1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12776"/>
            <a:ext cx="8712967" cy="432048"/>
          </a:xfrm>
          <a:ln/>
        </p:spPr>
        <p:txBody>
          <a:bodyPr>
            <a:noAutofit/>
          </a:bodyPr>
          <a:lstStyle/>
          <a:p>
            <a:pPr marL="0" indent="-254000"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Draw a flowchart that adds two numbers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AutoShape 67"/>
          <p:cNvSpPr>
            <a:spLocks noChangeArrowheads="1"/>
          </p:cNvSpPr>
          <p:nvPr/>
        </p:nvSpPr>
        <p:spPr bwMode="auto">
          <a:xfrm>
            <a:off x="838857" y="1988840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38" name="AutoShape 68"/>
          <p:cNvSpPr>
            <a:spLocks noChangeArrowheads="1"/>
          </p:cNvSpPr>
          <p:nvPr/>
        </p:nvSpPr>
        <p:spPr bwMode="auto">
          <a:xfrm>
            <a:off x="624545" y="270282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n1</a:t>
            </a:r>
          </a:p>
        </p:txBody>
      </p:sp>
      <p:sp>
        <p:nvSpPr>
          <p:cNvPr id="39" name="AutoShape 68"/>
          <p:cNvSpPr>
            <a:spLocks noChangeArrowheads="1"/>
          </p:cNvSpPr>
          <p:nvPr/>
        </p:nvSpPr>
        <p:spPr bwMode="auto">
          <a:xfrm>
            <a:off x="624545" y="3353725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n2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AutoShape 72"/>
          <p:cNvSpPr>
            <a:spLocks noChangeArrowheads="1"/>
          </p:cNvSpPr>
          <p:nvPr/>
        </p:nvSpPr>
        <p:spPr bwMode="auto">
          <a:xfrm>
            <a:off x="768152" y="4004626"/>
            <a:ext cx="1582861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Sum = n1 + n2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1" name="AutoShape 71"/>
          <p:cNvSpPr>
            <a:spLocks noChangeArrowheads="1"/>
          </p:cNvSpPr>
          <p:nvPr/>
        </p:nvSpPr>
        <p:spPr bwMode="auto">
          <a:xfrm>
            <a:off x="587238" y="4799419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smtClean="0">
                <a:latin typeface="Arial" charset="0"/>
                <a:cs typeface="Arial" charset="0"/>
              </a:rPr>
              <a:t>Sum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2" name="AutoShape 70"/>
          <p:cNvSpPr>
            <a:spLocks noChangeArrowheads="1"/>
          </p:cNvSpPr>
          <p:nvPr/>
        </p:nvSpPr>
        <p:spPr bwMode="auto">
          <a:xfrm>
            <a:off x="838857" y="5445225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550966" y="241069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550966" y="305472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550966" y="371250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550966" y="4507293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550966" y="515819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131840" y="1988840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31840" y="2680117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user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31840" y="337139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user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31840" y="4062671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n1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store the result in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131840" y="4753948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131840" y="544522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35" grpId="0" animBg="1"/>
      <p:bldP spid="36" grpId="0" build="p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5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47500" lnSpcReduction="20000"/>
          </a:bodyPr>
          <a:lstStyle/>
          <a:p>
            <a:fld id="{5A241DC0-C739-47CD-97BB-D9596BD8F9AC}" type="slidenum">
              <a:rPr lang="x-none" smtClean="0"/>
              <a:pPr/>
              <a:t>18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</a:t>
            </a:r>
            <a:endParaRPr lang="en-US" b="1" dirty="0"/>
          </a:p>
        </p:txBody>
      </p:sp>
      <p:sp>
        <p:nvSpPr>
          <p:cNvPr id="2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12776"/>
            <a:ext cx="8496944" cy="646331"/>
          </a:xfrm>
          <a:ln/>
        </p:spPr>
        <p:txBody>
          <a:bodyPr wrap="square">
            <a:spAutoFit/>
          </a:bodyPr>
          <a:lstStyle/>
          <a:p>
            <a:pPr marL="0" indent="-25400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pseudo code and flowchart to write algorithms that print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three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AutoShape 67"/>
          <p:cNvSpPr>
            <a:spLocks noChangeArrowheads="1"/>
          </p:cNvSpPr>
          <p:nvPr/>
        </p:nvSpPr>
        <p:spPr bwMode="auto">
          <a:xfrm>
            <a:off x="838857" y="1988840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31" name="AutoShape 68"/>
          <p:cNvSpPr>
            <a:spLocks noChangeArrowheads="1"/>
          </p:cNvSpPr>
          <p:nvPr/>
        </p:nvSpPr>
        <p:spPr bwMode="auto">
          <a:xfrm>
            <a:off x="624545" y="270282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2" name="AutoShape 68"/>
          <p:cNvSpPr>
            <a:spLocks noChangeArrowheads="1"/>
          </p:cNvSpPr>
          <p:nvPr/>
        </p:nvSpPr>
        <p:spPr bwMode="auto">
          <a:xfrm>
            <a:off x="624545" y="3353725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550966" y="241069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550966" y="305472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550966" y="371250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131840" y="1988840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131840" y="2680117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31840" y="337139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AutoShape 68"/>
          <p:cNvSpPr>
            <a:spLocks noChangeArrowheads="1"/>
          </p:cNvSpPr>
          <p:nvPr/>
        </p:nvSpPr>
        <p:spPr bwMode="auto">
          <a:xfrm>
            <a:off x="611560" y="400506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537981" y="4363839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118855" y="4022733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AutoShape 72"/>
          <p:cNvSpPr>
            <a:spLocks noChangeArrowheads="1"/>
          </p:cNvSpPr>
          <p:nvPr/>
        </p:nvSpPr>
        <p:spPr bwMode="auto">
          <a:xfrm>
            <a:off x="755576" y="4653136"/>
            <a:ext cx="1582861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  <a:cs typeface="Arial" charset="0"/>
              </a:rPr>
              <a:t>R=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x1</a:t>
            </a:r>
            <a:r>
              <a:rPr lang="en-US" sz="1600" dirty="0" smtClean="0">
                <a:latin typeface="Arial" charset="0"/>
                <a:cs typeface="Arial" charset="0"/>
              </a:rPr>
              <a:t>+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x2</a:t>
            </a:r>
            <a:r>
              <a:rPr lang="en-US" sz="1600" dirty="0" smtClean="0">
                <a:latin typeface="Arial" charset="0"/>
                <a:cs typeface="Arial" charset="0"/>
              </a:rPr>
              <a:t>+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x3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538390" y="5155803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119264" y="4711181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x1, x2, x3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store the result in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AutoShape 72"/>
          <p:cNvSpPr>
            <a:spLocks noChangeArrowheads="1"/>
          </p:cNvSpPr>
          <p:nvPr/>
        </p:nvSpPr>
        <p:spPr bwMode="auto">
          <a:xfrm>
            <a:off x="755576" y="5442519"/>
            <a:ext cx="1582861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 smtClean="0">
                <a:latin typeface="Arial" charset="0"/>
                <a:cs typeface="Arial" charset="0"/>
              </a:rPr>
              <a:t>Avr</a:t>
            </a:r>
            <a:r>
              <a:rPr lang="en-US" sz="1600" dirty="0" smtClean="0">
                <a:latin typeface="Arial" charset="0"/>
                <a:cs typeface="Arial" charset="0"/>
              </a:rPr>
              <a:t>=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R</a:t>
            </a:r>
            <a:r>
              <a:rPr lang="en-US" sz="1600" dirty="0" smtClean="0">
                <a:latin typeface="Arial" charset="0"/>
                <a:cs typeface="Arial" charset="0"/>
              </a:rPr>
              <a:t>/3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1538390" y="5945186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19264" y="550056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3 and store the result in 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331640" y="6237312"/>
            <a:ext cx="360040" cy="36004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31840" y="617549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Continuation point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(in the next slide)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build="p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1DC0-C739-47CD-97BB-D9596BD8F9AC}" type="slidenum">
              <a:rPr lang="x-none" smtClean="0"/>
              <a:pPr/>
              <a:t>19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(</a:t>
            </a:r>
            <a:r>
              <a:rPr lang="en-US" b="1" dirty="0" err="1" smtClean="0"/>
              <a:t>cnt’d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1505964" y="1618610"/>
            <a:ext cx="360040" cy="36004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06164" y="1556792"/>
            <a:ext cx="4866236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Continuation point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(from previous slide)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685285" y="197865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1"/>
          <p:cNvSpPr>
            <a:spLocks noChangeArrowheads="1"/>
          </p:cNvSpPr>
          <p:nvPr/>
        </p:nvSpPr>
        <p:spPr bwMode="auto">
          <a:xfrm>
            <a:off x="731254" y="2250335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err="1" smtClean="0">
                <a:solidFill>
                  <a:srgbClr val="0000FF"/>
                </a:solidFill>
                <a:latin typeface="Arial" charset="0"/>
                <a:cs typeface="Arial" charset="0"/>
              </a:rPr>
              <a:t>Avr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AutoShape 70"/>
          <p:cNvSpPr>
            <a:spLocks noChangeArrowheads="1"/>
          </p:cNvSpPr>
          <p:nvPr/>
        </p:nvSpPr>
        <p:spPr bwMode="auto">
          <a:xfrm>
            <a:off x="982873" y="2896141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694982" y="260911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75856" y="2204864"/>
            <a:ext cx="4896544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75856" y="2896140"/>
            <a:ext cx="4896544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9512" y="566124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Also the variables to be printed should already have values.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179512" y="458112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Note that variables in the Right Hand Side of any formula should have values. These are marked in blue in the flowchart.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6918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47500" lnSpcReduction="20000"/>
          </a:bodyPr>
          <a:lstStyle/>
          <a:p>
            <a:fld id="{5A241DC0-C739-47CD-97BB-D9596BD8F9AC}" type="slidenum">
              <a:rPr lang="x-none" smtClean="0"/>
              <a:pPr/>
              <a:t>20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(</a:t>
            </a:r>
            <a:r>
              <a:rPr lang="en-US" b="1" dirty="0" err="1" smtClean="0"/>
              <a:t>cnt’d</a:t>
            </a:r>
            <a:r>
              <a:rPr lang="en-US" b="1" dirty="0" smtClean="0"/>
              <a:t>) </a:t>
            </a:r>
            <a:endParaRPr lang="en-US" b="1" dirty="0"/>
          </a:p>
        </p:txBody>
      </p:sp>
      <p:sp>
        <p:nvSpPr>
          <p:cNvPr id="2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12776"/>
            <a:ext cx="8496944" cy="369332"/>
          </a:xfrm>
          <a:ln/>
        </p:spPr>
        <p:txBody>
          <a:bodyPr wrap="square">
            <a:spAutoFit/>
          </a:bodyPr>
          <a:lstStyle/>
          <a:p>
            <a:pPr marL="0" indent="-25400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 more simplified way of the flowchart of Example 2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AutoShape 67"/>
          <p:cNvSpPr>
            <a:spLocks noChangeArrowheads="1"/>
          </p:cNvSpPr>
          <p:nvPr/>
        </p:nvSpPr>
        <p:spPr bwMode="auto">
          <a:xfrm>
            <a:off x="838857" y="1988840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31" name="AutoShape 68"/>
          <p:cNvSpPr>
            <a:spLocks noChangeArrowheads="1"/>
          </p:cNvSpPr>
          <p:nvPr/>
        </p:nvSpPr>
        <p:spPr bwMode="auto">
          <a:xfrm>
            <a:off x="467544" y="2702824"/>
            <a:ext cx="2160240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smtClean="0"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1, x2, x3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550966" y="241069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131840" y="1988840"/>
            <a:ext cx="490912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131840" y="2680117"/>
            <a:ext cx="490912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variables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x1, x2, x3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537981" y="306896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72"/>
          <p:cNvSpPr>
            <a:spLocks noChangeArrowheads="1"/>
          </p:cNvSpPr>
          <p:nvPr/>
        </p:nvSpPr>
        <p:spPr bwMode="auto">
          <a:xfrm>
            <a:off x="612875" y="3358257"/>
            <a:ext cx="1870893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 smtClean="0">
                <a:latin typeface="Arial" charset="0"/>
                <a:cs typeface="Arial" charset="0"/>
              </a:rPr>
              <a:t>Avr</a:t>
            </a:r>
            <a:r>
              <a:rPr lang="en-US" sz="1600" dirty="0" smtClean="0">
                <a:latin typeface="Arial" charset="0"/>
                <a:cs typeface="Arial" charset="0"/>
              </a:rPr>
              <a:t>=(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x1</a:t>
            </a:r>
            <a:r>
              <a:rPr lang="en-US" sz="1600" dirty="0" smtClean="0">
                <a:latin typeface="Arial" charset="0"/>
                <a:cs typeface="Arial" charset="0"/>
              </a:rPr>
              <a:t>+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x2</a:t>
            </a:r>
            <a:r>
              <a:rPr lang="en-US" sz="1600" dirty="0" smtClean="0">
                <a:latin typeface="Arial" charset="0"/>
                <a:cs typeface="Arial" charset="0"/>
              </a:rPr>
              <a:t>+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x3</a:t>
            </a:r>
            <a:r>
              <a:rPr lang="en-US" sz="1600" dirty="0" smtClean="0">
                <a:latin typeface="Arial" charset="0"/>
                <a:cs typeface="Arial" charset="0"/>
              </a:rPr>
              <a:t>)/3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119264" y="3344294"/>
            <a:ext cx="4909120" cy="58876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 the sum of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x1, x2, x3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3 and store the result in 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AutoShape 71"/>
          <p:cNvSpPr>
            <a:spLocks noChangeArrowheads="1"/>
          </p:cNvSpPr>
          <p:nvPr/>
        </p:nvSpPr>
        <p:spPr bwMode="auto">
          <a:xfrm>
            <a:off x="587238" y="4161537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err="1" smtClean="0">
                <a:solidFill>
                  <a:srgbClr val="0000FF"/>
                </a:solidFill>
                <a:latin typeface="Arial" charset="0"/>
                <a:cs typeface="Arial" charset="0"/>
              </a:rPr>
              <a:t>Avr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0" name="AutoShape 70"/>
          <p:cNvSpPr>
            <a:spLocks noChangeArrowheads="1"/>
          </p:cNvSpPr>
          <p:nvPr/>
        </p:nvSpPr>
        <p:spPr bwMode="auto">
          <a:xfrm>
            <a:off x="838857" y="4807343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1547664" y="450912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131840" y="4116066"/>
            <a:ext cx="4896544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Avr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131840" y="4807342"/>
            <a:ext cx="4896544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547664" y="385695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="" xmlns:p14="http://schemas.microsoft.com/office/powerpoint/2010/main" val="127341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build="p" animBg="1"/>
      <p:bldP spid="30" grpId="0" animBg="1"/>
      <p:bldP spid="31" grpId="0" animBg="1"/>
      <p:bldP spid="36" grpId="0" animBg="1"/>
      <p:bldP spid="37" grpId="0" animBg="1"/>
      <p:bldP spid="42" grpId="0" animBg="1"/>
      <p:bldP spid="44" grpId="0" animBg="1"/>
      <p:bldP spid="49" grpId="0" animBg="1"/>
      <p:bldP spid="50" grpId="0" animBg="1"/>
      <p:bldP spid="52" grpId="0" animBg="1"/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4.3 Solution Design </a:t>
            </a:r>
            <a:r>
              <a:rPr lang="en-US" sz="4000" b="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– Flowchart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3</a:t>
            </a:r>
            <a:endParaRPr lang="en-US" b="1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12776"/>
            <a:ext cx="8712967" cy="720080"/>
          </a:xfrm>
          <a:ln/>
        </p:spPr>
        <p:txBody>
          <a:bodyPr>
            <a:noAutofit/>
          </a:bodyPr>
          <a:lstStyle/>
          <a:p>
            <a:pPr marL="0" indent="-254000"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an algorithm that prints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volume of a cube and the sum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surfaces’ areas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AutoShape 67"/>
          <p:cNvSpPr>
            <a:spLocks noChangeArrowheads="1"/>
          </p:cNvSpPr>
          <p:nvPr/>
        </p:nvSpPr>
        <p:spPr bwMode="auto">
          <a:xfrm>
            <a:off x="838857" y="2138952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550966" y="256081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31840" y="2138952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AutoShape 68"/>
          <p:cNvSpPr>
            <a:spLocks noChangeArrowheads="1"/>
          </p:cNvSpPr>
          <p:nvPr/>
        </p:nvSpPr>
        <p:spPr bwMode="auto">
          <a:xfrm>
            <a:off x="624545" y="2856986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L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550966" y="320888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31840" y="2834279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AutoShape 72"/>
          <p:cNvSpPr>
            <a:spLocks noChangeArrowheads="1"/>
          </p:cNvSpPr>
          <p:nvPr/>
        </p:nvSpPr>
        <p:spPr bwMode="auto">
          <a:xfrm>
            <a:off x="755576" y="3501008"/>
            <a:ext cx="1582861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  <a:cs typeface="Arial" charset="0"/>
              </a:rPr>
              <a:t>V=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L</a:t>
            </a:r>
            <a:r>
              <a:rPr lang="en-US" sz="1600" dirty="0" smtClean="0">
                <a:latin typeface="Arial" charset="0"/>
                <a:cs typeface="Arial" charset="0"/>
              </a:rPr>
              <a:t>*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L</a:t>
            </a:r>
            <a:r>
              <a:rPr lang="en-US" sz="1600" dirty="0">
                <a:latin typeface="Arial" charset="0"/>
                <a:cs typeface="Arial" charset="0"/>
              </a:rPr>
              <a:t>*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L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538390" y="4003675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19264" y="3559053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the volume and store in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AutoShape 72"/>
          <p:cNvSpPr>
            <a:spLocks noChangeArrowheads="1"/>
          </p:cNvSpPr>
          <p:nvPr/>
        </p:nvSpPr>
        <p:spPr bwMode="auto">
          <a:xfrm>
            <a:off x="755576" y="4290391"/>
            <a:ext cx="1582861" cy="502667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  <a:cs typeface="Arial" charset="0"/>
              </a:rPr>
              <a:t>S=6*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L</a:t>
            </a:r>
            <a:r>
              <a:rPr lang="en-US" sz="1600" dirty="0" smtClean="0">
                <a:latin typeface="Arial" charset="0"/>
                <a:cs typeface="Arial" charset="0"/>
              </a:rPr>
              <a:t>*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L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538390" y="479305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119264" y="4221088"/>
            <a:ext cx="4320480" cy="5906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the sum of surface areas. Store the result in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</a:p>
        </p:txBody>
      </p:sp>
      <p:sp>
        <p:nvSpPr>
          <p:cNvPr id="22" name="AutoShape 71"/>
          <p:cNvSpPr>
            <a:spLocks noChangeArrowheads="1"/>
          </p:cNvSpPr>
          <p:nvPr/>
        </p:nvSpPr>
        <p:spPr bwMode="auto">
          <a:xfrm>
            <a:off x="587238" y="5058647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V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550966" y="541742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31840" y="5013176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</a:p>
        </p:txBody>
      </p:sp>
      <p:sp>
        <p:nvSpPr>
          <p:cNvPr id="25" name="AutoShape 71"/>
          <p:cNvSpPr>
            <a:spLocks noChangeArrowheads="1"/>
          </p:cNvSpPr>
          <p:nvPr/>
        </p:nvSpPr>
        <p:spPr bwMode="auto">
          <a:xfrm>
            <a:off x="587238" y="5730427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S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550966" y="608920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131840" y="5684956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</a:p>
        </p:txBody>
      </p:sp>
      <p:sp>
        <p:nvSpPr>
          <p:cNvPr id="28" name="AutoShape 70"/>
          <p:cNvSpPr>
            <a:spLocks noChangeArrowheads="1"/>
          </p:cNvSpPr>
          <p:nvPr/>
        </p:nvSpPr>
        <p:spPr bwMode="auto">
          <a:xfrm>
            <a:off x="838857" y="6391519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31840" y="6391518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5843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build="p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More Examples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4 - ALGORITHM</a:t>
            </a:r>
            <a:endParaRPr lang="en-US" b="1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340768"/>
            <a:ext cx="8712967" cy="1080120"/>
          </a:xfrm>
          <a:ln/>
        </p:spPr>
        <p:txBody>
          <a:bodyPr>
            <a:noAutofit/>
          </a:bodyPr>
          <a:lstStyle/>
          <a:p>
            <a:pPr marL="0" indent="-254000"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an algorithm that calculates the required tax based on the employer’s salary. If the salary is less than 5,000 SAR then tax = 10% of the salary; otherwise, the tax = 8%.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79512" y="2348880"/>
            <a:ext cx="8784976" cy="4248472"/>
          </a:xfrm>
          <a:prstGeom prst="rect">
            <a:avLst/>
          </a:prstGeom>
          <a:ln/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Employer’s salary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(salary) 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	 Value=?  entered by the user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required tax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(tax)</a:t>
            </a:r>
          </a:p>
          <a:p>
            <a:pPr marL="609600" indent="-609600">
              <a:buFont typeface="Wingdings" pitchFamily="2" charset="2"/>
              <a:buNone/>
            </a:pPr>
            <a:endParaRPr lang="en-US" sz="2000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(Input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Output)</a:t>
            </a:r>
            <a:endParaRPr lang="en-US" sz="2000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salary &lt; 5000 then tax = 0.1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salary &gt;= 5000 then tax = 0.08</a:t>
            </a:r>
          </a:p>
        </p:txBody>
      </p:sp>
    </p:spTree>
    <p:extLst>
      <p:ext uri="{BB962C8B-B14F-4D97-AF65-F5344CB8AC3E}">
        <p14:creationId xmlns="" xmlns:p14="http://schemas.microsoft.com/office/powerpoint/2010/main" val="121167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build="p" animBg="1"/>
      <p:bldP spid="10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4572000" y="6391518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More Examples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4 - FLOWCHART</a:t>
            </a:r>
            <a:endParaRPr lang="en-US" b="1" dirty="0"/>
          </a:p>
        </p:txBody>
      </p:sp>
      <p:sp>
        <p:nvSpPr>
          <p:cNvPr id="9" name="AutoShape 67"/>
          <p:cNvSpPr>
            <a:spLocks noChangeArrowheads="1"/>
          </p:cNvSpPr>
          <p:nvPr/>
        </p:nvSpPr>
        <p:spPr bwMode="auto">
          <a:xfrm>
            <a:off x="1799047" y="1484784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519772" y="190664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99992" y="148478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AutoShape 68"/>
          <p:cNvSpPr>
            <a:spLocks noChangeArrowheads="1"/>
          </p:cNvSpPr>
          <p:nvPr/>
        </p:nvSpPr>
        <p:spPr bwMode="auto">
          <a:xfrm>
            <a:off x="1584735" y="220281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smtClean="0">
                <a:latin typeface="Arial" charset="0"/>
                <a:cs typeface="Arial" charset="0"/>
              </a:rPr>
              <a:t>salary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519772" y="255471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99992" y="2180111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user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Flowchart: Decision 14"/>
          <p:cNvSpPr/>
          <p:nvPr/>
        </p:nvSpPr>
        <p:spPr>
          <a:xfrm>
            <a:off x="1043608" y="2852936"/>
            <a:ext cx="2952328" cy="798184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dirty="0" smtClean="0">
                <a:solidFill>
                  <a:srgbClr val="0000FF"/>
                </a:solidFill>
              </a:rPr>
              <a:t>alary</a:t>
            </a:r>
            <a:r>
              <a:rPr lang="en-US" dirty="0" smtClean="0">
                <a:solidFill>
                  <a:schemeClr val="tx1"/>
                </a:solidFill>
              </a:rPr>
              <a:t> &lt; 5000?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52120" y="3008349"/>
            <a:ext cx="3168352" cy="34864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salary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 5000?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8" name="Straight Arrow Connector 17"/>
          <p:cNvCxnSpPr>
            <a:stCxn id="15" idx="1"/>
          </p:cNvCxnSpPr>
          <p:nvPr/>
        </p:nvCxnSpPr>
        <p:spPr>
          <a:xfrm flipH="1">
            <a:off x="683568" y="3252028"/>
            <a:ext cx="36004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56233" y="3252028"/>
            <a:ext cx="0" cy="4485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2"/>
          <p:cNvSpPr>
            <a:spLocks noChangeArrowheads="1"/>
          </p:cNvSpPr>
          <p:nvPr/>
        </p:nvSpPr>
        <p:spPr bwMode="auto">
          <a:xfrm>
            <a:off x="180827" y="3718421"/>
            <a:ext cx="1150813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t</a:t>
            </a:r>
            <a:r>
              <a:rPr lang="en-US" sz="1600" dirty="0" smtClean="0">
                <a:latin typeface="Arial" charset="0"/>
                <a:cs typeface="Arial" charset="0"/>
              </a:rPr>
              <a:t>ax = 0.1 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56233" y="4149080"/>
            <a:ext cx="1" cy="14401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35488" y="3717032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5000 then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tax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0.1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560" y="278092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True</a:t>
            </a:r>
            <a:endParaRPr lang="en-US" sz="1400" dirty="0">
              <a:solidFill>
                <a:srgbClr val="0000FF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995936" y="3252028"/>
            <a:ext cx="36004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83968" y="3252028"/>
            <a:ext cx="0" cy="16150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72"/>
          <p:cNvSpPr>
            <a:spLocks noChangeArrowheads="1"/>
          </p:cNvSpPr>
          <p:nvPr/>
        </p:nvSpPr>
        <p:spPr bwMode="auto">
          <a:xfrm>
            <a:off x="3708561" y="4880739"/>
            <a:ext cx="1150813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t</a:t>
            </a:r>
            <a:r>
              <a:rPr lang="en-US" sz="1600" dirty="0" smtClean="0">
                <a:latin typeface="Arial" charset="0"/>
                <a:cs typeface="Arial" charset="0"/>
              </a:rPr>
              <a:t>ax =0.08 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52120" y="4807342"/>
            <a:ext cx="3168352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&gt;= 5000,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tax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0.08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283968" y="529711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2627784" y="5589240"/>
            <a:ext cx="1656183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56234" y="5589240"/>
            <a:ext cx="18715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2638236" y="5589240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71"/>
          <p:cNvSpPr>
            <a:spLocks noChangeArrowheads="1"/>
          </p:cNvSpPr>
          <p:nvPr/>
        </p:nvSpPr>
        <p:spPr bwMode="auto">
          <a:xfrm>
            <a:off x="1691208" y="5877272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tax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572000" y="581545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tax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AutoShape 70"/>
          <p:cNvSpPr>
            <a:spLocks noChangeArrowheads="1"/>
          </p:cNvSpPr>
          <p:nvPr/>
        </p:nvSpPr>
        <p:spPr bwMode="auto">
          <a:xfrm>
            <a:off x="1942827" y="6391519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48" name="Straight Arrow Connector 47"/>
          <p:cNvCxnSpPr>
            <a:stCxn id="42" idx="4"/>
            <a:endCxn id="45" idx="0"/>
          </p:cNvCxnSpPr>
          <p:nvPr/>
        </p:nvCxnSpPr>
        <p:spPr>
          <a:xfrm>
            <a:off x="2663552" y="6236047"/>
            <a:ext cx="0" cy="1554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08561" y="2780928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False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434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21" grpId="0" animBg="1"/>
      <p:bldP spid="23" grpId="0" animBg="1"/>
      <p:bldP spid="25" grpId="0"/>
      <p:bldP spid="33" grpId="0" animBg="1"/>
      <p:bldP spid="34" grpId="0" animBg="1"/>
      <p:bldP spid="42" grpId="0" animBg="1"/>
      <p:bldP spid="44" grpId="0" animBg="1"/>
      <p:bldP spid="45" grpId="0" animBg="1"/>
      <p:bldP spid="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More Examples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5 - ALGORITHM</a:t>
            </a:r>
            <a:endParaRPr lang="en-US" b="1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340768"/>
            <a:ext cx="8712967" cy="432048"/>
          </a:xfrm>
          <a:ln/>
        </p:spPr>
        <p:txBody>
          <a:bodyPr>
            <a:noAutofit/>
          </a:bodyPr>
          <a:lstStyle/>
          <a:p>
            <a:pPr marL="0" indent="-254000"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an algorithm that prints the absolute value of a number </a:t>
            </a:r>
            <a:r>
              <a:rPr lang="en-US" sz="2000" i="1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x-none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79512" y="1844824"/>
            <a:ext cx="8784976" cy="4752528"/>
          </a:xfrm>
          <a:prstGeom prst="rect">
            <a:avLst/>
          </a:prstGeom>
          <a:ln/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number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(x) 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			 Value=?  entered by the user</a:t>
            </a:r>
          </a:p>
          <a:p>
            <a:pPr marL="457200" lvl="1" indent="0">
              <a:buFont typeface="Verdana"/>
              <a:buNone/>
            </a:pPr>
            <a:endParaRPr lang="en-US" sz="2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609600" lvl="1" indent="-609600">
              <a:spcBef>
                <a:spcPts val="400"/>
              </a:spcBef>
              <a:buClr>
                <a:srgbClr val="FF0000"/>
              </a:buClr>
              <a:buSzPct val="68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</a:p>
          <a:p>
            <a:pPr marL="457200" lvl="1" indent="0">
              <a:buFont typeface="Verdana"/>
              <a:buNone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absolute value of x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(|x|)</a:t>
            </a:r>
            <a:endParaRPr lang="en-US" sz="2000" dirty="0" smtClean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endParaRPr lang="en-US" sz="2000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(Input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Output)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If x &gt;= 0 then do nothing</a:t>
            </a:r>
          </a:p>
          <a:p>
            <a:pPr marL="457200" lvl="1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If x &lt; 0 then x =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x *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-1 </a:t>
            </a:r>
          </a:p>
          <a:p>
            <a:pPr marL="457200" lvl="1" indent="0">
              <a:buFont typeface="Verdana"/>
              <a:buNone/>
            </a:pP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677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uiExpand="1" build="p" animBg="1"/>
      <p:bldP spid="10" grpId="0" uiExpan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1C68-F048-4C66-8544-2D3BD35A5879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6512" y="1340768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7504" y="103822"/>
            <a:ext cx="8729464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More Examples</a:t>
            </a:r>
            <a:endParaRPr lang="en-US" sz="4000" b="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5 - FLOWCHART</a:t>
            </a:r>
            <a:endParaRPr lang="en-US" b="1" dirty="0"/>
          </a:p>
        </p:txBody>
      </p:sp>
      <p:sp>
        <p:nvSpPr>
          <p:cNvPr id="11" name="AutoShape 67"/>
          <p:cNvSpPr>
            <a:spLocks noChangeArrowheads="1"/>
          </p:cNvSpPr>
          <p:nvPr/>
        </p:nvSpPr>
        <p:spPr bwMode="auto">
          <a:xfrm>
            <a:off x="1798811" y="1484784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519536" y="1906642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99992" y="148478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AutoShape 68"/>
          <p:cNvSpPr>
            <a:spLocks noChangeArrowheads="1"/>
          </p:cNvSpPr>
          <p:nvPr/>
        </p:nvSpPr>
        <p:spPr bwMode="auto">
          <a:xfrm>
            <a:off x="1584499" y="220281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smtClean="0">
                <a:latin typeface="Arial" charset="0"/>
                <a:cs typeface="Arial" charset="0"/>
              </a:rPr>
              <a:t>x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19536" y="2554714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99992" y="2180111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the variable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user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99992" y="2863126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negative?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99992" y="3580341"/>
            <a:ext cx="4320480" cy="7064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negative then multiply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-1.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Store the new value in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/>
          <p:cNvCxnSpPr>
            <a:endCxn id="26" idx="0"/>
          </p:cNvCxnSpPr>
          <p:nvPr/>
        </p:nvCxnSpPr>
        <p:spPr>
          <a:xfrm>
            <a:off x="971600" y="3140968"/>
            <a:ext cx="0" cy="5823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72"/>
          <p:cNvSpPr>
            <a:spLocks noChangeArrowheads="1"/>
          </p:cNvSpPr>
          <p:nvPr/>
        </p:nvSpPr>
        <p:spPr bwMode="auto">
          <a:xfrm>
            <a:off x="179512" y="3723334"/>
            <a:ext cx="1584176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latin typeface="Arial" charset="0"/>
                <a:cs typeface="Arial" charset="0"/>
              </a:rPr>
              <a:t> = 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sz="1600" dirty="0" smtClean="0">
                <a:latin typeface="Arial" charset="0"/>
                <a:cs typeface="Arial" charset="0"/>
              </a:rPr>
              <a:t> * -1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519536" y="5085184"/>
            <a:ext cx="0" cy="0"/>
          </a:xfrm>
          <a:prstGeom prst="straightConnector1">
            <a:avLst/>
          </a:prstGeom>
          <a:ln w="28575"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71"/>
          <p:cNvSpPr>
            <a:spLocks noChangeArrowheads="1"/>
          </p:cNvSpPr>
          <p:nvPr/>
        </p:nvSpPr>
        <p:spPr bwMode="auto">
          <a:xfrm>
            <a:off x="1547664" y="5514403"/>
            <a:ext cx="1944688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1392" y="5873178"/>
            <a:ext cx="1" cy="2921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499992" y="5468932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sp>
        <p:nvSpPr>
          <p:cNvPr id="32" name="AutoShape 70"/>
          <p:cNvSpPr>
            <a:spLocks noChangeArrowheads="1"/>
          </p:cNvSpPr>
          <p:nvPr/>
        </p:nvSpPr>
        <p:spPr bwMode="auto">
          <a:xfrm>
            <a:off x="1799283" y="6175495"/>
            <a:ext cx="1441450" cy="42185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9992" y="6175494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6" name="Straight Arrow Connector 35"/>
          <p:cNvCxnSpPr>
            <a:stCxn id="26" idx="2"/>
          </p:cNvCxnSpPr>
          <p:nvPr/>
        </p:nvCxnSpPr>
        <p:spPr>
          <a:xfrm>
            <a:off x="971600" y="4143803"/>
            <a:ext cx="0" cy="94138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71600" y="5085184"/>
            <a:ext cx="154840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519536" y="5085184"/>
            <a:ext cx="472" cy="429219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520008" y="5085184"/>
            <a:ext cx="133191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851920" y="3140968"/>
            <a:ext cx="2904" cy="19442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utoShape 73"/>
          <p:cNvSpPr>
            <a:spLocks noChangeArrowheads="1"/>
          </p:cNvSpPr>
          <p:nvPr/>
        </p:nvSpPr>
        <p:spPr bwMode="auto">
          <a:xfrm>
            <a:off x="1586982" y="2852737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x</a:t>
            </a:r>
            <a:r>
              <a:rPr lang="en-US" dirty="0" smtClean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&lt; 0?</a:t>
            </a:r>
            <a:endParaRPr lang="en-US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Line 74"/>
          <p:cNvSpPr>
            <a:spLocks noChangeShapeType="1"/>
          </p:cNvSpPr>
          <p:nvPr/>
        </p:nvSpPr>
        <p:spPr bwMode="auto">
          <a:xfrm flipV="1">
            <a:off x="3384823" y="3129777"/>
            <a:ext cx="539105" cy="1029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w="lg" len="lg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75"/>
          <p:cNvSpPr>
            <a:spLocks noChangeShapeType="1"/>
          </p:cNvSpPr>
          <p:nvPr/>
        </p:nvSpPr>
        <p:spPr bwMode="auto">
          <a:xfrm flipV="1">
            <a:off x="936553" y="3140074"/>
            <a:ext cx="650428" cy="7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71695" y="2874422"/>
            <a:ext cx="728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6792" y="2874422"/>
            <a:ext cx="75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False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9992" y="4519310"/>
            <a:ext cx="4320480" cy="4218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not negative then do nothing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171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 animBg="1"/>
      <p:bldP spid="16" grpId="0" animBg="1"/>
      <p:bldP spid="21" grpId="0" animBg="1"/>
      <p:bldP spid="24" grpId="0" animBg="1"/>
      <p:bldP spid="26" grpId="0" animBg="1"/>
      <p:bldP spid="29" grpId="0" animBg="1"/>
      <p:bldP spid="31" grpId="0" animBg="1"/>
      <p:bldP spid="32" grpId="0" animBg="1"/>
      <p:bldP spid="33" grpId="0" animBg="1"/>
      <p:bldP spid="39" grpId="0" animBg="1"/>
      <p:bldP spid="40" grpId="0" animBg="1"/>
      <p:bldP spid="41" grpId="0" animBg="1"/>
      <p:bldP spid="43" grpId="0"/>
      <p:bldP spid="45" grpId="0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2"/>
          <p:cNvSpPr>
            <a:spLocks noGrp="1"/>
          </p:cNvSpPr>
          <p:nvPr>
            <p:ph idx="1"/>
          </p:nvPr>
        </p:nvSpPr>
        <p:spPr>
          <a:xfrm>
            <a:off x="457200" y="333375"/>
            <a:ext cx="5410200" cy="5797550"/>
          </a:xfrm>
        </p:spPr>
        <p:txBody>
          <a:bodyPr/>
          <a:lstStyle/>
          <a:p>
            <a:pPr algn="l" rtl="0" eaLnBrk="1" hangingPunct="1"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Example :</a:t>
            </a:r>
          </a:p>
          <a:p>
            <a:pPr algn="l" rtl="0" eaLnBrk="1" hangingPunct="1"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Using pseudo code and flow chart to write an algorithm. Enter number (X) and  then find and print  the value (Y), as shown in the following equation:        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      Y=(X-2)/X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u="sng" dirty="0" smtClean="0">
                <a:solidFill>
                  <a:srgbClr val="FF0000"/>
                </a:solidFill>
              </a:rPr>
              <a:t>Note:</a:t>
            </a:r>
            <a:r>
              <a:rPr lang="en-US" sz="2000" dirty="0" smtClean="0">
                <a:solidFill>
                  <a:srgbClr val="FF0000"/>
                </a:solidFill>
              </a:rPr>
              <a:t> (if X=0 enter value of X again)</a:t>
            </a:r>
          </a:p>
          <a:p>
            <a:pPr algn="l" rtl="0" eaLnBrk="1" hangingPunct="1"/>
            <a:endParaRPr lang="en-US" sz="2000" dirty="0" smtClean="0">
              <a:solidFill>
                <a:srgbClr val="FFFF00"/>
              </a:solidFill>
            </a:endParaRPr>
          </a:p>
          <a:p>
            <a:pPr algn="l" rtl="0" eaLnBrk="1" hangingPunct="1"/>
            <a:r>
              <a:rPr lang="en-US" sz="2000" dirty="0" smtClean="0">
                <a:solidFill>
                  <a:srgbClr val="0070C0"/>
                </a:solidFill>
              </a:rPr>
              <a:t>Pseudo code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</a:t>
            </a:r>
            <a:r>
              <a:rPr lang="en-US" sz="2000" b="1" dirty="0" smtClean="0">
                <a:solidFill>
                  <a:srgbClr val="0070C0"/>
                </a:solidFill>
              </a:rPr>
              <a:t>input:</a:t>
            </a:r>
            <a:r>
              <a:rPr lang="en-US" sz="2000" dirty="0" smtClean="0">
                <a:solidFill>
                  <a:srgbClr val="0070C0"/>
                </a:solidFill>
              </a:rPr>
              <a:t> X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</a:t>
            </a:r>
            <a:r>
              <a:rPr lang="en-US" sz="2000" b="1" dirty="0" smtClean="0">
                <a:solidFill>
                  <a:srgbClr val="0070C0"/>
                </a:solidFill>
              </a:rPr>
              <a:t>process: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 if x=0 Re-enter the new value of x again, because you can not divide by 0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 Y=(X-2)/X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      </a:t>
            </a:r>
            <a:r>
              <a:rPr lang="en-US" sz="2000" b="1" dirty="0" smtClean="0">
                <a:solidFill>
                  <a:srgbClr val="0070C0"/>
                </a:solidFill>
              </a:rPr>
              <a:t>output:</a:t>
            </a:r>
            <a:r>
              <a:rPr lang="en-US" sz="2000" dirty="0" smtClean="0">
                <a:solidFill>
                  <a:srgbClr val="0070C0"/>
                </a:solidFill>
              </a:rPr>
              <a:t> Y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/>
            <a:endParaRPr lang="ar-SA" sz="2000" dirty="0" smtClean="0"/>
          </a:p>
        </p:txBody>
      </p:sp>
      <p:sp>
        <p:nvSpPr>
          <p:cNvPr id="65539" name="AutoShape 6"/>
          <p:cNvSpPr>
            <a:spLocks noChangeArrowheads="1"/>
          </p:cNvSpPr>
          <p:nvPr/>
        </p:nvSpPr>
        <p:spPr bwMode="auto">
          <a:xfrm>
            <a:off x="6443663" y="1412875"/>
            <a:ext cx="2232025" cy="360363"/>
          </a:xfrm>
          <a:prstGeom prst="roundRect">
            <a:avLst>
              <a:gd name="adj" fmla="val 46255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start</a:t>
            </a:r>
          </a:p>
        </p:txBody>
      </p:sp>
      <p:sp>
        <p:nvSpPr>
          <p:cNvPr id="65540" name="AutoShape 7"/>
          <p:cNvSpPr>
            <a:spLocks noChangeArrowheads="1"/>
          </p:cNvSpPr>
          <p:nvPr/>
        </p:nvSpPr>
        <p:spPr bwMode="auto">
          <a:xfrm>
            <a:off x="6372225" y="5589588"/>
            <a:ext cx="2232025" cy="358775"/>
          </a:xfrm>
          <a:prstGeom prst="roundRect">
            <a:avLst>
              <a:gd name="adj" fmla="val 4203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65541" name="Line 8"/>
          <p:cNvSpPr>
            <a:spLocks noChangeShapeType="1"/>
          </p:cNvSpPr>
          <p:nvPr/>
        </p:nvSpPr>
        <p:spPr bwMode="auto">
          <a:xfrm>
            <a:off x="7380288" y="17732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65542" name="AutoShape 9"/>
          <p:cNvSpPr>
            <a:spLocks noChangeArrowheads="1"/>
          </p:cNvSpPr>
          <p:nvPr/>
        </p:nvSpPr>
        <p:spPr bwMode="auto">
          <a:xfrm>
            <a:off x="6227763" y="2060575"/>
            <a:ext cx="2449512" cy="288925"/>
          </a:xfrm>
          <a:prstGeom prst="parallelogram">
            <a:avLst>
              <a:gd name="adj" fmla="val 2119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Input X </a:t>
            </a:r>
          </a:p>
        </p:txBody>
      </p:sp>
      <p:sp>
        <p:nvSpPr>
          <p:cNvPr id="65543" name="Line 10"/>
          <p:cNvSpPr>
            <a:spLocks noChangeShapeType="1"/>
          </p:cNvSpPr>
          <p:nvPr/>
        </p:nvSpPr>
        <p:spPr bwMode="auto">
          <a:xfrm>
            <a:off x="7380288" y="23495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65544" name="Rectangle 11"/>
          <p:cNvSpPr>
            <a:spLocks noChangeArrowheads="1"/>
          </p:cNvSpPr>
          <p:nvPr/>
        </p:nvSpPr>
        <p:spPr bwMode="auto">
          <a:xfrm>
            <a:off x="6011863" y="4437063"/>
            <a:ext cx="26638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Y=(X-2)/X</a:t>
            </a:r>
          </a:p>
        </p:txBody>
      </p:sp>
      <p:sp>
        <p:nvSpPr>
          <p:cNvPr id="65545" name="AutoShape 12"/>
          <p:cNvSpPr>
            <a:spLocks noChangeArrowheads="1"/>
          </p:cNvSpPr>
          <p:nvPr/>
        </p:nvSpPr>
        <p:spPr bwMode="auto">
          <a:xfrm>
            <a:off x="6227763" y="5013325"/>
            <a:ext cx="2376487" cy="288925"/>
          </a:xfrm>
          <a:prstGeom prst="parallelogram">
            <a:avLst>
              <a:gd name="adj" fmla="val 2056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Print Y</a:t>
            </a:r>
          </a:p>
        </p:txBody>
      </p:sp>
      <p:sp>
        <p:nvSpPr>
          <p:cNvPr id="65546" name="Line 13"/>
          <p:cNvSpPr>
            <a:spLocks noChangeShapeType="1"/>
          </p:cNvSpPr>
          <p:nvPr/>
        </p:nvSpPr>
        <p:spPr bwMode="auto">
          <a:xfrm>
            <a:off x="7380288" y="47974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65547" name="Line 14"/>
          <p:cNvSpPr>
            <a:spLocks noChangeShapeType="1"/>
          </p:cNvSpPr>
          <p:nvPr/>
        </p:nvSpPr>
        <p:spPr bwMode="auto">
          <a:xfrm>
            <a:off x="7380288" y="530066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65548" name="AutoShape 16"/>
          <p:cNvSpPr>
            <a:spLocks noChangeArrowheads="1"/>
          </p:cNvSpPr>
          <p:nvPr/>
        </p:nvSpPr>
        <p:spPr bwMode="auto">
          <a:xfrm>
            <a:off x="6443663" y="2636838"/>
            <a:ext cx="1943100" cy="1439862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If X=0</a:t>
            </a:r>
          </a:p>
        </p:txBody>
      </p:sp>
      <p:sp>
        <p:nvSpPr>
          <p:cNvPr id="65549" name="Line 17"/>
          <p:cNvSpPr>
            <a:spLocks noChangeShapeType="1"/>
          </p:cNvSpPr>
          <p:nvPr/>
        </p:nvSpPr>
        <p:spPr bwMode="auto">
          <a:xfrm>
            <a:off x="7451725" y="40767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65550" name="Line 18"/>
          <p:cNvSpPr>
            <a:spLocks noChangeShapeType="1"/>
          </p:cNvSpPr>
          <p:nvPr/>
        </p:nvSpPr>
        <p:spPr bwMode="auto">
          <a:xfrm flipH="1">
            <a:off x="8388350" y="33575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65551" name="Line 19"/>
          <p:cNvSpPr>
            <a:spLocks noChangeShapeType="1"/>
          </p:cNvSpPr>
          <p:nvPr/>
        </p:nvSpPr>
        <p:spPr bwMode="auto">
          <a:xfrm>
            <a:off x="8964613" y="1916113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65552" name="Text Box 21"/>
          <p:cNvSpPr txBox="1">
            <a:spLocks noChangeArrowheads="1"/>
          </p:cNvSpPr>
          <p:nvPr/>
        </p:nvSpPr>
        <p:spPr bwMode="auto">
          <a:xfrm>
            <a:off x="8351838" y="292417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ar-SA"/>
              <a:t> </a:t>
            </a:r>
            <a:endParaRPr lang="en-US"/>
          </a:p>
        </p:txBody>
      </p:sp>
      <p:sp>
        <p:nvSpPr>
          <p:cNvPr id="65553" name="Text Box 22"/>
          <p:cNvSpPr txBox="1">
            <a:spLocks noChangeArrowheads="1"/>
          </p:cNvSpPr>
          <p:nvPr/>
        </p:nvSpPr>
        <p:spPr bwMode="auto">
          <a:xfrm>
            <a:off x="8244408" y="2924175"/>
            <a:ext cx="6836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yes</a:t>
            </a:r>
          </a:p>
        </p:txBody>
      </p:sp>
      <p:cxnSp>
        <p:nvCxnSpPr>
          <p:cNvPr id="39" name="Straight Arrow Connector 38"/>
          <p:cNvCxnSpPr>
            <a:stCxn id="65551" idx="0"/>
          </p:cNvCxnSpPr>
          <p:nvPr/>
        </p:nvCxnSpPr>
        <p:spPr>
          <a:xfrm flipH="1">
            <a:off x="7380288" y="1916113"/>
            <a:ext cx="158432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55" name="Text Box 22"/>
          <p:cNvSpPr txBox="1">
            <a:spLocks noChangeArrowheads="1"/>
          </p:cNvSpPr>
          <p:nvPr/>
        </p:nvSpPr>
        <p:spPr bwMode="auto">
          <a:xfrm>
            <a:off x="7524750" y="4076700"/>
            <a:ext cx="5762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</a:t>
            </a:r>
          </a:p>
        </p:txBody>
      </p:sp>
      <p:sp>
        <p:nvSpPr>
          <p:cNvPr id="65556" name="TextBox 46"/>
          <p:cNvSpPr txBox="1">
            <a:spLocks noChangeArrowheads="1"/>
          </p:cNvSpPr>
          <p:nvPr/>
        </p:nvSpPr>
        <p:spPr bwMode="auto">
          <a:xfrm>
            <a:off x="6732588" y="692150"/>
            <a:ext cx="119221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Flow Chart</a:t>
            </a:r>
            <a:endParaRPr lang="ar-SA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dirty="0" smtClean="0">
                <a:solidFill>
                  <a:srgbClr val="FF0000"/>
                </a:solidFill>
              </a:rPr>
              <a:t>Using flowcharts to write suitable algorithms for the following: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0070C0"/>
                </a:solidFill>
              </a:rPr>
              <a:t>Convert a temperature from ⁰C into ⁰F.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0070C0"/>
                </a:solidFill>
              </a:rPr>
              <a:t>Find how many seconds are there in a number of minutes? hours?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Specify if a student passes a course or not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0070C0"/>
                </a:solidFill>
              </a:rPr>
              <a:t>Add the same number to itself </a:t>
            </a:r>
            <a:r>
              <a:rPr lang="en-US" i="1" dirty="0" smtClean="0">
                <a:solidFill>
                  <a:srgbClr val="0070C0"/>
                </a:solidFill>
              </a:rPr>
              <a:t>n </a:t>
            </a:r>
            <a:r>
              <a:rPr lang="en-US" dirty="0" smtClean="0">
                <a:solidFill>
                  <a:srgbClr val="0070C0"/>
                </a:solidFill>
              </a:rPr>
              <a:t>times.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47272" y="6407944"/>
            <a:ext cx="365760" cy="365125"/>
          </a:xfrm>
        </p:spPr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W2.2 Problem Solving</a:t>
            </a:r>
            <a:endParaRPr 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161305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 the faults in the following flowcharts:</a:t>
            </a:r>
            <a:endParaRPr lang="en-US" sz="20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587238" y="1556792"/>
            <a:ext cx="1944688" cy="3878241"/>
            <a:chOff x="587238" y="1988840"/>
            <a:chExt cx="1944688" cy="3878241"/>
          </a:xfrm>
        </p:grpSpPr>
        <p:sp>
          <p:nvSpPr>
            <p:cNvPr id="8" name="AutoShape 67"/>
            <p:cNvSpPr>
              <a:spLocks noChangeArrowheads="1"/>
            </p:cNvSpPr>
            <p:nvPr/>
          </p:nvSpPr>
          <p:spPr bwMode="auto">
            <a:xfrm>
              <a:off x="838857" y="1988840"/>
              <a:ext cx="1441450" cy="421858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Start</a:t>
              </a:r>
            </a:p>
          </p:txBody>
        </p:sp>
        <p:sp>
          <p:nvSpPr>
            <p:cNvPr id="9" name="AutoShape 68"/>
            <p:cNvSpPr>
              <a:spLocks noChangeArrowheads="1"/>
            </p:cNvSpPr>
            <p:nvPr/>
          </p:nvSpPr>
          <p:spPr bwMode="auto">
            <a:xfrm>
              <a:off x="624545" y="3499444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</a:t>
              </a:r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x1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0" name="AutoShape 68"/>
            <p:cNvSpPr>
              <a:spLocks noChangeArrowheads="1"/>
            </p:cNvSpPr>
            <p:nvPr/>
          </p:nvSpPr>
          <p:spPr bwMode="auto">
            <a:xfrm>
              <a:off x="624545" y="4150345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</a:t>
              </a:r>
              <a:r>
                <a:rPr lang="en-US" sz="1600" dirty="0">
                  <a:latin typeface="Arial" charset="0"/>
                  <a:cs typeface="Arial" charset="0"/>
                </a:rPr>
                <a:t>x</a:t>
              </a:r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1" name="AutoShape 72"/>
            <p:cNvSpPr>
              <a:spLocks noChangeArrowheads="1"/>
            </p:cNvSpPr>
            <p:nvPr/>
          </p:nvSpPr>
          <p:spPr bwMode="auto">
            <a:xfrm>
              <a:off x="755576" y="2682457"/>
              <a:ext cx="1582861" cy="502667"/>
            </a:xfrm>
            <a:prstGeom prst="flowChartProcess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Product= x1 * x2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2" name="AutoShape 71"/>
            <p:cNvSpPr>
              <a:spLocks noChangeArrowheads="1"/>
            </p:cNvSpPr>
            <p:nvPr/>
          </p:nvSpPr>
          <p:spPr bwMode="auto">
            <a:xfrm>
              <a:off x="587238" y="4799419"/>
              <a:ext cx="1944688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Print </a:t>
              </a:r>
              <a:r>
                <a:rPr lang="en-US" sz="1600" dirty="0" smtClean="0">
                  <a:latin typeface="Arial" charset="0"/>
                  <a:cs typeface="Arial" charset="0"/>
                </a:rPr>
                <a:t>Product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3" name="AutoShape 70"/>
            <p:cNvSpPr>
              <a:spLocks noChangeArrowheads="1"/>
            </p:cNvSpPr>
            <p:nvPr/>
          </p:nvSpPr>
          <p:spPr bwMode="auto">
            <a:xfrm>
              <a:off x="838857" y="5445225"/>
              <a:ext cx="1441450" cy="421856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End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550966" y="2410698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1550966" y="3851340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1547005" y="3208882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1550966" y="4507293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1550966" y="5158194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491408" y="1556792"/>
            <a:ext cx="1944688" cy="3878241"/>
            <a:chOff x="3491408" y="1988840"/>
            <a:chExt cx="1944688" cy="3878241"/>
          </a:xfrm>
        </p:grpSpPr>
        <p:sp>
          <p:nvSpPr>
            <p:cNvPr id="19" name="AutoShape 67"/>
            <p:cNvSpPr>
              <a:spLocks noChangeArrowheads="1"/>
            </p:cNvSpPr>
            <p:nvPr/>
          </p:nvSpPr>
          <p:spPr bwMode="auto">
            <a:xfrm>
              <a:off x="3743027" y="1988840"/>
              <a:ext cx="1441450" cy="421858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Start</a:t>
              </a:r>
            </a:p>
          </p:txBody>
        </p:sp>
        <p:sp>
          <p:nvSpPr>
            <p:cNvPr id="20" name="AutoShape 68"/>
            <p:cNvSpPr>
              <a:spLocks noChangeArrowheads="1"/>
            </p:cNvSpPr>
            <p:nvPr/>
          </p:nvSpPr>
          <p:spPr bwMode="auto">
            <a:xfrm>
              <a:off x="3528715" y="2702824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n1</a:t>
              </a:r>
            </a:p>
          </p:txBody>
        </p:sp>
        <p:sp>
          <p:nvSpPr>
            <p:cNvPr id="21" name="AutoShape 68"/>
            <p:cNvSpPr>
              <a:spLocks noChangeArrowheads="1"/>
            </p:cNvSpPr>
            <p:nvPr/>
          </p:nvSpPr>
          <p:spPr bwMode="auto">
            <a:xfrm>
              <a:off x="3528715" y="3353725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</a:t>
              </a:r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n2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2" name="AutoShape 72"/>
            <p:cNvSpPr>
              <a:spLocks noChangeArrowheads="1"/>
            </p:cNvSpPr>
            <p:nvPr/>
          </p:nvSpPr>
          <p:spPr bwMode="auto">
            <a:xfrm>
              <a:off x="3672322" y="4004626"/>
              <a:ext cx="1582861" cy="502667"/>
            </a:xfrm>
            <a:prstGeom prst="flowChartProcess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Sum = n1 + n2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3" name="AutoShape 71"/>
            <p:cNvSpPr>
              <a:spLocks noChangeArrowheads="1"/>
            </p:cNvSpPr>
            <p:nvPr/>
          </p:nvSpPr>
          <p:spPr bwMode="auto">
            <a:xfrm>
              <a:off x="3491408" y="4799419"/>
              <a:ext cx="1944688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Print </a:t>
              </a:r>
              <a:r>
                <a:rPr lang="en-US" sz="1600" dirty="0" smtClean="0">
                  <a:latin typeface="Arial" charset="0"/>
                  <a:cs typeface="Arial" charset="0"/>
                </a:rPr>
                <a:t>n1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4" name="AutoShape 70"/>
            <p:cNvSpPr>
              <a:spLocks noChangeArrowheads="1"/>
            </p:cNvSpPr>
            <p:nvPr/>
          </p:nvSpPr>
          <p:spPr bwMode="auto">
            <a:xfrm>
              <a:off x="3743027" y="5445225"/>
              <a:ext cx="1441450" cy="421856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End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4455136" y="2410698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455136" y="3054720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4455136" y="3712500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4455136" y="4507293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455136" y="5158194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443736" y="1556792"/>
            <a:ext cx="1944688" cy="3878241"/>
            <a:chOff x="6443736" y="1988840"/>
            <a:chExt cx="1944688" cy="3878241"/>
          </a:xfrm>
        </p:grpSpPr>
        <p:sp>
          <p:nvSpPr>
            <p:cNvPr id="30" name="AutoShape 67"/>
            <p:cNvSpPr>
              <a:spLocks noChangeArrowheads="1"/>
            </p:cNvSpPr>
            <p:nvPr/>
          </p:nvSpPr>
          <p:spPr bwMode="auto">
            <a:xfrm>
              <a:off x="6695355" y="1988840"/>
              <a:ext cx="1441450" cy="421858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Start</a:t>
              </a:r>
            </a:p>
          </p:txBody>
        </p:sp>
        <p:sp>
          <p:nvSpPr>
            <p:cNvPr id="31" name="AutoShape 68"/>
            <p:cNvSpPr>
              <a:spLocks noChangeArrowheads="1"/>
            </p:cNvSpPr>
            <p:nvPr/>
          </p:nvSpPr>
          <p:spPr bwMode="auto">
            <a:xfrm>
              <a:off x="6481043" y="2702824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n1</a:t>
              </a:r>
            </a:p>
          </p:txBody>
        </p:sp>
        <p:sp>
          <p:nvSpPr>
            <p:cNvPr id="32" name="AutoShape 68"/>
            <p:cNvSpPr>
              <a:spLocks noChangeArrowheads="1"/>
            </p:cNvSpPr>
            <p:nvPr/>
          </p:nvSpPr>
          <p:spPr bwMode="auto">
            <a:xfrm>
              <a:off x="6481043" y="3353725"/>
              <a:ext cx="1870075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Read </a:t>
              </a:r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n2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3" name="AutoShape 72"/>
            <p:cNvSpPr>
              <a:spLocks noChangeArrowheads="1"/>
            </p:cNvSpPr>
            <p:nvPr/>
          </p:nvSpPr>
          <p:spPr bwMode="auto">
            <a:xfrm>
              <a:off x="6624650" y="4004626"/>
              <a:ext cx="1582861" cy="502667"/>
            </a:xfrm>
            <a:prstGeom prst="flowChartProcess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latin typeface="Arial" charset="0"/>
                  <a:cs typeface="Arial" charset="0"/>
                </a:rPr>
                <a:t>Diff</a:t>
              </a:r>
              <a:r>
                <a:rPr lang="en-US" sz="1600" dirty="0" smtClean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= n1 – n2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4" name="AutoShape 71"/>
            <p:cNvSpPr>
              <a:spLocks noChangeArrowheads="1"/>
            </p:cNvSpPr>
            <p:nvPr/>
          </p:nvSpPr>
          <p:spPr bwMode="auto">
            <a:xfrm>
              <a:off x="6443736" y="4799419"/>
              <a:ext cx="1944688" cy="358775"/>
            </a:xfrm>
            <a:prstGeom prst="flowChartInputOutpu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Print </a:t>
              </a:r>
              <a:r>
                <a:rPr lang="en-US" sz="1600" dirty="0" smtClean="0">
                  <a:latin typeface="Arial" charset="0"/>
                  <a:cs typeface="Arial" charset="0"/>
                </a:rPr>
                <a:t>Sum</a:t>
              </a:r>
              <a:endPara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5" name="AutoShape 70"/>
            <p:cNvSpPr>
              <a:spLocks noChangeArrowheads="1"/>
            </p:cNvSpPr>
            <p:nvPr/>
          </p:nvSpPr>
          <p:spPr bwMode="auto">
            <a:xfrm>
              <a:off x="6695355" y="5445225"/>
              <a:ext cx="1441450" cy="421856"/>
            </a:xfrm>
            <a:prstGeom prst="flowChartTermina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600" dirty="0"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End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7407464" y="2410698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7407464" y="3054720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7407464" y="3712500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7407464" y="4507293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7407464" y="5158194"/>
              <a:ext cx="1" cy="292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910865" y="5507940"/>
            <a:ext cx="128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FC 1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15521" y="5507940"/>
            <a:ext cx="128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FC 3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91185" y="5507940"/>
            <a:ext cx="128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FC 2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W1.3 </a:t>
            </a:r>
            <a:r>
              <a:rPr lang="en-US" sz="1200" dirty="0" smtClean="0"/>
              <a:t>Problem Solving</a:t>
            </a:r>
            <a:endParaRPr 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175206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ATION_ID" val="5200"/>
  <p:tag name="LMS_COMPLETION_TITLE" val="CHAPTER 0-Basic problem solving"/>
  <p:tag name="LMS_COMPLETION_ID" val="CHAPTER_0-Basic_problem_solving"/>
  <p:tag name="LMS_COMPLETION_VERSION" val="1.0"/>
  <p:tag name="LMS_COMPLETION_DURATION" val="1:00:00"/>
  <p:tag name="LMS_COMPLETION_SCO_TITLE" val="CHAPTER 0-Basic problem solving"/>
  <p:tag name="LMS_COMPLETION_SCO_ID" val="CHAPTER_0-Basic_problem_solving"/>
  <p:tag name="LMS_COMPLETION_EDITION" val="0"/>
  <p:tag name="LMS_COMPLETION_THRESHOLD" val="23"/>
  <p:tag name="LMS_COMPLETION_METHOD" val="VIEW"/>
  <p:tag name="PUBLISH_TITLE" val="CHAPTER 0-Basic problem solving"/>
  <p:tag name="ARTICULATE_PUBLISH_PATH" val="C:\Users\SSC1\Desktop\firstArticulate"/>
  <p:tag name="ARTICULATE_LOGO" val="(None selected)"/>
  <p:tag name="ARTICULATE_PRESENTER" val="(None selected)"/>
  <p:tag name="ARTICULATE_PRESENTER_GUID" val="9869030842"/>
  <p:tag name="ARTICULATE_LMS" val="0"/>
  <p:tag name="ARTICULATE_TEMPLATE_GUID" val="d87a50dd-72f0-4a6b-bbcf-d41c12fda06b"/>
  <p:tag name="LMS_PROTOCOL_METHOD" val="SCORM"/>
  <p:tag name="LMS_PROTOCOL_VERSION" val="1.2"/>
  <p:tag name="LAUNCHINNEWWINDOW" val="0"/>
  <p:tag name="LASTPUBLISHED" val="C:\Users\SSC1\Desktop\firstArticulate\CHAPTER 0-Basic problem solving\player.html"/>
  <p:tag name="ENGAGE_TAB_COUNT" val="1"/>
  <p:tag name="ENGAGE_INTERACTION_FILENAME_1" val="C:\Users\SSC1\Desktop\CSC111-Ecourse\Objective.intr"/>
  <p:tag name="ENGAGE_INTERACTION_PAUSE_1" val="1"/>
  <p:tag name="ENGAGE_INTERACTION_ID_1" val="ad9de"/>
  <p:tag name="ENGAGE_INTERACTION_TABNAME_1" val="CHAPTER OBJECTIVE "/>
  <p:tag name="AQP_PASS_ACTION_1" val="0"/>
  <p:tag name="AQP_FAIL_ACTION_1" val="0"/>
  <p:tag name="AQP_PASS_SCORE_1" val="0"/>
  <p:tag name="AQP_TRAP_1" val="0"/>
  <p:tag name="AQP_ATTEMPTS_1" val="0"/>
  <p:tag name="ARTICULATE_PROJECT_OPEN" val="1"/>
  <p:tag name="ENGAGE_LAST_MODIFY_DATE_1" val="41401.8069675926"/>
  <p:tag name="ENGAGE_INTERACTION_TITLE_1" val="Chapter Objective "/>
  <p:tag name="ENGAGE_INTERACTION_GUID_1" val="6e3c64ac-94a1-4ad5-b23e-7d92abdd72ae"/>
  <p:tag name="ARTICULATE_PRESENTER_VERSION" val="6"/>
  <p:tag name="LMS_PUBLISH" val="No"/>
  <p:tag name="ARTICULATE_TEMPLATE" val="csc111"/>
  <p:tag name="PRESENTER_PREVIEW_START" val="1"/>
  <p:tag name="PRESENTER_PREVIEW_END" val="23"/>
  <p:tag name="PRESENTER_PREVIEW_MOD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9567802-d0c7-4aa6-bdec-3a9f53f10256"/>
  <p:tag name="ARTICULATE_SLIDE_NAV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5"/>
  <p:tag name="ARTICULATE_SLIDE_GUID" val="669897be-0785-458f-8a36-91ad533f629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6"/>
  <p:tag name="ARTICULATE_SLIDE_GUID" val="b83057b2-d91b-456c-a61a-3dcd101764a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7"/>
  <p:tag name="ARTICULATE_SLIDE_GUID" val="546f7511-e1b4-4a39-b2ee-5b05cf646bc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8"/>
  <p:tag name="ARTICULATE_SLIDE_GUID" val="279ab4e0-14ed-4d06-9fe2-a385ce532b5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9"/>
  <p:tag name="ARTICULATE_SLIDE_GUID" val="f12bad88-f671-4817-9ce7-b92078ffb69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0"/>
  <p:tag name="ARTICULATE_SLIDE_GUID" val="c1932ca4-ed2d-4550-b345-d74239f143c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0"/>
  <p:tag name="ARTICULATE_SLIDE_GUID" val="c1932ca4-ed2d-4550-b345-d74239f143c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0"/>
  <p:tag name="ARTICULATE_SLIDE_GUID" val="c1932ca4-ed2d-4550-b345-d74239f143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1"/>
  <p:tag name="ARTICULATE_SLIDE_GUID" val="46b1030c-4b25-4c8b-a146-f9e67d5b634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2"/>
  <p:tag name="ARTICULATE_SLIDE_GUID" val="978ef199-2cce-43c8-8727-33c388af286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3"/>
  <p:tag name="ARTICULATE_SLIDE_GUID" val="3e9db322-1703-4e27-8fb9-a86ba4a91c3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6"/>
  <p:tag name="ARTICULATE_SLIDE_GUID" val="6c9c039b-0e27-463b-88ed-007cff0beef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8"/>
  <p:tag name="ARTICULATE_SLIDE_GUID" val="9bf9dfad-e475-4b69-be4e-78f42ca9316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NAV" val="18"/>
  <p:tag name="ARTICULATE_SLIDE_GUID" val="9bf9dfad-e475-4b69-be4e-78f42ca9316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1762</TotalTime>
  <Words>1636</Words>
  <Application>Microsoft Office PowerPoint</Application>
  <PresentationFormat>On-screen Show (4:3)</PresentationFormat>
  <Paragraphs>409</Paragraphs>
  <Slides>28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Concourse</vt:lpstr>
      <vt:lpstr>  PROBLEM SOLVING </vt:lpstr>
      <vt:lpstr>Outline</vt:lpstr>
      <vt:lpstr>1. Introduction</vt:lpstr>
      <vt:lpstr>2. Problem Definition</vt:lpstr>
      <vt:lpstr>3. Problem Analysis – Example 1</vt:lpstr>
      <vt:lpstr>3. Problem Analysis – Example 2</vt:lpstr>
      <vt:lpstr>3. Problem Analysis – Example 3</vt:lpstr>
      <vt:lpstr>4. Solution Design</vt:lpstr>
      <vt:lpstr>4.1 Solution Design – Basic Steps</vt:lpstr>
      <vt:lpstr>4.1 Solution Design - Algorithm</vt:lpstr>
      <vt:lpstr>4.1 Solution Design – pseudo code</vt:lpstr>
      <vt:lpstr>4.2 Solution Design – pseudo code</vt:lpstr>
      <vt:lpstr>4.2 Solution Design – pseudo code</vt:lpstr>
      <vt:lpstr>4.2 Solution Design – pseudo code</vt:lpstr>
      <vt:lpstr>4.3 Solution Design – Flowchart</vt:lpstr>
      <vt:lpstr>4.3 Solution Design – Flowchart</vt:lpstr>
      <vt:lpstr>4.3 Solution Design – Flowchart</vt:lpstr>
      <vt:lpstr>4.3 Solution Design – Flowchart</vt:lpstr>
      <vt:lpstr>4.3 Solution Design – Flowchart</vt:lpstr>
      <vt:lpstr>4.3 Solution Design – Flowchart</vt:lpstr>
      <vt:lpstr>4.3 Solution Design – Flowchart</vt:lpstr>
      <vt:lpstr>5. More Examples</vt:lpstr>
      <vt:lpstr>5. More Examples</vt:lpstr>
      <vt:lpstr>5. More Examples</vt:lpstr>
      <vt:lpstr>5. More Examples</vt:lpstr>
      <vt:lpstr>Slide 26</vt:lpstr>
      <vt:lpstr>Self-Check Exercises (1)</vt:lpstr>
      <vt:lpstr>Self-Check Exercises (2)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Basic problem solving</dc:title>
  <dc:creator>SSC1</dc:creator>
  <cp:lastModifiedBy>Omar</cp:lastModifiedBy>
  <cp:revision>103</cp:revision>
  <dcterms:created xsi:type="dcterms:W3CDTF">2013-05-20T16:51:52Z</dcterms:created>
  <dcterms:modified xsi:type="dcterms:W3CDTF">2017-10-02T04:50:04Z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GUID">
    <vt:lpwstr>F5D10D4C-D26B-41F1-9563-41A35595031A</vt:lpwstr>
  </property>
  <property fmtid="{D5CDD505-2E9C-101B-9397-08002B2CF9AE}" pid="4" name="ArticulatePath">
    <vt:lpwstr>CHAPTER 0-Basic problem solving</vt:lpwstr>
  </property>
  <property fmtid="{D5CDD505-2E9C-101B-9397-08002B2CF9AE}" pid="5" name="ArticulateProjectFull">
    <vt:lpwstr>C:\Users\SSC1\Desktop\CSC111-Ecourse\Lectures\CHAPTER 0-Basic problem solving.ppta</vt:lpwstr>
  </property>
</Properties>
</file>