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74" r:id="rId4"/>
    <p:sldId id="275" r:id="rId5"/>
    <p:sldId id="276" r:id="rId6"/>
    <p:sldId id="277" r:id="rId7"/>
    <p:sldId id="278" r:id="rId8"/>
    <p:sldId id="279" r:id="rId9"/>
    <p:sldId id="280" r:id="rId10"/>
    <p:sldId id="281" r:id="rId11"/>
    <p:sldId id="284" r:id="rId12"/>
    <p:sldId id="282" r:id="rId13"/>
    <p:sldId id="283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191"/>
    <p:restoredTop sz="94719"/>
  </p:normalViewPr>
  <p:slideViewPr>
    <p:cSldViewPr>
      <p:cViewPr varScale="1">
        <p:scale>
          <a:sx n="148" d="100"/>
          <a:sy n="148" d="100"/>
        </p:scale>
        <p:origin x="2712" y="19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19B5CBB2-FC55-4D08-A514-ACFB85E8E87A}" type="datetimeFigureOut">
              <a:rPr lang="en-US" smtClean="0"/>
              <a:pPr/>
              <a:t>2/20/24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397ED8E3-A241-4AEE-A336-37556A5BB06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5CBB2-FC55-4D08-A514-ACFB85E8E87A}" type="datetimeFigureOut">
              <a:rPr lang="en-US" smtClean="0"/>
              <a:pPr/>
              <a:t>2/20/24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ED8E3-A241-4AEE-A336-37556A5BB06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5CBB2-FC55-4D08-A514-ACFB85E8E87A}" type="datetimeFigureOut">
              <a:rPr lang="en-US" smtClean="0"/>
              <a:pPr/>
              <a:t>2/20/24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ED8E3-A241-4AEE-A336-37556A5BB06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5CBB2-FC55-4D08-A514-ACFB85E8E87A}" type="datetimeFigureOut">
              <a:rPr lang="en-US" smtClean="0"/>
              <a:pPr/>
              <a:t>2/20/24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ED8E3-A241-4AEE-A336-37556A5BB06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5CBB2-FC55-4D08-A514-ACFB85E8E87A}" type="datetimeFigureOut">
              <a:rPr lang="en-US" smtClean="0"/>
              <a:pPr/>
              <a:t>2/20/24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ED8E3-A241-4AEE-A336-37556A5BB06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5CBB2-FC55-4D08-A514-ACFB85E8E87A}" type="datetimeFigureOut">
              <a:rPr lang="en-US" smtClean="0"/>
              <a:pPr/>
              <a:t>2/20/24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ED8E3-A241-4AEE-A336-37556A5BB06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5CBB2-FC55-4D08-A514-ACFB85E8E87A}" type="datetimeFigureOut">
              <a:rPr lang="en-US" smtClean="0"/>
              <a:pPr/>
              <a:t>2/20/24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ED8E3-A241-4AEE-A336-37556A5BB06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fld id="{19B5CBB2-FC55-4D08-A514-ACFB85E8E87A}" type="datetimeFigureOut">
              <a:rPr lang="en-US" smtClean="0"/>
              <a:pPr/>
              <a:t>2/20/24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ED8E3-A241-4AEE-A336-37556A5BB06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19B5CBB2-FC55-4D08-A514-ACFB85E8E87A}" type="datetimeFigureOut">
              <a:rPr lang="en-US" smtClean="0"/>
              <a:pPr/>
              <a:t>2/20/24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397ED8E3-A241-4AEE-A336-37556A5BB06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5CBB2-FC55-4D08-A514-ACFB85E8E87A}" type="datetimeFigureOut">
              <a:rPr lang="en-US" smtClean="0"/>
              <a:pPr/>
              <a:t>2/20/24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ED8E3-A241-4AEE-A336-37556A5BB06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5CBB2-FC55-4D08-A514-ACFB85E8E87A}" type="datetimeFigureOut">
              <a:rPr lang="en-US" smtClean="0"/>
              <a:pPr/>
              <a:t>2/20/24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ED8E3-A241-4AEE-A336-37556A5BB06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19B5CBB2-FC55-4D08-A514-ACFB85E8E87A}" type="datetimeFigureOut">
              <a:rPr lang="en-US" smtClean="0"/>
              <a:pPr/>
              <a:t>2/20/24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397ED8E3-A241-4AEE-A336-37556A5BB06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/>
          </p:cNvSpPr>
          <p:nvPr>
            <p:ph type="ctrTitle"/>
          </p:nvPr>
        </p:nvSpPr>
        <p:spPr>
          <a:xfrm>
            <a:off x="1019543" y="2348880"/>
            <a:ext cx="7872937" cy="1800200"/>
          </a:xfrm>
          <a:ln w="28575"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vert="horz" anchor="b">
            <a:normAutofit fontScale="90000"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br>
              <a:rPr lang="en-US" sz="5400" dirty="0">
                <a:solidFill>
                  <a:srgbClr val="C00000"/>
                </a:solidFill>
              </a:rPr>
            </a:br>
            <a:br>
              <a:rPr lang="en-US" sz="5400" dirty="0">
                <a:solidFill>
                  <a:srgbClr val="C00000"/>
                </a:solidFill>
              </a:rPr>
            </a:br>
            <a:r>
              <a:rPr lang="en-US" sz="5400" dirty="0">
                <a:solidFill>
                  <a:srgbClr val="C00000"/>
                </a:solidFill>
              </a:rPr>
              <a:t>OUTPUT STATEMENTS</a:t>
            </a:r>
          </a:p>
        </p:txBody>
      </p:sp>
      <p:sp>
        <p:nvSpPr>
          <p:cNvPr id="5" name="PPTShape_0"/>
          <p:cNvSpPr txBox="1">
            <a:spLocks/>
          </p:cNvSpPr>
          <p:nvPr/>
        </p:nvSpPr>
        <p:spPr>
          <a:xfrm>
            <a:off x="72008" y="5949280"/>
            <a:ext cx="1869423" cy="646331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>
            <a:defPPr>
              <a:defRPr lang="en-US"/>
            </a:defPPr>
            <a:lvl1pPr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bg1"/>
                </a:solidFill>
                <a:effectLst>
                  <a:reflection blurRad="6350" stA="55000" endA="300" endPos="45500" dir="5400000" sy="-100000" algn="bl" rotWithShape="0"/>
                </a:effectLst>
                <a:latin typeface="Tahoma" charset="0"/>
                <a:ea typeface="ＭＳ Ｐゴシック" charset="0"/>
                <a:cs typeface="Arial" charset="0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latin typeface="Tahoma" charset="0"/>
                <a:ea typeface="ＭＳ Ｐゴシック" charset="0"/>
                <a:cs typeface="Arial" charset="0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latin typeface="Tahoma" charset="0"/>
                <a:ea typeface="ＭＳ Ｐゴシック" charset="0"/>
                <a:cs typeface="Arial" charset="0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latin typeface="Tahoma" charset="0"/>
                <a:ea typeface="ＭＳ Ｐゴシック" charset="0"/>
                <a:cs typeface="Arial" charset="0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latin typeface="Tahoma" charset="0"/>
                <a:ea typeface="ＭＳ Ｐゴシック" charset="0"/>
                <a:cs typeface="Arial" charset="0"/>
              </a:defRPr>
            </a:lvl5pPr>
            <a:lvl6pPr defTabSz="457200">
              <a:defRPr>
                <a:latin typeface="Tahoma" charset="0"/>
                <a:ea typeface="ＭＳ Ｐゴシック" charset="0"/>
                <a:cs typeface="Arial" charset="0"/>
              </a:defRPr>
            </a:lvl6pPr>
            <a:lvl7pPr defTabSz="457200">
              <a:defRPr>
                <a:latin typeface="Tahoma" charset="0"/>
                <a:ea typeface="ＭＳ Ｐゴシック" charset="0"/>
                <a:cs typeface="Arial" charset="0"/>
              </a:defRPr>
            </a:lvl7pPr>
            <a:lvl8pPr defTabSz="457200">
              <a:defRPr>
                <a:latin typeface="Tahoma" charset="0"/>
                <a:ea typeface="ＭＳ Ｐゴシック" charset="0"/>
                <a:cs typeface="Arial" charset="0"/>
              </a:defRPr>
            </a:lvl8pPr>
            <a:lvl9pPr defTabSz="457200">
              <a:defRPr>
                <a:latin typeface="Tahoma" charset="0"/>
                <a:ea typeface="ＭＳ Ｐゴシック" charset="0"/>
                <a:cs typeface="Arial" charset="0"/>
              </a:defRPr>
            </a:lvl9pPr>
          </a:lstStyle>
          <a:p>
            <a:r>
              <a:rPr lang="en-US"/>
              <a:t>CS 1301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5770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08720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idx="1"/>
          </p:nvPr>
        </p:nvSpPr>
        <p:spPr>
          <a:xfrm>
            <a:off x="612648" y="1110952"/>
            <a:ext cx="8153400" cy="5486400"/>
          </a:xfrm>
          <a:prstGeom prst="foldedCorner">
            <a:avLst>
              <a:gd name="adj" fmla="val 36304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/>
          <a:p>
            <a:pPr marL="0" indent="0" eaLnBrk="1" hangingPunct="1">
              <a:lnSpc>
                <a:spcPct val="90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dirty="0">
                <a:latin typeface="Tahoma" charset="0"/>
                <a:cs typeface="Arial" charset="0"/>
              </a:rPr>
              <a:t>1. </a:t>
            </a:r>
            <a:r>
              <a:rPr lang="en-US" dirty="0" err="1">
                <a:latin typeface="Tahoma" charset="0"/>
                <a:cs typeface="Arial" charset="0"/>
              </a:rPr>
              <a:t>System.out.print</a:t>
            </a:r>
            <a:endParaRPr lang="en-US" dirty="0">
              <a:latin typeface="Tahoma" charset="0"/>
              <a:cs typeface="Arial" charset="0"/>
            </a:endParaRPr>
          </a:p>
          <a:p>
            <a:pPr marL="0" indent="0" eaLnBrk="1" hangingPunct="1">
              <a:lnSpc>
                <a:spcPct val="90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dirty="0">
                <a:latin typeface="Tahoma" charset="0"/>
                <a:cs typeface="Arial" charset="0"/>
              </a:rPr>
              <a:t>2. </a:t>
            </a:r>
            <a:r>
              <a:rPr lang="en-US" dirty="0" err="1">
                <a:latin typeface="Tahoma" charset="0"/>
                <a:cs typeface="Arial" charset="0"/>
              </a:rPr>
              <a:t>System.out.println</a:t>
            </a:r>
            <a:endParaRPr lang="en-US" dirty="0">
              <a:latin typeface="Tahoma" charset="0"/>
              <a:cs typeface="Arial" charset="0"/>
            </a:endParaRPr>
          </a:p>
          <a:p>
            <a:pPr marL="0" indent="0" eaLnBrk="1" hangingPunct="1">
              <a:lnSpc>
                <a:spcPct val="90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dirty="0">
                <a:latin typeface="Tahoma" charset="0"/>
                <a:cs typeface="Arial" charset="0"/>
              </a:rPr>
              <a:t>3. Escape Sequences</a:t>
            </a:r>
          </a:p>
          <a:p>
            <a:pPr marL="0" indent="0" eaLnBrk="1" hangingPunct="1">
              <a:lnSpc>
                <a:spcPct val="90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dirty="0">
                <a:latin typeface="Tahoma" charset="0"/>
                <a:cs typeface="Arial" charset="0"/>
              </a:rPr>
              <a:t>4. </a:t>
            </a:r>
            <a:r>
              <a:rPr lang="en-US" dirty="0" err="1">
                <a:latin typeface="Tahoma" charset="0"/>
                <a:cs typeface="Arial" charset="0"/>
              </a:rPr>
              <a:t>System.out.printf</a:t>
            </a:r>
            <a:endParaRPr lang="en-US" dirty="0">
              <a:latin typeface="Tahoma" charset="0"/>
              <a:cs typeface="Arial" charset="0"/>
            </a:endParaRPr>
          </a:p>
          <a:p>
            <a:pPr marL="0" indent="0" eaLnBrk="1" hangingPunct="1">
              <a:lnSpc>
                <a:spcPct val="90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dirty="0">
                <a:latin typeface="Tahoma" charset="0"/>
                <a:cs typeface="Arial" charset="0"/>
              </a:rPr>
              <a:t>5. Format </a:t>
            </a:r>
            <a:r>
              <a:rPr lang="en-US" dirty="0" err="1">
                <a:latin typeface="Tahoma" charset="0"/>
                <a:cs typeface="Arial" charset="0"/>
              </a:rPr>
              <a:t>Specifiers</a:t>
            </a:r>
            <a:endParaRPr lang="en-US" dirty="0">
              <a:latin typeface="Tahoma" charset="0"/>
              <a:cs typeface="Arial" charset="0"/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777240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Outline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4693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3. OUTPUT STATEMENTS</a:t>
            </a: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18" name="Rounded Rectangle 17"/>
          <p:cNvSpPr/>
          <p:nvPr/>
        </p:nvSpPr>
        <p:spPr>
          <a:xfrm>
            <a:off x="1677111" y="908720"/>
            <a:ext cx="5832648" cy="504056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rgbClr val="00B0F0"/>
                </a:solidFill>
              </a:rPr>
              <a:t>System.out.print</a:t>
            </a:r>
            <a:r>
              <a:rPr lang="en-US" dirty="0">
                <a:solidFill>
                  <a:srgbClr val="00B0F0"/>
                </a:solidFill>
              </a:rPr>
              <a:t> (expression);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236951" y="908720"/>
            <a:ext cx="1296144" cy="5040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SYNTAX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36951" y="1484784"/>
            <a:ext cx="1296144" cy="50405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Example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677111" y="1484784"/>
            <a:ext cx="5832648" cy="50405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>
                <a:solidFill>
                  <a:schemeClr val="tx1"/>
                </a:solidFill>
              </a:rPr>
              <a:t>System.out.print</a:t>
            </a:r>
            <a:r>
              <a:rPr lang="en-US" dirty="0">
                <a:solidFill>
                  <a:schemeClr val="tx1"/>
                </a:solidFill>
              </a:rPr>
              <a:t> (29/4);</a:t>
            </a:r>
            <a:endParaRPr lang="en-US" dirty="0">
              <a:solidFill>
                <a:srgbClr val="00B050"/>
              </a:solidFill>
            </a:endParaRPr>
          </a:p>
        </p:txBody>
      </p:sp>
      <p:grpSp>
        <p:nvGrpSpPr>
          <p:cNvPr id="22" name="Group 21"/>
          <p:cNvGrpSpPr/>
          <p:nvPr/>
        </p:nvGrpSpPr>
        <p:grpSpPr>
          <a:xfrm>
            <a:off x="1677111" y="2042264"/>
            <a:ext cx="5832648" cy="307777"/>
            <a:chOff x="683568" y="1236822"/>
            <a:chExt cx="7488832" cy="307777"/>
          </a:xfrm>
        </p:grpSpPr>
        <p:sp>
          <p:nvSpPr>
            <p:cNvPr id="26" name="TextBox 25"/>
            <p:cNvSpPr txBox="1"/>
            <p:nvPr/>
          </p:nvSpPr>
          <p:spPr>
            <a:xfrm>
              <a:off x="971600" y="1236822"/>
              <a:ext cx="7200800" cy="307777"/>
            </a:xfrm>
            <a:prstGeom prst="rect">
              <a:avLst/>
            </a:prstGeom>
            <a:solidFill>
              <a:srgbClr val="0000FF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</a:rPr>
                <a:t>7_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683568" y="1236822"/>
              <a:ext cx="21602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</a:rPr>
                <a:t>1</a:t>
              </a:r>
            </a:p>
          </p:txBody>
        </p:sp>
      </p:grpSp>
      <p:sp>
        <p:nvSpPr>
          <p:cNvPr id="29" name="Rounded Rectangle 28"/>
          <p:cNvSpPr/>
          <p:nvPr/>
        </p:nvSpPr>
        <p:spPr>
          <a:xfrm>
            <a:off x="251520" y="2060848"/>
            <a:ext cx="1296144" cy="289193"/>
          </a:xfrm>
          <a:prstGeom prst="roundRect">
            <a:avLst/>
          </a:prstGeom>
          <a:solidFill>
            <a:srgbClr val="00B0F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1520" y="2420888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Note the cursor position (_): it is on the same line as the output.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1520" y="2780928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Note that 29/4 is not enclosed between quotes 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 it is evaluated.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1691680" y="3283823"/>
            <a:ext cx="5832648" cy="504056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rgbClr val="00B0F0"/>
                </a:solidFill>
              </a:rPr>
              <a:t>System.out.println</a:t>
            </a:r>
            <a:r>
              <a:rPr lang="en-US" dirty="0">
                <a:solidFill>
                  <a:srgbClr val="00B0F0"/>
                </a:solidFill>
              </a:rPr>
              <a:t> (expression);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251520" y="3283823"/>
            <a:ext cx="1296144" cy="5040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SYNTAX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51520" y="3859887"/>
            <a:ext cx="1296144" cy="50405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Example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691680" y="3859887"/>
            <a:ext cx="5832648" cy="50405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>
                <a:solidFill>
                  <a:schemeClr val="tx1"/>
                </a:solidFill>
              </a:rPr>
              <a:t>System.out.println</a:t>
            </a:r>
            <a:r>
              <a:rPr lang="en-US" dirty="0">
                <a:solidFill>
                  <a:schemeClr val="tx1"/>
                </a:solidFill>
              </a:rPr>
              <a:t> (29/4);</a:t>
            </a:r>
            <a:endParaRPr lang="en-US" dirty="0">
              <a:solidFill>
                <a:srgbClr val="00B050"/>
              </a:solidFill>
            </a:endParaRPr>
          </a:p>
        </p:txBody>
      </p:sp>
      <p:grpSp>
        <p:nvGrpSpPr>
          <p:cNvPr id="38" name="Group 37"/>
          <p:cNvGrpSpPr/>
          <p:nvPr/>
        </p:nvGrpSpPr>
        <p:grpSpPr>
          <a:xfrm>
            <a:off x="1691680" y="4417367"/>
            <a:ext cx="5832648" cy="523220"/>
            <a:chOff x="683568" y="1236822"/>
            <a:chExt cx="7488832" cy="523220"/>
          </a:xfrm>
        </p:grpSpPr>
        <p:sp>
          <p:nvSpPr>
            <p:cNvPr id="39" name="TextBox 38"/>
            <p:cNvSpPr txBox="1"/>
            <p:nvPr/>
          </p:nvSpPr>
          <p:spPr>
            <a:xfrm>
              <a:off x="971600" y="1236822"/>
              <a:ext cx="7200800" cy="523220"/>
            </a:xfrm>
            <a:prstGeom prst="rect">
              <a:avLst/>
            </a:prstGeom>
            <a:solidFill>
              <a:srgbClr val="0000FF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</a:rPr>
                <a:t>7</a:t>
              </a:r>
            </a:p>
            <a:p>
              <a:r>
                <a:rPr lang="en-US" sz="1400" dirty="0">
                  <a:solidFill>
                    <a:schemeClr val="bg1"/>
                  </a:solidFill>
                </a:rPr>
                <a:t>_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683568" y="1236822"/>
              <a:ext cx="21602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</a:rPr>
                <a:t>1</a:t>
              </a:r>
            </a:p>
            <a:p>
              <a:r>
                <a:rPr lang="en-US" sz="1400" dirty="0">
                  <a:solidFill>
                    <a:srgbClr val="FF0000"/>
                  </a:solidFill>
                </a:rPr>
                <a:t>2</a:t>
              </a:r>
            </a:p>
          </p:txBody>
        </p:sp>
      </p:grpSp>
      <p:sp>
        <p:nvSpPr>
          <p:cNvPr id="41" name="Rounded Rectangle 40"/>
          <p:cNvSpPr/>
          <p:nvPr/>
        </p:nvSpPr>
        <p:spPr>
          <a:xfrm>
            <a:off x="266089" y="4435951"/>
            <a:ext cx="1296144" cy="289193"/>
          </a:xfrm>
          <a:prstGeom prst="roundRect">
            <a:avLst/>
          </a:prstGeom>
          <a:solidFill>
            <a:srgbClr val="00B0F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51520" y="4941168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Note the cursor position (_): it is on the next line to the output.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691680" y="5373216"/>
            <a:ext cx="5832648" cy="504056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rgbClr val="00B0F0"/>
                </a:solidFill>
              </a:rPr>
              <a:t>System.out.println</a:t>
            </a:r>
            <a:r>
              <a:rPr lang="en-US" dirty="0">
                <a:solidFill>
                  <a:srgbClr val="00B0F0"/>
                </a:solidFill>
              </a:rPr>
              <a:t> ();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251520" y="5373216"/>
            <a:ext cx="1296144" cy="5040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SYNTAX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51520" y="5877272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Skips a line.</a:t>
            </a:r>
          </a:p>
        </p:txBody>
      </p:sp>
      <p:grpSp>
        <p:nvGrpSpPr>
          <p:cNvPr id="46" name="Group 45"/>
          <p:cNvGrpSpPr/>
          <p:nvPr/>
        </p:nvGrpSpPr>
        <p:grpSpPr>
          <a:xfrm>
            <a:off x="1677111" y="6309320"/>
            <a:ext cx="5832648" cy="307777"/>
            <a:chOff x="683568" y="1236822"/>
            <a:chExt cx="7488832" cy="307777"/>
          </a:xfrm>
        </p:grpSpPr>
        <p:sp>
          <p:nvSpPr>
            <p:cNvPr id="47" name="TextBox 46"/>
            <p:cNvSpPr txBox="1"/>
            <p:nvPr/>
          </p:nvSpPr>
          <p:spPr>
            <a:xfrm>
              <a:off x="971600" y="1236822"/>
              <a:ext cx="7200800" cy="307777"/>
            </a:xfrm>
            <a:prstGeom prst="rect">
              <a:avLst/>
            </a:prstGeom>
            <a:solidFill>
              <a:srgbClr val="0000FF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</a:rPr>
                <a:t>_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683568" y="1236822"/>
              <a:ext cx="21602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</a:rPr>
                <a:t>1</a:t>
              </a:r>
            </a:p>
          </p:txBody>
        </p:sp>
      </p:grpSp>
      <p:sp>
        <p:nvSpPr>
          <p:cNvPr id="49" name="Rounded Rectangle 48"/>
          <p:cNvSpPr/>
          <p:nvPr/>
        </p:nvSpPr>
        <p:spPr>
          <a:xfrm>
            <a:off x="251520" y="6327904"/>
            <a:ext cx="1296144" cy="289193"/>
          </a:xfrm>
          <a:prstGeom prst="roundRect">
            <a:avLst/>
          </a:prstGeom>
          <a:solidFill>
            <a:srgbClr val="00B0F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3124067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5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000"/>
                            </p:stCondLst>
                            <p:childTnLst>
                              <p:par>
                                <p:cTn id="5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000"/>
                            </p:stCondLst>
                            <p:childTnLst>
                              <p:par>
                                <p:cTn id="7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9" grpId="0" animBg="1"/>
      <p:bldP spid="31" grpId="0"/>
      <p:bldP spid="32" grpId="0"/>
      <p:bldP spid="33" grpId="0" animBg="1"/>
      <p:bldP spid="34" grpId="0" animBg="1"/>
      <p:bldP spid="36" grpId="0" animBg="1"/>
      <p:bldP spid="37" grpId="0" animBg="1"/>
      <p:bldP spid="41" grpId="0" animBg="1"/>
      <p:bldP spid="42" grpId="0"/>
      <p:bldP spid="43" grpId="0" animBg="1"/>
      <p:bldP spid="44" grpId="0" animBg="1"/>
      <p:bldP spid="45" grpId="0"/>
      <p:bldP spid="4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3. OUTPUT STATEMENTS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PROGRAM 1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4</a:t>
            </a:fld>
            <a:endParaRPr lang="en-US"/>
          </a:p>
        </p:txBody>
      </p:sp>
      <p:grpSp>
        <p:nvGrpSpPr>
          <p:cNvPr id="33" name="Group 32"/>
          <p:cNvGrpSpPr/>
          <p:nvPr/>
        </p:nvGrpSpPr>
        <p:grpSpPr>
          <a:xfrm>
            <a:off x="179512" y="1268760"/>
            <a:ext cx="8784976" cy="3970318"/>
            <a:chOff x="323528" y="1236822"/>
            <a:chExt cx="7848872" cy="3733384"/>
          </a:xfrm>
        </p:grpSpPr>
        <p:sp>
          <p:nvSpPr>
            <p:cNvPr id="34" name="TextBox 33"/>
            <p:cNvSpPr txBox="1"/>
            <p:nvPr/>
          </p:nvSpPr>
          <p:spPr>
            <a:xfrm>
              <a:off x="971600" y="1236822"/>
              <a:ext cx="7200800" cy="3733384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// import necessary libraries</a:t>
              </a:r>
            </a:p>
            <a:p>
              <a:r>
                <a:rPr lang="en-US" dirty="0">
                  <a:solidFill>
                    <a:srgbClr val="00B0F0"/>
                  </a:solidFill>
                </a:rPr>
                <a:t>public class</a:t>
              </a:r>
              <a:r>
                <a:rPr lang="en-US" dirty="0">
                  <a:solidFill>
                    <a:srgbClr val="0000FF"/>
                  </a:solidFill>
                </a:rPr>
                <a:t> userOutput1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{</a:t>
              </a:r>
            </a:p>
            <a:p>
              <a:r>
                <a:rPr lang="en-US" dirty="0">
                  <a:solidFill>
                    <a:srgbClr val="00B0F0"/>
                  </a:solidFill>
                </a:rPr>
                <a:t>   public static void</a:t>
              </a:r>
              <a:r>
                <a:rPr lang="en-US" dirty="0">
                  <a:solidFill>
                    <a:srgbClr val="0000FF"/>
                  </a:solidFill>
                </a:rPr>
                <a:t> main (String[] </a:t>
              </a:r>
              <a:r>
                <a:rPr lang="en-US" dirty="0" err="1">
                  <a:solidFill>
                    <a:srgbClr val="0000FF"/>
                  </a:solidFill>
                </a:rPr>
                <a:t>args</a:t>
              </a:r>
              <a:r>
                <a:rPr lang="en-US" dirty="0">
                  <a:solidFill>
                    <a:srgbClr val="0000FF"/>
                  </a:solidFill>
                </a:rPr>
                <a:t>)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      {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         </a:t>
              </a:r>
              <a:r>
                <a:rPr lang="en-US" dirty="0"/>
                <a:t>// Declaration section: to declare needed variables</a:t>
              </a:r>
            </a:p>
            <a:p>
              <a:r>
                <a:rPr lang="en-US" dirty="0"/>
                <a:t>         // Input section: to enter values of used variables</a:t>
              </a:r>
            </a:p>
            <a:p>
              <a:r>
                <a:rPr lang="en-US" dirty="0"/>
                <a:t>         // Processing section: processing statements</a:t>
              </a:r>
            </a:p>
            <a:p>
              <a:r>
                <a:rPr lang="en-US" dirty="0"/>
                <a:t>         // Output section: display program output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	</a:t>
              </a:r>
              <a:r>
                <a:rPr lang="en-US" dirty="0" err="1">
                  <a:solidFill>
                    <a:srgbClr val="0000FF"/>
                  </a:solidFill>
                </a:rPr>
                <a:t>System.out.print</a:t>
              </a:r>
              <a:r>
                <a:rPr lang="en-US" dirty="0">
                  <a:solidFill>
                    <a:srgbClr val="0000FF"/>
                  </a:solidFill>
                </a:rPr>
                <a:t> (“Hello there”);		</a:t>
              </a:r>
              <a:r>
                <a:rPr lang="en-US" dirty="0">
                  <a:solidFill>
                    <a:srgbClr val="00B050"/>
                  </a:solidFill>
                </a:rPr>
                <a:t>//output line 1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	</a:t>
              </a:r>
              <a:r>
                <a:rPr lang="en-US" dirty="0" err="1">
                  <a:solidFill>
                    <a:srgbClr val="0000FF"/>
                  </a:solidFill>
                </a:rPr>
                <a:t>System.out.println</a:t>
              </a:r>
              <a:r>
                <a:rPr lang="en-US" dirty="0">
                  <a:solidFill>
                    <a:srgbClr val="0000FF"/>
                  </a:solidFill>
                </a:rPr>
                <a:t> (“My name is Ahmed”);</a:t>
              </a:r>
              <a:r>
                <a:rPr lang="en-US" dirty="0">
                  <a:solidFill>
                    <a:srgbClr val="00B050"/>
                  </a:solidFill>
                </a:rPr>
                <a:t>//output line 1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	</a:t>
              </a:r>
              <a:r>
                <a:rPr lang="en-US" dirty="0" err="1">
                  <a:solidFill>
                    <a:srgbClr val="0000FF"/>
                  </a:solidFill>
                </a:rPr>
                <a:t>System.out.println</a:t>
              </a:r>
              <a:r>
                <a:rPr lang="en-US" dirty="0">
                  <a:solidFill>
                    <a:srgbClr val="0000FF"/>
                  </a:solidFill>
                </a:rPr>
                <a:t> (“I am studying Java”);	</a:t>
              </a:r>
              <a:r>
                <a:rPr lang="en-US" dirty="0">
                  <a:solidFill>
                    <a:srgbClr val="00B050"/>
                  </a:solidFill>
                </a:rPr>
                <a:t>//output line 2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     } </a:t>
              </a:r>
              <a:r>
                <a:rPr lang="en-US" dirty="0"/>
                <a:t>// end main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} </a:t>
              </a:r>
              <a:r>
                <a:rPr lang="en-US" dirty="0"/>
                <a:t>// end class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323528" y="1236822"/>
              <a:ext cx="576064" cy="37333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>
                  <a:solidFill>
                    <a:srgbClr val="FF0000"/>
                  </a:solidFill>
                </a:rPr>
                <a:t>1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2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3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4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5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6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7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8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9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10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11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12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13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14</a:t>
              </a:r>
            </a:p>
          </p:txBody>
        </p:sp>
      </p:grpSp>
      <p:sp>
        <p:nvSpPr>
          <p:cNvPr id="36" name="TextBox 35"/>
          <p:cNvSpPr txBox="1"/>
          <p:nvPr/>
        </p:nvSpPr>
        <p:spPr>
          <a:xfrm>
            <a:off x="251791" y="5239078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output of Program 1 is as follows:</a:t>
            </a:r>
          </a:p>
        </p:txBody>
      </p:sp>
      <p:grpSp>
        <p:nvGrpSpPr>
          <p:cNvPr id="37" name="Group 36"/>
          <p:cNvGrpSpPr/>
          <p:nvPr/>
        </p:nvGrpSpPr>
        <p:grpSpPr>
          <a:xfrm>
            <a:off x="467544" y="5877272"/>
            <a:ext cx="7488832" cy="738664"/>
            <a:chOff x="683568" y="1236822"/>
            <a:chExt cx="7488832" cy="738664"/>
          </a:xfrm>
        </p:grpSpPr>
        <p:sp>
          <p:nvSpPr>
            <p:cNvPr id="38" name="TextBox 37"/>
            <p:cNvSpPr txBox="1"/>
            <p:nvPr/>
          </p:nvSpPr>
          <p:spPr>
            <a:xfrm>
              <a:off x="971600" y="1236822"/>
              <a:ext cx="7200800" cy="738664"/>
            </a:xfrm>
            <a:prstGeom prst="rect">
              <a:avLst/>
            </a:prstGeom>
            <a:solidFill>
              <a:srgbClr val="0000FF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</a:rPr>
                <a:t>Hello </a:t>
              </a:r>
              <a:r>
                <a:rPr lang="en-US" sz="1400" dirty="0" err="1">
                  <a:solidFill>
                    <a:schemeClr val="bg1"/>
                  </a:solidFill>
                </a:rPr>
                <a:t>thereMy</a:t>
              </a:r>
              <a:r>
                <a:rPr lang="en-US" sz="1400" dirty="0">
                  <a:solidFill>
                    <a:schemeClr val="bg1"/>
                  </a:solidFill>
                </a:rPr>
                <a:t> name is Ahmed</a:t>
              </a:r>
              <a:endParaRPr lang="en-US" sz="1400" dirty="0">
                <a:solidFill>
                  <a:srgbClr val="FFC000"/>
                </a:solidFill>
              </a:endParaRPr>
            </a:p>
            <a:p>
              <a:r>
                <a:rPr lang="en-US" sz="1400" dirty="0">
                  <a:solidFill>
                    <a:schemeClr val="bg1"/>
                  </a:solidFill>
                </a:rPr>
                <a:t>I am studying Java</a:t>
              </a:r>
            </a:p>
            <a:p>
              <a:r>
                <a:rPr lang="en-US" sz="1400" dirty="0">
                  <a:solidFill>
                    <a:schemeClr val="bg1"/>
                  </a:solidFill>
                </a:rPr>
                <a:t>_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683568" y="1236822"/>
              <a:ext cx="216024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</a:rPr>
                <a:t>1</a:t>
              </a:r>
            </a:p>
            <a:p>
              <a:r>
                <a:rPr lang="en-US" sz="1400" dirty="0">
                  <a:solidFill>
                    <a:srgbClr val="FF0000"/>
                  </a:solidFill>
                </a:rPr>
                <a:t>2</a:t>
              </a:r>
            </a:p>
            <a:p>
              <a:r>
                <a:rPr lang="en-US" sz="1400" dirty="0">
                  <a:solidFill>
                    <a:srgbClr val="FF0000"/>
                  </a:solidFill>
                </a:rPr>
                <a:t>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78110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3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3. OUTPUT STATEMENTS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ESCAPE SEQUENCES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323528" y="1268760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Escape sequences 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allow you to control the output.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3528" y="2201304"/>
            <a:ext cx="86409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following table shows some of the most commonly used escape sequences: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2472925"/>
              </p:ext>
            </p:extLst>
          </p:nvPr>
        </p:nvGraphicFramePr>
        <p:xfrm>
          <a:off x="251519" y="2975352"/>
          <a:ext cx="8640961" cy="323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01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82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726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Syntax</a:t>
                      </a:r>
                    </a:p>
                  </a:txBody>
                  <a:tcPr>
                    <a:lnL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Escape Sequence</a:t>
                      </a: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\n</a:t>
                      </a:r>
                    </a:p>
                  </a:txBody>
                  <a:tcPr>
                    <a:lnL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New line</a:t>
                      </a:r>
                    </a:p>
                  </a:txBody>
                  <a:tcPr>
                    <a:lnL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Cursor moves to the beginning of the </a:t>
                      </a:r>
                      <a:r>
                        <a:rPr lang="en-US" dirty="0">
                          <a:solidFill>
                            <a:srgbClr val="0000FF"/>
                          </a:solidFill>
                        </a:rPr>
                        <a:t>next </a:t>
                      </a:r>
                      <a:r>
                        <a:rPr lang="en-US" dirty="0"/>
                        <a:t>line.</a:t>
                      </a:r>
                    </a:p>
                  </a:txBody>
                  <a:tcPr>
                    <a:lnL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\r</a:t>
                      </a:r>
                    </a:p>
                  </a:txBody>
                  <a:tcPr>
                    <a:lnL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Return</a:t>
                      </a:r>
                    </a:p>
                  </a:txBody>
                  <a:tcPr>
                    <a:lnL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Cursor moves to the start of the </a:t>
                      </a:r>
                      <a:r>
                        <a:rPr lang="en-US" dirty="0">
                          <a:solidFill>
                            <a:srgbClr val="0000FF"/>
                          </a:solidFill>
                        </a:rPr>
                        <a:t>current </a:t>
                      </a:r>
                      <a:r>
                        <a:rPr lang="en-US" dirty="0"/>
                        <a:t>line.</a:t>
                      </a:r>
                    </a:p>
                  </a:txBody>
                  <a:tcPr>
                    <a:lnL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\t</a:t>
                      </a:r>
                    </a:p>
                  </a:txBody>
                  <a:tcPr>
                    <a:lnL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Tab</a:t>
                      </a:r>
                    </a:p>
                  </a:txBody>
                  <a:tcPr>
                    <a:lnL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Cursor moves to the next tab stop.</a:t>
                      </a:r>
                    </a:p>
                  </a:txBody>
                  <a:tcPr>
                    <a:lnL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\b</a:t>
                      </a:r>
                    </a:p>
                  </a:txBody>
                  <a:tcPr>
                    <a:lnL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Backspace</a:t>
                      </a:r>
                    </a:p>
                  </a:txBody>
                  <a:tcPr>
                    <a:lnL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Cursor moves one</a:t>
                      </a:r>
                      <a:r>
                        <a:rPr lang="en-US" baseline="0" dirty="0"/>
                        <a:t> space to the left.</a:t>
                      </a:r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\\</a:t>
                      </a:r>
                    </a:p>
                  </a:txBody>
                  <a:tcPr>
                    <a:lnL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Backslash</a:t>
                      </a:r>
                    </a:p>
                  </a:txBody>
                  <a:tcPr>
                    <a:lnL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Backslash is printed.</a:t>
                      </a:r>
                    </a:p>
                  </a:txBody>
                  <a:tcPr>
                    <a:lnL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\’</a:t>
                      </a:r>
                    </a:p>
                  </a:txBody>
                  <a:tcPr>
                    <a:lnL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Single quote</a:t>
                      </a:r>
                    </a:p>
                  </a:txBody>
                  <a:tcPr>
                    <a:lnL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Single quotation</a:t>
                      </a:r>
                      <a:r>
                        <a:rPr lang="en-US" baseline="0" dirty="0"/>
                        <a:t> is printed.</a:t>
                      </a:r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\”</a:t>
                      </a:r>
                    </a:p>
                  </a:txBody>
                  <a:tcPr>
                    <a:lnL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Double</a:t>
                      </a:r>
                      <a:r>
                        <a:rPr lang="en-US" baseline="0" dirty="0"/>
                        <a:t> quotes</a:t>
                      </a:r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Double quote is printed</a:t>
                      </a:r>
                    </a:p>
                  </a:txBody>
                  <a:tcPr>
                    <a:lnL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323528" y="1735032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All escape sequences start with a </a:t>
            </a:r>
            <a:r>
              <a:rPr lang="en-US" sz="20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backslash \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character.</a:t>
            </a:r>
          </a:p>
        </p:txBody>
      </p:sp>
    </p:spTree>
    <p:extLst>
      <p:ext uri="{BB962C8B-B14F-4D97-AF65-F5344CB8AC3E}">
        <p14:creationId xmlns:p14="http://schemas.microsoft.com/office/powerpoint/2010/main" val="4108921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4" grpId="0"/>
      <p:bldP spid="18" grpId="0"/>
      <p:bldP spid="1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3. OUTPUT STATEMENTS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PROGRAM 2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6</a:t>
            </a:fld>
            <a:endParaRPr lang="en-US"/>
          </a:p>
        </p:txBody>
      </p:sp>
      <p:grpSp>
        <p:nvGrpSpPr>
          <p:cNvPr id="11" name="Group 10"/>
          <p:cNvGrpSpPr/>
          <p:nvPr/>
        </p:nvGrpSpPr>
        <p:grpSpPr>
          <a:xfrm>
            <a:off x="179512" y="1268760"/>
            <a:ext cx="8784976" cy="3970318"/>
            <a:chOff x="323528" y="1236822"/>
            <a:chExt cx="7848872" cy="3733384"/>
          </a:xfrm>
        </p:grpSpPr>
        <p:sp>
          <p:nvSpPr>
            <p:cNvPr id="12" name="TextBox 11"/>
            <p:cNvSpPr txBox="1"/>
            <p:nvPr/>
          </p:nvSpPr>
          <p:spPr>
            <a:xfrm>
              <a:off x="971600" y="1236822"/>
              <a:ext cx="7200800" cy="3733384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// import necessary libraries</a:t>
              </a:r>
            </a:p>
            <a:p>
              <a:r>
                <a:rPr lang="en-US" dirty="0">
                  <a:solidFill>
                    <a:srgbClr val="00B0F0"/>
                  </a:solidFill>
                </a:rPr>
                <a:t>public class</a:t>
              </a:r>
              <a:r>
                <a:rPr lang="en-US" dirty="0">
                  <a:solidFill>
                    <a:srgbClr val="0000FF"/>
                  </a:solidFill>
                </a:rPr>
                <a:t> userOutput2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{</a:t>
              </a:r>
            </a:p>
            <a:p>
              <a:r>
                <a:rPr lang="en-US" dirty="0">
                  <a:solidFill>
                    <a:srgbClr val="00B0F0"/>
                  </a:solidFill>
                </a:rPr>
                <a:t>   public static void</a:t>
              </a:r>
              <a:r>
                <a:rPr lang="en-US" dirty="0">
                  <a:solidFill>
                    <a:srgbClr val="0000FF"/>
                  </a:solidFill>
                </a:rPr>
                <a:t> main (String[] </a:t>
              </a:r>
              <a:r>
                <a:rPr lang="en-US" dirty="0" err="1">
                  <a:solidFill>
                    <a:srgbClr val="0000FF"/>
                  </a:solidFill>
                </a:rPr>
                <a:t>args</a:t>
              </a:r>
              <a:r>
                <a:rPr lang="en-US" dirty="0">
                  <a:solidFill>
                    <a:srgbClr val="0000FF"/>
                  </a:solidFill>
                </a:rPr>
                <a:t>)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      {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         </a:t>
              </a:r>
              <a:r>
                <a:rPr lang="en-US" dirty="0"/>
                <a:t>// Declaration section: to declare needed variables</a:t>
              </a:r>
            </a:p>
            <a:p>
              <a:r>
                <a:rPr lang="en-US" dirty="0"/>
                <a:t>         // Input section: to enter values of used variables</a:t>
              </a:r>
            </a:p>
            <a:p>
              <a:r>
                <a:rPr lang="en-US" dirty="0"/>
                <a:t>         // Processing section: processing statements</a:t>
              </a:r>
            </a:p>
            <a:p>
              <a:r>
                <a:rPr lang="en-US" dirty="0"/>
                <a:t>         // Output section: display program output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	</a:t>
              </a:r>
              <a:r>
                <a:rPr lang="en-US" dirty="0" err="1">
                  <a:solidFill>
                    <a:srgbClr val="0000FF"/>
                  </a:solidFill>
                </a:rPr>
                <a:t>System.out.print</a:t>
              </a:r>
              <a:r>
                <a:rPr lang="en-US" dirty="0">
                  <a:solidFill>
                    <a:srgbClr val="0000FF"/>
                  </a:solidFill>
                </a:rPr>
                <a:t> (“Hello there </a:t>
              </a:r>
              <a:r>
                <a:rPr lang="en-US" dirty="0">
                  <a:solidFill>
                    <a:srgbClr val="FF00FF"/>
                  </a:solidFill>
                </a:rPr>
                <a:t>\t</a:t>
              </a:r>
              <a:r>
                <a:rPr lang="en-US" dirty="0">
                  <a:solidFill>
                    <a:srgbClr val="0000FF"/>
                  </a:solidFill>
                </a:rPr>
                <a:t>”);	</a:t>
              </a:r>
              <a:r>
                <a:rPr lang="en-US" dirty="0">
                  <a:solidFill>
                    <a:srgbClr val="00B050"/>
                  </a:solidFill>
                </a:rPr>
                <a:t>//output line 1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	</a:t>
              </a:r>
              <a:r>
                <a:rPr lang="en-US" dirty="0" err="1">
                  <a:solidFill>
                    <a:srgbClr val="0000FF"/>
                  </a:solidFill>
                </a:rPr>
                <a:t>System.out.print</a:t>
              </a:r>
              <a:r>
                <a:rPr lang="en-US" dirty="0">
                  <a:solidFill>
                    <a:srgbClr val="0000FF"/>
                  </a:solidFill>
                </a:rPr>
                <a:t> (“My name is </a:t>
              </a:r>
              <a:r>
                <a:rPr lang="en-US" dirty="0" err="1">
                  <a:solidFill>
                    <a:srgbClr val="0000FF"/>
                  </a:solidFill>
                </a:rPr>
                <a:t>Fatma</a:t>
              </a:r>
              <a:r>
                <a:rPr lang="en-US" dirty="0">
                  <a:solidFill>
                    <a:srgbClr val="FF00FF"/>
                  </a:solidFill>
                </a:rPr>
                <a:t>\n</a:t>
              </a:r>
              <a:r>
                <a:rPr lang="en-US" dirty="0">
                  <a:solidFill>
                    <a:srgbClr val="0000FF"/>
                  </a:solidFill>
                </a:rPr>
                <a:t>”);	</a:t>
              </a:r>
              <a:r>
                <a:rPr lang="en-US" dirty="0">
                  <a:solidFill>
                    <a:srgbClr val="00B050"/>
                  </a:solidFill>
                </a:rPr>
                <a:t>//output line 1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	</a:t>
              </a:r>
              <a:r>
                <a:rPr lang="en-US" dirty="0" err="1">
                  <a:solidFill>
                    <a:srgbClr val="0000FF"/>
                  </a:solidFill>
                </a:rPr>
                <a:t>System.out.println</a:t>
              </a:r>
              <a:r>
                <a:rPr lang="en-US" dirty="0">
                  <a:solidFill>
                    <a:srgbClr val="0000FF"/>
                  </a:solidFill>
                </a:rPr>
                <a:t> (“I am studying </a:t>
              </a:r>
              <a:r>
                <a:rPr lang="en-US" dirty="0">
                  <a:solidFill>
                    <a:srgbClr val="FF00FF"/>
                  </a:solidFill>
                </a:rPr>
                <a:t>\”</a:t>
              </a:r>
              <a:r>
                <a:rPr lang="en-US" dirty="0">
                  <a:solidFill>
                    <a:srgbClr val="0000FF"/>
                  </a:solidFill>
                </a:rPr>
                <a:t>Java</a:t>
              </a:r>
              <a:r>
                <a:rPr lang="en-US" dirty="0">
                  <a:solidFill>
                    <a:srgbClr val="FF00FF"/>
                  </a:solidFill>
                </a:rPr>
                <a:t>\”</a:t>
              </a:r>
              <a:r>
                <a:rPr lang="en-US" dirty="0">
                  <a:solidFill>
                    <a:srgbClr val="0000FF"/>
                  </a:solidFill>
                </a:rPr>
                <a:t>”);</a:t>
              </a:r>
              <a:r>
                <a:rPr lang="en-US" dirty="0">
                  <a:solidFill>
                    <a:srgbClr val="00B050"/>
                  </a:solidFill>
                </a:rPr>
                <a:t>//output line 2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     } </a:t>
              </a:r>
              <a:r>
                <a:rPr lang="en-US" dirty="0"/>
                <a:t>// end main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} </a:t>
              </a:r>
              <a:r>
                <a:rPr lang="en-US" dirty="0"/>
                <a:t>// end class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323528" y="1236822"/>
              <a:ext cx="576064" cy="37333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>
                  <a:solidFill>
                    <a:srgbClr val="FF0000"/>
                  </a:solidFill>
                </a:rPr>
                <a:t>1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2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3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4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5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6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7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8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9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10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11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12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13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14</a:t>
              </a:r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323528" y="5373216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output of Program 2 is as follows:</a:t>
            </a:r>
          </a:p>
        </p:txBody>
      </p:sp>
      <p:grpSp>
        <p:nvGrpSpPr>
          <p:cNvPr id="21" name="Group 20"/>
          <p:cNvGrpSpPr/>
          <p:nvPr/>
        </p:nvGrpSpPr>
        <p:grpSpPr>
          <a:xfrm>
            <a:off x="467544" y="5877272"/>
            <a:ext cx="8496944" cy="738664"/>
            <a:chOff x="683568" y="1236822"/>
            <a:chExt cx="7488832" cy="738664"/>
          </a:xfrm>
        </p:grpSpPr>
        <p:sp>
          <p:nvSpPr>
            <p:cNvPr id="22" name="TextBox 21"/>
            <p:cNvSpPr txBox="1"/>
            <p:nvPr/>
          </p:nvSpPr>
          <p:spPr>
            <a:xfrm>
              <a:off x="971600" y="1236822"/>
              <a:ext cx="7200800" cy="738664"/>
            </a:xfrm>
            <a:prstGeom prst="rect">
              <a:avLst/>
            </a:prstGeom>
            <a:solidFill>
              <a:srgbClr val="0000FF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</a:rPr>
                <a:t>Hello there	My name is </a:t>
              </a:r>
              <a:r>
                <a:rPr lang="en-US" sz="1400" dirty="0" err="1">
                  <a:solidFill>
                    <a:schemeClr val="bg1"/>
                  </a:solidFill>
                </a:rPr>
                <a:t>Fatma</a:t>
              </a:r>
              <a:endParaRPr lang="en-US" sz="1400" dirty="0">
                <a:solidFill>
                  <a:srgbClr val="FFC000"/>
                </a:solidFill>
              </a:endParaRPr>
            </a:p>
            <a:p>
              <a:r>
                <a:rPr lang="en-US" sz="1400" dirty="0">
                  <a:solidFill>
                    <a:schemeClr val="bg1"/>
                  </a:solidFill>
                </a:rPr>
                <a:t>I am studying “Java”</a:t>
              </a:r>
            </a:p>
            <a:p>
              <a:r>
                <a:rPr lang="en-US" sz="1400" dirty="0">
                  <a:solidFill>
                    <a:schemeClr val="bg1"/>
                  </a:solidFill>
                </a:rPr>
                <a:t>_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683568" y="1236822"/>
              <a:ext cx="216024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</a:rPr>
                <a:t>1</a:t>
              </a:r>
            </a:p>
            <a:p>
              <a:r>
                <a:rPr lang="en-US" sz="1400" dirty="0">
                  <a:solidFill>
                    <a:srgbClr val="FF0000"/>
                  </a:solidFill>
                </a:rPr>
                <a:t>2</a:t>
              </a:r>
            </a:p>
            <a:p>
              <a:r>
                <a:rPr lang="en-US" sz="1400" dirty="0">
                  <a:solidFill>
                    <a:srgbClr val="FF0000"/>
                  </a:solidFill>
                </a:rPr>
                <a:t>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31214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2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3. PRINTF STATEMENT</a:t>
            </a: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18" name="Rounded Rectangle 17"/>
          <p:cNvSpPr/>
          <p:nvPr/>
        </p:nvSpPr>
        <p:spPr>
          <a:xfrm>
            <a:off x="1677111" y="907559"/>
            <a:ext cx="5832648" cy="504056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rgbClr val="00B0F0"/>
                </a:solidFill>
              </a:rPr>
              <a:t>System.out.printf</a:t>
            </a:r>
            <a:r>
              <a:rPr lang="en-US" dirty="0">
                <a:solidFill>
                  <a:srgbClr val="00B0F0"/>
                </a:solidFill>
              </a:rPr>
              <a:t> (</a:t>
            </a:r>
            <a:r>
              <a:rPr lang="en-US" dirty="0" err="1">
                <a:solidFill>
                  <a:srgbClr val="00B0F0"/>
                </a:solidFill>
              </a:rPr>
              <a:t>formatString</a:t>
            </a:r>
            <a:r>
              <a:rPr lang="en-US" dirty="0">
                <a:solidFill>
                  <a:srgbClr val="00B0F0"/>
                </a:solidFill>
              </a:rPr>
              <a:t>);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236951" y="907559"/>
            <a:ext cx="1296144" cy="5040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SYNTAX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36951" y="1483623"/>
            <a:ext cx="1296144" cy="50405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Example 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677111" y="1483623"/>
            <a:ext cx="5832648" cy="50405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>
                <a:solidFill>
                  <a:schemeClr val="tx1"/>
                </a:solidFill>
              </a:rPr>
              <a:t>System.out.printf</a:t>
            </a:r>
            <a:r>
              <a:rPr lang="en-US" dirty="0">
                <a:solidFill>
                  <a:schemeClr val="tx1"/>
                </a:solidFill>
              </a:rPr>
              <a:t> (“Hello there!!”);</a:t>
            </a:r>
            <a:endParaRPr lang="en-US" dirty="0">
              <a:solidFill>
                <a:srgbClr val="00B050"/>
              </a:solidFill>
            </a:endParaRPr>
          </a:p>
        </p:txBody>
      </p:sp>
      <p:grpSp>
        <p:nvGrpSpPr>
          <p:cNvPr id="26" name="Group 25"/>
          <p:cNvGrpSpPr/>
          <p:nvPr/>
        </p:nvGrpSpPr>
        <p:grpSpPr>
          <a:xfrm>
            <a:off x="1677111" y="2041103"/>
            <a:ext cx="5832648" cy="307777"/>
            <a:chOff x="683568" y="1236822"/>
            <a:chExt cx="7488832" cy="307777"/>
          </a:xfrm>
        </p:grpSpPr>
        <p:sp>
          <p:nvSpPr>
            <p:cNvPr id="27" name="TextBox 26"/>
            <p:cNvSpPr txBox="1"/>
            <p:nvPr/>
          </p:nvSpPr>
          <p:spPr>
            <a:xfrm>
              <a:off x="971600" y="1236822"/>
              <a:ext cx="7200800" cy="307777"/>
            </a:xfrm>
            <a:prstGeom prst="rect">
              <a:avLst/>
            </a:prstGeom>
            <a:solidFill>
              <a:srgbClr val="0000FF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</a:rPr>
                <a:t>Hello there!!_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683568" y="1236822"/>
              <a:ext cx="21602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</a:rPr>
                <a:t>1</a:t>
              </a:r>
            </a:p>
          </p:txBody>
        </p:sp>
      </p:grpSp>
      <p:sp>
        <p:nvSpPr>
          <p:cNvPr id="29" name="Rounded Rectangle 28"/>
          <p:cNvSpPr/>
          <p:nvPr/>
        </p:nvSpPr>
        <p:spPr>
          <a:xfrm>
            <a:off x="251520" y="2059687"/>
            <a:ext cx="1296144" cy="289193"/>
          </a:xfrm>
          <a:prstGeom prst="roundRect">
            <a:avLst/>
          </a:prstGeom>
          <a:solidFill>
            <a:srgbClr val="00B0F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691680" y="2708920"/>
            <a:ext cx="5832648" cy="504056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rgbClr val="00B0F0"/>
                </a:solidFill>
              </a:rPr>
              <a:t>System.out.printf</a:t>
            </a:r>
            <a:r>
              <a:rPr lang="en-US" dirty="0">
                <a:solidFill>
                  <a:srgbClr val="00B0F0"/>
                </a:solidFill>
              </a:rPr>
              <a:t> (</a:t>
            </a:r>
            <a:r>
              <a:rPr lang="en-US" dirty="0" err="1">
                <a:solidFill>
                  <a:srgbClr val="00B0F0"/>
                </a:solidFill>
              </a:rPr>
              <a:t>formatString</a:t>
            </a:r>
            <a:r>
              <a:rPr lang="en-US" dirty="0">
                <a:solidFill>
                  <a:srgbClr val="00B0F0"/>
                </a:solidFill>
              </a:rPr>
              <a:t>, </a:t>
            </a:r>
            <a:r>
              <a:rPr lang="en-US" dirty="0" err="1">
                <a:solidFill>
                  <a:srgbClr val="00B0F0"/>
                </a:solidFill>
              </a:rPr>
              <a:t>argumentList</a:t>
            </a:r>
            <a:r>
              <a:rPr lang="en-US" dirty="0">
                <a:solidFill>
                  <a:srgbClr val="00B0F0"/>
                </a:solidFill>
              </a:rPr>
              <a:t>);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251520" y="2708920"/>
            <a:ext cx="1296144" cy="5040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SYNTAX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9512" y="3212976"/>
            <a:ext cx="86409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</a:t>
            </a:r>
            <a:r>
              <a:rPr lang="en-US" sz="20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argumentList</a:t>
            </a:r>
            <a:r>
              <a:rPr lang="en-US" sz="20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 a list of one or more arguments: </a:t>
            </a:r>
            <a:r>
              <a:rPr lang="en-US" sz="20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constant 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values, </a:t>
            </a:r>
            <a:r>
              <a:rPr lang="en-US" sz="20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variables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or </a:t>
            </a:r>
            <a:r>
              <a:rPr lang="en-US" sz="20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expressions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9512" y="3873242"/>
            <a:ext cx="86409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If the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argumentList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has more than one argument, then the arguments are separated by </a:t>
            </a:r>
            <a:r>
              <a:rPr lang="en-US" sz="20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commas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06556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4" grpId="0" animBg="1"/>
      <p:bldP spid="25" grpId="0" animBg="1"/>
      <p:bldP spid="29" grpId="0" animBg="1"/>
      <p:bldP spid="30" grpId="0" animBg="1"/>
      <p:bldP spid="31" grpId="0" animBg="1"/>
      <p:bldP spid="32" grpId="0"/>
      <p:bldP spid="3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3. PRINTF STATEMENT</a:t>
            </a: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37" name="Rounded Rectangle 36"/>
          <p:cNvSpPr/>
          <p:nvPr/>
        </p:nvSpPr>
        <p:spPr>
          <a:xfrm>
            <a:off x="251520" y="1340768"/>
            <a:ext cx="1296144" cy="50405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Example 1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691680" y="1340768"/>
            <a:ext cx="7128792" cy="64807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>
                <a:solidFill>
                  <a:srgbClr val="00B0F0"/>
                </a:solidFill>
              </a:rPr>
              <a:t>int</a:t>
            </a:r>
            <a:r>
              <a:rPr lang="en-US" dirty="0">
                <a:solidFill>
                  <a:schemeClr val="tx1"/>
                </a:solidFill>
              </a:rPr>
              <a:t> x = 120;</a:t>
            </a:r>
          </a:p>
          <a:p>
            <a:r>
              <a:rPr lang="en-US" dirty="0" err="1">
                <a:solidFill>
                  <a:schemeClr val="tx1"/>
                </a:solidFill>
              </a:rPr>
              <a:t>System.out.printf</a:t>
            </a:r>
            <a:r>
              <a:rPr lang="en-US" dirty="0">
                <a:solidFill>
                  <a:schemeClr val="tx1"/>
                </a:solidFill>
              </a:rPr>
              <a:t> (“The value of x = </a:t>
            </a:r>
            <a:r>
              <a:rPr lang="en-US" dirty="0">
                <a:solidFill>
                  <a:srgbClr val="FF00FF"/>
                </a:solidFill>
              </a:rPr>
              <a:t>%d</a:t>
            </a:r>
            <a:r>
              <a:rPr lang="en-US" dirty="0">
                <a:solidFill>
                  <a:schemeClr val="tx1"/>
                </a:solidFill>
              </a:rPr>
              <a:t>”, </a:t>
            </a:r>
            <a:r>
              <a:rPr lang="en-US" dirty="0">
                <a:solidFill>
                  <a:srgbClr val="FF00FF"/>
                </a:solidFill>
              </a:rPr>
              <a:t>x</a:t>
            </a:r>
            <a:r>
              <a:rPr lang="en-US" dirty="0">
                <a:solidFill>
                  <a:schemeClr val="tx1"/>
                </a:solidFill>
              </a:rPr>
              <a:t>);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79512" y="1988840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“</a:t>
            </a:r>
            <a:r>
              <a:rPr lang="en-US" sz="20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value of x = %d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” is the </a:t>
            </a:r>
            <a:r>
              <a:rPr lang="en-US" sz="20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formatString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  <a:r>
              <a:rPr lang="en-US" sz="20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is the </a:t>
            </a:r>
            <a:r>
              <a:rPr lang="en-US" sz="20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argumentList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79512" y="2308810"/>
            <a:ext cx="86409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FF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%d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is called a </a:t>
            </a:r>
            <a:r>
              <a:rPr lang="en-US" sz="20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format </a:t>
            </a:r>
            <a:r>
              <a:rPr lang="en-US" sz="20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specifier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There is one-to-one correspondence between the format specifier and the arguments in the </a:t>
            </a:r>
            <a:r>
              <a:rPr lang="en-US" sz="20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argumentList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9512" y="2937138"/>
            <a:ext cx="86409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format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specifier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used depends on the type of the argument. </a:t>
            </a:r>
            <a:r>
              <a:rPr lang="en-US" sz="2000" dirty="0">
                <a:solidFill>
                  <a:srgbClr val="FF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%d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is used for the variables of type </a:t>
            </a:r>
            <a:r>
              <a:rPr lang="en-US" sz="2000" dirty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FORMATTING </a:t>
            </a:r>
            <a:r>
              <a:rPr lang="en-US" b="1" dirty="0">
                <a:solidFill>
                  <a:srgbClr val="FFFF00"/>
                </a:solidFill>
              </a:rPr>
              <a:t>INTEGER </a:t>
            </a:r>
            <a:r>
              <a:rPr lang="en-US" b="1" dirty="0"/>
              <a:t>NUMBERS</a:t>
            </a:r>
          </a:p>
        </p:txBody>
      </p:sp>
      <p:cxnSp>
        <p:nvCxnSpPr>
          <p:cNvPr id="34" name="Straight Connector 33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251520" y="4437693"/>
            <a:ext cx="1296144" cy="50405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Example 2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691680" y="4437693"/>
            <a:ext cx="7128792" cy="100811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>
                <a:solidFill>
                  <a:srgbClr val="00B0F0"/>
                </a:solidFill>
              </a:rPr>
              <a:t>int</a:t>
            </a:r>
            <a:r>
              <a:rPr lang="en-US" dirty="0">
                <a:solidFill>
                  <a:schemeClr val="tx1"/>
                </a:solidFill>
              </a:rPr>
              <a:t> cm = 25;</a:t>
            </a:r>
          </a:p>
          <a:p>
            <a:r>
              <a:rPr lang="en-US" dirty="0" err="1">
                <a:solidFill>
                  <a:srgbClr val="00B0F0"/>
                </a:solidFill>
              </a:rPr>
              <a:t>int</a:t>
            </a:r>
            <a:r>
              <a:rPr lang="en-US" dirty="0">
                <a:solidFill>
                  <a:schemeClr val="tx1"/>
                </a:solidFill>
              </a:rPr>
              <a:t> mm = 2500;</a:t>
            </a:r>
          </a:p>
          <a:p>
            <a:r>
              <a:rPr lang="en-US" dirty="0" err="1">
                <a:solidFill>
                  <a:schemeClr val="tx1"/>
                </a:solidFill>
              </a:rPr>
              <a:t>System.out.printf</a:t>
            </a:r>
            <a:r>
              <a:rPr lang="en-US" dirty="0">
                <a:solidFill>
                  <a:schemeClr val="tx1"/>
                </a:solidFill>
              </a:rPr>
              <a:t> (“There are </a:t>
            </a:r>
            <a:r>
              <a:rPr lang="en-US" dirty="0">
                <a:solidFill>
                  <a:srgbClr val="FF00FF"/>
                </a:solidFill>
              </a:rPr>
              <a:t>%d</a:t>
            </a:r>
            <a:r>
              <a:rPr lang="en-US" dirty="0">
                <a:solidFill>
                  <a:schemeClr val="tx1"/>
                </a:solidFill>
              </a:rPr>
              <a:t> mm in </a:t>
            </a:r>
            <a:r>
              <a:rPr lang="en-US" dirty="0">
                <a:solidFill>
                  <a:schemeClr val="accent2"/>
                </a:solidFill>
              </a:rPr>
              <a:t>%d</a:t>
            </a:r>
            <a:r>
              <a:rPr lang="en-US" dirty="0">
                <a:solidFill>
                  <a:schemeClr val="tx1"/>
                </a:solidFill>
              </a:rPr>
              <a:t> cm”, </a:t>
            </a:r>
            <a:r>
              <a:rPr lang="en-US" dirty="0">
                <a:solidFill>
                  <a:srgbClr val="FF00FF"/>
                </a:solidFill>
              </a:rPr>
              <a:t>mm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>
                <a:solidFill>
                  <a:schemeClr val="accent2"/>
                </a:solidFill>
              </a:rPr>
              <a:t>cm</a:t>
            </a:r>
            <a:r>
              <a:rPr lang="en-US" dirty="0">
                <a:solidFill>
                  <a:schemeClr val="tx1"/>
                </a:solidFill>
              </a:rPr>
              <a:t>);</a:t>
            </a:r>
          </a:p>
        </p:txBody>
      </p:sp>
      <p:grpSp>
        <p:nvGrpSpPr>
          <p:cNvPr id="42" name="Group 41"/>
          <p:cNvGrpSpPr/>
          <p:nvPr/>
        </p:nvGrpSpPr>
        <p:grpSpPr>
          <a:xfrm>
            <a:off x="1677110" y="6218148"/>
            <a:ext cx="7143361" cy="307777"/>
            <a:chOff x="683568" y="1236822"/>
            <a:chExt cx="7488832" cy="307777"/>
          </a:xfrm>
        </p:grpSpPr>
        <p:sp>
          <p:nvSpPr>
            <p:cNvPr id="43" name="TextBox 42"/>
            <p:cNvSpPr txBox="1"/>
            <p:nvPr/>
          </p:nvSpPr>
          <p:spPr>
            <a:xfrm>
              <a:off x="971600" y="1236822"/>
              <a:ext cx="7200800" cy="307777"/>
            </a:xfrm>
            <a:prstGeom prst="rect">
              <a:avLst/>
            </a:prstGeom>
            <a:solidFill>
              <a:srgbClr val="0000FF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</a:rPr>
                <a:t>There are 2500 mm in 25 cm_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683568" y="1236822"/>
              <a:ext cx="2160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</a:rPr>
                <a:t>1</a:t>
              </a:r>
            </a:p>
          </p:txBody>
        </p:sp>
      </p:grpSp>
      <p:sp>
        <p:nvSpPr>
          <p:cNvPr id="45" name="Rounded Rectangle 44"/>
          <p:cNvSpPr/>
          <p:nvPr/>
        </p:nvSpPr>
        <p:spPr>
          <a:xfrm>
            <a:off x="251520" y="6236732"/>
            <a:ext cx="1296144" cy="289193"/>
          </a:xfrm>
          <a:prstGeom prst="roundRect">
            <a:avLst/>
          </a:prstGeom>
          <a:solidFill>
            <a:srgbClr val="00B0F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grpSp>
        <p:nvGrpSpPr>
          <p:cNvPr id="46" name="Group 45"/>
          <p:cNvGrpSpPr/>
          <p:nvPr/>
        </p:nvGrpSpPr>
        <p:grpSpPr>
          <a:xfrm>
            <a:off x="1677110" y="3717032"/>
            <a:ext cx="7143361" cy="307777"/>
            <a:chOff x="683568" y="1236822"/>
            <a:chExt cx="7488832" cy="307777"/>
          </a:xfrm>
        </p:grpSpPr>
        <p:sp>
          <p:nvSpPr>
            <p:cNvPr id="47" name="TextBox 46"/>
            <p:cNvSpPr txBox="1"/>
            <p:nvPr/>
          </p:nvSpPr>
          <p:spPr>
            <a:xfrm>
              <a:off x="971600" y="1236822"/>
              <a:ext cx="7200800" cy="307777"/>
            </a:xfrm>
            <a:prstGeom prst="rect">
              <a:avLst/>
            </a:prstGeom>
            <a:solidFill>
              <a:srgbClr val="0000FF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</a:rPr>
                <a:t>The value of x = 120_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683568" y="1236822"/>
              <a:ext cx="2160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</a:rPr>
                <a:t>1</a:t>
              </a:r>
            </a:p>
          </p:txBody>
        </p:sp>
      </p:grpSp>
      <p:sp>
        <p:nvSpPr>
          <p:cNvPr id="49" name="Rounded Rectangle 48"/>
          <p:cNvSpPr/>
          <p:nvPr/>
        </p:nvSpPr>
        <p:spPr>
          <a:xfrm>
            <a:off x="251520" y="3735616"/>
            <a:ext cx="1296144" cy="289193"/>
          </a:xfrm>
          <a:prstGeom prst="roundRect">
            <a:avLst/>
          </a:prstGeom>
          <a:solidFill>
            <a:srgbClr val="00B0F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79512" y="5457418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formatString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is </a:t>
            </a:r>
            <a:r>
              <a:rPr lang="en-US" sz="2000" dirty="0"/>
              <a:t>“There are </a:t>
            </a:r>
            <a:r>
              <a:rPr lang="en-US" sz="2000" dirty="0">
                <a:solidFill>
                  <a:srgbClr val="FF00FF"/>
                </a:solidFill>
              </a:rPr>
              <a:t>%d</a:t>
            </a:r>
            <a:r>
              <a:rPr lang="en-US" sz="2000" dirty="0"/>
              <a:t> mm in </a:t>
            </a:r>
            <a:r>
              <a:rPr lang="en-US" sz="2000" dirty="0">
                <a:solidFill>
                  <a:schemeClr val="accent2"/>
                </a:solidFill>
              </a:rPr>
              <a:t>%d</a:t>
            </a:r>
            <a:r>
              <a:rPr lang="en-US" sz="2000" dirty="0"/>
              <a:t> cm”.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79512" y="5765194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argumentList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is </a:t>
            </a:r>
            <a:r>
              <a:rPr lang="en-US" sz="2000" dirty="0">
                <a:solidFill>
                  <a:srgbClr val="FF00FF"/>
                </a:solidFill>
              </a:rPr>
              <a:t>mm</a:t>
            </a:r>
            <a:r>
              <a:rPr lang="en-US" sz="2000" dirty="0"/>
              <a:t>, </a:t>
            </a:r>
            <a:r>
              <a:rPr lang="en-US" sz="2000" dirty="0">
                <a:solidFill>
                  <a:schemeClr val="accent2"/>
                </a:solidFill>
              </a:rPr>
              <a:t>cm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0623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5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8" grpId="0" animBg="1"/>
      <p:bldP spid="39" grpId="0"/>
      <p:bldP spid="40" grpId="0"/>
      <p:bldP spid="41" grpId="0"/>
      <p:bldP spid="23" grpId="0" animBg="1"/>
      <p:bldP spid="35" grpId="0" animBg="1"/>
      <p:bldP spid="36" grpId="0" animBg="1"/>
      <p:bldP spid="45" grpId="0" animBg="1"/>
      <p:bldP spid="49" grpId="0" animBg="1"/>
      <p:bldP spid="50" grpId="0"/>
      <p:bldP spid="5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3. PRINTF STATEMENT</a:t>
            </a: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39" name="TextBox 38"/>
          <p:cNvSpPr txBox="1"/>
          <p:nvPr/>
        </p:nvSpPr>
        <p:spPr>
          <a:xfrm>
            <a:off x="179512" y="1268760"/>
            <a:ext cx="864096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default output of floating-point numbers is:</a:t>
            </a:r>
          </a:p>
          <a:p>
            <a:pPr marL="800100" lvl="1" indent="-342900"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up to 6 decimal places for </a:t>
            </a:r>
            <a:r>
              <a:rPr lang="en-US" sz="2000" dirty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float 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values, and </a:t>
            </a:r>
          </a:p>
          <a:p>
            <a:pPr marL="800100" lvl="1" indent="-342900"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up to 15 decimal places for </a:t>
            </a:r>
            <a:r>
              <a:rPr lang="en-US" sz="2000" dirty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double 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values.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FORMATTING </a:t>
            </a:r>
            <a:r>
              <a:rPr lang="en-US" b="1" dirty="0">
                <a:solidFill>
                  <a:srgbClr val="FFFF00"/>
                </a:solidFill>
              </a:rPr>
              <a:t>FLOATING-POINT</a:t>
            </a:r>
            <a:r>
              <a:rPr lang="en-US" b="1" dirty="0"/>
              <a:t> NUMBERS</a:t>
            </a:r>
          </a:p>
        </p:txBody>
      </p:sp>
      <p:cxnSp>
        <p:nvCxnSpPr>
          <p:cNvPr id="34" name="Straight Connector 33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79512" y="2308810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</a:t>
            </a:r>
            <a:r>
              <a:rPr lang="en-US" sz="2000" dirty="0">
                <a:solidFill>
                  <a:srgbClr val="FF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%f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is the format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specifier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used for floating-point numbers.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9512" y="2668850"/>
            <a:ext cx="86409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FF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%.2f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specifies the number of digits printed after the decimal point (2 in this example).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51520" y="3429000"/>
            <a:ext cx="1296144" cy="50405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Example 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691680" y="3429000"/>
            <a:ext cx="7128792" cy="100811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rgbClr val="00B0F0"/>
                </a:solidFill>
              </a:rPr>
              <a:t>static final float </a:t>
            </a:r>
            <a:r>
              <a:rPr lang="en-US" dirty="0">
                <a:solidFill>
                  <a:schemeClr val="tx1"/>
                </a:solidFill>
              </a:rPr>
              <a:t>PI = 3.14159</a:t>
            </a:r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>
                <a:solidFill>
                  <a:schemeClr val="tx1"/>
                </a:solidFill>
              </a:rPr>
              <a:t>;</a:t>
            </a:r>
          </a:p>
          <a:p>
            <a:r>
              <a:rPr lang="en-US" dirty="0">
                <a:solidFill>
                  <a:srgbClr val="00B0F0"/>
                </a:solidFill>
              </a:rPr>
              <a:t>double </a:t>
            </a:r>
            <a:r>
              <a:rPr lang="en-US" dirty="0">
                <a:solidFill>
                  <a:schemeClr val="tx1"/>
                </a:solidFill>
              </a:rPr>
              <a:t>radius = 7.534;</a:t>
            </a:r>
          </a:p>
          <a:p>
            <a:r>
              <a:rPr lang="en-US" dirty="0" err="1">
                <a:solidFill>
                  <a:schemeClr val="tx1"/>
                </a:solidFill>
              </a:rPr>
              <a:t>System.out.printf</a:t>
            </a:r>
            <a:r>
              <a:rPr lang="en-US" dirty="0">
                <a:solidFill>
                  <a:schemeClr val="tx1"/>
                </a:solidFill>
              </a:rPr>
              <a:t> (“PI = </a:t>
            </a:r>
            <a:r>
              <a:rPr lang="en-US" dirty="0">
                <a:solidFill>
                  <a:srgbClr val="FF00FF"/>
                </a:solidFill>
              </a:rPr>
              <a:t>%.3f </a:t>
            </a:r>
            <a:r>
              <a:rPr lang="en-US" dirty="0">
                <a:solidFill>
                  <a:schemeClr val="tx1"/>
                </a:solidFill>
              </a:rPr>
              <a:t>and radius = </a:t>
            </a:r>
            <a:r>
              <a:rPr lang="en-US" dirty="0">
                <a:solidFill>
                  <a:schemeClr val="accent2"/>
                </a:solidFill>
              </a:rPr>
              <a:t>%.1f</a:t>
            </a:r>
            <a:r>
              <a:rPr lang="en-US" dirty="0">
                <a:solidFill>
                  <a:schemeClr val="tx1"/>
                </a:solidFill>
              </a:rPr>
              <a:t> ”, </a:t>
            </a:r>
            <a:r>
              <a:rPr lang="en-US" dirty="0">
                <a:solidFill>
                  <a:srgbClr val="FF00FF"/>
                </a:solidFill>
              </a:rPr>
              <a:t>PI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>
                <a:solidFill>
                  <a:schemeClr val="accent2"/>
                </a:solidFill>
              </a:rPr>
              <a:t>radius</a:t>
            </a:r>
            <a:r>
              <a:rPr lang="en-US" dirty="0">
                <a:solidFill>
                  <a:schemeClr val="tx1"/>
                </a:solidFill>
              </a:rPr>
              <a:t>);</a:t>
            </a:r>
          </a:p>
        </p:txBody>
      </p:sp>
      <p:grpSp>
        <p:nvGrpSpPr>
          <p:cNvPr id="27" name="Group 26"/>
          <p:cNvGrpSpPr/>
          <p:nvPr/>
        </p:nvGrpSpPr>
        <p:grpSpPr>
          <a:xfrm>
            <a:off x="1677110" y="4581128"/>
            <a:ext cx="7143361" cy="307777"/>
            <a:chOff x="683568" y="1236822"/>
            <a:chExt cx="7488832" cy="307777"/>
          </a:xfrm>
        </p:grpSpPr>
        <p:sp>
          <p:nvSpPr>
            <p:cNvPr id="28" name="TextBox 27"/>
            <p:cNvSpPr txBox="1"/>
            <p:nvPr/>
          </p:nvSpPr>
          <p:spPr>
            <a:xfrm>
              <a:off x="971600" y="1236822"/>
              <a:ext cx="7200800" cy="307777"/>
            </a:xfrm>
            <a:prstGeom prst="rect">
              <a:avLst/>
            </a:prstGeom>
            <a:solidFill>
              <a:srgbClr val="0000FF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</a:rPr>
                <a:t>PI = 3.142 and radius = 7.5_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683568" y="1236822"/>
              <a:ext cx="2160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</a:rPr>
                <a:t>1</a:t>
              </a:r>
            </a:p>
          </p:txBody>
        </p:sp>
      </p:grpSp>
      <p:sp>
        <p:nvSpPr>
          <p:cNvPr id="30" name="Rounded Rectangle 29"/>
          <p:cNvSpPr/>
          <p:nvPr/>
        </p:nvSpPr>
        <p:spPr>
          <a:xfrm>
            <a:off x="251520" y="4599712"/>
            <a:ext cx="1296144" cy="289193"/>
          </a:xfrm>
          <a:prstGeom prst="roundRect">
            <a:avLst/>
          </a:prstGeom>
          <a:solidFill>
            <a:srgbClr val="00B0F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9512" y="4901098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Note that the numbers are approximated.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51520" y="5373216"/>
            <a:ext cx="1296144" cy="50405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Example 2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691680" y="5373216"/>
            <a:ext cx="7128792" cy="72008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rgbClr val="00B0F0"/>
                </a:solidFill>
              </a:rPr>
              <a:t>double </a:t>
            </a:r>
            <a:r>
              <a:rPr lang="en-US" dirty="0">
                <a:solidFill>
                  <a:schemeClr val="tx1"/>
                </a:solidFill>
              </a:rPr>
              <a:t>area = 227.534;</a:t>
            </a:r>
          </a:p>
          <a:p>
            <a:r>
              <a:rPr lang="en-US" dirty="0" err="1">
                <a:solidFill>
                  <a:schemeClr val="tx1"/>
                </a:solidFill>
              </a:rPr>
              <a:t>System.out.printf</a:t>
            </a:r>
            <a:r>
              <a:rPr lang="en-US" dirty="0">
                <a:solidFill>
                  <a:schemeClr val="tx1"/>
                </a:solidFill>
              </a:rPr>
              <a:t> (“Area = </a:t>
            </a:r>
            <a:r>
              <a:rPr lang="en-US" dirty="0">
                <a:solidFill>
                  <a:srgbClr val="FF00FF"/>
                </a:solidFill>
              </a:rPr>
              <a:t>%8.2f</a:t>
            </a:r>
            <a:r>
              <a:rPr lang="en-US" dirty="0">
                <a:solidFill>
                  <a:schemeClr val="tx1"/>
                </a:solidFill>
              </a:rPr>
              <a:t>”, </a:t>
            </a:r>
            <a:r>
              <a:rPr lang="en-US" dirty="0">
                <a:solidFill>
                  <a:srgbClr val="FF00FF"/>
                </a:solidFill>
              </a:rPr>
              <a:t>area</a:t>
            </a:r>
            <a:r>
              <a:rPr lang="en-US" dirty="0">
                <a:solidFill>
                  <a:schemeClr val="tx1"/>
                </a:solidFill>
              </a:rPr>
              <a:t>);</a:t>
            </a:r>
          </a:p>
        </p:txBody>
      </p:sp>
      <p:grpSp>
        <p:nvGrpSpPr>
          <p:cNvPr id="50" name="Group 49"/>
          <p:cNvGrpSpPr/>
          <p:nvPr/>
        </p:nvGrpSpPr>
        <p:grpSpPr>
          <a:xfrm>
            <a:off x="1677110" y="6165304"/>
            <a:ext cx="7143361" cy="307777"/>
            <a:chOff x="683568" y="1236822"/>
            <a:chExt cx="7488832" cy="307777"/>
          </a:xfrm>
        </p:grpSpPr>
        <p:sp>
          <p:nvSpPr>
            <p:cNvPr id="51" name="TextBox 50"/>
            <p:cNvSpPr txBox="1"/>
            <p:nvPr/>
          </p:nvSpPr>
          <p:spPr>
            <a:xfrm>
              <a:off x="971600" y="1236822"/>
              <a:ext cx="7200800" cy="307777"/>
            </a:xfrm>
            <a:prstGeom prst="rect">
              <a:avLst/>
            </a:prstGeom>
            <a:solidFill>
              <a:srgbClr val="0000FF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</a:rPr>
                <a:t>Area = ~~227.53_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683568" y="1236822"/>
              <a:ext cx="2160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</a:rPr>
                <a:t>1</a:t>
              </a:r>
            </a:p>
          </p:txBody>
        </p:sp>
      </p:grpSp>
      <p:sp>
        <p:nvSpPr>
          <p:cNvPr id="53" name="Rounded Rectangle 52"/>
          <p:cNvSpPr/>
          <p:nvPr/>
        </p:nvSpPr>
        <p:spPr>
          <a:xfrm>
            <a:off x="251520" y="6183888"/>
            <a:ext cx="1296144" cy="289193"/>
          </a:xfrm>
          <a:prstGeom prst="roundRect">
            <a:avLst/>
          </a:prstGeom>
          <a:solidFill>
            <a:srgbClr val="00B0F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1263318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23" grpId="0" animBg="1"/>
      <p:bldP spid="22" grpId="0"/>
      <p:bldP spid="24" grpId="0"/>
      <p:bldP spid="25" grpId="0" animBg="1"/>
      <p:bldP spid="26" grpId="0" animBg="1"/>
      <p:bldP spid="30" grpId="0" animBg="1"/>
      <p:bldP spid="31" grpId="0"/>
      <p:bldP spid="32" grpId="0" animBg="1"/>
      <p:bldP spid="33" grpId="0" animBg="1"/>
      <p:bldP spid="5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3. PRINTF STATEMENT</a:t>
            </a: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FORMATTING </a:t>
            </a:r>
            <a:r>
              <a:rPr lang="en-US" b="1" dirty="0">
                <a:solidFill>
                  <a:srgbClr val="FFFF00"/>
                </a:solidFill>
              </a:rPr>
              <a:t>CHARACTER</a:t>
            </a:r>
            <a:r>
              <a:rPr lang="en-US" b="1" dirty="0"/>
              <a:t> VARIABLES</a:t>
            </a:r>
          </a:p>
        </p:txBody>
      </p:sp>
      <p:cxnSp>
        <p:nvCxnSpPr>
          <p:cNvPr id="34" name="Straight Connector 33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79512" y="1228690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</a:t>
            </a:r>
            <a:r>
              <a:rPr lang="en-US" sz="2000" dirty="0">
                <a:solidFill>
                  <a:srgbClr val="FF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%c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is the format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specifier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used for </a:t>
            </a:r>
            <a:r>
              <a:rPr lang="en-US" sz="2000" dirty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char 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values.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51520" y="1700808"/>
            <a:ext cx="1296144" cy="50405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Example 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691680" y="1700808"/>
            <a:ext cx="7128792" cy="79208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rgbClr val="00B0F0"/>
                </a:solidFill>
              </a:rPr>
              <a:t>char </a:t>
            </a:r>
            <a:r>
              <a:rPr lang="en-US" dirty="0">
                <a:solidFill>
                  <a:schemeClr val="tx1"/>
                </a:solidFill>
              </a:rPr>
              <a:t>option = ‘Y’;</a:t>
            </a:r>
          </a:p>
          <a:p>
            <a:r>
              <a:rPr lang="en-US" dirty="0" err="1">
                <a:solidFill>
                  <a:schemeClr val="tx1"/>
                </a:solidFill>
              </a:rPr>
              <a:t>System.out.printf</a:t>
            </a:r>
            <a:r>
              <a:rPr lang="en-US" dirty="0">
                <a:solidFill>
                  <a:schemeClr val="tx1"/>
                </a:solidFill>
              </a:rPr>
              <a:t> (“Option = </a:t>
            </a:r>
            <a:r>
              <a:rPr lang="en-US" dirty="0">
                <a:solidFill>
                  <a:srgbClr val="FF00FF"/>
                </a:solidFill>
              </a:rPr>
              <a:t>%c</a:t>
            </a:r>
            <a:r>
              <a:rPr lang="en-US" dirty="0">
                <a:solidFill>
                  <a:schemeClr val="tx1"/>
                </a:solidFill>
              </a:rPr>
              <a:t>”, </a:t>
            </a:r>
            <a:r>
              <a:rPr lang="en-US" dirty="0">
                <a:solidFill>
                  <a:srgbClr val="FF00FF"/>
                </a:solidFill>
              </a:rPr>
              <a:t>option</a:t>
            </a:r>
            <a:r>
              <a:rPr lang="en-US" dirty="0">
                <a:solidFill>
                  <a:schemeClr val="tx1"/>
                </a:solidFill>
              </a:rPr>
              <a:t>);</a:t>
            </a:r>
          </a:p>
        </p:txBody>
      </p:sp>
      <p:grpSp>
        <p:nvGrpSpPr>
          <p:cNvPr id="27" name="Group 26"/>
          <p:cNvGrpSpPr/>
          <p:nvPr/>
        </p:nvGrpSpPr>
        <p:grpSpPr>
          <a:xfrm>
            <a:off x="1677110" y="2564904"/>
            <a:ext cx="7143361" cy="307777"/>
            <a:chOff x="683568" y="1236822"/>
            <a:chExt cx="7488832" cy="307777"/>
          </a:xfrm>
        </p:grpSpPr>
        <p:sp>
          <p:nvSpPr>
            <p:cNvPr id="28" name="TextBox 27"/>
            <p:cNvSpPr txBox="1"/>
            <p:nvPr/>
          </p:nvSpPr>
          <p:spPr>
            <a:xfrm>
              <a:off x="971600" y="1236822"/>
              <a:ext cx="7200800" cy="307777"/>
            </a:xfrm>
            <a:prstGeom prst="rect">
              <a:avLst/>
            </a:prstGeom>
            <a:solidFill>
              <a:srgbClr val="0000FF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</a:rPr>
                <a:t>Option = Y_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683568" y="1236822"/>
              <a:ext cx="2160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</a:rPr>
                <a:t>1</a:t>
              </a:r>
            </a:p>
          </p:txBody>
        </p:sp>
      </p:grpSp>
      <p:sp>
        <p:nvSpPr>
          <p:cNvPr id="30" name="Rounded Rectangle 29"/>
          <p:cNvSpPr/>
          <p:nvPr/>
        </p:nvSpPr>
        <p:spPr>
          <a:xfrm>
            <a:off x="251520" y="2583488"/>
            <a:ext cx="1296144" cy="289193"/>
          </a:xfrm>
          <a:prstGeom prst="roundRect">
            <a:avLst/>
          </a:prstGeom>
          <a:solidFill>
            <a:srgbClr val="00B0F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9512" y="2884874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following are other format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specifiers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</a:p>
        </p:txBody>
      </p:sp>
      <p:graphicFrame>
        <p:nvGraphicFramePr>
          <p:cNvPr id="36" name="Table 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2706800"/>
              </p:ext>
            </p:extLst>
          </p:nvPr>
        </p:nvGraphicFramePr>
        <p:xfrm>
          <a:off x="251518" y="3356992"/>
          <a:ext cx="8640961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22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687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Specifier</a:t>
                      </a:r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%d</a:t>
                      </a:r>
                    </a:p>
                  </a:txBody>
                  <a:tcPr>
                    <a:lnL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 result is formatted as a (decimal) integer</a:t>
                      </a:r>
                    </a:p>
                  </a:txBody>
                  <a:tcPr>
                    <a:lnL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%f</a:t>
                      </a:r>
                    </a:p>
                  </a:txBody>
                  <a:tcPr>
                    <a:lnL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 result is formatted as a</a:t>
                      </a:r>
                      <a:r>
                        <a:rPr lang="en-US" baseline="0" dirty="0"/>
                        <a:t> decimal floating-number</a:t>
                      </a:r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%c</a:t>
                      </a:r>
                    </a:p>
                  </a:txBody>
                  <a:tcPr>
                    <a:lnL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</a:t>
                      </a:r>
                      <a:r>
                        <a:rPr lang="en-US" baseline="0" dirty="0"/>
                        <a:t> result is a Unicode character</a:t>
                      </a:r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%s</a:t>
                      </a:r>
                    </a:p>
                  </a:txBody>
                  <a:tcPr>
                    <a:lnL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 result is a string</a:t>
                      </a:r>
                    </a:p>
                  </a:txBody>
                  <a:tcPr>
                    <a:lnL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%e</a:t>
                      </a:r>
                    </a:p>
                  </a:txBody>
                  <a:tcPr>
                    <a:lnL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 result is formatted as a scientific notation </a:t>
                      </a:r>
                    </a:p>
                  </a:txBody>
                  <a:tcPr>
                    <a:lnL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%n</a:t>
                      </a:r>
                    </a:p>
                  </a:txBody>
                  <a:tcPr>
                    <a:lnL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Line</a:t>
                      </a:r>
                      <a:r>
                        <a:rPr lang="en-US" baseline="0" dirty="0"/>
                        <a:t> separator</a:t>
                      </a:r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%%</a:t>
                      </a:r>
                    </a:p>
                  </a:txBody>
                  <a:tcPr>
                    <a:lnL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Prints %</a:t>
                      </a:r>
                    </a:p>
                  </a:txBody>
                  <a:tcPr>
                    <a:lnL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02799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2" grpId="0"/>
      <p:bldP spid="25" grpId="0" animBg="1"/>
      <p:bldP spid="26" grpId="0" animBg="1"/>
      <p:bldP spid="30" grpId="0" animBg="1"/>
      <p:bldP spid="3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3. PRINTF STATEMENT</a:t>
            </a: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NOTES</a:t>
            </a:r>
          </a:p>
        </p:txBody>
      </p:sp>
      <p:cxnSp>
        <p:nvCxnSpPr>
          <p:cNvPr id="34" name="Straight Connector 33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79512" y="1228690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By default, the output is right-justified for all primitive data types.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79512" y="1700808"/>
            <a:ext cx="1296144" cy="50405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Example 1 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547664" y="1700808"/>
            <a:ext cx="7488392" cy="79208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rgbClr val="00B0F0"/>
                </a:solidFill>
              </a:rPr>
              <a:t>String </a:t>
            </a:r>
            <a:r>
              <a:rPr lang="en-US" dirty="0">
                <a:solidFill>
                  <a:schemeClr val="tx1"/>
                </a:solidFill>
              </a:rPr>
              <a:t>name = “</a:t>
            </a:r>
            <a:r>
              <a:rPr lang="en-US" dirty="0" err="1">
                <a:solidFill>
                  <a:schemeClr val="tx1"/>
                </a:solidFill>
              </a:rPr>
              <a:t>aly</a:t>
            </a:r>
            <a:r>
              <a:rPr lang="en-US" dirty="0">
                <a:solidFill>
                  <a:schemeClr val="tx1"/>
                </a:solidFill>
              </a:rPr>
              <a:t>”;</a:t>
            </a:r>
          </a:p>
          <a:p>
            <a:r>
              <a:rPr lang="en-US" dirty="0" err="1">
                <a:solidFill>
                  <a:schemeClr val="tx1"/>
                </a:solidFill>
              </a:rPr>
              <a:t>System.out.printf</a:t>
            </a:r>
            <a:r>
              <a:rPr lang="en-US" dirty="0">
                <a:solidFill>
                  <a:schemeClr val="tx1"/>
                </a:solidFill>
              </a:rPr>
              <a:t> (“First name = </a:t>
            </a:r>
            <a:r>
              <a:rPr lang="en-US" dirty="0">
                <a:solidFill>
                  <a:srgbClr val="FF00FF"/>
                </a:solidFill>
              </a:rPr>
              <a:t>%6s%n</a:t>
            </a:r>
            <a:r>
              <a:rPr lang="en-US" dirty="0">
                <a:solidFill>
                  <a:schemeClr val="tx1"/>
                </a:solidFill>
              </a:rPr>
              <a:t>”, </a:t>
            </a:r>
            <a:r>
              <a:rPr lang="en-US" dirty="0">
                <a:solidFill>
                  <a:srgbClr val="FF00FF"/>
                </a:solidFill>
              </a:rPr>
              <a:t>name</a:t>
            </a:r>
            <a:r>
              <a:rPr lang="en-US" dirty="0">
                <a:solidFill>
                  <a:schemeClr val="tx1"/>
                </a:solidFill>
              </a:rPr>
              <a:t>);</a:t>
            </a:r>
          </a:p>
        </p:txBody>
      </p:sp>
      <p:grpSp>
        <p:nvGrpSpPr>
          <p:cNvPr id="19" name="Group 18"/>
          <p:cNvGrpSpPr/>
          <p:nvPr/>
        </p:nvGrpSpPr>
        <p:grpSpPr>
          <a:xfrm>
            <a:off x="1532800" y="2564904"/>
            <a:ext cx="7503696" cy="523220"/>
            <a:chOff x="683568" y="1236822"/>
            <a:chExt cx="7488832" cy="523220"/>
          </a:xfrm>
        </p:grpSpPr>
        <p:sp>
          <p:nvSpPr>
            <p:cNvPr id="20" name="TextBox 19"/>
            <p:cNvSpPr txBox="1"/>
            <p:nvPr/>
          </p:nvSpPr>
          <p:spPr>
            <a:xfrm>
              <a:off x="971600" y="1236822"/>
              <a:ext cx="7200800" cy="523220"/>
            </a:xfrm>
            <a:prstGeom prst="rect">
              <a:avLst/>
            </a:prstGeom>
            <a:solidFill>
              <a:srgbClr val="0000FF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</a:rPr>
                <a:t>First name = ~~~</a:t>
              </a:r>
              <a:r>
                <a:rPr lang="en-US" sz="1400" dirty="0" err="1">
                  <a:solidFill>
                    <a:schemeClr val="bg1"/>
                  </a:solidFill>
                </a:rPr>
                <a:t>aly</a:t>
              </a:r>
              <a:endParaRPr lang="en-US" sz="1400" dirty="0">
                <a:solidFill>
                  <a:schemeClr val="bg1"/>
                </a:solidFill>
              </a:endParaRPr>
            </a:p>
            <a:p>
              <a:r>
                <a:rPr lang="en-US" sz="1400" dirty="0">
                  <a:solidFill>
                    <a:schemeClr val="bg1"/>
                  </a:solidFill>
                </a:rPr>
                <a:t>_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683568" y="1236822"/>
              <a:ext cx="21602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</a:rPr>
                <a:t>1</a:t>
              </a:r>
            </a:p>
            <a:p>
              <a:r>
                <a:rPr lang="en-US" sz="1400" dirty="0">
                  <a:solidFill>
                    <a:srgbClr val="FF0000"/>
                  </a:solidFill>
                </a:rPr>
                <a:t>2</a:t>
              </a:r>
            </a:p>
          </p:txBody>
        </p:sp>
      </p:grpSp>
      <p:sp>
        <p:nvSpPr>
          <p:cNvPr id="24" name="Rounded Rectangle 23"/>
          <p:cNvSpPr/>
          <p:nvPr/>
        </p:nvSpPr>
        <p:spPr>
          <a:xfrm>
            <a:off x="179512" y="2583488"/>
            <a:ext cx="1296144" cy="289193"/>
          </a:xfrm>
          <a:prstGeom prst="roundRect">
            <a:avLst/>
          </a:prstGeom>
          <a:solidFill>
            <a:srgbClr val="00B0F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9512" y="3140968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 print it left-justified, precede the width with a </a:t>
            </a:r>
            <a:r>
              <a:rPr lang="en-US" sz="20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–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sign: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79512" y="3553852"/>
            <a:ext cx="1296144" cy="50405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Example 2 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547664" y="3553852"/>
            <a:ext cx="7488392" cy="79208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rgbClr val="00B0F0"/>
                </a:solidFill>
              </a:rPr>
              <a:t>String </a:t>
            </a:r>
            <a:r>
              <a:rPr lang="en-US" dirty="0">
                <a:solidFill>
                  <a:schemeClr val="tx1"/>
                </a:solidFill>
              </a:rPr>
              <a:t>name = “</a:t>
            </a:r>
            <a:r>
              <a:rPr lang="en-US" dirty="0" err="1">
                <a:solidFill>
                  <a:schemeClr val="tx1"/>
                </a:solidFill>
              </a:rPr>
              <a:t>aly</a:t>
            </a:r>
            <a:r>
              <a:rPr lang="en-US" dirty="0">
                <a:solidFill>
                  <a:schemeClr val="tx1"/>
                </a:solidFill>
              </a:rPr>
              <a:t>”;</a:t>
            </a:r>
          </a:p>
          <a:p>
            <a:r>
              <a:rPr lang="en-US" dirty="0" err="1">
                <a:solidFill>
                  <a:schemeClr val="tx1"/>
                </a:solidFill>
              </a:rPr>
              <a:t>System.out.printf</a:t>
            </a:r>
            <a:r>
              <a:rPr lang="en-US" dirty="0">
                <a:solidFill>
                  <a:schemeClr val="tx1"/>
                </a:solidFill>
              </a:rPr>
              <a:t> (“First name = </a:t>
            </a:r>
            <a:r>
              <a:rPr lang="en-US" dirty="0">
                <a:solidFill>
                  <a:srgbClr val="FF00FF"/>
                </a:solidFill>
              </a:rPr>
              <a:t>%-6s%n</a:t>
            </a:r>
            <a:r>
              <a:rPr lang="en-US" dirty="0">
                <a:solidFill>
                  <a:schemeClr val="tx1"/>
                </a:solidFill>
              </a:rPr>
              <a:t>”, </a:t>
            </a:r>
            <a:r>
              <a:rPr lang="en-US" dirty="0">
                <a:solidFill>
                  <a:srgbClr val="FF00FF"/>
                </a:solidFill>
              </a:rPr>
              <a:t>name</a:t>
            </a:r>
            <a:r>
              <a:rPr lang="en-US" dirty="0">
                <a:solidFill>
                  <a:schemeClr val="tx1"/>
                </a:solidFill>
              </a:rPr>
              <a:t>);</a:t>
            </a:r>
          </a:p>
        </p:txBody>
      </p:sp>
      <p:grpSp>
        <p:nvGrpSpPr>
          <p:cNvPr id="41" name="Group 40"/>
          <p:cNvGrpSpPr/>
          <p:nvPr/>
        </p:nvGrpSpPr>
        <p:grpSpPr>
          <a:xfrm>
            <a:off x="1532800" y="4417948"/>
            <a:ext cx="7503696" cy="523220"/>
            <a:chOff x="683568" y="1236822"/>
            <a:chExt cx="7488832" cy="523220"/>
          </a:xfrm>
        </p:grpSpPr>
        <p:sp>
          <p:nvSpPr>
            <p:cNvPr id="42" name="TextBox 41"/>
            <p:cNvSpPr txBox="1"/>
            <p:nvPr/>
          </p:nvSpPr>
          <p:spPr>
            <a:xfrm>
              <a:off x="971600" y="1236822"/>
              <a:ext cx="7200800" cy="523220"/>
            </a:xfrm>
            <a:prstGeom prst="rect">
              <a:avLst/>
            </a:prstGeom>
            <a:solidFill>
              <a:srgbClr val="0000FF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</a:rPr>
                <a:t>First name = </a:t>
              </a:r>
              <a:r>
                <a:rPr lang="en-US" sz="1400" dirty="0" err="1">
                  <a:solidFill>
                    <a:schemeClr val="bg1"/>
                  </a:solidFill>
                </a:rPr>
                <a:t>aly</a:t>
              </a:r>
              <a:r>
                <a:rPr lang="en-US" sz="1400" dirty="0">
                  <a:solidFill>
                    <a:schemeClr val="bg1"/>
                  </a:solidFill>
                </a:rPr>
                <a:t>~~~</a:t>
              </a:r>
            </a:p>
            <a:p>
              <a:r>
                <a:rPr lang="en-US" sz="1400" dirty="0">
                  <a:solidFill>
                    <a:schemeClr val="bg1"/>
                  </a:solidFill>
                </a:rPr>
                <a:t>_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683568" y="1236822"/>
              <a:ext cx="21602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</a:rPr>
                <a:t>1</a:t>
              </a:r>
            </a:p>
            <a:p>
              <a:r>
                <a:rPr lang="en-US" sz="1400" dirty="0">
                  <a:solidFill>
                    <a:srgbClr val="FF0000"/>
                  </a:solidFill>
                </a:rPr>
                <a:t>2</a:t>
              </a:r>
            </a:p>
          </p:txBody>
        </p:sp>
      </p:grpSp>
      <p:sp>
        <p:nvSpPr>
          <p:cNvPr id="44" name="Rounded Rectangle 43"/>
          <p:cNvSpPr/>
          <p:nvPr/>
        </p:nvSpPr>
        <p:spPr>
          <a:xfrm>
            <a:off x="179512" y="4436532"/>
            <a:ext cx="1296144" cy="289193"/>
          </a:xfrm>
          <a:prstGeom prst="roundRect">
            <a:avLst/>
          </a:prstGeom>
          <a:solidFill>
            <a:srgbClr val="00B0F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79512" y="5085184"/>
            <a:ext cx="1296144" cy="50405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Example 3 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547664" y="5085184"/>
            <a:ext cx="7488392" cy="79208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>
                <a:solidFill>
                  <a:srgbClr val="00B0F0"/>
                </a:solidFill>
              </a:rPr>
              <a:t>int</a:t>
            </a:r>
            <a:r>
              <a:rPr lang="en-US" dirty="0">
                <a:solidFill>
                  <a:srgbClr val="00B0F0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year = 2015;</a:t>
            </a:r>
          </a:p>
          <a:p>
            <a:r>
              <a:rPr lang="en-US" dirty="0" err="1">
                <a:solidFill>
                  <a:schemeClr val="tx1"/>
                </a:solidFill>
              </a:rPr>
              <a:t>System.out.printf</a:t>
            </a:r>
            <a:r>
              <a:rPr lang="en-US" dirty="0">
                <a:solidFill>
                  <a:schemeClr val="tx1"/>
                </a:solidFill>
              </a:rPr>
              <a:t> (“Academic year = </a:t>
            </a:r>
            <a:r>
              <a:rPr lang="en-US" dirty="0">
                <a:solidFill>
                  <a:srgbClr val="FF00FF"/>
                </a:solidFill>
              </a:rPr>
              <a:t>%-6d</a:t>
            </a:r>
            <a:r>
              <a:rPr lang="en-US" dirty="0">
                <a:solidFill>
                  <a:schemeClr val="tx2"/>
                </a:solidFill>
              </a:rPr>
              <a:t>-</a:t>
            </a:r>
            <a:r>
              <a:rPr lang="en-US" dirty="0">
                <a:solidFill>
                  <a:srgbClr val="FF00FF"/>
                </a:solidFill>
              </a:rPr>
              <a:t>%6d</a:t>
            </a:r>
            <a:r>
              <a:rPr lang="en-US" dirty="0">
                <a:solidFill>
                  <a:schemeClr val="tx1"/>
                </a:solidFill>
              </a:rPr>
              <a:t>”, </a:t>
            </a:r>
            <a:r>
              <a:rPr lang="en-US" dirty="0">
                <a:solidFill>
                  <a:srgbClr val="FF00FF"/>
                </a:solidFill>
              </a:rPr>
              <a:t>year, ++year</a:t>
            </a:r>
            <a:r>
              <a:rPr lang="en-US" dirty="0">
                <a:solidFill>
                  <a:schemeClr val="tx1"/>
                </a:solidFill>
              </a:rPr>
              <a:t>);</a:t>
            </a:r>
          </a:p>
        </p:txBody>
      </p:sp>
      <p:grpSp>
        <p:nvGrpSpPr>
          <p:cNvPr id="47" name="Group 46"/>
          <p:cNvGrpSpPr/>
          <p:nvPr/>
        </p:nvGrpSpPr>
        <p:grpSpPr>
          <a:xfrm>
            <a:off x="1532800" y="5949280"/>
            <a:ext cx="7503696" cy="307777"/>
            <a:chOff x="683568" y="1236822"/>
            <a:chExt cx="7488832" cy="307777"/>
          </a:xfrm>
        </p:grpSpPr>
        <p:sp>
          <p:nvSpPr>
            <p:cNvPr id="48" name="TextBox 47"/>
            <p:cNvSpPr txBox="1"/>
            <p:nvPr/>
          </p:nvSpPr>
          <p:spPr>
            <a:xfrm>
              <a:off x="971600" y="1236822"/>
              <a:ext cx="7200800" cy="307777"/>
            </a:xfrm>
            <a:prstGeom prst="rect">
              <a:avLst/>
            </a:prstGeom>
            <a:solidFill>
              <a:srgbClr val="0000FF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</a:rPr>
                <a:t>Academic year = 2015~~-~~2016_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683568" y="1236822"/>
              <a:ext cx="2160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</a:rPr>
                <a:t>1</a:t>
              </a:r>
            </a:p>
          </p:txBody>
        </p:sp>
      </p:grpSp>
      <p:sp>
        <p:nvSpPr>
          <p:cNvPr id="50" name="Rounded Rectangle 49"/>
          <p:cNvSpPr/>
          <p:nvPr/>
        </p:nvSpPr>
        <p:spPr>
          <a:xfrm>
            <a:off x="179512" y="5967864"/>
            <a:ext cx="1296144" cy="289193"/>
          </a:xfrm>
          <a:prstGeom prst="roundRect">
            <a:avLst/>
          </a:prstGeom>
          <a:solidFill>
            <a:srgbClr val="00B0F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3897887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2" grpId="0"/>
      <p:bldP spid="16" grpId="0" animBg="1"/>
      <p:bldP spid="18" grpId="0" animBg="1"/>
      <p:bldP spid="24" grpId="0" animBg="1"/>
      <p:bldP spid="31" grpId="0"/>
      <p:bldP spid="39" grpId="0" animBg="1"/>
      <p:bldP spid="40" grpId="0" animBg="1"/>
      <p:bldP spid="44" grpId="0" animBg="1"/>
      <p:bldP spid="45" grpId="0" animBg="1"/>
      <p:bldP spid="46" grpId="0" animBg="1"/>
      <p:bldP spid="5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9144000" cy="6858000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 </a:t>
            </a:r>
            <a:fld id="{D8D24581-BA14-4640-B752-9AB0FD1B9A37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116558"/>
            <a:ext cx="8229600" cy="792162"/>
          </a:xfr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Self-Check Exercises (1)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908720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/>
          <p:cNvGrpSpPr/>
          <p:nvPr/>
        </p:nvGrpSpPr>
        <p:grpSpPr>
          <a:xfrm>
            <a:off x="179512" y="1412776"/>
            <a:ext cx="8784976" cy="3416322"/>
            <a:chOff x="323528" y="1236822"/>
            <a:chExt cx="7848872" cy="3212447"/>
          </a:xfrm>
        </p:grpSpPr>
        <p:sp>
          <p:nvSpPr>
            <p:cNvPr id="10" name="TextBox 9"/>
            <p:cNvSpPr txBox="1"/>
            <p:nvPr/>
          </p:nvSpPr>
          <p:spPr>
            <a:xfrm>
              <a:off x="971600" y="1236822"/>
              <a:ext cx="7200800" cy="3212447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B0F0"/>
                  </a:solidFill>
                </a:rPr>
                <a:t>public class</a:t>
              </a:r>
              <a:r>
                <a:rPr lang="en-US" dirty="0">
                  <a:solidFill>
                    <a:srgbClr val="0000FF"/>
                  </a:solidFill>
                </a:rPr>
                <a:t> selfCheck1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{</a:t>
              </a:r>
            </a:p>
            <a:p>
              <a:r>
                <a:rPr lang="en-US" dirty="0">
                  <a:solidFill>
                    <a:srgbClr val="00B0F0"/>
                  </a:solidFill>
                </a:rPr>
                <a:t>   public static void</a:t>
              </a:r>
              <a:r>
                <a:rPr lang="en-US" dirty="0">
                  <a:solidFill>
                    <a:srgbClr val="0000FF"/>
                  </a:solidFill>
                </a:rPr>
                <a:t> main (String[] </a:t>
              </a:r>
              <a:r>
                <a:rPr lang="en-US" dirty="0" err="1">
                  <a:solidFill>
                    <a:srgbClr val="0000FF"/>
                  </a:solidFill>
                </a:rPr>
                <a:t>args</a:t>
              </a:r>
              <a:r>
                <a:rPr lang="en-US" dirty="0">
                  <a:solidFill>
                    <a:srgbClr val="0000FF"/>
                  </a:solidFill>
                </a:rPr>
                <a:t>)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      {</a:t>
              </a:r>
            </a:p>
            <a:p>
              <a:r>
                <a:rPr lang="en-US" dirty="0">
                  <a:solidFill>
                    <a:srgbClr val="00B0F0"/>
                  </a:solidFill>
                </a:rPr>
                <a:t>         </a:t>
              </a:r>
              <a:r>
                <a:rPr lang="en-US" dirty="0" err="1">
                  <a:solidFill>
                    <a:srgbClr val="00B0F0"/>
                  </a:solidFill>
                </a:rPr>
                <a:t>int</a:t>
              </a:r>
              <a:r>
                <a:rPr lang="en-US" dirty="0">
                  <a:solidFill>
                    <a:srgbClr val="00B0F0"/>
                  </a:solidFill>
                </a:rPr>
                <a:t> </a:t>
              </a:r>
              <a:r>
                <a:rPr lang="en-US" dirty="0" err="1">
                  <a:solidFill>
                    <a:srgbClr val="0000FF"/>
                  </a:solidFill>
                </a:rPr>
                <a:t>num</a:t>
              </a:r>
              <a:r>
                <a:rPr lang="en-US" dirty="0">
                  <a:solidFill>
                    <a:srgbClr val="0000FF"/>
                  </a:solidFill>
                </a:rPr>
                <a:t> = 52033;</a:t>
              </a:r>
            </a:p>
            <a:p>
              <a:r>
                <a:rPr lang="en-US" dirty="0">
                  <a:solidFill>
                    <a:srgbClr val="00B0F0"/>
                  </a:solidFill>
                </a:rPr>
                <a:t>         double</a:t>
              </a:r>
              <a:r>
                <a:rPr lang="en-US" dirty="0">
                  <a:solidFill>
                    <a:srgbClr val="0000FF"/>
                  </a:solidFill>
                </a:rPr>
                <a:t> x = 9234.8667;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         </a:t>
              </a:r>
              <a:r>
                <a:rPr lang="en-US" dirty="0">
                  <a:solidFill>
                    <a:srgbClr val="00B0F0"/>
                  </a:solidFill>
                </a:rPr>
                <a:t>String</a:t>
              </a:r>
              <a:r>
                <a:rPr lang="en-US" dirty="0">
                  <a:solidFill>
                    <a:srgbClr val="0000FF"/>
                  </a:solidFill>
                </a:rPr>
                <a:t> </a:t>
              </a:r>
              <a:r>
                <a:rPr lang="en-US" dirty="0" err="1">
                  <a:solidFill>
                    <a:srgbClr val="0000FF"/>
                  </a:solidFill>
                </a:rPr>
                <a:t>str</a:t>
              </a:r>
              <a:r>
                <a:rPr lang="en-US" dirty="0">
                  <a:solidFill>
                    <a:srgbClr val="0000FF"/>
                  </a:solidFill>
                </a:rPr>
                <a:t> = “Computer Science”;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         </a:t>
              </a:r>
              <a:r>
                <a:rPr lang="en-US" dirty="0" err="1">
                  <a:solidFill>
                    <a:srgbClr val="0000FF"/>
                  </a:solidFill>
                </a:rPr>
                <a:t>System.out.printf</a:t>
              </a:r>
              <a:r>
                <a:rPr lang="en-US" dirty="0">
                  <a:solidFill>
                    <a:srgbClr val="0000FF"/>
                  </a:solidFill>
                </a:rPr>
                <a:t> (“%-5d%-10.2f%-20s ***%n”, </a:t>
              </a:r>
              <a:r>
                <a:rPr lang="en-US" dirty="0" err="1">
                  <a:solidFill>
                    <a:srgbClr val="0000FF"/>
                  </a:solidFill>
                </a:rPr>
                <a:t>num</a:t>
              </a:r>
              <a:r>
                <a:rPr lang="en-US" dirty="0">
                  <a:solidFill>
                    <a:srgbClr val="0000FF"/>
                  </a:solidFill>
                </a:rPr>
                <a:t>, x, </a:t>
              </a:r>
              <a:r>
                <a:rPr lang="en-US" dirty="0" err="1">
                  <a:solidFill>
                    <a:srgbClr val="0000FF"/>
                  </a:solidFill>
                </a:rPr>
                <a:t>str</a:t>
              </a:r>
              <a:r>
                <a:rPr lang="en-US" dirty="0">
                  <a:solidFill>
                    <a:srgbClr val="0000FF"/>
                  </a:solidFill>
                </a:rPr>
                <a:t>);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         </a:t>
              </a:r>
              <a:r>
                <a:rPr lang="en-US" dirty="0" err="1">
                  <a:solidFill>
                    <a:srgbClr val="0000FF"/>
                  </a:solidFill>
                </a:rPr>
                <a:t>System.out.printf</a:t>
              </a:r>
              <a:r>
                <a:rPr lang="en-US" dirty="0">
                  <a:solidFill>
                    <a:srgbClr val="0000FF"/>
                  </a:solidFill>
                </a:rPr>
                <a:t> (“%-25s%-6d%-12.3f ***%n”, </a:t>
              </a:r>
              <a:r>
                <a:rPr lang="en-US" dirty="0" err="1">
                  <a:solidFill>
                    <a:srgbClr val="0000FF"/>
                  </a:solidFill>
                </a:rPr>
                <a:t>str</a:t>
              </a:r>
              <a:r>
                <a:rPr lang="en-US" dirty="0">
                  <a:solidFill>
                    <a:srgbClr val="0000FF"/>
                  </a:solidFill>
                </a:rPr>
                <a:t>, </a:t>
              </a:r>
              <a:r>
                <a:rPr lang="en-US" dirty="0" err="1">
                  <a:solidFill>
                    <a:srgbClr val="0000FF"/>
                  </a:solidFill>
                </a:rPr>
                <a:t>num</a:t>
              </a:r>
              <a:r>
                <a:rPr lang="en-US" dirty="0">
                  <a:solidFill>
                    <a:srgbClr val="0000FF"/>
                  </a:solidFill>
                </a:rPr>
                <a:t>, x);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         </a:t>
              </a:r>
              <a:r>
                <a:rPr lang="en-US" dirty="0" err="1">
                  <a:solidFill>
                    <a:srgbClr val="0000FF"/>
                  </a:solidFill>
                </a:rPr>
                <a:t>System.out.printf</a:t>
              </a:r>
              <a:r>
                <a:rPr lang="en-US" dirty="0">
                  <a:solidFill>
                    <a:srgbClr val="0000FF"/>
                  </a:solidFill>
                </a:rPr>
                <a:t> (“%-13.4f%-7d%-22s ***%n”, x, </a:t>
              </a:r>
              <a:r>
                <a:rPr lang="en-US" dirty="0" err="1">
                  <a:solidFill>
                    <a:srgbClr val="0000FF"/>
                  </a:solidFill>
                </a:rPr>
                <a:t>num</a:t>
              </a:r>
              <a:r>
                <a:rPr lang="en-US" dirty="0">
                  <a:solidFill>
                    <a:srgbClr val="0000FF"/>
                  </a:solidFill>
                </a:rPr>
                <a:t>, </a:t>
              </a:r>
              <a:r>
                <a:rPr lang="en-US" dirty="0" err="1">
                  <a:solidFill>
                    <a:srgbClr val="0000FF"/>
                  </a:solidFill>
                </a:rPr>
                <a:t>str</a:t>
              </a:r>
              <a:r>
                <a:rPr lang="en-US" dirty="0">
                  <a:solidFill>
                    <a:srgbClr val="0000FF"/>
                  </a:solidFill>
                </a:rPr>
                <a:t>);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      } </a:t>
              </a:r>
              <a:r>
                <a:rPr lang="en-US" dirty="0"/>
                <a:t>// end main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} </a:t>
              </a:r>
              <a:r>
                <a:rPr lang="en-US" dirty="0"/>
                <a:t>// end class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323528" y="1236822"/>
              <a:ext cx="576064" cy="32124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>
                  <a:solidFill>
                    <a:srgbClr val="FF0000"/>
                  </a:solidFill>
                </a:rPr>
                <a:t>1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2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3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4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5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6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7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8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9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10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11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12</a:t>
              </a:r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179512" y="908720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What is the output of the following program: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406" y="6496070"/>
            <a:ext cx="40005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W3.3 Output Statements</a:t>
            </a:r>
          </a:p>
        </p:txBody>
      </p:sp>
    </p:spTree>
    <p:extLst>
      <p:ext uri="{BB962C8B-B14F-4D97-AF65-F5344CB8AC3E}">
        <p14:creationId xmlns:p14="http://schemas.microsoft.com/office/powerpoint/2010/main" val="27284293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9144000" cy="6858000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 </a:t>
            </a:r>
            <a:fld id="{D8D24581-BA14-4640-B752-9AB0FD1B9A37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116558"/>
            <a:ext cx="8229600" cy="792162"/>
          </a:xfr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Self-Check Exercises (2)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908720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57200" y="1052737"/>
            <a:ext cx="8229600" cy="3528391"/>
          </a:xfrm>
        </p:spPr>
        <p:txBody>
          <a:bodyPr>
            <a:noAutofit/>
          </a:bodyPr>
          <a:lstStyle/>
          <a:p>
            <a:pPr algn="just"/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 milk carton can hold 3.78 liters of milk. Each morning, a dairy farm ships cartons of milk to a local grocery store. The cost of producing one liter of milk is $0.38, and the profit of each carton of milk is $0.27. Write a program that does the following: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Prompts the user to enter the total amount of milk produced in the morning.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Outputs the number of milk cartons needed to hold milk (Round your answer to the nearest integer).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Outputs the cost of producing milk.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Output the profit for producing milk.</a:t>
            </a:r>
          </a:p>
          <a:p>
            <a:pPr lvl="1" algn="just"/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1406" y="6429396"/>
            <a:ext cx="40005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W3.3 Output Statements</a:t>
            </a:r>
          </a:p>
        </p:txBody>
      </p:sp>
    </p:spTree>
    <p:extLst>
      <p:ext uri="{BB962C8B-B14F-4D97-AF65-F5344CB8AC3E}">
        <p14:creationId xmlns:p14="http://schemas.microsoft.com/office/powerpoint/2010/main" val="89620968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1868</TotalTime>
  <Words>1458</Words>
  <Application>Microsoft Macintosh PowerPoint</Application>
  <PresentationFormat>On-screen Show (4:3)</PresentationFormat>
  <Paragraphs>288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Arial</vt:lpstr>
      <vt:lpstr>Courier New</vt:lpstr>
      <vt:lpstr>Lucida Sans Unicode</vt:lpstr>
      <vt:lpstr>Tahoma</vt:lpstr>
      <vt:lpstr>Verdana</vt:lpstr>
      <vt:lpstr>Wingdings</vt:lpstr>
      <vt:lpstr>Wingdings 2</vt:lpstr>
      <vt:lpstr>Wingdings 3</vt:lpstr>
      <vt:lpstr>Concourse</vt:lpstr>
      <vt:lpstr>  OUTPUT STATEMENTS</vt:lpstr>
      <vt:lpstr>Outline</vt:lpstr>
      <vt:lpstr>3. OUTPUT STATEMENTS</vt:lpstr>
      <vt:lpstr>3. OUTPUT STATEMENTS</vt:lpstr>
      <vt:lpstr>3. OUTPUT STATEMENTS</vt:lpstr>
      <vt:lpstr>3. OUTPUT STATEMENTS</vt:lpstr>
      <vt:lpstr>3. PRINTF STATEMENT</vt:lpstr>
      <vt:lpstr>3. PRINTF STATEMENT</vt:lpstr>
      <vt:lpstr>3. PRINTF STATEMENT</vt:lpstr>
      <vt:lpstr>3. PRINTF STATEMENT</vt:lpstr>
      <vt:lpstr>3. PRINTF STATEMENT</vt:lpstr>
      <vt:lpstr>Self-Check Exercises (1)</vt:lpstr>
      <vt:lpstr>Self-Check Exercises (2)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INPUT/OUTPUT OPERATIONS</dc:title>
  <dc:creator>Soha S.Zaghloul</dc:creator>
  <cp:lastModifiedBy>عبدالعزيز محمد دخيل الحميضي</cp:lastModifiedBy>
  <cp:revision>73</cp:revision>
  <dcterms:created xsi:type="dcterms:W3CDTF">2015-02-03T19:26:57Z</dcterms:created>
  <dcterms:modified xsi:type="dcterms:W3CDTF">2024-02-20T08:40:14Z</dcterms:modified>
</cp:coreProperties>
</file>