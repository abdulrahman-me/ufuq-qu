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4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6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7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8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9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10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11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12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13.xml" ContentType="application/vnd.openxmlformats-officedocument.presentationml.notesSlide+xml"/>
  <Override PartName="/ppt/tags/tag2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68" r:id="rId14"/>
    <p:sldId id="270" r:id="rId15"/>
    <p:sldId id="271" r:id="rId16"/>
    <p:sldId id="272" r:id="rId17"/>
    <p:sldId id="273" r:id="rId18"/>
    <p:sldId id="275" r:id="rId19"/>
    <p:sldId id="276" r:id="rId20"/>
    <p:sldId id="277" r:id="rId21"/>
    <p:sldId id="283" r:id="rId22"/>
    <p:sldId id="278" r:id="rId23"/>
    <p:sldId id="279" r:id="rId24"/>
    <p:sldId id="284" r:id="rId25"/>
    <p:sldId id="285" r:id="rId26"/>
    <p:sldId id="286" r:id="rId27"/>
    <p:sldId id="287" r:id="rId28"/>
    <p:sldId id="288" r:id="rId29"/>
    <p:sldId id="289" r:id="rId30"/>
    <p:sldId id="292" r:id="rId31"/>
    <p:sldId id="291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3399"/>
    <a:srgbClr val="0066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3"/>
    <p:restoredTop sz="94737"/>
  </p:normalViewPr>
  <p:slideViewPr>
    <p:cSldViewPr>
      <p:cViewPr varScale="1">
        <p:scale>
          <a:sx n="129" d="100"/>
          <a:sy n="129" d="100"/>
        </p:scale>
        <p:origin x="1352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F52601-3219-421B-AAA1-C275B8013472}" type="datetimeFigureOut">
              <a:rPr lang="en-US" smtClean="0"/>
              <a:pPr/>
              <a:t>2/20/24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FB0C23-DB46-4482-B1B9-E6A7415CC2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786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6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8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0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2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4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6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8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0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2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4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6F3E66BC-F5E2-4537-8947-6C04E3AC5920}" type="datetimeFigureOut">
              <a:rPr lang="en-US" smtClean="0"/>
              <a:pPr/>
              <a:t>2/20/24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C9F89450-F0C3-410F-AEE3-87D018DA38C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E66BC-F5E2-4537-8947-6C04E3AC5920}" type="datetimeFigureOut">
              <a:rPr lang="en-US" smtClean="0"/>
              <a:pPr/>
              <a:t>2/20/24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89450-F0C3-410F-AEE3-87D018DA38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E66BC-F5E2-4537-8947-6C04E3AC5920}" type="datetimeFigureOut">
              <a:rPr lang="en-US" smtClean="0"/>
              <a:pPr/>
              <a:t>2/20/24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89450-F0C3-410F-AEE3-87D018DA38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E66BC-F5E2-4537-8947-6C04E3AC5920}" type="datetimeFigureOut">
              <a:rPr lang="en-US" smtClean="0"/>
              <a:pPr/>
              <a:t>2/20/24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89450-F0C3-410F-AEE3-87D018DA38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E66BC-F5E2-4537-8947-6C04E3AC5920}" type="datetimeFigureOut">
              <a:rPr lang="en-US" smtClean="0"/>
              <a:pPr/>
              <a:t>2/20/24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89450-F0C3-410F-AEE3-87D018DA38C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E66BC-F5E2-4537-8947-6C04E3AC5920}" type="datetimeFigureOut">
              <a:rPr lang="en-US" smtClean="0"/>
              <a:pPr/>
              <a:t>2/20/24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89450-F0C3-410F-AEE3-87D018DA38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E66BC-F5E2-4537-8947-6C04E3AC5920}" type="datetimeFigureOut">
              <a:rPr lang="en-US" smtClean="0"/>
              <a:pPr/>
              <a:t>2/20/24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89450-F0C3-410F-AEE3-87D018DA38C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6F3E66BC-F5E2-4537-8947-6C04E3AC5920}" type="datetimeFigureOut">
              <a:rPr lang="en-US" smtClean="0"/>
              <a:pPr/>
              <a:t>2/20/24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89450-F0C3-410F-AEE3-87D018DA38C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6F3E66BC-F5E2-4537-8947-6C04E3AC5920}" type="datetimeFigureOut">
              <a:rPr lang="en-US" smtClean="0"/>
              <a:pPr/>
              <a:t>2/20/24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C9F89450-F0C3-410F-AEE3-87D018DA38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E66BC-F5E2-4537-8947-6C04E3AC5920}" type="datetimeFigureOut">
              <a:rPr lang="en-US" smtClean="0"/>
              <a:pPr/>
              <a:t>2/20/24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89450-F0C3-410F-AEE3-87D018DA38C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E66BC-F5E2-4537-8947-6C04E3AC5920}" type="datetimeFigureOut">
              <a:rPr lang="en-US" smtClean="0"/>
              <a:pPr/>
              <a:t>2/20/24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89450-F0C3-410F-AEE3-87D018DA38C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6F3E66BC-F5E2-4537-8947-6C04E3AC5920}" type="datetimeFigureOut">
              <a:rPr lang="en-US" smtClean="0"/>
              <a:pPr/>
              <a:t>2/20/24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C9F89450-F0C3-410F-AEE3-87D018DA38C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/>
          </p:cNvSpPr>
          <p:nvPr>
            <p:ph type="ctrTitle"/>
          </p:nvPr>
        </p:nvSpPr>
        <p:spPr>
          <a:xfrm>
            <a:off x="251521" y="2708920"/>
            <a:ext cx="8640960" cy="1152128"/>
          </a:xfrm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anchor="b">
            <a:normAutofit fontScale="9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br>
              <a:rPr lang="en-US" sz="5400" dirty="0">
                <a:solidFill>
                  <a:srgbClr val="C00000"/>
                </a:solidFill>
              </a:rPr>
            </a:br>
            <a:br>
              <a:rPr lang="en-US" sz="5400" dirty="0">
                <a:solidFill>
                  <a:srgbClr val="C00000"/>
                </a:solidFill>
              </a:rPr>
            </a:br>
            <a:r>
              <a:rPr lang="en-US" sz="5400" dirty="0">
                <a:solidFill>
                  <a:srgbClr val="C00000"/>
                </a:solidFill>
              </a:rPr>
              <a:t>SELECTION STATEMENTS (1)</a:t>
            </a:r>
          </a:p>
        </p:txBody>
      </p:sp>
      <p:sp>
        <p:nvSpPr>
          <p:cNvPr id="5" name="PPTShape_0"/>
          <p:cNvSpPr txBox="1">
            <a:spLocks/>
          </p:cNvSpPr>
          <p:nvPr/>
        </p:nvSpPr>
        <p:spPr>
          <a:xfrm>
            <a:off x="72008" y="5949280"/>
            <a:ext cx="1869423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>
            <a:defPPr>
              <a:defRPr lang="en-US"/>
            </a:defPPr>
            <a:lvl1pPr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Tahoma" charset="0"/>
                <a:ea typeface="ＭＳ Ｐゴシック" charset="0"/>
                <a:cs typeface="Arial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5pPr>
            <a:lvl6pPr defTabSz="457200">
              <a:defRPr>
                <a:latin typeface="Tahoma" charset="0"/>
                <a:ea typeface="ＭＳ Ｐゴシック" charset="0"/>
                <a:cs typeface="Arial" charset="0"/>
              </a:defRPr>
            </a:lvl6pPr>
            <a:lvl7pPr defTabSz="457200">
              <a:defRPr>
                <a:latin typeface="Tahoma" charset="0"/>
                <a:ea typeface="ＭＳ Ｐゴシック" charset="0"/>
                <a:cs typeface="Arial" charset="0"/>
              </a:defRPr>
            </a:lvl7pPr>
            <a:lvl8pPr defTabSz="457200">
              <a:defRPr>
                <a:latin typeface="Tahoma" charset="0"/>
                <a:ea typeface="ＭＳ Ｐゴシック" charset="0"/>
                <a:cs typeface="Arial" charset="0"/>
              </a:defRPr>
            </a:lvl8pPr>
            <a:lvl9pPr defTabSz="457200">
              <a:defRPr>
                <a:latin typeface="Tahoma" charset="0"/>
                <a:ea typeface="ＭＳ Ｐゴシック" charset="0"/>
                <a:cs typeface="Arial" charset="0"/>
              </a:defRPr>
            </a:lvl9pPr>
          </a:lstStyle>
          <a:p>
            <a:r>
              <a:rPr lang="en-US"/>
              <a:t>CS 1301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4644008" y="3861048"/>
            <a:ext cx="4248472" cy="12241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dirty="0">
                <a:solidFill>
                  <a:srgbClr val="00B0F0"/>
                </a:solidFill>
              </a:rPr>
              <a:t>if</a:t>
            </a:r>
          </a:p>
          <a:p>
            <a:r>
              <a:rPr lang="en-US" sz="4000" dirty="0">
                <a:solidFill>
                  <a:srgbClr val="00B0F0"/>
                </a:solidFill>
              </a:rPr>
              <a:t>if…else</a:t>
            </a:r>
          </a:p>
        </p:txBody>
      </p:sp>
    </p:spTree>
    <p:extLst>
      <p:ext uri="{BB962C8B-B14F-4D97-AF65-F5344CB8AC3E}">
        <p14:creationId xmlns:p14="http://schemas.microsoft.com/office/powerpoint/2010/main" val="860807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2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612648" y="1110952"/>
            <a:ext cx="8153400" cy="5486400"/>
          </a:xfrm>
          <a:prstGeom prst="foldedCorner">
            <a:avLst>
              <a:gd name="adj" fmla="val 36304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marL="0" indent="0"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dirty="0">
                <a:latin typeface="Tahoma" charset="0"/>
                <a:cs typeface="Arial" charset="0"/>
              </a:rPr>
              <a:t>1. Introduction</a:t>
            </a:r>
          </a:p>
          <a:p>
            <a:pPr marL="0" indent="0"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dirty="0">
                <a:latin typeface="Tahoma" charset="0"/>
                <a:cs typeface="Arial" charset="0"/>
              </a:rPr>
              <a:t>2. One-way selection: The </a:t>
            </a:r>
            <a:r>
              <a:rPr lang="en-US" dirty="0">
                <a:solidFill>
                  <a:srgbClr val="00B0F0"/>
                </a:solidFill>
                <a:latin typeface="Tahoma" charset="0"/>
                <a:cs typeface="Arial" charset="0"/>
              </a:rPr>
              <a:t>if</a:t>
            </a:r>
            <a:r>
              <a:rPr lang="en-US" dirty="0">
                <a:latin typeface="Tahoma" charset="0"/>
                <a:cs typeface="Arial" charset="0"/>
              </a:rPr>
              <a:t> statement</a:t>
            </a:r>
          </a:p>
          <a:p>
            <a:pPr marL="0" indent="0"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dirty="0">
                <a:solidFill>
                  <a:srgbClr val="0000FF"/>
                </a:solidFill>
                <a:latin typeface="Tahoma" charset="0"/>
                <a:cs typeface="Arial" charset="0"/>
              </a:rPr>
              <a:t>	2.1 With a single statement</a:t>
            </a:r>
          </a:p>
          <a:p>
            <a:pPr marL="0" indent="0"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dirty="0">
                <a:solidFill>
                  <a:srgbClr val="0000FF"/>
                </a:solidFill>
                <a:latin typeface="Tahoma" charset="0"/>
                <a:cs typeface="Arial" charset="0"/>
              </a:rPr>
              <a:t>	2.2 With a block of statements</a:t>
            </a:r>
          </a:p>
          <a:p>
            <a:pPr marL="0" indent="0"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dirty="0">
                <a:latin typeface="Tahoma" charset="0"/>
                <a:cs typeface="Arial" charset="0"/>
              </a:rPr>
              <a:t>3. Two-way selection: The </a:t>
            </a:r>
            <a:r>
              <a:rPr lang="en-US" dirty="0">
                <a:solidFill>
                  <a:srgbClr val="00B0F0"/>
                </a:solidFill>
                <a:latin typeface="Tahoma" charset="0"/>
                <a:cs typeface="Arial" charset="0"/>
              </a:rPr>
              <a:t>if…else</a:t>
            </a:r>
            <a:r>
              <a:rPr lang="en-US" dirty="0">
                <a:latin typeface="Tahoma" charset="0"/>
                <a:cs typeface="Arial" charset="0"/>
              </a:rPr>
              <a:t> statement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dirty="0">
                <a:solidFill>
                  <a:srgbClr val="0000FF"/>
                </a:solidFill>
                <a:latin typeface="Tahoma" charset="0"/>
                <a:cs typeface="Arial" charset="0"/>
              </a:rPr>
              <a:t>	3.1 With a single statement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dirty="0">
                <a:solidFill>
                  <a:srgbClr val="0000FF"/>
                </a:solidFill>
                <a:latin typeface="Tahoma" charset="0"/>
                <a:cs typeface="Arial" charset="0"/>
              </a:rPr>
              <a:t>	3.2 With a block of statements</a:t>
            </a:r>
          </a:p>
          <a:p>
            <a:pPr marL="0" indent="0"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endParaRPr lang="en-US" dirty="0">
              <a:latin typeface="Tahoma" charset="0"/>
              <a:cs typeface="Arial" charset="0"/>
            </a:endParaRP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777240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Outline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7332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51520" y="980728"/>
            <a:ext cx="8640960" cy="421507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 default, the flow of a program is sequential.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1. Introduction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4"/>
          <p:cNvSpPr txBox="1">
            <a:spLocks/>
          </p:cNvSpPr>
          <p:nvPr/>
        </p:nvSpPr>
        <p:spPr>
          <a:xfrm>
            <a:off x="251520" y="1464295"/>
            <a:ext cx="8640960" cy="709539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Selection statements alters the flow of execution depending on one or more specific conditions.</a:t>
            </a:r>
          </a:p>
        </p:txBody>
      </p:sp>
      <p:sp>
        <p:nvSpPr>
          <p:cNvPr id="9" name="Content Placeholder 4"/>
          <p:cNvSpPr txBox="1">
            <a:spLocks/>
          </p:cNvSpPr>
          <p:nvPr/>
        </p:nvSpPr>
        <p:spPr>
          <a:xfrm>
            <a:off x="251520" y="2235894"/>
            <a:ext cx="8640960" cy="493515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condition(s) is/are specified by the programmer.</a:t>
            </a:r>
          </a:p>
        </p:txBody>
      </p:sp>
      <p:sp>
        <p:nvSpPr>
          <p:cNvPr id="29" name="Content Placeholder 4"/>
          <p:cNvSpPr txBox="1">
            <a:spLocks/>
          </p:cNvSpPr>
          <p:nvPr/>
        </p:nvSpPr>
        <p:spPr>
          <a:xfrm>
            <a:off x="251520" y="2791469"/>
            <a:ext cx="8640960" cy="637531"/>
          </a:xfrm>
          <a:prstGeom prst="rect">
            <a:avLst/>
          </a:prstGeom>
        </p:spPr>
        <p:txBody>
          <a:bodyPr vert="horz">
            <a:normAutofit lnSpcReduction="10000"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Remember the flowcharts previously drawn in </a:t>
            </a:r>
            <a:r>
              <a:rPr lang="en-US" sz="20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Lecture W1.3 slides 21 &amp; 23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This is illustrated in the next slide for easier reference.</a:t>
            </a:r>
          </a:p>
        </p:txBody>
      </p:sp>
      <p:sp>
        <p:nvSpPr>
          <p:cNvPr id="30" name="Content Placeholder 4"/>
          <p:cNvSpPr txBox="1">
            <a:spLocks/>
          </p:cNvSpPr>
          <p:nvPr/>
        </p:nvSpPr>
        <p:spPr>
          <a:xfrm>
            <a:off x="251520" y="3429000"/>
            <a:ext cx="8640960" cy="288032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Java, the selection statements include:</a:t>
            </a:r>
          </a:p>
          <a:p>
            <a:pPr marL="598932" lvl="1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US" sz="1800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</a:t>
            </a: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statement</a:t>
            </a:r>
          </a:p>
          <a:p>
            <a:pPr marL="836676" lvl="2" indent="-342900" algn="just">
              <a:lnSpc>
                <a:spcPct val="9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With a single statement</a:t>
            </a:r>
          </a:p>
          <a:p>
            <a:pPr marL="836676" lvl="2" indent="-342900" algn="just">
              <a:lnSpc>
                <a:spcPct val="9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With a block of statements</a:t>
            </a:r>
          </a:p>
          <a:p>
            <a:pPr marL="598932" lvl="1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US" sz="1800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if…else </a:t>
            </a: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statement</a:t>
            </a:r>
          </a:p>
          <a:p>
            <a:pPr marL="836676" lvl="2" indent="-342900" algn="just">
              <a:lnSpc>
                <a:spcPct val="9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With a single statement</a:t>
            </a:r>
          </a:p>
          <a:p>
            <a:pPr marL="836676" lvl="2" indent="-342900" algn="just">
              <a:lnSpc>
                <a:spcPct val="9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With a block of statements</a:t>
            </a:r>
            <a:endParaRPr 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98932" lvl="1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nested </a:t>
            </a:r>
            <a:r>
              <a:rPr lang="en-US" sz="1800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</a:t>
            </a:r>
          </a:p>
          <a:p>
            <a:pPr marL="598932" lvl="1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conditional operator </a:t>
            </a:r>
            <a:r>
              <a:rPr lang="en-US" sz="1800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?</a:t>
            </a:r>
          </a:p>
          <a:p>
            <a:pPr marL="598932" lvl="1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US" sz="1800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switch </a:t>
            </a: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statement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8542006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/>
      <p:bldP spid="9" grpId="0"/>
      <p:bldP spid="29" grpId="0"/>
      <p:bldP spid="30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1. Introduction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00708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AutoShape 67"/>
          <p:cNvSpPr>
            <a:spLocks noChangeArrowheads="1"/>
          </p:cNvSpPr>
          <p:nvPr/>
        </p:nvSpPr>
        <p:spPr bwMode="auto">
          <a:xfrm>
            <a:off x="1799047" y="1124745"/>
            <a:ext cx="1441450" cy="421858"/>
          </a:xfrm>
          <a:prstGeom prst="flowChartTerminator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Start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2519772" y="1546603"/>
            <a:ext cx="1" cy="29212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AutoShape 68"/>
          <p:cNvSpPr>
            <a:spLocks noChangeArrowheads="1"/>
          </p:cNvSpPr>
          <p:nvPr/>
        </p:nvSpPr>
        <p:spPr bwMode="auto">
          <a:xfrm>
            <a:off x="1584735" y="1842779"/>
            <a:ext cx="1870075" cy="358775"/>
          </a:xfrm>
          <a:prstGeom prst="flowChartInputOutpu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Read </a:t>
            </a:r>
            <a:r>
              <a:rPr lang="en-US" sz="1600" dirty="0">
                <a:latin typeface="Arial" charset="0"/>
                <a:cs typeface="Arial" charset="0"/>
              </a:rPr>
              <a:t>salary</a:t>
            </a:r>
            <a:endParaRPr lang="en-US" sz="1600" dirty="0"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32" name="Straight Arrow Connector 31"/>
          <p:cNvCxnSpPr/>
          <p:nvPr/>
        </p:nvCxnSpPr>
        <p:spPr>
          <a:xfrm>
            <a:off x="2519772" y="2194675"/>
            <a:ext cx="1" cy="29212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Flowchart: Decision 32"/>
          <p:cNvSpPr/>
          <p:nvPr/>
        </p:nvSpPr>
        <p:spPr>
          <a:xfrm>
            <a:off x="1043608" y="2492897"/>
            <a:ext cx="2952328" cy="798184"/>
          </a:xfrm>
          <a:prstGeom prst="flowChartDecision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salary</a:t>
            </a:r>
            <a:r>
              <a:rPr lang="en-US" dirty="0">
                <a:solidFill>
                  <a:schemeClr val="tx1"/>
                </a:solidFill>
              </a:rPr>
              <a:t> &lt; 5000?</a:t>
            </a:r>
          </a:p>
        </p:txBody>
      </p:sp>
      <p:cxnSp>
        <p:nvCxnSpPr>
          <p:cNvPr id="34" name="Straight Arrow Connector 33"/>
          <p:cNvCxnSpPr>
            <a:endCxn id="35" idx="0"/>
          </p:cNvCxnSpPr>
          <p:nvPr/>
        </p:nvCxnSpPr>
        <p:spPr>
          <a:xfrm>
            <a:off x="756233" y="2891989"/>
            <a:ext cx="1" cy="466393"/>
          </a:xfrm>
          <a:prstGeom prst="straightConnector1">
            <a:avLst/>
          </a:prstGeom>
          <a:ln w="28575">
            <a:solidFill>
              <a:srgbClr val="00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AutoShape 72"/>
          <p:cNvSpPr>
            <a:spLocks noChangeArrowheads="1"/>
          </p:cNvSpPr>
          <p:nvPr/>
        </p:nvSpPr>
        <p:spPr bwMode="auto">
          <a:xfrm>
            <a:off x="180827" y="3358382"/>
            <a:ext cx="1150813" cy="420469"/>
          </a:xfrm>
          <a:prstGeom prst="flowChartProcess">
            <a:avLst/>
          </a:prstGeom>
          <a:solidFill>
            <a:srgbClr val="92D05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latin typeface="Arial" charset="0"/>
                <a:cs typeface="Arial" charset="0"/>
              </a:rPr>
              <a:t>tax = 0.1 </a:t>
            </a:r>
            <a:endParaRPr lang="en-US" sz="1600" dirty="0">
              <a:solidFill>
                <a:srgbClr val="0000FF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756233" y="3789041"/>
            <a:ext cx="0" cy="1440160"/>
          </a:xfrm>
          <a:prstGeom prst="straightConnector1">
            <a:avLst/>
          </a:prstGeom>
          <a:ln w="28575">
            <a:solidFill>
              <a:srgbClr val="00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11560" y="2617168"/>
            <a:ext cx="6830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06600"/>
                </a:solidFill>
              </a:rPr>
              <a:t>True</a:t>
            </a:r>
          </a:p>
        </p:txBody>
      </p:sp>
      <p:cxnSp>
        <p:nvCxnSpPr>
          <p:cNvPr id="38" name="Straight Arrow Connector 37"/>
          <p:cNvCxnSpPr/>
          <p:nvPr/>
        </p:nvCxnSpPr>
        <p:spPr>
          <a:xfrm>
            <a:off x="4283968" y="2891989"/>
            <a:ext cx="0" cy="1615085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AutoShape 72"/>
          <p:cNvSpPr>
            <a:spLocks noChangeArrowheads="1"/>
          </p:cNvSpPr>
          <p:nvPr/>
        </p:nvSpPr>
        <p:spPr bwMode="auto">
          <a:xfrm>
            <a:off x="3708561" y="4520700"/>
            <a:ext cx="1150813" cy="420469"/>
          </a:xfrm>
          <a:prstGeom prst="flowChartProcess">
            <a:avLst/>
          </a:prstGeom>
          <a:solidFill>
            <a:schemeClr val="bg2">
              <a:lumMod val="5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latin typeface="Arial" charset="0"/>
                <a:cs typeface="Arial" charset="0"/>
              </a:rPr>
              <a:t>tax =0.08 </a:t>
            </a:r>
            <a:endParaRPr lang="en-US" sz="1600" dirty="0">
              <a:solidFill>
                <a:srgbClr val="0000FF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40" name="Straight Arrow Connector 39"/>
          <p:cNvCxnSpPr/>
          <p:nvPr/>
        </p:nvCxnSpPr>
        <p:spPr>
          <a:xfrm flipH="1">
            <a:off x="4283967" y="4937075"/>
            <a:ext cx="1" cy="292126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H="1">
            <a:off x="2627784" y="5229201"/>
            <a:ext cx="1656183" cy="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756234" y="5229201"/>
            <a:ext cx="1871550" cy="0"/>
          </a:xfrm>
          <a:prstGeom prst="straightConnector1">
            <a:avLst/>
          </a:prstGeom>
          <a:ln w="28575">
            <a:solidFill>
              <a:srgbClr val="00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2638236" y="5229201"/>
            <a:ext cx="1" cy="292126"/>
          </a:xfrm>
          <a:prstGeom prst="straightConnector1">
            <a:avLst/>
          </a:prstGeom>
          <a:ln w="28575">
            <a:solidFill>
              <a:schemeClr val="tx1"/>
            </a:solidFill>
            <a:headEnd type="diamond" w="lg" len="lg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AutoShape 71"/>
          <p:cNvSpPr>
            <a:spLocks noChangeArrowheads="1"/>
          </p:cNvSpPr>
          <p:nvPr/>
        </p:nvSpPr>
        <p:spPr bwMode="auto">
          <a:xfrm>
            <a:off x="1691208" y="5517233"/>
            <a:ext cx="1944688" cy="358775"/>
          </a:xfrm>
          <a:prstGeom prst="flowChartInputOutpu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Print </a:t>
            </a:r>
            <a:r>
              <a:rPr lang="en-US" sz="1600" dirty="0">
                <a:solidFill>
                  <a:srgbClr val="0000FF"/>
                </a:solidFill>
                <a:latin typeface="Arial" charset="0"/>
                <a:cs typeface="Arial" charset="0"/>
              </a:rPr>
              <a:t>tax</a:t>
            </a:r>
            <a:endParaRPr lang="en-US" sz="1600" dirty="0">
              <a:solidFill>
                <a:srgbClr val="0000FF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45" name="AutoShape 70"/>
          <p:cNvSpPr>
            <a:spLocks noChangeArrowheads="1"/>
          </p:cNvSpPr>
          <p:nvPr/>
        </p:nvSpPr>
        <p:spPr bwMode="auto">
          <a:xfrm>
            <a:off x="1942827" y="6031480"/>
            <a:ext cx="1441450" cy="421856"/>
          </a:xfrm>
          <a:prstGeom prst="flowChartTerminator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End</a:t>
            </a:r>
          </a:p>
        </p:txBody>
      </p:sp>
      <p:cxnSp>
        <p:nvCxnSpPr>
          <p:cNvPr id="46" name="Straight Arrow Connector 45"/>
          <p:cNvCxnSpPr>
            <a:stCxn id="44" idx="4"/>
            <a:endCxn id="45" idx="0"/>
          </p:cNvCxnSpPr>
          <p:nvPr/>
        </p:nvCxnSpPr>
        <p:spPr>
          <a:xfrm>
            <a:off x="2663552" y="5876008"/>
            <a:ext cx="0" cy="15547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708561" y="2617168"/>
            <a:ext cx="6830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000FF"/>
                </a:solidFill>
              </a:rPr>
              <a:t>False</a:t>
            </a:r>
          </a:p>
        </p:txBody>
      </p:sp>
      <p:cxnSp>
        <p:nvCxnSpPr>
          <p:cNvPr id="51" name="Straight Arrow Connector 50"/>
          <p:cNvCxnSpPr/>
          <p:nvPr/>
        </p:nvCxnSpPr>
        <p:spPr>
          <a:xfrm flipH="1">
            <a:off x="683568" y="2891989"/>
            <a:ext cx="360040" cy="0"/>
          </a:xfrm>
          <a:prstGeom prst="straightConnector1">
            <a:avLst/>
          </a:prstGeom>
          <a:ln w="28575">
            <a:solidFill>
              <a:srgbClr val="00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>
            <a:off x="3995936" y="2891989"/>
            <a:ext cx="360040" cy="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6948264" y="548680"/>
            <a:ext cx="1512168" cy="504056"/>
          </a:xfrm>
          <a:prstGeom prst="roundRect">
            <a:avLst/>
          </a:prstGeom>
          <a:solidFill>
            <a:srgbClr val="0000FF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REMINDER</a:t>
            </a:r>
          </a:p>
        </p:txBody>
      </p:sp>
      <p:sp>
        <p:nvSpPr>
          <p:cNvPr id="57" name="AutoShape 67"/>
          <p:cNvSpPr>
            <a:spLocks noChangeArrowheads="1"/>
          </p:cNvSpPr>
          <p:nvPr/>
        </p:nvSpPr>
        <p:spPr bwMode="auto">
          <a:xfrm>
            <a:off x="6479331" y="1124744"/>
            <a:ext cx="1441450" cy="421858"/>
          </a:xfrm>
          <a:prstGeom prst="flowChartTerminator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Start</a:t>
            </a:r>
          </a:p>
        </p:txBody>
      </p:sp>
      <p:cxnSp>
        <p:nvCxnSpPr>
          <p:cNvPr id="58" name="Straight Arrow Connector 57"/>
          <p:cNvCxnSpPr/>
          <p:nvPr/>
        </p:nvCxnSpPr>
        <p:spPr>
          <a:xfrm>
            <a:off x="7200056" y="1546602"/>
            <a:ext cx="1" cy="29212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AutoShape 68"/>
          <p:cNvSpPr>
            <a:spLocks noChangeArrowheads="1"/>
          </p:cNvSpPr>
          <p:nvPr/>
        </p:nvSpPr>
        <p:spPr bwMode="auto">
          <a:xfrm>
            <a:off x="6265019" y="1842778"/>
            <a:ext cx="1870075" cy="358775"/>
          </a:xfrm>
          <a:prstGeom prst="flowChartInputOutpu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Read </a:t>
            </a:r>
            <a:r>
              <a:rPr lang="en-US" sz="1600" dirty="0">
                <a:latin typeface="Arial" charset="0"/>
                <a:cs typeface="Arial" charset="0"/>
              </a:rPr>
              <a:t>x</a:t>
            </a:r>
            <a:endParaRPr lang="en-US" sz="1600" dirty="0"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60" name="Straight Arrow Connector 59"/>
          <p:cNvCxnSpPr/>
          <p:nvPr/>
        </p:nvCxnSpPr>
        <p:spPr>
          <a:xfrm>
            <a:off x="7200056" y="2194674"/>
            <a:ext cx="1" cy="29212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>
            <a:endCxn id="62" idx="0"/>
          </p:cNvCxnSpPr>
          <p:nvPr/>
        </p:nvCxnSpPr>
        <p:spPr>
          <a:xfrm>
            <a:off x="5652120" y="2780928"/>
            <a:ext cx="0" cy="582366"/>
          </a:xfrm>
          <a:prstGeom prst="straightConnector1">
            <a:avLst/>
          </a:prstGeom>
          <a:ln w="28575">
            <a:solidFill>
              <a:srgbClr val="00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AutoShape 72"/>
          <p:cNvSpPr>
            <a:spLocks noChangeArrowheads="1"/>
          </p:cNvSpPr>
          <p:nvPr/>
        </p:nvSpPr>
        <p:spPr bwMode="auto">
          <a:xfrm>
            <a:off x="4860032" y="3363294"/>
            <a:ext cx="1584176" cy="420469"/>
          </a:xfrm>
          <a:prstGeom prst="flowChartProcess">
            <a:avLst/>
          </a:prstGeom>
          <a:solidFill>
            <a:srgbClr val="92D05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rgbClr val="0000FF"/>
                </a:solidFill>
                <a:latin typeface="Arial" charset="0"/>
                <a:cs typeface="Arial" charset="0"/>
              </a:rPr>
              <a:t>x</a:t>
            </a:r>
            <a:r>
              <a:rPr lang="en-US" sz="1600" dirty="0">
                <a:latin typeface="Arial" charset="0"/>
                <a:cs typeface="Arial" charset="0"/>
              </a:rPr>
              <a:t> = </a:t>
            </a:r>
            <a:r>
              <a:rPr lang="en-US" sz="1600" dirty="0">
                <a:solidFill>
                  <a:srgbClr val="0000FF"/>
                </a:solidFill>
                <a:latin typeface="Arial" charset="0"/>
                <a:cs typeface="Arial" charset="0"/>
              </a:rPr>
              <a:t>x</a:t>
            </a:r>
            <a:r>
              <a:rPr lang="en-US" sz="1600" dirty="0">
                <a:latin typeface="Arial" charset="0"/>
                <a:cs typeface="Arial" charset="0"/>
              </a:rPr>
              <a:t> * -1</a:t>
            </a:r>
            <a:endParaRPr lang="en-US" sz="1600" dirty="0">
              <a:solidFill>
                <a:srgbClr val="0000FF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63" name="AutoShape 71"/>
          <p:cNvSpPr>
            <a:spLocks noChangeArrowheads="1"/>
          </p:cNvSpPr>
          <p:nvPr/>
        </p:nvSpPr>
        <p:spPr bwMode="auto">
          <a:xfrm>
            <a:off x="6228184" y="5154363"/>
            <a:ext cx="1944688" cy="358775"/>
          </a:xfrm>
          <a:prstGeom prst="flowChartInputOutpu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Print </a:t>
            </a:r>
            <a:r>
              <a:rPr lang="en-US" sz="1600" dirty="0">
                <a:solidFill>
                  <a:srgbClr val="0000FF"/>
                </a:solidFill>
                <a:latin typeface="Arial" charset="0"/>
                <a:cs typeface="Arial" charset="0"/>
              </a:rPr>
              <a:t>x</a:t>
            </a:r>
            <a:endParaRPr lang="en-US" sz="1600" dirty="0">
              <a:solidFill>
                <a:srgbClr val="0000FF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64" name="Straight Arrow Connector 63"/>
          <p:cNvCxnSpPr/>
          <p:nvPr/>
        </p:nvCxnSpPr>
        <p:spPr>
          <a:xfrm>
            <a:off x="7191912" y="5513138"/>
            <a:ext cx="1" cy="29212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AutoShape 70"/>
          <p:cNvSpPr>
            <a:spLocks noChangeArrowheads="1"/>
          </p:cNvSpPr>
          <p:nvPr/>
        </p:nvSpPr>
        <p:spPr bwMode="auto">
          <a:xfrm>
            <a:off x="6479803" y="5815455"/>
            <a:ext cx="1441450" cy="421856"/>
          </a:xfrm>
          <a:prstGeom prst="flowChartTerminator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End</a:t>
            </a:r>
          </a:p>
        </p:txBody>
      </p:sp>
      <p:cxnSp>
        <p:nvCxnSpPr>
          <p:cNvPr id="66" name="Straight Arrow Connector 65"/>
          <p:cNvCxnSpPr>
            <a:stCxn id="62" idx="2"/>
          </p:cNvCxnSpPr>
          <p:nvPr/>
        </p:nvCxnSpPr>
        <p:spPr>
          <a:xfrm>
            <a:off x="5652120" y="3783763"/>
            <a:ext cx="0" cy="941381"/>
          </a:xfrm>
          <a:prstGeom prst="straightConnector1">
            <a:avLst/>
          </a:prstGeom>
          <a:ln w="28575">
            <a:solidFill>
              <a:srgbClr val="00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/>
          <p:nvPr/>
        </p:nvCxnSpPr>
        <p:spPr>
          <a:xfrm>
            <a:off x="5652120" y="4725144"/>
            <a:ext cx="1548408" cy="0"/>
          </a:xfrm>
          <a:prstGeom prst="straightConnector1">
            <a:avLst/>
          </a:prstGeom>
          <a:ln w="28575">
            <a:solidFill>
              <a:srgbClr val="00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/>
          <p:nvPr/>
        </p:nvCxnSpPr>
        <p:spPr>
          <a:xfrm>
            <a:off x="7200056" y="4725144"/>
            <a:ext cx="472" cy="429219"/>
          </a:xfrm>
          <a:prstGeom prst="straightConnector1">
            <a:avLst/>
          </a:prstGeom>
          <a:ln w="28575">
            <a:solidFill>
              <a:schemeClr val="tx1"/>
            </a:solidFill>
            <a:headEnd type="diamond" w="lg" len="lg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 flipH="1">
            <a:off x="7200528" y="4725144"/>
            <a:ext cx="1331912" cy="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>
            <a:off x="8532440" y="2780928"/>
            <a:ext cx="2904" cy="1944216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AutoShape 73"/>
          <p:cNvSpPr>
            <a:spLocks noChangeArrowheads="1"/>
          </p:cNvSpPr>
          <p:nvPr/>
        </p:nvSpPr>
        <p:spPr bwMode="auto">
          <a:xfrm>
            <a:off x="6267502" y="2492697"/>
            <a:ext cx="1798488" cy="576263"/>
          </a:xfrm>
          <a:prstGeom prst="flowChartDecision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Arial" charset="0"/>
                <a:cs typeface="Arial" charset="0"/>
              </a:rPr>
              <a:t>x</a:t>
            </a:r>
            <a:r>
              <a:rPr lang="en-US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&lt; 0?</a:t>
            </a:r>
          </a:p>
        </p:txBody>
      </p:sp>
      <p:sp>
        <p:nvSpPr>
          <p:cNvPr id="72" name="Line 74"/>
          <p:cNvSpPr>
            <a:spLocks noChangeShapeType="1"/>
          </p:cNvSpPr>
          <p:nvPr/>
        </p:nvSpPr>
        <p:spPr bwMode="auto">
          <a:xfrm flipV="1">
            <a:off x="8065343" y="2769737"/>
            <a:ext cx="539105" cy="10297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w="lg" len="lg"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" name="Line 75"/>
          <p:cNvSpPr>
            <a:spLocks noChangeShapeType="1"/>
          </p:cNvSpPr>
          <p:nvPr/>
        </p:nvSpPr>
        <p:spPr bwMode="auto">
          <a:xfrm flipV="1">
            <a:off x="5617073" y="2780034"/>
            <a:ext cx="650428" cy="793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 type="triangle" w="lg" len="lg"/>
            <a:tailEnd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4" name="TextBox 73"/>
          <p:cNvSpPr txBox="1"/>
          <p:nvPr/>
        </p:nvSpPr>
        <p:spPr>
          <a:xfrm>
            <a:off x="5752215" y="2514382"/>
            <a:ext cx="7289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>
                <a:solidFill>
                  <a:srgbClr val="0000FF"/>
                </a:solidFill>
              </a:defRPr>
            </a:lvl1pPr>
          </a:lstStyle>
          <a:p>
            <a:r>
              <a:rPr lang="en-US" dirty="0">
                <a:solidFill>
                  <a:srgbClr val="006600"/>
                </a:solidFill>
              </a:rPr>
              <a:t>True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777312" y="2514382"/>
            <a:ext cx="75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>
                <a:solidFill>
                  <a:srgbClr val="0000FF"/>
                </a:solidFill>
              </a:defRPr>
            </a:lvl1pPr>
          </a:lstStyle>
          <a:p>
            <a:r>
              <a:rPr lang="en-US" dirty="0"/>
              <a:t>False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53610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5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000"/>
                            </p:stCondLst>
                            <p:childTnLst>
                              <p:par>
                                <p:cTn id="6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500"/>
                            </p:stCondLst>
                            <p:childTnLst>
                              <p:par>
                                <p:cTn id="7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3000"/>
                            </p:stCondLst>
                            <p:childTnLst>
                              <p:par>
                                <p:cTn id="8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3500"/>
                            </p:stCondLst>
                            <p:childTnLst>
                              <p:par>
                                <p:cTn id="8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4000"/>
                            </p:stCondLst>
                            <p:childTnLst>
                              <p:par>
                                <p:cTn id="8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500"/>
                            </p:stCondLst>
                            <p:childTnLst>
                              <p:par>
                                <p:cTn id="10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2000"/>
                            </p:stCondLst>
                            <p:childTnLst>
                              <p:par>
                                <p:cTn id="10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3000"/>
                            </p:stCondLst>
                            <p:childTnLst>
                              <p:par>
                                <p:cTn id="1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3500"/>
                            </p:stCondLst>
                            <p:childTnLst>
                              <p:par>
                                <p:cTn id="1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4000"/>
                            </p:stCondLst>
                            <p:childTnLst>
                              <p:par>
                                <p:cTn id="1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500"/>
                            </p:stCondLst>
                            <p:childTnLst>
                              <p:par>
                                <p:cTn id="1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1500"/>
                            </p:stCondLst>
                            <p:childTnLst>
                              <p:par>
                                <p:cTn id="15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2500"/>
                            </p:stCondLst>
                            <p:childTnLst>
                              <p:par>
                                <p:cTn id="15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3000"/>
                            </p:stCondLst>
                            <p:childTnLst>
                              <p:par>
                                <p:cTn id="16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1" grpId="0" animBg="1"/>
      <p:bldP spid="33" grpId="0" animBg="1"/>
      <p:bldP spid="35" grpId="0" animBg="1"/>
      <p:bldP spid="37" grpId="0"/>
      <p:bldP spid="39" grpId="0" animBg="1"/>
      <p:bldP spid="44" grpId="0" animBg="1"/>
      <p:bldP spid="45" grpId="0" animBg="1"/>
      <p:bldP spid="47" grpId="0"/>
      <p:bldP spid="56" grpId="0" animBg="1"/>
      <p:bldP spid="57" grpId="0" animBg="1"/>
      <p:bldP spid="59" grpId="0" animBg="1"/>
      <p:bldP spid="62" grpId="0" animBg="1"/>
      <p:bldP spid="63" grpId="0" animBg="1"/>
      <p:bldP spid="65" grpId="0" animBg="1"/>
      <p:bldP spid="71" grpId="0" animBg="1"/>
      <p:bldP spid="72" grpId="0" animBg="1"/>
      <p:bldP spid="73" grpId="0" animBg="1"/>
      <p:bldP spid="74" grpId="0"/>
      <p:bldP spid="7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2.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if 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Statement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677111" y="1556792"/>
            <a:ext cx="5832648" cy="50405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F0"/>
                </a:solidFill>
              </a:rPr>
              <a:t>if (logical expression) statement1;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36951" y="1556792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SYNTAX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520" y="2204864"/>
            <a:ext cx="2160240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FLOWCHART</a:t>
            </a:r>
          </a:p>
        </p:txBody>
      </p:sp>
      <p:sp>
        <p:nvSpPr>
          <p:cNvPr id="4" name="Oval 3"/>
          <p:cNvSpPr/>
          <p:nvPr/>
        </p:nvSpPr>
        <p:spPr>
          <a:xfrm>
            <a:off x="2951820" y="2348880"/>
            <a:ext cx="360040" cy="360040"/>
          </a:xfrm>
          <a:prstGeom prst="ellipse">
            <a:avLst/>
          </a:prstGeom>
          <a:solidFill>
            <a:srgbClr val="FF33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0" name="Flowchart: Decision 9"/>
          <p:cNvSpPr/>
          <p:nvPr/>
        </p:nvSpPr>
        <p:spPr>
          <a:xfrm>
            <a:off x="1691680" y="3212976"/>
            <a:ext cx="2880320" cy="1440160"/>
          </a:xfrm>
          <a:prstGeom prst="flowChartDecision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Logical Expression?</a:t>
            </a:r>
          </a:p>
        </p:txBody>
      </p:sp>
      <p:sp>
        <p:nvSpPr>
          <p:cNvPr id="16" name="AutoShape 72"/>
          <p:cNvSpPr>
            <a:spLocks noChangeArrowheads="1"/>
          </p:cNvSpPr>
          <p:nvPr/>
        </p:nvSpPr>
        <p:spPr bwMode="auto">
          <a:xfrm>
            <a:off x="251521" y="4448691"/>
            <a:ext cx="1425590" cy="420469"/>
          </a:xfrm>
          <a:prstGeom prst="flowChartProcess">
            <a:avLst/>
          </a:prstGeom>
          <a:solidFill>
            <a:srgbClr val="92D05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latin typeface="Arial" charset="0"/>
                <a:cs typeface="Arial" charset="0"/>
              </a:rPr>
              <a:t>Statement 1</a:t>
            </a:r>
            <a:endParaRPr lang="en-US" sz="1600" dirty="0">
              <a:solidFill>
                <a:srgbClr val="0000FF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15616" y="3625279"/>
            <a:ext cx="6830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06600"/>
                </a:solidFill>
              </a:rPr>
              <a:t>True</a:t>
            </a:r>
          </a:p>
        </p:txBody>
      </p:sp>
      <p:sp>
        <p:nvSpPr>
          <p:cNvPr id="18" name="Oval 17"/>
          <p:cNvSpPr/>
          <p:nvPr/>
        </p:nvSpPr>
        <p:spPr>
          <a:xfrm>
            <a:off x="2951820" y="5877272"/>
            <a:ext cx="360040" cy="360040"/>
          </a:xfrm>
          <a:prstGeom prst="ellipse">
            <a:avLst/>
          </a:prstGeom>
          <a:solidFill>
            <a:srgbClr val="FF33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15" name="Straight Arrow Connector 14"/>
          <p:cNvCxnSpPr>
            <a:stCxn id="4" idx="4"/>
            <a:endCxn id="10" idx="0"/>
          </p:cNvCxnSpPr>
          <p:nvPr/>
        </p:nvCxnSpPr>
        <p:spPr>
          <a:xfrm>
            <a:off x="3131840" y="2708920"/>
            <a:ext cx="0" cy="50405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endCxn id="18" idx="0"/>
          </p:cNvCxnSpPr>
          <p:nvPr/>
        </p:nvCxnSpPr>
        <p:spPr>
          <a:xfrm>
            <a:off x="3131840" y="4653136"/>
            <a:ext cx="0" cy="1224136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0" idx="1"/>
          </p:cNvCxnSpPr>
          <p:nvPr/>
        </p:nvCxnSpPr>
        <p:spPr>
          <a:xfrm flipH="1">
            <a:off x="953103" y="3933056"/>
            <a:ext cx="738577" cy="0"/>
          </a:xfrm>
          <a:prstGeom prst="straightConnector1">
            <a:avLst/>
          </a:prstGeom>
          <a:ln w="28575">
            <a:solidFill>
              <a:srgbClr val="00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endCxn id="16" idx="0"/>
          </p:cNvCxnSpPr>
          <p:nvPr/>
        </p:nvCxnSpPr>
        <p:spPr>
          <a:xfrm flipH="1">
            <a:off x="964316" y="3933056"/>
            <a:ext cx="7286" cy="515635"/>
          </a:xfrm>
          <a:prstGeom prst="straightConnector1">
            <a:avLst/>
          </a:prstGeom>
          <a:ln w="28575">
            <a:solidFill>
              <a:srgbClr val="00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971600" y="4857581"/>
            <a:ext cx="1" cy="1199711"/>
          </a:xfrm>
          <a:prstGeom prst="straightConnector1">
            <a:avLst/>
          </a:prstGeom>
          <a:ln w="28575">
            <a:solidFill>
              <a:srgbClr val="00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endCxn id="18" idx="2"/>
          </p:cNvCxnSpPr>
          <p:nvPr/>
        </p:nvCxnSpPr>
        <p:spPr>
          <a:xfrm>
            <a:off x="953103" y="6057292"/>
            <a:ext cx="1998717" cy="0"/>
          </a:xfrm>
          <a:prstGeom prst="straightConnector1">
            <a:avLst/>
          </a:prstGeom>
          <a:ln w="28575">
            <a:solidFill>
              <a:srgbClr val="00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059832" y="4993431"/>
            <a:ext cx="6830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000FF"/>
                </a:solidFill>
              </a:rPr>
              <a:t>False</a:t>
            </a:r>
          </a:p>
        </p:txBody>
      </p:sp>
      <p:sp>
        <p:nvSpPr>
          <p:cNvPr id="36" name="Content Placeholder 4"/>
          <p:cNvSpPr>
            <a:spLocks noGrp="1"/>
          </p:cNvSpPr>
          <p:nvPr>
            <p:ph idx="1"/>
          </p:nvPr>
        </p:nvSpPr>
        <p:spPr>
          <a:xfrm>
            <a:off x="4593434" y="2359421"/>
            <a:ext cx="4299045" cy="421507"/>
          </a:xfrm>
        </p:spPr>
        <p:txBody>
          <a:bodyPr>
            <a:noAutofit/>
          </a:bodyPr>
          <a:lstStyle/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33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the logical expression is </a:t>
            </a:r>
            <a:r>
              <a:rPr lang="en-US" sz="2000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true</a:t>
            </a:r>
            <a:r>
              <a:rPr lang="en-US" sz="2000" dirty="0">
                <a:solidFill>
                  <a:srgbClr val="FF33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</p:txBody>
      </p:sp>
      <p:sp>
        <p:nvSpPr>
          <p:cNvPr id="37" name="Content Placeholder 4"/>
          <p:cNvSpPr txBox="1">
            <a:spLocks/>
          </p:cNvSpPr>
          <p:nvPr/>
        </p:nvSpPr>
        <p:spPr>
          <a:xfrm>
            <a:off x="4889850" y="2719461"/>
            <a:ext cx="4146646" cy="421507"/>
          </a:xfrm>
          <a:prstGeom prst="rect">
            <a:avLst/>
          </a:prstGeom>
        </p:spPr>
        <p:txBody>
          <a:bodyPr vert="horz">
            <a:no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Statement 1 is executed</a:t>
            </a:r>
          </a:p>
        </p:txBody>
      </p:sp>
      <p:sp>
        <p:nvSpPr>
          <p:cNvPr id="38" name="Content Placeholder 4"/>
          <p:cNvSpPr txBox="1">
            <a:spLocks/>
          </p:cNvSpPr>
          <p:nvPr/>
        </p:nvSpPr>
        <p:spPr>
          <a:xfrm>
            <a:off x="4889850" y="3079501"/>
            <a:ext cx="4146646" cy="421507"/>
          </a:xfrm>
          <a:prstGeom prst="rect">
            <a:avLst/>
          </a:prstGeom>
        </p:spPr>
        <p:txBody>
          <a:bodyPr vert="horz">
            <a:no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Execution continues at point 2</a:t>
            </a:r>
          </a:p>
        </p:txBody>
      </p:sp>
      <p:sp>
        <p:nvSpPr>
          <p:cNvPr id="39" name="Content Placeholder 4"/>
          <p:cNvSpPr txBox="1">
            <a:spLocks/>
          </p:cNvSpPr>
          <p:nvPr/>
        </p:nvSpPr>
        <p:spPr>
          <a:xfrm>
            <a:off x="4593434" y="3727573"/>
            <a:ext cx="4299045" cy="421507"/>
          </a:xfrm>
          <a:prstGeom prst="rect">
            <a:avLst/>
          </a:prstGeom>
        </p:spPr>
        <p:txBody>
          <a:bodyPr vert="horz">
            <a:no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33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the logical expression is </a:t>
            </a:r>
            <a:r>
              <a:rPr lang="en-US" sz="2000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false</a:t>
            </a:r>
            <a:r>
              <a:rPr lang="en-US" sz="2000" dirty="0">
                <a:solidFill>
                  <a:srgbClr val="FF33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</p:txBody>
      </p:sp>
      <p:sp>
        <p:nvSpPr>
          <p:cNvPr id="40" name="Content Placeholder 4"/>
          <p:cNvSpPr txBox="1">
            <a:spLocks/>
          </p:cNvSpPr>
          <p:nvPr/>
        </p:nvSpPr>
        <p:spPr>
          <a:xfrm>
            <a:off x="4889850" y="4087613"/>
            <a:ext cx="4146646" cy="421507"/>
          </a:xfrm>
          <a:prstGeom prst="rect">
            <a:avLst/>
          </a:prstGeom>
        </p:spPr>
        <p:txBody>
          <a:bodyPr vert="horz">
            <a:no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Statement 1 is NOT executed</a:t>
            </a:r>
          </a:p>
        </p:txBody>
      </p:sp>
      <p:sp>
        <p:nvSpPr>
          <p:cNvPr id="41" name="Content Placeholder 4"/>
          <p:cNvSpPr txBox="1">
            <a:spLocks/>
          </p:cNvSpPr>
          <p:nvPr/>
        </p:nvSpPr>
        <p:spPr>
          <a:xfrm>
            <a:off x="4889850" y="4447653"/>
            <a:ext cx="4146646" cy="421507"/>
          </a:xfrm>
          <a:prstGeom prst="rect">
            <a:avLst/>
          </a:prstGeom>
        </p:spPr>
        <p:txBody>
          <a:bodyPr vert="horz">
            <a:no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Execution continues at point 2</a:t>
            </a:r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3131840" y="6237312"/>
            <a:ext cx="0" cy="36004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0" y="908720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With a single statement</a:t>
            </a:r>
          </a:p>
        </p:txBody>
      </p:sp>
      <p:cxnSp>
        <p:nvCxnSpPr>
          <p:cNvPr id="45" name="Straight Connector 44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5883017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4" grpId="0" animBg="1"/>
      <p:bldP spid="10" grpId="0" animBg="1"/>
      <p:bldP spid="16" grpId="0" animBg="1"/>
      <p:bldP spid="17" grpId="0"/>
      <p:bldP spid="18" grpId="0" animBg="1"/>
      <p:bldP spid="33" grpId="0"/>
      <p:bldP spid="36" grpId="0" build="p"/>
      <p:bldP spid="37" grpId="0"/>
      <p:bldP spid="38" grpId="0"/>
      <p:bldP spid="39" grpId="0"/>
      <p:bldP spid="40" grpId="0"/>
      <p:bldP spid="41" grpId="0"/>
      <p:bldP spid="4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2.1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if 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Statement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0" y="908720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With a single statement – PROGRAM 1: ANALYSIS</a:t>
            </a:r>
          </a:p>
        </p:txBody>
      </p:sp>
      <p:cxnSp>
        <p:nvCxnSpPr>
          <p:cNvPr id="29" name="Straight Connector 28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51520" y="1412776"/>
            <a:ext cx="8712968" cy="576064"/>
          </a:xfrm>
          <a:prstGeom prst="roundRect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Write a program that identifies the students who didn’t pass the course.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36951" y="2204864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619672" y="2204864"/>
            <a:ext cx="7344816" cy="50405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Student’s score </a:t>
            </a:r>
            <a:r>
              <a:rPr lang="en-US" dirty="0">
                <a:solidFill>
                  <a:srgbClr val="FF3399"/>
                </a:solidFill>
              </a:rPr>
              <a:t>(variable: score, type: </a:t>
            </a:r>
            <a:r>
              <a:rPr lang="en-US" dirty="0">
                <a:solidFill>
                  <a:srgbClr val="00B0F0"/>
                </a:solidFill>
              </a:rPr>
              <a:t>double</a:t>
            </a:r>
            <a:r>
              <a:rPr lang="en-US" dirty="0">
                <a:solidFill>
                  <a:srgbClr val="FF3399"/>
                </a:solidFill>
              </a:rPr>
              <a:t>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51520" y="2780928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634241" y="2780928"/>
            <a:ext cx="7344816" cy="50405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Letter grade = ‘F’ </a:t>
            </a:r>
            <a:r>
              <a:rPr lang="en-US" dirty="0">
                <a:solidFill>
                  <a:srgbClr val="FF3399"/>
                </a:solidFill>
              </a:rPr>
              <a:t>(variable: grade, type: </a:t>
            </a:r>
            <a:r>
              <a:rPr lang="en-US" dirty="0">
                <a:solidFill>
                  <a:srgbClr val="00B0F0"/>
                </a:solidFill>
              </a:rPr>
              <a:t>char</a:t>
            </a:r>
            <a:r>
              <a:rPr lang="en-US" dirty="0">
                <a:solidFill>
                  <a:srgbClr val="FF3399"/>
                </a:solidFill>
              </a:rPr>
              <a:t>)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251520" y="3356992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634241" y="3417608"/>
            <a:ext cx="7344816" cy="50405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if (</a:t>
            </a:r>
            <a:r>
              <a:rPr lang="en-US" dirty="0">
                <a:solidFill>
                  <a:srgbClr val="FF3399"/>
                </a:solidFill>
              </a:rPr>
              <a:t>score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&lt;60) </a:t>
            </a:r>
            <a:r>
              <a:rPr lang="en-US" dirty="0">
                <a:solidFill>
                  <a:srgbClr val="FF3399"/>
                </a:solidFill>
              </a:rPr>
              <a:t>grade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= ‘F’ 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51520" y="4149080"/>
            <a:ext cx="2160240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FLOWCHART</a:t>
            </a:r>
          </a:p>
        </p:txBody>
      </p:sp>
      <p:sp>
        <p:nvSpPr>
          <p:cNvPr id="65" name="AutoShape 67"/>
          <p:cNvSpPr>
            <a:spLocks noChangeArrowheads="1"/>
          </p:cNvSpPr>
          <p:nvPr/>
        </p:nvSpPr>
        <p:spPr bwMode="auto">
          <a:xfrm>
            <a:off x="7352204" y="2780928"/>
            <a:ext cx="1441450" cy="421858"/>
          </a:xfrm>
          <a:prstGeom prst="flowChartTerminator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Start</a:t>
            </a:r>
          </a:p>
        </p:txBody>
      </p:sp>
      <p:cxnSp>
        <p:nvCxnSpPr>
          <p:cNvPr id="66" name="Straight Arrow Connector 65"/>
          <p:cNvCxnSpPr>
            <a:stCxn id="65" idx="2"/>
          </p:cNvCxnSpPr>
          <p:nvPr/>
        </p:nvCxnSpPr>
        <p:spPr>
          <a:xfrm>
            <a:off x="8072929" y="3202786"/>
            <a:ext cx="1" cy="86819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AutoShape 68"/>
          <p:cNvSpPr>
            <a:spLocks noChangeArrowheads="1"/>
          </p:cNvSpPr>
          <p:nvPr/>
        </p:nvSpPr>
        <p:spPr bwMode="auto">
          <a:xfrm>
            <a:off x="7137892" y="4075026"/>
            <a:ext cx="1870075" cy="358775"/>
          </a:xfrm>
          <a:prstGeom prst="flowChartInputOutpu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Read </a:t>
            </a:r>
            <a:r>
              <a:rPr lang="en-US" sz="1600" dirty="0">
                <a:latin typeface="Arial" charset="0"/>
                <a:cs typeface="Arial" charset="0"/>
              </a:rPr>
              <a:t>score</a:t>
            </a:r>
            <a:endParaRPr lang="en-US" sz="1600" dirty="0"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68" name="Straight Arrow Connector 67"/>
          <p:cNvCxnSpPr/>
          <p:nvPr/>
        </p:nvCxnSpPr>
        <p:spPr>
          <a:xfrm>
            <a:off x="8072929" y="4426922"/>
            <a:ext cx="1" cy="29212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AutoShape 73"/>
          <p:cNvSpPr>
            <a:spLocks noChangeArrowheads="1"/>
          </p:cNvSpPr>
          <p:nvPr/>
        </p:nvSpPr>
        <p:spPr bwMode="auto">
          <a:xfrm>
            <a:off x="7140375" y="4724945"/>
            <a:ext cx="1798488" cy="576263"/>
          </a:xfrm>
          <a:prstGeom prst="flowChartDecision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Arial" charset="0"/>
                <a:cs typeface="Arial" charset="0"/>
              </a:rPr>
              <a:t>score</a:t>
            </a:r>
            <a:r>
              <a:rPr lang="en-US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&lt; 60?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741489" y="4633391"/>
            <a:ext cx="6830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06600"/>
                </a:solidFill>
              </a:rPr>
              <a:t>True</a:t>
            </a:r>
          </a:p>
        </p:txBody>
      </p:sp>
      <p:cxnSp>
        <p:nvCxnSpPr>
          <p:cNvPr id="71" name="Straight Arrow Connector 70"/>
          <p:cNvCxnSpPr/>
          <p:nvPr/>
        </p:nvCxnSpPr>
        <p:spPr>
          <a:xfrm flipH="1">
            <a:off x="4797273" y="5032921"/>
            <a:ext cx="7286" cy="631156"/>
          </a:xfrm>
          <a:prstGeom prst="straightConnector1">
            <a:avLst/>
          </a:prstGeom>
          <a:ln w="28575">
            <a:solidFill>
              <a:srgbClr val="00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 flipH="1">
            <a:off x="6597473" y="5013176"/>
            <a:ext cx="573607" cy="5789"/>
          </a:xfrm>
          <a:prstGeom prst="straightConnector1">
            <a:avLst/>
          </a:prstGeom>
          <a:ln w="28575">
            <a:solidFill>
              <a:srgbClr val="00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AutoShape 72"/>
          <p:cNvSpPr>
            <a:spLocks noChangeArrowheads="1"/>
          </p:cNvSpPr>
          <p:nvPr/>
        </p:nvSpPr>
        <p:spPr bwMode="auto">
          <a:xfrm>
            <a:off x="5157313" y="4808731"/>
            <a:ext cx="1425590" cy="420469"/>
          </a:xfrm>
          <a:prstGeom prst="flowChartProcess">
            <a:avLst/>
          </a:prstGeom>
          <a:solidFill>
            <a:srgbClr val="92D05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latin typeface="Arial" charset="0"/>
                <a:cs typeface="Arial" charset="0"/>
              </a:rPr>
              <a:t>grade = ‘F’</a:t>
            </a:r>
            <a:endParaRPr lang="en-US" sz="1600" dirty="0">
              <a:solidFill>
                <a:srgbClr val="0000FF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74" name="Straight Arrow Connector 73"/>
          <p:cNvCxnSpPr/>
          <p:nvPr/>
        </p:nvCxnSpPr>
        <p:spPr>
          <a:xfrm flipH="1" flipV="1">
            <a:off x="4788024" y="5013076"/>
            <a:ext cx="369290" cy="100"/>
          </a:xfrm>
          <a:prstGeom prst="straightConnector1">
            <a:avLst/>
          </a:prstGeom>
          <a:ln w="28575">
            <a:solidFill>
              <a:srgbClr val="00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/>
          <p:nvPr/>
        </p:nvCxnSpPr>
        <p:spPr>
          <a:xfrm>
            <a:off x="8039619" y="5301208"/>
            <a:ext cx="0" cy="36286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8218171" y="5281463"/>
            <a:ext cx="6830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000FF"/>
                </a:solidFill>
              </a:rPr>
              <a:t>False</a:t>
            </a:r>
          </a:p>
        </p:txBody>
      </p:sp>
      <p:sp>
        <p:nvSpPr>
          <p:cNvPr id="77" name="AutoShape 71"/>
          <p:cNvSpPr>
            <a:spLocks noChangeArrowheads="1"/>
          </p:cNvSpPr>
          <p:nvPr/>
        </p:nvSpPr>
        <p:spPr bwMode="auto">
          <a:xfrm>
            <a:off x="7101057" y="5877272"/>
            <a:ext cx="1944688" cy="358775"/>
          </a:xfrm>
          <a:prstGeom prst="flowChartInputOutpu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Print </a:t>
            </a:r>
            <a:r>
              <a:rPr lang="en-US" sz="1600" dirty="0">
                <a:solidFill>
                  <a:srgbClr val="0000FF"/>
                </a:solidFill>
                <a:latin typeface="Arial" charset="0"/>
                <a:cs typeface="Arial" charset="0"/>
              </a:rPr>
              <a:t>grade</a:t>
            </a:r>
            <a:endParaRPr lang="en-US" sz="1600" dirty="0">
              <a:solidFill>
                <a:srgbClr val="0000FF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78" name="Straight Arrow Connector 77"/>
          <p:cNvCxnSpPr/>
          <p:nvPr/>
        </p:nvCxnSpPr>
        <p:spPr>
          <a:xfrm>
            <a:off x="4804559" y="5664077"/>
            <a:ext cx="3233074" cy="0"/>
          </a:xfrm>
          <a:prstGeom prst="straightConnector1">
            <a:avLst/>
          </a:prstGeom>
          <a:ln w="28575">
            <a:solidFill>
              <a:srgbClr val="00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>
            <a:off x="8039619" y="5664077"/>
            <a:ext cx="3599" cy="238782"/>
          </a:xfrm>
          <a:prstGeom prst="straightConnector1">
            <a:avLst/>
          </a:prstGeom>
          <a:ln w="28575">
            <a:solidFill>
              <a:schemeClr val="tx1"/>
            </a:solidFill>
            <a:headEnd type="diamond" w="lg" len="lg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>
            <a:stCxn id="77" idx="4"/>
          </p:cNvCxnSpPr>
          <p:nvPr/>
        </p:nvCxnSpPr>
        <p:spPr>
          <a:xfrm flipH="1">
            <a:off x="8064786" y="6236047"/>
            <a:ext cx="8615" cy="14528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AutoShape 70"/>
          <p:cNvSpPr>
            <a:spLocks noChangeArrowheads="1"/>
          </p:cNvSpPr>
          <p:nvPr/>
        </p:nvSpPr>
        <p:spPr bwMode="auto">
          <a:xfrm>
            <a:off x="7352676" y="6391520"/>
            <a:ext cx="1441450" cy="421856"/>
          </a:xfrm>
          <a:prstGeom prst="flowChartTerminator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End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51520" y="5445224"/>
            <a:ext cx="4248472" cy="1296144"/>
          </a:xfrm>
          <a:prstGeom prst="roundRect">
            <a:avLst/>
          </a:prstGeom>
          <a:solidFill>
            <a:srgbClr val="FF33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If </a:t>
            </a:r>
            <a:r>
              <a:rPr lang="en-US" dirty="0">
                <a:solidFill>
                  <a:srgbClr val="0000FF"/>
                </a:solidFill>
              </a:rPr>
              <a:t>score </a:t>
            </a:r>
            <a:r>
              <a:rPr lang="en-US" dirty="0">
                <a:solidFill>
                  <a:schemeClr val="bg1"/>
                </a:solidFill>
              </a:rPr>
              <a:t>&gt;= 60, </a:t>
            </a:r>
            <a:r>
              <a:rPr lang="en-US" dirty="0">
                <a:solidFill>
                  <a:srgbClr val="0000FF"/>
                </a:solidFill>
              </a:rPr>
              <a:t>grade</a:t>
            </a:r>
            <a:r>
              <a:rPr lang="en-US" dirty="0">
                <a:solidFill>
                  <a:schemeClr val="bg1"/>
                </a:solidFill>
              </a:rPr>
              <a:t> will have no value to be printed. Therefore, we give an initial value to </a:t>
            </a:r>
            <a:r>
              <a:rPr lang="en-US" dirty="0">
                <a:solidFill>
                  <a:srgbClr val="0000FF"/>
                </a:solidFill>
              </a:rPr>
              <a:t>grade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251520" y="4869160"/>
            <a:ext cx="2124236" cy="504056"/>
          </a:xfrm>
          <a:prstGeom prst="roundRect">
            <a:avLst/>
          </a:prstGeom>
          <a:solidFill>
            <a:srgbClr val="FF33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NOTE THAT</a:t>
            </a:r>
          </a:p>
        </p:txBody>
      </p:sp>
      <p:sp>
        <p:nvSpPr>
          <p:cNvPr id="91" name="AutoShape 72"/>
          <p:cNvSpPr>
            <a:spLocks noChangeArrowheads="1"/>
          </p:cNvSpPr>
          <p:nvPr/>
        </p:nvSpPr>
        <p:spPr bwMode="auto">
          <a:xfrm>
            <a:off x="7380312" y="3429000"/>
            <a:ext cx="1425590" cy="420469"/>
          </a:xfrm>
          <a:prstGeom prst="flowChartProcess">
            <a:avLst/>
          </a:prstGeom>
          <a:solidFill>
            <a:srgbClr val="FFC0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latin typeface="Arial" charset="0"/>
                <a:cs typeface="Arial" charset="0"/>
              </a:rPr>
              <a:t>grade = ‘X’</a:t>
            </a:r>
            <a:endParaRPr lang="en-US" sz="1600" dirty="0">
              <a:solidFill>
                <a:srgbClr val="0000FF"/>
              </a:solidFill>
              <a:effectLst/>
              <a:latin typeface="Arial" charset="0"/>
              <a:cs typeface="Arial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0452653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00"/>
                            </p:stCondLst>
                            <p:childTnLst>
                              <p:par>
                                <p:cTn id="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5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500"/>
                            </p:stCondLst>
                            <p:childTnLst>
                              <p:par>
                                <p:cTn id="6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3000"/>
                            </p:stCondLst>
                            <p:childTnLst>
                              <p:par>
                                <p:cTn id="6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3500"/>
                            </p:stCondLst>
                            <p:childTnLst>
                              <p:par>
                                <p:cTn id="7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4000"/>
                            </p:stCondLst>
                            <p:childTnLst>
                              <p:par>
                                <p:cTn id="7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4500"/>
                            </p:stCondLst>
                            <p:childTnLst>
                              <p:par>
                                <p:cTn id="8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500"/>
                            </p:stCondLst>
                            <p:childTnLst>
                              <p:par>
                                <p:cTn id="9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6000"/>
                            </p:stCondLst>
                            <p:childTnLst>
                              <p:par>
                                <p:cTn id="9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6500"/>
                            </p:stCondLst>
                            <p:childTnLst>
                              <p:par>
                                <p:cTn id="10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7000"/>
                            </p:stCondLst>
                            <p:childTnLst>
                              <p:par>
                                <p:cTn id="10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7500"/>
                            </p:stCondLst>
                            <p:childTnLst>
                              <p:par>
                                <p:cTn id="10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5" grpId="0" animBg="1"/>
      <p:bldP spid="31" grpId="0" animBg="1"/>
      <p:bldP spid="34" grpId="0" animBg="1"/>
      <p:bldP spid="35" grpId="0" animBg="1"/>
      <p:bldP spid="43" grpId="0" animBg="1"/>
      <p:bldP spid="44" grpId="0" animBg="1"/>
      <p:bldP spid="45" grpId="0" animBg="1"/>
      <p:bldP spid="46" grpId="0" animBg="1"/>
      <p:bldP spid="65" grpId="0" animBg="1"/>
      <p:bldP spid="67" grpId="0" animBg="1"/>
      <p:bldP spid="69" grpId="0" animBg="1"/>
      <p:bldP spid="70" grpId="0"/>
      <p:bldP spid="73" grpId="0" animBg="1"/>
      <p:bldP spid="76" grpId="0"/>
      <p:bldP spid="77" grpId="0" animBg="1"/>
      <p:bldP spid="83" grpId="0" animBg="1"/>
      <p:bldP spid="89" grpId="0" animBg="1"/>
      <p:bldP spid="90" grpId="0" animBg="1"/>
      <p:bldP spid="9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With a single statement - PROGRAM 1: CODE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/>
          <p:cNvGrpSpPr/>
          <p:nvPr/>
        </p:nvGrpSpPr>
        <p:grpSpPr>
          <a:xfrm>
            <a:off x="179512" y="1324500"/>
            <a:ext cx="8784976" cy="5016758"/>
            <a:chOff x="323528" y="1236822"/>
            <a:chExt cx="7848872" cy="4717377"/>
          </a:xfrm>
        </p:grpSpPr>
        <p:sp>
          <p:nvSpPr>
            <p:cNvPr id="21" name="TextBox 20"/>
            <p:cNvSpPr txBox="1"/>
            <p:nvPr/>
          </p:nvSpPr>
          <p:spPr>
            <a:xfrm>
              <a:off x="971600" y="1236822"/>
              <a:ext cx="7200800" cy="4717377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// import necessary libraries</a:t>
              </a:r>
            </a:p>
            <a:p>
              <a:r>
                <a:rPr lang="en-US" sz="1600" dirty="0">
                  <a:solidFill>
                    <a:srgbClr val="00B0F0"/>
                  </a:solidFill>
                </a:rPr>
                <a:t>import</a:t>
              </a:r>
              <a:r>
                <a:rPr lang="en-US" sz="1600" dirty="0">
                  <a:solidFill>
                    <a:srgbClr val="0000FF"/>
                  </a:solidFill>
                </a:rPr>
                <a:t> </a:t>
              </a:r>
              <a:r>
                <a:rPr lang="en-US" sz="1600" dirty="0" err="1">
                  <a:solidFill>
                    <a:srgbClr val="0000FF"/>
                  </a:solidFill>
                </a:rPr>
                <a:t>java.util.Scanner</a:t>
              </a:r>
              <a:r>
                <a:rPr lang="en-US" sz="1600" dirty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600" dirty="0">
                  <a:solidFill>
                    <a:srgbClr val="00B0F0"/>
                  </a:solidFill>
                </a:rPr>
                <a:t>public class</a:t>
              </a:r>
              <a:r>
                <a:rPr lang="en-US" sz="1600" dirty="0">
                  <a:solidFill>
                    <a:srgbClr val="0000FF"/>
                  </a:solidFill>
                </a:rPr>
                <a:t> ifStatement1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{</a:t>
              </a:r>
            </a:p>
            <a:p>
              <a:r>
                <a:rPr lang="en-US" sz="1600" dirty="0">
                  <a:solidFill>
                    <a:srgbClr val="00B0F0"/>
                  </a:solidFill>
                </a:rPr>
                <a:t>      public static void</a:t>
              </a:r>
              <a:r>
                <a:rPr lang="en-US" sz="1600" dirty="0">
                  <a:solidFill>
                    <a:srgbClr val="0000FF"/>
                  </a:solidFill>
                </a:rPr>
                <a:t> main (String[] </a:t>
              </a:r>
              <a:r>
                <a:rPr lang="en-US" sz="1600" dirty="0" err="1">
                  <a:solidFill>
                    <a:srgbClr val="0000FF"/>
                  </a:solidFill>
                </a:rPr>
                <a:t>args</a:t>
              </a:r>
              <a:r>
                <a:rPr lang="en-US" sz="1600" dirty="0">
                  <a:solidFill>
                    <a:srgbClr val="0000FF"/>
                  </a:solidFill>
                </a:rPr>
                <a:t>)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     {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         Scanner console = </a:t>
              </a:r>
              <a:r>
                <a:rPr lang="en-US" sz="1600" dirty="0">
                  <a:solidFill>
                    <a:srgbClr val="00B0F0"/>
                  </a:solidFill>
                </a:rPr>
                <a:t>new</a:t>
              </a:r>
              <a:r>
                <a:rPr lang="en-US" sz="1600" dirty="0">
                  <a:solidFill>
                    <a:srgbClr val="0000FF"/>
                  </a:solidFill>
                </a:rPr>
                <a:t> Scanner (</a:t>
              </a:r>
              <a:r>
                <a:rPr lang="en-US" sz="1600" dirty="0" err="1">
                  <a:solidFill>
                    <a:srgbClr val="0000FF"/>
                  </a:solidFill>
                </a:rPr>
                <a:t>System.in</a:t>
              </a:r>
              <a:r>
                <a:rPr lang="en-US" sz="1600" dirty="0">
                  <a:solidFill>
                    <a:srgbClr val="0000FF"/>
                  </a:solidFill>
                </a:rPr>
                <a:t>);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        </a:t>
              </a:r>
              <a:r>
                <a:rPr lang="en-US" sz="1600" dirty="0"/>
                <a:t>// Declaration section: to declare needed variables</a:t>
              </a:r>
            </a:p>
            <a:p>
              <a:r>
                <a:rPr lang="en-US" sz="1600" dirty="0"/>
                <a:t>	</a:t>
              </a:r>
              <a:r>
                <a:rPr lang="en-US" sz="1600" dirty="0">
                  <a:solidFill>
                    <a:srgbClr val="00B0F0"/>
                  </a:solidFill>
                </a:rPr>
                <a:t>double</a:t>
              </a:r>
              <a:r>
                <a:rPr lang="en-US" sz="1600" dirty="0">
                  <a:solidFill>
                    <a:srgbClr val="0000FF"/>
                  </a:solidFill>
                </a:rPr>
                <a:t> score;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	</a:t>
              </a:r>
              <a:r>
                <a:rPr lang="en-US" sz="1600" dirty="0">
                  <a:solidFill>
                    <a:srgbClr val="00B0F0"/>
                  </a:solidFill>
                </a:rPr>
                <a:t>char</a:t>
              </a:r>
              <a:r>
                <a:rPr lang="en-US" sz="1600" dirty="0">
                  <a:solidFill>
                    <a:srgbClr val="0000FF"/>
                  </a:solidFill>
                </a:rPr>
                <a:t> grade = ‘X’;		</a:t>
              </a:r>
              <a:r>
                <a:rPr lang="en-US" sz="1600" dirty="0">
                  <a:solidFill>
                    <a:srgbClr val="00B050"/>
                  </a:solidFill>
                </a:rPr>
                <a:t>//initialize grade</a:t>
              </a:r>
            </a:p>
            <a:p>
              <a:r>
                <a:rPr lang="en-US" sz="1600" dirty="0"/>
                <a:t>         // Input section: to enter values of used variables</a:t>
              </a:r>
            </a:p>
            <a:p>
              <a:r>
                <a:rPr lang="en-US" sz="1600" dirty="0"/>
                <a:t>	</a:t>
              </a:r>
              <a:r>
                <a:rPr lang="en-US" sz="16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600" dirty="0">
                  <a:solidFill>
                    <a:srgbClr val="0000FF"/>
                  </a:solidFill>
                </a:rPr>
                <a:t> (“Enter student’s score”);   </a:t>
              </a:r>
              <a:r>
                <a:rPr lang="en-US" sz="1600" dirty="0">
                  <a:solidFill>
                    <a:srgbClr val="00B050"/>
                  </a:solidFill>
                </a:rPr>
                <a:t>//prompt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	score = </a:t>
              </a:r>
              <a:r>
                <a:rPr lang="en-US" sz="1600" dirty="0" err="1">
                  <a:solidFill>
                    <a:srgbClr val="0000FF"/>
                  </a:solidFill>
                </a:rPr>
                <a:t>console.</a:t>
              </a:r>
              <a:r>
                <a:rPr lang="en-US" sz="1600" dirty="0" err="1">
                  <a:solidFill>
                    <a:srgbClr val="00B050"/>
                  </a:solidFill>
                </a:rPr>
                <a:t>nextDouble</a:t>
              </a:r>
              <a:r>
                <a:rPr lang="en-US" sz="1600" dirty="0">
                  <a:solidFill>
                    <a:srgbClr val="00B050"/>
                  </a:solidFill>
                </a:rPr>
                <a:t>()</a:t>
              </a:r>
              <a:r>
                <a:rPr lang="en-US" sz="1600" dirty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600" dirty="0"/>
                <a:t>         // Processing section: processing statements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	</a:t>
              </a:r>
              <a:r>
                <a:rPr lang="en-US" sz="1600" dirty="0">
                  <a:solidFill>
                    <a:srgbClr val="00B0F0"/>
                  </a:solidFill>
                </a:rPr>
                <a:t>if</a:t>
              </a:r>
              <a:r>
                <a:rPr lang="en-US" sz="1600" dirty="0">
                  <a:solidFill>
                    <a:srgbClr val="0000FF"/>
                  </a:solidFill>
                </a:rPr>
                <a:t> (score &lt; 60.0)		</a:t>
              </a:r>
              <a:r>
                <a:rPr lang="en-US" sz="1600" dirty="0">
                  <a:solidFill>
                    <a:srgbClr val="00B050"/>
                  </a:solidFill>
                </a:rPr>
                <a:t>// score is double</a:t>
              </a:r>
              <a:r>
                <a:rPr lang="en-US" sz="1600" dirty="0">
                  <a:solidFill>
                    <a:srgbClr val="0000FF"/>
                  </a:solidFill>
                </a:rPr>
                <a:t> 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	   grade = ‘F’;</a:t>
              </a:r>
            </a:p>
            <a:p>
              <a:r>
                <a:rPr lang="en-US" sz="1600" dirty="0"/>
                <a:t>         // Output section: display program output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	</a:t>
              </a:r>
              <a:r>
                <a:rPr lang="en-US" sz="1600" dirty="0" err="1">
                  <a:solidFill>
                    <a:srgbClr val="0000FF"/>
                  </a:solidFill>
                </a:rPr>
                <a:t>System.out.printf</a:t>
              </a:r>
              <a:r>
                <a:rPr lang="en-US" sz="1600" dirty="0">
                  <a:solidFill>
                    <a:srgbClr val="0000FF"/>
                  </a:solidFill>
                </a:rPr>
                <a:t> (“Student’s Grade = %3c“, grade);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     } </a:t>
              </a:r>
              <a:r>
                <a:rPr lang="en-US" sz="1600" dirty="0"/>
                <a:t>// end main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} </a:t>
              </a:r>
              <a:r>
                <a:rPr lang="en-US" sz="1600" dirty="0"/>
                <a:t>// end class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23528" y="1236822"/>
              <a:ext cx="576064" cy="47173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15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16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17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18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19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20</a:t>
              </a:r>
            </a:p>
          </p:txBody>
        </p:sp>
      </p:grpSp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2.1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if 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Statement</a:t>
            </a: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426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/>
          <p:cNvGrpSpPr/>
          <p:nvPr/>
        </p:nvGrpSpPr>
        <p:grpSpPr>
          <a:xfrm>
            <a:off x="899592" y="6093296"/>
            <a:ext cx="2952328" cy="720080"/>
            <a:chOff x="179512" y="1988840"/>
            <a:chExt cx="2952328" cy="720080"/>
          </a:xfrm>
        </p:grpSpPr>
        <p:sp>
          <p:nvSpPr>
            <p:cNvPr id="49" name="Rounded Rectangle 48"/>
            <p:cNvSpPr/>
            <p:nvPr/>
          </p:nvSpPr>
          <p:spPr>
            <a:xfrm>
              <a:off x="971600" y="1988840"/>
              <a:ext cx="2160240" cy="72008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50.5</a:t>
              </a:r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179512" y="1988840"/>
              <a:ext cx="720080" cy="72008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score</a:t>
              </a: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6012160" y="6093296"/>
            <a:ext cx="2952328" cy="720080"/>
            <a:chOff x="179512" y="1988840"/>
            <a:chExt cx="2952328" cy="720080"/>
          </a:xfrm>
        </p:grpSpPr>
        <p:sp>
          <p:nvSpPr>
            <p:cNvPr id="52" name="Rounded Rectangle 51"/>
            <p:cNvSpPr/>
            <p:nvPr/>
          </p:nvSpPr>
          <p:spPr>
            <a:xfrm>
              <a:off x="971600" y="1988840"/>
              <a:ext cx="2160240" cy="72008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F</a:t>
              </a:r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179512" y="1988840"/>
              <a:ext cx="720080" cy="72008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grade</a:t>
              </a:r>
            </a:p>
          </p:txBody>
        </p:sp>
      </p:grpSp>
      <p:sp>
        <p:nvSpPr>
          <p:cNvPr id="15" name="Rectangle 14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With a single statement - PROGRAM 1: CASE 1 (TRUE)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2.1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if 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Statement</a:t>
            </a: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8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650334" y="3501008"/>
            <a:ext cx="8314155" cy="523220"/>
            <a:chOff x="1029207" y="1236822"/>
            <a:chExt cx="7143193" cy="523220"/>
          </a:xfrm>
        </p:grpSpPr>
        <p:sp>
          <p:nvSpPr>
            <p:cNvPr id="11" name="TextBox 10"/>
            <p:cNvSpPr txBox="1"/>
            <p:nvPr/>
          </p:nvSpPr>
          <p:spPr>
            <a:xfrm>
              <a:off x="1249811" y="1236822"/>
              <a:ext cx="6922589" cy="523220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Enter student’s score</a:t>
              </a:r>
            </a:p>
            <a:p>
              <a:r>
                <a:rPr lang="en-US" sz="1400" dirty="0">
                  <a:solidFill>
                    <a:srgbClr val="FFC000"/>
                  </a:solidFill>
                </a:rPr>
                <a:t>50.5</a:t>
              </a:r>
              <a:r>
                <a:rPr lang="en-US" sz="1400" dirty="0">
                  <a:solidFill>
                    <a:schemeClr val="bg1"/>
                  </a:solidFill>
                </a:rPr>
                <a:t>_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29207" y="1236822"/>
              <a:ext cx="2160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254823" y="1324500"/>
            <a:ext cx="8709665" cy="584775"/>
            <a:chOff x="390814" y="1236822"/>
            <a:chExt cx="7781586" cy="549878"/>
          </a:xfrm>
        </p:grpSpPr>
        <p:sp>
          <p:nvSpPr>
            <p:cNvPr id="14" name="TextBox 13"/>
            <p:cNvSpPr txBox="1"/>
            <p:nvPr/>
          </p:nvSpPr>
          <p:spPr>
            <a:xfrm>
              <a:off x="971600" y="1236822"/>
              <a:ext cx="7200800" cy="549878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	</a:t>
              </a:r>
              <a:r>
                <a:rPr lang="en-US" sz="1600" dirty="0">
                  <a:solidFill>
                    <a:srgbClr val="00B0F0"/>
                  </a:solidFill>
                </a:rPr>
                <a:t>double</a:t>
              </a:r>
              <a:r>
                <a:rPr lang="en-US" sz="1600" dirty="0">
                  <a:solidFill>
                    <a:srgbClr val="0000FF"/>
                  </a:solidFill>
                </a:rPr>
                <a:t> score;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	</a:t>
              </a:r>
              <a:r>
                <a:rPr lang="en-US" sz="1600" dirty="0">
                  <a:solidFill>
                    <a:srgbClr val="00B0F0"/>
                  </a:solidFill>
                </a:rPr>
                <a:t>char</a:t>
              </a:r>
              <a:r>
                <a:rPr lang="en-US" sz="1600" dirty="0">
                  <a:solidFill>
                    <a:srgbClr val="0000FF"/>
                  </a:solidFill>
                </a:rPr>
                <a:t> grade = ‘X’;		</a:t>
              </a:r>
              <a:r>
                <a:rPr lang="en-US" sz="1600" dirty="0">
                  <a:solidFill>
                    <a:srgbClr val="00B050"/>
                  </a:solidFill>
                </a:rPr>
                <a:t>//initialize grade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90814" y="1236822"/>
              <a:ext cx="576064" cy="5498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10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899592" y="4077072"/>
            <a:ext cx="2952328" cy="720080"/>
            <a:chOff x="179512" y="1988840"/>
            <a:chExt cx="2952328" cy="720080"/>
          </a:xfrm>
        </p:grpSpPr>
        <p:sp>
          <p:nvSpPr>
            <p:cNvPr id="25" name="Rounded Rectangle 24"/>
            <p:cNvSpPr/>
            <p:nvPr/>
          </p:nvSpPr>
          <p:spPr>
            <a:xfrm>
              <a:off x="971600" y="1988840"/>
              <a:ext cx="2160240" cy="72008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50.5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179512" y="1988840"/>
              <a:ext cx="720080" cy="72008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score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6012160" y="4077072"/>
            <a:ext cx="2952328" cy="720080"/>
            <a:chOff x="179512" y="1988840"/>
            <a:chExt cx="2952328" cy="720080"/>
          </a:xfrm>
        </p:grpSpPr>
        <p:sp>
          <p:nvSpPr>
            <p:cNvPr id="32" name="Rounded Rectangle 31"/>
            <p:cNvSpPr/>
            <p:nvPr/>
          </p:nvSpPr>
          <p:spPr>
            <a:xfrm>
              <a:off x="971600" y="1988840"/>
              <a:ext cx="2160240" cy="72008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X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179512" y="1988840"/>
              <a:ext cx="720080" cy="72008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grade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254823" y="2844227"/>
            <a:ext cx="8709665" cy="614972"/>
            <a:chOff x="390814" y="2665859"/>
            <a:chExt cx="7781586" cy="578273"/>
          </a:xfrm>
        </p:grpSpPr>
        <p:sp>
          <p:nvSpPr>
            <p:cNvPr id="37" name="TextBox 36"/>
            <p:cNvSpPr txBox="1"/>
            <p:nvPr/>
          </p:nvSpPr>
          <p:spPr>
            <a:xfrm>
              <a:off x="971600" y="2665859"/>
              <a:ext cx="7200800" cy="549878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	</a:t>
              </a:r>
              <a:r>
                <a:rPr lang="en-US" sz="16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600" dirty="0">
                  <a:solidFill>
                    <a:srgbClr val="0000FF"/>
                  </a:solidFill>
                </a:rPr>
                <a:t> (“Enter student’s score”);   </a:t>
              </a:r>
              <a:r>
                <a:rPr lang="en-US" sz="1600" dirty="0">
                  <a:solidFill>
                    <a:srgbClr val="00B050"/>
                  </a:solidFill>
                </a:rPr>
                <a:t>//prompt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	score = </a:t>
              </a:r>
              <a:r>
                <a:rPr lang="en-US" sz="1600" dirty="0" err="1">
                  <a:solidFill>
                    <a:srgbClr val="0000FF"/>
                  </a:solidFill>
                </a:rPr>
                <a:t>console.</a:t>
              </a:r>
              <a:r>
                <a:rPr lang="en-US" sz="1600" dirty="0" err="1">
                  <a:solidFill>
                    <a:srgbClr val="00B050"/>
                  </a:solidFill>
                </a:rPr>
                <a:t>nextDouble</a:t>
              </a:r>
              <a:r>
                <a:rPr lang="en-US" sz="1600" dirty="0">
                  <a:solidFill>
                    <a:srgbClr val="00B050"/>
                  </a:solidFill>
                </a:rPr>
                <a:t>()</a:t>
              </a:r>
              <a:r>
                <a:rPr lang="en-US" sz="1600" dirty="0">
                  <a:solidFill>
                    <a:srgbClr val="0000FF"/>
                  </a:solidFill>
                </a:rPr>
                <a:t>;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90814" y="2694254"/>
              <a:ext cx="576064" cy="5498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13</a:t>
              </a: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254823" y="4869160"/>
            <a:ext cx="8709665" cy="584776"/>
            <a:chOff x="390814" y="1236822"/>
            <a:chExt cx="7781586" cy="549879"/>
          </a:xfrm>
        </p:grpSpPr>
        <p:sp>
          <p:nvSpPr>
            <p:cNvPr id="40" name="TextBox 39"/>
            <p:cNvSpPr txBox="1"/>
            <p:nvPr/>
          </p:nvSpPr>
          <p:spPr>
            <a:xfrm>
              <a:off x="971600" y="1236823"/>
              <a:ext cx="7200800" cy="549878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0000FF"/>
                  </a:solidFill>
                </a:rPr>
                <a:t>	</a:t>
              </a:r>
              <a:r>
                <a:rPr lang="en-US" sz="1600" dirty="0">
                  <a:solidFill>
                    <a:srgbClr val="00B0F0"/>
                  </a:solidFill>
                </a:rPr>
                <a:t>if</a:t>
              </a:r>
              <a:r>
                <a:rPr lang="en-US" sz="1600" dirty="0">
                  <a:solidFill>
                    <a:srgbClr val="0000FF"/>
                  </a:solidFill>
                </a:rPr>
                <a:t> (score &lt; 60.0)		</a:t>
              </a:r>
              <a:r>
                <a:rPr lang="en-US" sz="1600" dirty="0">
                  <a:solidFill>
                    <a:srgbClr val="00B050"/>
                  </a:solidFill>
                </a:rPr>
                <a:t>// score is double</a:t>
              </a:r>
              <a:r>
                <a:rPr lang="en-US" sz="1600" dirty="0">
                  <a:solidFill>
                    <a:srgbClr val="0000FF"/>
                  </a:solidFill>
                </a:rPr>
                <a:t> 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	   grade = ‘F’;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90814" y="1236822"/>
              <a:ext cx="576064" cy="5498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15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16</a:t>
              </a: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899592" y="1988840"/>
            <a:ext cx="2952328" cy="720080"/>
            <a:chOff x="179512" y="1988840"/>
            <a:chExt cx="2952328" cy="720080"/>
          </a:xfrm>
        </p:grpSpPr>
        <p:sp>
          <p:nvSpPr>
            <p:cNvPr id="43" name="Rounded Rectangle 42"/>
            <p:cNvSpPr/>
            <p:nvPr/>
          </p:nvSpPr>
          <p:spPr>
            <a:xfrm>
              <a:off x="971600" y="1988840"/>
              <a:ext cx="2160240" cy="72008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???</a:t>
              </a:r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179512" y="1988840"/>
              <a:ext cx="720080" cy="72008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score</a:t>
              </a: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6012160" y="1988840"/>
            <a:ext cx="2952328" cy="720080"/>
            <a:chOff x="179512" y="1988840"/>
            <a:chExt cx="2952328" cy="720080"/>
          </a:xfrm>
        </p:grpSpPr>
        <p:sp>
          <p:nvSpPr>
            <p:cNvPr id="46" name="Rounded Rectangle 45"/>
            <p:cNvSpPr/>
            <p:nvPr/>
          </p:nvSpPr>
          <p:spPr>
            <a:xfrm>
              <a:off x="971600" y="1988840"/>
              <a:ext cx="2160240" cy="72008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X</a:t>
              </a:r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179512" y="1988840"/>
              <a:ext cx="720080" cy="72008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grade</a:t>
              </a:r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650335" y="5498068"/>
            <a:ext cx="8314154" cy="523220"/>
            <a:chOff x="1029207" y="1236822"/>
            <a:chExt cx="7143193" cy="523220"/>
          </a:xfrm>
        </p:grpSpPr>
        <p:sp>
          <p:nvSpPr>
            <p:cNvPr id="55" name="TextBox 54"/>
            <p:cNvSpPr txBox="1"/>
            <p:nvPr/>
          </p:nvSpPr>
          <p:spPr>
            <a:xfrm>
              <a:off x="1249811" y="1236822"/>
              <a:ext cx="6922589" cy="523220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Enter student’s score</a:t>
              </a:r>
            </a:p>
            <a:p>
              <a:r>
                <a:rPr lang="en-US" sz="1400" dirty="0">
                  <a:solidFill>
                    <a:srgbClr val="FFC000"/>
                  </a:solidFill>
                </a:rPr>
                <a:t>50.5</a:t>
              </a:r>
              <a:r>
                <a:rPr lang="en-US" sz="1400" dirty="0">
                  <a:solidFill>
                    <a:schemeClr val="bg1"/>
                  </a:solidFill>
                </a:rPr>
                <a:t>_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1029207" y="1236822"/>
              <a:ext cx="2160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65978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With a single statement - PROGRAM 1: CASE 1 (TRUE)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2.1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if 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Statement</a:t>
            </a: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9</a:t>
            </a:fld>
            <a:endParaRPr lang="en-US"/>
          </a:p>
        </p:txBody>
      </p:sp>
      <p:grpSp>
        <p:nvGrpSpPr>
          <p:cNvPr id="39" name="Group 38"/>
          <p:cNvGrpSpPr/>
          <p:nvPr/>
        </p:nvGrpSpPr>
        <p:grpSpPr>
          <a:xfrm>
            <a:off x="254823" y="1268760"/>
            <a:ext cx="8709665" cy="584776"/>
            <a:chOff x="390814" y="1236822"/>
            <a:chExt cx="7781586" cy="549879"/>
          </a:xfrm>
        </p:grpSpPr>
        <p:sp>
          <p:nvSpPr>
            <p:cNvPr id="40" name="TextBox 39"/>
            <p:cNvSpPr txBox="1"/>
            <p:nvPr/>
          </p:nvSpPr>
          <p:spPr>
            <a:xfrm>
              <a:off x="971600" y="1236823"/>
              <a:ext cx="7200800" cy="549878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0000FF"/>
                  </a:solidFill>
                </a:rPr>
                <a:t>	</a:t>
              </a:r>
              <a:r>
                <a:rPr lang="en-US" sz="1600" dirty="0">
                  <a:solidFill>
                    <a:srgbClr val="00B0F0"/>
                  </a:solidFill>
                </a:rPr>
                <a:t>if</a:t>
              </a:r>
              <a:r>
                <a:rPr lang="en-US" sz="1600" dirty="0">
                  <a:solidFill>
                    <a:srgbClr val="0000FF"/>
                  </a:solidFill>
                </a:rPr>
                <a:t> (score &lt; 60.0)		</a:t>
              </a:r>
              <a:r>
                <a:rPr lang="en-US" sz="1600" dirty="0">
                  <a:solidFill>
                    <a:srgbClr val="00B050"/>
                  </a:solidFill>
                </a:rPr>
                <a:t>// score is double</a:t>
              </a:r>
              <a:r>
                <a:rPr lang="en-US" sz="1600" dirty="0">
                  <a:solidFill>
                    <a:srgbClr val="0000FF"/>
                  </a:solidFill>
                </a:rPr>
                <a:t> 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	   grade = ‘F’;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90814" y="1236822"/>
              <a:ext cx="576064" cy="5498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15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16</a:t>
              </a: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899592" y="2564904"/>
            <a:ext cx="2952328" cy="720080"/>
            <a:chOff x="179512" y="1988840"/>
            <a:chExt cx="2952328" cy="720080"/>
          </a:xfrm>
        </p:grpSpPr>
        <p:sp>
          <p:nvSpPr>
            <p:cNvPr id="49" name="Rounded Rectangle 48"/>
            <p:cNvSpPr/>
            <p:nvPr/>
          </p:nvSpPr>
          <p:spPr>
            <a:xfrm>
              <a:off x="971600" y="1988840"/>
              <a:ext cx="2160240" cy="72008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50.5</a:t>
              </a:r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179512" y="1988840"/>
              <a:ext cx="720080" cy="72008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score</a:t>
              </a: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6012160" y="2564904"/>
            <a:ext cx="2952328" cy="720080"/>
            <a:chOff x="179512" y="1988840"/>
            <a:chExt cx="2952328" cy="720080"/>
          </a:xfrm>
        </p:grpSpPr>
        <p:sp>
          <p:nvSpPr>
            <p:cNvPr id="52" name="Rounded Rectangle 51"/>
            <p:cNvSpPr/>
            <p:nvPr/>
          </p:nvSpPr>
          <p:spPr>
            <a:xfrm>
              <a:off x="971600" y="1988840"/>
              <a:ext cx="2160240" cy="72008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F</a:t>
              </a:r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179512" y="1988840"/>
              <a:ext cx="720080" cy="72008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grade</a:t>
              </a:r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179512" y="3645024"/>
            <a:ext cx="8712967" cy="338553"/>
            <a:chOff x="323528" y="1236822"/>
            <a:chExt cx="7848872" cy="318350"/>
          </a:xfrm>
        </p:grpSpPr>
        <p:sp>
          <p:nvSpPr>
            <p:cNvPr id="55" name="TextBox 54"/>
            <p:cNvSpPr txBox="1"/>
            <p:nvPr/>
          </p:nvSpPr>
          <p:spPr>
            <a:xfrm>
              <a:off x="971600" y="1236822"/>
              <a:ext cx="7200800" cy="318350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0000FF"/>
                  </a:solidFill>
                </a:rPr>
                <a:t>	</a:t>
              </a:r>
              <a:r>
                <a:rPr lang="en-US" sz="1600" dirty="0" err="1">
                  <a:solidFill>
                    <a:srgbClr val="0000FF"/>
                  </a:solidFill>
                </a:rPr>
                <a:t>System.out.printf</a:t>
              </a:r>
              <a:r>
                <a:rPr lang="en-US" sz="1600" dirty="0">
                  <a:solidFill>
                    <a:srgbClr val="0000FF"/>
                  </a:solidFill>
                </a:rPr>
                <a:t> (“Student’s Grade = %3c“, grade);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323528" y="1236822"/>
              <a:ext cx="576064" cy="3183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18</a:t>
              </a:r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899592" y="4869160"/>
            <a:ext cx="2952328" cy="720080"/>
            <a:chOff x="179512" y="1988840"/>
            <a:chExt cx="2952328" cy="720080"/>
          </a:xfrm>
        </p:grpSpPr>
        <p:sp>
          <p:nvSpPr>
            <p:cNvPr id="60" name="Rounded Rectangle 59"/>
            <p:cNvSpPr/>
            <p:nvPr/>
          </p:nvSpPr>
          <p:spPr>
            <a:xfrm>
              <a:off x="971600" y="1988840"/>
              <a:ext cx="2160240" cy="72008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50.5</a:t>
              </a:r>
            </a:p>
          </p:txBody>
        </p:sp>
        <p:sp>
          <p:nvSpPr>
            <p:cNvPr id="61" name="Rounded Rectangle 60"/>
            <p:cNvSpPr/>
            <p:nvPr/>
          </p:nvSpPr>
          <p:spPr>
            <a:xfrm>
              <a:off x="179512" y="1988840"/>
              <a:ext cx="720080" cy="72008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score</a:t>
              </a:r>
            </a:p>
          </p:txBody>
        </p:sp>
      </p:grpSp>
      <p:grpSp>
        <p:nvGrpSpPr>
          <p:cNvPr id="62" name="Group 61"/>
          <p:cNvGrpSpPr/>
          <p:nvPr/>
        </p:nvGrpSpPr>
        <p:grpSpPr>
          <a:xfrm>
            <a:off x="5940152" y="4869160"/>
            <a:ext cx="2952328" cy="720080"/>
            <a:chOff x="179512" y="1988840"/>
            <a:chExt cx="2952328" cy="720080"/>
          </a:xfrm>
        </p:grpSpPr>
        <p:sp>
          <p:nvSpPr>
            <p:cNvPr id="63" name="Rounded Rectangle 62"/>
            <p:cNvSpPr/>
            <p:nvPr/>
          </p:nvSpPr>
          <p:spPr>
            <a:xfrm>
              <a:off x="971600" y="1988840"/>
              <a:ext cx="2160240" cy="72008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F</a:t>
              </a:r>
            </a:p>
          </p:txBody>
        </p:sp>
        <p:sp>
          <p:nvSpPr>
            <p:cNvPr id="64" name="Rounded Rectangle 63"/>
            <p:cNvSpPr/>
            <p:nvPr/>
          </p:nvSpPr>
          <p:spPr>
            <a:xfrm>
              <a:off x="179512" y="1988840"/>
              <a:ext cx="720080" cy="72008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grade</a:t>
              </a: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650335" y="1947610"/>
            <a:ext cx="8306644" cy="523220"/>
            <a:chOff x="650335" y="1916832"/>
            <a:chExt cx="8306644" cy="523220"/>
          </a:xfrm>
        </p:grpSpPr>
        <p:sp>
          <p:nvSpPr>
            <p:cNvPr id="58" name="TextBox 57"/>
            <p:cNvSpPr txBox="1"/>
            <p:nvPr/>
          </p:nvSpPr>
          <p:spPr>
            <a:xfrm>
              <a:off x="899592" y="1916832"/>
              <a:ext cx="8057387" cy="523220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Enter student’s score</a:t>
              </a:r>
            </a:p>
            <a:p>
              <a:r>
                <a:rPr lang="en-US" sz="1400" dirty="0">
                  <a:solidFill>
                    <a:srgbClr val="FFC000"/>
                  </a:solidFill>
                </a:rPr>
                <a:t>50.5</a:t>
              </a:r>
              <a:r>
                <a:rPr lang="en-US" sz="1400" dirty="0">
                  <a:solidFill>
                    <a:schemeClr val="bg1"/>
                  </a:solidFill>
                </a:rPr>
                <a:t>_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650335" y="1916832"/>
              <a:ext cx="2514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650335" y="4055585"/>
            <a:ext cx="8242144" cy="760151"/>
            <a:chOff x="650335" y="4055585"/>
            <a:chExt cx="8242144" cy="760151"/>
          </a:xfrm>
        </p:grpSpPr>
        <p:sp>
          <p:nvSpPr>
            <p:cNvPr id="57" name="TextBox 56"/>
            <p:cNvSpPr txBox="1"/>
            <p:nvPr/>
          </p:nvSpPr>
          <p:spPr>
            <a:xfrm>
              <a:off x="904877" y="4055585"/>
              <a:ext cx="7987602" cy="738664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Enter student’s score</a:t>
              </a:r>
            </a:p>
            <a:p>
              <a:r>
                <a:rPr lang="en-US" sz="1400" dirty="0">
                  <a:solidFill>
                    <a:srgbClr val="FFC000"/>
                  </a:solidFill>
                </a:rPr>
                <a:t>50.5</a:t>
              </a:r>
              <a:endParaRPr lang="en-US" sz="1400" dirty="0">
                <a:solidFill>
                  <a:schemeClr val="bg1"/>
                </a:solidFill>
              </a:endParaRPr>
            </a:p>
            <a:p>
              <a:r>
                <a:rPr lang="en-US" sz="1400" dirty="0">
                  <a:solidFill>
                    <a:schemeClr val="bg1"/>
                  </a:solidFill>
                </a:rPr>
                <a:t>Student’s Grade = ~~F_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650335" y="4077072"/>
              <a:ext cx="25143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15426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/>
          <p:cNvGrpSpPr/>
          <p:nvPr/>
        </p:nvGrpSpPr>
        <p:grpSpPr>
          <a:xfrm>
            <a:off x="5940152" y="6093296"/>
            <a:ext cx="2952328" cy="720080"/>
            <a:chOff x="179512" y="1988840"/>
            <a:chExt cx="2952328" cy="720080"/>
          </a:xfrm>
        </p:grpSpPr>
        <p:sp>
          <p:nvSpPr>
            <p:cNvPr id="52" name="Rounded Rectangle 51"/>
            <p:cNvSpPr/>
            <p:nvPr/>
          </p:nvSpPr>
          <p:spPr>
            <a:xfrm>
              <a:off x="971600" y="1988840"/>
              <a:ext cx="2160240" cy="72008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X</a:t>
              </a:r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179512" y="1988840"/>
              <a:ext cx="720080" cy="72008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grade</a:t>
              </a:r>
            </a:p>
          </p:txBody>
        </p:sp>
      </p:grpSp>
      <p:sp>
        <p:nvSpPr>
          <p:cNvPr id="15" name="Rectangle 14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With a single statement: PROGRAM 1: CASE 2 (FALSE)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2.1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if 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Statement</a:t>
            </a: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10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650334" y="3501008"/>
            <a:ext cx="8242145" cy="523220"/>
            <a:chOff x="1029207" y="1236822"/>
            <a:chExt cx="7143193" cy="523220"/>
          </a:xfrm>
        </p:grpSpPr>
        <p:sp>
          <p:nvSpPr>
            <p:cNvPr id="11" name="TextBox 10"/>
            <p:cNvSpPr txBox="1"/>
            <p:nvPr/>
          </p:nvSpPr>
          <p:spPr>
            <a:xfrm>
              <a:off x="1249811" y="1236822"/>
              <a:ext cx="6922589" cy="523220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Enter student’s score</a:t>
              </a:r>
            </a:p>
            <a:p>
              <a:r>
                <a:rPr lang="en-US" sz="1400" dirty="0">
                  <a:solidFill>
                    <a:srgbClr val="FFC000"/>
                  </a:solidFill>
                </a:rPr>
                <a:t>85</a:t>
              </a:r>
              <a:r>
                <a:rPr lang="en-US" sz="1400" dirty="0">
                  <a:solidFill>
                    <a:schemeClr val="bg1"/>
                  </a:solidFill>
                </a:rPr>
                <a:t>_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29207" y="1236822"/>
              <a:ext cx="2160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254823" y="1324500"/>
            <a:ext cx="8637657" cy="584775"/>
            <a:chOff x="390814" y="1236822"/>
            <a:chExt cx="7781586" cy="549878"/>
          </a:xfrm>
        </p:grpSpPr>
        <p:sp>
          <p:nvSpPr>
            <p:cNvPr id="14" name="TextBox 13"/>
            <p:cNvSpPr txBox="1"/>
            <p:nvPr/>
          </p:nvSpPr>
          <p:spPr>
            <a:xfrm>
              <a:off x="971600" y="1236822"/>
              <a:ext cx="7200800" cy="549878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	</a:t>
              </a:r>
              <a:r>
                <a:rPr lang="en-US" sz="1600" dirty="0">
                  <a:solidFill>
                    <a:srgbClr val="00B0F0"/>
                  </a:solidFill>
                </a:rPr>
                <a:t>double</a:t>
              </a:r>
              <a:r>
                <a:rPr lang="en-US" sz="1600" dirty="0">
                  <a:solidFill>
                    <a:srgbClr val="0000FF"/>
                  </a:solidFill>
                </a:rPr>
                <a:t> score;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	</a:t>
              </a:r>
              <a:r>
                <a:rPr lang="en-US" sz="1600" dirty="0">
                  <a:solidFill>
                    <a:srgbClr val="00B0F0"/>
                  </a:solidFill>
                </a:rPr>
                <a:t>char</a:t>
              </a:r>
              <a:r>
                <a:rPr lang="en-US" sz="1600" dirty="0">
                  <a:solidFill>
                    <a:srgbClr val="0000FF"/>
                  </a:solidFill>
                </a:rPr>
                <a:t> grade = ‘X’;		</a:t>
              </a:r>
              <a:r>
                <a:rPr lang="en-US" sz="1600" dirty="0">
                  <a:solidFill>
                    <a:srgbClr val="00B050"/>
                  </a:solidFill>
                </a:rPr>
                <a:t>//initialize grade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90814" y="1236822"/>
              <a:ext cx="576064" cy="5498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10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899592" y="4077072"/>
            <a:ext cx="2952328" cy="720080"/>
            <a:chOff x="179512" y="1988840"/>
            <a:chExt cx="2952328" cy="720080"/>
          </a:xfrm>
        </p:grpSpPr>
        <p:sp>
          <p:nvSpPr>
            <p:cNvPr id="25" name="Rounded Rectangle 24"/>
            <p:cNvSpPr/>
            <p:nvPr/>
          </p:nvSpPr>
          <p:spPr>
            <a:xfrm>
              <a:off x="971600" y="1988840"/>
              <a:ext cx="2160240" cy="72008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85.0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179512" y="1988840"/>
              <a:ext cx="720080" cy="72008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score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5868144" y="4077072"/>
            <a:ext cx="2952328" cy="720080"/>
            <a:chOff x="179512" y="1988840"/>
            <a:chExt cx="2952328" cy="720080"/>
          </a:xfrm>
        </p:grpSpPr>
        <p:sp>
          <p:nvSpPr>
            <p:cNvPr id="32" name="Rounded Rectangle 31"/>
            <p:cNvSpPr/>
            <p:nvPr/>
          </p:nvSpPr>
          <p:spPr>
            <a:xfrm>
              <a:off x="971600" y="1988840"/>
              <a:ext cx="2160240" cy="72008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X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179512" y="1988840"/>
              <a:ext cx="720080" cy="72008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grade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254823" y="2844227"/>
            <a:ext cx="8637657" cy="614972"/>
            <a:chOff x="390814" y="2665859"/>
            <a:chExt cx="7781586" cy="578273"/>
          </a:xfrm>
        </p:grpSpPr>
        <p:sp>
          <p:nvSpPr>
            <p:cNvPr id="37" name="TextBox 36"/>
            <p:cNvSpPr txBox="1"/>
            <p:nvPr/>
          </p:nvSpPr>
          <p:spPr>
            <a:xfrm>
              <a:off x="971600" y="2665859"/>
              <a:ext cx="7200800" cy="549878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	</a:t>
              </a:r>
              <a:r>
                <a:rPr lang="en-US" sz="16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600" dirty="0">
                  <a:solidFill>
                    <a:srgbClr val="0000FF"/>
                  </a:solidFill>
                </a:rPr>
                <a:t> (“Enter student’s score”);   </a:t>
              </a:r>
              <a:r>
                <a:rPr lang="en-US" sz="1600" dirty="0">
                  <a:solidFill>
                    <a:srgbClr val="00B050"/>
                  </a:solidFill>
                </a:rPr>
                <a:t>//prompt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	score = </a:t>
              </a:r>
              <a:r>
                <a:rPr lang="en-US" sz="1600" dirty="0" err="1">
                  <a:solidFill>
                    <a:srgbClr val="0000FF"/>
                  </a:solidFill>
                </a:rPr>
                <a:t>console.</a:t>
              </a:r>
              <a:r>
                <a:rPr lang="en-US" sz="1600" dirty="0" err="1">
                  <a:solidFill>
                    <a:srgbClr val="00B050"/>
                  </a:solidFill>
                </a:rPr>
                <a:t>nextDouble</a:t>
              </a:r>
              <a:r>
                <a:rPr lang="en-US" sz="1600" dirty="0">
                  <a:solidFill>
                    <a:srgbClr val="00B050"/>
                  </a:solidFill>
                </a:rPr>
                <a:t>()</a:t>
              </a:r>
              <a:r>
                <a:rPr lang="en-US" sz="1600" dirty="0">
                  <a:solidFill>
                    <a:srgbClr val="0000FF"/>
                  </a:solidFill>
                </a:rPr>
                <a:t>;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90814" y="2694254"/>
              <a:ext cx="576064" cy="5498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13</a:t>
              </a: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254823" y="4869160"/>
            <a:ext cx="8637657" cy="584776"/>
            <a:chOff x="390814" y="1236822"/>
            <a:chExt cx="7781586" cy="549879"/>
          </a:xfrm>
        </p:grpSpPr>
        <p:sp>
          <p:nvSpPr>
            <p:cNvPr id="40" name="TextBox 39"/>
            <p:cNvSpPr txBox="1"/>
            <p:nvPr/>
          </p:nvSpPr>
          <p:spPr>
            <a:xfrm>
              <a:off x="971600" y="1236823"/>
              <a:ext cx="7200800" cy="549878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0000FF"/>
                  </a:solidFill>
                </a:rPr>
                <a:t>	</a:t>
              </a:r>
              <a:r>
                <a:rPr lang="en-US" sz="1600" dirty="0">
                  <a:solidFill>
                    <a:srgbClr val="00B0F0"/>
                  </a:solidFill>
                </a:rPr>
                <a:t>if</a:t>
              </a:r>
              <a:r>
                <a:rPr lang="en-US" sz="1600" dirty="0">
                  <a:solidFill>
                    <a:srgbClr val="0000FF"/>
                  </a:solidFill>
                </a:rPr>
                <a:t> (score &lt; 60.0)		</a:t>
              </a:r>
              <a:r>
                <a:rPr lang="en-US" sz="1600" dirty="0">
                  <a:solidFill>
                    <a:srgbClr val="00B050"/>
                  </a:solidFill>
                </a:rPr>
                <a:t>// score is double</a:t>
              </a:r>
              <a:r>
                <a:rPr lang="en-US" sz="1600" dirty="0">
                  <a:solidFill>
                    <a:srgbClr val="0000FF"/>
                  </a:solidFill>
                </a:rPr>
                <a:t> 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	   grade = ‘F’;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90814" y="1236822"/>
              <a:ext cx="576064" cy="5498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15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16</a:t>
              </a: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899592" y="1988840"/>
            <a:ext cx="2952328" cy="720080"/>
            <a:chOff x="179512" y="1988840"/>
            <a:chExt cx="2952328" cy="720080"/>
          </a:xfrm>
        </p:grpSpPr>
        <p:sp>
          <p:nvSpPr>
            <p:cNvPr id="43" name="Rounded Rectangle 42"/>
            <p:cNvSpPr/>
            <p:nvPr/>
          </p:nvSpPr>
          <p:spPr>
            <a:xfrm>
              <a:off x="971600" y="1988840"/>
              <a:ext cx="2160240" cy="72008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???</a:t>
              </a:r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179512" y="1988840"/>
              <a:ext cx="720080" cy="72008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score</a:t>
              </a: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5940152" y="1988840"/>
            <a:ext cx="2952328" cy="720080"/>
            <a:chOff x="179512" y="1988840"/>
            <a:chExt cx="2952328" cy="720080"/>
          </a:xfrm>
        </p:grpSpPr>
        <p:sp>
          <p:nvSpPr>
            <p:cNvPr id="46" name="Rounded Rectangle 45"/>
            <p:cNvSpPr/>
            <p:nvPr/>
          </p:nvSpPr>
          <p:spPr>
            <a:xfrm>
              <a:off x="971600" y="1988840"/>
              <a:ext cx="2160240" cy="72008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X</a:t>
              </a:r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179512" y="1988840"/>
              <a:ext cx="720080" cy="72008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grade</a:t>
              </a: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899592" y="6093296"/>
            <a:ext cx="2952328" cy="720080"/>
            <a:chOff x="179512" y="1988840"/>
            <a:chExt cx="2952328" cy="720080"/>
          </a:xfrm>
        </p:grpSpPr>
        <p:sp>
          <p:nvSpPr>
            <p:cNvPr id="49" name="Rounded Rectangle 48"/>
            <p:cNvSpPr/>
            <p:nvPr/>
          </p:nvSpPr>
          <p:spPr>
            <a:xfrm>
              <a:off x="971600" y="1988840"/>
              <a:ext cx="2160240" cy="72008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85.0</a:t>
              </a:r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179512" y="1988840"/>
              <a:ext cx="720080" cy="72008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score</a:t>
              </a:r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650335" y="5498068"/>
            <a:ext cx="8242145" cy="523220"/>
            <a:chOff x="1029207" y="1236822"/>
            <a:chExt cx="7143193" cy="523220"/>
          </a:xfrm>
        </p:grpSpPr>
        <p:sp>
          <p:nvSpPr>
            <p:cNvPr id="55" name="TextBox 54"/>
            <p:cNvSpPr txBox="1"/>
            <p:nvPr/>
          </p:nvSpPr>
          <p:spPr>
            <a:xfrm>
              <a:off x="1249811" y="1236822"/>
              <a:ext cx="6922589" cy="523220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Enter student’s score</a:t>
              </a:r>
            </a:p>
            <a:p>
              <a:r>
                <a:rPr lang="en-US" sz="1400" dirty="0">
                  <a:solidFill>
                    <a:srgbClr val="FFC000"/>
                  </a:solidFill>
                </a:rPr>
                <a:t>85</a:t>
              </a:r>
              <a:r>
                <a:rPr lang="en-US" sz="1400" dirty="0">
                  <a:solidFill>
                    <a:schemeClr val="bg1"/>
                  </a:solidFill>
                </a:rPr>
                <a:t>_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1029207" y="1236822"/>
              <a:ext cx="2160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10569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With a single statement - PROGRAM 1: CASE 2 (FALSE)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2.1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if 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Statement</a:t>
            </a: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11</a:t>
            </a:fld>
            <a:endParaRPr lang="en-US"/>
          </a:p>
        </p:txBody>
      </p:sp>
      <p:grpSp>
        <p:nvGrpSpPr>
          <p:cNvPr id="39" name="Group 38"/>
          <p:cNvGrpSpPr/>
          <p:nvPr/>
        </p:nvGrpSpPr>
        <p:grpSpPr>
          <a:xfrm>
            <a:off x="254824" y="1268760"/>
            <a:ext cx="8637656" cy="584776"/>
            <a:chOff x="390814" y="1236822"/>
            <a:chExt cx="7781586" cy="549879"/>
          </a:xfrm>
        </p:grpSpPr>
        <p:sp>
          <p:nvSpPr>
            <p:cNvPr id="40" name="TextBox 39"/>
            <p:cNvSpPr txBox="1"/>
            <p:nvPr/>
          </p:nvSpPr>
          <p:spPr>
            <a:xfrm>
              <a:off x="971600" y="1236823"/>
              <a:ext cx="7200800" cy="549878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0000FF"/>
                  </a:solidFill>
                </a:rPr>
                <a:t>	</a:t>
              </a:r>
              <a:r>
                <a:rPr lang="en-US" sz="1600" dirty="0">
                  <a:solidFill>
                    <a:srgbClr val="00B0F0"/>
                  </a:solidFill>
                </a:rPr>
                <a:t>if</a:t>
              </a:r>
              <a:r>
                <a:rPr lang="en-US" sz="1600" dirty="0">
                  <a:solidFill>
                    <a:srgbClr val="0000FF"/>
                  </a:solidFill>
                </a:rPr>
                <a:t> (score &lt; 60.0)		</a:t>
              </a:r>
              <a:r>
                <a:rPr lang="en-US" sz="1600" dirty="0">
                  <a:solidFill>
                    <a:srgbClr val="00B050"/>
                  </a:solidFill>
                </a:rPr>
                <a:t>// score is double</a:t>
              </a:r>
              <a:r>
                <a:rPr lang="en-US" sz="1600" dirty="0">
                  <a:solidFill>
                    <a:srgbClr val="0000FF"/>
                  </a:solidFill>
                </a:rPr>
                <a:t> 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	   grade = ‘F’;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90814" y="1236822"/>
              <a:ext cx="576064" cy="5498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15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16</a:t>
              </a: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899592" y="2492896"/>
            <a:ext cx="2952328" cy="720080"/>
            <a:chOff x="179512" y="1988840"/>
            <a:chExt cx="2952328" cy="720080"/>
          </a:xfrm>
        </p:grpSpPr>
        <p:sp>
          <p:nvSpPr>
            <p:cNvPr id="49" name="Rounded Rectangle 48"/>
            <p:cNvSpPr/>
            <p:nvPr/>
          </p:nvSpPr>
          <p:spPr>
            <a:xfrm>
              <a:off x="971600" y="1988840"/>
              <a:ext cx="2160240" cy="72008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85.0</a:t>
              </a:r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179512" y="1988840"/>
              <a:ext cx="720080" cy="72008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score</a:t>
              </a: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5940152" y="2492896"/>
            <a:ext cx="2952328" cy="720080"/>
            <a:chOff x="179512" y="1988840"/>
            <a:chExt cx="2952328" cy="720080"/>
          </a:xfrm>
        </p:grpSpPr>
        <p:sp>
          <p:nvSpPr>
            <p:cNvPr id="52" name="Rounded Rectangle 51"/>
            <p:cNvSpPr/>
            <p:nvPr/>
          </p:nvSpPr>
          <p:spPr>
            <a:xfrm>
              <a:off x="971600" y="1988840"/>
              <a:ext cx="2160240" cy="72008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X</a:t>
              </a:r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179512" y="1988840"/>
              <a:ext cx="720080" cy="72008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grade</a:t>
              </a:r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179512" y="3717032"/>
            <a:ext cx="8712968" cy="338553"/>
            <a:chOff x="323528" y="1236822"/>
            <a:chExt cx="7848872" cy="318350"/>
          </a:xfrm>
        </p:grpSpPr>
        <p:sp>
          <p:nvSpPr>
            <p:cNvPr id="55" name="TextBox 54"/>
            <p:cNvSpPr txBox="1"/>
            <p:nvPr/>
          </p:nvSpPr>
          <p:spPr>
            <a:xfrm>
              <a:off x="971600" y="1236822"/>
              <a:ext cx="7200800" cy="318350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0000FF"/>
                  </a:solidFill>
                </a:rPr>
                <a:t>	</a:t>
              </a:r>
              <a:r>
                <a:rPr lang="en-US" sz="1600" dirty="0" err="1">
                  <a:solidFill>
                    <a:srgbClr val="0000FF"/>
                  </a:solidFill>
                </a:rPr>
                <a:t>System.out.printf</a:t>
              </a:r>
              <a:r>
                <a:rPr lang="en-US" sz="1600" dirty="0">
                  <a:solidFill>
                    <a:srgbClr val="0000FF"/>
                  </a:solidFill>
                </a:rPr>
                <a:t> (“Student’s Grade = %3c“, grade);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323528" y="1236822"/>
              <a:ext cx="576064" cy="3183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18</a:t>
              </a: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650334" y="4127593"/>
            <a:ext cx="8242145" cy="738664"/>
            <a:chOff x="650334" y="3212976"/>
            <a:chExt cx="8242145" cy="738664"/>
          </a:xfrm>
        </p:grpSpPr>
        <p:sp>
          <p:nvSpPr>
            <p:cNvPr id="57" name="TextBox 56"/>
            <p:cNvSpPr txBox="1"/>
            <p:nvPr/>
          </p:nvSpPr>
          <p:spPr>
            <a:xfrm>
              <a:off x="904877" y="3212976"/>
              <a:ext cx="7987602" cy="738664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Enter student’s score</a:t>
              </a:r>
            </a:p>
            <a:p>
              <a:r>
                <a:rPr lang="en-US" sz="1400" dirty="0">
                  <a:solidFill>
                    <a:srgbClr val="FFC000"/>
                  </a:solidFill>
                </a:rPr>
                <a:t>85</a:t>
              </a:r>
              <a:endParaRPr lang="en-US" sz="1400" dirty="0">
                <a:solidFill>
                  <a:schemeClr val="bg1"/>
                </a:solidFill>
              </a:endParaRPr>
            </a:p>
            <a:p>
              <a:r>
                <a:rPr lang="en-US" sz="1400" dirty="0">
                  <a:solidFill>
                    <a:schemeClr val="bg1"/>
                  </a:solidFill>
                </a:rPr>
                <a:t>Student’s Grade = ~~X_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50334" y="3212976"/>
              <a:ext cx="249258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3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650334" y="1911606"/>
            <a:ext cx="8242145" cy="523220"/>
            <a:chOff x="1029207" y="1236822"/>
            <a:chExt cx="7143193" cy="523220"/>
          </a:xfrm>
        </p:grpSpPr>
        <p:sp>
          <p:nvSpPr>
            <p:cNvPr id="23" name="TextBox 22"/>
            <p:cNvSpPr txBox="1"/>
            <p:nvPr/>
          </p:nvSpPr>
          <p:spPr>
            <a:xfrm>
              <a:off x="1249811" y="1236822"/>
              <a:ext cx="6922589" cy="523220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Enter student’s score</a:t>
              </a:r>
            </a:p>
            <a:p>
              <a:r>
                <a:rPr lang="en-US" sz="1400" dirty="0">
                  <a:solidFill>
                    <a:srgbClr val="FFC000"/>
                  </a:solidFill>
                </a:rPr>
                <a:t>85</a:t>
              </a:r>
              <a:r>
                <a:rPr lang="en-US" sz="1400" dirty="0">
                  <a:solidFill>
                    <a:schemeClr val="bg1"/>
                  </a:solidFill>
                </a:rPr>
                <a:t>_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029207" y="1236822"/>
              <a:ext cx="2160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899592" y="4941168"/>
            <a:ext cx="2952328" cy="720080"/>
            <a:chOff x="179512" y="1988840"/>
            <a:chExt cx="2952328" cy="720080"/>
          </a:xfrm>
        </p:grpSpPr>
        <p:sp>
          <p:nvSpPr>
            <p:cNvPr id="26" name="Rounded Rectangle 25"/>
            <p:cNvSpPr/>
            <p:nvPr/>
          </p:nvSpPr>
          <p:spPr>
            <a:xfrm>
              <a:off x="971600" y="1988840"/>
              <a:ext cx="2160240" cy="72008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85.0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179512" y="1988840"/>
              <a:ext cx="720080" cy="72008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score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5940152" y="4941168"/>
            <a:ext cx="2952328" cy="720080"/>
            <a:chOff x="179512" y="1988840"/>
            <a:chExt cx="2952328" cy="720080"/>
          </a:xfrm>
        </p:grpSpPr>
        <p:sp>
          <p:nvSpPr>
            <p:cNvPr id="29" name="Rounded Rectangle 28"/>
            <p:cNvSpPr/>
            <p:nvPr/>
          </p:nvSpPr>
          <p:spPr>
            <a:xfrm>
              <a:off x="971600" y="1988840"/>
              <a:ext cx="2160240" cy="72008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X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179512" y="1988840"/>
              <a:ext cx="720080" cy="72008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grade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83682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2.2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if 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Statement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677111" y="1340768"/>
            <a:ext cx="3614971" cy="2088232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00B0F0"/>
                </a:solidFill>
              </a:rPr>
              <a:t>if (logical expression) </a:t>
            </a:r>
          </a:p>
          <a:p>
            <a:r>
              <a:rPr lang="en-US" dirty="0">
                <a:solidFill>
                  <a:srgbClr val="00B0F0"/>
                </a:solidFill>
              </a:rPr>
              <a:t>   {</a:t>
            </a:r>
          </a:p>
          <a:p>
            <a:r>
              <a:rPr lang="en-US" dirty="0">
                <a:solidFill>
                  <a:srgbClr val="00B0F0"/>
                </a:solidFill>
              </a:rPr>
              <a:t>    statement 1;</a:t>
            </a:r>
          </a:p>
          <a:p>
            <a:r>
              <a:rPr lang="en-US" dirty="0">
                <a:solidFill>
                  <a:srgbClr val="00B0F0"/>
                </a:solidFill>
              </a:rPr>
              <a:t>    statement 2;</a:t>
            </a:r>
          </a:p>
          <a:p>
            <a:r>
              <a:rPr lang="en-US" dirty="0">
                <a:solidFill>
                  <a:srgbClr val="00B0F0"/>
                </a:solidFill>
              </a:rPr>
              <a:t>    …</a:t>
            </a:r>
          </a:p>
          <a:p>
            <a:r>
              <a:rPr lang="en-US" dirty="0">
                <a:solidFill>
                  <a:srgbClr val="00B0F0"/>
                </a:solidFill>
              </a:rPr>
              <a:t>    statement n;</a:t>
            </a:r>
          </a:p>
          <a:p>
            <a:r>
              <a:rPr lang="en-US" dirty="0">
                <a:solidFill>
                  <a:srgbClr val="00B0F0"/>
                </a:solidFill>
              </a:rPr>
              <a:t>   }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36951" y="1340768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SYNTAX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4208" y="1340768"/>
            <a:ext cx="2160240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FLOWCHART</a:t>
            </a:r>
          </a:p>
        </p:txBody>
      </p:sp>
      <p:sp>
        <p:nvSpPr>
          <p:cNvPr id="4" name="Oval 3"/>
          <p:cNvSpPr/>
          <p:nvPr/>
        </p:nvSpPr>
        <p:spPr>
          <a:xfrm>
            <a:off x="7272300" y="2348880"/>
            <a:ext cx="360040" cy="360040"/>
          </a:xfrm>
          <a:prstGeom prst="ellipse">
            <a:avLst/>
          </a:prstGeom>
          <a:solidFill>
            <a:srgbClr val="FF33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0" name="Flowchart: Decision 9"/>
          <p:cNvSpPr/>
          <p:nvPr/>
        </p:nvSpPr>
        <p:spPr>
          <a:xfrm>
            <a:off x="6012160" y="3212976"/>
            <a:ext cx="2880320" cy="1440160"/>
          </a:xfrm>
          <a:prstGeom prst="flowChartDecision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Logical Expression?</a:t>
            </a:r>
          </a:p>
        </p:txBody>
      </p:sp>
      <p:sp>
        <p:nvSpPr>
          <p:cNvPr id="16" name="AutoShape 72"/>
          <p:cNvSpPr>
            <a:spLocks noChangeArrowheads="1"/>
          </p:cNvSpPr>
          <p:nvPr/>
        </p:nvSpPr>
        <p:spPr bwMode="auto">
          <a:xfrm>
            <a:off x="4572001" y="4448691"/>
            <a:ext cx="1425590" cy="420469"/>
          </a:xfrm>
          <a:prstGeom prst="flowChartProcess">
            <a:avLst/>
          </a:prstGeom>
          <a:solidFill>
            <a:srgbClr val="92D05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latin typeface="Arial" charset="0"/>
                <a:cs typeface="Arial" charset="0"/>
              </a:rPr>
              <a:t>Statement 1</a:t>
            </a:r>
            <a:endParaRPr lang="en-US" sz="1600" dirty="0">
              <a:solidFill>
                <a:srgbClr val="0000FF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33159" y="3537012"/>
            <a:ext cx="6830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06600"/>
                </a:solidFill>
              </a:rPr>
              <a:t>True</a:t>
            </a:r>
          </a:p>
        </p:txBody>
      </p:sp>
      <p:sp>
        <p:nvSpPr>
          <p:cNvPr id="18" name="Oval 17"/>
          <p:cNvSpPr/>
          <p:nvPr/>
        </p:nvSpPr>
        <p:spPr>
          <a:xfrm>
            <a:off x="7272300" y="5877272"/>
            <a:ext cx="360040" cy="360040"/>
          </a:xfrm>
          <a:prstGeom prst="ellipse">
            <a:avLst/>
          </a:prstGeom>
          <a:solidFill>
            <a:srgbClr val="FF33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15" name="Straight Arrow Connector 14"/>
          <p:cNvCxnSpPr>
            <a:stCxn id="4" idx="4"/>
            <a:endCxn id="10" idx="0"/>
          </p:cNvCxnSpPr>
          <p:nvPr/>
        </p:nvCxnSpPr>
        <p:spPr>
          <a:xfrm>
            <a:off x="7452320" y="2708920"/>
            <a:ext cx="0" cy="50405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endCxn id="18" idx="0"/>
          </p:cNvCxnSpPr>
          <p:nvPr/>
        </p:nvCxnSpPr>
        <p:spPr>
          <a:xfrm>
            <a:off x="7452320" y="4653136"/>
            <a:ext cx="0" cy="1224136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0" idx="1"/>
          </p:cNvCxnSpPr>
          <p:nvPr/>
        </p:nvCxnSpPr>
        <p:spPr>
          <a:xfrm flipH="1">
            <a:off x="5273583" y="3933056"/>
            <a:ext cx="738577" cy="0"/>
          </a:xfrm>
          <a:prstGeom prst="straightConnector1">
            <a:avLst/>
          </a:prstGeom>
          <a:ln w="28575">
            <a:solidFill>
              <a:srgbClr val="00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endCxn id="16" idx="0"/>
          </p:cNvCxnSpPr>
          <p:nvPr/>
        </p:nvCxnSpPr>
        <p:spPr>
          <a:xfrm flipH="1">
            <a:off x="5284796" y="3933056"/>
            <a:ext cx="7286" cy="515635"/>
          </a:xfrm>
          <a:prstGeom prst="straightConnector1">
            <a:avLst/>
          </a:prstGeom>
          <a:ln w="28575">
            <a:solidFill>
              <a:srgbClr val="00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5292080" y="4857581"/>
            <a:ext cx="1" cy="1199711"/>
          </a:xfrm>
          <a:prstGeom prst="straightConnector1">
            <a:avLst/>
          </a:prstGeom>
          <a:ln w="28575">
            <a:solidFill>
              <a:srgbClr val="00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endCxn id="18" idx="2"/>
          </p:cNvCxnSpPr>
          <p:nvPr/>
        </p:nvCxnSpPr>
        <p:spPr>
          <a:xfrm>
            <a:off x="5273583" y="6057292"/>
            <a:ext cx="1998717" cy="0"/>
          </a:xfrm>
          <a:prstGeom prst="straightConnector1">
            <a:avLst/>
          </a:prstGeom>
          <a:ln w="28575">
            <a:solidFill>
              <a:srgbClr val="00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380312" y="4993431"/>
            <a:ext cx="6830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000FF"/>
                </a:solidFill>
              </a:rPr>
              <a:t>False</a:t>
            </a:r>
          </a:p>
        </p:txBody>
      </p:sp>
      <p:sp>
        <p:nvSpPr>
          <p:cNvPr id="36" name="Content Placeholder 4"/>
          <p:cNvSpPr>
            <a:spLocks noGrp="1"/>
          </p:cNvSpPr>
          <p:nvPr>
            <p:ph idx="1"/>
          </p:nvPr>
        </p:nvSpPr>
        <p:spPr>
          <a:xfrm>
            <a:off x="107504" y="4015605"/>
            <a:ext cx="4299045" cy="421507"/>
          </a:xfrm>
        </p:spPr>
        <p:txBody>
          <a:bodyPr>
            <a:noAutofit/>
          </a:bodyPr>
          <a:lstStyle/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33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the logical expression is </a:t>
            </a:r>
            <a:r>
              <a:rPr lang="en-US" sz="2000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true</a:t>
            </a:r>
            <a:r>
              <a:rPr lang="en-US" sz="2000" dirty="0">
                <a:solidFill>
                  <a:srgbClr val="FF33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</p:txBody>
      </p:sp>
      <p:sp>
        <p:nvSpPr>
          <p:cNvPr id="37" name="Content Placeholder 4"/>
          <p:cNvSpPr txBox="1">
            <a:spLocks/>
          </p:cNvSpPr>
          <p:nvPr/>
        </p:nvSpPr>
        <p:spPr>
          <a:xfrm>
            <a:off x="403920" y="4375645"/>
            <a:ext cx="4146646" cy="421507"/>
          </a:xfrm>
          <a:prstGeom prst="rect">
            <a:avLst/>
          </a:prstGeom>
        </p:spPr>
        <p:txBody>
          <a:bodyPr vert="horz">
            <a:no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Statements 1 &amp; 2 are executed</a:t>
            </a:r>
          </a:p>
        </p:txBody>
      </p:sp>
      <p:sp>
        <p:nvSpPr>
          <p:cNvPr id="38" name="Content Placeholder 4"/>
          <p:cNvSpPr txBox="1">
            <a:spLocks/>
          </p:cNvSpPr>
          <p:nvPr/>
        </p:nvSpPr>
        <p:spPr>
          <a:xfrm>
            <a:off x="403920" y="4735685"/>
            <a:ext cx="4146646" cy="421507"/>
          </a:xfrm>
          <a:prstGeom prst="rect">
            <a:avLst/>
          </a:prstGeom>
        </p:spPr>
        <p:txBody>
          <a:bodyPr vert="horz">
            <a:no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Execution continues at point 2</a:t>
            </a:r>
          </a:p>
        </p:txBody>
      </p:sp>
      <p:sp>
        <p:nvSpPr>
          <p:cNvPr id="39" name="Content Placeholder 4"/>
          <p:cNvSpPr txBox="1">
            <a:spLocks/>
          </p:cNvSpPr>
          <p:nvPr/>
        </p:nvSpPr>
        <p:spPr>
          <a:xfrm>
            <a:off x="107504" y="5383757"/>
            <a:ext cx="4299045" cy="421507"/>
          </a:xfrm>
          <a:prstGeom prst="rect">
            <a:avLst/>
          </a:prstGeom>
        </p:spPr>
        <p:txBody>
          <a:bodyPr vert="horz">
            <a:no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33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the logical expression is </a:t>
            </a:r>
            <a:r>
              <a:rPr lang="en-US" sz="2000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false</a:t>
            </a:r>
            <a:r>
              <a:rPr lang="en-US" sz="2000" dirty="0">
                <a:solidFill>
                  <a:srgbClr val="FF33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</p:txBody>
      </p:sp>
      <p:sp>
        <p:nvSpPr>
          <p:cNvPr id="41" name="Content Placeholder 4"/>
          <p:cNvSpPr txBox="1">
            <a:spLocks/>
          </p:cNvSpPr>
          <p:nvPr/>
        </p:nvSpPr>
        <p:spPr>
          <a:xfrm>
            <a:off x="403920" y="5661248"/>
            <a:ext cx="4146646" cy="421507"/>
          </a:xfrm>
          <a:prstGeom prst="rect">
            <a:avLst/>
          </a:prstGeom>
        </p:spPr>
        <p:txBody>
          <a:bodyPr vert="horz">
            <a:no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Execution continues at point 2</a:t>
            </a:r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7452320" y="6237312"/>
            <a:ext cx="0" cy="36004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0" y="908720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With a block of statements</a:t>
            </a:r>
          </a:p>
        </p:txBody>
      </p:sp>
      <p:cxnSp>
        <p:nvCxnSpPr>
          <p:cNvPr id="45" name="Straight Connector 44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AutoShape 72"/>
          <p:cNvSpPr>
            <a:spLocks noChangeArrowheads="1"/>
          </p:cNvSpPr>
          <p:nvPr/>
        </p:nvSpPr>
        <p:spPr bwMode="auto">
          <a:xfrm>
            <a:off x="4572000" y="5024755"/>
            <a:ext cx="1425590" cy="420469"/>
          </a:xfrm>
          <a:prstGeom prst="flowChartProcess">
            <a:avLst/>
          </a:prstGeom>
          <a:solidFill>
            <a:srgbClr val="92D05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latin typeface="Arial" charset="0"/>
                <a:cs typeface="Arial" charset="0"/>
              </a:rPr>
              <a:t>Statement 2</a:t>
            </a:r>
            <a:endParaRPr lang="en-US" sz="1600" dirty="0">
              <a:solidFill>
                <a:srgbClr val="0000FF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 flipH="1">
            <a:off x="1763688" y="1844824"/>
            <a:ext cx="288032" cy="0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H="1">
            <a:off x="1763688" y="3212976"/>
            <a:ext cx="288032" cy="0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763688" y="1844824"/>
            <a:ext cx="0" cy="1368152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66435469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500"/>
                            </p:stCondLst>
                            <p:childTnLst>
                              <p:par>
                                <p:cTn id="6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000"/>
                            </p:stCondLst>
                            <p:childTnLst>
                              <p:par>
                                <p:cTn id="6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00"/>
                            </p:stCondLst>
                            <p:childTnLst>
                              <p:par>
                                <p:cTn id="8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4" grpId="0" animBg="1"/>
      <p:bldP spid="10" grpId="0" animBg="1"/>
      <p:bldP spid="16" grpId="0" animBg="1"/>
      <p:bldP spid="17" grpId="0"/>
      <p:bldP spid="18" grpId="0" animBg="1"/>
      <p:bldP spid="33" grpId="0"/>
      <p:bldP spid="36" grpId="0" build="p"/>
      <p:bldP spid="37" grpId="0"/>
      <p:bldP spid="38" grpId="0"/>
      <p:bldP spid="39" grpId="0"/>
      <p:bldP spid="41" grpId="0"/>
      <p:bldP spid="44" grpId="0" animBg="1"/>
      <p:bldP spid="2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2.2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if 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Statement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0" y="908720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With a block of statements – PROGRAM 2: ANALYSIS</a:t>
            </a:r>
          </a:p>
        </p:txBody>
      </p:sp>
      <p:cxnSp>
        <p:nvCxnSpPr>
          <p:cNvPr id="29" name="Straight Connector 28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51520" y="1412776"/>
            <a:ext cx="8712968" cy="576064"/>
          </a:xfrm>
          <a:prstGeom prst="roundRect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Write a program that identifies the students who didn’t pass the course. The program should also print an appropriate message.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36951" y="2204864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619672" y="2204864"/>
            <a:ext cx="7344816" cy="50405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Student’s score </a:t>
            </a:r>
            <a:r>
              <a:rPr lang="en-US" dirty="0">
                <a:solidFill>
                  <a:srgbClr val="FF3399"/>
                </a:solidFill>
              </a:rPr>
              <a:t>(variable: score, type: </a:t>
            </a:r>
            <a:r>
              <a:rPr lang="en-US" dirty="0">
                <a:solidFill>
                  <a:srgbClr val="00B0F0"/>
                </a:solidFill>
              </a:rPr>
              <a:t>double</a:t>
            </a:r>
            <a:r>
              <a:rPr lang="en-US" dirty="0">
                <a:solidFill>
                  <a:srgbClr val="FF3399"/>
                </a:solidFill>
              </a:rPr>
              <a:t>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51520" y="2780928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634241" y="2780928"/>
            <a:ext cx="7344816" cy="648072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Letter grade = ‘F’ </a:t>
            </a:r>
            <a:r>
              <a:rPr lang="en-US" dirty="0">
                <a:solidFill>
                  <a:srgbClr val="FF3399"/>
                </a:solidFill>
              </a:rPr>
              <a:t>(variable: grade, type: </a:t>
            </a:r>
            <a:r>
              <a:rPr lang="en-US" dirty="0">
                <a:solidFill>
                  <a:srgbClr val="00B0F0"/>
                </a:solidFill>
              </a:rPr>
              <a:t>char</a:t>
            </a:r>
            <a:r>
              <a:rPr lang="en-US" dirty="0">
                <a:solidFill>
                  <a:srgbClr val="FF3399"/>
                </a:solidFill>
              </a:rPr>
              <a:t>)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Print an appropriate message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51520" y="3501008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634241" y="3501008"/>
            <a:ext cx="7344816" cy="728223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if (</a:t>
            </a:r>
            <a:r>
              <a:rPr lang="en-US" dirty="0">
                <a:solidFill>
                  <a:srgbClr val="FF3399"/>
                </a:solidFill>
              </a:rPr>
              <a:t>score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&lt;60) 	1) </a:t>
            </a:r>
            <a:r>
              <a:rPr lang="en-US" dirty="0">
                <a:solidFill>
                  <a:srgbClr val="FF3399"/>
                </a:solidFill>
              </a:rPr>
              <a:t>grade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= ‘F’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		2) Print “Failed”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51520" y="4293096"/>
            <a:ext cx="2160240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FLOWCHART</a:t>
            </a:r>
          </a:p>
        </p:txBody>
      </p:sp>
      <p:sp>
        <p:nvSpPr>
          <p:cNvPr id="65" name="AutoShape 67"/>
          <p:cNvSpPr>
            <a:spLocks noChangeArrowheads="1"/>
          </p:cNvSpPr>
          <p:nvPr/>
        </p:nvSpPr>
        <p:spPr bwMode="auto">
          <a:xfrm>
            <a:off x="7352204" y="2780928"/>
            <a:ext cx="1441450" cy="421858"/>
          </a:xfrm>
          <a:prstGeom prst="flowChartTerminator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Start</a:t>
            </a:r>
          </a:p>
        </p:txBody>
      </p:sp>
      <p:cxnSp>
        <p:nvCxnSpPr>
          <p:cNvPr id="66" name="Straight Arrow Connector 65"/>
          <p:cNvCxnSpPr>
            <a:stCxn id="65" idx="2"/>
          </p:cNvCxnSpPr>
          <p:nvPr/>
        </p:nvCxnSpPr>
        <p:spPr>
          <a:xfrm>
            <a:off x="8072929" y="3202786"/>
            <a:ext cx="1" cy="86819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AutoShape 68"/>
          <p:cNvSpPr>
            <a:spLocks noChangeArrowheads="1"/>
          </p:cNvSpPr>
          <p:nvPr/>
        </p:nvSpPr>
        <p:spPr bwMode="auto">
          <a:xfrm>
            <a:off x="7137892" y="4075026"/>
            <a:ext cx="1870075" cy="358775"/>
          </a:xfrm>
          <a:prstGeom prst="flowChartInputOutpu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Read </a:t>
            </a:r>
            <a:r>
              <a:rPr lang="en-US" sz="1600" dirty="0">
                <a:latin typeface="Arial" charset="0"/>
                <a:cs typeface="Arial" charset="0"/>
              </a:rPr>
              <a:t>score</a:t>
            </a:r>
            <a:endParaRPr lang="en-US" sz="1600" dirty="0"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68" name="Straight Arrow Connector 67"/>
          <p:cNvCxnSpPr/>
          <p:nvPr/>
        </p:nvCxnSpPr>
        <p:spPr>
          <a:xfrm>
            <a:off x="8072929" y="4426922"/>
            <a:ext cx="1" cy="29212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AutoShape 73"/>
          <p:cNvSpPr>
            <a:spLocks noChangeArrowheads="1"/>
          </p:cNvSpPr>
          <p:nvPr/>
        </p:nvSpPr>
        <p:spPr bwMode="auto">
          <a:xfrm>
            <a:off x="7140375" y="4724945"/>
            <a:ext cx="1798488" cy="576263"/>
          </a:xfrm>
          <a:prstGeom prst="flowChartDecision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Arial" charset="0"/>
                <a:cs typeface="Arial" charset="0"/>
              </a:rPr>
              <a:t>score</a:t>
            </a:r>
            <a:r>
              <a:rPr lang="en-US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&lt; 60?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741489" y="4633391"/>
            <a:ext cx="6830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06600"/>
                </a:solidFill>
              </a:rPr>
              <a:t>True</a:t>
            </a:r>
          </a:p>
        </p:txBody>
      </p:sp>
      <p:cxnSp>
        <p:nvCxnSpPr>
          <p:cNvPr id="71" name="Straight Arrow Connector 70"/>
          <p:cNvCxnSpPr/>
          <p:nvPr/>
        </p:nvCxnSpPr>
        <p:spPr>
          <a:xfrm flipH="1">
            <a:off x="5923617" y="5129646"/>
            <a:ext cx="16535" cy="315578"/>
          </a:xfrm>
          <a:prstGeom prst="straightConnector1">
            <a:avLst/>
          </a:prstGeom>
          <a:ln w="28575">
            <a:solidFill>
              <a:srgbClr val="00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 flipH="1">
            <a:off x="6597473" y="5013176"/>
            <a:ext cx="573607" cy="5789"/>
          </a:xfrm>
          <a:prstGeom prst="straightConnector1">
            <a:avLst/>
          </a:prstGeom>
          <a:ln w="28575">
            <a:solidFill>
              <a:srgbClr val="00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AutoShape 72"/>
          <p:cNvSpPr>
            <a:spLocks noChangeArrowheads="1"/>
          </p:cNvSpPr>
          <p:nvPr/>
        </p:nvSpPr>
        <p:spPr bwMode="auto">
          <a:xfrm>
            <a:off x="5191117" y="4808731"/>
            <a:ext cx="1425590" cy="420469"/>
          </a:xfrm>
          <a:prstGeom prst="flowChartProcess">
            <a:avLst/>
          </a:prstGeom>
          <a:solidFill>
            <a:srgbClr val="92D05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latin typeface="Arial" charset="0"/>
                <a:cs typeface="Arial" charset="0"/>
              </a:rPr>
              <a:t>grade = ‘F’</a:t>
            </a:r>
            <a:endParaRPr lang="en-US" sz="1600" dirty="0">
              <a:solidFill>
                <a:srgbClr val="0000FF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75" name="Straight Arrow Connector 74"/>
          <p:cNvCxnSpPr/>
          <p:nvPr/>
        </p:nvCxnSpPr>
        <p:spPr>
          <a:xfrm>
            <a:off x="8039619" y="5301208"/>
            <a:ext cx="0" cy="36286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8218171" y="5281463"/>
            <a:ext cx="6830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000FF"/>
                </a:solidFill>
              </a:rPr>
              <a:t>False</a:t>
            </a:r>
          </a:p>
        </p:txBody>
      </p:sp>
      <p:sp>
        <p:nvSpPr>
          <p:cNvPr id="77" name="AutoShape 71"/>
          <p:cNvSpPr>
            <a:spLocks noChangeArrowheads="1"/>
          </p:cNvSpPr>
          <p:nvPr/>
        </p:nvSpPr>
        <p:spPr bwMode="auto">
          <a:xfrm>
            <a:off x="7101057" y="5877272"/>
            <a:ext cx="1944688" cy="358775"/>
          </a:xfrm>
          <a:prstGeom prst="flowChartInputOutpu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Print </a:t>
            </a:r>
            <a:r>
              <a:rPr lang="en-US" sz="1600" dirty="0">
                <a:solidFill>
                  <a:srgbClr val="0000FF"/>
                </a:solidFill>
                <a:latin typeface="Arial" charset="0"/>
                <a:cs typeface="Arial" charset="0"/>
              </a:rPr>
              <a:t>grade</a:t>
            </a:r>
            <a:endParaRPr lang="en-US" sz="1600" dirty="0">
              <a:solidFill>
                <a:srgbClr val="0000FF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78" name="Straight Arrow Connector 77"/>
          <p:cNvCxnSpPr/>
          <p:nvPr/>
        </p:nvCxnSpPr>
        <p:spPr>
          <a:xfrm>
            <a:off x="6673010" y="5661248"/>
            <a:ext cx="1355374" cy="0"/>
          </a:xfrm>
          <a:prstGeom prst="straightConnector1">
            <a:avLst/>
          </a:prstGeom>
          <a:ln w="28575">
            <a:solidFill>
              <a:srgbClr val="00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>
            <a:off x="8039619" y="5664077"/>
            <a:ext cx="3599" cy="238782"/>
          </a:xfrm>
          <a:prstGeom prst="straightConnector1">
            <a:avLst/>
          </a:prstGeom>
          <a:ln w="28575">
            <a:solidFill>
              <a:schemeClr val="tx1"/>
            </a:solidFill>
            <a:headEnd type="diamond" w="lg" len="lg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>
            <a:stCxn id="77" idx="4"/>
          </p:cNvCxnSpPr>
          <p:nvPr/>
        </p:nvCxnSpPr>
        <p:spPr>
          <a:xfrm flipH="1">
            <a:off x="8064786" y="6236047"/>
            <a:ext cx="8615" cy="14528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AutoShape 70"/>
          <p:cNvSpPr>
            <a:spLocks noChangeArrowheads="1"/>
          </p:cNvSpPr>
          <p:nvPr/>
        </p:nvSpPr>
        <p:spPr bwMode="auto">
          <a:xfrm>
            <a:off x="7352676" y="6391520"/>
            <a:ext cx="1441450" cy="421856"/>
          </a:xfrm>
          <a:prstGeom prst="flowChartTerminator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End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51520" y="5445224"/>
            <a:ext cx="4248472" cy="1296144"/>
          </a:xfrm>
          <a:prstGeom prst="roundRect">
            <a:avLst/>
          </a:prstGeom>
          <a:solidFill>
            <a:srgbClr val="FF33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If </a:t>
            </a:r>
            <a:r>
              <a:rPr lang="en-US" dirty="0">
                <a:solidFill>
                  <a:srgbClr val="0000FF"/>
                </a:solidFill>
              </a:rPr>
              <a:t>score </a:t>
            </a:r>
            <a:r>
              <a:rPr lang="en-US" dirty="0">
                <a:solidFill>
                  <a:schemeClr val="bg1"/>
                </a:solidFill>
              </a:rPr>
              <a:t>&gt;= 60, </a:t>
            </a:r>
            <a:r>
              <a:rPr lang="en-US" dirty="0">
                <a:solidFill>
                  <a:srgbClr val="0000FF"/>
                </a:solidFill>
              </a:rPr>
              <a:t>grade</a:t>
            </a:r>
            <a:r>
              <a:rPr lang="en-US" dirty="0">
                <a:solidFill>
                  <a:schemeClr val="bg1"/>
                </a:solidFill>
              </a:rPr>
              <a:t> will have no value to be printed. Therefore, we give an initial value to </a:t>
            </a:r>
            <a:r>
              <a:rPr lang="en-US" dirty="0">
                <a:solidFill>
                  <a:srgbClr val="0000FF"/>
                </a:solidFill>
              </a:rPr>
              <a:t>grade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251520" y="4869160"/>
            <a:ext cx="2124236" cy="504056"/>
          </a:xfrm>
          <a:prstGeom prst="roundRect">
            <a:avLst/>
          </a:prstGeom>
          <a:solidFill>
            <a:srgbClr val="FF33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NOTE THAT</a:t>
            </a:r>
          </a:p>
        </p:txBody>
      </p:sp>
      <p:sp>
        <p:nvSpPr>
          <p:cNvPr id="91" name="AutoShape 72"/>
          <p:cNvSpPr>
            <a:spLocks noChangeArrowheads="1"/>
          </p:cNvSpPr>
          <p:nvPr/>
        </p:nvSpPr>
        <p:spPr bwMode="auto">
          <a:xfrm>
            <a:off x="7380312" y="3429000"/>
            <a:ext cx="1425590" cy="420469"/>
          </a:xfrm>
          <a:prstGeom prst="flowChartProcess">
            <a:avLst/>
          </a:prstGeom>
          <a:solidFill>
            <a:srgbClr val="FFC0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latin typeface="Arial" charset="0"/>
                <a:cs typeface="Arial" charset="0"/>
              </a:rPr>
              <a:t>grade = ‘X’</a:t>
            </a:r>
            <a:endParaRPr lang="en-US" sz="1600" dirty="0">
              <a:solidFill>
                <a:srgbClr val="0000FF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37" name="AutoShape 71"/>
          <p:cNvSpPr>
            <a:spLocks noChangeArrowheads="1"/>
          </p:cNvSpPr>
          <p:nvPr/>
        </p:nvSpPr>
        <p:spPr bwMode="auto">
          <a:xfrm>
            <a:off x="4931568" y="5445224"/>
            <a:ext cx="1944688" cy="358775"/>
          </a:xfrm>
          <a:prstGeom prst="flowChartInputOutput">
            <a:avLst/>
          </a:prstGeom>
          <a:solidFill>
            <a:srgbClr val="92D05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Print “Failed”</a:t>
            </a:r>
            <a:endParaRPr lang="en-US" sz="1600" dirty="0">
              <a:solidFill>
                <a:srgbClr val="0000FF"/>
              </a:solidFill>
              <a:effectLst/>
              <a:latin typeface="Arial" charset="0"/>
              <a:cs typeface="Arial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108700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500"/>
                            </p:stCondLst>
                            <p:childTnLst>
                              <p:par>
                                <p:cTn id="6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000"/>
                            </p:stCondLst>
                            <p:childTnLst>
                              <p:par>
                                <p:cTn id="6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500"/>
                            </p:stCondLst>
                            <p:childTnLst>
                              <p:par>
                                <p:cTn id="7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4000"/>
                            </p:stCondLst>
                            <p:childTnLst>
                              <p:par>
                                <p:cTn id="7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4500"/>
                            </p:stCondLst>
                            <p:childTnLst>
                              <p:par>
                                <p:cTn id="7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500"/>
                            </p:stCondLst>
                            <p:childTnLst>
                              <p:par>
                                <p:cTn id="8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6000"/>
                            </p:stCondLst>
                            <p:childTnLst>
                              <p:par>
                                <p:cTn id="9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6500"/>
                            </p:stCondLst>
                            <p:childTnLst>
                              <p:par>
                                <p:cTn id="9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7000"/>
                            </p:stCondLst>
                            <p:childTnLst>
                              <p:par>
                                <p:cTn id="10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7500"/>
                            </p:stCondLst>
                            <p:childTnLst>
                              <p:par>
                                <p:cTn id="10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5" grpId="0" animBg="1"/>
      <p:bldP spid="31" grpId="0" animBg="1"/>
      <p:bldP spid="34" grpId="0" animBg="1"/>
      <p:bldP spid="35" grpId="0" animBg="1"/>
      <p:bldP spid="43" grpId="0" animBg="1"/>
      <p:bldP spid="44" grpId="0" animBg="1"/>
      <p:bldP spid="45" grpId="0" animBg="1"/>
      <p:bldP spid="46" grpId="0" animBg="1"/>
      <p:bldP spid="65" grpId="0" animBg="1"/>
      <p:bldP spid="67" grpId="0" animBg="1"/>
      <p:bldP spid="69" grpId="0" animBg="1"/>
      <p:bldP spid="70" grpId="0"/>
      <p:bldP spid="73" grpId="0" animBg="1"/>
      <p:bldP spid="76" grpId="0"/>
      <p:bldP spid="77" grpId="0" animBg="1"/>
      <p:bldP spid="83" grpId="0" animBg="1"/>
      <p:bldP spid="89" grpId="0" animBg="1"/>
      <p:bldP spid="90" grpId="0" animBg="1"/>
      <p:bldP spid="91" grpId="0" animBg="1"/>
      <p:bldP spid="3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With a block of statements - PROGRAM 2: CODE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/>
          <p:cNvGrpSpPr/>
          <p:nvPr/>
        </p:nvGrpSpPr>
        <p:grpSpPr>
          <a:xfrm>
            <a:off x="179512" y="1324500"/>
            <a:ext cx="8784976" cy="5047536"/>
            <a:chOff x="323528" y="1236822"/>
            <a:chExt cx="7848872" cy="4746318"/>
          </a:xfrm>
        </p:grpSpPr>
        <p:sp>
          <p:nvSpPr>
            <p:cNvPr id="21" name="TextBox 20"/>
            <p:cNvSpPr txBox="1"/>
            <p:nvPr/>
          </p:nvSpPr>
          <p:spPr>
            <a:xfrm>
              <a:off x="971600" y="1236822"/>
              <a:ext cx="7200800" cy="4746318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// import necessary libraries</a:t>
              </a:r>
            </a:p>
            <a:p>
              <a:r>
                <a:rPr lang="en-US" sz="1400" dirty="0">
                  <a:solidFill>
                    <a:srgbClr val="00B0F0"/>
                  </a:solidFill>
                </a:rPr>
                <a:t>import</a:t>
              </a:r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err="1">
                  <a:solidFill>
                    <a:srgbClr val="0000FF"/>
                  </a:solidFill>
                </a:rPr>
                <a:t>java.util.Scanner</a:t>
              </a:r>
              <a:r>
                <a:rPr lang="en-US" sz="1400" dirty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400" dirty="0">
                  <a:solidFill>
                    <a:srgbClr val="00B0F0"/>
                  </a:solidFill>
                </a:rPr>
                <a:t>public class</a:t>
              </a:r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err="1">
                  <a:solidFill>
                    <a:srgbClr val="0000FF"/>
                  </a:solidFill>
                </a:rPr>
                <a:t>ifStatementN</a:t>
              </a:r>
              <a:endParaRPr lang="en-US" sz="1400" dirty="0">
                <a:solidFill>
                  <a:srgbClr val="0000FF"/>
                </a:solidFill>
              </a:endParaRPr>
            </a:p>
            <a:p>
              <a:r>
                <a:rPr lang="en-US" sz="1400" dirty="0">
                  <a:solidFill>
                    <a:srgbClr val="0000FF"/>
                  </a:solidFill>
                </a:rPr>
                <a:t>{</a:t>
              </a:r>
            </a:p>
            <a:p>
              <a:r>
                <a:rPr lang="en-US" sz="1400" dirty="0">
                  <a:solidFill>
                    <a:srgbClr val="00B0F0"/>
                  </a:solidFill>
                </a:rPr>
                <a:t>      public static void</a:t>
              </a:r>
              <a:r>
                <a:rPr lang="en-US" sz="1400" dirty="0">
                  <a:solidFill>
                    <a:srgbClr val="0000FF"/>
                  </a:solidFill>
                </a:rPr>
                <a:t> main (String[] </a:t>
              </a:r>
              <a:r>
                <a:rPr lang="en-US" sz="1400" dirty="0" err="1">
                  <a:solidFill>
                    <a:srgbClr val="0000FF"/>
                  </a:solidFill>
                </a:rPr>
                <a:t>args</a:t>
              </a:r>
              <a:r>
                <a:rPr lang="en-US" sz="1400" dirty="0">
                  <a:solidFill>
                    <a:srgbClr val="0000FF"/>
                  </a:solidFill>
                </a:rPr>
                <a:t>)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{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      Scanner console = </a:t>
              </a:r>
              <a:r>
                <a:rPr lang="en-US" sz="1400" dirty="0">
                  <a:solidFill>
                    <a:srgbClr val="00B0F0"/>
                  </a:solidFill>
                </a:rPr>
                <a:t>new</a:t>
              </a:r>
              <a:r>
                <a:rPr lang="en-US" sz="1400" dirty="0">
                  <a:solidFill>
                    <a:srgbClr val="0000FF"/>
                  </a:solidFill>
                </a:rPr>
                <a:t> Scanner (</a:t>
              </a:r>
              <a:r>
                <a:rPr lang="en-US" sz="1400" dirty="0" err="1">
                  <a:solidFill>
                    <a:srgbClr val="0000FF"/>
                  </a:solidFill>
                </a:rPr>
                <a:t>System.in</a:t>
              </a:r>
              <a:r>
                <a:rPr lang="en-US" sz="1400" dirty="0">
                  <a:solidFill>
                    <a:srgbClr val="0000FF"/>
                  </a:solidFill>
                </a:rPr>
                <a:t>);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</a:t>
              </a:r>
              <a:r>
                <a:rPr lang="en-US" sz="1400" dirty="0"/>
                <a:t>// Declaration section: to declare needed variables</a:t>
              </a:r>
            </a:p>
            <a:p>
              <a:r>
                <a:rPr lang="en-US" sz="1400" dirty="0"/>
                <a:t>	</a:t>
              </a:r>
              <a:r>
                <a:rPr lang="en-US" sz="1400" dirty="0">
                  <a:solidFill>
                    <a:srgbClr val="00B0F0"/>
                  </a:solidFill>
                </a:rPr>
                <a:t>double</a:t>
              </a:r>
              <a:r>
                <a:rPr lang="en-US" sz="1400" dirty="0">
                  <a:solidFill>
                    <a:srgbClr val="0000FF"/>
                  </a:solidFill>
                </a:rPr>
                <a:t> score;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</a:t>
              </a:r>
              <a:r>
                <a:rPr lang="en-US" sz="1400" dirty="0">
                  <a:solidFill>
                    <a:srgbClr val="00B0F0"/>
                  </a:solidFill>
                </a:rPr>
                <a:t>char</a:t>
              </a:r>
              <a:r>
                <a:rPr lang="en-US" sz="1400" dirty="0">
                  <a:solidFill>
                    <a:srgbClr val="0000FF"/>
                  </a:solidFill>
                </a:rPr>
                <a:t> grade = ‘X’;		</a:t>
              </a:r>
              <a:r>
                <a:rPr lang="en-US" sz="1400" dirty="0">
                  <a:solidFill>
                    <a:srgbClr val="00B050"/>
                  </a:solidFill>
                </a:rPr>
                <a:t>//initialize grade</a:t>
              </a:r>
            </a:p>
            <a:p>
              <a:r>
                <a:rPr lang="en-US" sz="1400" dirty="0"/>
                <a:t>         // Input section: to enter values of used variables</a:t>
              </a:r>
            </a:p>
            <a:p>
              <a:r>
                <a:rPr lang="en-US" sz="1400" dirty="0"/>
                <a:t>	</a:t>
              </a:r>
              <a:r>
                <a:rPr lang="en-US" sz="14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>
                  <a:solidFill>
                    <a:srgbClr val="0000FF"/>
                  </a:solidFill>
                </a:rPr>
                <a:t> (“Enter student’s score”);   </a:t>
              </a:r>
              <a:r>
                <a:rPr lang="en-US" sz="1400" dirty="0">
                  <a:solidFill>
                    <a:srgbClr val="00B050"/>
                  </a:solidFill>
                </a:rPr>
                <a:t>//prompt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score = </a:t>
              </a:r>
              <a:r>
                <a:rPr lang="en-US" sz="1400" dirty="0" err="1">
                  <a:solidFill>
                    <a:srgbClr val="0000FF"/>
                  </a:solidFill>
                </a:rPr>
                <a:t>console.</a:t>
              </a:r>
              <a:r>
                <a:rPr lang="en-US" sz="1400" dirty="0" err="1">
                  <a:solidFill>
                    <a:srgbClr val="00B050"/>
                  </a:solidFill>
                </a:rPr>
                <a:t>nextDouble</a:t>
              </a:r>
              <a:r>
                <a:rPr lang="en-US" sz="1400" dirty="0">
                  <a:solidFill>
                    <a:srgbClr val="00B050"/>
                  </a:solidFill>
                </a:rPr>
                <a:t>()</a:t>
              </a:r>
              <a:r>
                <a:rPr lang="en-US" sz="1400" dirty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400" dirty="0"/>
                <a:t>         // Processing section: processing statements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</a:t>
              </a:r>
              <a:r>
                <a:rPr lang="en-US" sz="1400" dirty="0">
                  <a:solidFill>
                    <a:srgbClr val="00B0F0"/>
                  </a:solidFill>
                </a:rPr>
                <a:t>if</a:t>
              </a:r>
              <a:r>
                <a:rPr lang="en-US" sz="1400" dirty="0">
                  <a:solidFill>
                    <a:srgbClr val="0000FF"/>
                  </a:solidFill>
                </a:rPr>
                <a:t> (score &lt; 60.0)		</a:t>
              </a:r>
              <a:r>
                <a:rPr lang="en-US" sz="1400" dirty="0">
                  <a:solidFill>
                    <a:srgbClr val="00B050"/>
                  </a:solidFill>
                </a:rPr>
                <a:t>// score is double</a:t>
              </a:r>
              <a:r>
                <a:rPr lang="en-US" sz="1400" dirty="0">
                  <a:solidFill>
                    <a:srgbClr val="0000FF"/>
                  </a:solidFill>
                </a:rPr>
                <a:t> 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   {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    grade = ‘F’;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    </a:t>
              </a:r>
              <a:r>
                <a:rPr lang="en-US" sz="14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>
                  <a:solidFill>
                    <a:srgbClr val="0000FF"/>
                  </a:solidFill>
                </a:rPr>
                <a:t> (“Failed”);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   } </a:t>
              </a:r>
              <a:r>
                <a:rPr lang="en-US" sz="1400" dirty="0">
                  <a:solidFill>
                    <a:srgbClr val="00B050"/>
                  </a:solidFill>
                </a:rPr>
                <a:t>//end if(score &lt; 60.0)</a:t>
              </a:r>
            </a:p>
            <a:p>
              <a:r>
                <a:rPr lang="en-US" sz="1400" dirty="0"/>
                <a:t>         // Output section: display program output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</a:t>
              </a:r>
              <a:r>
                <a:rPr lang="en-US" sz="1400" dirty="0" err="1">
                  <a:solidFill>
                    <a:srgbClr val="0000FF"/>
                  </a:solidFill>
                </a:rPr>
                <a:t>System.out.printf</a:t>
              </a:r>
              <a:r>
                <a:rPr lang="en-US" sz="1400" dirty="0">
                  <a:solidFill>
                    <a:srgbClr val="0000FF"/>
                  </a:solidFill>
                </a:rPr>
                <a:t> (“Student’s Grade = %3c“, grade);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} </a:t>
              </a:r>
              <a:r>
                <a:rPr lang="en-US" sz="1400" dirty="0"/>
                <a:t>// end main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} </a:t>
              </a:r>
              <a:r>
                <a:rPr lang="en-US" sz="1400" dirty="0"/>
                <a:t>// end class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23528" y="1236822"/>
              <a:ext cx="576064" cy="47463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15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16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17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18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19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20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21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22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23</a:t>
              </a:r>
            </a:p>
          </p:txBody>
        </p:sp>
      </p:grpSp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2.2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if 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Statement</a:t>
            </a: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99592" y="4584576"/>
            <a:ext cx="8064896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99592" y="4800600"/>
            <a:ext cx="8064896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899592" y="5016624"/>
            <a:ext cx="8064896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899592" y="5232648"/>
            <a:ext cx="8064896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816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With a block of statements - PROGRAM 2: CASE 1 (TRUE)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2.2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if 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Statement</a:t>
            </a: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15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650334" y="3861048"/>
            <a:ext cx="8314155" cy="523220"/>
            <a:chOff x="1029207" y="1236822"/>
            <a:chExt cx="7143193" cy="523220"/>
          </a:xfrm>
        </p:grpSpPr>
        <p:sp>
          <p:nvSpPr>
            <p:cNvPr id="11" name="TextBox 10"/>
            <p:cNvSpPr txBox="1"/>
            <p:nvPr/>
          </p:nvSpPr>
          <p:spPr>
            <a:xfrm>
              <a:off x="1249811" y="1236822"/>
              <a:ext cx="6922589" cy="523220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Enter student’s score</a:t>
              </a:r>
            </a:p>
            <a:p>
              <a:r>
                <a:rPr lang="en-US" sz="1400" dirty="0">
                  <a:solidFill>
                    <a:srgbClr val="FFC000"/>
                  </a:solidFill>
                </a:rPr>
                <a:t>50.5</a:t>
              </a:r>
              <a:r>
                <a:rPr lang="en-US" sz="1400" dirty="0">
                  <a:solidFill>
                    <a:schemeClr val="bg1"/>
                  </a:solidFill>
                </a:rPr>
                <a:t>_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29207" y="1236822"/>
              <a:ext cx="2160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254823" y="1324500"/>
            <a:ext cx="8709665" cy="584775"/>
            <a:chOff x="390814" y="1236822"/>
            <a:chExt cx="7781586" cy="549878"/>
          </a:xfrm>
        </p:grpSpPr>
        <p:sp>
          <p:nvSpPr>
            <p:cNvPr id="14" name="TextBox 13"/>
            <p:cNvSpPr txBox="1"/>
            <p:nvPr/>
          </p:nvSpPr>
          <p:spPr>
            <a:xfrm>
              <a:off x="971600" y="1236822"/>
              <a:ext cx="7200800" cy="549878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	</a:t>
              </a:r>
              <a:r>
                <a:rPr lang="en-US" sz="1600" dirty="0">
                  <a:solidFill>
                    <a:srgbClr val="00B0F0"/>
                  </a:solidFill>
                </a:rPr>
                <a:t>double</a:t>
              </a:r>
              <a:r>
                <a:rPr lang="en-US" sz="1600" dirty="0">
                  <a:solidFill>
                    <a:srgbClr val="0000FF"/>
                  </a:solidFill>
                </a:rPr>
                <a:t> score;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	</a:t>
              </a:r>
              <a:r>
                <a:rPr lang="en-US" sz="1600" dirty="0">
                  <a:solidFill>
                    <a:srgbClr val="00B0F0"/>
                  </a:solidFill>
                </a:rPr>
                <a:t>char</a:t>
              </a:r>
              <a:r>
                <a:rPr lang="en-US" sz="1600" dirty="0">
                  <a:solidFill>
                    <a:srgbClr val="0000FF"/>
                  </a:solidFill>
                </a:rPr>
                <a:t> grade = ‘X’;		</a:t>
              </a:r>
              <a:r>
                <a:rPr lang="en-US" sz="1600" dirty="0">
                  <a:solidFill>
                    <a:srgbClr val="00B050"/>
                  </a:solidFill>
                </a:rPr>
                <a:t>//initialize grade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90814" y="1236822"/>
              <a:ext cx="576064" cy="5498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10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899592" y="4437112"/>
            <a:ext cx="2952328" cy="720080"/>
            <a:chOff x="179512" y="1988840"/>
            <a:chExt cx="2952328" cy="720080"/>
          </a:xfrm>
        </p:grpSpPr>
        <p:sp>
          <p:nvSpPr>
            <p:cNvPr id="25" name="Rounded Rectangle 24"/>
            <p:cNvSpPr/>
            <p:nvPr/>
          </p:nvSpPr>
          <p:spPr>
            <a:xfrm>
              <a:off x="971600" y="1988840"/>
              <a:ext cx="2160240" cy="72008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50.5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179512" y="1988840"/>
              <a:ext cx="720080" cy="72008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score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6012160" y="4437112"/>
            <a:ext cx="2952328" cy="720080"/>
            <a:chOff x="179512" y="1988840"/>
            <a:chExt cx="2952328" cy="720080"/>
          </a:xfrm>
        </p:grpSpPr>
        <p:sp>
          <p:nvSpPr>
            <p:cNvPr id="32" name="Rounded Rectangle 31"/>
            <p:cNvSpPr/>
            <p:nvPr/>
          </p:nvSpPr>
          <p:spPr>
            <a:xfrm>
              <a:off x="971600" y="1988840"/>
              <a:ext cx="2160240" cy="72008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X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179512" y="1988840"/>
              <a:ext cx="720080" cy="72008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grade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254823" y="3204267"/>
            <a:ext cx="8709665" cy="614972"/>
            <a:chOff x="390814" y="2665859"/>
            <a:chExt cx="7781586" cy="578273"/>
          </a:xfrm>
        </p:grpSpPr>
        <p:sp>
          <p:nvSpPr>
            <p:cNvPr id="37" name="TextBox 36"/>
            <p:cNvSpPr txBox="1"/>
            <p:nvPr/>
          </p:nvSpPr>
          <p:spPr>
            <a:xfrm>
              <a:off x="971600" y="2665859"/>
              <a:ext cx="7200800" cy="549878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	</a:t>
              </a:r>
              <a:r>
                <a:rPr lang="en-US" sz="16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600" dirty="0">
                  <a:solidFill>
                    <a:srgbClr val="0000FF"/>
                  </a:solidFill>
                </a:rPr>
                <a:t> (“Enter student’s score”);   </a:t>
              </a:r>
              <a:r>
                <a:rPr lang="en-US" sz="1600" dirty="0">
                  <a:solidFill>
                    <a:srgbClr val="00B050"/>
                  </a:solidFill>
                </a:rPr>
                <a:t>//prompt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	score = </a:t>
              </a:r>
              <a:r>
                <a:rPr lang="en-US" sz="1600" dirty="0" err="1">
                  <a:solidFill>
                    <a:srgbClr val="0000FF"/>
                  </a:solidFill>
                </a:rPr>
                <a:t>console.</a:t>
              </a:r>
              <a:r>
                <a:rPr lang="en-US" sz="1600" dirty="0" err="1">
                  <a:solidFill>
                    <a:srgbClr val="00B050"/>
                  </a:solidFill>
                </a:rPr>
                <a:t>nextDouble</a:t>
              </a:r>
              <a:r>
                <a:rPr lang="en-US" sz="1600" dirty="0">
                  <a:solidFill>
                    <a:srgbClr val="00B050"/>
                  </a:solidFill>
                </a:rPr>
                <a:t>()</a:t>
              </a:r>
              <a:r>
                <a:rPr lang="en-US" sz="1600" dirty="0">
                  <a:solidFill>
                    <a:srgbClr val="0000FF"/>
                  </a:solidFill>
                </a:rPr>
                <a:t>;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90814" y="2694254"/>
              <a:ext cx="576064" cy="5498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13</a:t>
              </a: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899592" y="1988840"/>
            <a:ext cx="2952328" cy="720080"/>
            <a:chOff x="179512" y="1988840"/>
            <a:chExt cx="2952328" cy="720080"/>
          </a:xfrm>
        </p:grpSpPr>
        <p:sp>
          <p:nvSpPr>
            <p:cNvPr id="43" name="Rounded Rectangle 42"/>
            <p:cNvSpPr/>
            <p:nvPr/>
          </p:nvSpPr>
          <p:spPr>
            <a:xfrm>
              <a:off x="971600" y="1988840"/>
              <a:ext cx="2160240" cy="72008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???</a:t>
              </a:r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179512" y="1988840"/>
              <a:ext cx="720080" cy="72008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score</a:t>
              </a: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6012160" y="1988840"/>
            <a:ext cx="2952328" cy="720080"/>
            <a:chOff x="179512" y="1988840"/>
            <a:chExt cx="2952328" cy="720080"/>
          </a:xfrm>
        </p:grpSpPr>
        <p:sp>
          <p:nvSpPr>
            <p:cNvPr id="46" name="Rounded Rectangle 45"/>
            <p:cNvSpPr/>
            <p:nvPr/>
          </p:nvSpPr>
          <p:spPr>
            <a:xfrm>
              <a:off x="971600" y="1988840"/>
              <a:ext cx="2160240" cy="72008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X</a:t>
              </a:r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179512" y="1988840"/>
              <a:ext cx="720080" cy="72008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grade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65192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58"/>
          <p:cNvGrpSpPr/>
          <p:nvPr/>
        </p:nvGrpSpPr>
        <p:grpSpPr>
          <a:xfrm>
            <a:off x="899592" y="5877272"/>
            <a:ext cx="2952328" cy="720080"/>
            <a:chOff x="179512" y="1988840"/>
            <a:chExt cx="2952328" cy="720080"/>
          </a:xfrm>
        </p:grpSpPr>
        <p:sp>
          <p:nvSpPr>
            <p:cNvPr id="60" name="Rounded Rectangle 59"/>
            <p:cNvSpPr/>
            <p:nvPr/>
          </p:nvSpPr>
          <p:spPr>
            <a:xfrm>
              <a:off x="971600" y="1988840"/>
              <a:ext cx="2160240" cy="72008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50.5</a:t>
              </a:r>
            </a:p>
          </p:txBody>
        </p:sp>
        <p:sp>
          <p:nvSpPr>
            <p:cNvPr id="61" name="Rounded Rectangle 60"/>
            <p:cNvSpPr/>
            <p:nvPr/>
          </p:nvSpPr>
          <p:spPr>
            <a:xfrm>
              <a:off x="179512" y="1988840"/>
              <a:ext cx="720080" cy="72008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score</a:t>
              </a:r>
            </a:p>
          </p:txBody>
        </p:sp>
      </p:grpSp>
      <p:grpSp>
        <p:nvGrpSpPr>
          <p:cNvPr id="62" name="Group 61"/>
          <p:cNvGrpSpPr/>
          <p:nvPr/>
        </p:nvGrpSpPr>
        <p:grpSpPr>
          <a:xfrm>
            <a:off x="5940152" y="5877272"/>
            <a:ext cx="2952328" cy="720080"/>
            <a:chOff x="179512" y="1988840"/>
            <a:chExt cx="2952328" cy="720080"/>
          </a:xfrm>
        </p:grpSpPr>
        <p:sp>
          <p:nvSpPr>
            <p:cNvPr id="63" name="Rounded Rectangle 62"/>
            <p:cNvSpPr/>
            <p:nvPr/>
          </p:nvSpPr>
          <p:spPr>
            <a:xfrm>
              <a:off x="971600" y="1988840"/>
              <a:ext cx="2160240" cy="72008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F</a:t>
              </a:r>
            </a:p>
          </p:txBody>
        </p:sp>
        <p:sp>
          <p:nvSpPr>
            <p:cNvPr id="64" name="Rounded Rectangle 63"/>
            <p:cNvSpPr/>
            <p:nvPr/>
          </p:nvSpPr>
          <p:spPr>
            <a:xfrm>
              <a:off x="179512" y="1988840"/>
              <a:ext cx="720080" cy="72008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grade</a:t>
              </a:r>
            </a:p>
          </p:txBody>
        </p:sp>
      </p:grpSp>
      <p:sp>
        <p:nvSpPr>
          <p:cNvPr id="15" name="Rectangle 14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With a block of statements - PROGRAM 2: CASE 1 (TRUE)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2.2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if 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Statement</a:t>
            </a: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16</a:t>
            </a:fld>
            <a:endParaRPr lang="en-US"/>
          </a:p>
        </p:txBody>
      </p:sp>
      <p:grpSp>
        <p:nvGrpSpPr>
          <p:cNvPr id="39" name="Group 38"/>
          <p:cNvGrpSpPr/>
          <p:nvPr/>
        </p:nvGrpSpPr>
        <p:grpSpPr>
          <a:xfrm>
            <a:off x="254823" y="1268762"/>
            <a:ext cx="8709665" cy="1323440"/>
            <a:chOff x="390814" y="1236822"/>
            <a:chExt cx="7781586" cy="1244461"/>
          </a:xfrm>
        </p:grpSpPr>
        <p:sp>
          <p:nvSpPr>
            <p:cNvPr id="40" name="TextBox 39"/>
            <p:cNvSpPr txBox="1"/>
            <p:nvPr/>
          </p:nvSpPr>
          <p:spPr>
            <a:xfrm>
              <a:off x="971600" y="1236823"/>
              <a:ext cx="7200800" cy="1244460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0000FF"/>
                  </a:solidFill>
                </a:rPr>
                <a:t>	</a:t>
              </a:r>
              <a:r>
                <a:rPr lang="en-US" sz="1600" dirty="0">
                  <a:solidFill>
                    <a:srgbClr val="00B0F0"/>
                  </a:solidFill>
                </a:rPr>
                <a:t>if</a:t>
              </a:r>
              <a:r>
                <a:rPr lang="en-US" sz="1600" dirty="0">
                  <a:solidFill>
                    <a:srgbClr val="0000FF"/>
                  </a:solidFill>
                </a:rPr>
                <a:t> (score &lt; 60.0)		</a:t>
              </a:r>
              <a:r>
                <a:rPr lang="en-US" sz="1600" dirty="0">
                  <a:solidFill>
                    <a:srgbClr val="00B050"/>
                  </a:solidFill>
                </a:rPr>
                <a:t>// score is double</a:t>
              </a:r>
              <a:r>
                <a:rPr lang="en-US" sz="1600" dirty="0">
                  <a:solidFill>
                    <a:srgbClr val="0000FF"/>
                  </a:solidFill>
                </a:rPr>
                <a:t> 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	   {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	    grade = ‘F’;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	    </a:t>
              </a:r>
              <a:r>
                <a:rPr lang="en-US" sz="16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600" dirty="0">
                  <a:solidFill>
                    <a:srgbClr val="0000FF"/>
                  </a:solidFill>
                </a:rPr>
                <a:t> (“Failed”);	</a:t>
              </a:r>
              <a:r>
                <a:rPr lang="en-US" sz="1600" dirty="0">
                  <a:solidFill>
                    <a:srgbClr val="00B050"/>
                  </a:solidFill>
                </a:rPr>
                <a:t>//output line 3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	   } </a:t>
              </a:r>
              <a:r>
                <a:rPr lang="en-US" sz="1600" dirty="0">
                  <a:solidFill>
                    <a:srgbClr val="00B050"/>
                  </a:solidFill>
                </a:rPr>
                <a:t>//end if (score &lt; 60.0)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90814" y="1236822"/>
              <a:ext cx="576064" cy="12444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15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16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17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18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19</a:t>
              </a: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899592" y="3429000"/>
            <a:ext cx="2952328" cy="720080"/>
            <a:chOff x="179512" y="1988840"/>
            <a:chExt cx="2952328" cy="720080"/>
          </a:xfrm>
        </p:grpSpPr>
        <p:sp>
          <p:nvSpPr>
            <p:cNvPr id="49" name="Rounded Rectangle 48"/>
            <p:cNvSpPr/>
            <p:nvPr/>
          </p:nvSpPr>
          <p:spPr>
            <a:xfrm>
              <a:off x="971600" y="1988840"/>
              <a:ext cx="2160240" cy="72008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50.5</a:t>
              </a:r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179512" y="1988840"/>
              <a:ext cx="720080" cy="72008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score</a:t>
              </a: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6012160" y="3429000"/>
            <a:ext cx="2952328" cy="720080"/>
            <a:chOff x="179512" y="1988840"/>
            <a:chExt cx="2952328" cy="720080"/>
          </a:xfrm>
        </p:grpSpPr>
        <p:sp>
          <p:nvSpPr>
            <p:cNvPr id="52" name="Rounded Rectangle 51"/>
            <p:cNvSpPr/>
            <p:nvPr/>
          </p:nvSpPr>
          <p:spPr>
            <a:xfrm>
              <a:off x="971600" y="1988840"/>
              <a:ext cx="2160240" cy="72008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F</a:t>
              </a:r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179512" y="1988840"/>
              <a:ext cx="720080" cy="72008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grade</a:t>
              </a:r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179512" y="4437112"/>
            <a:ext cx="8712967" cy="338553"/>
            <a:chOff x="323528" y="1236822"/>
            <a:chExt cx="7848872" cy="318350"/>
          </a:xfrm>
        </p:grpSpPr>
        <p:sp>
          <p:nvSpPr>
            <p:cNvPr id="55" name="TextBox 54"/>
            <p:cNvSpPr txBox="1"/>
            <p:nvPr/>
          </p:nvSpPr>
          <p:spPr>
            <a:xfrm>
              <a:off x="971600" y="1236822"/>
              <a:ext cx="7200800" cy="318350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0000FF"/>
                  </a:solidFill>
                </a:rPr>
                <a:t>	</a:t>
              </a:r>
              <a:r>
                <a:rPr lang="en-US" sz="1600" dirty="0" err="1">
                  <a:solidFill>
                    <a:srgbClr val="0000FF"/>
                  </a:solidFill>
                </a:rPr>
                <a:t>System.out.printf</a:t>
              </a:r>
              <a:r>
                <a:rPr lang="en-US" sz="1600" dirty="0">
                  <a:solidFill>
                    <a:srgbClr val="0000FF"/>
                  </a:solidFill>
                </a:rPr>
                <a:t> (“Student’s Grade = %3c“, grade); </a:t>
              </a:r>
              <a:r>
                <a:rPr lang="en-US" sz="1600" dirty="0">
                  <a:solidFill>
                    <a:srgbClr val="00B050"/>
                  </a:solidFill>
                </a:rPr>
                <a:t>//output line 4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323528" y="1236822"/>
              <a:ext cx="576064" cy="3183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21</a:t>
              </a: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650335" y="2636912"/>
            <a:ext cx="8306644" cy="738664"/>
            <a:chOff x="650335" y="1916832"/>
            <a:chExt cx="8306644" cy="738664"/>
          </a:xfrm>
        </p:grpSpPr>
        <p:sp>
          <p:nvSpPr>
            <p:cNvPr id="58" name="TextBox 57"/>
            <p:cNvSpPr txBox="1"/>
            <p:nvPr/>
          </p:nvSpPr>
          <p:spPr>
            <a:xfrm>
              <a:off x="899592" y="1916832"/>
              <a:ext cx="8057387" cy="738664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Enter student’s score</a:t>
              </a:r>
            </a:p>
            <a:p>
              <a:r>
                <a:rPr lang="en-US" sz="1400" dirty="0">
                  <a:solidFill>
                    <a:srgbClr val="FFC000"/>
                  </a:solidFill>
                </a:rPr>
                <a:t>50.5</a:t>
              </a:r>
              <a:endParaRPr lang="en-US" sz="1400" dirty="0">
                <a:solidFill>
                  <a:schemeClr val="bg1"/>
                </a:solidFill>
              </a:endParaRPr>
            </a:p>
            <a:p>
              <a:r>
                <a:rPr lang="en-US" sz="1400" dirty="0">
                  <a:solidFill>
                    <a:schemeClr val="bg1"/>
                  </a:solidFill>
                </a:rPr>
                <a:t>Failed_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650335" y="1916832"/>
              <a:ext cx="25143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3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650335" y="4847673"/>
            <a:ext cx="8242144" cy="975594"/>
            <a:chOff x="650335" y="4055585"/>
            <a:chExt cx="8242144" cy="975594"/>
          </a:xfrm>
        </p:grpSpPr>
        <p:sp>
          <p:nvSpPr>
            <p:cNvPr id="57" name="TextBox 56"/>
            <p:cNvSpPr txBox="1"/>
            <p:nvPr/>
          </p:nvSpPr>
          <p:spPr>
            <a:xfrm>
              <a:off x="904877" y="4055585"/>
              <a:ext cx="7987602" cy="954107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Enter student’s score</a:t>
              </a:r>
            </a:p>
            <a:p>
              <a:r>
                <a:rPr lang="en-US" sz="1400" dirty="0">
                  <a:solidFill>
                    <a:srgbClr val="FFC000"/>
                  </a:solidFill>
                </a:rPr>
                <a:t>50.5</a:t>
              </a:r>
              <a:endParaRPr lang="en-US" sz="1400" dirty="0">
                <a:solidFill>
                  <a:schemeClr val="bg1"/>
                </a:solidFill>
              </a:endParaRPr>
            </a:p>
            <a:p>
              <a:r>
                <a:rPr lang="en-US" sz="1400" dirty="0">
                  <a:solidFill>
                    <a:schemeClr val="bg1"/>
                  </a:solidFill>
                </a:rPr>
                <a:t>Failed</a:t>
              </a:r>
            </a:p>
            <a:p>
              <a:r>
                <a:rPr lang="en-US" sz="1400" dirty="0">
                  <a:solidFill>
                    <a:schemeClr val="bg1"/>
                  </a:solidFill>
                </a:rPr>
                <a:t>Student’s Grade = ~~F_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650335" y="4077072"/>
              <a:ext cx="251436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3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0655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With a block of statements: PROGRAM 2: CASE 2 (FALSE)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2.2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if 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Statement</a:t>
            </a: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17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650334" y="4085781"/>
            <a:ext cx="8242145" cy="523220"/>
            <a:chOff x="1029207" y="1236822"/>
            <a:chExt cx="7143193" cy="523220"/>
          </a:xfrm>
        </p:grpSpPr>
        <p:sp>
          <p:nvSpPr>
            <p:cNvPr id="11" name="TextBox 10"/>
            <p:cNvSpPr txBox="1"/>
            <p:nvPr/>
          </p:nvSpPr>
          <p:spPr>
            <a:xfrm>
              <a:off x="1249811" y="1236822"/>
              <a:ext cx="6922589" cy="523220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Enter student’s score</a:t>
              </a:r>
            </a:p>
            <a:p>
              <a:r>
                <a:rPr lang="en-US" sz="1400" dirty="0">
                  <a:solidFill>
                    <a:srgbClr val="FFC000"/>
                  </a:solidFill>
                </a:rPr>
                <a:t>85</a:t>
              </a:r>
              <a:r>
                <a:rPr lang="en-US" sz="1400" dirty="0">
                  <a:solidFill>
                    <a:schemeClr val="bg1"/>
                  </a:solidFill>
                </a:rPr>
                <a:t>_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29207" y="1236822"/>
              <a:ext cx="2160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254823" y="1324500"/>
            <a:ext cx="8637657" cy="584775"/>
            <a:chOff x="390814" y="1236822"/>
            <a:chExt cx="7781586" cy="549878"/>
          </a:xfrm>
        </p:grpSpPr>
        <p:sp>
          <p:nvSpPr>
            <p:cNvPr id="14" name="TextBox 13"/>
            <p:cNvSpPr txBox="1"/>
            <p:nvPr/>
          </p:nvSpPr>
          <p:spPr>
            <a:xfrm>
              <a:off x="971600" y="1236822"/>
              <a:ext cx="7200800" cy="549878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	</a:t>
              </a:r>
              <a:r>
                <a:rPr lang="en-US" sz="1600" dirty="0">
                  <a:solidFill>
                    <a:srgbClr val="00B0F0"/>
                  </a:solidFill>
                </a:rPr>
                <a:t>double</a:t>
              </a:r>
              <a:r>
                <a:rPr lang="en-US" sz="1600" dirty="0">
                  <a:solidFill>
                    <a:srgbClr val="0000FF"/>
                  </a:solidFill>
                </a:rPr>
                <a:t> score;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	</a:t>
              </a:r>
              <a:r>
                <a:rPr lang="en-US" sz="1600" dirty="0">
                  <a:solidFill>
                    <a:srgbClr val="00B0F0"/>
                  </a:solidFill>
                </a:rPr>
                <a:t>char</a:t>
              </a:r>
              <a:r>
                <a:rPr lang="en-US" sz="1600" dirty="0">
                  <a:solidFill>
                    <a:srgbClr val="0000FF"/>
                  </a:solidFill>
                </a:rPr>
                <a:t> grade = ‘X’;		</a:t>
              </a:r>
              <a:r>
                <a:rPr lang="en-US" sz="1600" dirty="0">
                  <a:solidFill>
                    <a:srgbClr val="00B050"/>
                  </a:solidFill>
                </a:rPr>
                <a:t>//initialize grade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90814" y="1236822"/>
              <a:ext cx="576064" cy="5498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10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899592" y="4661845"/>
            <a:ext cx="2952328" cy="720080"/>
            <a:chOff x="179512" y="1988840"/>
            <a:chExt cx="2952328" cy="720080"/>
          </a:xfrm>
        </p:grpSpPr>
        <p:sp>
          <p:nvSpPr>
            <p:cNvPr id="25" name="Rounded Rectangle 24"/>
            <p:cNvSpPr/>
            <p:nvPr/>
          </p:nvSpPr>
          <p:spPr>
            <a:xfrm>
              <a:off x="971600" y="1988840"/>
              <a:ext cx="2160240" cy="72008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85.0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179512" y="1988840"/>
              <a:ext cx="720080" cy="72008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score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5868144" y="4661845"/>
            <a:ext cx="2952328" cy="720080"/>
            <a:chOff x="179512" y="1988840"/>
            <a:chExt cx="2952328" cy="720080"/>
          </a:xfrm>
        </p:grpSpPr>
        <p:sp>
          <p:nvSpPr>
            <p:cNvPr id="32" name="Rounded Rectangle 31"/>
            <p:cNvSpPr/>
            <p:nvPr/>
          </p:nvSpPr>
          <p:spPr>
            <a:xfrm>
              <a:off x="971600" y="1988840"/>
              <a:ext cx="2160240" cy="72008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X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179512" y="1988840"/>
              <a:ext cx="720080" cy="72008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grade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254823" y="3429000"/>
            <a:ext cx="8637657" cy="614972"/>
            <a:chOff x="390814" y="2665859"/>
            <a:chExt cx="7781586" cy="578273"/>
          </a:xfrm>
        </p:grpSpPr>
        <p:sp>
          <p:nvSpPr>
            <p:cNvPr id="37" name="TextBox 36"/>
            <p:cNvSpPr txBox="1"/>
            <p:nvPr/>
          </p:nvSpPr>
          <p:spPr>
            <a:xfrm>
              <a:off x="971600" y="2665859"/>
              <a:ext cx="7200800" cy="549878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	</a:t>
              </a:r>
              <a:r>
                <a:rPr lang="en-US" sz="16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600" dirty="0">
                  <a:solidFill>
                    <a:srgbClr val="0000FF"/>
                  </a:solidFill>
                </a:rPr>
                <a:t> (“Enter student’s score”);   </a:t>
              </a:r>
              <a:r>
                <a:rPr lang="en-US" sz="1600" dirty="0">
                  <a:solidFill>
                    <a:srgbClr val="00B050"/>
                  </a:solidFill>
                </a:rPr>
                <a:t>//prompt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	score = </a:t>
              </a:r>
              <a:r>
                <a:rPr lang="en-US" sz="1600" dirty="0" err="1">
                  <a:solidFill>
                    <a:srgbClr val="0000FF"/>
                  </a:solidFill>
                </a:rPr>
                <a:t>console.</a:t>
              </a:r>
              <a:r>
                <a:rPr lang="en-US" sz="1600" dirty="0" err="1">
                  <a:solidFill>
                    <a:srgbClr val="00B050"/>
                  </a:solidFill>
                </a:rPr>
                <a:t>nextDouble</a:t>
              </a:r>
              <a:r>
                <a:rPr lang="en-US" sz="1600" dirty="0">
                  <a:solidFill>
                    <a:srgbClr val="00B050"/>
                  </a:solidFill>
                </a:rPr>
                <a:t>()</a:t>
              </a:r>
              <a:r>
                <a:rPr lang="en-US" sz="1600" dirty="0">
                  <a:solidFill>
                    <a:srgbClr val="0000FF"/>
                  </a:solidFill>
                </a:rPr>
                <a:t>;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90814" y="2694254"/>
              <a:ext cx="576064" cy="5498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13</a:t>
              </a: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899592" y="1988840"/>
            <a:ext cx="2952328" cy="720080"/>
            <a:chOff x="179512" y="1988840"/>
            <a:chExt cx="2952328" cy="720080"/>
          </a:xfrm>
        </p:grpSpPr>
        <p:sp>
          <p:nvSpPr>
            <p:cNvPr id="43" name="Rounded Rectangle 42"/>
            <p:cNvSpPr/>
            <p:nvPr/>
          </p:nvSpPr>
          <p:spPr>
            <a:xfrm>
              <a:off x="971600" y="1988840"/>
              <a:ext cx="2160240" cy="72008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???</a:t>
              </a:r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179512" y="1988840"/>
              <a:ext cx="720080" cy="72008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score</a:t>
              </a: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5940152" y="1988840"/>
            <a:ext cx="2952328" cy="720080"/>
            <a:chOff x="179512" y="1988840"/>
            <a:chExt cx="2952328" cy="720080"/>
          </a:xfrm>
        </p:grpSpPr>
        <p:sp>
          <p:nvSpPr>
            <p:cNvPr id="46" name="Rounded Rectangle 45"/>
            <p:cNvSpPr/>
            <p:nvPr/>
          </p:nvSpPr>
          <p:spPr>
            <a:xfrm>
              <a:off x="971600" y="1988840"/>
              <a:ext cx="2160240" cy="72008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X</a:t>
              </a:r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179512" y="1988840"/>
              <a:ext cx="720080" cy="72008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grade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88165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58"/>
          <p:cNvGrpSpPr/>
          <p:nvPr/>
        </p:nvGrpSpPr>
        <p:grpSpPr>
          <a:xfrm>
            <a:off x="899592" y="5661248"/>
            <a:ext cx="2952328" cy="720080"/>
            <a:chOff x="179512" y="1988840"/>
            <a:chExt cx="2952328" cy="720080"/>
          </a:xfrm>
        </p:grpSpPr>
        <p:sp>
          <p:nvSpPr>
            <p:cNvPr id="60" name="Rounded Rectangle 59"/>
            <p:cNvSpPr/>
            <p:nvPr/>
          </p:nvSpPr>
          <p:spPr>
            <a:xfrm>
              <a:off x="971600" y="1988840"/>
              <a:ext cx="2160240" cy="72008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85.0</a:t>
              </a:r>
            </a:p>
          </p:txBody>
        </p:sp>
        <p:sp>
          <p:nvSpPr>
            <p:cNvPr id="61" name="Rounded Rectangle 60"/>
            <p:cNvSpPr/>
            <p:nvPr/>
          </p:nvSpPr>
          <p:spPr>
            <a:xfrm>
              <a:off x="179512" y="1988840"/>
              <a:ext cx="720080" cy="72008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score</a:t>
              </a:r>
            </a:p>
          </p:txBody>
        </p:sp>
      </p:grpSp>
      <p:grpSp>
        <p:nvGrpSpPr>
          <p:cNvPr id="62" name="Group 61"/>
          <p:cNvGrpSpPr/>
          <p:nvPr/>
        </p:nvGrpSpPr>
        <p:grpSpPr>
          <a:xfrm>
            <a:off x="5940152" y="5661248"/>
            <a:ext cx="2952328" cy="720080"/>
            <a:chOff x="179512" y="1988840"/>
            <a:chExt cx="2952328" cy="720080"/>
          </a:xfrm>
        </p:grpSpPr>
        <p:sp>
          <p:nvSpPr>
            <p:cNvPr id="63" name="Rounded Rectangle 62"/>
            <p:cNvSpPr/>
            <p:nvPr/>
          </p:nvSpPr>
          <p:spPr>
            <a:xfrm>
              <a:off x="971600" y="1988840"/>
              <a:ext cx="2160240" cy="72008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X</a:t>
              </a:r>
            </a:p>
          </p:txBody>
        </p:sp>
        <p:sp>
          <p:nvSpPr>
            <p:cNvPr id="64" name="Rounded Rectangle 63"/>
            <p:cNvSpPr/>
            <p:nvPr/>
          </p:nvSpPr>
          <p:spPr>
            <a:xfrm>
              <a:off x="179512" y="1988840"/>
              <a:ext cx="720080" cy="72008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grade</a:t>
              </a:r>
            </a:p>
          </p:txBody>
        </p:sp>
      </p:grpSp>
      <p:sp>
        <p:nvSpPr>
          <p:cNvPr id="15" name="Rectangle 14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With a block of statements - PROGRAM 2: CASE 2 (FALSE)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2.2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if 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Statement</a:t>
            </a: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18</a:t>
            </a:fld>
            <a:endParaRPr lang="en-US"/>
          </a:p>
        </p:txBody>
      </p:sp>
      <p:grpSp>
        <p:nvGrpSpPr>
          <p:cNvPr id="39" name="Group 38"/>
          <p:cNvGrpSpPr/>
          <p:nvPr/>
        </p:nvGrpSpPr>
        <p:grpSpPr>
          <a:xfrm>
            <a:off x="254823" y="1268762"/>
            <a:ext cx="8709665" cy="1323440"/>
            <a:chOff x="390814" y="1236822"/>
            <a:chExt cx="7781586" cy="1244461"/>
          </a:xfrm>
        </p:grpSpPr>
        <p:sp>
          <p:nvSpPr>
            <p:cNvPr id="40" name="TextBox 39"/>
            <p:cNvSpPr txBox="1"/>
            <p:nvPr/>
          </p:nvSpPr>
          <p:spPr>
            <a:xfrm>
              <a:off x="971600" y="1236823"/>
              <a:ext cx="7200800" cy="1244460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0000FF"/>
                  </a:solidFill>
                </a:rPr>
                <a:t>	</a:t>
              </a:r>
              <a:r>
                <a:rPr lang="en-US" sz="1600" dirty="0">
                  <a:solidFill>
                    <a:srgbClr val="00B0F0"/>
                  </a:solidFill>
                </a:rPr>
                <a:t>if</a:t>
              </a:r>
              <a:r>
                <a:rPr lang="en-US" sz="1600" dirty="0">
                  <a:solidFill>
                    <a:srgbClr val="0000FF"/>
                  </a:solidFill>
                </a:rPr>
                <a:t> (score &lt; 60.0)		</a:t>
              </a:r>
              <a:r>
                <a:rPr lang="en-US" sz="1600" dirty="0">
                  <a:solidFill>
                    <a:srgbClr val="00B050"/>
                  </a:solidFill>
                </a:rPr>
                <a:t>// score is double</a:t>
              </a:r>
              <a:r>
                <a:rPr lang="en-US" sz="1600" dirty="0">
                  <a:solidFill>
                    <a:srgbClr val="0000FF"/>
                  </a:solidFill>
                </a:rPr>
                <a:t> 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	   {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	    grade = ‘F’;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	    </a:t>
              </a:r>
              <a:r>
                <a:rPr lang="en-US" sz="16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600" dirty="0">
                  <a:solidFill>
                    <a:srgbClr val="0000FF"/>
                  </a:solidFill>
                </a:rPr>
                <a:t> (“Failed”);	</a:t>
              </a:r>
              <a:endParaRPr lang="en-US" sz="1600" dirty="0">
                <a:solidFill>
                  <a:srgbClr val="00B050"/>
                </a:solidFill>
              </a:endParaRPr>
            </a:p>
            <a:p>
              <a:r>
                <a:rPr lang="en-US" sz="1600" dirty="0">
                  <a:solidFill>
                    <a:srgbClr val="0000FF"/>
                  </a:solidFill>
                </a:rPr>
                <a:t>	   } </a:t>
              </a:r>
              <a:r>
                <a:rPr lang="en-US" sz="1600" dirty="0">
                  <a:solidFill>
                    <a:srgbClr val="00B050"/>
                  </a:solidFill>
                </a:rPr>
                <a:t>//end if (score &lt; 60.0)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90814" y="1236822"/>
              <a:ext cx="576064" cy="12444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15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16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17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18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19</a:t>
              </a: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899592" y="3212976"/>
            <a:ext cx="2952328" cy="720080"/>
            <a:chOff x="179512" y="1988840"/>
            <a:chExt cx="2952328" cy="720080"/>
          </a:xfrm>
        </p:grpSpPr>
        <p:sp>
          <p:nvSpPr>
            <p:cNvPr id="49" name="Rounded Rectangle 48"/>
            <p:cNvSpPr/>
            <p:nvPr/>
          </p:nvSpPr>
          <p:spPr>
            <a:xfrm>
              <a:off x="971600" y="1988840"/>
              <a:ext cx="2160240" cy="72008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85.0</a:t>
              </a:r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179512" y="1988840"/>
              <a:ext cx="720080" cy="72008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score</a:t>
              </a: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6012160" y="3212976"/>
            <a:ext cx="2952328" cy="720080"/>
            <a:chOff x="179512" y="1988840"/>
            <a:chExt cx="2952328" cy="720080"/>
          </a:xfrm>
        </p:grpSpPr>
        <p:sp>
          <p:nvSpPr>
            <p:cNvPr id="52" name="Rounded Rectangle 51"/>
            <p:cNvSpPr/>
            <p:nvPr/>
          </p:nvSpPr>
          <p:spPr>
            <a:xfrm>
              <a:off x="971600" y="1988840"/>
              <a:ext cx="2160240" cy="72008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X</a:t>
              </a:r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179512" y="1988840"/>
              <a:ext cx="720080" cy="72008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grade</a:t>
              </a:r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179512" y="4437112"/>
            <a:ext cx="8712967" cy="338553"/>
            <a:chOff x="323528" y="1236822"/>
            <a:chExt cx="7848872" cy="318350"/>
          </a:xfrm>
        </p:grpSpPr>
        <p:sp>
          <p:nvSpPr>
            <p:cNvPr id="55" name="TextBox 54"/>
            <p:cNvSpPr txBox="1"/>
            <p:nvPr/>
          </p:nvSpPr>
          <p:spPr>
            <a:xfrm>
              <a:off x="971600" y="1236822"/>
              <a:ext cx="7200800" cy="318350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0000FF"/>
                  </a:solidFill>
                </a:rPr>
                <a:t>	</a:t>
              </a:r>
              <a:r>
                <a:rPr lang="en-US" sz="1600" dirty="0" err="1">
                  <a:solidFill>
                    <a:srgbClr val="0000FF"/>
                  </a:solidFill>
                </a:rPr>
                <a:t>System.out.printf</a:t>
              </a:r>
              <a:r>
                <a:rPr lang="en-US" sz="1600" dirty="0">
                  <a:solidFill>
                    <a:srgbClr val="0000FF"/>
                  </a:solidFill>
                </a:rPr>
                <a:t> (“Student’s Grade = %3c“, grade);</a:t>
              </a:r>
              <a:endParaRPr lang="en-US" sz="1600" dirty="0">
                <a:solidFill>
                  <a:srgbClr val="00B050"/>
                </a:solidFill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323528" y="1236822"/>
              <a:ext cx="576064" cy="3183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21</a:t>
              </a: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650335" y="2636912"/>
            <a:ext cx="8306644" cy="523220"/>
            <a:chOff x="650335" y="1916832"/>
            <a:chExt cx="8306644" cy="523220"/>
          </a:xfrm>
        </p:grpSpPr>
        <p:sp>
          <p:nvSpPr>
            <p:cNvPr id="58" name="TextBox 57"/>
            <p:cNvSpPr txBox="1"/>
            <p:nvPr/>
          </p:nvSpPr>
          <p:spPr>
            <a:xfrm>
              <a:off x="899592" y="1916832"/>
              <a:ext cx="8057387" cy="523220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Enter student’s score</a:t>
              </a:r>
            </a:p>
            <a:p>
              <a:r>
                <a:rPr lang="en-US" sz="1400" dirty="0">
                  <a:solidFill>
                    <a:srgbClr val="FFC000"/>
                  </a:solidFill>
                </a:rPr>
                <a:t>85</a:t>
              </a:r>
              <a:r>
                <a:rPr lang="en-US" sz="1400" dirty="0">
                  <a:solidFill>
                    <a:schemeClr val="bg1"/>
                  </a:solidFill>
                </a:rPr>
                <a:t>_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650335" y="1916832"/>
              <a:ext cx="2514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650335" y="4847673"/>
            <a:ext cx="8242144" cy="760151"/>
            <a:chOff x="650335" y="4055585"/>
            <a:chExt cx="8242144" cy="760151"/>
          </a:xfrm>
        </p:grpSpPr>
        <p:sp>
          <p:nvSpPr>
            <p:cNvPr id="57" name="TextBox 56"/>
            <p:cNvSpPr txBox="1"/>
            <p:nvPr/>
          </p:nvSpPr>
          <p:spPr>
            <a:xfrm>
              <a:off x="904877" y="4055585"/>
              <a:ext cx="7987602" cy="738664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Enter student’s score</a:t>
              </a:r>
            </a:p>
            <a:p>
              <a:r>
                <a:rPr lang="en-US" sz="1400" dirty="0">
                  <a:solidFill>
                    <a:srgbClr val="FFC000"/>
                  </a:solidFill>
                </a:rPr>
                <a:t>85</a:t>
              </a:r>
              <a:endParaRPr lang="en-US" sz="1400" dirty="0">
                <a:solidFill>
                  <a:schemeClr val="bg1"/>
                </a:solidFill>
              </a:endParaRPr>
            </a:p>
            <a:p>
              <a:r>
                <a:rPr lang="en-US" sz="1400" dirty="0">
                  <a:solidFill>
                    <a:schemeClr val="bg1"/>
                  </a:solidFill>
                </a:rPr>
                <a:t>Student’s Grade = ~~X_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650335" y="4077072"/>
              <a:ext cx="25143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72361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44624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3.1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if…else 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Statement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677111" y="1556792"/>
            <a:ext cx="2916324" cy="122413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00B0F0"/>
                </a:solidFill>
              </a:rPr>
              <a:t>if (logical expression) </a:t>
            </a:r>
          </a:p>
          <a:p>
            <a:r>
              <a:rPr lang="en-US" dirty="0">
                <a:solidFill>
                  <a:srgbClr val="00B0F0"/>
                </a:solidFill>
              </a:rPr>
              <a:t>   Statement1;</a:t>
            </a:r>
          </a:p>
          <a:p>
            <a:r>
              <a:rPr lang="en-US" dirty="0">
                <a:solidFill>
                  <a:srgbClr val="00B0F0"/>
                </a:solidFill>
              </a:rPr>
              <a:t>else</a:t>
            </a:r>
          </a:p>
          <a:p>
            <a:r>
              <a:rPr lang="en-US" dirty="0">
                <a:solidFill>
                  <a:srgbClr val="00B0F0"/>
                </a:solidFill>
              </a:rPr>
              <a:t>   Statement2;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36951" y="1556792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SYNTAX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60232" y="1664804"/>
            <a:ext cx="2160240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FLOWCHART</a:t>
            </a:r>
          </a:p>
        </p:txBody>
      </p:sp>
      <p:sp>
        <p:nvSpPr>
          <p:cNvPr id="4" name="Oval 3"/>
          <p:cNvSpPr/>
          <p:nvPr/>
        </p:nvSpPr>
        <p:spPr>
          <a:xfrm>
            <a:off x="5976155" y="1988840"/>
            <a:ext cx="360040" cy="360040"/>
          </a:xfrm>
          <a:prstGeom prst="ellipse">
            <a:avLst/>
          </a:prstGeom>
          <a:solidFill>
            <a:srgbClr val="FF33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0" name="Flowchart: Decision 9"/>
          <p:cNvSpPr/>
          <p:nvPr/>
        </p:nvSpPr>
        <p:spPr>
          <a:xfrm>
            <a:off x="4716015" y="2852936"/>
            <a:ext cx="2880320" cy="1440160"/>
          </a:xfrm>
          <a:prstGeom prst="flowChartDecision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Logical Expression?</a:t>
            </a:r>
          </a:p>
        </p:txBody>
      </p:sp>
      <p:sp>
        <p:nvSpPr>
          <p:cNvPr id="16" name="AutoShape 72"/>
          <p:cNvSpPr>
            <a:spLocks noChangeArrowheads="1"/>
          </p:cNvSpPr>
          <p:nvPr/>
        </p:nvSpPr>
        <p:spPr bwMode="auto">
          <a:xfrm>
            <a:off x="3794482" y="4088651"/>
            <a:ext cx="1425590" cy="420469"/>
          </a:xfrm>
          <a:prstGeom prst="flowChartProcess">
            <a:avLst/>
          </a:prstGeom>
          <a:solidFill>
            <a:srgbClr val="92D05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latin typeface="Arial" charset="0"/>
                <a:cs typeface="Arial" charset="0"/>
              </a:rPr>
              <a:t>Statement 1</a:t>
            </a:r>
            <a:endParaRPr lang="en-US" sz="1600" dirty="0">
              <a:solidFill>
                <a:srgbClr val="0000FF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230457" y="3212976"/>
            <a:ext cx="6830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06600"/>
                </a:solidFill>
              </a:rPr>
              <a:t>True</a:t>
            </a:r>
          </a:p>
        </p:txBody>
      </p:sp>
      <p:sp>
        <p:nvSpPr>
          <p:cNvPr id="18" name="Oval 17"/>
          <p:cNvSpPr/>
          <p:nvPr/>
        </p:nvSpPr>
        <p:spPr>
          <a:xfrm>
            <a:off x="5976155" y="5517232"/>
            <a:ext cx="360040" cy="360040"/>
          </a:xfrm>
          <a:prstGeom prst="ellipse">
            <a:avLst/>
          </a:prstGeom>
          <a:solidFill>
            <a:srgbClr val="FF33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15" name="Straight Arrow Connector 14"/>
          <p:cNvCxnSpPr>
            <a:stCxn id="4" idx="4"/>
            <a:endCxn id="10" idx="0"/>
          </p:cNvCxnSpPr>
          <p:nvPr/>
        </p:nvCxnSpPr>
        <p:spPr>
          <a:xfrm>
            <a:off x="6156175" y="2348880"/>
            <a:ext cx="0" cy="50405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8316415" y="4509120"/>
            <a:ext cx="0" cy="1224136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0" idx="1"/>
          </p:cNvCxnSpPr>
          <p:nvPr/>
        </p:nvCxnSpPr>
        <p:spPr>
          <a:xfrm flipH="1">
            <a:off x="4507278" y="3573016"/>
            <a:ext cx="208737" cy="0"/>
          </a:xfrm>
          <a:prstGeom prst="straightConnector1">
            <a:avLst/>
          </a:prstGeom>
          <a:ln w="28575">
            <a:solidFill>
              <a:srgbClr val="00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4499992" y="3573016"/>
            <a:ext cx="7286" cy="515635"/>
          </a:xfrm>
          <a:prstGeom prst="straightConnector1">
            <a:avLst/>
          </a:prstGeom>
          <a:ln w="28575">
            <a:solidFill>
              <a:srgbClr val="00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4499991" y="4497541"/>
            <a:ext cx="1" cy="1199711"/>
          </a:xfrm>
          <a:prstGeom prst="straightConnector1">
            <a:avLst/>
          </a:prstGeom>
          <a:ln w="28575">
            <a:solidFill>
              <a:srgbClr val="00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endCxn id="18" idx="2"/>
          </p:cNvCxnSpPr>
          <p:nvPr/>
        </p:nvCxnSpPr>
        <p:spPr>
          <a:xfrm>
            <a:off x="4499991" y="5697252"/>
            <a:ext cx="1476164" cy="0"/>
          </a:xfrm>
          <a:prstGeom prst="straightConnector1">
            <a:avLst/>
          </a:prstGeom>
          <a:ln w="28575">
            <a:solidFill>
              <a:srgbClr val="00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596335" y="3212976"/>
            <a:ext cx="6830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000FF"/>
                </a:solidFill>
              </a:rPr>
              <a:t>False</a:t>
            </a:r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6156175" y="5877272"/>
            <a:ext cx="0" cy="25202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AutoShape 72"/>
          <p:cNvSpPr>
            <a:spLocks noChangeArrowheads="1"/>
          </p:cNvSpPr>
          <p:nvPr/>
        </p:nvSpPr>
        <p:spPr bwMode="auto">
          <a:xfrm>
            <a:off x="7610905" y="4077072"/>
            <a:ext cx="1425590" cy="420469"/>
          </a:xfrm>
          <a:prstGeom prst="flowChartProcess">
            <a:avLst/>
          </a:prstGeom>
          <a:solidFill>
            <a:srgbClr val="0000FF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Arial" charset="0"/>
                <a:cs typeface="Arial" charset="0"/>
              </a:rPr>
              <a:t>Statement 2</a:t>
            </a:r>
            <a:endParaRPr lang="en-US" sz="1600" dirty="0">
              <a:solidFill>
                <a:schemeClr val="bg1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7596335" y="3573016"/>
            <a:ext cx="738577" cy="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H="1">
            <a:off x="8309129" y="3573016"/>
            <a:ext cx="7286" cy="515635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H="1">
            <a:off x="6336195" y="5697252"/>
            <a:ext cx="1998717" cy="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ontent Placeholder 4"/>
          <p:cNvSpPr>
            <a:spLocks noGrp="1"/>
          </p:cNvSpPr>
          <p:nvPr>
            <p:ph idx="1"/>
          </p:nvPr>
        </p:nvSpPr>
        <p:spPr>
          <a:xfrm>
            <a:off x="-36512" y="2996952"/>
            <a:ext cx="4299045" cy="421507"/>
          </a:xfrm>
        </p:spPr>
        <p:txBody>
          <a:bodyPr>
            <a:noAutofit/>
          </a:bodyPr>
          <a:lstStyle/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33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the logical expression is </a:t>
            </a:r>
            <a:r>
              <a:rPr lang="en-US" sz="2000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true</a:t>
            </a:r>
            <a:r>
              <a:rPr lang="en-US" sz="2000" dirty="0">
                <a:solidFill>
                  <a:srgbClr val="FF33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</p:txBody>
      </p:sp>
      <p:sp>
        <p:nvSpPr>
          <p:cNvPr id="35" name="Content Placeholder 4"/>
          <p:cNvSpPr txBox="1">
            <a:spLocks/>
          </p:cNvSpPr>
          <p:nvPr/>
        </p:nvSpPr>
        <p:spPr>
          <a:xfrm>
            <a:off x="259904" y="3356992"/>
            <a:ext cx="4146646" cy="421507"/>
          </a:xfrm>
          <a:prstGeom prst="rect">
            <a:avLst/>
          </a:prstGeom>
        </p:spPr>
        <p:txBody>
          <a:bodyPr vert="horz">
            <a:no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Statement 1 is executed</a:t>
            </a:r>
          </a:p>
        </p:txBody>
      </p:sp>
      <p:sp>
        <p:nvSpPr>
          <p:cNvPr id="43" name="Content Placeholder 4"/>
          <p:cNvSpPr txBox="1">
            <a:spLocks/>
          </p:cNvSpPr>
          <p:nvPr/>
        </p:nvSpPr>
        <p:spPr>
          <a:xfrm>
            <a:off x="259904" y="3717032"/>
            <a:ext cx="4146646" cy="421507"/>
          </a:xfrm>
          <a:prstGeom prst="rect">
            <a:avLst/>
          </a:prstGeom>
        </p:spPr>
        <p:txBody>
          <a:bodyPr vert="horz">
            <a:no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Execution continues at point 2</a:t>
            </a:r>
          </a:p>
        </p:txBody>
      </p:sp>
      <p:sp>
        <p:nvSpPr>
          <p:cNvPr id="44" name="Content Placeholder 4"/>
          <p:cNvSpPr txBox="1">
            <a:spLocks/>
          </p:cNvSpPr>
          <p:nvPr/>
        </p:nvSpPr>
        <p:spPr>
          <a:xfrm>
            <a:off x="-36512" y="4591669"/>
            <a:ext cx="4299045" cy="421507"/>
          </a:xfrm>
          <a:prstGeom prst="rect">
            <a:avLst/>
          </a:prstGeom>
        </p:spPr>
        <p:txBody>
          <a:bodyPr vert="horz">
            <a:no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33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the logical expression is </a:t>
            </a:r>
            <a:r>
              <a:rPr lang="en-US" sz="2000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false</a:t>
            </a:r>
            <a:r>
              <a:rPr lang="en-US" sz="2000" dirty="0">
                <a:solidFill>
                  <a:srgbClr val="FF33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</p:txBody>
      </p:sp>
      <p:sp>
        <p:nvSpPr>
          <p:cNvPr id="45" name="Content Placeholder 4"/>
          <p:cNvSpPr txBox="1">
            <a:spLocks/>
          </p:cNvSpPr>
          <p:nvPr/>
        </p:nvSpPr>
        <p:spPr>
          <a:xfrm>
            <a:off x="259904" y="4951709"/>
            <a:ext cx="4146646" cy="421507"/>
          </a:xfrm>
          <a:prstGeom prst="rect">
            <a:avLst/>
          </a:prstGeom>
        </p:spPr>
        <p:txBody>
          <a:bodyPr vert="horz">
            <a:no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Statement 2 is executed</a:t>
            </a:r>
          </a:p>
        </p:txBody>
      </p:sp>
      <p:sp>
        <p:nvSpPr>
          <p:cNvPr id="46" name="Content Placeholder 4"/>
          <p:cNvSpPr txBox="1">
            <a:spLocks/>
          </p:cNvSpPr>
          <p:nvPr/>
        </p:nvSpPr>
        <p:spPr>
          <a:xfrm>
            <a:off x="259904" y="5311749"/>
            <a:ext cx="4146646" cy="421507"/>
          </a:xfrm>
          <a:prstGeom prst="rect">
            <a:avLst/>
          </a:prstGeom>
        </p:spPr>
        <p:txBody>
          <a:bodyPr vert="horz">
            <a:no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Execution continues at point 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With a single statement</a:t>
            </a:r>
          </a:p>
        </p:txBody>
      </p:sp>
      <p:cxnSp>
        <p:nvCxnSpPr>
          <p:cNvPr id="48" name="Straight Connector 4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9050961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500"/>
                            </p:stCondLst>
                            <p:childTnLst>
                              <p:par>
                                <p:cTn id="7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000"/>
                            </p:stCondLst>
                            <p:childTnLst>
                              <p:par>
                                <p:cTn id="7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500"/>
                            </p:stCondLst>
                            <p:childTnLst>
                              <p:par>
                                <p:cTn id="8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3000"/>
                            </p:stCondLst>
                            <p:childTnLst>
                              <p:par>
                                <p:cTn id="8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4" grpId="0" animBg="1"/>
      <p:bldP spid="10" grpId="0" animBg="1"/>
      <p:bldP spid="16" grpId="0" animBg="1"/>
      <p:bldP spid="17" grpId="0"/>
      <p:bldP spid="18" grpId="0" animBg="1"/>
      <p:bldP spid="33" grpId="0"/>
      <p:bldP spid="28" grpId="0" animBg="1"/>
      <p:bldP spid="34" grpId="0" build="p"/>
      <p:bldP spid="35" grpId="0"/>
      <p:bldP spid="43" grpId="0"/>
      <p:bldP spid="44" grpId="0"/>
      <p:bldP spid="45" grpId="0"/>
      <p:bldP spid="46" grpId="0"/>
      <p:bldP spid="4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3.1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if…else 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Statement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0" y="908720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With a single statement – PROGRAM 3: ANALYSIS</a:t>
            </a:r>
          </a:p>
        </p:txBody>
      </p:sp>
      <p:cxnSp>
        <p:nvCxnSpPr>
          <p:cNvPr id="29" name="Straight Connector 28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51520" y="1340768"/>
            <a:ext cx="8712968" cy="1080120"/>
          </a:xfrm>
          <a:prstGeom prst="roundRect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Write a program that calculates the net salary after taxes deduction. If the salary is greater than 5000 SR, taxes are 20% of the salary; otherwise, taxes are 25% of the salary.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36951" y="3204833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619672" y="3204833"/>
            <a:ext cx="7344816" cy="50405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Salary </a:t>
            </a:r>
            <a:r>
              <a:rPr lang="en-US" dirty="0">
                <a:solidFill>
                  <a:srgbClr val="FF3399"/>
                </a:solidFill>
              </a:rPr>
              <a:t>(variable: salary, type: </a:t>
            </a:r>
            <a:r>
              <a:rPr lang="en-US" dirty="0">
                <a:solidFill>
                  <a:srgbClr val="00B0F0"/>
                </a:solidFill>
              </a:rPr>
              <a:t>double</a:t>
            </a:r>
            <a:r>
              <a:rPr lang="en-US" dirty="0">
                <a:solidFill>
                  <a:srgbClr val="FF3399"/>
                </a:solidFill>
              </a:rPr>
              <a:t>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51520" y="3780897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634241" y="3780897"/>
            <a:ext cx="7344816" cy="50405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Net Salary </a:t>
            </a:r>
            <a:r>
              <a:rPr lang="en-US" dirty="0">
                <a:solidFill>
                  <a:srgbClr val="FF3399"/>
                </a:solidFill>
              </a:rPr>
              <a:t>(variable: </a:t>
            </a:r>
            <a:r>
              <a:rPr lang="en-US" dirty="0" err="1">
                <a:solidFill>
                  <a:srgbClr val="FF3399"/>
                </a:solidFill>
              </a:rPr>
              <a:t>netSalary</a:t>
            </a:r>
            <a:r>
              <a:rPr lang="en-US" dirty="0">
                <a:solidFill>
                  <a:srgbClr val="FF3399"/>
                </a:solidFill>
              </a:rPr>
              <a:t>, type: </a:t>
            </a:r>
            <a:r>
              <a:rPr lang="en-US" dirty="0">
                <a:solidFill>
                  <a:srgbClr val="00B0F0"/>
                </a:solidFill>
              </a:rPr>
              <a:t>double</a:t>
            </a:r>
            <a:r>
              <a:rPr lang="en-US" dirty="0">
                <a:solidFill>
                  <a:srgbClr val="FF3399"/>
                </a:solidFill>
              </a:rPr>
              <a:t>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51520" y="4356961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634241" y="4356961"/>
            <a:ext cx="7344816" cy="728223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if (</a:t>
            </a:r>
            <a:r>
              <a:rPr lang="en-US" dirty="0">
                <a:solidFill>
                  <a:srgbClr val="FF3399"/>
                </a:solidFill>
              </a:rPr>
              <a:t>salary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&gt; 5000) </a:t>
            </a:r>
            <a:r>
              <a:rPr lang="en-US" dirty="0" err="1">
                <a:solidFill>
                  <a:srgbClr val="FF3399"/>
                </a:solidFill>
              </a:rPr>
              <a:t>netSalary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=0.8*</a:t>
            </a:r>
            <a:r>
              <a:rPr lang="en-US" dirty="0">
                <a:solidFill>
                  <a:srgbClr val="FF3399"/>
                </a:solidFill>
              </a:rPr>
              <a:t>salary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;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if (</a:t>
            </a:r>
            <a:r>
              <a:rPr lang="en-US" dirty="0">
                <a:solidFill>
                  <a:srgbClr val="FF3399"/>
                </a:solidFill>
              </a:rPr>
              <a:t>salary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&lt;= 5000) </a:t>
            </a:r>
            <a:r>
              <a:rPr lang="en-US" dirty="0" err="1">
                <a:solidFill>
                  <a:srgbClr val="FF3399"/>
                </a:solidFill>
              </a:rPr>
              <a:t>netSalary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=0.75*</a:t>
            </a:r>
            <a:r>
              <a:rPr lang="en-US" dirty="0">
                <a:solidFill>
                  <a:srgbClr val="FF3399"/>
                </a:solidFill>
              </a:rPr>
              <a:t>salary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640059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5" grpId="0" animBg="1"/>
      <p:bldP spid="31" grpId="0" animBg="1"/>
      <p:bldP spid="34" grpId="0" animBg="1"/>
      <p:bldP spid="35" grpId="0" animBg="1"/>
      <p:bldP spid="43" grpId="0" animBg="1"/>
      <p:bldP spid="44" grpId="0" animBg="1"/>
      <p:bldP spid="4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3.1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if…else 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Statement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0" y="908720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With a single statement – PROGRAM 3: Flowchart</a:t>
            </a:r>
          </a:p>
        </p:txBody>
      </p:sp>
      <p:cxnSp>
        <p:nvCxnSpPr>
          <p:cNvPr id="29" name="Straight Connector 28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AutoShape 67"/>
          <p:cNvSpPr>
            <a:spLocks noChangeArrowheads="1"/>
          </p:cNvSpPr>
          <p:nvPr/>
        </p:nvSpPr>
        <p:spPr bwMode="auto">
          <a:xfrm>
            <a:off x="4175969" y="1412777"/>
            <a:ext cx="1441450" cy="421858"/>
          </a:xfrm>
          <a:prstGeom prst="flowChartTerminator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Start</a:t>
            </a:r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4896694" y="1834635"/>
            <a:ext cx="1" cy="29212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AutoShape 68"/>
          <p:cNvSpPr>
            <a:spLocks noChangeArrowheads="1"/>
          </p:cNvSpPr>
          <p:nvPr/>
        </p:nvSpPr>
        <p:spPr bwMode="auto">
          <a:xfrm>
            <a:off x="3961657" y="2130811"/>
            <a:ext cx="1870075" cy="358775"/>
          </a:xfrm>
          <a:prstGeom prst="flowChartInputOutpu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Read </a:t>
            </a:r>
            <a:r>
              <a:rPr lang="en-US" sz="1600" dirty="0">
                <a:latin typeface="Arial" charset="0"/>
                <a:cs typeface="Arial" charset="0"/>
              </a:rPr>
              <a:t>salary</a:t>
            </a:r>
            <a:endParaRPr lang="en-US" sz="1600" dirty="0"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39" name="Straight Arrow Connector 38"/>
          <p:cNvCxnSpPr/>
          <p:nvPr/>
        </p:nvCxnSpPr>
        <p:spPr>
          <a:xfrm>
            <a:off x="4896694" y="2482707"/>
            <a:ext cx="1" cy="29212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Flowchart: Decision 39"/>
          <p:cNvSpPr/>
          <p:nvPr/>
        </p:nvSpPr>
        <p:spPr>
          <a:xfrm>
            <a:off x="3420530" y="2780929"/>
            <a:ext cx="2952328" cy="798184"/>
          </a:xfrm>
          <a:prstGeom prst="flowChartDecision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salary</a:t>
            </a:r>
            <a:r>
              <a:rPr lang="en-US" dirty="0">
                <a:solidFill>
                  <a:schemeClr val="tx1"/>
                </a:solidFill>
              </a:rPr>
              <a:t> &gt; 5000?</a:t>
            </a:r>
          </a:p>
        </p:txBody>
      </p:sp>
      <p:cxnSp>
        <p:nvCxnSpPr>
          <p:cNvPr id="41" name="Straight Arrow Connector 40"/>
          <p:cNvCxnSpPr>
            <a:endCxn id="42" idx="0"/>
          </p:cNvCxnSpPr>
          <p:nvPr/>
        </p:nvCxnSpPr>
        <p:spPr>
          <a:xfrm>
            <a:off x="3113727" y="3180021"/>
            <a:ext cx="0" cy="466393"/>
          </a:xfrm>
          <a:prstGeom prst="straightConnector1">
            <a:avLst/>
          </a:prstGeom>
          <a:ln w="28575">
            <a:solidFill>
              <a:srgbClr val="00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AutoShape 72"/>
          <p:cNvSpPr>
            <a:spLocks noChangeArrowheads="1"/>
          </p:cNvSpPr>
          <p:nvPr/>
        </p:nvSpPr>
        <p:spPr bwMode="auto">
          <a:xfrm>
            <a:off x="1907705" y="3646414"/>
            <a:ext cx="2412044" cy="420469"/>
          </a:xfrm>
          <a:prstGeom prst="flowChartProcess">
            <a:avLst/>
          </a:prstGeom>
          <a:solidFill>
            <a:srgbClr val="92D05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 err="1">
                <a:latin typeface="Arial" charset="0"/>
                <a:cs typeface="Arial" charset="0"/>
              </a:rPr>
              <a:t>netSalary</a:t>
            </a:r>
            <a:r>
              <a:rPr lang="en-US" sz="1600" dirty="0">
                <a:latin typeface="Arial" charset="0"/>
                <a:cs typeface="Arial" charset="0"/>
              </a:rPr>
              <a:t> = 0.8 * </a:t>
            </a:r>
            <a:r>
              <a:rPr lang="en-US" sz="1600" dirty="0">
                <a:solidFill>
                  <a:srgbClr val="0000FF"/>
                </a:solidFill>
                <a:latin typeface="Arial" charset="0"/>
                <a:cs typeface="Arial" charset="0"/>
              </a:rPr>
              <a:t>salary</a:t>
            </a:r>
            <a:endParaRPr lang="en-US" sz="1600" dirty="0">
              <a:solidFill>
                <a:srgbClr val="0000FF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47" name="Straight Arrow Connector 46"/>
          <p:cNvCxnSpPr/>
          <p:nvPr/>
        </p:nvCxnSpPr>
        <p:spPr>
          <a:xfrm>
            <a:off x="3133155" y="4077073"/>
            <a:ext cx="0" cy="1440160"/>
          </a:xfrm>
          <a:prstGeom prst="straightConnector1">
            <a:avLst/>
          </a:prstGeom>
          <a:ln w="28575">
            <a:solidFill>
              <a:srgbClr val="00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988482" y="2905200"/>
            <a:ext cx="6830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06600"/>
                </a:solidFill>
              </a:rPr>
              <a:t>True</a:t>
            </a:r>
          </a:p>
        </p:txBody>
      </p:sp>
      <p:cxnSp>
        <p:nvCxnSpPr>
          <p:cNvPr id="49" name="Straight Arrow Connector 48"/>
          <p:cNvCxnSpPr/>
          <p:nvPr/>
        </p:nvCxnSpPr>
        <p:spPr>
          <a:xfrm>
            <a:off x="6660890" y="3180021"/>
            <a:ext cx="0" cy="1615085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AutoShape 72"/>
          <p:cNvSpPr>
            <a:spLocks noChangeArrowheads="1"/>
          </p:cNvSpPr>
          <p:nvPr/>
        </p:nvSpPr>
        <p:spPr bwMode="auto">
          <a:xfrm>
            <a:off x="5292080" y="4808732"/>
            <a:ext cx="2448272" cy="420469"/>
          </a:xfrm>
          <a:prstGeom prst="flowChartProcess">
            <a:avLst/>
          </a:prstGeom>
          <a:solidFill>
            <a:schemeClr val="bg2">
              <a:lumMod val="5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 err="1">
                <a:latin typeface="Arial" charset="0"/>
                <a:cs typeface="Arial" charset="0"/>
              </a:rPr>
              <a:t>netSalary</a:t>
            </a:r>
            <a:r>
              <a:rPr lang="en-US" sz="1600" dirty="0">
                <a:latin typeface="Arial" charset="0"/>
                <a:cs typeface="Arial" charset="0"/>
              </a:rPr>
              <a:t> = 0.75 * </a:t>
            </a:r>
            <a:r>
              <a:rPr lang="en-US" sz="1600" dirty="0">
                <a:solidFill>
                  <a:srgbClr val="0000FF"/>
                </a:solidFill>
                <a:latin typeface="Arial" charset="0"/>
                <a:cs typeface="Arial" charset="0"/>
              </a:rPr>
              <a:t>salary</a:t>
            </a:r>
            <a:endParaRPr lang="en-US" sz="1600" dirty="0">
              <a:solidFill>
                <a:srgbClr val="0000FF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51" name="Straight Arrow Connector 50"/>
          <p:cNvCxnSpPr/>
          <p:nvPr/>
        </p:nvCxnSpPr>
        <p:spPr>
          <a:xfrm flipH="1">
            <a:off x="6660889" y="5225107"/>
            <a:ext cx="1" cy="292126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 flipH="1">
            <a:off x="5004706" y="5517233"/>
            <a:ext cx="1656183" cy="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3133156" y="5517233"/>
            <a:ext cx="1871550" cy="0"/>
          </a:xfrm>
          <a:prstGeom prst="straightConnector1">
            <a:avLst/>
          </a:prstGeom>
          <a:ln w="28575">
            <a:solidFill>
              <a:srgbClr val="00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>
            <a:off x="5015158" y="5517233"/>
            <a:ext cx="1" cy="292126"/>
          </a:xfrm>
          <a:prstGeom prst="straightConnector1">
            <a:avLst/>
          </a:prstGeom>
          <a:ln w="28575">
            <a:solidFill>
              <a:schemeClr val="tx1"/>
            </a:solidFill>
            <a:headEnd type="diamond" w="lg" len="lg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AutoShape 71"/>
          <p:cNvSpPr>
            <a:spLocks noChangeArrowheads="1"/>
          </p:cNvSpPr>
          <p:nvPr/>
        </p:nvSpPr>
        <p:spPr bwMode="auto">
          <a:xfrm>
            <a:off x="4068130" y="5805265"/>
            <a:ext cx="1944688" cy="358775"/>
          </a:xfrm>
          <a:prstGeom prst="flowChartInputOutpu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Print </a:t>
            </a:r>
            <a:r>
              <a:rPr lang="en-US" sz="1600" dirty="0" err="1">
                <a:solidFill>
                  <a:srgbClr val="0000FF"/>
                </a:solidFill>
                <a:effectLst/>
                <a:latin typeface="Arial" charset="0"/>
                <a:cs typeface="Arial" charset="0"/>
              </a:rPr>
              <a:t>netSalary</a:t>
            </a:r>
            <a:endParaRPr lang="en-US" sz="1600" dirty="0">
              <a:solidFill>
                <a:srgbClr val="0000FF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56" name="AutoShape 70"/>
          <p:cNvSpPr>
            <a:spLocks noChangeArrowheads="1"/>
          </p:cNvSpPr>
          <p:nvPr/>
        </p:nvSpPr>
        <p:spPr bwMode="auto">
          <a:xfrm>
            <a:off x="4319749" y="6319512"/>
            <a:ext cx="1441450" cy="421856"/>
          </a:xfrm>
          <a:prstGeom prst="flowChartTerminator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End</a:t>
            </a:r>
          </a:p>
        </p:txBody>
      </p:sp>
      <p:cxnSp>
        <p:nvCxnSpPr>
          <p:cNvPr id="57" name="Straight Arrow Connector 56"/>
          <p:cNvCxnSpPr>
            <a:stCxn id="55" idx="4"/>
            <a:endCxn id="56" idx="0"/>
          </p:cNvCxnSpPr>
          <p:nvPr/>
        </p:nvCxnSpPr>
        <p:spPr>
          <a:xfrm>
            <a:off x="5040474" y="6164040"/>
            <a:ext cx="0" cy="15547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6085483" y="2780928"/>
            <a:ext cx="6830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000FF"/>
                </a:solidFill>
              </a:rPr>
              <a:t>False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3113727" y="3180021"/>
            <a:ext cx="306804" cy="0"/>
          </a:xfrm>
          <a:prstGeom prst="straightConnector1">
            <a:avLst/>
          </a:prstGeom>
          <a:ln w="28575">
            <a:solidFill>
              <a:srgbClr val="00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40" idx="3"/>
          </p:cNvCxnSpPr>
          <p:nvPr/>
        </p:nvCxnSpPr>
        <p:spPr>
          <a:xfrm>
            <a:off x="6372858" y="3180021"/>
            <a:ext cx="288032" cy="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761954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500"/>
                            </p:stCondLst>
                            <p:childTnLst>
                              <p:par>
                                <p:cTn id="6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000"/>
                            </p:stCondLst>
                            <p:childTnLst>
                              <p:par>
                                <p:cTn id="6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500"/>
                            </p:stCondLst>
                            <p:childTnLst>
                              <p:par>
                                <p:cTn id="7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3000"/>
                            </p:stCondLst>
                            <p:childTnLst>
                              <p:par>
                                <p:cTn id="7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3500"/>
                            </p:stCondLst>
                            <p:childTnLst>
                              <p:par>
                                <p:cTn id="8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4000"/>
                            </p:stCondLst>
                            <p:childTnLst>
                              <p:par>
                                <p:cTn id="8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3" grpId="0" animBg="1"/>
      <p:bldP spid="38" grpId="0" animBg="1"/>
      <p:bldP spid="40" grpId="0" animBg="1"/>
      <p:bldP spid="42" grpId="0" animBg="1"/>
      <p:bldP spid="48" grpId="0"/>
      <p:bldP spid="50" grpId="0" animBg="1"/>
      <p:bldP spid="55" grpId="0" animBg="1"/>
      <p:bldP spid="56" grpId="0" animBg="1"/>
      <p:bldP spid="5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With a single statement - PROGRAM 3: CODE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/>
          <p:cNvGrpSpPr/>
          <p:nvPr/>
        </p:nvGrpSpPr>
        <p:grpSpPr>
          <a:xfrm>
            <a:off x="179512" y="1324500"/>
            <a:ext cx="8784976" cy="4616648"/>
            <a:chOff x="323528" y="1236822"/>
            <a:chExt cx="7848872" cy="4341144"/>
          </a:xfrm>
        </p:grpSpPr>
        <p:sp>
          <p:nvSpPr>
            <p:cNvPr id="21" name="TextBox 20"/>
            <p:cNvSpPr txBox="1"/>
            <p:nvPr/>
          </p:nvSpPr>
          <p:spPr>
            <a:xfrm>
              <a:off x="971600" y="1236822"/>
              <a:ext cx="7200800" cy="4341144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// import necessary libraries</a:t>
              </a:r>
            </a:p>
            <a:p>
              <a:r>
                <a:rPr lang="en-US" sz="1400" dirty="0">
                  <a:solidFill>
                    <a:srgbClr val="00B0F0"/>
                  </a:solidFill>
                </a:rPr>
                <a:t>import</a:t>
              </a:r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err="1">
                  <a:solidFill>
                    <a:srgbClr val="0000FF"/>
                  </a:solidFill>
                </a:rPr>
                <a:t>java.util.Scanner</a:t>
              </a:r>
              <a:r>
                <a:rPr lang="en-US" sz="1400" dirty="0">
                  <a:solidFill>
                    <a:srgbClr val="0000FF"/>
                  </a:solidFill>
                </a:rPr>
                <a:t>;</a:t>
              </a:r>
              <a:endParaRPr lang="en-US" sz="1400" dirty="0">
                <a:solidFill>
                  <a:srgbClr val="00B050"/>
                </a:solidFill>
              </a:endParaRPr>
            </a:p>
            <a:p>
              <a:r>
                <a:rPr lang="en-US" sz="1400" dirty="0">
                  <a:solidFill>
                    <a:srgbClr val="00B0F0"/>
                  </a:solidFill>
                </a:rPr>
                <a:t>public class</a:t>
              </a:r>
              <a:r>
                <a:rPr lang="en-US" sz="1400" dirty="0">
                  <a:solidFill>
                    <a:srgbClr val="0000FF"/>
                  </a:solidFill>
                </a:rPr>
                <a:t> ifElseStatement1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{</a:t>
              </a:r>
            </a:p>
            <a:p>
              <a:r>
                <a:rPr lang="en-US" sz="1400" dirty="0">
                  <a:solidFill>
                    <a:srgbClr val="00B0F0"/>
                  </a:solidFill>
                </a:rPr>
                <a:t>      public static void</a:t>
              </a:r>
              <a:r>
                <a:rPr lang="en-US" sz="1400" dirty="0">
                  <a:solidFill>
                    <a:srgbClr val="0000FF"/>
                  </a:solidFill>
                </a:rPr>
                <a:t> main (String[] </a:t>
              </a:r>
              <a:r>
                <a:rPr lang="en-US" sz="1400" dirty="0" err="1">
                  <a:solidFill>
                    <a:srgbClr val="0000FF"/>
                  </a:solidFill>
                </a:rPr>
                <a:t>args</a:t>
              </a:r>
              <a:r>
                <a:rPr lang="en-US" sz="1400" dirty="0">
                  <a:solidFill>
                    <a:srgbClr val="0000FF"/>
                  </a:solidFill>
                </a:rPr>
                <a:t>)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{</a:t>
              </a:r>
            </a:p>
            <a:p>
              <a:r>
                <a:rPr lang="en-US" sz="1400" dirty="0">
                  <a:solidFill>
                    <a:srgbClr val="00B0F0"/>
                  </a:solidFill>
                </a:rPr>
                <a:t>                </a:t>
              </a:r>
              <a:r>
                <a:rPr lang="en-US" sz="1400" dirty="0">
                  <a:solidFill>
                    <a:srgbClr val="0000FF"/>
                  </a:solidFill>
                </a:rPr>
                <a:t>Scanner console = </a:t>
              </a:r>
              <a:r>
                <a:rPr lang="en-US" sz="1400" dirty="0">
                  <a:solidFill>
                    <a:srgbClr val="00B0F0"/>
                  </a:solidFill>
                </a:rPr>
                <a:t>new</a:t>
              </a:r>
              <a:r>
                <a:rPr lang="en-US" sz="1400" dirty="0">
                  <a:solidFill>
                    <a:srgbClr val="0000FF"/>
                  </a:solidFill>
                </a:rPr>
                <a:t> Scanner (</a:t>
              </a:r>
              <a:r>
                <a:rPr lang="en-US" sz="1400" dirty="0" err="1">
                  <a:solidFill>
                    <a:srgbClr val="0000FF"/>
                  </a:solidFill>
                </a:rPr>
                <a:t>System.in</a:t>
              </a:r>
              <a:r>
                <a:rPr lang="en-US" sz="1400" dirty="0">
                  <a:solidFill>
                    <a:srgbClr val="0000FF"/>
                  </a:solidFill>
                </a:rPr>
                <a:t>);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</a:t>
              </a:r>
              <a:r>
                <a:rPr lang="en-US" sz="1400" dirty="0"/>
                <a:t>// Declaration section: to declare needed variables</a:t>
              </a:r>
            </a:p>
            <a:p>
              <a:r>
                <a:rPr lang="en-US" sz="1400" dirty="0"/>
                <a:t>	</a:t>
              </a:r>
              <a:r>
                <a:rPr lang="en-US" sz="1400" dirty="0">
                  <a:solidFill>
                    <a:srgbClr val="00B0F0"/>
                  </a:solidFill>
                </a:rPr>
                <a:t>double</a:t>
              </a:r>
              <a:r>
                <a:rPr lang="en-US" sz="1400" dirty="0">
                  <a:solidFill>
                    <a:srgbClr val="0000FF"/>
                  </a:solidFill>
                </a:rPr>
                <a:t> salary, </a:t>
              </a:r>
              <a:r>
                <a:rPr lang="en-US" sz="1400" dirty="0" err="1">
                  <a:solidFill>
                    <a:srgbClr val="0000FF"/>
                  </a:solidFill>
                </a:rPr>
                <a:t>netSalary</a:t>
              </a:r>
              <a:r>
                <a:rPr lang="en-US" sz="1400" dirty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400" dirty="0"/>
                <a:t>         // Input section: to enter values of used variables</a:t>
              </a:r>
            </a:p>
            <a:p>
              <a:r>
                <a:rPr lang="en-US" sz="1400" dirty="0"/>
                <a:t>	</a:t>
              </a:r>
              <a:r>
                <a:rPr lang="en-US" sz="14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>
                  <a:solidFill>
                    <a:srgbClr val="0000FF"/>
                  </a:solidFill>
                </a:rPr>
                <a:t> (“Enter employee’s salary”);   </a:t>
              </a:r>
              <a:r>
                <a:rPr lang="en-US" sz="1400" dirty="0">
                  <a:solidFill>
                    <a:srgbClr val="00B050"/>
                  </a:solidFill>
                </a:rPr>
                <a:t>//prompt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salary = </a:t>
              </a:r>
              <a:r>
                <a:rPr lang="en-US" sz="1400" dirty="0" err="1">
                  <a:solidFill>
                    <a:srgbClr val="0000FF"/>
                  </a:solidFill>
                </a:rPr>
                <a:t>console.</a:t>
              </a:r>
              <a:r>
                <a:rPr lang="en-US" sz="1400" dirty="0" err="1">
                  <a:solidFill>
                    <a:srgbClr val="00B050"/>
                  </a:solidFill>
                </a:rPr>
                <a:t>nextDouble</a:t>
              </a:r>
              <a:r>
                <a:rPr lang="en-US" sz="1400" dirty="0">
                  <a:solidFill>
                    <a:srgbClr val="00B050"/>
                  </a:solidFill>
                </a:rPr>
                <a:t>()</a:t>
              </a:r>
              <a:r>
                <a:rPr lang="en-US" sz="1400" dirty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400" dirty="0"/>
                <a:t>         // Processing section: processing statements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</a:t>
              </a:r>
              <a:r>
                <a:rPr lang="en-US" sz="1400" dirty="0">
                  <a:solidFill>
                    <a:srgbClr val="00B0F0"/>
                  </a:solidFill>
                </a:rPr>
                <a:t>if</a:t>
              </a:r>
              <a:r>
                <a:rPr lang="en-US" sz="1400" dirty="0">
                  <a:solidFill>
                    <a:srgbClr val="0000FF"/>
                  </a:solidFill>
                </a:rPr>
                <a:t> (salary &gt; 5000.0)		</a:t>
              </a:r>
              <a:r>
                <a:rPr lang="en-US" sz="1400" dirty="0">
                  <a:solidFill>
                    <a:srgbClr val="00B050"/>
                  </a:solidFill>
                </a:rPr>
                <a:t>// salary is double</a:t>
              </a:r>
              <a:r>
                <a:rPr lang="en-US" sz="1400" dirty="0">
                  <a:solidFill>
                    <a:srgbClr val="0000FF"/>
                  </a:solidFill>
                </a:rPr>
                <a:t> 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    </a:t>
              </a:r>
              <a:r>
                <a:rPr lang="en-US" sz="1400" dirty="0" err="1">
                  <a:solidFill>
                    <a:srgbClr val="0000FF"/>
                  </a:solidFill>
                </a:rPr>
                <a:t>netSalary</a:t>
              </a:r>
              <a:r>
                <a:rPr lang="en-US" sz="1400" dirty="0">
                  <a:solidFill>
                    <a:srgbClr val="0000FF"/>
                  </a:solidFill>
                </a:rPr>
                <a:t> = 0.8 * salary;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       </a:t>
              </a:r>
              <a:r>
                <a:rPr lang="en-US" sz="1400" dirty="0">
                  <a:solidFill>
                    <a:srgbClr val="00B0F0"/>
                  </a:solidFill>
                </a:rPr>
                <a:t>else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    </a:t>
              </a:r>
              <a:r>
                <a:rPr lang="en-US" sz="1400" dirty="0" err="1">
                  <a:solidFill>
                    <a:srgbClr val="0000FF"/>
                  </a:solidFill>
                </a:rPr>
                <a:t>netSalary</a:t>
              </a:r>
              <a:r>
                <a:rPr lang="en-US" sz="1400" dirty="0">
                  <a:solidFill>
                    <a:srgbClr val="0000FF"/>
                  </a:solidFill>
                </a:rPr>
                <a:t> = 0.75 * salary;</a:t>
              </a:r>
            </a:p>
            <a:p>
              <a:r>
                <a:rPr lang="en-US" sz="1400" dirty="0"/>
                <a:t>         // Output section: display program output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</a:t>
              </a:r>
              <a:r>
                <a:rPr lang="en-US" sz="1400" dirty="0" err="1">
                  <a:solidFill>
                    <a:srgbClr val="0000FF"/>
                  </a:solidFill>
                </a:rPr>
                <a:t>System.out.printf</a:t>
              </a:r>
              <a:r>
                <a:rPr lang="en-US" sz="1400" dirty="0">
                  <a:solidFill>
                    <a:srgbClr val="0000FF"/>
                  </a:solidFill>
                </a:rPr>
                <a:t> (“Net Salary = %.2f“, </a:t>
              </a:r>
              <a:r>
                <a:rPr lang="en-US" sz="1400" dirty="0" err="1">
                  <a:solidFill>
                    <a:srgbClr val="0000FF"/>
                  </a:solidFill>
                </a:rPr>
                <a:t>netSalary</a:t>
              </a:r>
              <a:r>
                <a:rPr lang="en-US" sz="1400" dirty="0">
                  <a:solidFill>
                    <a:srgbClr val="0000FF"/>
                  </a:solidFill>
                </a:rPr>
                <a:t>); </a:t>
              </a:r>
              <a:r>
                <a:rPr lang="en-US" sz="1400" dirty="0">
                  <a:solidFill>
                    <a:srgbClr val="00B050"/>
                  </a:solidFill>
                </a:rPr>
                <a:t>//2 digits after decimal point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} </a:t>
              </a:r>
              <a:r>
                <a:rPr lang="en-US" sz="1400" dirty="0"/>
                <a:t>// end main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} </a:t>
              </a:r>
              <a:r>
                <a:rPr lang="en-US" sz="1400" dirty="0"/>
                <a:t>// end class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23528" y="1236822"/>
              <a:ext cx="576064" cy="43411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15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16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17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18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19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20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21</a:t>
              </a:r>
            </a:p>
          </p:txBody>
        </p:sp>
      </p:grpSp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3.1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if…else 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Statement</a:t>
            </a: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899592" y="4115714"/>
            <a:ext cx="8064896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899592" y="4331738"/>
            <a:ext cx="8064896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899592" y="4547762"/>
            <a:ext cx="8064896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899592" y="4763786"/>
            <a:ext cx="8064896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07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4" grpId="0" animBg="1"/>
      <p:bldP spid="18" grpId="0" animBg="1"/>
      <p:bldP spid="19" grpId="0" animBg="1"/>
      <p:bldP spid="2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With a single statement - PROGRAM 3: CASE 1 (TRUE)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3.1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if…else 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Statement</a:t>
            </a: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23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650334" y="1925541"/>
            <a:ext cx="8314155" cy="523220"/>
            <a:chOff x="1029207" y="1236822"/>
            <a:chExt cx="7143193" cy="523220"/>
          </a:xfrm>
        </p:grpSpPr>
        <p:sp>
          <p:nvSpPr>
            <p:cNvPr id="11" name="TextBox 10"/>
            <p:cNvSpPr txBox="1"/>
            <p:nvPr/>
          </p:nvSpPr>
          <p:spPr>
            <a:xfrm>
              <a:off x="1249811" y="1236822"/>
              <a:ext cx="6922589" cy="523220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Enter employee’s salary</a:t>
              </a:r>
            </a:p>
            <a:p>
              <a:r>
                <a:rPr lang="en-US" sz="1400" dirty="0">
                  <a:solidFill>
                    <a:srgbClr val="FFC000"/>
                  </a:solidFill>
                </a:rPr>
                <a:t>6000</a:t>
              </a:r>
              <a:r>
                <a:rPr lang="en-US" sz="1400" dirty="0">
                  <a:solidFill>
                    <a:schemeClr val="bg1"/>
                  </a:solidFill>
                </a:rPr>
                <a:t>_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29207" y="1236822"/>
              <a:ext cx="2160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254823" y="1268760"/>
            <a:ext cx="8709665" cy="614972"/>
            <a:chOff x="390814" y="2665859"/>
            <a:chExt cx="7781586" cy="578273"/>
          </a:xfrm>
        </p:grpSpPr>
        <p:sp>
          <p:nvSpPr>
            <p:cNvPr id="37" name="TextBox 36"/>
            <p:cNvSpPr txBox="1"/>
            <p:nvPr/>
          </p:nvSpPr>
          <p:spPr>
            <a:xfrm>
              <a:off x="971600" y="2665859"/>
              <a:ext cx="7200800" cy="549878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	</a:t>
              </a:r>
              <a:r>
                <a:rPr lang="en-US" sz="16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600" dirty="0">
                  <a:solidFill>
                    <a:srgbClr val="0000FF"/>
                  </a:solidFill>
                </a:rPr>
                <a:t> (“Enter employee’s salary”);   </a:t>
              </a:r>
              <a:r>
                <a:rPr lang="en-US" sz="1600" dirty="0">
                  <a:solidFill>
                    <a:srgbClr val="00B050"/>
                  </a:solidFill>
                </a:rPr>
                <a:t>//prompt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	score = </a:t>
              </a:r>
              <a:r>
                <a:rPr lang="en-US" sz="1600" dirty="0" err="1">
                  <a:solidFill>
                    <a:srgbClr val="0000FF"/>
                  </a:solidFill>
                </a:rPr>
                <a:t>console.</a:t>
              </a:r>
              <a:r>
                <a:rPr lang="en-US" sz="1600" dirty="0" err="1">
                  <a:solidFill>
                    <a:srgbClr val="00B050"/>
                  </a:solidFill>
                </a:rPr>
                <a:t>nextDouble</a:t>
              </a:r>
              <a:r>
                <a:rPr lang="en-US" sz="1600" dirty="0">
                  <a:solidFill>
                    <a:srgbClr val="00B050"/>
                  </a:solidFill>
                </a:rPr>
                <a:t>()</a:t>
              </a:r>
              <a:r>
                <a:rPr lang="en-US" sz="1600" dirty="0">
                  <a:solidFill>
                    <a:srgbClr val="0000FF"/>
                  </a:solidFill>
                </a:rPr>
                <a:t>;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90814" y="2694254"/>
              <a:ext cx="576064" cy="5498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12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254823" y="2537608"/>
            <a:ext cx="8709665" cy="1077219"/>
            <a:chOff x="390814" y="1236822"/>
            <a:chExt cx="7781586" cy="1012934"/>
          </a:xfrm>
        </p:grpSpPr>
        <p:sp>
          <p:nvSpPr>
            <p:cNvPr id="31" name="TextBox 30"/>
            <p:cNvSpPr txBox="1"/>
            <p:nvPr/>
          </p:nvSpPr>
          <p:spPr>
            <a:xfrm>
              <a:off x="971600" y="1236823"/>
              <a:ext cx="7200800" cy="1012933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0000FF"/>
                  </a:solidFill>
                </a:rPr>
                <a:t>	</a:t>
              </a:r>
              <a:r>
                <a:rPr lang="en-US" sz="1600" dirty="0">
                  <a:solidFill>
                    <a:srgbClr val="00B0F0"/>
                  </a:solidFill>
                </a:rPr>
                <a:t>if</a:t>
              </a:r>
              <a:r>
                <a:rPr lang="en-US" sz="1600" dirty="0">
                  <a:solidFill>
                    <a:srgbClr val="0000FF"/>
                  </a:solidFill>
                </a:rPr>
                <a:t> (salary &gt; 5000.0)		</a:t>
              </a:r>
              <a:r>
                <a:rPr lang="en-US" sz="1600" dirty="0">
                  <a:solidFill>
                    <a:srgbClr val="00B050"/>
                  </a:solidFill>
                </a:rPr>
                <a:t>// salary is double</a:t>
              </a:r>
              <a:r>
                <a:rPr lang="en-US" sz="1600" dirty="0">
                  <a:solidFill>
                    <a:srgbClr val="0000FF"/>
                  </a:solidFill>
                </a:rPr>
                <a:t> 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	    </a:t>
              </a:r>
              <a:r>
                <a:rPr lang="en-US" sz="1600" dirty="0" err="1">
                  <a:solidFill>
                    <a:srgbClr val="0000FF"/>
                  </a:solidFill>
                </a:rPr>
                <a:t>netSalary</a:t>
              </a:r>
              <a:r>
                <a:rPr lang="en-US" sz="1600" dirty="0">
                  <a:solidFill>
                    <a:srgbClr val="0000FF"/>
                  </a:solidFill>
                </a:rPr>
                <a:t> = 0.8 * salary;		</a:t>
              </a:r>
              <a:r>
                <a:rPr lang="en-US" sz="1600" dirty="0">
                  <a:solidFill>
                    <a:srgbClr val="00B050"/>
                  </a:solidFill>
                </a:rPr>
                <a:t>//condition is true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	</a:t>
              </a:r>
              <a:r>
                <a:rPr lang="en-US" sz="1600" dirty="0">
                  <a:solidFill>
                    <a:srgbClr val="00B0F0"/>
                  </a:solidFill>
                </a:rPr>
                <a:t>else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	    </a:t>
              </a:r>
              <a:r>
                <a:rPr lang="en-US" sz="1600" dirty="0" err="1">
                  <a:solidFill>
                    <a:srgbClr val="0000FF"/>
                  </a:solidFill>
                </a:rPr>
                <a:t>netSalary</a:t>
              </a:r>
              <a:r>
                <a:rPr lang="en-US" sz="1600" dirty="0">
                  <a:solidFill>
                    <a:srgbClr val="0000FF"/>
                  </a:solidFill>
                </a:rPr>
                <a:t> = 0.75 * salary;</a:t>
              </a:r>
              <a:endParaRPr lang="en-US" sz="1600" dirty="0">
                <a:solidFill>
                  <a:srgbClr val="00B050"/>
                </a:solidFill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90814" y="1236822"/>
              <a:ext cx="576064" cy="10129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15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16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17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650333" y="3645024"/>
            <a:ext cx="8314155" cy="523220"/>
            <a:chOff x="1029207" y="1236822"/>
            <a:chExt cx="7143193" cy="523220"/>
          </a:xfrm>
        </p:grpSpPr>
        <p:sp>
          <p:nvSpPr>
            <p:cNvPr id="39" name="TextBox 38"/>
            <p:cNvSpPr txBox="1"/>
            <p:nvPr/>
          </p:nvSpPr>
          <p:spPr>
            <a:xfrm>
              <a:off x="1249811" y="1236822"/>
              <a:ext cx="6922589" cy="523220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Enter employee’s salary</a:t>
              </a:r>
            </a:p>
            <a:p>
              <a:r>
                <a:rPr lang="en-US" sz="1400" dirty="0">
                  <a:solidFill>
                    <a:srgbClr val="FFC000"/>
                  </a:solidFill>
                </a:rPr>
                <a:t>6000</a:t>
              </a:r>
              <a:r>
                <a:rPr lang="en-US" sz="1400" dirty="0">
                  <a:solidFill>
                    <a:schemeClr val="bg1"/>
                  </a:solidFill>
                </a:rPr>
                <a:t>_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029207" y="1236822"/>
              <a:ext cx="2160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260108" y="4221088"/>
            <a:ext cx="8632371" cy="338554"/>
            <a:chOff x="396131" y="1236822"/>
            <a:chExt cx="7776269" cy="318351"/>
          </a:xfrm>
        </p:grpSpPr>
        <p:sp>
          <p:nvSpPr>
            <p:cNvPr id="48" name="TextBox 47"/>
            <p:cNvSpPr txBox="1"/>
            <p:nvPr/>
          </p:nvSpPr>
          <p:spPr>
            <a:xfrm>
              <a:off x="971600" y="1236822"/>
              <a:ext cx="7200800" cy="318351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0000FF"/>
                  </a:solidFill>
                </a:rPr>
                <a:t>	</a:t>
              </a:r>
              <a:r>
                <a:rPr lang="en-US" sz="1600" dirty="0" err="1">
                  <a:solidFill>
                    <a:srgbClr val="0000FF"/>
                  </a:solidFill>
                </a:rPr>
                <a:t>System.out.printf</a:t>
              </a:r>
              <a:r>
                <a:rPr lang="en-US" sz="1600" dirty="0">
                  <a:solidFill>
                    <a:srgbClr val="0000FF"/>
                  </a:solidFill>
                </a:rPr>
                <a:t> (“Net Salary = %.2f“, </a:t>
              </a:r>
              <a:r>
                <a:rPr lang="en-US" sz="1600" dirty="0" err="1">
                  <a:solidFill>
                    <a:srgbClr val="0000FF"/>
                  </a:solidFill>
                </a:rPr>
                <a:t>netSalary</a:t>
              </a:r>
              <a:r>
                <a:rPr lang="en-US" sz="1600" dirty="0">
                  <a:solidFill>
                    <a:srgbClr val="0000FF"/>
                  </a:solidFill>
                </a:rPr>
                <a:t>); </a:t>
              </a:r>
              <a:r>
                <a:rPr lang="en-US" sz="1600" dirty="0">
                  <a:solidFill>
                    <a:srgbClr val="00B050"/>
                  </a:solidFill>
                </a:rPr>
                <a:t>//output line 3</a:t>
              </a:r>
              <a:r>
                <a:rPr lang="en-US" sz="1600" dirty="0">
                  <a:solidFill>
                    <a:srgbClr val="0000FF"/>
                  </a:solidFill>
                </a:rPr>
                <a:t> </a:t>
              </a:r>
              <a:endParaRPr lang="en-US" sz="1600" dirty="0">
                <a:solidFill>
                  <a:srgbClr val="00B050"/>
                </a:solidFill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96131" y="1236822"/>
              <a:ext cx="576064" cy="3183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19</a:t>
              </a:r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650335" y="4631649"/>
            <a:ext cx="8242144" cy="760151"/>
            <a:chOff x="650335" y="4055585"/>
            <a:chExt cx="8242144" cy="760151"/>
          </a:xfrm>
        </p:grpSpPr>
        <p:sp>
          <p:nvSpPr>
            <p:cNvPr id="51" name="TextBox 50"/>
            <p:cNvSpPr txBox="1"/>
            <p:nvPr/>
          </p:nvSpPr>
          <p:spPr>
            <a:xfrm>
              <a:off x="904877" y="4055585"/>
              <a:ext cx="7987602" cy="738664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Enter employee’s salary</a:t>
              </a:r>
            </a:p>
            <a:p>
              <a:r>
                <a:rPr lang="en-US" sz="1400" dirty="0">
                  <a:solidFill>
                    <a:srgbClr val="FFC000"/>
                  </a:solidFill>
                </a:rPr>
                <a:t>6000</a:t>
              </a:r>
              <a:endParaRPr lang="en-US" sz="1400" dirty="0">
                <a:solidFill>
                  <a:schemeClr val="bg1"/>
                </a:solidFill>
              </a:endParaRPr>
            </a:p>
            <a:p>
              <a:r>
                <a:rPr lang="en-US" sz="1400" dirty="0">
                  <a:solidFill>
                    <a:schemeClr val="bg1"/>
                  </a:solidFill>
                </a:rPr>
                <a:t>Net Salary = 4800.00_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650335" y="4077072"/>
              <a:ext cx="25143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91986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With a single statement - PROGRAM 3: CASE 2 (FALSE)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3.1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if…else 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Statement</a:t>
            </a: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24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650334" y="1925541"/>
            <a:ext cx="8314155" cy="523220"/>
            <a:chOff x="1029207" y="1236822"/>
            <a:chExt cx="7143193" cy="523220"/>
          </a:xfrm>
        </p:grpSpPr>
        <p:sp>
          <p:nvSpPr>
            <p:cNvPr id="11" name="TextBox 10"/>
            <p:cNvSpPr txBox="1"/>
            <p:nvPr/>
          </p:nvSpPr>
          <p:spPr>
            <a:xfrm>
              <a:off x="1249811" y="1236822"/>
              <a:ext cx="6922589" cy="523220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Enter employee’s salary</a:t>
              </a:r>
            </a:p>
            <a:p>
              <a:r>
                <a:rPr lang="en-US" sz="1400" dirty="0">
                  <a:solidFill>
                    <a:srgbClr val="FFC000"/>
                  </a:solidFill>
                </a:rPr>
                <a:t>2500.0</a:t>
              </a:r>
              <a:r>
                <a:rPr lang="en-US" sz="1400" dirty="0">
                  <a:solidFill>
                    <a:schemeClr val="bg1"/>
                  </a:solidFill>
                </a:rPr>
                <a:t>_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29207" y="1236822"/>
              <a:ext cx="2160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254823" y="1268760"/>
            <a:ext cx="8709665" cy="614972"/>
            <a:chOff x="390814" y="2665859"/>
            <a:chExt cx="7781586" cy="578273"/>
          </a:xfrm>
        </p:grpSpPr>
        <p:sp>
          <p:nvSpPr>
            <p:cNvPr id="37" name="TextBox 36"/>
            <p:cNvSpPr txBox="1"/>
            <p:nvPr/>
          </p:nvSpPr>
          <p:spPr>
            <a:xfrm>
              <a:off x="971600" y="2665859"/>
              <a:ext cx="7200800" cy="549878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	</a:t>
              </a:r>
              <a:r>
                <a:rPr lang="en-US" sz="16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600" dirty="0">
                  <a:solidFill>
                    <a:srgbClr val="0000FF"/>
                  </a:solidFill>
                </a:rPr>
                <a:t> (“Enter employee’s salary”);   </a:t>
              </a:r>
              <a:r>
                <a:rPr lang="en-US" sz="1600" dirty="0">
                  <a:solidFill>
                    <a:srgbClr val="00B050"/>
                  </a:solidFill>
                </a:rPr>
                <a:t>//prompt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	score = </a:t>
              </a:r>
              <a:r>
                <a:rPr lang="en-US" sz="1600" dirty="0" err="1">
                  <a:solidFill>
                    <a:srgbClr val="0000FF"/>
                  </a:solidFill>
                </a:rPr>
                <a:t>console.</a:t>
              </a:r>
              <a:r>
                <a:rPr lang="en-US" sz="1600" dirty="0" err="1">
                  <a:solidFill>
                    <a:srgbClr val="00B050"/>
                  </a:solidFill>
                </a:rPr>
                <a:t>nextDouble</a:t>
              </a:r>
              <a:r>
                <a:rPr lang="en-US" sz="1600" dirty="0">
                  <a:solidFill>
                    <a:srgbClr val="00B050"/>
                  </a:solidFill>
                </a:rPr>
                <a:t>()</a:t>
              </a:r>
              <a:r>
                <a:rPr lang="en-US" sz="1600" dirty="0">
                  <a:solidFill>
                    <a:srgbClr val="0000FF"/>
                  </a:solidFill>
                </a:rPr>
                <a:t>;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90814" y="2694254"/>
              <a:ext cx="576064" cy="5498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12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254823" y="2537608"/>
            <a:ext cx="8709665" cy="1323440"/>
            <a:chOff x="390814" y="1236822"/>
            <a:chExt cx="7781586" cy="1244461"/>
          </a:xfrm>
        </p:grpSpPr>
        <p:sp>
          <p:nvSpPr>
            <p:cNvPr id="31" name="TextBox 30"/>
            <p:cNvSpPr txBox="1"/>
            <p:nvPr/>
          </p:nvSpPr>
          <p:spPr>
            <a:xfrm>
              <a:off x="971600" y="1236823"/>
              <a:ext cx="7200800" cy="1244460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0000FF"/>
                  </a:solidFill>
                </a:rPr>
                <a:t>	</a:t>
              </a:r>
              <a:r>
                <a:rPr lang="en-US" sz="1600" dirty="0">
                  <a:solidFill>
                    <a:srgbClr val="00B0F0"/>
                  </a:solidFill>
                </a:rPr>
                <a:t>if</a:t>
              </a:r>
              <a:r>
                <a:rPr lang="en-US" sz="1600" dirty="0">
                  <a:solidFill>
                    <a:srgbClr val="0000FF"/>
                  </a:solidFill>
                </a:rPr>
                <a:t> (salary &gt; 5000.0)		</a:t>
              </a:r>
              <a:r>
                <a:rPr lang="en-US" sz="1600" dirty="0">
                  <a:solidFill>
                    <a:srgbClr val="00B050"/>
                  </a:solidFill>
                </a:rPr>
                <a:t>// salary is double</a:t>
              </a:r>
              <a:r>
                <a:rPr lang="en-US" sz="1600" dirty="0">
                  <a:solidFill>
                    <a:srgbClr val="0000FF"/>
                  </a:solidFill>
                </a:rPr>
                <a:t> 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	    </a:t>
              </a:r>
              <a:r>
                <a:rPr lang="en-US" sz="1600" dirty="0" err="1">
                  <a:solidFill>
                    <a:srgbClr val="0000FF"/>
                  </a:solidFill>
                </a:rPr>
                <a:t>netSalary</a:t>
              </a:r>
              <a:r>
                <a:rPr lang="en-US" sz="1600" dirty="0">
                  <a:solidFill>
                    <a:srgbClr val="0000FF"/>
                  </a:solidFill>
                </a:rPr>
                <a:t> = 0.8 * salary;		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	</a:t>
              </a:r>
              <a:r>
                <a:rPr lang="en-US" sz="1600" dirty="0">
                  <a:solidFill>
                    <a:srgbClr val="00B0F0"/>
                  </a:solidFill>
                </a:rPr>
                <a:t>else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	    </a:t>
              </a:r>
              <a:r>
                <a:rPr lang="en-US" sz="1600" dirty="0" err="1">
                  <a:solidFill>
                    <a:srgbClr val="0000FF"/>
                  </a:solidFill>
                </a:rPr>
                <a:t>netSalary</a:t>
              </a:r>
              <a:r>
                <a:rPr lang="en-US" sz="1600" dirty="0">
                  <a:solidFill>
                    <a:srgbClr val="0000FF"/>
                  </a:solidFill>
                </a:rPr>
                <a:t> = 0.75 * salary;	</a:t>
              </a:r>
              <a:r>
                <a:rPr lang="en-US" sz="1600" dirty="0">
                  <a:solidFill>
                    <a:srgbClr val="00B050"/>
                  </a:solidFill>
                </a:rPr>
                <a:t>//condition is false</a:t>
              </a:r>
            </a:p>
            <a:p>
              <a:endParaRPr lang="en-US" sz="1600" dirty="0">
                <a:solidFill>
                  <a:srgbClr val="00B050"/>
                </a:solidFill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90814" y="1236822"/>
              <a:ext cx="576064" cy="10129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15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16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17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650333" y="3645024"/>
            <a:ext cx="8314155" cy="523220"/>
            <a:chOff x="1029207" y="1236822"/>
            <a:chExt cx="7143193" cy="523220"/>
          </a:xfrm>
        </p:grpSpPr>
        <p:sp>
          <p:nvSpPr>
            <p:cNvPr id="39" name="TextBox 38"/>
            <p:cNvSpPr txBox="1"/>
            <p:nvPr/>
          </p:nvSpPr>
          <p:spPr>
            <a:xfrm>
              <a:off x="1249811" y="1236822"/>
              <a:ext cx="6922589" cy="523220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Enter employee’s salary</a:t>
              </a:r>
            </a:p>
            <a:p>
              <a:r>
                <a:rPr lang="en-US" sz="1400" dirty="0">
                  <a:solidFill>
                    <a:srgbClr val="FFC000"/>
                  </a:solidFill>
                </a:rPr>
                <a:t>2500.0</a:t>
              </a:r>
              <a:r>
                <a:rPr lang="en-US" sz="1400" dirty="0">
                  <a:solidFill>
                    <a:schemeClr val="bg1"/>
                  </a:solidFill>
                </a:rPr>
                <a:t>_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029207" y="1236822"/>
              <a:ext cx="2160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260108" y="4221088"/>
            <a:ext cx="8632371" cy="338554"/>
            <a:chOff x="396131" y="1236822"/>
            <a:chExt cx="7776269" cy="318351"/>
          </a:xfrm>
        </p:grpSpPr>
        <p:sp>
          <p:nvSpPr>
            <p:cNvPr id="48" name="TextBox 47"/>
            <p:cNvSpPr txBox="1"/>
            <p:nvPr/>
          </p:nvSpPr>
          <p:spPr>
            <a:xfrm>
              <a:off x="971600" y="1236822"/>
              <a:ext cx="7200800" cy="318351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0000FF"/>
                  </a:solidFill>
                </a:rPr>
                <a:t>	</a:t>
              </a:r>
              <a:r>
                <a:rPr lang="en-US" sz="1600" dirty="0" err="1">
                  <a:solidFill>
                    <a:srgbClr val="0000FF"/>
                  </a:solidFill>
                </a:rPr>
                <a:t>System.out.printf</a:t>
              </a:r>
              <a:r>
                <a:rPr lang="en-US" sz="1600" dirty="0">
                  <a:solidFill>
                    <a:srgbClr val="0000FF"/>
                  </a:solidFill>
                </a:rPr>
                <a:t> (“Net Salary = %.2f“, </a:t>
              </a:r>
              <a:r>
                <a:rPr lang="en-US" sz="1600" dirty="0" err="1">
                  <a:solidFill>
                    <a:srgbClr val="0000FF"/>
                  </a:solidFill>
                </a:rPr>
                <a:t>netSalary</a:t>
              </a:r>
              <a:r>
                <a:rPr lang="en-US" sz="1600" dirty="0">
                  <a:solidFill>
                    <a:srgbClr val="0000FF"/>
                  </a:solidFill>
                </a:rPr>
                <a:t>); </a:t>
              </a:r>
              <a:r>
                <a:rPr lang="en-US" sz="1600" dirty="0">
                  <a:solidFill>
                    <a:srgbClr val="00B050"/>
                  </a:solidFill>
                </a:rPr>
                <a:t>//output line 3</a:t>
              </a:r>
              <a:r>
                <a:rPr lang="en-US" sz="1600" dirty="0">
                  <a:solidFill>
                    <a:srgbClr val="0000FF"/>
                  </a:solidFill>
                </a:rPr>
                <a:t> </a:t>
              </a:r>
              <a:endParaRPr lang="en-US" sz="1600" dirty="0">
                <a:solidFill>
                  <a:srgbClr val="00B050"/>
                </a:solidFill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96131" y="1236822"/>
              <a:ext cx="576064" cy="3183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19</a:t>
              </a:r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650335" y="4631649"/>
            <a:ext cx="8242144" cy="760151"/>
            <a:chOff x="650335" y="4055585"/>
            <a:chExt cx="8242144" cy="760151"/>
          </a:xfrm>
        </p:grpSpPr>
        <p:sp>
          <p:nvSpPr>
            <p:cNvPr id="51" name="TextBox 50"/>
            <p:cNvSpPr txBox="1"/>
            <p:nvPr/>
          </p:nvSpPr>
          <p:spPr>
            <a:xfrm>
              <a:off x="904877" y="4055585"/>
              <a:ext cx="7987602" cy="738664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Enter employee’s salary</a:t>
              </a:r>
            </a:p>
            <a:p>
              <a:r>
                <a:rPr lang="en-US" sz="1400" dirty="0">
                  <a:solidFill>
                    <a:srgbClr val="FFC000"/>
                  </a:solidFill>
                </a:rPr>
                <a:t>2500.0</a:t>
              </a:r>
              <a:endParaRPr lang="en-US" sz="1400" dirty="0">
                <a:solidFill>
                  <a:schemeClr val="bg1"/>
                </a:solidFill>
              </a:endParaRPr>
            </a:p>
            <a:p>
              <a:r>
                <a:rPr lang="en-US" sz="1400" dirty="0">
                  <a:solidFill>
                    <a:schemeClr val="bg1"/>
                  </a:solidFill>
                </a:rPr>
                <a:t>Net Salary = 1875.00_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650335" y="4077072"/>
              <a:ext cx="25143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9361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44624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3.2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if…else 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Statement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677111" y="1340768"/>
            <a:ext cx="2916324" cy="468052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00B0F0"/>
                </a:solidFill>
              </a:rPr>
              <a:t>if (logical expression) </a:t>
            </a:r>
          </a:p>
          <a:p>
            <a:r>
              <a:rPr lang="en-US" dirty="0">
                <a:solidFill>
                  <a:srgbClr val="00B0F0"/>
                </a:solidFill>
              </a:rPr>
              <a:t>   {</a:t>
            </a:r>
          </a:p>
          <a:p>
            <a:r>
              <a:rPr lang="en-US" dirty="0">
                <a:solidFill>
                  <a:srgbClr val="00B0F0"/>
                </a:solidFill>
              </a:rPr>
              <a:t>    Statement </a:t>
            </a:r>
            <a:r>
              <a:rPr lang="en-US" dirty="0" err="1">
                <a:solidFill>
                  <a:srgbClr val="00B0F0"/>
                </a:solidFill>
              </a:rPr>
              <a:t>i</a:t>
            </a:r>
            <a:r>
              <a:rPr lang="en-US" dirty="0">
                <a:solidFill>
                  <a:srgbClr val="00B0F0"/>
                </a:solidFill>
              </a:rPr>
              <a:t>;</a:t>
            </a:r>
          </a:p>
          <a:p>
            <a:r>
              <a:rPr lang="en-US" dirty="0">
                <a:solidFill>
                  <a:srgbClr val="00B0F0"/>
                </a:solidFill>
              </a:rPr>
              <a:t>    Statement i+1;</a:t>
            </a:r>
          </a:p>
          <a:p>
            <a:r>
              <a:rPr lang="en-US" dirty="0">
                <a:solidFill>
                  <a:srgbClr val="00B0F0"/>
                </a:solidFill>
              </a:rPr>
              <a:t>    …</a:t>
            </a:r>
          </a:p>
          <a:p>
            <a:r>
              <a:rPr lang="en-US" dirty="0">
                <a:solidFill>
                  <a:srgbClr val="00B0F0"/>
                </a:solidFill>
              </a:rPr>
              <a:t>    Statement m;</a:t>
            </a:r>
          </a:p>
          <a:p>
            <a:r>
              <a:rPr lang="en-US" dirty="0">
                <a:solidFill>
                  <a:srgbClr val="00B0F0"/>
                </a:solidFill>
              </a:rPr>
              <a:t>   }</a:t>
            </a:r>
          </a:p>
          <a:p>
            <a:r>
              <a:rPr lang="en-US" dirty="0">
                <a:solidFill>
                  <a:srgbClr val="00B0F0"/>
                </a:solidFill>
              </a:rPr>
              <a:t>else</a:t>
            </a:r>
          </a:p>
          <a:p>
            <a:r>
              <a:rPr lang="en-US" dirty="0">
                <a:solidFill>
                  <a:srgbClr val="00B0F0"/>
                </a:solidFill>
              </a:rPr>
              <a:t>   {</a:t>
            </a:r>
          </a:p>
          <a:p>
            <a:r>
              <a:rPr lang="en-US" dirty="0">
                <a:solidFill>
                  <a:srgbClr val="00B0F0"/>
                </a:solidFill>
              </a:rPr>
              <a:t>     Statement j;</a:t>
            </a:r>
          </a:p>
          <a:p>
            <a:r>
              <a:rPr lang="en-US" dirty="0">
                <a:solidFill>
                  <a:srgbClr val="00B0F0"/>
                </a:solidFill>
              </a:rPr>
              <a:t>     Statement j+1;</a:t>
            </a:r>
          </a:p>
          <a:p>
            <a:r>
              <a:rPr lang="en-US" dirty="0">
                <a:solidFill>
                  <a:srgbClr val="00B0F0"/>
                </a:solidFill>
              </a:rPr>
              <a:t>     …</a:t>
            </a:r>
          </a:p>
          <a:p>
            <a:r>
              <a:rPr lang="en-US" dirty="0">
                <a:solidFill>
                  <a:srgbClr val="00B0F0"/>
                </a:solidFill>
              </a:rPr>
              <a:t>     Statement n;</a:t>
            </a:r>
          </a:p>
          <a:p>
            <a:r>
              <a:rPr lang="en-US" dirty="0">
                <a:solidFill>
                  <a:srgbClr val="00B0F0"/>
                </a:solidFill>
              </a:rPr>
              <a:t>   }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36951" y="1340768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SYNTAX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60032" y="1340768"/>
            <a:ext cx="2160240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FLOWCHART</a:t>
            </a:r>
          </a:p>
        </p:txBody>
      </p:sp>
      <p:sp>
        <p:nvSpPr>
          <p:cNvPr id="4" name="Oval 3"/>
          <p:cNvSpPr/>
          <p:nvPr/>
        </p:nvSpPr>
        <p:spPr>
          <a:xfrm>
            <a:off x="6480212" y="1988840"/>
            <a:ext cx="360040" cy="360040"/>
          </a:xfrm>
          <a:prstGeom prst="ellipse">
            <a:avLst/>
          </a:prstGeom>
          <a:solidFill>
            <a:srgbClr val="FF33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0" name="Flowchart: Decision 9"/>
          <p:cNvSpPr/>
          <p:nvPr/>
        </p:nvSpPr>
        <p:spPr>
          <a:xfrm>
            <a:off x="5220072" y="2852936"/>
            <a:ext cx="2880320" cy="1440160"/>
          </a:xfrm>
          <a:prstGeom prst="flowChartDecision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Logical Expression?</a:t>
            </a:r>
          </a:p>
        </p:txBody>
      </p:sp>
      <p:sp>
        <p:nvSpPr>
          <p:cNvPr id="16" name="AutoShape 72"/>
          <p:cNvSpPr>
            <a:spLocks noChangeArrowheads="1"/>
          </p:cNvSpPr>
          <p:nvPr/>
        </p:nvSpPr>
        <p:spPr bwMode="auto">
          <a:xfrm>
            <a:off x="4298539" y="4088651"/>
            <a:ext cx="1425590" cy="420469"/>
          </a:xfrm>
          <a:prstGeom prst="flowChartProcess">
            <a:avLst/>
          </a:prstGeom>
          <a:solidFill>
            <a:srgbClr val="92D05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latin typeface="Arial" charset="0"/>
                <a:cs typeface="Arial" charset="0"/>
              </a:rPr>
              <a:t>Statement </a:t>
            </a:r>
            <a:r>
              <a:rPr lang="en-US" sz="1600" dirty="0" err="1">
                <a:latin typeface="Arial" charset="0"/>
                <a:cs typeface="Arial" charset="0"/>
              </a:rPr>
              <a:t>i</a:t>
            </a:r>
            <a:endParaRPr lang="en-US" sz="1600" dirty="0">
              <a:solidFill>
                <a:srgbClr val="0000FF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734514" y="3212976"/>
            <a:ext cx="6830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06600"/>
                </a:solidFill>
              </a:rPr>
              <a:t>True</a:t>
            </a:r>
          </a:p>
        </p:txBody>
      </p:sp>
      <p:sp>
        <p:nvSpPr>
          <p:cNvPr id="18" name="Oval 17"/>
          <p:cNvSpPr/>
          <p:nvPr/>
        </p:nvSpPr>
        <p:spPr>
          <a:xfrm>
            <a:off x="6480212" y="5517232"/>
            <a:ext cx="360040" cy="360040"/>
          </a:xfrm>
          <a:prstGeom prst="ellipse">
            <a:avLst/>
          </a:prstGeom>
          <a:solidFill>
            <a:srgbClr val="FF33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15" name="Straight Arrow Connector 14"/>
          <p:cNvCxnSpPr>
            <a:stCxn id="4" idx="4"/>
            <a:endCxn id="10" idx="0"/>
          </p:cNvCxnSpPr>
          <p:nvPr/>
        </p:nvCxnSpPr>
        <p:spPr>
          <a:xfrm>
            <a:off x="6660232" y="2348880"/>
            <a:ext cx="0" cy="50405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8316417" y="4509120"/>
            <a:ext cx="0" cy="1224136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0" idx="1"/>
          </p:cNvCxnSpPr>
          <p:nvPr/>
        </p:nvCxnSpPr>
        <p:spPr>
          <a:xfrm flipH="1">
            <a:off x="5011335" y="3573016"/>
            <a:ext cx="208737" cy="0"/>
          </a:xfrm>
          <a:prstGeom prst="straightConnector1">
            <a:avLst/>
          </a:prstGeom>
          <a:ln w="28575">
            <a:solidFill>
              <a:srgbClr val="00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5004049" y="3573016"/>
            <a:ext cx="7286" cy="515635"/>
          </a:xfrm>
          <a:prstGeom prst="straightConnector1">
            <a:avLst/>
          </a:prstGeom>
          <a:ln w="28575">
            <a:solidFill>
              <a:srgbClr val="00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5004048" y="4497541"/>
            <a:ext cx="1" cy="1199711"/>
          </a:xfrm>
          <a:prstGeom prst="straightConnector1">
            <a:avLst/>
          </a:prstGeom>
          <a:ln w="28575">
            <a:solidFill>
              <a:srgbClr val="00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endCxn id="18" idx="2"/>
          </p:cNvCxnSpPr>
          <p:nvPr/>
        </p:nvCxnSpPr>
        <p:spPr>
          <a:xfrm>
            <a:off x="5004048" y="5697252"/>
            <a:ext cx="1476164" cy="0"/>
          </a:xfrm>
          <a:prstGeom prst="straightConnector1">
            <a:avLst/>
          </a:prstGeom>
          <a:ln w="28575">
            <a:solidFill>
              <a:srgbClr val="00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100392" y="3212976"/>
            <a:ext cx="6830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000FF"/>
                </a:solidFill>
              </a:rPr>
              <a:t>False</a:t>
            </a:r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6660232" y="5877272"/>
            <a:ext cx="0" cy="25202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AutoShape 72"/>
          <p:cNvSpPr>
            <a:spLocks noChangeArrowheads="1"/>
          </p:cNvSpPr>
          <p:nvPr/>
        </p:nvSpPr>
        <p:spPr bwMode="auto">
          <a:xfrm>
            <a:off x="7610906" y="4077072"/>
            <a:ext cx="1425590" cy="420469"/>
          </a:xfrm>
          <a:prstGeom prst="flowChartProcess">
            <a:avLst/>
          </a:prstGeom>
          <a:solidFill>
            <a:srgbClr val="0000FF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Arial" charset="0"/>
                <a:cs typeface="Arial" charset="0"/>
              </a:rPr>
              <a:t>Statement j</a:t>
            </a:r>
            <a:endParaRPr lang="en-US" sz="1600" dirty="0">
              <a:solidFill>
                <a:schemeClr val="bg1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8100392" y="3573016"/>
            <a:ext cx="223309" cy="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H="1">
            <a:off x="8309130" y="3573016"/>
            <a:ext cx="7286" cy="515635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H="1">
            <a:off x="6840253" y="5697252"/>
            <a:ext cx="1483448" cy="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With a block of statements</a:t>
            </a:r>
          </a:p>
        </p:txBody>
      </p:sp>
      <p:cxnSp>
        <p:nvCxnSpPr>
          <p:cNvPr id="48" name="Straight Connector 4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AutoShape 72"/>
          <p:cNvSpPr>
            <a:spLocks noChangeArrowheads="1"/>
          </p:cNvSpPr>
          <p:nvPr/>
        </p:nvSpPr>
        <p:spPr bwMode="auto">
          <a:xfrm>
            <a:off x="4283969" y="4664715"/>
            <a:ext cx="1425590" cy="420469"/>
          </a:xfrm>
          <a:prstGeom prst="flowChartProcess">
            <a:avLst/>
          </a:prstGeom>
          <a:solidFill>
            <a:srgbClr val="92D05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latin typeface="Arial" charset="0"/>
                <a:cs typeface="Arial" charset="0"/>
              </a:rPr>
              <a:t>Statement i+1</a:t>
            </a:r>
            <a:endParaRPr lang="en-US" sz="1600" dirty="0">
              <a:solidFill>
                <a:srgbClr val="0000FF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37" name="AutoShape 72"/>
          <p:cNvSpPr>
            <a:spLocks noChangeArrowheads="1"/>
          </p:cNvSpPr>
          <p:nvPr/>
        </p:nvSpPr>
        <p:spPr bwMode="auto">
          <a:xfrm>
            <a:off x="7596337" y="4653136"/>
            <a:ext cx="1425590" cy="420469"/>
          </a:xfrm>
          <a:prstGeom prst="flowChartProcess">
            <a:avLst/>
          </a:prstGeom>
          <a:solidFill>
            <a:srgbClr val="0000FF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Arial" charset="0"/>
                <a:cs typeface="Arial" charset="0"/>
              </a:rPr>
              <a:t>Statement j+1</a:t>
            </a:r>
            <a:endParaRPr lang="en-US" sz="1600" dirty="0">
              <a:solidFill>
                <a:schemeClr val="bg1"/>
              </a:solidFill>
              <a:effectLst/>
              <a:latin typeface="Arial" charset="0"/>
              <a:cs typeface="Arial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825229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500"/>
                            </p:stCondLst>
                            <p:childTnLst>
                              <p:par>
                                <p:cTn id="7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000"/>
                            </p:stCondLst>
                            <p:childTnLst>
                              <p:par>
                                <p:cTn id="8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500"/>
                            </p:stCondLst>
                            <p:childTnLst>
                              <p:par>
                                <p:cTn id="8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3000"/>
                            </p:stCondLst>
                            <p:childTnLst>
                              <p:par>
                                <p:cTn id="8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3500"/>
                            </p:stCondLst>
                            <p:childTnLst>
                              <p:par>
                                <p:cTn id="9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4" grpId="0" animBg="1"/>
      <p:bldP spid="10" grpId="0" animBg="1"/>
      <p:bldP spid="16" grpId="0" animBg="1"/>
      <p:bldP spid="17" grpId="0"/>
      <p:bldP spid="18" grpId="0" animBg="1"/>
      <p:bldP spid="33" grpId="0"/>
      <p:bldP spid="28" grpId="0" animBg="1"/>
      <p:bldP spid="47" grpId="0" animBg="1"/>
      <p:bldP spid="36" grpId="0" animBg="1"/>
      <p:bldP spid="3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3.2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if…else 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Statement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0" y="908720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With a block of statements – PROGRAM 4: ANALYSIS</a:t>
            </a:r>
          </a:p>
        </p:txBody>
      </p:sp>
      <p:cxnSp>
        <p:nvCxnSpPr>
          <p:cNvPr id="29" name="Straight Connector 28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51520" y="1340768"/>
            <a:ext cx="8712968" cy="1656184"/>
          </a:xfrm>
          <a:prstGeom prst="roundRect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Write a program that assigns a special discount to an item according to its price, then calculates the net price as follows:</a:t>
            </a:r>
          </a:p>
          <a:p>
            <a:pPr algn="ctr"/>
            <a:r>
              <a:rPr lang="en-US" dirty="0"/>
              <a:t>If the price is greater than 1,000 SR then the customer is given a VIP status and the item is given a 15% discount; otherwise, the item is given an 18% discount. The program should also display the customer status if VIP.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36951" y="3068960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619672" y="3068960"/>
            <a:ext cx="7344816" cy="50405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Price of the item </a:t>
            </a:r>
            <a:r>
              <a:rPr lang="en-US" dirty="0">
                <a:solidFill>
                  <a:srgbClr val="FF3399"/>
                </a:solidFill>
              </a:rPr>
              <a:t>(variable: price, type: </a:t>
            </a:r>
            <a:r>
              <a:rPr lang="en-US" dirty="0">
                <a:solidFill>
                  <a:srgbClr val="00B0F0"/>
                </a:solidFill>
              </a:rPr>
              <a:t>double</a:t>
            </a:r>
            <a:r>
              <a:rPr lang="en-US" dirty="0">
                <a:solidFill>
                  <a:srgbClr val="FF3399"/>
                </a:solidFill>
              </a:rPr>
              <a:t>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51520" y="3924914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634241" y="3924913"/>
            <a:ext cx="7344816" cy="800231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Discount </a:t>
            </a:r>
            <a:r>
              <a:rPr lang="en-US" dirty="0">
                <a:solidFill>
                  <a:srgbClr val="FF3399"/>
                </a:solidFill>
              </a:rPr>
              <a:t>(variable: discount, type: </a:t>
            </a:r>
            <a:r>
              <a:rPr lang="en-US" dirty="0">
                <a:solidFill>
                  <a:srgbClr val="00B0F0"/>
                </a:solidFill>
              </a:rPr>
              <a:t>double</a:t>
            </a:r>
            <a:r>
              <a:rPr lang="en-US" dirty="0">
                <a:solidFill>
                  <a:srgbClr val="FF3399"/>
                </a:solidFill>
              </a:rPr>
              <a:t>)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Net Price </a:t>
            </a:r>
            <a:r>
              <a:rPr lang="en-US" dirty="0">
                <a:solidFill>
                  <a:srgbClr val="FF3399"/>
                </a:solidFill>
              </a:rPr>
              <a:t>(variable: </a:t>
            </a:r>
            <a:r>
              <a:rPr lang="en-US" dirty="0" err="1">
                <a:solidFill>
                  <a:srgbClr val="FF3399"/>
                </a:solidFill>
              </a:rPr>
              <a:t>netPrice</a:t>
            </a:r>
            <a:r>
              <a:rPr lang="en-US" dirty="0">
                <a:solidFill>
                  <a:srgbClr val="FF3399"/>
                </a:solidFill>
              </a:rPr>
              <a:t>, type: </a:t>
            </a:r>
            <a:r>
              <a:rPr lang="en-US" dirty="0">
                <a:solidFill>
                  <a:srgbClr val="00B0F0"/>
                </a:solidFill>
              </a:rPr>
              <a:t>double</a:t>
            </a:r>
            <a:r>
              <a:rPr lang="en-US" dirty="0">
                <a:solidFill>
                  <a:srgbClr val="FF3399"/>
                </a:solidFill>
              </a:rPr>
              <a:t>)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Customer Status </a:t>
            </a:r>
            <a:r>
              <a:rPr lang="en-US" dirty="0">
                <a:solidFill>
                  <a:srgbClr val="FF3399"/>
                </a:solidFill>
              </a:rPr>
              <a:t>(variable: </a:t>
            </a:r>
            <a:r>
              <a:rPr lang="en-US" dirty="0" err="1">
                <a:solidFill>
                  <a:srgbClr val="FF3399"/>
                </a:solidFill>
              </a:rPr>
              <a:t>vip</a:t>
            </a:r>
            <a:r>
              <a:rPr lang="en-US" dirty="0">
                <a:solidFill>
                  <a:srgbClr val="FF3399"/>
                </a:solidFill>
              </a:rPr>
              <a:t>, type: </a:t>
            </a:r>
            <a:r>
              <a:rPr lang="en-US" dirty="0" err="1">
                <a:solidFill>
                  <a:srgbClr val="00B0F0"/>
                </a:solidFill>
              </a:rPr>
              <a:t>boolean</a:t>
            </a:r>
            <a:r>
              <a:rPr lang="en-US" dirty="0">
                <a:solidFill>
                  <a:srgbClr val="FF3399"/>
                </a:solidFill>
              </a:rPr>
              <a:t>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51520" y="5077041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634241" y="5077041"/>
            <a:ext cx="7344816" cy="1520311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if (</a:t>
            </a:r>
            <a:r>
              <a:rPr lang="en-US" dirty="0">
                <a:solidFill>
                  <a:srgbClr val="FF3399"/>
                </a:solidFill>
              </a:rPr>
              <a:t>price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&gt; 1000)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 	1) </a:t>
            </a:r>
            <a:r>
              <a:rPr lang="en-US" dirty="0">
                <a:solidFill>
                  <a:srgbClr val="FF3399"/>
                </a:solidFill>
                <a:sym typeface="Wingdings" panose="05000000000000000000" pitchFamily="2" charset="2"/>
              </a:rPr>
              <a:t>discount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= 0.15</a:t>
            </a:r>
          </a:p>
          <a:p>
            <a:r>
              <a:rPr lang="en-US" dirty="0">
                <a:solidFill>
                  <a:srgbClr val="FF3399"/>
                </a:solidFill>
                <a:sym typeface="Wingdings" panose="05000000000000000000" pitchFamily="2" charset="2"/>
              </a:rPr>
              <a:t>			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2)</a:t>
            </a:r>
            <a:r>
              <a:rPr lang="en-US" dirty="0">
                <a:solidFill>
                  <a:srgbClr val="FF3399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rgbClr val="FF3399"/>
                </a:solidFill>
                <a:sym typeface="Wingdings" panose="05000000000000000000" pitchFamily="2" charset="2"/>
              </a:rPr>
              <a:t>vip</a:t>
            </a:r>
            <a:r>
              <a:rPr lang="en-US" dirty="0">
                <a:solidFill>
                  <a:srgbClr val="FF3399"/>
                </a:solidFill>
                <a:sym typeface="Wingdings" panose="05000000000000000000" pitchFamily="2" charset="2"/>
              </a:rPr>
              <a:t> = </a:t>
            </a:r>
            <a:r>
              <a:rPr lang="en-US" dirty="0">
                <a:solidFill>
                  <a:srgbClr val="00B0F0"/>
                </a:solidFill>
                <a:sym typeface="Wingdings" panose="05000000000000000000" pitchFamily="2" charset="2"/>
              </a:rPr>
              <a:t>true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if (</a:t>
            </a:r>
            <a:r>
              <a:rPr lang="en-US" dirty="0">
                <a:solidFill>
                  <a:srgbClr val="FF3399"/>
                </a:solidFill>
              </a:rPr>
              <a:t>price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&lt;= 1000)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	1)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>
                <a:solidFill>
                  <a:srgbClr val="FF3399"/>
                </a:solidFill>
              </a:rPr>
              <a:t>discount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= 0.18</a:t>
            </a:r>
          </a:p>
          <a:p>
            <a:r>
              <a:rPr lang="en-US" dirty="0">
                <a:solidFill>
                  <a:srgbClr val="FF3399"/>
                </a:solidFill>
              </a:rPr>
              <a:t>			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2)</a:t>
            </a:r>
            <a:r>
              <a:rPr lang="en-US" dirty="0">
                <a:solidFill>
                  <a:srgbClr val="FF3399"/>
                </a:solidFill>
              </a:rPr>
              <a:t> </a:t>
            </a:r>
            <a:r>
              <a:rPr lang="en-US" dirty="0" err="1">
                <a:solidFill>
                  <a:srgbClr val="FF3399"/>
                </a:solidFill>
              </a:rPr>
              <a:t>vip</a:t>
            </a:r>
            <a:r>
              <a:rPr lang="en-US" dirty="0">
                <a:solidFill>
                  <a:srgbClr val="FF3399"/>
                </a:solidFill>
              </a:rPr>
              <a:t> = </a:t>
            </a:r>
            <a:r>
              <a:rPr lang="en-US" dirty="0">
                <a:solidFill>
                  <a:srgbClr val="00B0F0"/>
                </a:solidFill>
              </a:rPr>
              <a:t>false</a:t>
            </a:r>
          </a:p>
          <a:p>
            <a:r>
              <a:rPr lang="en-US" dirty="0" err="1">
                <a:solidFill>
                  <a:srgbClr val="FF3399"/>
                </a:solidFill>
                <a:sym typeface="Wingdings" panose="05000000000000000000" pitchFamily="2" charset="2"/>
              </a:rPr>
              <a:t>netPrice</a:t>
            </a:r>
            <a:r>
              <a:rPr lang="en-US" dirty="0">
                <a:solidFill>
                  <a:srgbClr val="FF3399"/>
                </a:solidFill>
                <a:sym typeface="Wingdings" panose="05000000000000000000" pitchFamily="2" charset="2"/>
              </a:rPr>
              <a:t>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= (1 – </a:t>
            </a:r>
            <a:r>
              <a:rPr lang="en-US" dirty="0">
                <a:solidFill>
                  <a:srgbClr val="FF3399"/>
                </a:solidFill>
                <a:sym typeface="Wingdings" panose="05000000000000000000" pitchFamily="2" charset="2"/>
              </a:rPr>
              <a:t>discount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) *</a:t>
            </a:r>
            <a:r>
              <a:rPr lang="en-US" dirty="0">
                <a:solidFill>
                  <a:srgbClr val="FF3399"/>
                </a:solidFill>
                <a:sym typeface="Wingdings" panose="05000000000000000000" pitchFamily="2" charset="2"/>
              </a:rPr>
              <a:t> price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0923818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5" grpId="0" animBg="1"/>
      <p:bldP spid="31" grpId="0" animBg="1"/>
      <p:bldP spid="34" grpId="0" animBg="1"/>
      <p:bldP spid="35" grpId="0" animBg="1"/>
      <p:bldP spid="43" grpId="0" animBg="1"/>
      <p:bldP spid="44" grpId="0" animBg="1"/>
      <p:bldP spid="4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3.2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if…else 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Statement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0" y="908720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With a block of statements – PROGRAM 4: Flowchart</a:t>
            </a:r>
          </a:p>
        </p:txBody>
      </p:sp>
      <p:cxnSp>
        <p:nvCxnSpPr>
          <p:cNvPr id="29" name="Straight Connector 28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AutoShape 67"/>
          <p:cNvSpPr>
            <a:spLocks noChangeArrowheads="1"/>
          </p:cNvSpPr>
          <p:nvPr/>
        </p:nvSpPr>
        <p:spPr bwMode="auto">
          <a:xfrm>
            <a:off x="4175969" y="1412777"/>
            <a:ext cx="1441450" cy="421858"/>
          </a:xfrm>
          <a:prstGeom prst="flowChartTerminator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Start</a:t>
            </a:r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4896694" y="1834635"/>
            <a:ext cx="1" cy="29212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AutoShape 68"/>
          <p:cNvSpPr>
            <a:spLocks noChangeArrowheads="1"/>
          </p:cNvSpPr>
          <p:nvPr/>
        </p:nvSpPr>
        <p:spPr bwMode="auto">
          <a:xfrm>
            <a:off x="3961657" y="2130811"/>
            <a:ext cx="1870075" cy="358775"/>
          </a:xfrm>
          <a:prstGeom prst="flowChartInputOutpu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Read price</a:t>
            </a:r>
          </a:p>
        </p:txBody>
      </p:sp>
      <p:cxnSp>
        <p:nvCxnSpPr>
          <p:cNvPr id="39" name="Straight Arrow Connector 38"/>
          <p:cNvCxnSpPr/>
          <p:nvPr/>
        </p:nvCxnSpPr>
        <p:spPr>
          <a:xfrm>
            <a:off x="4896694" y="2482707"/>
            <a:ext cx="1" cy="29212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Flowchart: Decision 39"/>
          <p:cNvSpPr/>
          <p:nvPr/>
        </p:nvSpPr>
        <p:spPr>
          <a:xfrm>
            <a:off x="3420530" y="2780929"/>
            <a:ext cx="2952328" cy="798184"/>
          </a:xfrm>
          <a:prstGeom prst="flowChartDecision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price</a:t>
            </a:r>
            <a:r>
              <a:rPr lang="en-US" dirty="0">
                <a:solidFill>
                  <a:schemeClr val="tx1"/>
                </a:solidFill>
              </a:rPr>
              <a:t> &gt; 1000?</a:t>
            </a:r>
          </a:p>
        </p:txBody>
      </p:sp>
      <p:cxnSp>
        <p:nvCxnSpPr>
          <p:cNvPr id="41" name="Straight Arrow Connector 40"/>
          <p:cNvCxnSpPr>
            <a:endCxn id="42" idx="0"/>
          </p:cNvCxnSpPr>
          <p:nvPr/>
        </p:nvCxnSpPr>
        <p:spPr>
          <a:xfrm>
            <a:off x="3113727" y="3180021"/>
            <a:ext cx="0" cy="466393"/>
          </a:xfrm>
          <a:prstGeom prst="straightConnector1">
            <a:avLst/>
          </a:prstGeom>
          <a:ln w="28575">
            <a:solidFill>
              <a:srgbClr val="00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AutoShape 72"/>
          <p:cNvSpPr>
            <a:spLocks noChangeArrowheads="1"/>
          </p:cNvSpPr>
          <p:nvPr/>
        </p:nvSpPr>
        <p:spPr bwMode="auto">
          <a:xfrm>
            <a:off x="1907705" y="3646414"/>
            <a:ext cx="2412044" cy="420469"/>
          </a:xfrm>
          <a:prstGeom prst="flowChartProcess">
            <a:avLst/>
          </a:prstGeom>
          <a:solidFill>
            <a:srgbClr val="92D05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latin typeface="Arial" charset="0"/>
                <a:cs typeface="Arial" charset="0"/>
              </a:rPr>
              <a:t>discount = 0.15</a:t>
            </a:r>
            <a:endParaRPr lang="en-US" sz="1600" dirty="0">
              <a:solidFill>
                <a:srgbClr val="0000FF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47" name="Straight Arrow Connector 46"/>
          <p:cNvCxnSpPr/>
          <p:nvPr/>
        </p:nvCxnSpPr>
        <p:spPr>
          <a:xfrm>
            <a:off x="3133155" y="4077073"/>
            <a:ext cx="0" cy="936103"/>
          </a:xfrm>
          <a:prstGeom prst="straightConnector1">
            <a:avLst/>
          </a:prstGeom>
          <a:ln w="28575">
            <a:solidFill>
              <a:srgbClr val="00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988482" y="2905200"/>
            <a:ext cx="6830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06600"/>
                </a:solidFill>
              </a:rPr>
              <a:t>True</a:t>
            </a:r>
          </a:p>
        </p:txBody>
      </p:sp>
      <p:cxnSp>
        <p:nvCxnSpPr>
          <p:cNvPr id="49" name="Straight Arrow Connector 48"/>
          <p:cNvCxnSpPr/>
          <p:nvPr/>
        </p:nvCxnSpPr>
        <p:spPr>
          <a:xfrm>
            <a:off x="6661548" y="3180021"/>
            <a:ext cx="2" cy="1113075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AutoShape 72"/>
          <p:cNvSpPr>
            <a:spLocks noChangeArrowheads="1"/>
          </p:cNvSpPr>
          <p:nvPr/>
        </p:nvSpPr>
        <p:spPr bwMode="auto">
          <a:xfrm>
            <a:off x="5292080" y="3646414"/>
            <a:ext cx="2448272" cy="420469"/>
          </a:xfrm>
          <a:prstGeom prst="flowChartProcess">
            <a:avLst/>
          </a:prstGeom>
          <a:solidFill>
            <a:schemeClr val="bg2">
              <a:lumMod val="5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latin typeface="Arial" charset="0"/>
                <a:cs typeface="Arial" charset="0"/>
              </a:rPr>
              <a:t>Discount = 0.18</a:t>
            </a:r>
            <a:endParaRPr lang="en-US" sz="1600" dirty="0">
              <a:solidFill>
                <a:srgbClr val="0000FF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51" name="Straight Arrow Connector 50"/>
          <p:cNvCxnSpPr/>
          <p:nvPr/>
        </p:nvCxnSpPr>
        <p:spPr>
          <a:xfrm>
            <a:off x="6661550" y="4713565"/>
            <a:ext cx="0" cy="299611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 flipH="1">
            <a:off x="5004706" y="5013176"/>
            <a:ext cx="1656183" cy="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3133156" y="5013176"/>
            <a:ext cx="1871550" cy="0"/>
          </a:xfrm>
          <a:prstGeom prst="straightConnector1">
            <a:avLst/>
          </a:prstGeom>
          <a:ln w="28575">
            <a:solidFill>
              <a:srgbClr val="00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>
            <a:off x="5015158" y="5013176"/>
            <a:ext cx="1" cy="292126"/>
          </a:xfrm>
          <a:prstGeom prst="straightConnector1">
            <a:avLst/>
          </a:prstGeom>
          <a:ln w="28575">
            <a:solidFill>
              <a:schemeClr val="tx1"/>
            </a:solidFill>
            <a:headEnd type="diamond" w="lg" len="lg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AutoShape 71"/>
          <p:cNvSpPr>
            <a:spLocks noChangeArrowheads="1"/>
          </p:cNvSpPr>
          <p:nvPr/>
        </p:nvSpPr>
        <p:spPr bwMode="auto">
          <a:xfrm>
            <a:off x="3267129" y="5805265"/>
            <a:ext cx="3394421" cy="358775"/>
          </a:xfrm>
          <a:prstGeom prst="flowChartInputOutpu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Print </a:t>
            </a:r>
            <a:r>
              <a:rPr lang="en-US" sz="1600" dirty="0" err="1">
                <a:solidFill>
                  <a:srgbClr val="0000FF"/>
                </a:solidFill>
                <a:effectLst/>
                <a:latin typeface="Arial" charset="0"/>
                <a:cs typeface="Arial" charset="0"/>
              </a:rPr>
              <a:t>netPrice</a:t>
            </a:r>
            <a:r>
              <a:rPr lang="en-US" sz="1600" dirty="0">
                <a:effectLst/>
                <a:latin typeface="Arial" charset="0"/>
                <a:cs typeface="Arial" charset="0"/>
              </a:rPr>
              <a:t>,</a:t>
            </a:r>
            <a:r>
              <a:rPr lang="en-US" sz="1600" dirty="0">
                <a:solidFill>
                  <a:srgbClr val="0000FF"/>
                </a:solidFill>
                <a:effectLst/>
                <a:latin typeface="Arial" charset="0"/>
                <a:cs typeface="Arial" charset="0"/>
              </a:rPr>
              <a:t> </a:t>
            </a:r>
            <a:r>
              <a:rPr lang="en-US" sz="1600" dirty="0" err="1">
                <a:solidFill>
                  <a:srgbClr val="0000FF"/>
                </a:solidFill>
                <a:effectLst/>
                <a:latin typeface="Arial" charset="0"/>
                <a:cs typeface="Arial" charset="0"/>
              </a:rPr>
              <a:t>vip</a:t>
            </a:r>
            <a:endParaRPr lang="en-US" sz="1600" dirty="0">
              <a:solidFill>
                <a:srgbClr val="0000FF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56" name="AutoShape 70"/>
          <p:cNvSpPr>
            <a:spLocks noChangeArrowheads="1"/>
          </p:cNvSpPr>
          <p:nvPr/>
        </p:nvSpPr>
        <p:spPr bwMode="auto">
          <a:xfrm>
            <a:off x="4319749" y="6319512"/>
            <a:ext cx="1441450" cy="421856"/>
          </a:xfrm>
          <a:prstGeom prst="flowChartTerminator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End</a:t>
            </a:r>
          </a:p>
        </p:txBody>
      </p:sp>
      <p:cxnSp>
        <p:nvCxnSpPr>
          <p:cNvPr id="57" name="Straight Arrow Connector 56"/>
          <p:cNvCxnSpPr/>
          <p:nvPr/>
        </p:nvCxnSpPr>
        <p:spPr>
          <a:xfrm>
            <a:off x="5076056" y="6153848"/>
            <a:ext cx="0" cy="15547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6085483" y="2780928"/>
            <a:ext cx="6830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000FF"/>
                </a:solidFill>
              </a:rPr>
              <a:t>False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3113727" y="3180021"/>
            <a:ext cx="306804" cy="0"/>
          </a:xfrm>
          <a:prstGeom prst="straightConnector1">
            <a:avLst/>
          </a:prstGeom>
          <a:ln w="28575">
            <a:solidFill>
              <a:srgbClr val="00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40" idx="3"/>
          </p:cNvCxnSpPr>
          <p:nvPr/>
        </p:nvCxnSpPr>
        <p:spPr>
          <a:xfrm>
            <a:off x="6372858" y="3180021"/>
            <a:ext cx="288032" cy="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AutoShape 72"/>
          <p:cNvSpPr>
            <a:spLocks noChangeArrowheads="1"/>
          </p:cNvSpPr>
          <p:nvPr/>
        </p:nvSpPr>
        <p:spPr bwMode="auto">
          <a:xfrm>
            <a:off x="1907704" y="4304675"/>
            <a:ext cx="2412045" cy="420469"/>
          </a:xfrm>
          <a:prstGeom prst="flowChartProcess">
            <a:avLst/>
          </a:prstGeom>
          <a:solidFill>
            <a:srgbClr val="92D05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 err="1">
                <a:latin typeface="Arial" charset="0"/>
                <a:cs typeface="Arial" charset="0"/>
              </a:rPr>
              <a:t>vip</a:t>
            </a:r>
            <a:r>
              <a:rPr lang="en-US" sz="1600" dirty="0">
                <a:latin typeface="Arial" charset="0"/>
                <a:cs typeface="Arial" charset="0"/>
              </a:rPr>
              <a:t> = true</a:t>
            </a:r>
            <a:endParaRPr lang="en-US" sz="1600" dirty="0">
              <a:solidFill>
                <a:srgbClr val="0000FF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31" name="AutoShape 72"/>
          <p:cNvSpPr>
            <a:spLocks noChangeArrowheads="1"/>
          </p:cNvSpPr>
          <p:nvPr/>
        </p:nvSpPr>
        <p:spPr bwMode="auto">
          <a:xfrm>
            <a:off x="5292738" y="4293096"/>
            <a:ext cx="2448272" cy="420469"/>
          </a:xfrm>
          <a:prstGeom prst="flowChartProcess">
            <a:avLst/>
          </a:prstGeom>
          <a:solidFill>
            <a:schemeClr val="bg2">
              <a:lumMod val="5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 err="1">
                <a:latin typeface="Arial" charset="0"/>
                <a:cs typeface="Arial" charset="0"/>
              </a:rPr>
              <a:t>vip</a:t>
            </a:r>
            <a:r>
              <a:rPr lang="en-US" sz="1600" dirty="0">
                <a:latin typeface="Arial" charset="0"/>
                <a:cs typeface="Arial" charset="0"/>
              </a:rPr>
              <a:t> = false</a:t>
            </a:r>
            <a:endParaRPr lang="en-US" sz="1600" dirty="0">
              <a:solidFill>
                <a:srgbClr val="0000FF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43" name="AutoShape 71"/>
          <p:cNvSpPr>
            <a:spLocks noChangeArrowheads="1"/>
          </p:cNvSpPr>
          <p:nvPr/>
        </p:nvSpPr>
        <p:spPr bwMode="auto">
          <a:xfrm>
            <a:off x="3267129" y="5301208"/>
            <a:ext cx="3393760" cy="358775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netPrice</a:t>
            </a:r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= (1 – </a:t>
            </a:r>
            <a:r>
              <a:rPr lang="en-US" sz="1600" dirty="0">
                <a:solidFill>
                  <a:srgbClr val="0000FF"/>
                </a:solidFill>
                <a:effectLst/>
                <a:latin typeface="Arial" charset="0"/>
                <a:cs typeface="Arial" charset="0"/>
              </a:rPr>
              <a:t>discount</a:t>
            </a:r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) * </a:t>
            </a:r>
            <a:r>
              <a:rPr lang="en-US" sz="1600" dirty="0">
                <a:solidFill>
                  <a:srgbClr val="0000FF"/>
                </a:solidFill>
                <a:effectLst/>
                <a:latin typeface="Arial" charset="0"/>
                <a:cs typeface="Arial" charset="0"/>
              </a:rPr>
              <a:t>price</a:t>
            </a:r>
          </a:p>
        </p:txBody>
      </p:sp>
      <p:cxnSp>
        <p:nvCxnSpPr>
          <p:cNvPr id="44" name="Straight Arrow Connector 43"/>
          <p:cNvCxnSpPr/>
          <p:nvPr/>
        </p:nvCxnSpPr>
        <p:spPr>
          <a:xfrm>
            <a:off x="5040474" y="5661248"/>
            <a:ext cx="0" cy="15547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41549513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500"/>
                            </p:stCondLst>
                            <p:childTnLst>
                              <p:par>
                                <p:cTn id="6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000"/>
                            </p:stCondLst>
                            <p:childTnLst>
                              <p:par>
                                <p:cTn id="7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500"/>
                            </p:stCondLst>
                            <p:childTnLst>
                              <p:par>
                                <p:cTn id="8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3000"/>
                            </p:stCondLst>
                            <p:childTnLst>
                              <p:par>
                                <p:cTn id="8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3500"/>
                            </p:stCondLst>
                            <p:childTnLst>
                              <p:par>
                                <p:cTn id="8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4000"/>
                            </p:stCondLst>
                            <p:childTnLst>
                              <p:par>
                                <p:cTn id="9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4500"/>
                            </p:stCondLst>
                            <p:childTnLst>
                              <p:par>
                                <p:cTn id="9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0"/>
                            </p:stCondLst>
                            <p:childTnLst>
                              <p:par>
                                <p:cTn id="10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3" grpId="0" animBg="1"/>
      <p:bldP spid="38" grpId="0" animBg="1"/>
      <p:bldP spid="40" grpId="0" animBg="1"/>
      <p:bldP spid="42" grpId="0" animBg="1"/>
      <p:bldP spid="48" grpId="0"/>
      <p:bldP spid="50" grpId="0" animBg="1"/>
      <p:bldP spid="55" grpId="0" animBg="1"/>
      <p:bldP spid="56" grpId="0" animBg="1"/>
      <p:bldP spid="58" grpId="0"/>
      <p:bldP spid="30" grpId="0" animBg="1"/>
      <p:bldP spid="31" grpId="0" animBg="1"/>
      <p:bldP spid="4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With a block of statements - PROGRAM 4: CODE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/>
          <p:cNvGrpSpPr/>
          <p:nvPr/>
        </p:nvGrpSpPr>
        <p:grpSpPr>
          <a:xfrm>
            <a:off x="179512" y="1124744"/>
            <a:ext cx="8784976" cy="5632311"/>
            <a:chOff x="323528" y="1236822"/>
            <a:chExt cx="7848872" cy="5469843"/>
          </a:xfrm>
        </p:grpSpPr>
        <p:sp>
          <p:nvSpPr>
            <p:cNvPr id="21" name="TextBox 20"/>
            <p:cNvSpPr txBox="1"/>
            <p:nvPr/>
          </p:nvSpPr>
          <p:spPr>
            <a:xfrm>
              <a:off x="971600" y="1236822"/>
              <a:ext cx="7200800" cy="5290504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// import necessary libraries</a:t>
              </a:r>
            </a:p>
            <a:p>
              <a:r>
                <a:rPr lang="en-US" sz="1200" dirty="0">
                  <a:solidFill>
                    <a:srgbClr val="00B0F0"/>
                  </a:solidFill>
                </a:rPr>
                <a:t>import</a:t>
              </a:r>
              <a:r>
                <a:rPr lang="en-US" sz="1200" dirty="0">
                  <a:solidFill>
                    <a:srgbClr val="0000FF"/>
                  </a:solidFill>
                </a:rPr>
                <a:t> </a:t>
              </a:r>
              <a:r>
                <a:rPr lang="en-US" sz="1200" dirty="0" err="1">
                  <a:solidFill>
                    <a:srgbClr val="0000FF"/>
                  </a:solidFill>
                </a:rPr>
                <a:t>java.util.Scanner</a:t>
              </a:r>
              <a:r>
                <a:rPr lang="en-US" sz="1200" dirty="0">
                  <a:solidFill>
                    <a:srgbClr val="0000FF"/>
                  </a:solidFill>
                </a:rPr>
                <a:t>;</a:t>
              </a:r>
              <a:endParaRPr lang="en-US" sz="1200" dirty="0">
                <a:solidFill>
                  <a:srgbClr val="00B050"/>
                </a:solidFill>
              </a:endParaRPr>
            </a:p>
            <a:p>
              <a:r>
                <a:rPr lang="en-US" sz="1200" dirty="0">
                  <a:solidFill>
                    <a:srgbClr val="00B0F0"/>
                  </a:solidFill>
                </a:rPr>
                <a:t>public class</a:t>
              </a:r>
              <a:r>
                <a:rPr lang="en-US" sz="1200" dirty="0">
                  <a:solidFill>
                    <a:srgbClr val="0000FF"/>
                  </a:solidFill>
                </a:rPr>
                <a:t> </a:t>
              </a:r>
              <a:r>
                <a:rPr lang="en-US" sz="1200" dirty="0" err="1">
                  <a:solidFill>
                    <a:srgbClr val="0000FF"/>
                  </a:solidFill>
                </a:rPr>
                <a:t>ifElseStatementN</a:t>
              </a:r>
              <a:endParaRPr lang="en-US" sz="1200" dirty="0">
                <a:solidFill>
                  <a:srgbClr val="0000FF"/>
                </a:solidFill>
              </a:endParaRPr>
            </a:p>
            <a:p>
              <a:r>
                <a:rPr lang="en-US" sz="1200" dirty="0">
                  <a:solidFill>
                    <a:srgbClr val="0000FF"/>
                  </a:solidFill>
                </a:rPr>
                <a:t>{</a:t>
              </a:r>
            </a:p>
            <a:p>
              <a:r>
                <a:rPr lang="en-US" sz="1200" dirty="0">
                  <a:solidFill>
                    <a:srgbClr val="00B0F0"/>
                  </a:solidFill>
                </a:rPr>
                <a:t>      public static void</a:t>
              </a:r>
              <a:r>
                <a:rPr lang="en-US" sz="1200" dirty="0">
                  <a:solidFill>
                    <a:srgbClr val="0000FF"/>
                  </a:solidFill>
                </a:rPr>
                <a:t> main (String[] </a:t>
              </a:r>
              <a:r>
                <a:rPr lang="en-US" sz="1200" dirty="0" err="1">
                  <a:solidFill>
                    <a:srgbClr val="0000FF"/>
                  </a:solidFill>
                </a:rPr>
                <a:t>args</a:t>
              </a:r>
              <a:r>
                <a:rPr lang="en-US" sz="1200" dirty="0">
                  <a:solidFill>
                    <a:srgbClr val="0000FF"/>
                  </a:solidFill>
                </a:rPr>
                <a:t>)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      {</a:t>
              </a:r>
            </a:p>
            <a:p>
              <a:r>
                <a:rPr lang="en-US" sz="1200" dirty="0">
                  <a:solidFill>
                    <a:srgbClr val="00B0F0"/>
                  </a:solidFill>
                </a:rPr>
                <a:t>             </a:t>
              </a:r>
              <a:r>
                <a:rPr lang="en-US" sz="1200" dirty="0">
                  <a:solidFill>
                    <a:srgbClr val="0000FF"/>
                  </a:solidFill>
                </a:rPr>
                <a:t>Scanner console = </a:t>
              </a:r>
              <a:r>
                <a:rPr lang="en-US" sz="1200" dirty="0">
                  <a:solidFill>
                    <a:srgbClr val="00B0F0"/>
                  </a:solidFill>
                </a:rPr>
                <a:t>new</a:t>
              </a:r>
              <a:r>
                <a:rPr lang="en-US" sz="1200" dirty="0">
                  <a:solidFill>
                    <a:srgbClr val="0000FF"/>
                  </a:solidFill>
                </a:rPr>
                <a:t> Scanner (</a:t>
              </a:r>
              <a:r>
                <a:rPr lang="en-US" sz="1200" dirty="0" err="1">
                  <a:solidFill>
                    <a:srgbClr val="0000FF"/>
                  </a:solidFill>
                </a:rPr>
                <a:t>System.in</a:t>
              </a:r>
              <a:r>
                <a:rPr lang="en-US" sz="1200" dirty="0">
                  <a:solidFill>
                    <a:srgbClr val="0000FF"/>
                  </a:solidFill>
                </a:rPr>
                <a:t>);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         </a:t>
              </a:r>
              <a:r>
                <a:rPr lang="en-US" sz="1200" dirty="0"/>
                <a:t>// Declaration section: to declare needed variables</a:t>
              </a:r>
            </a:p>
            <a:p>
              <a:r>
                <a:rPr lang="en-US" sz="1200" dirty="0"/>
                <a:t>             </a:t>
              </a:r>
              <a:r>
                <a:rPr lang="en-US" sz="1200" dirty="0">
                  <a:solidFill>
                    <a:srgbClr val="00B0F0"/>
                  </a:solidFill>
                </a:rPr>
                <a:t>double</a:t>
              </a:r>
              <a:r>
                <a:rPr lang="en-US" sz="1200" dirty="0">
                  <a:solidFill>
                    <a:srgbClr val="0000FF"/>
                  </a:solidFill>
                </a:rPr>
                <a:t> price, discount, </a:t>
              </a:r>
              <a:r>
                <a:rPr lang="en-US" sz="1200" dirty="0" err="1">
                  <a:solidFill>
                    <a:srgbClr val="0000FF"/>
                  </a:solidFill>
                </a:rPr>
                <a:t>netPrice</a:t>
              </a:r>
              <a:r>
                <a:rPr lang="en-US" sz="1200" dirty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             </a:t>
              </a:r>
              <a:r>
                <a:rPr lang="en-US" sz="1200" dirty="0" err="1">
                  <a:solidFill>
                    <a:srgbClr val="00B0F0"/>
                  </a:solidFill>
                </a:rPr>
                <a:t>boolean</a:t>
              </a:r>
              <a:r>
                <a:rPr lang="en-US" sz="1200" dirty="0">
                  <a:solidFill>
                    <a:srgbClr val="00B0F0"/>
                  </a:solidFill>
                </a:rPr>
                <a:t> </a:t>
              </a:r>
              <a:r>
                <a:rPr lang="en-US" sz="1200" dirty="0" err="1">
                  <a:solidFill>
                    <a:srgbClr val="0000FF"/>
                  </a:solidFill>
                </a:rPr>
                <a:t>vip</a:t>
              </a:r>
              <a:r>
                <a:rPr lang="en-US" sz="1200" dirty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200" dirty="0"/>
                <a:t>         // Input section: to enter values of used variables</a:t>
              </a:r>
            </a:p>
            <a:p>
              <a:r>
                <a:rPr lang="en-US" sz="1200" dirty="0"/>
                <a:t>             </a:t>
              </a:r>
              <a:r>
                <a:rPr lang="en-US" sz="12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200" dirty="0">
                  <a:solidFill>
                    <a:srgbClr val="0000FF"/>
                  </a:solidFill>
                </a:rPr>
                <a:t> (“Enter the price of the item”);   </a:t>
              </a:r>
              <a:r>
                <a:rPr lang="en-US" sz="1200" dirty="0">
                  <a:solidFill>
                    <a:srgbClr val="00B050"/>
                  </a:solidFill>
                </a:rPr>
                <a:t>//prompt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             price = </a:t>
              </a:r>
              <a:r>
                <a:rPr lang="en-US" sz="1200" dirty="0" err="1">
                  <a:solidFill>
                    <a:srgbClr val="0000FF"/>
                  </a:solidFill>
                </a:rPr>
                <a:t>console.</a:t>
              </a:r>
              <a:r>
                <a:rPr lang="en-US" sz="1200" dirty="0" err="1">
                  <a:solidFill>
                    <a:srgbClr val="00B050"/>
                  </a:solidFill>
                </a:rPr>
                <a:t>nextDouble</a:t>
              </a:r>
              <a:r>
                <a:rPr lang="en-US" sz="1200" dirty="0">
                  <a:solidFill>
                    <a:srgbClr val="00B050"/>
                  </a:solidFill>
                </a:rPr>
                <a:t>()</a:t>
              </a:r>
              <a:r>
                <a:rPr lang="en-US" sz="1200" dirty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200" dirty="0"/>
                <a:t>         // Processing section: processing statements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              </a:t>
              </a:r>
              <a:r>
                <a:rPr lang="en-US" sz="1200" dirty="0">
                  <a:solidFill>
                    <a:srgbClr val="00B0F0"/>
                  </a:solidFill>
                </a:rPr>
                <a:t>if</a:t>
              </a:r>
              <a:r>
                <a:rPr lang="en-US" sz="1200" dirty="0">
                  <a:solidFill>
                    <a:srgbClr val="0000FF"/>
                  </a:solidFill>
                </a:rPr>
                <a:t> (price &gt; 1000.0)		</a:t>
              </a:r>
              <a:r>
                <a:rPr lang="en-US" sz="1200" dirty="0">
                  <a:solidFill>
                    <a:srgbClr val="00B050"/>
                  </a:solidFill>
                </a:rPr>
                <a:t>// price is double</a:t>
              </a:r>
              <a:r>
                <a:rPr lang="en-US" sz="1200" dirty="0">
                  <a:solidFill>
                    <a:srgbClr val="0000FF"/>
                  </a:solidFill>
                </a:rPr>
                <a:t> 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                 {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                  discount = 0.15;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                  </a:t>
              </a:r>
              <a:r>
                <a:rPr lang="en-US" sz="1200" dirty="0" err="1">
                  <a:solidFill>
                    <a:srgbClr val="0000FF"/>
                  </a:solidFill>
                </a:rPr>
                <a:t>vip</a:t>
              </a:r>
              <a:r>
                <a:rPr lang="en-US" sz="1200" dirty="0">
                  <a:solidFill>
                    <a:srgbClr val="0000FF"/>
                  </a:solidFill>
                </a:rPr>
                <a:t> = </a:t>
              </a:r>
              <a:r>
                <a:rPr lang="en-US" sz="1200" dirty="0">
                  <a:solidFill>
                    <a:srgbClr val="00B0F0"/>
                  </a:solidFill>
                </a:rPr>
                <a:t>true</a:t>
              </a:r>
              <a:r>
                <a:rPr lang="en-US" sz="1200" dirty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                 } </a:t>
              </a:r>
              <a:r>
                <a:rPr lang="en-US" sz="1200" dirty="0">
                  <a:solidFill>
                    <a:srgbClr val="00B050"/>
                  </a:solidFill>
                </a:rPr>
                <a:t>//end if(price &gt; 1000.0)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              </a:t>
              </a:r>
              <a:r>
                <a:rPr lang="en-US" sz="1200" dirty="0">
                  <a:solidFill>
                    <a:srgbClr val="00B0F0"/>
                  </a:solidFill>
                </a:rPr>
                <a:t>else</a:t>
              </a:r>
            </a:p>
            <a:p>
              <a:r>
                <a:rPr lang="en-US" sz="1200" dirty="0">
                  <a:solidFill>
                    <a:srgbClr val="00B0F0"/>
                  </a:solidFill>
                </a:rPr>
                <a:t>                </a:t>
              </a:r>
              <a:r>
                <a:rPr lang="en-US" sz="1200" dirty="0">
                  <a:solidFill>
                    <a:srgbClr val="0000FF"/>
                  </a:solidFill>
                </a:rPr>
                <a:t>{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                  discount = 0.18;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                  </a:t>
              </a:r>
              <a:r>
                <a:rPr lang="en-US" sz="1200" dirty="0" err="1">
                  <a:solidFill>
                    <a:srgbClr val="0000FF"/>
                  </a:solidFill>
                </a:rPr>
                <a:t>vip</a:t>
              </a:r>
              <a:r>
                <a:rPr lang="en-US" sz="1200" dirty="0">
                  <a:solidFill>
                    <a:srgbClr val="0000FF"/>
                  </a:solidFill>
                </a:rPr>
                <a:t> = false;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                } </a:t>
              </a:r>
              <a:r>
                <a:rPr lang="en-US" sz="1200" dirty="0">
                  <a:solidFill>
                    <a:srgbClr val="00B050"/>
                  </a:solidFill>
                </a:rPr>
                <a:t>//end else if(price &gt; 1000)</a:t>
              </a:r>
            </a:p>
            <a:p>
              <a:r>
                <a:rPr lang="en-US" sz="1200" dirty="0">
                  <a:solidFill>
                    <a:srgbClr val="00B050"/>
                  </a:solidFill>
                </a:rPr>
                <a:t>             </a:t>
              </a:r>
              <a:r>
                <a:rPr lang="en-US" sz="1200" dirty="0">
                  <a:solidFill>
                    <a:srgbClr val="0000FF"/>
                  </a:solidFill>
                </a:rPr>
                <a:t> </a:t>
              </a:r>
              <a:r>
                <a:rPr lang="en-US" sz="1200" dirty="0" err="1">
                  <a:solidFill>
                    <a:srgbClr val="0000FF"/>
                  </a:solidFill>
                </a:rPr>
                <a:t>netPrice</a:t>
              </a:r>
              <a:r>
                <a:rPr lang="en-US" sz="1200" dirty="0">
                  <a:solidFill>
                    <a:srgbClr val="0000FF"/>
                  </a:solidFill>
                </a:rPr>
                <a:t> = (1 – discount) * price;</a:t>
              </a:r>
              <a:endParaRPr lang="en-US" sz="1200" dirty="0">
                <a:solidFill>
                  <a:srgbClr val="00B050"/>
                </a:solidFill>
              </a:endParaRPr>
            </a:p>
            <a:p>
              <a:r>
                <a:rPr lang="en-US" sz="1200" dirty="0"/>
                <a:t>         // Output section: display program output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             </a:t>
              </a:r>
              <a:r>
                <a:rPr lang="en-US" sz="1200" dirty="0" err="1">
                  <a:solidFill>
                    <a:srgbClr val="0000FF"/>
                  </a:solidFill>
                </a:rPr>
                <a:t>System.out.printf</a:t>
              </a:r>
              <a:r>
                <a:rPr lang="en-US" sz="1200" dirty="0">
                  <a:solidFill>
                    <a:srgbClr val="0000FF"/>
                  </a:solidFill>
                </a:rPr>
                <a:t> (“Discount = %.2f, Net price = %.2f, </a:t>
              </a:r>
              <a:r>
                <a:rPr lang="en-US" sz="1200" dirty="0" err="1">
                  <a:solidFill>
                    <a:srgbClr val="0000FF"/>
                  </a:solidFill>
                </a:rPr>
                <a:t>vip</a:t>
              </a:r>
              <a:r>
                <a:rPr lang="en-US" sz="1200" dirty="0">
                  <a:solidFill>
                    <a:srgbClr val="0000FF"/>
                  </a:solidFill>
                </a:rPr>
                <a:t> = %5s“, discount, </a:t>
              </a:r>
              <a:r>
                <a:rPr lang="en-US" sz="1200" dirty="0" err="1">
                  <a:solidFill>
                    <a:srgbClr val="0000FF"/>
                  </a:solidFill>
                </a:rPr>
                <a:t>netPrice</a:t>
              </a:r>
              <a:r>
                <a:rPr lang="en-US" sz="1200" dirty="0">
                  <a:solidFill>
                    <a:srgbClr val="0000FF"/>
                  </a:solidFill>
                </a:rPr>
                <a:t>, </a:t>
              </a:r>
              <a:r>
                <a:rPr lang="en-US" sz="1200" dirty="0" err="1">
                  <a:solidFill>
                    <a:srgbClr val="0000FF"/>
                  </a:solidFill>
                </a:rPr>
                <a:t>vip</a:t>
              </a:r>
              <a:r>
                <a:rPr lang="en-US" sz="1200" dirty="0">
                  <a:solidFill>
                    <a:srgbClr val="0000FF"/>
                  </a:solidFill>
                </a:rPr>
                <a:t>); </a:t>
              </a:r>
              <a:endParaRPr lang="en-US" sz="1200" dirty="0">
                <a:solidFill>
                  <a:srgbClr val="00B050"/>
                </a:solidFill>
              </a:endParaRPr>
            </a:p>
            <a:p>
              <a:r>
                <a:rPr lang="en-US" sz="1200" dirty="0">
                  <a:solidFill>
                    <a:srgbClr val="0000FF"/>
                  </a:solidFill>
                </a:rPr>
                <a:t>      } </a:t>
              </a:r>
              <a:r>
                <a:rPr lang="en-US" sz="1200" dirty="0"/>
                <a:t>// end main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} </a:t>
              </a:r>
              <a:r>
                <a:rPr lang="en-US" sz="1200" dirty="0"/>
                <a:t>// end class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23528" y="1236822"/>
              <a:ext cx="576064" cy="54698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15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16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17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18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19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20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21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22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23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24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25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26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27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28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29</a:t>
              </a:r>
            </a:p>
          </p:txBody>
        </p:sp>
      </p:grpSp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3.2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if…else 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Statement</a:t>
            </a: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703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With a block of statements - PROGRAM 4: CASE 1 (TRUE)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3.2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if…else 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Statement</a:t>
            </a: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29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650334" y="1925541"/>
            <a:ext cx="8314155" cy="523220"/>
            <a:chOff x="1029207" y="1236822"/>
            <a:chExt cx="7143193" cy="523220"/>
          </a:xfrm>
        </p:grpSpPr>
        <p:sp>
          <p:nvSpPr>
            <p:cNvPr id="11" name="TextBox 10"/>
            <p:cNvSpPr txBox="1"/>
            <p:nvPr/>
          </p:nvSpPr>
          <p:spPr>
            <a:xfrm>
              <a:off x="1249811" y="1236822"/>
              <a:ext cx="6922589" cy="523220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Enter the price of the item</a:t>
              </a:r>
            </a:p>
            <a:p>
              <a:r>
                <a:rPr lang="en-US" sz="1400" dirty="0">
                  <a:solidFill>
                    <a:srgbClr val="FFC000"/>
                  </a:solidFill>
                </a:rPr>
                <a:t>1250.0</a:t>
              </a:r>
              <a:r>
                <a:rPr lang="en-US" sz="1400" dirty="0">
                  <a:solidFill>
                    <a:schemeClr val="bg1"/>
                  </a:solidFill>
                </a:rPr>
                <a:t>_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29207" y="1236822"/>
              <a:ext cx="2160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254823" y="1268760"/>
            <a:ext cx="8709665" cy="614972"/>
            <a:chOff x="390814" y="2665859"/>
            <a:chExt cx="7781586" cy="578273"/>
          </a:xfrm>
        </p:grpSpPr>
        <p:sp>
          <p:nvSpPr>
            <p:cNvPr id="37" name="TextBox 36"/>
            <p:cNvSpPr txBox="1"/>
            <p:nvPr/>
          </p:nvSpPr>
          <p:spPr>
            <a:xfrm>
              <a:off x="971600" y="2665859"/>
              <a:ext cx="7200800" cy="549878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	</a:t>
              </a:r>
              <a:r>
                <a:rPr lang="en-US" sz="16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600" dirty="0">
                  <a:solidFill>
                    <a:srgbClr val="0000FF"/>
                  </a:solidFill>
                </a:rPr>
                <a:t> (“Enter the price of the item”);   </a:t>
              </a:r>
              <a:r>
                <a:rPr lang="en-US" sz="1600" dirty="0">
                  <a:solidFill>
                    <a:srgbClr val="00B050"/>
                  </a:solidFill>
                </a:rPr>
                <a:t>//prompt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	price = </a:t>
              </a:r>
              <a:r>
                <a:rPr lang="en-US" sz="1600" dirty="0" err="1">
                  <a:solidFill>
                    <a:srgbClr val="0000FF"/>
                  </a:solidFill>
                </a:rPr>
                <a:t>console.</a:t>
              </a:r>
              <a:r>
                <a:rPr lang="en-US" sz="1600" dirty="0" err="1">
                  <a:solidFill>
                    <a:srgbClr val="00B050"/>
                  </a:solidFill>
                </a:rPr>
                <a:t>nextDouble</a:t>
              </a:r>
              <a:r>
                <a:rPr lang="en-US" sz="1600" dirty="0">
                  <a:solidFill>
                    <a:srgbClr val="00B050"/>
                  </a:solidFill>
                </a:rPr>
                <a:t>()</a:t>
              </a:r>
              <a:r>
                <a:rPr lang="en-US" sz="1600" dirty="0">
                  <a:solidFill>
                    <a:srgbClr val="0000FF"/>
                  </a:solidFill>
                </a:rPr>
                <a:t>;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90814" y="2694254"/>
              <a:ext cx="576064" cy="5498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13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254823" y="2564904"/>
            <a:ext cx="8709665" cy="2462213"/>
            <a:chOff x="390814" y="1236822"/>
            <a:chExt cx="7781586" cy="2315275"/>
          </a:xfrm>
        </p:grpSpPr>
        <p:sp>
          <p:nvSpPr>
            <p:cNvPr id="26" name="TextBox 25"/>
            <p:cNvSpPr txBox="1"/>
            <p:nvPr/>
          </p:nvSpPr>
          <p:spPr>
            <a:xfrm>
              <a:off x="971600" y="1236822"/>
              <a:ext cx="7200800" cy="2315275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00B0F0"/>
                  </a:solidFill>
                </a:rPr>
                <a:t>             if</a:t>
              </a:r>
              <a:r>
                <a:rPr lang="en-US" sz="1400" dirty="0">
                  <a:solidFill>
                    <a:srgbClr val="0000FF"/>
                  </a:solidFill>
                </a:rPr>
                <a:t> (price &gt; 1000.0)		</a:t>
              </a:r>
              <a:r>
                <a:rPr lang="en-US" sz="1400" dirty="0">
                  <a:solidFill>
                    <a:srgbClr val="00B050"/>
                  </a:solidFill>
                </a:rPr>
                <a:t>// price is double</a:t>
              </a:r>
              <a:r>
                <a:rPr lang="en-US" sz="1400" dirty="0">
                  <a:solidFill>
                    <a:srgbClr val="0000FF"/>
                  </a:solidFill>
                </a:rPr>
                <a:t> 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       {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        discount = 0.15;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        </a:t>
              </a:r>
              <a:r>
                <a:rPr lang="en-US" sz="1400" dirty="0" err="1">
                  <a:solidFill>
                    <a:srgbClr val="0000FF"/>
                  </a:solidFill>
                </a:rPr>
                <a:t>vip</a:t>
              </a:r>
              <a:r>
                <a:rPr lang="en-US" sz="1400" dirty="0">
                  <a:solidFill>
                    <a:srgbClr val="0000FF"/>
                  </a:solidFill>
                </a:rPr>
                <a:t> = true;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      } </a:t>
              </a:r>
              <a:r>
                <a:rPr lang="en-US" sz="1400" dirty="0">
                  <a:solidFill>
                    <a:srgbClr val="00B050"/>
                  </a:solidFill>
                </a:rPr>
                <a:t>//end if(price &gt; 1000.0)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    </a:t>
              </a:r>
              <a:r>
                <a:rPr lang="en-US" sz="1400" dirty="0">
                  <a:solidFill>
                    <a:srgbClr val="00B0F0"/>
                  </a:solidFill>
                </a:rPr>
                <a:t>else</a:t>
              </a:r>
            </a:p>
            <a:p>
              <a:r>
                <a:rPr lang="en-US" sz="1400" dirty="0">
                  <a:solidFill>
                    <a:srgbClr val="00B0F0"/>
                  </a:solidFill>
                </a:rPr>
                <a:t>                </a:t>
              </a:r>
              <a:r>
                <a:rPr lang="en-US" sz="1400" dirty="0">
                  <a:solidFill>
                    <a:srgbClr val="0000FF"/>
                  </a:solidFill>
                </a:rPr>
                <a:t>{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        discount = 0.18;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        </a:t>
              </a:r>
              <a:r>
                <a:rPr lang="en-US" sz="1400" dirty="0" err="1">
                  <a:solidFill>
                    <a:srgbClr val="0000FF"/>
                  </a:solidFill>
                </a:rPr>
                <a:t>vip</a:t>
              </a:r>
              <a:r>
                <a:rPr lang="en-US" sz="1400" dirty="0">
                  <a:solidFill>
                    <a:srgbClr val="0000FF"/>
                  </a:solidFill>
                </a:rPr>
                <a:t> = false;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      } </a:t>
              </a:r>
              <a:r>
                <a:rPr lang="en-US" sz="1400" dirty="0">
                  <a:solidFill>
                    <a:srgbClr val="00B050"/>
                  </a:solidFill>
                </a:rPr>
                <a:t>//end else if(price &gt; 1000)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    </a:t>
              </a:r>
              <a:r>
                <a:rPr lang="en-US" sz="1400" dirty="0" err="1">
                  <a:solidFill>
                    <a:srgbClr val="0000FF"/>
                  </a:solidFill>
                </a:rPr>
                <a:t>netPrice</a:t>
              </a:r>
              <a:r>
                <a:rPr lang="en-US" sz="1400" dirty="0">
                  <a:solidFill>
                    <a:srgbClr val="0000FF"/>
                  </a:solidFill>
                </a:rPr>
                <a:t> = (1 – discount) * price;</a:t>
              </a:r>
              <a:endParaRPr lang="en-US" sz="1400" dirty="0">
                <a:solidFill>
                  <a:srgbClr val="00B050"/>
                </a:solidFill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90814" y="1236822"/>
              <a:ext cx="576064" cy="23152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15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16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17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18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19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20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21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22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23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24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25</a:t>
              </a:r>
            </a:p>
          </p:txBody>
        </p:sp>
      </p:grpSp>
      <p:sp>
        <p:nvSpPr>
          <p:cNvPr id="28" name="Rectangle 27"/>
          <p:cNvSpPr/>
          <p:nvPr/>
        </p:nvSpPr>
        <p:spPr>
          <a:xfrm>
            <a:off x="899592" y="2996952"/>
            <a:ext cx="8064896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899592" y="3212976"/>
            <a:ext cx="8064896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/>
          <p:cNvGrpSpPr/>
          <p:nvPr/>
        </p:nvGrpSpPr>
        <p:grpSpPr>
          <a:xfrm>
            <a:off x="650333" y="5066600"/>
            <a:ext cx="8314155" cy="523220"/>
            <a:chOff x="1029207" y="1236822"/>
            <a:chExt cx="7143193" cy="523220"/>
          </a:xfrm>
        </p:grpSpPr>
        <p:sp>
          <p:nvSpPr>
            <p:cNvPr id="35" name="TextBox 34"/>
            <p:cNvSpPr txBox="1"/>
            <p:nvPr/>
          </p:nvSpPr>
          <p:spPr>
            <a:xfrm>
              <a:off x="1249811" y="1236822"/>
              <a:ext cx="6922589" cy="523220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Enter the price of the item</a:t>
              </a:r>
            </a:p>
            <a:p>
              <a:r>
                <a:rPr lang="en-US" sz="1400" dirty="0">
                  <a:solidFill>
                    <a:srgbClr val="FFC000"/>
                  </a:solidFill>
                </a:rPr>
                <a:t>1250.0</a:t>
              </a:r>
              <a:r>
                <a:rPr lang="en-US" sz="1400" dirty="0">
                  <a:solidFill>
                    <a:schemeClr val="bg1"/>
                  </a:solidFill>
                </a:rPr>
                <a:t>_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029207" y="1236822"/>
              <a:ext cx="2160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254823" y="5642663"/>
            <a:ext cx="8709665" cy="338554"/>
            <a:chOff x="390814" y="1236822"/>
            <a:chExt cx="7781586" cy="318350"/>
          </a:xfrm>
        </p:grpSpPr>
        <p:sp>
          <p:nvSpPr>
            <p:cNvPr id="44" name="TextBox 43"/>
            <p:cNvSpPr txBox="1"/>
            <p:nvPr/>
          </p:nvSpPr>
          <p:spPr>
            <a:xfrm>
              <a:off x="971600" y="1236822"/>
              <a:ext cx="7200800" cy="289410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rgbClr val="0000FF"/>
                  </a:solidFill>
                </a:rPr>
                <a:t>System.out.printf</a:t>
              </a:r>
              <a:r>
                <a:rPr lang="en-US" sz="1400" dirty="0">
                  <a:solidFill>
                    <a:srgbClr val="0000FF"/>
                  </a:solidFill>
                </a:rPr>
                <a:t> (“Discount=%.2f, Net price = %.2f, </a:t>
              </a:r>
              <a:r>
                <a:rPr lang="en-US" sz="1400" dirty="0" err="1">
                  <a:solidFill>
                    <a:srgbClr val="0000FF"/>
                  </a:solidFill>
                </a:rPr>
                <a:t>vip</a:t>
              </a:r>
              <a:r>
                <a:rPr lang="en-US" sz="1400" dirty="0">
                  <a:solidFill>
                    <a:srgbClr val="0000FF"/>
                  </a:solidFill>
                </a:rPr>
                <a:t>=%5s“, discount, </a:t>
              </a:r>
              <a:r>
                <a:rPr lang="en-US" sz="1400" dirty="0" err="1">
                  <a:solidFill>
                    <a:srgbClr val="0000FF"/>
                  </a:solidFill>
                </a:rPr>
                <a:t>netPrice</a:t>
              </a:r>
              <a:r>
                <a:rPr lang="en-US" sz="1400" dirty="0">
                  <a:solidFill>
                    <a:srgbClr val="0000FF"/>
                  </a:solidFill>
                </a:rPr>
                <a:t>, </a:t>
              </a:r>
              <a:r>
                <a:rPr lang="en-US" sz="1400" dirty="0" err="1">
                  <a:solidFill>
                    <a:srgbClr val="0000FF"/>
                  </a:solidFill>
                </a:rPr>
                <a:t>vip</a:t>
              </a:r>
              <a:r>
                <a:rPr lang="en-US" sz="1400" dirty="0">
                  <a:solidFill>
                    <a:srgbClr val="0000FF"/>
                  </a:solidFill>
                </a:rPr>
                <a:t>); </a:t>
              </a:r>
              <a:endParaRPr lang="en-US" sz="1400" dirty="0">
                <a:solidFill>
                  <a:srgbClr val="00B050"/>
                </a:solidFill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390814" y="1236822"/>
              <a:ext cx="576064" cy="3183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27</a:t>
              </a: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650333" y="6002704"/>
            <a:ext cx="8314155" cy="738664"/>
            <a:chOff x="1029207" y="1236822"/>
            <a:chExt cx="7143193" cy="738664"/>
          </a:xfrm>
        </p:grpSpPr>
        <p:sp>
          <p:nvSpPr>
            <p:cNvPr id="53" name="TextBox 52"/>
            <p:cNvSpPr txBox="1"/>
            <p:nvPr/>
          </p:nvSpPr>
          <p:spPr>
            <a:xfrm>
              <a:off x="1249811" y="1236822"/>
              <a:ext cx="6922589" cy="738664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Enter the price of the item</a:t>
              </a:r>
            </a:p>
            <a:p>
              <a:r>
                <a:rPr lang="en-US" sz="1400" dirty="0">
                  <a:solidFill>
                    <a:srgbClr val="FFC000"/>
                  </a:solidFill>
                </a:rPr>
                <a:t>1250.0</a:t>
              </a:r>
              <a:endParaRPr lang="en-US" sz="1400" dirty="0">
                <a:solidFill>
                  <a:schemeClr val="bg1"/>
                </a:solidFill>
              </a:endParaRPr>
            </a:p>
            <a:p>
              <a:r>
                <a:rPr lang="en-US" sz="1400" dirty="0">
                  <a:solidFill>
                    <a:schemeClr val="bg1"/>
                  </a:solidFill>
                </a:rPr>
                <a:t>Discount=0.15, Net price = 1062.50, </a:t>
              </a:r>
              <a:r>
                <a:rPr lang="en-US" sz="1400" dirty="0" err="1">
                  <a:solidFill>
                    <a:schemeClr val="bg1"/>
                  </a:solidFill>
                </a:rPr>
                <a:t>vip</a:t>
              </a:r>
              <a:r>
                <a:rPr lang="en-US" sz="1400" dirty="0">
                  <a:solidFill>
                    <a:schemeClr val="bg1"/>
                  </a:solidFill>
                </a:rPr>
                <a:t>=~true_ 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029207" y="1236822"/>
              <a:ext cx="21602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58829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8" grpId="0" animBg="1"/>
      <p:bldP spid="2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With a block of statements - PROGRAM 4: CASE 2 (FALSE)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3.2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if…else 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Statement</a:t>
            </a: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30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650334" y="1925541"/>
            <a:ext cx="8314155" cy="523220"/>
            <a:chOff x="1029207" y="1236822"/>
            <a:chExt cx="7143193" cy="523220"/>
          </a:xfrm>
        </p:grpSpPr>
        <p:sp>
          <p:nvSpPr>
            <p:cNvPr id="11" name="TextBox 10"/>
            <p:cNvSpPr txBox="1"/>
            <p:nvPr/>
          </p:nvSpPr>
          <p:spPr>
            <a:xfrm>
              <a:off x="1249811" y="1236822"/>
              <a:ext cx="6922589" cy="523220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Enter the price of the item</a:t>
              </a:r>
            </a:p>
            <a:p>
              <a:r>
                <a:rPr lang="en-US" sz="1400" dirty="0">
                  <a:solidFill>
                    <a:srgbClr val="FFC000"/>
                  </a:solidFill>
                </a:rPr>
                <a:t>455.0</a:t>
              </a:r>
              <a:r>
                <a:rPr lang="en-US" sz="1400" dirty="0">
                  <a:solidFill>
                    <a:schemeClr val="bg1"/>
                  </a:solidFill>
                </a:rPr>
                <a:t>_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29207" y="1236822"/>
              <a:ext cx="2160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254823" y="1268760"/>
            <a:ext cx="8709665" cy="614972"/>
            <a:chOff x="390814" y="2665859"/>
            <a:chExt cx="7781586" cy="578273"/>
          </a:xfrm>
        </p:grpSpPr>
        <p:sp>
          <p:nvSpPr>
            <p:cNvPr id="37" name="TextBox 36"/>
            <p:cNvSpPr txBox="1"/>
            <p:nvPr/>
          </p:nvSpPr>
          <p:spPr>
            <a:xfrm>
              <a:off x="971600" y="2665859"/>
              <a:ext cx="7200800" cy="549878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	</a:t>
              </a:r>
              <a:r>
                <a:rPr lang="en-US" sz="16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600" dirty="0">
                  <a:solidFill>
                    <a:srgbClr val="0000FF"/>
                  </a:solidFill>
                </a:rPr>
                <a:t> (“Enter the price of the item”);   </a:t>
              </a:r>
              <a:r>
                <a:rPr lang="en-US" sz="1600" dirty="0">
                  <a:solidFill>
                    <a:srgbClr val="00B050"/>
                  </a:solidFill>
                </a:rPr>
                <a:t>//prompt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	price = </a:t>
              </a:r>
              <a:r>
                <a:rPr lang="en-US" sz="1600" dirty="0" err="1">
                  <a:solidFill>
                    <a:srgbClr val="0000FF"/>
                  </a:solidFill>
                </a:rPr>
                <a:t>console.</a:t>
              </a:r>
              <a:r>
                <a:rPr lang="en-US" sz="1600" dirty="0" err="1">
                  <a:solidFill>
                    <a:srgbClr val="00B050"/>
                  </a:solidFill>
                </a:rPr>
                <a:t>nextDouble</a:t>
              </a:r>
              <a:r>
                <a:rPr lang="en-US" sz="1600" dirty="0">
                  <a:solidFill>
                    <a:srgbClr val="00B050"/>
                  </a:solidFill>
                </a:rPr>
                <a:t>()</a:t>
              </a:r>
              <a:r>
                <a:rPr lang="en-US" sz="1600" dirty="0">
                  <a:solidFill>
                    <a:srgbClr val="0000FF"/>
                  </a:solidFill>
                </a:rPr>
                <a:t>;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90814" y="2694254"/>
              <a:ext cx="576064" cy="5498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13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254823" y="2564904"/>
            <a:ext cx="8709665" cy="2462213"/>
            <a:chOff x="390814" y="1236822"/>
            <a:chExt cx="7781586" cy="2315275"/>
          </a:xfrm>
        </p:grpSpPr>
        <p:sp>
          <p:nvSpPr>
            <p:cNvPr id="26" name="TextBox 25"/>
            <p:cNvSpPr txBox="1"/>
            <p:nvPr/>
          </p:nvSpPr>
          <p:spPr>
            <a:xfrm>
              <a:off x="971600" y="1236822"/>
              <a:ext cx="7200800" cy="2315275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00B0F0"/>
                  </a:solidFill>
                </a:rPr>
                <a:t>             if</a:t>
              </a:r>
              <a:r>
                <a:rPr lang="en-US" sz="1400" dirty="0">
                  <a:solidFill>
                    <a:srgbClr val="0000FF"/>
                  </a:solidFill>
                </a:rPr>
                <a:t> (price &gt; 1000.0)		</a:t>
              </a:r>
              <a:r>
                <a:rPr lang="en-US" sz="1400" dirty="0">
                  <a:solidFill>
                    <a:srgbClr val="00B050"/>
                  </a:solidFill>
                </a:rPr>
                <a:t>// price is double</a:t>
              </a:r>
              <a:r>
                <a:rPr lang="en-US" sz="1400" dirty="0">
                  <a:solidFill>
                    <a:srgbClr val="0000FF"/>
                  </a:solidFill>
                </a:rPr>
                <a:t> 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       {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        discount = 0.15;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        </a:t>
              </a:r>
              <a:r>
                <a:rPr lang="en-US" sz="1400" dirty="0" err="1">
                  <a:solidFill>
                    <a:srgbClr val="0000FF"/>
                  </a:solidFill>
                </a:rPr>
                <a:t>vip</a:t>
              </a:r>
              <a:r>
                <a:rPr lang="en-US" sz="1400" dirty="0">
                  <a:solidFill>
                    <a:srgbClr val="0000FF"/>
                  </a:solidFill>
                </a:rPr>
                <a:t> = true;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      } </a:t>
              </a:r>
              <a:r>
                <a:rPr lang="en-US" sz="1400" dirty="0">
                  <a:solidFill>
                    <a:srgbClr val="00B050"/>
                  </a:solidFill>
                </a:rPr>
                <a:t>//end if(price &gt; 1000.0)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    </a:t>
              </a:r>
              <a:r>
                <a:rPr lang="en-US" sz="1400" dirty="0">
                  <a:solidFill>
                    <a:srgbClr val="00B0F0"/>
                  </a:solidFill>
                </a:rPr>
                <a:t>else</a:t>
              </a:r>
            </a:p>
            <a:p>
              <a:r>
                <a:rPr lang="en-US" sz="1400" dirty="0">
                  <a:solidFill>
                    <a:srgbClr val="00B0F0"/>
                  </a:solidFill>
                </a:rPr>
                <a:t>                </a:t>
              </a:r>
              <a:r>
                <a:rPr lang="en-US" sz="1400" dirty="0">
                  <a:solidFill>
                    <a:srgbClr val="0000FF"/>
                  </a:solidFill>
                </a:rPr>
                <a:t>{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        discount = 0.18;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        </a:t>
              </a:r>
              <a:r>
                <a:rPr lang="en-US" sz="1400" dirty="0" err="1">
                  <a:solidFill>
                    <a:srgbClr val="0000FF"/>
                  </a:solidFill>
                </a:rPr>
                <a:t>vip</a:t>
              </a:r>
              <a:r>
                <a:rPr lang="en-US" sz="1400" dirty="0">
                  <a:solidFill>
                    <a:srgbClr val="0000FF"/>
                  </a:solidFill>
                </a:rPr>
                <a:t> = false;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      } </a:t>
              </a:r>
              <a:r>
                <a:rPr lang="en-US" sz="1400" dirty="0">
                  <a:solidFill>
                    <a:srgbClr val="00B050"/>
                  </a:solidFill>
                </a:rPr>
                <a:t>//end else if(price &gt; 1000)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    </a:t>
              </a:r>
              <a:r>
                <a:rPr lang="en-US" sz="1400" dirty="0" err="1">
                  <a:solidFill>
                    <a:srgbClr val="0000FF"/>
                  </a:solidFill>
                </a:rPr>
                <a:t>netPrice</a:t>
              </a:r>
              <a:r>
                <a:rPr lang="en-US" sz="1400" dirty="0">
                  <a:solidFill>
                    <a:srgbClr val="0000FF"/>
                  </a:solidFill>
                </a:rPr>
                <a:t> = (1 – discount) * price;</a:t>
              </a:r>
              <a:endParaRPr lang="en-US" sz="1400" dirty="0">
                <a:solidFill>
                  <a:srgbClr val="00B050"/>
                </a:solidFill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90814" y="1236822"/>
              <a:ext cx="576064" cy="23152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15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16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17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18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19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20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21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22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23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24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25</a:t>
              </a:r>
            </a:p>
          </p:txBody>
        </p:sp>
      </p:grpSp>
      <p:sp>
        <p:nvSpPr>
          <p:cNvPr id="28" name="Rectangle 27"/>
          <p:cNvSpPr/>
          <p:nvPr/>
        </p:nvSpPr>
        <p:spPr>
          <a:xfrm>
            <a:off x="899592" y="4077072"/>
            <a:ext cx="8064896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899592" y="4293096"/>
            <a:ext cx="8064896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/>
          <p:cNvGrpSpPr/>
          <p:nvPr/>
        </p:nvGrpSpPr>
        <p:grpSpPr>
          <a:xfrm>
            <a:off x="650333" y="5066600"/>
            <a:ext cx="8314155" cy="523220"/>
            <a:chOff x="1029207" y="1236822"/>
            <a:chExt cx="7143193" cy="523220"/>
          </a:xfrm>
        </p:grpSpPr>
        <p:sp>
          <p:nvSpPr>
            <p:cNvPr id="35" name="TextBox 34"/>
            <p:cNvSpPr txBox="1"/>
            <p:nvPr/>
          </p:nvSpPr>
          <p:spPr>
            <a:xfrm>
              <a:off x="1249811" y="1236822"/>
              <a:ext cx="6922589" cy="523220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Enter the price of the item</a:t>
              </a:r>
            </a:p>
            <a:p>
              <a:r>
                <a:rPr lang="en-US" sz="1400" dirty="0">
                  <a:solidFill>
                    <a:srgbClr val="FFC000"/>
                  </a:solidFill>
                </a:rPr>
                <a:t>455.0</a:t>
              </a:r>
              <a:r>
                <a:rPr lang="en-US" sz="1400" dirty="0">
                  <a:solidFill>
                    <a:schemeClr val="bg1"/>
                  </a:solidFill>
                </a:rPr>
                <a:t>_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029207" y="1236822"/>
              <a:ext cx="2160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254823" y="5642663"/>
            <a:ext cx="8709665" cy="338554"/>
            <a:chOff x="390814" y="1236822"/>
            <a:chExt cx="7781586" cy="318350"/>
          </a:xfrm>
        </p:grpSpPr>
        <p:sp>
          <p:nvSpPr>
            <p:cNvPr id="44" name="TextBox 43"/>
            <p:cNvSpPr txBox="1"/>
            <p:nvPr/>
          </p:nvSpPr>
          <p:spPr>
            <a:xfrm>
              <a:off x="971600" y="1236822"/>
              <a:ext cx="7200800" cy="289410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rgbClr val="0000FF"/>
                  </a:solidFill>
                </a:rPr>
                <a:t>System.out.printf</a:t>
              </a:r>
              <a:r>
                <a:rPr lang="en-US" sz="1400" dirty="0">
                  <a:solidFill>
                    <a:srgbClr val="0000FF"/>
                  </a:solidFill>
                </a:rPr>
                <a:t> (“Discount=%.2f, Net price = %.2f, </a:t>
              </a:r>
              <a:r>
                <a:rPr lang="en-US" sz="1400" dirty="0" err="1">
                  <a:solidFill>
                    <a:srgbClr val="0000FF"/>
                  </a:solidFill>
                </a:rPr>
                <a:t>vip</a:t>
              </a:r>
              <a:r>
                <a:rPr lang="en-US" sz="1400" dirty="0">
                  <a:solidFill>
                    <a:srgbClr val="0000FF"/>
                  </a:solidFill>
                </a:rPr>
                <a:t>=%5s“, discount, </a:t>
              </a:r>
              <a:r>
                <a:rPr lang="en-US" sz="1400" dirty="0" err="1">
                  <a:solidFill>
                    <a:srgbClr val="0000FF"/>
                  </a:solidFill>
                </a:rPr>
                <a:t>netPrice</a:t>
              </a:r>
              <a:r>
                <a:rPr lang="en-US" sz="1400" dirty="0">
                  <a:solidFill>
                    <a:srgbClr val="0000FF"/>
                  </a:solidFill>
                </a:rPr>
                <a:t>, </a:t>
              </a:r>
              <a:r>
                <a:rPr lang="en-US" sz="1400" dirty="0" err="1">
                  <a:solidFill>
                    <a:srgbClr val="0000FF"/>
                  </a:solidFill>
                </a:rPr>
                <a:t>vip</a:t>
              </a:r>
              <a:r>
                <a:rPr lang="en-US" sz="1400" dirty="0">
                  <a:solidFill>
                    <a:srgbClr val="0000FF"/>
                  </a:solidFill>
                </a:rPr>
                <a:t>); </a:t>
              </a:r>
              <a:endParaRPr lang="en-US" sz="1400" dirty="0">
                <a:solidFill>
                  <a:srgbClr val="00B050"/>
                </a:solidFill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390814" y="1236822"/>
              <a:ext cx="576064" cy="3183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27</a:t>
              </a: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650333" y="6002704"/>
            <a:ext cx="8314155" cy="738664"/>
            <a:chOff x="1029207" y="1236822"/>
            <a:chExt cx="7143193" cy="738664"/>
          </a:xfrm>
        </p:grpSpPr>
        <p:sp>
          <p:nvSpPr>
            <p:cNvPr id="53" name="TextBox 52"/>
            <p:cNvSpPr txBox="1"/>
            <p:nvPr/>
          </p:nvSpPr>
          <p:spPr>
            <a:xfrm>
              <a:off x="1249811" y="1236822"/>
              <a:ext cx="6922589" cy="738664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Enter the price of the item</a:t>
              </a:r>
            </a:p>
            <a:p>
              <a:r>
                <a:rPr lang="en-US" sz="1400" dirty="0">
                  <a:solidFill>
                    <a:srgbClr val="FFC000"/>
                  </a:solidFill>
                </a:rPr>
                <a:t>1250.0</a:t>
              </a:r>
              <a:endParaRPr lang="en-US" sz="1400" dirty="0">
                <a:solidFill>
                  <a:schemeClr val="bg1"/>
                </a:solidFill>
              </a:endParaRPr>
            </a:p>
            <a:p>
              <a:r>
                <a:rPr lang="en-US" sz="1400" dirty="0">
                  <a:solidFill>
                    <a:schemeClr val="bg1"/>
                  </a:solidFill>
                </a:rPr>
                <a:t>Discount=0.18, Net price = 373.10, </a:t>
              </a:r>
              <a:r>
                <a:rPr lang="en-US" sz="1400" dirty="0" err="1">
                  <a:solidFill>
                    <a:schemeClr val="bg1"/>
                  </a:solidFill>
                </a:rPr>
                <a:t>vip</a:t>
              </a:r>
              <a:r>
                <a:rPr lang="en-US" sz="1400" dirty="0">
                  <a:solidFill>
                    <a:schemeClr val="bg1"/>
                  </a:solidFill>
                </a:rPr>
                <a:t>=false_ 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029207" y="1236822"/>
              <a:ext cx="21602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96362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8" grpId="0" animBg="1"/>
      <p:bldP spid="2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 </a:t>
            </a:r>
            <a:fld id="{D8D24581-BA14-4640-B752-9AB0FD1B9A37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16558"/>
            <a:ext cx="8229600" cy="792162"/>
          </a:xfr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Self-Check Exercises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52737"/>
            <a:ext cx="8229600" cy="936103"/>
          </a:xfrm>
        </p:spPr>
        <p:txBody>
          <a:bodyPr>
            <a:noAutofit/>
          </a:bodyPr>
          <a:lstStyle/>
          <a:p>
            <a:pPr algn="just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Write a complete Java program that identifies the students whose grades are B.</a:t>
            </a:r>
          </a:p>
          <a:p>
            <a:pPr lvl="1" algn="just"/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Content Placeholder 5"/>
          <p:cNvSpPr txBox="1">
            <a:spLocks/>
          </p:cNvSpPr>
          <p:nvPr/>
        </p:nvSpPr>
        <p:spPr>
          <a:xfrm>
            <a:off x="467544" y="1988840"/>
            <a:ext cx="8229600" cy="936103"/>
          </a:xfrm>
          <a:prstGeom prst="rect">
            <a:avLst/>
          </a:prstGeom>
        </p:spPr>
        <p:txBody>
          <a:bodyPr vert="horz">
            <a:no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just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Write a complete Java program that reads two integer numbers num1 &amp; num2, and performs a division if num2 is not equal to zero.</a:t>
            </a:r>
          </a:p>
          <a:p>
            <a:pPr lvl="1" algn="just"/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Content Placeholder 5"/>
          <p:cNvSpPr txBox="1">
            <a:spLocks/>
          </p:cNvSpPr>
          <p:nvPr/>
        </p:nvSpPr>
        <p:spPr>
          <a:xfrm>
            <a:off x="476597" y="2996953"/>
            <a:ext cx="8229600" cy="936103"/>
          </a:xfrm>
          <a:prstGeom prst="rect">
            <a:avLst/>
          </a:prstGeom>
        </p:spPr>
        <p:txBody>
          <a:bodyPr vert="horz">
            <a:no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just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Write a complete Java program that reads two integer numbers num1 &amp; num2, and prints the smaller one.</a:t>
            </a:r>
          </a:p>
          <a:p>
            <a:pPr lvl="1" algn="just"/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Content Placeholder 5"/>
          <p:cNvSpPr txBox="1">
            <a:spLocks/>
          </p:cNvSpPr>
          <p:nvPr/>
        </p:nvSpPr>
        <p:spPr>
          <a:xfrm>
            <a:off x="467544" y="4149081"/>
            <a:ext cx="8229600" cy="936103"/>
          </a:xfrm>
          <a:prstGeom prst="rect">
            <a:avLst/>
          </a:prstGeom>
        </p:spPr>
        <p:txBody>
          <a:bodyPr vert="horz">
            <a:no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just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Write a complete Java program that identifies a negative number.</a:t>
            </a:r>
          </a:p>
          <a:p>
            <a:pPr lvl="1" algn="just"/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Content Placeholder 5"/>
          <p:cNvSpPr txBox="1">
            <a:spLocks/>
          </p:cNvSpPr>
          <p:nvPr/>
        </p:nvSpPr>
        <p:spPr>
          <a:xfrm>
            <a:off x="467544" y="4869160"/>
            <a:ext cx="8229600" cy="936103"/>
          </a:xfrm>
          <a:prstGeom prst="rect">
            <a:avLst/>
          </a:prstGeom>
        </p:spPr>
        <p:txBody>
          <a:bodyPr vert="horz">
            <a:no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just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Write a complete Java program that identifies an </a:t>
            </a:r>
            <a:r>
              <a:rPr lang="en-US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even number.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 algn="just"/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406" y="6496070"/>
            <a:ext cx="40005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W5.1 </a:t>
            </a:r>
            <a:r>
              <a:rPr lang="en-US" sz="1200" dirty="0"/>
              <a:t>if + if…else</a:t>
            </a:r>
          </a:p>
        </p:txBody>
      </p:sp>
    </p:spTree>
    <p:extLst>
      <p:ext uri="{BB962C8B-B14F-4D97-AF65-F5344CB8AC3E}">
        <p14:creationId xmlns:p14="http://schemas.microsoft.com/office/powerpoint/2010/main" val="64401329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20542bfc-dd8b-421d-868b-1ab188d50257"/>
  <p:tag name="ARTICULATE_SLIDE_NAV" val="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770</TotalTime>
  <Words>3528</Words>
  <Application>Microsoft Macintosh PowerPoint</Application>
  <PresentationFormat>On-screen Show (4:3)</PresentationFormat>
  <Paragraphs>854</Paragraphs>
  <Slides>31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1" baseType="lpstr">
      <vt:lpstr>Arial</vt:lpstr>
      <vt:lpstr>Calibri</vt:lpstr>
      <vt:lpstr>Courier New</vt:lpstr>
      <vt:lpstr>Lucida Sans Unicode</vt:lpstr>
      <vt:lpstr>Tahoma</vt:lpstr>
      <vt:lpstr>Verdana</vt:lpstr>
      <vt:lpstr>Wingdings</vt:lpstr>
      <vt:lpstr>Wingdings 2</vt:lpstr>
      <vt:lpstr>Wingdings 3</vt:lpstr>
      <vt:lpstr>Concourse</vt:lpstr>
      <vt:lpstr>  SELECTION STATEMENTS (1)</vt:lpstr>
      <vt:lpstr>Outline</vt:lpstr>
      <vt:lpstr>1. Introduction</vt:lpstr>
      <vt:lpstr>1. Introduction</vt:lpstr>
      <vt:lpstr>2. The if Statement</vt:lpstr>
      <vt:lpstr>2.1 The if Statement</vt:lpstr>
      <vt:lpstr>2.1 The if Statement</vt:lpstr>
      <vt:lpstr>2.1 The if Statement</vt:lpstr>
      <vt:lpstr>2.1 The if Statement</vt:lpstr>
      <vt:lpstr>2.1 The if Statement</vt:lpstr>
      <vt:lpstr>2.1 The if Statement</vt:lpstr>
      <vt:lpstr>2.2 The if Statement</vt:lpstr>
      <vt:lpstr>2.2 The if Statement</vt:lpstr>
      <vt:lpstr>2.2 The if Statement</vt:lpstr>
      <vt:lpstr>2.2 The if Statement</vt:lpstr>
      <vt:lpstr>2.2 The if Statement</vt:lpstr>
      <vt:lpstr>2.2 The if Statement</vt:lpstr>
      <vt:lpstr>2.2 The if Statement</vt:lpstr>
      <vt:lpstr>3.1 The if…else Statement</vt:lpstr>
      <vt:lpstr>3.1 The if…else Statement</vt:lpstr>
      <vt:lpstr>3.1 The if…else Statement</vt:lpstr>
      <vt:lpstr>3.1 The if…else Statement</vt:lpstr>
      <vt:lpstr>3.1 The if…else Statement</vt:lpstr>
      <vt:lpstr>3.1 The if…else Statement</vt:lpstr>
      <vt:lpstr>3.2 The if…else Statement</vt:lpstr>
      <vt:lpstr>3.2 The if…else Statement</vt:lpstr>
      <vt:lpstr>3.2 The if…else Statement</vt:lpstr>
      <vt:lpstr>3.2 The if…else Statement</vt:lpstr>
      <vt:lpstr>3.2 The if…else Statement</vt:lpstr>
      <vt:lpstr>3.2 The if…else Statement</vt:lpstr>
      <vt:lpstr>Self-Check Exercises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SELECTION STATEMENTS (1)</dc:title>
  <dc:creator>Soha S.Zaghloul</dc:creator>
  <cp:lastModifiedBy>عبدالعزيز محمد دخيل الحميضي</cp:lastModifiedBy>
  <cp:revision>63</cp:revision>
  <dcterms:created xsi:type="dcterms:W3CDTF">2015-02-14T08:52:15Z</dcterms:created>
  <dcterms:modified xsi:type="dcterms:W3CDTF">2024-02-20T09:40:20Z</dcterms:modified>
</cp:coreProperties>
</file>