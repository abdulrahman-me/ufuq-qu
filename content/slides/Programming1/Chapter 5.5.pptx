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71" r:id="rId7"/>
    <p:sldId id="272" r:id="rId8"/>
    <p:sldId id="273" r:id="rId9"/>
    <p:sldId id="274" r:id="rId10"/>
    <p:sldId id="275" r:id="rId11"/>
    <p:sldId id="276" r:id="rId12"/>
    <p:sldId id="278" r:id="rId13"/>
    <p:sldId id="279" r:id="rId14"/>
    <p:sldId id="280" r:id="rId15"/>
    <p:sldId id="281" r:id="rId16"/>
    <p:sldId id="282" r:id="rId17"/>
    <p:sldId id="261" r:id="rId18"/>
    <p:sldId id="283" r:id="rId19"/>
    <p:sldId id="284" r:id="rId20"/>
    <p:sldId id="285" r:id="rId21"/>
    <p:sldId id="286" r:id="rId22"/>
    <p:sldId id="287" r:id="rId23"/>
    <p:sldId id="288" r:id="rId24"/>
    <p:sldId id="289" r:id="rId25"/>
    <p:sldId id="291" r:id="rId26"/>
    <p:sldId id="292" r:id="rId27"/>
    <p:sldId id="293" r:id="rId28"/>
    <p:sldId id="294"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CC"/>
    <a:srgbClr val="0066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55" d="100"/>
          <a:sy n="55" d="100"/>
        </p:scale>
        <p:origin x="-946" y="-72"/>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DFAACF00-E91E-4744-B97F-3B680ECABB0F}" type="datetimeFigureOut">
              <a:rPr lang="en-US" smtClean="0"/>
              <a:pPr/>
              <a:t>10/30/2016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6C3ECB4E-2856-4C91-ABC3-B052A325EA5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DFAACF00-E91E-4744-B97F-3B680ECABB0F}" type="datetimeFigureOut">
              <a:rPr lang="en-US" smtClean="0"/>
              <a:pPr/>
              <a:t>10/30/2016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6C3ECB4E-2856-4C91-ABC3-B052A325EA52}"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DFAACF00-E91E-4744-B97F-3B680ECABB0F}" type="datetimeFigureOut">
              <a:rPr lang="en-US" smtClean="0"/>
              <a:pPr/>
              <a:t>10/30/2016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6C3ECB4E-2856-4C91-ABC3-B052A325EA52}"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DFAACF00-E91E-4744-B97F-3B680ECABB0F}" type="datetimeFigureOut">
              <a:rPr lang="en-US" smtClean="0"/>
              <a:pPr/>
              <a:t>10/30/2016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6C3ECB4E-2856-4C91-ABC3-B052A325EA52}"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DFAACF00-E91E-4744-B97F-3B680ECABB0F}" type="datetimeFigureOut">
              <a:rPr lang="en-US" smtClean="0"/>
              <a:pPr/>
              <a:t>10/30/2016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6C3ECB4E-2856-4C91-ABC3-B052A325EA52}"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DFAACF00-E91E-4744-B97F-3B680ECABB0F}" type="datetimeFigureOut">
              <a:rPr lang="en-US" smtClean="0"/>
              <a:pPr/>
              <a:t>10/30/2016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6C3ECB4E-2856-4C91-ABC3-B052A325EA52}"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DFAACF00-E91E-4744-B97F-3B680ECABB0F}" type="datetimeFigureOut">
              <a:rPr lang="en-US" smtClean="0"/>
              <a:pPr/>
              <a:t>10/30/2016</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6C3ECB4E-2856-4C91-ABC3-B052A325EA5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DFAACF00-E91E-4744-B97F-3B680ECABB0F}" type="datetimeFigureOut">
              <a:rPr lang="en-US" smtClean="0"/>
              <a:pPr/>
              <a:t>10/30/2016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6C3ECB4E-2856-4C91-ABC3-B052A325EA52}"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DFAACF00-E91E-4744-B97F-3B680ECABB0F}" type="datetimeFigureOut">
              <a:rPr lang="en-US" smtClean="0"/>
              <a:pPr/>
              <a:t>10/30/2016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6C3ECB4E-2856-4C91-ABC3-B052A325EA52}"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DFAACF00-E91E-4744-B97F-3B680ECABB0F}" type="datetimeFigureOut">
              <a:rPr lang="en-US" smtClean="0"/>
              <a:pPr/>
              <a:t>10/30/2016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6C3ECB4E-2856-4C91-ABC3-B052A325EA5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DFAACF00-E91E-4744-B97F-3B680ECABB0F}" type="datetimeFigureOut">
              <a:rPr lang="en-US" smtClean="0"/>
              <a:pPr/>
              <a:t>10/30/2016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6C3ECB4E-2856-4C91-ABC3-B052A325EA5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DFAACF00-E91E-4744-B97F-3B680ECABB0F}" type="datetimeFigureOut">
              <a:rPr lang="en-US" smtClean="0"/>
              <a:pPr/>
              <a:t>10/30/2016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6C3ECB4E-2856-4C91-ABC3-B052A325EA5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p:cNvSpPr>
          <p:nvPr>
            <p:ph type="ctrTitle"/>
          </p:nvPr>
        </p:nvSpPr>
        <p:spPr>
          <a:xfrm>
            <a:off x="251521" y="2708920"/>
            <a:ext cx="8640960" cy="1152128"/>
          </a:xfrm>
          <a:ln w="28575">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anchor="b">
            <a:normAutofit fontScale="90000"/>
            <a:scene3d>
              <a:camera prst="orthographicFront"/>
              <a:lightRig rig="soft" dir="t"/>
            </a:scene3d>
            <a:sp3d prstMaterial="softEdge">
              <a:bevelT w="25400" h="25400"/>
            </a:sp3d>
          </a:bodyPr>
          <a:lstStyle/>
          <a:p>
            <a:r>
              <a:rPr lang="en-US" sz="5400" dirty="0">
                <a:solidFill>
                  <a:srgbClr val="C00000"/>
                </a:solidFill>
              </a:rPr>
              <a:t/>
            </a:r>
            <a:br>
              <a:rPr lang="en-US" sz="5400" dirty="0">
                <a:solidFill>
                  <a:srgbClr val="C00000"/>
                </a:solidFill>
              </a:rPr>
            </a:br>
            <a:r>
              <a:rPr lang="en-US" sz="5400" dirty="0">
                <a:solidFill>
                  <a:srgbClr val="C00000"/>
                </a:solidFill>
              </a:rPr>
              <a:t/>
            </a:r>
            <a:br>
              <a:rPr lang="en-US" sz="5400" dirty="0">
                <a:solidFill>
                  <a:srgbClr val="C00000"/>
                </a:solidFill>
              </a:rPr>
            </a:br>
            <a:r>
              <a:rPr lang="en-US" sz="5400" dirty="0" smtClean="0">
                <a:solidFill>
                  <a:srgbClr val="C00000"/>
                </a:solidFill>
              </a:rPr>
              <a:t> </a:t>
            </a:r>
            <a:r>
              <a:rPr lang="en-US" sz="5400" dirty="0" smtClean="0">
                <a:solidFill>
                  <a:srgbClr val="C00000"/>
                </a:solidFill>
              </a:rPr>
              <a:t>REVISION</a:t>
            </a:r>
            <a:endParaRPr lang="en-US" sz="5400" dirty="0">
              <a:solidFill>
                <a:srgbClr val="C00000"/>
              </a:solidFill>
            </a:endParaRPr>
          </a:p>
        </p:txBody>
      </p:sp>
      <p:sp>
        <p:nvSpPr>
          <p:cNvPr id="5" name="Rectangle 4"/>
          <p:cNvSpPr/>
          <p:nvPr/>
        </p:nvSpPr>
        <p:spPr>
          <a:xfrm>
            <a:off x="4644008" y="3861048"/>
            <a:ext cx="4248472" cy="12241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dirty="0" smtClean="0">
                <a:solidFill>
                  <a:srgbClr val="00B0F0"/>
                </a:solidFill>
              </a:rPr>
              <a:t>Nested Loops</a:t>
            </a:r>
            <a:endParaRPr lang="en-US" sz="4000" dirty="0">
              <a:solidFill>
                <a:srgbClr val="00B0F0"/>
              </a:solidFill>
            </a:endParaRPr>
          </a:p>
        </p:txBody>
      </p:sp>
    </p:spTree>
    <p:extLst>
      <p:ext uri="{BB962C8B-B14F-4D97-AF65-F5344CB8AC3E}">
        <p14:creationId xmlns:p14="http://schemas.microsoft.com/office/powerpoint/2010/main" xmlns="" val="31381638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0872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smtClean="0">
                <a:solidFill>
                  <a:schemeClr val="accent2"/>
                </a:solidFill>
                <a:latin typeface="Tahoma" charset="0"/>
                <a:cs typeface="Arial" charset="0"/>
              </a:rPr>
              <a:t>1. PROBLEM</a:t>
            </a:r>
            <a:endParaRPr lang="en-US" sz="4000" dirty="0">
              <a:solidFill>
                <a:schemeClr val="accent2"/>
              </a:solidFill>
              <a:latin typeface="Tahoma" charset="0"/>
              <a:cs typeface="Arial" charset="0"/>
            </a:endParaRPr>
          </a:p>
        </p:txBody>
      </p:sp>
      <p:sp>
        <p:nvSpPr>
          <p:cNvPr id="7" name="Slide Number Placeholder 6"/>
          <p:cNvSpPr>
            <a:spLocks noGrp="1"/>
          </p:cNvSpPr>
          <p:nvPr>
            <p:ph type="sldNum" sz="quarter" idx="12"/>
          </p:nvPr>
        </p:nvSpPr>
        <p:spPr/>
        <p:txBody>
          <a:bodyPr/>
          <a:lstStyle/>
          <a:p>
            <a:fld id="{DA934484-767D-4C48-AF0E-A1438A969E59}" type="slidenum">
              <a:rPr lang="en-US" smtClean="0"/>
              <a:pPr/>
              <a:t>2</a:t>
            </a:fld>
            <a:endParaRPr lang="en-US"/>
          </a:p>
        </p:txBody>
      </p:sp>
      <p:sp>
        <p:nvSpPr>
          <p:cNvPr id="8" name="Rectangle 3" descr="Rectangle: Click to edit Master text styles&#10;Second level&#10;Third level&#10;Fourth level&#10;Fifth level"/>
          <p:cNvSpPr>
            <a:spLocks noGrp="1" noChangeArrowheads="1"/>
          </p:cNvSpPr>
          <p:nvPr>
            <p:ph idx="1"/>
          </p:nvPr>
        </p:nvSpPr>
        <p:spPr>
          <a:xfrm>
            <a:off x="251520" y="1110952"/>
            <a:ext cx="8712968" cy="5486400"/>
          </a:xfrm>
          <a:prstGeom prst="foldedCorner">
            <a:avLst>
              <a:gd name="adj" fmla="val 36304"/>
            </a:avLst>
          </a:prstGeom>
          <a:solidFill>
            <a:schemeClr val="accent1">
              <a:lumMod val="20000"/>
              <a:lumOff val="80000"/>
            </a:schemeClr>
          </a:solidFill>
          <a:ln>
            <a:solidFill>
              <a:schemeClr val="accent5">
                <a:lumMod val="75000"/>
              </a:schemeClr>
            </a:solidFill>
          </a:ln>
          <a:effectLst>
            <a:outerShdw blurRad="63500" sx="102000" sy="102000" algn="ctr" rotWithShape="0">
              <a:prstClr val="black">
                <a:alpha val="40000"/>
              </a:prstClr>
            </a:outerShdw>
          </a:effectLst>
        </p:spPr>
        <p:txBody>
          <a:bodyPr>
            <a:noAutofit/>
          </a:bodyPr>
          <a:lstStyle/>
          <a:p>
            <a:pPr marL="109728" indent="0" algn="just">
              <a:buNone/>
            </a:pPr>
            <a:r>
              <a:rPr lang="en-US" sz="2000" dirty="0">
                <a:latin typeface="Tahoma" panose="020B0604030504040204" pitchFamily="34" charset="0"/>
                <a:ea typeface="Tahoma" panose="020B0604030504040204" pitchFamily="34" charset="0"/>
                <a:cs typeface="Tahoma" panose="020B0604030504040204" pitchFamily="34" charset="0"/>
              </a:rPr>
              <a:t>Saudi Airlines permit each passenger to hold one bag. The maximum weight allowed for the bag depends on the class of the passenger which is: 30Kg for First class ('F'), 25Kg for Business ('B') and 20Kg for Economy ('E'). If the weight of the bag excesses the allowed one, the passenger should pay 10 SR for each Kg. </a:t>
            </a:r>
            <a:endParaRPr lang="en-US" sz="2000" dirty="0" smtClean="0">
              <a:latin typeface="Tahoma" panose="020B0604030504040204" pitchFamily="34" charset="0"/>
              <a:ea typeface="Tahoma" panose="020B0604030504040204" pitchFamily="34" charset="0"/>
              <a:cs typeface="Tahoma" panose="020B0604030504040204" pitchFamily="34" charset="0"/>
            </a:endParaRPr>
          </a:p>
          <a:p>
            <a:pPr marL="109728" indent="0">
              <a:buNone/>
            </a:pPr>
            <a:endParaRPr lang="en-US" sz="2000" dirty="0">
              <a:latin typeface="Tahoma" panose="020B0604030504040204" pitchFamily="34" charset="0"/>
              <a:ea typeface="Tahoma" panose="020B0604030504040204" pitchFamily="34" charset="0"/>
              <a:cs typeface="Tahoma" panose="020B0604030504040204" pitchFamily="34" charset="0"/>
            </a:endParaRPr>
          </a:p>
          <a:p>
            <a:pPr marL="109728" indent="0" algn="just">
              <a:buNone/>
            </a:pPr>
            <a:r>
              <a:rPr lang="en-US" sz="2000" dirty="0">
                <a:latin typeface="Tahoma" panose="020B0604030504040204" pitchFamily="34" charset="0"/>
                <a:ea typeface="Tahoma" panose="020B0604030504040204" pitchFamily="34" charset="0"/>
                <a:cs typeface="Tahoma" panose="020B0604030504040204" pitchFamily="34" charset="0"/>
              </a:rPr>
              <a:t>Write a program that calculates the excess baggage charge for the passenger. All input data should be read by the user. Solve the problem using the </a:t>
            </a:r>
            <a:r>
              <a:rPr lang="en-US" sz="2000" b="1" dirty="0">
                <a:latin typeface="Tahoma" panose="020B0604030504040204" pitchFamily="34" charset="0"/>
                <a:ea typeface="Tahoma" panose="020B0604030504040204" pitchFamily="34" charset="0"/>
                <a:cs typeface="Tahoma" panose="020B0604030504040204" pitchFamily="34" charset="0"/>
              </a:rPr>
              <a:t>switch</a:t>
            </a:r>
            <a:r>
              <a:rPr lang="en-US" sz="2000" dirty="0">
                <a:latin typeface="Tahoma" panose="020B0604030504040204" pitchFamily="34" charset="0"/>
                <a:ea typeface="Tahoma" panose="020B0604030504040204" pitchFamily="34" charset="0"/>
                <a:cs typeface="Tahoma" panose="020B0604030504040204" pitchFamily="34" charset="0"/>
              </a:rPr>
              <a:t> statement.</a:t>
            </a:r>
            <a:endParaRPr lang="en-US" sz="2000" dirty="0" smtClean="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xmlns="" val="3020497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smtClean="0">
                <a:solidFill>
                  <a:schemeClr val="accent2"/>
                </a:solidFill>
                <a:latin typeface="Tahoma" charset="0"/>
                <a:cs typeface="Arial" charset="0"/>
              </a:rPr>
              <a:t>2. ANALYSIS </a:t>
            </a:r>
            <a:endParaRPr lang="en-US" sz="4000" dirty="0">
              <a:solidFill>
                <a:schemeClr val="accent2"/>
              </a:solidFill>
              <a:latin typeface="Tahoma" charset="0"/>
              <a:cs typeface="Arial" charset="0"/>
            </a:endParaRPr>
          </a:p>
        </p:txBody>
      </p:sp>
      <p:sp>
        <p:nvSpPr>
          <p:cNvPr id="7" name="Slide Number Placeholder 6"/>
          <p:cNvSpPr>
            <a:spLocks noGrp="1"/>
          </p:cNvSpPr>
          <p:nvPr>
            <p:ph type="sldNum" sz="quarter" idx="12"/>
          </p:nvPr>
        </p:nvSpPr>
        <p:spPr/>
        <p:txBody>
          <a:bodyPr/>
          <a:lstStyle/>
          <a:p>
            <a:fld id="{DA934484-767D-4C48-AF0E-A1438A969E59}" type="slidenum">
              <a:rPr lang="en-US" smtClean="0"/>
              <a:pPr/>
              <a:t>3</a:t>
            </a:fld>
            <a:endParaRPr lang="en-US"/>
          </a:p>
        </p:txBody>
      </p:sp>
      <p:sp>
        <p:nvSpPr>
          <p:cNvPr id="9" name="Rectangle 8"/>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INPUT &amp; OUTPUT</a:t>
            </a:r>
            <a:endParaRPr lang="en-US" b="1" dirty="0"/>
          </a:p>
        </p:txBody>
      </p:sp>
      <p:cxnSp>
        <p:nvCxnSpPr>
          <p:cNvPr id="10" name="Straight Connector 9"/>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16" name="Rectangle 3" descr="Rectangle: Click to edit Master text styles&#10;Second level&#10;Third level&#10;Fourth level&#10;Fifth level"/>
          <p:cNvSpPr>
            <a:spLocks noGrp="1" noChangeArrowheads="1"/>
          </p:cNvSpPr>
          <p:nvPr>
            <p:ph idx="1"/>
          </p:nvPr>
        </p:nvSpPr>
        <p:spPr>
          <a:xfrm>
            <a:off x="251520" y="1412776"/>
            <a:ext cx="8712968" cy="5328592"/>
          </a:xfrm>
          <a:prstGeom prst="foldedCorner">
            <a:avLst>
              <a:gd name="adj" fmla="val 36304"/>
            </a:avLst>
          </a:prstGeom>
          <a:solidFill>
            <a:schemeClr val="accent1">
              <a:lumMod val="20000"/>
              <a:lumOff val="80000"/>
            </a:schemeClr>
          </a:solidFill>
          <a:ln>
            <a:solidFill>
              <a:schemeClr val="accent5">
                <a:lumMod val="75000"/>
              </a:schemeClr>
            </a:solidFill>
          </a:ln>
          <a:effectLst>
            <a:outerShdw blurRad="63500" sx="102000" sy="102000" algn="ctr" rotWithShape="0">
              <a:prstClr val="black">
                <a:alpha val="40000"/>
              </a:prstClr>
            </a:outerShdw>
          </a:effectLst>
        </p:spPr>
        <p:txBody>
          <a:bodyPr>
            <a:noAutofit/>
          </a:bodyPr>
          <a:lstStyle/>
          <a:p>
            <a:pPr marL="109728" indent="0">
              <a:buNone/>
            </a:pPr>
            <a:r>
              <a:rPr lang="en-US" sz="2000" dirty="0"/>
              <a:t>S</a:t>
            </a:r>
            <a:r>
              <a:rPr lang="en-US" sz="2000" dirty="0">
                <a:latin typeface="Tahoma" panose="020B0604030504040204" pitchFamily="34" charset="0"/>
                <a:ea typeface="Tahoma" panose="020B0604030504040204" pitchFamily="34" charset="0"/>
                <a:cs typeface="Tahoma" panose="020B0604030504040204" pitchFamily="34" charset="0"/>
              </a:rPr>
              <a:t>audi Airlines permit each passenger to hold one bag. The maximum weight allowed for the bag depends on the class of the passenger which is: </a:t>
            </a:r>
            <a:r>
              <a:rPr lang="en-US" sz="2000" dirty="0" smtClean="0">
                <a:latin typeface="Tahoma" panose="020B0604030504040204" pitchFamily="34" charset="0"/>
                <a:ea typeface="Tahoma" panose="020B0604030504040204" pitchFamily="34" charset="0"/>
                <a:cs typeface="Tahoma" panose="020B0604030504040204" pitchFamily="34" charset="0"/>
              </a:rPr>
              <a:t>30 Kg </a:t>
            </a:r>
            <a:r>
              <a:rPr lang="en-US" sz="2000" dirty="0">
                <a:latin typeface="Tahoma" panose="020B0604030504040204" pitchFamily="34" charset="0"/>
                <a:ea typeface="Tahoma" panose="020B0604030504040204" pitchFamily="34" charset="0"/>
                <a:cs typeface="Tahoma" panose="020B0604030504040204" pitchFamily="34" charset="0"/>
              </a:rPr>
              <a:t>for First class ('F'), </a:t>
            </a:r>
            <a:r>
              <a:rPr lang="en-US" sz="2000" dirty="0" smtClean="0">
                <a:latin typeface="Tahoma" panose="020B0604030504040204" pitchFamily="34" charset="0"/>
                <a:ea typeface="Tahoma" panose="020B0604030504040204" pitchFamily="34" charset="0"/>
                <a:cs typeface="Tahoma" panose="020B0604030504040204" pitchFamily="34" charset="0"/>
              </a:rPr>
              <a:t>25 Kg </a:t>
            </a:r>
            <a:r>
              <a:rPr lang="en-US" sz="2000" dirty="0">
                <a:latin typeface="Tahoma" panose="020B0604030504040204" pitchFamily="34" charset="0"/>
                <a:ea typeface="Tahoma" panose="020B0604030504040204" pitchFamily="34" charset="0"/>
                <a:cs typeface="Tahoma" panose="020B0604030504040204" pitchFamily="34" charset="0"/>
              </a:rPr>
              <a:t>for Business ('B') and </a:t>
            </a:r>
            <a:r>
              <a:rPr lang="en-US" sz="2000" dirty="0" smtClean="0">
                <a:latin typeface="Tahoma" panose="020B0604030504040204" pitchFamily="34" charset="0"/>
                <a:ea typeface="Tahoma" panose="020B0604030504040204" pitchFamily="34" charset="0"/>
                <a:cs typeface="Tahoma" panose="020B0604030504040204" pitchFamily="34" charset="0"/>
              </a:rPr>
              <a:t>20 Kg </a:t>
            </a:r>
            <a:r>
              <a:rPr lang="en-US" sz="2000" dirty="0">
                <a:latin typeface="Tahoma" panose="020B0604030504040204" pitchFamily="34" charset="0"/>
                <a:ea typeface="Tahoma" panose="020B0604030504040204" pitchFamily="34" charset="0"/>
                <a:cs typeface="Tahoma" panose="020B0604030504040204" pitchFamily="34" charset="0"/>
              </a:rPr>
              <a:t>for Economy ('E'). If the weight of the bag excesses the allowed one, the passenger should pay 10 SR for each Kg. </a:t>
            </a:r>
          </a:p>
          <a:p>
            <a:pPr marL="109728" indent="0">
              <a:buNone/>
            </a:pPr>
            <a:endParaRPr lang="en-US" sz="2000" dirty="0" smtClean="0">
              <a:latin typeface="Tahoma" panose="020B0604030504040204" pitchFamily="34" charset="0"/>
              <a:ea typeface="Tahoma" panose="020B0604030504040204" pitchFamily="34" charset="0"/>
              <a:cs typeface="Tahoma" panose="020B0604030504040204" pitchFamily="34" charset="0"/>
            </a:endParaRPr>
          </a:p>
          <a:p>
            <a:pPr marL="109728" indent="0">
              <a:buNone/>
            </a:pPr>
            <a:r>
              <a:rPr lang="en-US" sz="2000" dirty="0" smtClean="0">
                <a:latin typeface="Tahoma" panose="020B0604030504040204" pitchFamily="34" charset="0"/>
                <a:ea typeface="Tahoma" panose="020B0604030504040204" pitchFamily="34" charset="0"/>
                <a:cs typeface="Tahoma" panose="020B0604030504040204" pitchFamily="34" charset="0"/>
              </a:rPr>
              <a:t>W</a:t>
            </a:r>
            <a:r>
              <a:rPr lang="en-US" sz="2000" dirty="0" smtClean="0"/>
              <a:t>rite </a:t>
            </a:r>
            <a:r>
              <a:rPr lang="en-US" sz="2000" dirty="0"/>
              <a:t>a program that calculates the excess baggage charge for the passenger. All input data should be read by the user. Solve the problem using the </a:t>
            </a:r>
            <a:r>
              <a:rPr lang="en-US" sz="2000" b="1" dirty="0"/>
              <a:t>switch</a:t>
            </a:r>
            <a:r>
              <a:rPr lang="en-US" sz="2000" dirty="0"/>
              <a:t> statement.</a:t>
            </a:r>
            <a:endParaRPr lang="en-US" sz="2000" dirty="0" smtClean="0">
              <a:latin typeface="Tahoma" charset="0"/>
              <a:cs typeface="Arial" charset="0"/>
            </a:endParaRPr>
          </a:p>
        </p:txBody>
      </p:sp>
      <p:sp>
        <p:nvSpPr>
          <p:cNvPr id="3" name="Rounded Rectangle 2"/>
          <p:cNvSpPr/>
          <p:nvPr/>
        </p:nvSpPr>
        <p:spPr>
          <a:xfrm>
            <a:off x="467544" y="4437112"/>
            <a:ext cx="5544616" cy="432048"/>
          </a:xfrm>
          <a:prstGeom prst="roundRect">
            <a:avLst/>
          </a:prstGeom>
          <a:solidFill>
            <a:srgbClr val="0000FF"/>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Charge depends on?</a:t>
            </a:r>
            <a:endParaRPr lang="en-US" dirty="0"/>
          </a:p>
        </p:txBody>
      </p:sp>
      <p:sp>
        <p:nvSpPr>
          <p:cNvPr id="5" name="Rectangle 4"/>
          <p:cNvSpPr/>
          <p:nvPr/>
        </p:nvSpPr>
        <p:spPr>
          <a:xfrm>
            <a:off x="5364088" y="1772816"/>
            <a:ext cx="2520280" cy="288032"/>
          </a:xfrm>
          <a:prstGeom prst="rect">
            <a:avLst/>
          </a:prstGeom>
          <a:solidFill>
            <a:srgbClr val="0000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454654" y="1772816"/>
            <a:ext cx="1669074" cy="288032"/>
          </a:xfrm>
          <a:prstGeom prst="rect">
            <a:avLst/>
          </a:prstGeom>
          <a:solidFill>
            <a:srgbClr val="0000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4860032" y="3356992"/>
            <a:ext cx="2880320" cy="288032"/>
          </a:xfrm>
          <a:prstGeom prst="rect">
            <a:avLst/>
          </a:prstGeom>
          <a:solidFill>
            <a:srgbClr val="00B0F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p:cNvGraphicFramePr>
            <a:graphicFrameLocks noGrp="1"/>
          </p:cNvGraphicFramePr>
          <p:nvPr>
            <p:extLst>
              <p:ext uri="{D42A27DB-BD31-4B8C-83A1-F6EECF244321}">
                <p14:modId xmlns:p14="http://schemas.microsoft.com/office/powerpoint/2010/main" xmlns="" val="976953557"/>
              </p:ext>
            </p:extLst>
          </p:nvPr>
        </p:nvGraphicFramePr>
        <p:xfrm>
          <a:off x="454654" y="4941168"/>
          <a:ext cx="5557506" cy="1752600"/>
        </p:xfrm>
        <a:graphic>
          <a:graphicData uri="http://schemas.openxmlformats.org/drawingml/2006/table">
            <a:tbl>
              <a:tblPr firstRow="1" bandRow="1">
                <a:tableStyleId>{5C22544A-7EE6-4342-B048-85BDC9FD1C3A}</a:tableStyleId>
              </a:tblPr>
              <a:tblGrid>
                <a:gridCol w="2143070"/>
                <a:gridCol w="1363948"/>
                <a:gridCol w="2050488"/>
              </a:tblGrid>
              <a:tr h="370840">
                <a:tc>
                  <a:txBody>
                    <a:bodyPr/>
                    <a:lstStyle/>
                    <a:p>
                      <a:r>
                        <a:rPr lang="en-US" dirty="0" smtClean="0"/>
                        <a:t>Passenger</a:t>
                      </a:r>
                      <a:r>
                        <a:rPr lang="en-US" baseline="0" dirty="0" smtClean="0"/>
                        <a:t> Class</a:t>
                      </a:r>
                      <a:endParaRPr lang="en-US" dirty="0"/>
                    </a:p>
                  </a:txBody>
                  <a:tcPr/>
                </a:tc>
                <a:tc>
                  <a:txBody>
                    <a:bodyPr/>
                    <a:lstStyle/>
                    <a:p>
                      <a:r>
                        <a:rPr lang="en-US" dirty="0" err="1" smtClean="0"/>
                        <a:t>PassClass</a:t>
                      </a:r>
                      <a:endParaRPr lang="en-US" dirty="0" smtClean="0"/>
                    </a:p>
                    <a:p>
                      <a:pPr algn="ctr"/>
                      <a:r>
                        <a:rPr lang="en-US" dirty="0" smtClean="0"/>
                        <a:t>(Given)</a:t>
                      </a:r>
                      <a:endParaRPr lang="en-US" dirty="0"/>
                    </a:p>
                  </a:txBody>
                  <a:tcPr/>
                </a:tc>
                <a:tc>
                  <a:txBody>
                    <a:bodyPr/>
                    <a:lstStyle/>
                    <a:p>
                      <a:pPr algn="ctr"/>
                      <a:r>
                        <a:rPr lang="en-US" dirty="0" smtClean="0"/>
                        <a:t>Allowed Weight (Given)</a:t>
                      </a:r>
                      <a:endParaRPr lang="en-US" dirty="0"/>
                    </a:p>
                  </a:txBody>
                  <a:tcPr/>
                </a:tc>
              </a:tr>
              <a:tr h="370840">
                <a:tc>
                  <a:txBody>
                    <a:bodyPr/>
                    <a:lstStyle/>
                    <a:p>
                      <a:r>
                        <a:rPr lang="en-US" dirty="0" smtClean="0"/>
                        <a:t>First Class</a:t>
                      </a:r>
                      <a:endParaRPr lang="en-US" dirty="0"/>
                    </a:p>
                  </a:txBody>
                  <a:tcPr/>
                </a:tc>
                <a:tc>
                  <a:txBody>
                    <a:bodyPr/>
                    <a:lstStyle/>
                    <a:p>
                      <a:r>
                        <a:rPr lang="en-US" dirty="0" smtClean="0"/>
                        <a:t>‘F’</a:t>
                      </a:r>
                      <a:endParaRPr lang="en-US" dirty="0"/>
                    </a:p>
                  </a:txBody>
                  <a:tcPr/>
                </a:tc>
                <a:tc>
                  <a:txBody>
                    <a:bodyPr/>
                    <a:lstStyle/>
                    <a:p>
                      <a:r>
                        <a:rPr lang="en-US" dirty="0" smtClean="0"/>
                        <a:t>30 Kg</a:t>
                      </a:r>
                      <a:endParaRPr lang="en-US" dirty="0"/>
                    </a:p>
                  </a:txBody>
                  <a:tcPr/>
                </a:tc>
              </a:tr>
              <a:tr h="370840">
                <a:tc>
                  <a:txBody>
                    <a:bodyPr/>
                    <a:lstStyle/>
                    <a:p>
                      <a:r>
                        <a:rPr lang="en-US" dirty="0" smtClean="0"/>
                        <a:t>Business Class</a:t>
                      </a:r>
                      <a:endParaRPr lang="en-US" dirty="0"/>
                    </a:p>
                  </a:txBody>
                  <a:tcPr/>
                </a:tc>
                <a:tc>
                  <a:txBody>
                    <a:bodyPr/>
                    <a:lstStyle/>
                    <a:p>
                      <a:r>
                        <a:rPr lang="en-US" dirty="0" smtClean="0"/>
                        <a:t>‘B’</a:t>
                      </a:r>
                      <a:endParaRPr lang="en-US" dirty="0"/>
                    </a:p>
                  </a:txBody>
                  <a:tcPr/>
                </a:tc>
                <a:tc>
                  <a:txBody>
                    <a:bodyPr/>
                    <a:lstStyle/>
                    <a:p>
                      <a:r>
                        <a:rPr lang="en-US" dirty="0" smtClean="0"/>
                        <a:t>25 Kg</a:t>
                      </a:r>
                      <a:endParaRPr lang="en-US" dirty="0"/>
                    </a:p>
                  </a:txBody>
                  <a:tcPr/>
                </a:tc>
              </a:tr>
              <a:tr h="370840">
                <a:tc>
                  <a:txBody>
                    <a:bodyPr/>
                    <a:lstStyle/>
                    <a:p>
                      <a:r>
                        <a:rPr lang="en-US" dirty="0" err="1" smtClean="0"/>
                        <a:t>Econonmy</a:t>
                      </a:r>
                      <a:r>
                        <a:rPr lang="en-US" dirty="0" smtClean="0"/>
                        <a:t> Class</a:t>
                      </a:r>
                      <a:endParaRPr lang="en-US" dirty="0"/>
                    </a:p>
                  </a:txBody>
                  <a:tcPr/>
                </a:tc>
                <a:tc>
                  <a:txBody>
                    <a:bodyPr/>
                    <a:lstStyle/>
                    <a:p>
                      <a:r>
                        <a:rPr lang="en-US" dirty="0" smtClean="0"/>
                        <a:t>‘E’</a:t>
                      </a:r>
                      <a:endParaRPr lang="en-US" dirty="0"/>
                    </a:p>
                  </a:txBody>
                  <a:tcPr/>
                </a:tc>
                <a:tc>
                  <a:txBody>
                    <a:bodyPr/>
                    <a:lstStyle/>
                    <a:p>
                      <a:r>
                        <a:rPr lang="en-US" dirty="0" smtClean="0"/>
                        <a:t>20 Kg</a:t>
                      </a:r>
                      <a:endParaRPr lang="en-US" dirty="0"/>
                    </a:p>
                  </a:txBody>
                  <a:tcPr/>
                </a:tc>
              </a:tr>
            </a:tbl>
          </a:graphicData>
        </a:graphic>
      </p:graphicFrame>
      <p:sp>
        <p:nvSpPr>
          <p:cNvPr id="29" name="Rectangle 28"/>
          <p:cNvSpPr/>
          <p:nvPr/>
        </p:nvSpPr>
        <p:spPr>
          <a:xfrm>
            <a:off x="755576" y="2060848"/>
            <a:ext cx="360040" cy="288032"/>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p:cNvSpPr/>
          <p:nvPr/>
        </p:nvSpPr>
        <p:spPr>
          <a:xfrm>
            <a:off x="3635896" y="2071248"/>
            <a:ext cx="360040" cy="288032"/>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p:cNvSpPr/>
          <p:nvPr/>
        </p:nvSpPr>
        <p:spPr>
          <a:xfrm>
            <a:off x="6768244" y="2071248"/>
            <a:ext cx="360040" cy="288032"/>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2915816" y="2708920"/>
            <a:ext cx="360040" cy="288032"/>
          </a:xfrm>
          <a:prstGeom prst="rect">
            <a:avLst/>
          </a:prstGeom>
          <a:solidFill>
            <a:schemeClr val="accent6">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p:cNvSpPr/>
          <p:nvPr/>
        </p:nvSpPr>
        <p:spPr>
          <a:xfrm>
            <a:off x="3095836" y="2071248"/>
            <a:ext cx="360040" cy="288032"/>
          </a:xfrm>
          <a:prstGeom prst="rect">
            <a:avLst/>
          </a:prstGeom>
          <a:solidFill>
            <a:srgbClr val="00B05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p:cNvSpPr/>
          <p:nvPr/>
        </p:nvSpPr>
        <p:spPr>
          <a:xfrm>
            <a:off x="5868144" y="2071248"/>
            <a:ext cx="360040" cy="288032"/>
          </a:xfrm>
          <a:prstGeom prst="rect">
            <a:avLst/>
          </a:prstGeom>
          <a:solidFill>
            <a:srgbClr val="00B05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p:cNvSpPr/>
          <p:nvPr/>
        </p:nvSpPr>
        <p:spPr>
          <a:xfrm>
            <a:off x="1547664" y="2420888"/>
            <a:ext cx="360040" cy="288032"/>
          </a:xfrm>
          <a:prstGeom prst="rect">
            <a:avLst/>
          </a:prstGeom>
          <a:solidFill>
            <a:srgbClr val="00B05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ight Arrow 7"/>
          <p:cNvSpPr/>
          <p:nvPr/>
        </p:nvSpPr>
        <p:spPr>
          <a:xfrm>
            <a:off x="3455876" y="5661248"/>
            <a:ext cx="540060"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ight Arrow 35"/>
          <p:cNvSpPr/>
          <p:nvPr/>
        </p:nvSpPr>
        <p:spPr>
          <a:xfrm>
            <a:off x="3455876" y="6021288"/>
            <a:ext cx="540060"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ight Arrow 36"/>
          <p:cNvSpPr/>
          <p:nvPr/>
        </p:nvSpPr>
        <p:spPr>
          <a:xfrm>
            <a:off x="3455876" y="6381328"/>
            <a:ext cx="540060"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7049831" y="1484784"/>
            <a:ext cx="1194577" cy="288032"/>
          </a:xfrm>
          <a:prstGeom prst="rect">
            <a:avLst/>
          </a:prstGeom>
          <a:solidFill>
            <a:srgbClr val="0000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327836" y="2780928"/>
            <a:ext cx="47641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extLst>
      <p:ext uri="{BB962C8B-B14F-4D97-AF65-F5344CB8AC3E}">
        <p14:creationId xmlns:p14="http://schemas.microsoft.com/office/powerpoint/2010/main" xmlns="" val="1128369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strips(downRight)">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anim calcmode="lin" valueType="num">
                                      <p:cBhvr>
                                        <p:cTn id="15" dur="500" fill="hold"/>
                                        <p:tgtEl>
                                          <p:spTgt spid="28"/>
                                        </p:tgtEl>
                                        <p:attrNameLst>
                                          <p:attrName>ppt_w</p:attrName>
                                        </p:attrNameLst>
                                      </p:cBhvr>
                                      <p:tavLst>
                                        <p:tav tm="0">
                                          <p:val>
                                            <p:fltVal val="0"/>
                                          </p:val>
                                        </p:tav>
                                        <p:tav tm="100000">
                                          <p:val>
                                            <p:strVal val="#ppt_w"/>
                                          </p:val>
                                        </p:tav>
                                      </p:tavLst>
                                    </p:anim>
                                    <p:anim calcmode="lin" valueType="num">
                                      <p:cBhvr>
                                        <p:cTn id="16" dur="500" fill="hold"/>
                                        <p:tgtEl>
                                          <p:spTgt spid="28"/>
                                        </p:tgtEl>
                                        <p:attrNameLst>
                                          <p:attrName>ppt_h</p:attrName>
                                        </p:attrNameLst>
                                      </p:cBhvr>
                                      <p:tavLst>
                                        <p:tav tm="0">
                                          <p:val>
                                            <p:fltVal val="0"/>
                                          </p:val>
                                        </p:tav>
                                        <p:tav tm="100000">
                                          <p:val>
                                            <p:strVal val="#ppt_h"/>
                                          </p:val>
                                        </p:tav>
                                      </p:tavLst>
                                    </p:anim>
                                    <p:animEffect transition="in" filter="fade">
                                      <p:cBhvr>
                                        <p:cTn id="17" dur="500"/>
                                        <p:tgtEl>
                                          <p:spTgt spid="28"/>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p:cTn id="20" dur="500" fill="hold"/>
                                        <p:tgtEl>
                                          <p:spTgt spid="11"/>
                                        </p:tgtEl>
                                        <p:attrNameLst>
                                          <p:attrName>ppt_w</p:attrName>
                                        </p:attrNameLst>
                                      </p:cBhvr>
                                      <p:tavLst>
                                        <p:tav tm="0">
                                          <p:val>
                                            <p:fltVal val="0"/>
                                          </p:val>
                                        </p:tav>
                                        <p:tav tm="100000">
                                          <p:val>
                                            <p:strVal val="#ppt_w"/>
                                          </p:val>
                                        </p:tav>
                                      </p:tavLst>
                                    </p:anim>
                                    <p:anim calcmode="lin" valueType="num">
                                      <p:cBhvr>
                                        <p:cTn id="21" dur="500" fill="hold"/>
                                        <p:tgtEl>
                                          <p:spTgt spid="11"/>
                                        </p:tgtEl>
                                        <p:attrNameLst>
                                          <p:attrName>ppt_h</p:attrName>
                                        </p:attrNameLst>
                                      </p:cBhvr>
                                      <p:tavLst>
                                        <p:tav tm="0">
                                          <p:val>
                                            <p:fltVal val="0"/>
                                          </p:val>
                                        </p:tav>
                                        <p:tav tm="100000">
                                          <p:val>
                                            <p:strVal val="#ppt_h"/>
                                          </p:val>
                                        </p:tav>
                                      </p:tavLst>
                                    </p:anim>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 calcmode="lin" valueType="num">
                                      <p:cBhvr>
                                        <p:cTn id="27" dur="500" fill="hold"/>
                                        <p:tgtEl>
                                          <p:spTgt spid="27"/>
                                        </p:tgtEl>
                                        <p:attrNameLst>
                                          <p:attrName>ppt_w</p:attrName>
                                        </p:attrNameLst>
                                      </p:cBhvr>
                                      <p:tavLst>
                                        <p:tav tm="0">
                                          <p:val>
                                            <p:fltVal val="0"/>
                                          </p:val>
                                        </p:tav>
                                        <p:tav tm="100000">
                                          <p:val>
                                            <p:strVal val="#ppt_w"/>
                                          </p:val>
                                        </p:tav>
                                      </p:tavLst>
                                    </p:anim>
                                    <p:anim calcmode="lin" valueType="num">
                                      <p:cBhvr>
                                        <p:cTn id="28" dur="500" fill="hold"/>
                                        <p:tgtEl>
                                          <p:spTgt spid="27"/>
                                        </p:tgtEl>
                                        <p:attrNameLst>
                                          <p:attrName>ppt_h</p:attrName>
                                        </p:attrNameLst>
                                      </p:cBhvr>
                                      <p:tavLst>
                                        <p:tav tm="0">
                                          <p:val>
                                            <p:fltVal val="0"/>
                                          </p:val>
                                        </p:tav>
                                        <p:tav tm="100000">
                                          <p:val>
                                            <p:strVal val="#ppt_h"/>
                                          </p:val>
                                        </p:tav>
                                      </p:tavLst>
                                    </p:anim>
                                    <p:animEffect transition="in" filter="fade">
                                      <p:cBhvr>
                                        <p:cTn id="29" dur="500"/>
                                        <p:tgtEl>
                                          <p:spTgt spid="27"/>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38"/>
                                        </p:tgtEl>
                                        <p:attrNameLst>
                                          <p:attrName>style.visibility</p:attrName>
                                        </p:attrNameLst>
                                      </p:cBhvr>
                                      <p:to>
                                        <p:strVal val="visible"/>
                                      </p:to>
                                    </p:set>
                                    <p:anim calcmode="lin" valueType="num">
                                      <p:cBhvr>
                                        <p:cTn id="32" dur="500" fill="hold"/>
                                        <p:tgtEl>
                                          <p:spTgt spid="38"/>
                                        </p:tgtEl>
                                        <p:attrNameLst>
                                          <p:attrName>ppt_w</p:attrName>
                                        </p:attrNameLst>
                                      </p:cBhvr>
                                      <p:tavLst>
                                        <p:tav tm="0">
                                          <p:val>
                                            <p:fltVal val="0"/>
                                          </p:val>
                                        </p:tav>
                                        <p:tav tm="100000">
                                          <p:val>
                                            <p:strVal val="#ppt_w"/>
                                          </p:val>
                                        </p:tav>
                                      </p:tavLst>
                                    </p:anim>
                                    <p:anim calcmode="lin" valueType="num">
                                      <p:cBhvr>
                                        <p:cTn id="33" dur="500" fill="hold"/>
                                        <p:tgtEl>
                                          <p:spTgt spid="38"/>
                                        </p:tgtEl>
                                        <p:attrNameLst>
                                          <p:attrName>ppt_h</p:attrName>
                                        </p:attrNameLst>
                                      </p:cBhvr>
                                      <p:tavLst>
                                        <p:tav tm="0">
                                          <p:val>
                                            <p:fltVal val="0"/>
                                          </p:val>
                                        </p:tav>
                                        <p:tav tm="100000">
                                          <p:val>
                                            <p:strVal val="#ppt_h"/>
                                          </p:val>
                                        </p:tav>
                                      </p:tavLst>
                                    </p:anim>
                                    <p:animEffect transition="in" filter="fade">
                                      <p:cBhvr>
                                        <p:cTn id="34" dur="500"/>
                                        <p:tgtEl>
                                          <p:spTgt spid="38"/>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p:cTn id="39" dur="500" fill="hold"/>
                                        <p:tgtEl>
                                          <p:spTgt spid="5"/>
                                        </p:tgtEl>
                                        <p:attrNameLst>
                                          <p:attrName>ppt_w</p:attrName>
                                        </p:attrNameLst>
                                      </p:cBhvr>
                                      <p:tavLst>
                                        <p:tav tm="0">
                                          <p:val>
                                            <p:fltVal val="0"/>
                                          </p:val>
                                        </p:tav>
                                        <p:tav tm="100000">
                                          <p:val>
                                            <p:strVal val="#ppt_w"/>
                                          </p:val>
                                        </p:tav>
                                      </p:tavLst>
                                    </p:anim>
                                    <p:anim calcmode="lin" valueType="num">
                                      <p:cBhvr>
                                        <p:cTn id="40" dur="500" fill="hold"/>
                                        <p:tgtEl>
                                          <p:spTgt spid="5"/>
                                        </p:tgtEl>
                                        <p:attrNameLst>
                                          <p:attrName>ppt_h</p:attrName>
                                        </p:attrNameLst>
                                      </p:cBhvr>
                                      <p:tavLst>
                                        <p:tav tm="0">
                                          <p:val>
                                            <p:fltVal val="0"/>
                                          </p:val>
                                        </p:tav>
                                        <p:tav tm="100000">
                                          <p:val>
                                            <p:strVal val="#ppt_h"/>
                                          </p:val>
                                        </p:tav>
                                      </p:tavLst>
                                    </p:anim>
                                    <p:animEffect transition="in" filter="fade">
                                      <p:cBhvr>
                                        <p:cTn id="41" dur="500"/>
                                        <p:tgtEl>
                                          <p:spTgt spid="5"/>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33"/>
                                        </p:tgtEl>
                                        <p:attrNameLst>
                                          <p:attrName>style.visibility</p:attrName>
                                        </p:attrNameLst>
                                      </p:cBhvr>
                                      <p:to>
                                        <p:strVal val="visible"/>
                                      </p:to>
                                    </p:set>
                                    <p:anim calcmode="lin" valueType="num">
                                      <p:cBhvr>
                                        <p:cTn id="46" dur="500" fill="hold"/>
                                        <p:tgtEl>
                                          <p:spTgt spid="33"/>
                                        </p:tgtEl>
                                        <p:attrNameLst>
                                          <p:attrName>ppt_w</p:attrName>
                                        </p:attrNameLst>
                                      </p:cBhvr>
                                      <p:tavLst>
                                        <p:tav tm="0">
                                          <p:val>
                                            <p:fltVal val="0"/>
                                          </p:val>
                                        </p:tav>
                                        <p:tav tm="100000">
                                          <p:val>
                                            <p:strVal val="#ppt_w"/>
                                          </p:val>
                                        </p:tav>
                                      </p:tavLst>
                                    </p:anim>
                                    <p:anim calcmode="lin" valueType="num">
                                      <p:cBhvr>
                                        <p:cTn id="47" dur="500" fill="hold"/>
                                        <p:tgtEl>
                                          <p:spTgt spid="33"/>
                                        </p:tgtEl>
                                        <p:attrNameLst>
                                          <p:attrName>ppt_h</p:attrName>
                                        </p:attrNameLst>
                                      </p:cBhvr>
                                      <p:tavLst>
                                        <p:tav tm="0">
                                          <p:val>
                                            <p:fltVal val="0"/>
                                          </p:val>
                                        </p:tav>
                                        <p:tav tm="100000">
                                          <p:val>
                                            <p:strVal val="#ppt_h"/>
                                          </p:val>
                                        </p:tav>
                                      </p:tavLst>
                                    </p:anim>
                                    <p:animEffect transition="in" filter="fade">
                                      <p:cBhvr>
                                        <p:cTn id="48" dur="500"/>
                                        <p:tgtEl>
                                          <p:spTgt spid="33"/>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anim calcmode="lin" valueType="num">
                                      <p:cBhvr>
                                        <p:cTn id="53" dur="500" fill="hold"/>
                                        <p:tgtEl>
                                          <p:spTgt spid="29"/>
                                        </p:tgtEl>
                                        <p:attrNameLst>
                                          <p:attrName>ppt_w</p:attrName>
                                        </p:attrNameLst>
                                      </p:cBhvr>
                                      <p:tavLst>
                                        <p:tav tm="0">
                                          <p:val>
                                            <p:fltVal val="0"/>
                                          </p:val>
                                        </p:tav>
                                        <p:tav tm="100000">
                                          <p:val>
                                            <p:strVal val="#ppt_w"/>
                                          </p:val>
                                        </p:tav>
                                      </p:tavLst>
                                    </p:anim>
                                    <p:anim calcmode="lin" valueType="num">
                                      <p:cBhvr>
                                        <p:cTn id="54" dur="500" fill="hold"/>
                                        <p:tgtEl>
                                          <p:spTgt spid="29"/>
                                        </p:tgtEl>
                                        <p:attrNameLst>
                                          <p:attrName>ppt_h</p:attrName>
                                        </p:attrNameLst>
                                      </p:cBhvr>
                                      <p:tavLst>
                                        <p:tav tm="0">
                                          <p:val>
                                            <p:fltVal val="0"/>
                                          </p:val>
                                        </p:tav>
                                        <p:tav tm="100000">
                                          <p:val>
                                            <p:strVal val="#ppt_h"/>
                                          </p:val>
                                        </p:tav>
                                      </p:tavLst>
                                    </p:anim>
                                    <p:animEffect transition="in" filter="fade">
                                      <p:cBhvr>
                                        <p:cTn id="55" dur="500"/>
                                        <p:tgtEl>
                                          <p:spTgt spid="29"/>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grpId="0" nodeType="clickEffect">
                                  <p:stCondLst>
                                    <p:cond delay="0"/>
                                  </p:stCondLst>
                                  <p:childTnLst>
                                    <p:set>
                                      <p:cBhvr>
                                        <p:cTn id="59" dur="1" fill="hold">
                                          <p:stCondLst>
                                            <p:cond delay="0"/>
                                          </p:stCondLst>
                                        </p:cTn>
                                        <p:tgtEl>
                                          <p:spTgt spid="34"/>
                                        </p:tgtEl>
                                        <p:attrNameLst>
                                          <p:attrName>style.visibility</p:attrName>
                                        </p:attrNameLst>
                                      </p:cBhvr>
                                      <p:to>
                                        <p:strVal val="visible"/>
                                      </p:to>
                                    </p:set>
                                    <p:anim calcmode="lin" valueType="num">
                                      <p:cBhvr>
                                        <p:cTn id="60" dur="500" fill="hold"/>
                                        <p:tgtEl>
                                          <p:spTgt spid="34"/>
                                        </p:tgtEl>
                                        <p:attrNameLst>
                                          <p:attrName>ppt_w</p:attrName>
                                        </p:attrNameLst>
                                      </p:cBhvr>
                                      <p:tavLst>
                                        <p:tav tm="0">
                                          <p:val>
                                            <p:fltVal val="0"/>
                                          </p:val>
                                        </p:tav>
                                        <p:tav tm="100000">
                                          <p:val>
                                            <p:strVal val="#ppt_w"/>
                                          </p:val>
                                        </p:tav>
                                      </p:tavLst>
                                    </p:anim>
                                    <p:anim calcmode="lin" valueType="num">
                                      <p:cBhvr>
                                        <p:cTn id="61" dur="500" fill="hold"/>
                                        <p:tgtEl>
                                          <p:spTgt spid="34"/>
                                        </p:tgtEl>
                                        <p:attrNameLst>
                                          <p:attrName>ppt_h</p:attrName>
                                        </p:attrNameLst>
                                      </p:cBhvr>
                                      <p:tavLst>
                                        <p:tav tm="0">
                                          <p:val>
                                            <p:fltVal val="0"/>
                                          </p:val>
                                        </p:tav>
                                        <p:tav tm="100000">
                                          <p:val>
                                            <p:strVal val="#ppt_h"/>
                                          </p:val>
                                        </p:tav>
                                      </p:tavLst>
                                    </p:anim>
                                    <p:animEffect transition="in" filter="fade">
                                      <p:cBhvr>
                                        <p:cTn id="62" dur="500"/>
                                        <p:tgtEl>
                                          <p:spTgt spid="34"/>
                                        </p:tgtEl>
                                      </p:cBhvr>
                                    </p:animEffect>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anim calcmode="lin" valueType="num">
                                      <p:cBhvr>
                                        <p:cTn id="67" dur="500" fill="hold"/>
                                        <p:tgtEl>
                                          <p:spTgt spid="30"/>
                                        </p:tgtEl>
                                        <p:attrNameLst>
                                          <p:attrName>ppt_w</p:attrName>
                                        </p:attrNameLst>
                                      </p:cBhvr>
                                      <p:tavLst>
                                        <p:tav tm="0">
                                          <p:val>
                                            <p:fltVal val="0"/>
                                          </p:val>
                                        </p:tav>
                                        <p:tav tm="100000">
                                          <p:val>
                                            <p:strVal val="#ppt_w"/>
                                          </p:val>
                                        </p:tav>
                                      </p:tavLst>
                                    </p:anim>
                                    <p:anim calcmode="lin" valueType="num">
                                      <p:cBhvr>
                                        <p:cTn id="68" dur="500" fill="hold"/>
                                        <p:tgtEl>
                                          <p:spTgt spid="30"/>
                                        </p:tgtEl>
                                        <p:attrNameLst>
                                          <p:attrName>ppt_h</p:attrName>
                                        </p:attrNameLst>
                                      </p:cBhvr>
                                      <p:tavLst>
                                        <p:tav tm="0">
                                          <p:val>
                                            <p:fltVal val="0"/>
                                          </p:val>
                                        </p:tav>
                                        <p:tav tm="100000">
                                          <p:val>
                                            <p:strVal val="#ppt_h"/>
                                          </p:val>
                                        </p:tav>
                                      </p:tavLst>
                                    </p:anim>
                                    <p:animEffect transition="in" filter="fade">
                                      <p:cBhvr>
                                        <p:cTn id="69" dur="500"/>
                                        <p:tgtEl>
                                          <p:spTgt spid="30"/>
                                        </p:tgtEl>
                                      </p:cBhvr>
                                    </p:animEffect>
                                  </p:childTnLst>
                                </p:cTn>
                              </p:par>
                            </p:childTnLst>
                          </p:cTn>
                        </p:par>
                      </p:childTnLst>
                    </p:cTn>
                  </p:par>
                  <p:par>
                    <p:cTn id="70" fill="hold">
                      <p:stCondLst>
                        <p:cond delay="indefinite"/>
                      </p:stCondLst>
                      <p:childTnLst>
                        <p:par>
                          <p:cTn id="71" fill="hold">
                            <p:stCondLst>
                              <p:cond delay="0"/>
                            </p:stCondLst>
                            <p:childTnLst>
                              <p:par>
                                <p:cTn id="72" presetID="53" presetClass="entr" presetSubtype="16" fill="hold" grpId="0" nodeType="clickEffect">
                                  <p:stCondLst>
                                    <p:cond delay="0"/>
                                  </p:stCondLst>
                                  <p:childTnLst>
                                    <p:set>
                                      <p:cBhvr>
                                        <p:cTn id="73" dur="1" fill="hold">
                                          <p:stCondLst>
                                            <p:cond delay="0"/>
                                          </p:stCondLst>
                                        </p:cTn>
                                        <p:tgtEl>
                                          <p:spTgt spid="35"/>
                                        </p:tgtEl>
                                        <p:attrNameLst>
                                          <p:attrName>style.visibility</p:attrName>
                                        </p:attrNameLst>
                                      </p:cBhvr>
                                      <p:to>
                                        <p:strVal val="visible"/>
                                      </p:to>
                                    </p:set>
                                    <p:anim calcmode="lin" valueType="num">
                                      <p:cBhvr>
                                        <p:cTn id="74" dur="500" fill="hold"/>
                                        <p:tgtEl>
                                          <p:spTgt spid="35"/>
                                        </p:tgtEl>
                                        <p:attrNameLst>
                                          <p:attrName>ppt_w</p:attrName>
                                        </p:attrNameLst>
                                      </p:cBhvr>
                                      <p:tavLst>
                                        <p:tav tm="0">
                                          <p:val>
                                            <p:fltVal val="0"/>
                                          </p:val>
                                        </p:tav>
                                        <p:tav tm="100000">
                                          <p:val>
                                            <p:strVal val="#ppt_w"/>
                                          </p:val>
                                        </p:tav>
                                      </p:tavLst>
                                    </p:anim>
                                    <p:anim calcmode="lin" valueType="num">
                                      <p:cBhvr>
                                        <p:cTn id="75" dur="500" fill="hold"/>
                                        <p:tgtEl>
                                          <p:spTgt spid="35"/>
                                        </p:tgtEl>
                                        <p:attrNameLst>
                                          <p:attrName>ppt_h</p:attrName>
                                        </p:attrNameLst>
                                      </p:cBhvr>
                                      <p:tavLst>
                                        <p:tav tm="0">
                                          <p:val>
                                            <p:fltVal val="0"/>
                                          </p:val>
                                        </p:tav>
                                        <p:tav tm="100000">
                                          <p:val>
                                            <p:strVal val="#ppt_h"/>
                                          </p:val>
                                        </p:tav>
                                      </p:tavLst>
                                    </p:anim>
                                    <p:animEffect transition="in" filter="fade">
                                      <p:cBhvr>
                                        <p:cTn id="76" dur="500"/>
                                        <p:tgtEl>
                                          <p:spTgt spid="35"/>
                                        </p:tgtEl>
                                      </p:cBhvr>
                                    </p:animEffect>
                                  </p:childTnLst>
                                </p:cTn>
                              </p:par>
                            </p:childTnLst>
                          </p:cTn>
                        </p:par>
                      </p:childTnLst>
                    </p:cTn>
                  </p:par>
                  <p:par>
                    <p:cTn id="77" fill="hold">
                      <p:stCondLst>
                        <p:cond delay="indefinite"/>
                      </p:stCondLst>
                      <p:childTnLst>
                        <p:par>
                          <p:cTn id="78" fill="hold">
                            <p:stCondLst>
                              <p:cond delay="0"/>
                            </p:stCondLst>
                            <p:childTnLst>
                              <p:par>
                                <p:cTn id="79" presetID="53" presetClass="entr" presetSubtype="16" fill="hold" grpId="0" nodeType="clickEffect">
                                  <p:stCondLst>
                                    <p:cond delay="0"/>
                                  </p:stCondLst>
                                  <p:childTnLst>
                                    <p:set>
                                      <p:cBhvr>
                                        <p:cTn id="80" dur="1" fill="hold">
                                          <p:stCondLst>
                                            <p:cond delay="0"/>
                                          </p:stCondLst>
                                        </p:cTn>
                                        <p:tgtEl>
                                          <p:spTgt spid="31"/>
                                        </p:tgtEl>
                                        <p:attrNameLst>
                                          <p:attrName>style.visibility</p:attrName>
                                        </p:attrNameLst>
                                      </p:cBhvr>
                                      <p:to>
                                        <p:strVal val="visible"/>
                                      </p:to>
                                    </p:set>
                                    <p:anim calcmode="lin" valueType="num">
                                      <p:cBhvr>
                                        <p:cTn id="81" dur="500" fill="hold"/>
                                        <p:tgtEl>
                                          <p:spTgt spid="31"/>
                                        </p:tgtEl>
                                        <p:attrNameLst>
                                          <p:attrName>ppt_w</p:attrName>
                                        </p:attrNameLst>
                                      </p:cBhvr>
                                      <p:tavLst>
                                        <p:tav tm="0">
                                          <p:val>
                                            <p:fltVal val="0"/>
                                          </p:val>
                                        </p:tav>
                                        <p:tav tm="100000">
                                          <p:val>
                                            <p:strVal val="#ppt_w"/>
                                          </p:val>
                                        </p:tav>
                                      </p:tavLst>
                                    </p:anim>
                                    <p:anim calcmode="lin" valueType="num">
                                      <p:cBhvr>
                                        <p:cTn id="82" dur="500" fill="hold"/>
                                        <p:tgtEl>
                                          <p:spTgt spid="31"/>
                                        </p:tgtEl>
                                        <p:attrNameLst>
                                          <p:attrName>ppt_h</p:attrName>
                                        </p:attrNameLst>
                                      </p:cBhvr>
                                      <p:tavLst>
                                        <p:tav tm="0">
                                          <p:val>
                                            <p:fltVal val="0"/>
                                          </p:val>
                                        </p:tav>
                                        <p:tav tm="100000">
                                          <p:val>
                                            <p:strVal val="#ppt_h"/>
                                          </p:val>
                                        </p:tav>
                                      </p:tavLst>
                                    </p:anim>
                                    <p:animEffect transition="in" filter="fade">
                                      <p:cBhvr>
                                        <p:cTn id="83" dur="500"/>
                                        <p:tgtEl>
                                          <p:spTgt spid="31"/>
                                        </p:tgtEl>
                                      </p:cBhvr>
                                    </p:animEffect>
                                  </p:childTnLst>
                                </p:cTn>
                              </p:par>
                            </p:childTnLst>
                          </p:cTn>
                        </p:par>
                      </p:childTnLst>
                    </p:cTn>
                  </p:par>
                  <p:par>
                    <p:cTn id="84" fill="hold">
                      <p:stCondLst>
                        <p:cond delay="indefinite"/>
                      </p:stCondLst>
                      <p:childTnLst>
                        <p:par>
                          <p:cTn id="85" fill="hold">
                            <p:stCondLst>
                              <p:cond delay="0"/>
                            </p:stCondLst>
                            <p:childTnLst>
                              <p:par>
                                <p:cTn id="86" presetID="53" presetClass="entr" presetSubtype="16" fill="hold" grpId="0" nodeType="clickEffect">
                                  <p:stCondLst>
                                    <p:cond delay="0"/>
                                  </p:stCondLst>
                                  <p:childTnLst>
                                    <p:set>
                                      <p:cBhvr>
                                        <p:cTn id="87" dur="1" fill="hold">
                                          <p:stCondLst>
                                            <p:cond delay="0"/>
                                          </p:stCondLst>
                                        </p:cTn>
                                        <p:tgtEl>
                                          <p:spTgt spid="32"/>
                                        </p:tgtEl>
                                        <p:attrNameLst>
                                          <p:attrName>style.visibility</p:attrName>
                                        </p:attrNameLst>
                                      </p:cBhvr>
                                      <p:to>
                                        <p:strVal val="visible"/>
                                      </p:to>
                                    </p:set>
                                    <p:anim calcmode="lin" valueType="num">
                                      <p:cBhvr>
                                        <p:cTn id="88" dur="500" fill="hold"/>
                                        <p:tgtEl>
                                          <p:spTgt spid="32"/>
                                        </p:tgtEl>
                                        <p:attrNameLst>
                                          <p:attrName>ppt_w</p:attrName>
                                        </p:attrNameLst>
                                      </p:cBhvr>
                                      <p:tavLst>
                                        <p:tav tm="0">
                                          <p:val>
                                            <p:fltVal val="0"/>
                                          </p:val>
                                        </p:tav>
                                        <p:tav tm="100000">
                                          <p:val>
                                            <p:strVal val="#ppt_w"/>
                                          </p:val>
                                        </p:tav>
                                      </p:tavLst>
                                    </p:anim>
                                    <p:anim calcmode="lin" valueType="num">
                                      <p:cBhvr>
                                        <p:cTn id="89" dur="500" fill="hold"/>
                                        <p:tgtEl>
                                          <p:spTgt spid="32"/>
                                        </p:tgtEl>
                                        <p:attrNameLst>
                                          <p:attrName>ppt_h</p:attrName>
                                        </p:attrNameLst>
                                      </p:cBhvr>
                                      <p:tavLst>
                                        <p:tav tm="0">
                                          <p:val>
                                            <p:fltVal val="0"/>
                                          </p:val>
                                        </p:tav>
                                        <p:tav tm="100000">
                                          <p:val>
                                            <p:strVal val="#ppt_h"/>
                                          </p:val>
                                        </p:tav>
                                      </p:tavLst>
                                    </p:anim>
                                    <p:animEffect transition="in" filter="fade">
                                      <p:cBhvr>
                                        <p:cTn id="90" dur="500"/>
                                        <p:tgtEl>
                                          <p:spTgt spid="32"/>
                                        </p:tgtEl>
                                      </p:cBhvr>
                                    </p:animEffect>
                                  </p:childTnLst>
                                </p:cTn>
                              </p:par>
                            </p:childTnLst>
                          </p:cTn>
                        </p:par>
                      </p:childTnLst>
                    </p:cTn>
                  </p:par>
                  <p:par>
                    <p:cTn id="91" fill="hold">
                      <p:stCondLst>
                        <p:cond delay="indefinite"/>
                      </p:stCondLst>
                      <p:childTnLst>
                        <p:par>
                          <p:cTn id="92" fill="hold">
                            <p:stCondLst>
                              <p:cond delay="0"/>
                            </p:stCondLst>
                            <p:childTnLst>
                              <p:par>
                                <p:cTn id="93" presetID="53" presetClass="entr" presetSubtype="16" fill="hold" grpId="0" nodeType="clickEffect">
                                  <p:stCondLst>
                                    <p:cond delay="0"/>
                                  </p:stCondLst>
                                  <p:childTnLst>
                                    <p:set>
                                      <p:cBhvr>
                                        <p:cTn id="94" dur="1" fill="hold">
                                          <p:stCondLst>
                                            <p:cond delay="0"/>
                                          </p:stCondLst>
                                        </p:cTn>
                                        <p:tgtEl>
                                          <p:spTgt spid="3"/>
                                        </p:tgtEl>
                                        <p:attrNameLst>
                                          <p:attrName>style.visibility</p:attrName>
                                        </p:attrNameLst>
                                      </p:cBhvr>
                                      <p:to>
                                        <p:strVal val="visible"/>
                                      </p:to>
                                    </p:set>
                                    <p:anim calcmode="lin" valueType="num">
                                      <p:cBhvr>
                                        <p:cTn id="95" dur="500" fill="hold"/>
                                        <p:tgtEl>
                                          <p:spTgt spid="3"/>
                                        </p:tgtEl>
                                        <p:attrNameLst>
                                          <p:attrName>ppt_w</p:attrName>
                                        </p:attrNameLst>
                                      </p:cBhvr>
                                      <p:tavLst>
                                        <p:tav tm="0">
                                          <p:val>
                                            <p:fltVal val="0"/>
                                          </p:val>
                                        </p:tav>
                                        <p:tav tm="100000">
                                          <p:val>
                                            <p:strVal val="#ppt_w"/>
                                          </p:val>
                                        </p:tav>
                                      </p:tavLst>
                                    </p:anim>
                                    <p:anim calcmode="lin" valueType="num">
                                      <p:cBhvr>
                                        <p:cTn id="96" dur="500" fill="hold"/>
                                        <p:tgtEl>
                                          <p:spTgt spid="3"/>
                                        </p:tgtEl>
                                        <p:attrNameLst>
                                          <p:attrName>ppt_h</p:attrName>
                                        </p:attrNameLst>
                                      </p:cBhvr>
                                      <p:tavLst>
                                        <p:tav tm="0">
                                          <p:val>
                                            <p:fltVal val="0"/>
                                          </p:val>
                                        </p:tav>
                                        <p:tav tm="100000">
                                          <p:val>
                                            <p:strVal val="#ppt_h"/>
                                          </p:val>
                                        </p:tav>
                                      </p:tavLst>
                                    </p:anim>
                                    <p:animEffect transition="in" filter="fade">
                                      <p:cBhvr>
                                        <p:cTn id="97" dur="500"/>
                                        <p:tgtEl>
                                          <p:spTgt spid="3"/>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nodeType="clickEffect">
                                  <p:stCondLst>
                                    <p:cond delay="0"/>
                                  </p:stCondLst>
                                  <p:childTnLst>
                                    <p:set>
                                      <p:cBhvr>
                                        <p:cTn id="101" dur="1" fill="hold">
                                          <p:stCondLst>
                                            <p:cond delay="0"/>
                                          </p:stCondLst>
                                        </p:cTn>
                                        <p:tgtEl>
                                          <p:spTgt spid="2"/>
                                        </p:tgtEl>
                                        <p:attrNameLst>
                                          <p:attrName>style.visibility</p:attrName>
                                        </p:attrNameLst>
                                      </p:cBhvr>
                                      <p:to>
                                        <p:strVal val="visible"/>
                                      </p:to>
                                    </p:set>
                                    <p:animEffect transition="in" filter="wipe(up)">
                                      <p:cBhvr>
                                        <p:cTn id="102" dur="500"/>
                                        <p:tgtEl>
                                          <p:spTgt spid="2"/>
                                        </p:tgtEl>
                                      </p:cBhvr>
                                    </p:animEffect>
                                  </p:childTnLst>
                                </p:cTn>
                              </p:par>
                            </p:childTnLst>
                          </p:cTn>
                        </p:par>
                        <p:par>
                          <p:cTn id="103" fill="hold">
                            <p:stCondLst>
                              <p:cond delay="500"/>
                            </p:stCondLst>
                            <p:childTnLst>
                              <p:par>
                                <p:cTn id="104" presetID="22" presetClass="entr" presetSubtype="8" fill="hold" grpId="0" nodeType="afterEffect">
                                  <p:stCondLst>
                                    <p:cond delay="0"/>
                                  </p:stCondLst>
                                  <p:childTnLst>
                                    <p:set>
                                      <p:cBhvr>
                                        <p:cTn id="105" dur="1" fill="hold">
                                          <p:stCondLst>
                                            <p:cond delay="0"/>
                                          </p:stCondLst>
                                        </p:cTn>
                                        <p:tgtEl>
                                          <p:spTgt spid="8"/>
                                        </p:tgtEl>
                                        <p:attrNameLst>
                                          <p:attrName>style.visibility</p:attrName>
                                        </p:attrNameLst>
                                      </p:cBhvr>
                                      <p:to>
                                        <p:strVal val="visible"/>
                                      </p:to>
                                    </p:set>
                                    <p:animEffect transition="in" filter="wipe(left)">
                                      <p:cBhvr>
                                        <p:cTn id="106" dur="500"/>
                                        <p:tgtEl>
                                          <p:spTgt spid="8"/>
                                        </p:tgtEl>
                                      </p:cBhvr>
                                    </p:animEffect>
                                  </p:childTnLst>
                                </p:cTn>
                              </p:par>
                              <p:par>
                                <p:cTn id="107" presetID="22" presetClass="entr" presetSubtype="8"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wipe(left)">
                                      <p:cBhvr>
                                        <p:cTn id="109" dur="500"/>
                                        <p:tgtEl>
                                          <p:spTgt spid="36"/>
                                        </p:tgtEl>
                                      </p:cBhvr>
                                    </p:animEffect>
                                  </p:childTnLst>
                                </p:cTn>
                              </p:par>
                              <p:par>
                                <p:cTn id="110" presetID="22" presetClass="entr" presetSubtype="8"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wipe(left)">
                                      <p:cBhvr>
                                        <p:cTn id="11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6" grpId="0" animBg="1"/>
      <p:bldP spid="3" grpId="0" animBg="1"/>
      <p:bldP spid="5" grpId="0" animBg="1"/>
      <p:bldP spid="27" grpId="0" animBg="1"/>
      <p:bldP spid="28" grpId="0" animBg="1"/>
      <p:bldP spid="29" grpId="0" animBg="1"/>
      <p:bldP spid="30" grpId="0" animBg="1"/>
      <p:bldP spid="31" grpId="0" animBg="1"/>
      <p:bldP spid="32" grpId="0" animBg="1"/>
      <p:bldP spid="33" grpId="0" animBg="1"/>
      <p:bldP spid="34" grpId="0" animBg="1"/>
      <p:bldP spid="35" grpId="0" animBg="1"/>
      <p:bldP spid="8" grpId="0" animBg="1"/>
      <p:bldP spid="36" grpId="0" animBg="1"/>
      <p:bldP spid="37" grpId="0" animBg="1"/>
      <p:bldP spid="38" grpId="0" animBg="1"/>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smtClean="0">
                <a:solidFill>
                  <a:schemeClr val="accent2"/>
                </a:solidFill>
                <a:latin typeface="Tahoma" charset="0"/>
                <a:cs typeface="Arial" charset="0"/>
              </a:rPr>
              <a:t>2. ANALYSIS </a:t>
            </a:r>
            <a:endParaRPr lang="en-US" sz="4000" dirty="0">
              <a:solidFill>
                <a:schemeClr val="accent2"/>
              </a:solidFill>
              <a:latin typeface="Tahoma" charset="0"/>
              <a:cs typeface="Arial" charset="0"/>
            </a:endParaRPr>
          </a:p>
        </p:txBody>
      </p:sp>
      <p:sp>
        <p:nvSpPr>
          <p:cNvPr id="7" name="Slide Number Placeholder 6"/>
          <p:cNvSpPr>
            <a:spLocks noGrp="1"/>
          </p:cNvSpPr>
          <p:nvPr>
            <p:ph type="sldNum" sz="quarter" idx="12"/>
          </p:nvPr>
        </p:nvSpPr>
        <p:spPr/>
        <p:txBody>
          <a:bodyPr/>
          <a:lstStyle/>
          <a:p>
            <a:fld id="{DA934484-767D-4C48-AF0E-A1438A969E59}" type="slidenum">
              <a:rPr lang="en-US" smtClean="0"/>
              <a:pPr/>
              <a:t>4</a:t>
            </a:fld>
            <a:endParaRPr lang="en-US"/>
          </a:p>
        </p:txBody>
      </p:sp>
      <p:sp>
        <p:nvSpPr>
          <p:cNvPr id="27" name="TextBox 26"/>
          <p:cNvSpPr txBox="1"/>
          <p:nvPr/>
        </p:nvSpPr>
        <p:spPr>
          <a:xfrm>
            <a:off x="251520" y="836712"/>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smtClean="0">
                <a:solidFill>
                  <a:srgbClr val="FF0000"/>
                </a:solidFill>
                <a:latin typeface="Tahoma" panose="020B0604030504040204" pitchFamily="34" charset="0"/>
                <a:ea typeface="Tahoma" panose="020B0604030504040204" pitchFamily="34" charset="0"/>
                <a:cs typeface="Tahoma" panose="020B0604030504040204" pitchFamily="34" charset="0"/>
              </a:rPr>
              <a:t>INPUT</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8" name="TextBox 27"/>
          <p:cNvSpPr txBox="1"/>
          <p:nvPr/>
        </p:nvSpPr>
        <p:spPr>
          <a:xfrm>
            <a:off x="539552" y="1556792"/>
            <a:ext cx="3600400" cy="400110"/>
          </a:xfrm>
          <a:prstGeom prst="rect">
            <a:avLst/>
          </a:prstGeom>
          <a:noFill/>
        </p:spPr>
        <p:txBody>
          <a:bodyPr wrap="square" rtlCol="0">
            <a:spAutoFit/>
          </a:bodyPr>
          <a:lstStyle/>
          <a:p>
            <a:pPr marL="800100" lvl="1" indent="-342900">
              <a:buClr>
                <a:srgbClr val="FF0000"/>
              </a:buClr>
              <a:buFont typeface="Courier New" panose="02070309020205020404" pitchFamily="49" charset="0"/>
              <a:buChar char="o"/>
            </a:pP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Passenger’s Class</a:t>
            </a:r>
            <a:endPar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endParaRPr>
          </a:p>
        </p:txBody>
      </p:sp>
      <p:sp>
        <p:nvSpPr>
          <p:cNvPr id="29" name="TextBox 28"/>
          <p:cNvSpPr txBox="1"/>
          <p:nvPr/>
        </p:nvSpPr>
        <p:spPr>
          <a:xfrm>
            <a:off x="4139952" y="1556792"/>
            <a:ext cx="3312368" cy="400110"/>
          </a:xfrm>
          <a:prstGeom prst="rect">
            <a:avLst/>
          </a:prstGeom>
          <a:noFill/>
        </p:spPr>
        <p:txBody>
          <a:bodyPr wrap="square" rtlCol="0">
            <a:spAutoFit/>
          </a:bodyPr>
          <a:lstStyle/>
          <a:p>
            <a:pPr marL="0" lvl="1">
              <a:buClr>
                <a:srgbClr val="FF0000"/>
              </a:buClr>
            </a:pPr>
            <a:r>
              <a:rPr lang="en-US" sz="2000" dirty="0" smtClean="0">
                <a:solidFill>
                  <a:srgbClr val="00B0F0"/>
                </a:solidFill>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Entered by the user.</a:t>
            </a:r>
            <a:endPar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endParaRPr>
          </a:p>
        </p:txBody>
      </p:sp>
      <p:sp>
        <p:nvSpPr>
          <p:cNvPr id="31" name="TextBox 30"/>
          <p:cNvSpPr txBox="1"/>
          <p:nvPr/>
        </p:nvSpPr>
        <p:spPr>
          <a:xfrm>
            <a:off x="539552" y="1923207"/>
            <a:ext cx="3600400" cy="400110"/>
          </a:xfrm>
          <a:prstGeom prst="rect">
            <a:avLst/>
          </a:prstGeom>
          <a:noFill/>
        </p:spPr>
        <p:txBody>
          <a:bodyPr wrap="square" rtlCol="0">
            <a:spAutoFit/>
          </a:bodyPr>
          <a:lstStyle/>
          <a:p>
            <a:pPr marL="800100" lvl="1" indent="-342900">
              <a:buClr>
                <a:srgbClr val="FF0000"/>
              </a:buClr>
              <a:buFont typeface="Courier New" panose="02070309020205020404" pitchFamily="49" charset="0"/>
              <a:buChar char="o"/>
            </a:pP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Baggage Weight</a:t>
            </a:r>
            <a:endPar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endParaRPr>
          </a:p>
        </p:txBody>
      </p:sp>
      <p:sp>
        <p:nvSpPr>
          <p:cNvPr id="32" name="TextBox 31"/>
          <p:cNvSpPr txBox="1"/>
          <p:nvPr/>
        </p:nvSpPr>
        <p:spPr>
          <a:xfrm>
            <a:off x="4139952" y="1923207"/>
            <a:ext cx="3312368" cy="400110"/>
          </a:xfrm>
          <a:prstGeom prst="rect">
            <a:avLst/>
          </a:prstGeom>
          <a:noFill/>
        </p:spPr>
        <p:txBody>
          <a:bodyPr wrap="square" rtlCol="0">
            <a:spAutoFit/>
          </a:bodyPr>
          <a:lstStyle/>
          <a:p>
            <a:pPr marL="0" lvl="1">
              <a:buClr>
                <a:srgbClr val="FF0000"/>
              </a:buClr>
            </a:pPr>
            <a:r>
              <a:rPr lang="en-US" sz="2000" dirty="0" smtClean="0">
                <a:solidFill>
                  <a:srgbClr val="00B0F0"/>
                </a:solidFill>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Entered by the user.</a:t>
            </a:r>
            <a:endPar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endParaRPr>
          </a:p>
        </p:txBody>
      </p:sp>
      <p:sp>
        <p:nvSpPr>
          <p:cNvPr id="45" name="TextBox 44"/>
          <p:cNvSpPr txBox="1"/>
          <p:nvPr/>
        </p:nvSpPr>
        <p:spPr>
          <a:xfrm>
            <a:off x="251520" y="2780928"/>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smtClean="0">
                <a:solidFill>
                  <a:srgbClr val="FF0000"/>
                </a:solidFill>
                <a:latin typeface="Tahoma" panose="020B0604030504040204" pitchFamily="34" charset="0"/>
                <a:ea typeface="Tahoma" panose="020B0604030504040204" pitchFamily="34" charset="0"/>
                <a:cs typeface="Tahoma" panose="020B0604030504040204" pitchFamily="34" charset="0"/>
              </a:rPr>
              <a:t>OUTPUT</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46" name="TextBox 45"/>
          <p:cNvSpPr txBox="1"/>
          <p:nvPr/>
        </p:nvSpPr>
        <p:spPr>
          <a:xfrm>
            <a:off x="251520" y="3134593"/>
            <a:ext cx="8640960" cy="400110"/>
          </a:xfrm>
          <a:prstGeom prst="rect">
            <a:avLst/>
          </a:prstGeom>
          <a:noFill/>
        </p:spPr>
        <p:txBody>
          <a:bodyPr wrap="square" rtlCol="0">
            <a:spAutoFit/>
          </a:bodyPr>
          <a:lstStyle/>
          <a:p>
            <a:pPr marL="800100" lvl="1" indent="-342900">
              <a:buClr>
                <a:srgbClr val="FF0000"/>
              </a:buClr>
              <a:buFont typeface="Courier New" panose="02070309020205020404" pitchFamily="49" charset="0"/>
              <a:buChar char="o"/>
            </a:pP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Charge to excess weight:</a:t>
            </a:r>
            <a:endPar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endParaRPr>
          </a:p>
        </p:txBody>
      </p:sp>
      <p:sp>
        <p:nvSpPr>
          <p:cNvPr id="47" name="TextBox 46"/>
          <p:cNvSpPr txBox="1"/>
          <p:nvPr/>
        </p:nvSpPr>
        <p:spPr>
          <a:xfrm>
            <a:off x="251520" y="3462695"/>
            <a:ext cx="8640960" cy="615553"/>
          </a:xfrm>
          <a:prstGeom prst="rect">
            <a:avLst/>
          </a:prstGeom>
          <a:noFill/>
        </p:spPr>
        <p:txBody>
          <a:bodyPr wrap="square" rtlCol="0">
            <a:spAutoFit/>
          </a:bodyPr>
          <a:lstStyle/>
          <a:p>
            <a:pPr marL="1257300" lvl="2" indent="-342900">
              <a:buClr>
                <a:srgbClr val="FF0000"/>
              </a:buClr>
              <a:buFont typeface="Arial" panose="020B0604020202020204" pitchFamily="34" charset="0"/>
              <a:buChar char="•"/>
            </a:pP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Excess weight = Actual Weight – Allowed Weight </a:t>
            </a:r>
            <a:r>
              <a:rPr lang="en-US" sz="1400" i="1" dirty="0" smtClean="0">
                <a:solidFill>
                  <a:srgbClr val="0000FF"/>
                </a:solidFill>
                <a:latin typeface="Tahoma" panose="020B0604030504040204" pitchFamily="34" charset="0"/>
                <a:ea typeface="Tahoma" panose="020B0604030504040204" pitchFamily="34" charset="0"/>
                <a:cs typeface="Tahoma" panose="020B0604030504040204" pitchFamily="34" charset="0"/>
              </a:rPr>
              <a:t>(depending on his class)</a:t>
            </a:r>
            <a:endParaRPr lang="en-US" sz="1400" i="1" dirty="0">
              <a:solidFill>
                <a:srgbClr val="0000FF"/>
              </a:solidFill>
              <a:latin typeface="Tahoma" panose="020B0604030504040204" pitchFamily="34" charset="0"/>
              <a:ea typeface="Tahoma" panose="020B0604030504040204" pitchFamily="34" charset="0"/>
              <a:cs typeface="Tahoma" panose="020B0604030504040204" pitchFamily="34" charset="0"/>
            </a:endParaRPr>
          </a:p>
        </p:txBody>
      </p:sp>
      <p:sp>
        <p:nvSpPr>
          <p:cNvPr id="24" name="TextBox 23"/>
          <p:cNvSpPr txBox="1"/>
          <p:nvPr/>
        </p:nvSpPr>
        <p:spPr>
          <a:xfrm>
            <a:off x="251520" y="4221088"/>
            <a:ext cx="8640960" cy="400110"/>
          </a:xfrm>
          <a:prstGeom prst="rect">
            <a:avLst/>
          </a:prstGeom>
          <a:noFill/>
        </p:spPr>
        <p:txBody>
          <a:bodyPr wrap="square" rtlCol="0">
            <a:spAutoFit/>
          </a:bodyPr>
          <a:lstStyle/>
          <a:p>
            <a:pPr marL="1257300" lvl="2" indent="-342900">
              <a:buClr>
                <a:srgbClr val="FF0000"/>
              </a:buClr>
              <a:buFont typeface="Arial" panose="020B0604020202020204" pitchFamily="34" charset="0"/>
              <a:buChar char="•"/>
            </a:pP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Charge = Excess Weight * 10 SR</a:t>
            </a:r>
            <a:endPar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endParaRPr>
          </a:p>
        </p:txBody>
      </p:sp>
      <p:sp>
        <p:nvSpPr>
          <p:cNvPr id="25" name="TextBox 24"/>
          <p:cNvSpPr txBox="1"/>
          <p:nvPr/>
        </p:nvSpPr>
        <p:spPr>
          <a:xfrm>
            <a:off x="251520" y="1268760"/>
            <a:ext cx="7920880" cy="400110"/>
          </a:xfrm>
          <a:prstGeom prst="rect">
            <a:avLst/>
          </a:prstGeom>
          <a:noFill/>
        </p:spPr>
        <p:txBody>
          <a:bodyPr wrap="square" rtlCol="0">
            <a:spAutoFit/>
          </a:bodyPr>
          <a:lstStyle/>
          <a:p>
            <a:pPr marL="800100" lvl="1" indent="-342900">
              <a:buClr>
                <a:srgbClr val="FF0000"/>
              </a:buClr>
              <a:buFont typeface="Wingdings" panose="05000000000000000000" pitchFamily="2" charset="2"/>
              <a:buChar char="v"/>
            </a:pPr>
            <a:r>
              <a:rPr lang="en-US" sz="2000" dirty="0" smtClean="0">
                <a:solidFill>
                  <a:schemeClr val="accent3"/>
                </a:solidFill>
                <a:latin typeface="Tahoma" panose="020B0604030504040204" pitchFamily="34" charset="0"/>
                <a:ea typeface="Tahoma" panose="020B0604030504040204" pitchFamily="34" charset="0"/>
                <a:cs typeface="Tahoma" panose="020B0604030504040204" pitchFamily="34" charset="0"/>
              </a:rPr>
              <a:t>For a specific passenger, we want to know:</a:t>
            </a:r>
            <a:endParaRPr lang="en-US" sz="2000" dirty="0">
              <a:solidFill>
                <a:schemeClr val="accent3"/>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xmlns="" val="493989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wipe(left)">
                                      <p:cBhvr>
                                        <p:cTn id="15" dur="500"/>
                                        <p:tgtEl>
                                          <p:spTgt spid="28"/>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wipe(left)">
                                      <p:cBhvr>
                                        <p:cTn id="19" dur="500"/>
                                        <p:tgtEl>
                                          <p:spTgt spid="2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wipe(left)">
                                      <p:cBhvr>
                                        <p:cTn id="24" dur="500"/>
                                        <p:tgtEl>
                                          <p:spTgt spid="31"/>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wipe(left)">
                                      <p:cBhvr>
                                        <p:cTn id="28" dur="500"/>
                                        <p:tgtEl>
                                          <p:spTgt spid="3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45"/>
                                        </p:tgtEl>
                                        <p:attrNameLst>
                                          <p:attrName>style.visibility</p:attrName>
                                        </p:attrNameLst>
                                      </p:cBhvr>
                                      <p:to>
                                        <p:strVal val="visible"/>
                                      </p:to>
                                    </p:set>
                                    <p:animEffect transition="in" filter="wipe(left)">
                                      <p:cBhvr>
                                        <p:cTn id="33" dur="500"/>
                                        <p:tgtEl>
                                          <p:spTgt spid="45"/>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wipe(left)">
                                      <p:cBhvr>
                                        <p:cTn id="37" dur="500"/>
                                        <p:tgtEl>
                                          <p:spTgt spid="4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wipe(left)">
                                      <p:cBhvr>
                                        <p:cTn id="42" dur="500"/>
                                        <p:tgtEl>
                                          <p:spTgt spid="4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left)">
                                      <p:cBhvr>
                                        <p:cTn id="4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1" grpId="0"/>
      <p:bldP spid="32" grpId="0"/>
      <p:bldP spid="45" grpId="0"/>
      <p:bldP spid="46" grpId="0"/>
      <p:bldP spid="47" grpId="0"/>
      <p:bldP spid="24" grpId="0"/>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a:solidFill>
                  <a:schemeClr val="accent2"/>
                </a:solidFill>
                <a:latin typeface="Tahoma" charset="0"/>
                <a:cs typeface="Arial" charset="0"/>
              </a:rPr>
              <a:t>3</a:t>
            </a:r>
            <a:r>
              <a:rPr lang="en-US" sz="4000" dirty="0" smtClean="0">
                <a:solidFill>
                  <a:schemeClr val="accent2"/>
                </a:solidFill>
                <a:latin typeface="Tahoma" charset="0"/>
                <a:cs typeface="Arial" charset="0"/>
              </a:rPr>
              <a:t>. DATA TYPES</a:t>
            </a:r>
            <a:endParaRPr lang="en-US" sz="4000" dirty="0">
              <a:solidFill>
                <a:schemeClr val="accent2"/>
              </a:solidFill>
              <a:latin typeface="Tahoma" charset="0"/>
              <a:cs typeface="Arial" charset="0"/>
            </a:endParaRPr>
          </a:p>
        </p:txBody>
      </p:sp>
      <p:sp>
        <p:nvSpPr>
          <p:cNvPr id="7" name="Slide Number Placeholder 6"/>
          <p:cNvSpPr>
            <a:spLocks noGrp="1"/>
          </p:cNvSpPr>
          <p:nvPr>
            <p:ph type="sldNum" sz="quarter" idx="12"/>
          </p:nvPr>
        </p:nvSpPr>
        <p:spPr/>
        <p:txBody>
          <a:bodyPr/>
          <a:lstStyle/>
          <a:p>
            <a:fld id="{DA934484-767D-4C48-AF0E-A1438A969E59}" type="slidenum">
              <a:rPr lang="en-US" smtClean="0"/>
              <a:pPr/>
              <a:t>5</a:t>
            </a:fld>
            <a:endParaRPr lang="en-US"/>
          </a:p>
        </p:txBody>
      </p:sp>
      <p:graphicFrame>
        <p:nvGraphicFramePr>
          <p:cNvPr id="2" name="Table 1"/>
          <p:cNvGraphicFramePr>
            <a:graphicFrameLocks noGrp="1"/>
          </p:cNvGraphicFramePr>
          <p:nvPr>
            <p:extLst>
              <p:ext uri="{D42A27DB-BD31-4B8C-83A1-F6EECF244321}">
                <p14:modId xmlns:p14="http://schemas.microsoft.com/office/powerpoint/2010/main" xmlns="" val="1075419461"/>
              </p:ext>
            </p:extLst>
          </p:nvPr>
        </p:nvGraphicFramePr>
        <p:xfrm>
          <a:off x="251520" y="908720"/>
          <a:ext cx="8712968" cy="2225040"/>
        </p:xfrm>
        <a:graphic>
          <a:graphicData uri="http://schemas.openxmlformats.org/drawingml/2006/table">
            <a:tbl>
              <a:tblPr firstRow="1" bandRow="1">
                <a:tableStyleId>{5C22544A-7EE6-4342-B048-85BDC9FD1C3A}</a:tableStyleId>
              </a:tblPr>
              <a:tblGrid>
                <a:gridCol w="2592288"/>
                <a:gridCol w="432048"/>
                <a:gridCol w="1332148"/>
                <a:gridCol w="684076"/>
                <a:gridCol w="1494166"/>
                <a:gridCol w="2178242"/>
              </a:tblGrid>
              <a:tr h="370840">
                <a:tc>
                  <a:txBody>
                    <a:bodyPr/>
                    <a:lstStyle/>
                    <a:p>
                      <a:r>
                        <a:rPr lang="en-US" dirty="0" smtClean="0"/>
                        <a:t>Data</a:t>
                      </a:r>
                      <a:endParaRPr lang="en-US" dirty="0"/>
                    </a:p>
                  </a:txBody>
                  <a:tcPr/>
                </a:tc>
                <a:tc gridSpan="2">
                  <a:txBody>
                    <a:bodyPr/>
                    <a:lstStyle/>
                    <a:p>
                      <a:r>
                        <a:rPr lang="en-US" dirty="0" smtClean="0"/>
                        <a:t>Name</a:t>
                      </a:r>
                      <a:endParaRPr lang="en-US" dirty="0"/>
                    </a:p>
                  </a:txBody>
                  <a:tcPr/>
                </a:tc>
                <a:tc hMerge="1">
                  <a:txBody>
                    <a:bodyPr/>
                    <a:lstStyle/>
                    <a:p>
                      <a:endParaRPr lang="en-US"/>
                    </a:p>
                  </a:txBody>
                  <a:tcPr/>
                </a:tc>
                <a:tc gridSpan="2">
                  <a:txBody>
                    <a:bodyPr/>
                    <a:lstStyle/>
                    <a:p>
                      <a:r>
                        <a:rPr lang="en-US" dirty="0" smtClean="0"/>
                        <a:t>Type</a:t>
                      </a:r>
                      <a:endParaRPr lang="en-US" dirty="0"/>
                    </a:p>
                  </a:txBody>
                  <a:tcPr/>
                </a:tc>
                <a:tc hMerge="1">
                  <a:txBody>
                    <a:bodyPr/>
                    <a:lstStyle/>
                    <a:p>
                      <a:endParaRPr lang="en-US"/>
                    </a:p>
                  </a:txBody>
                  <a:tcPr/>
                </a:tc>
                <a:tc>
                  <a:txBody>
                    <a:bodyPr/>
                    <a:lstStyle/>
                    <a:p>
                      <a:r>
                        <a:rPr lang="en-US" dirty="0" smtClean="0"/>
                        <a:t>Read Function</a:t>
                      </a:r>
                      <a:endParaRPr lang="en-US" dirty="0"/>
                    </a:p>
                  </a:txBody>
                  <a:tcPr/>
                </a:tc>
              </a:tr>
              <a:tr h="370840">
                <a:tc gridSpan="6">
                  <a:txBody>
                    <a:bodyPr/>
                    <a:lstStyle/>
                    <a:p>
                      <a:pPr algn="ctr"/>
                      <a:r>
                        <a:rPr lang="en-US" dirty="0" smtClean="0"/>
                        <a:t>INPUT</a:t>
                      </a:r>
                      <a:endParaRPr lang="en-US" dirty="0"/>
                    </a:p>
                  </a:txBody>
                  <a:tcPr>
                    <a:solidFill>
                      <a:schemeClr val="accent1">
                        <a:lumMod val="60000"/>
                        <a:lumOff val="40000"/>
                      </a:schemeClr>
                    </a:solidFill>
                  </a:tcPr>
                </a:tc>
                <a:tc hMerge="1">
                  <a:txBody>
                    <a:bodyPr/>
                    <a:lstStyle/>
                    <a:p>
                      <a:endParaRPr lang="en-US" dirty="0">
                        <a:solidFill>
                          <a:srgbClr val="0000FF"/>
                        </a:solidFill>
                      </a:endParaRPr>
                    </a:p>
                  </a:txBody>
                  <a:tcPr/>
                </a:tc>
                <a:tc hMerge="1">
                  <a:txBody>
                    <a:bodyPr/>
                    <a:lstStyle/>
                    <a:p>
                      <a:endParaRPr lang="en-US"/>
                    </a:p>
                  </a:txBody>
                  <a:tcPr/>
                </a:tc>
                <a:tc hMerge="1">
                  <a:txBody>
                    <a:bodyPr/>
                    <a:lstStyle/>
                    <a:p>
                      <a:endParaRPr lang="en-US" dirty="0">
                        <a:solidFill>
                          <a:srgbClr val="00B0F0"/>
                        </a:solidFill>
                      </a:endParaRPr>
                    </a:p>
                  </a:txBody>
                  <a:tcPr/>
                </a:tc>
                <a:tc hMerge="1">
                  <a:txBody>
                    <a:bodyPr/>
                    <a:lstStyle/>
                    <a:p>
                      <a:endParaRPr lang="en-US"/>
                    </a:p>
                  </a:txBody>
                  <a:tcPr/>
                </a:tc>
                <a:tc hMerge="1">
                  <a:txBody>
                    <a:bodyPr/>
                    <a:lstStyle/>
                    <a:p>
                      <a:endParaRPr lang="en-US" dirty="0"/>
                    </a:p>
                  </a:txBody>
                  <a:tcPr/>
                </a:tc>
              </a:tr>
              <a:tr h="370840">
                <a:tc>
                  <a:txBody>
                    <a:bodyPr/>
                    <a:lstStyle/>
                    <a:p>
                      <a:r>
                        <a:rPr lang="en-US" dirty="0" smtClean="0"/>
                        <a:t>Passenger’s class</a:t>
                      </a:r>
                      <a:endParaRPr lang="en-US" dirty="0"/>
                    </a:p>
                  </a:txBody>
                  <a:tcPr/>
                </a:tc>
                <a:tc gridSpan="2">
                  <a:txBody>
                    <a:bodyPr/>
                    <a:lstStyle/>
                    <a:p>
                      <a:r>
                        <a:rPr lang="en-US" dirty="0" err="1" smtClean="0">
                          <a:solidFill>
                            <a:srgbClr val="0000FF"/>
                          </a:solidFill>
                        </a:rPr>
                        <a:t>passClass</a:t>
                      </a:r>
                      <a:endParaRPr lang="en-US" dirty="0">
                        <a:solidFill>
                          <a:srgbClr val="0000FF"/>
                        </a:solidFill>
                      </a:endParaRPr>
                    </a:p>
                  </a:txBody>
                  <a:tcPr/>
                </a:tc>
                <a:tc hMerge="1">
                  <a:txBody>
                    <a:bodyPr/>
                    <a:lstStyle/>
                    <a:p>
                      <a:endParaRPr lang="en-US"/>
                    </a:p>
                  </a:txBody>
                  <a:tcPr/>
                </a:tc>
                <a:tc gridSpan="2">
                  <a:txBody>
                    <a:bodyPr/>
                    <a:lstStyle/>
                    <a:p>
                      <a:r>
                        <a:rPr lang="en-US" dirty="0" smtClean="0">
                          <a:solidFill>
                            <a:srgbClr val="00B0F0"/>
                          </a:solidFill>
                        </a:rPr>
                        <a:t>char</a:t>
                      </a:r>
                      <a:endParaRPr lang="en-US" dirty="0">
                        <a:solidFill>
                          <a:srgbClr val="00B0F0"/>
                        </a:solidFill>
                      </a:endParaRPr>
                    </a:p>
                  </a:txBody>
                  <a:tcPr/>
                </a:tc>
                <a:tc hMerge="1">
                  <a:txBody>
                    <a:bodyPr/>
                    <a:lstStyle/>
                    <a:p>
                      <a:endParaRPr lang="en-US"/>
                    </a:p>
                  </a:txBody>
                  <a:tcPr/>
                </a:tc>
                <a:tc>
                  <a:txBody>
                    <a:bodyPr/>
                    <a:lstStyle/>
                    <a:p>
                      <a:r>
                        <a:rPr lang="en-US" dirty="0" smtClean="0">
                          <a:solidFill>
                            <a:srgbClr val="00B050"/>
                          </a:solidFill>
                        </a:rPr>
                        <a:t>next().</a:t>
                      </a:r>
                      <a:r>
                        <a:rPr lang="en-US" dirty="0" err="1" smtClean="0">
                          <a:solidFill>
                            <a:srgbClr val="00B050"/>
                          </a:solidFill>
                        </a:rPr>
                        <a:t>charAt</a:t>
                      </a:r>
                      <a:r>
                        <a:rPr lang="en-US" dirty="0" smtClean="0">
                          <a:solidFill>
                            <a:srgbClr val="00B050"/>
                          </a:solidFill>
                        </a:rPr>
                        <a:t>(0)</a:t>
                      </a:r>
                      <a:endParaRPr lang="en-US" dirty="0">
                        <a:solidFill>
                          <a:srgbClr val="00B050"/>
                        </a:solidFill>
                      </a:endParaRPr>
                    </a:p>
                  </a:txBody>
                  <a:tcPr/>
                </a:tc>
              </a:tr>
              <a:tr h="370840">
                <a:tc>
                  <a:txBody>
                    <a:bodyPr/>
                    <a:lstStyle/>
                    <a:p>
                      <a:r>
                        <a:rPr lang="en-US" dirty="0" smtClean="0"/>
                        <a:t>Baggage weight</a:t>
                      </a:r>
                      <a:endParaRPr lang="en-US" dirty="0"/>
                    </a:p>
                  </a:txBody>
                  <a:tcPr/>
                </a:tc>
                <a:tc gridSpan="2">
                  <a:txBody>
                    <a:bodyPr/>
                    <a:lstStyle/>
                    <a:p>
                      <a:r>
                        <a:rPr lang="en-US" dirty="0" err="1" smtClean="0">
                          <a:solidFill>
                            <a:srgbClr val="0000FF"/>
                          </a:solidFill>
                        </a:rPr>
                        <a:t>bagWeight</a:t>
                      </a:r>
                      <a:endParaRPr lang="en-US" dirty="0">
                        <a:solidFill>
                          <a:srgbClr val="0000FF"/>
                        </a:solidFill>
                      </a:endParaRPr>
                    </a:p>
                  </a:txBody>
                  <a:tcPr/>
                </a:tc>
                <a:tc hMerge="1">
                  <a:txBody>
                    <a:bodyPr/>
                    <a:lstStyle/>
                    <a:p>
                      <a:endParaRPr lang="en-US"/>
                    </a:p>
                  </a:txBody>
                  <a:tcPr/>
                </a:tc>
                <a:tc gridSpan="2">
                  <a:txBody>
                    <a:bodyPr/>
                    <a:lstStyle/>
                    <a:p>
                      <a:r>
                        <a:rPr lang="en-US" dirty="0" smtClean="0">
                          <a:solidFill>
                            <a:srgbClr val="00B0F0"/>
                          </a:solidFill>
                        </a:rPr>
                        <a:t>double </a:t>
                      </a:r>
                      <a:endParaRPr lang="en-US" dirty="0">
                        <a:solidFill>
                          <a:srgbClr val="00B0F0"/>
                        </a:solidFill>
                      </a:endParaRPr>
                    </a:p>
                  </a:txBody>
                  <a:tcPr/>
                </a:tc>
                <a:tc hMerge="1">
                  <a:txBody>
                    <a:bodyPr/>
                    <a:lstStyle/>
                    <a:p>
                      <a:endParaRPr lang="en-US"/>
                    </a:p>
                  </a:txBody>
                  <a:tcPr/>
                </a:tc>
                <a:tc>
                  <a:txBody>
                    <a:bodyPr/>
                    <a:lstStyle/>
                    <a:p>
                      <a:r>
                        <a:rPr lang="en-US" dirty="0" err="1" smtClean="0">
                          <a:solidFill>
                            <a:srgbClr val="00B050"/>
                          </a:solidFill>
                        </a:rPr>
                        <a:t>nextDouble</a:t>
                      </a:r>
                      <a:r>
                        <a:rPr lang="en-US" dirty="0" smtClean="0">
                          <a:solidFill>
                            <a:srgbClr val="00B050"/>
                          </a:solidFill>
                        </a:rPr>
                        <a:t>()</a:t>
                      </a:r>
                      <a:endParaRPr lang="en-US" dirty="0">
                        <a:solidFill>
                          <a:srgbClr val="00B050"/>
                        </a:solidFill>
                      </a:endParaRPr>
                    </a:p>
                  </a:txBody>
                  <a:tcPr/>
                </a:tc>
              </a:tr>
              <a:tr h="370840">
                <a:tc gridSpan="6">
                  <a:txBody>
                    <a:bodyPr/>
                    <a:lstStyle/>
                    <a:p>
                      <a:pPr algn="ctr"/>
                      <a:r>
                        <a:rPr lang="en-US" dirty="0" smtClean="0"/>
                        <a:t>OUTPUT</a:t>
                      </a:r>
                      <a:endParaRPr lang="en-US" dirty="0"/>
                    </a:p>
                  </a:txBody>
                  <a:tcPr anchor="ctr">
                    <a:solidFill>
                      <a:schemeClr val="accent2">
                        <a:lumMod val="60000"/>
                        <a:lumOff val="40000"/>
                      </a:schemeClr>
                    </a:solidFill>
                  </a:tcPr>
                </a:tc>
                <a:tc hMerge="1">
                  <a:txBody>
                    <a:bodyPr/>
                    <a:lstStyle/>
                    <a:p>
                      <a:endParaRPr lang="en-US" dirty="0">
                        <a:solidFill>
                          <a:srgbClr val="0000FF"/>
                        </a:solidFill>
                      </a:endParaRPr>
                    </a:p>
                  </a:txBody>
                  <a:tcPr/>
                </a:tc>
                <a:tc hMerge="1">
                  <a:txBody>
                    <a:bodyPr/>
                    <a:lstStyle/>
                    <a:p>
                      <a:endParaRPr lang="en-US"/>
                    </a:p>
                  </a:txBody>
                  <a:tcPr/>
                </a:tc>
                <a:tc hMerge="1">
                  <a:txBody>
                    <a:bodyPr/>
                    <a:lstStyle/>
                    <a:p>
                      <a:endParaRPr lang="en-US" dirty="0">
                        <a:solidFill>
                          <a:srgbClr val="00B0F0"/>
                        </a:solidFill>
                      </a:endParaRPr>
                    </a:p>
                  </a:txBody>
                  <a:tcPr/>
                </a:tc>
                <a:tc hMerge="1">
                  <a:txBody>
                    <a:bodyPr/>
                    <a:lstStyle/>
                    <a:p>
                      <a:endParaRPr lang="en-US"/>
                    </a:p>
                  </a:txBody>
                  <a:tcPr/>
                </a:tc>
                <a:tc hMerge="1">
                  <a:txBody>
                    <a:bodyPr/>
                    <a:lstStyle/>
                    <a:p>
                      <a:endParaRPr lang="en-US" dirty="0"/>
                    </a:p>
                  </a:txBody>
                  <a:tcPr/>
                </a:tc>
              </a:tr>
              <a:tr h="370840">
                <a:tc gridSpan="2">
                  <a:txBody>
                    <a:bodyPr/>
                    <a:lstStyle/>
                    <a:p>
                      <a:r>
                        <a:rPr lang="en-US" dirty="0" smtClean="0"/>
                        <a:t>Charge on excess weight</a:t>
                      </a:r>
                      <a:endParaRPr lang="en-US" dirty="0"/>
                    </a:p>
                  </a:txBody>
                  <a:tcPr>
                    <a:solidFill>
                      <a:schemeClr val="accent2">
                        <a:lumMod val="20000"/>
                        <a:lumOff val="80000"/>
                      </a:schemeClr>
                    </a:solidFill>
                  </a:tcPr>
                </a:tc>
                <a:tc hMerge="1">
                  <a:txBody>
                    <a:bodyPr/>
                    <a:lstStyle/>
                    <a:p>
                      <a:endParaRPr lang="en-US" dirty="0">
                        <a:solidFill>
                          <a:srgbClr val="0000FF"/>
                        </a:solidFill>
                      </a:endParaRPr>
                    </a:p>
                  </a:txBody>
                  <a:tcPr>
                    <a:solidFill>
                      <a:schemeClr val="accent2">
                        <a:lumMod val="20000"/>
                        <a:lumOff val="80000"/>
                      </a:schemeClr>
                    </a:solidFill>
                  </a:tcPr>
                </a:tc>
                <a:tc gridSpan="2">
                  <a:txBody>
                    <a:bodyPr/>
                    <a:lstStyle/>
                    <a:p>
                      <a:r>
                        <a:rPr lang="en-US" dirty="0" smtClean="0">
                          <a:solidFill>
                            <a:srgbClr val="0000FF"/>
                          </a:solidFill>
                        </a:rPr>
                        <a:t>charge</a:t>
                      </a:r>
                      <a:endParaRPr lang="en-US" dirty="0">
                        <a:solidFill>
                          <a:srgbClr val="0000FF"/>
                        </a:solidFill>
                      </a:endParaRPr>
                    </a:p>
                  </a:txBody>
                  <a:tcPr>
                    <a:solidFill>
                      <a:schemeClr val="accent2">
                        <a:lumMod val="20000"/>
                        <a:lumOff val="80000"/>
                      </a:schemeClr>
                    </a:solidFill>
                  </a:tcPr>
                </a:tc>
                <a:tc hMerge="1">
                  <a:txBody>
                    <a:bodyPr/>
                    <a:lstStyle/>
                    <a:p>
                      <a:endParaRPr lang="en-US" dirty="0">
                        <a:solidFill>
                          <a:srgbClr val="00B0F0"/>
                        </a:solidFill>
                      </a:endParaRPr>
                    </a:p>
                  </a:txBody>
                  <a:tcPr>
                    <a:solidFill>
                      <a:schemeClr val="accent2">
                        <a:lumMod val="20000"/>
                        <a:lumOff val="80000"/>
                      </a:schemeClr>
                    </a:solidFill>
                  </a:tcPr>
                </a:tc>
                <a:tc gridSpan="2">
                  <a:txBody>
                    <a:bodyPr/>
                    <a:lstStyle/>
                    <a:p>
                      <a:r>
                        <a:rPr lang="en-US" dirty="0" smtClean="0">
                          <a:solidFill>
                            <a:srgbClr val="00B0F0"/>
                          </a:solidFill>
                        </a:rPr>
                        <a:t>double</a:t>
                      </a:r>
                      <a:endParaRPr lang="en-US" dirty="0">
                        <a:solidFill>
                          <a:srgbClr val="00B0F0"/>
                        </a:solidFill>
                      </a:endParaRPr>
                    </a:p>
                  </a:txBody>
                  <a:tcPr>
                    <a:solidFill>
                      <a:schemeClr val="accent2">
                        <a:lumMod val="20000"/>
                        <a:lumOff val="80000"/>
                      </a:schemeClr>
                    </a:solidFill>
                  </a:tcPr>
                </a:tc>
                <a:tc hMerge="1">
                  <a:txBody>
                    <a:bodyPr/>
                    <a:lstStyle/>
                    <a:p>
                      <a:endParaRPr lang="en-US" dirty="0"/>
                    </a:p>
                  </a:txBody>
                  <a:tcPr>
                    <a:solidFill>
                      <a:schemeClr val="accent2">
                        <a:lumMod val="20000"/>
                        <a:lumOff val="80000"/>
                      </a:schemeClr>
                    </a:solidFill>
                  </a:tcPr>
                </a:tc>
              </a:tr>
            </a:tbl>
          </a:graphicData>
        </a:graphic>
      </p:graphicFrame>
    </p:spTree>
    <p:extLst>
      <p:ext uri="{BB962C8B-B14F-4D97-AF65-F5344CB8AC3E}">
        <p14:creationId xmlns:p14="http://schemas.microsoft.com/office/powerpoint/2010/main" xmlns="" val="7486801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8633484" cy="598488"/>
          </a:xfrm>
        </p:spPr>
        <p:txBody>
          <a:bodyPr>
            <a:noAutofit/>
          </a:bodyPr>
          <a:lstStyle/>
          <a:p>
            <a:pPr eaLnBrk="1" hangingPunct="1"/>
            <a:r>
              <a:rPr lang="en-US" sz="4000" dirty="0">
                <a:solidFill>
                  <a:schemeClr val="accent2"/>
                </a:solidFill>
                <a:latin typeface="Tahoma" charset="0"/>
                <a:cs typeface="Arial" charset="0"/>
              </a:rPr>
              <a:t>4</a:t>
            </a:r>
            <a:r>
              <a:rPr lang="en-US" sz="4000" dirty="0" smtClean="0">
                <a:solidFill>
                  <a:schemeClr val="accent2"/>
                </a:solidFill>
                <a:latin typeface="Tahoma" charset="0"/>
                <a:cs typeface="Arial" charset="0"/>
              </a:rPr>
              <a:t>. ALGORITHM</a:t>
            </a:r>
            <a:endParaRPr lang="en-US" sz="4000" dirty="0">
              <a:solidFill>
                <a:schemeClr val="accent2"/>
              </a:solidFill>
              <a:latin typeface="Tahoma" charset="0"/>
              <a:cs typeface="Arial" charset="0"/>
            </a:endParaRPr>
          </a:p>
        </p:txBody>
      </p:sp>
      <p:sp>
        <p:nvSpPr>
          <p:cNvPr id="7" name="Slide Number Placeholder 6"/>
          <p:cNvSpPr>
            <a:spLocks noGrp="1"/>
          </p:cNvSpPr>
          <p:nvPr>
            <p:ph type="sldNum" sz="quarter" idx="12"/>
          </p:nvPr>
        </p:nvSpPr>
        <p:spPr/>
        <p:txBody>
          <a:bodyPr/>
          <a:lstStyle/>
          <a:p>
            <a:fld id="{DA934484-767D-4C48-AF0E-A1438A969E59}" type="slidenum">
              <a:rPr lang="en-US" smtClean="0"/>
              <a:pPr/>
              <a:t>6</a:t>
            </a:fld>
            <a:endParaRPr lang="en-US"/>
          </a:p>
        </p:txBody>
      </p:sp>
      <p:sp>
        <p:nvSpPr>
          <p:cNvPr id="14" name="Rectangle 13"/>
          <p:cNvSpPr/>
          <p:nvPr/>
        </p:nvSpPr>
        <p:spPr>
          <a:xfrm>
            <a:off x="221124" y="1412776"/>
            <a:ext cx="8640960" cy="5088058"/>
          </a:xfrm>
          <a:prstGeom prst="rect">
            <a:avLst/>
          </a:prstGeom>
          <a:solidFill>
            <a:schemeClr val="accent1">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4363" indent="-342900">
              <a:lnSpc>
                <a:spcPct val="90000"/>
              </a:lnSpc>
              <a:buAutoNum type="arabicPeriod"/>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Start the program.</a:t>
            </a:r>
          </a:p>
          <a:p>
            <a:pPr marL="614363" indent="-342900">
              <a:lnSpc>
                <a:spcPct val="90000"/>
              </a:lnSpc>
              <a:buAutoNum type="arabicPeriod"/>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Read passenger’s class. Store it in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passClass</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a:t>
            </a:r>
          </a:p>
          <a:p>
            <a:pPr marL="614363" indent="-342900">
              <a:lnSpc>
                <a:spcPct val="90000"/>
              </a:lnSpc>
              <a:buAutoNum type="arabicPeriod"/>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Read the weight of passenger’s baggage. Store it in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bagWeight</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a:t>
            </a:r>
          </a:p>
          <a:p>
            <a:pPr marL="614363" indent="-342900">
              <a:lnSpc>
                <a:spcPct val="90000"/>
              </a:lnSpc>
              <a:buAutoNum type="arabicPeriod"/>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Calculate the excess weight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excessWeight</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as follows:</a:t>
            </a:r>
          </a:p>
          <a:p>
            <a:pPr marL="728663" lvl="1">
              <a:lnSpc>
                <a:spcPct val="90000"/>
              </a:lnSpc>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4.1 If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passClass</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 ‘</a:t>
            </a:r>
            <a:r>
              <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rPr>
              <a:t>F</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p>
          <a:p>
            <a:pPr marL="728663" lvl="1">
              <a:lnSpc>
                <a:spcPct val="90000"/>
              </a:lnSpc>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if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bagWeight</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&gt; 30, then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excessWeight</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bagWeight</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rPr>
              <a:t>30</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a:t>
            </a:r>
          </a:p>
          <a:p>
            <a:pPr marL="728663" lvl="1">
              <a:lnSpc>
                <a:spcPct val="90000"/>
              </a:lnSpc>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4.2 If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passClass</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rPr>
              <a:t>B</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a:t>
            </a:r>
          </a:p>
          <a:p>
            <a:pPr marL="728663" lvl="1">
              <a:lnSpc>
                <a:spcPct val="90000"/>
              </a:lnSpc>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if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bagWeight</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&gt; 25, then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excessWeight</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bagWeight</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rPr>
              <a:t>25</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a:t>
            </a:r>
          </a:p>
          <a:p>
            <a:pPr marL="728663" lvl="1">
              <a:lnSpc>
                <a:spcPct val="90000"/>
              </a:lnSpc>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4.3 If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passClass</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rPr>
              <a:t>E’</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a:t>
            </a:r>
          </a:p>
          <a:p>
            <a:pPr marL="728663" lvl="1">
              <a:lnSpc>
                <a:spcPct val="90000"/>
              </a:lnSpc>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if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bagWeight</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&gt; 20, then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excessWeight</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bagWeight</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rPr>
              <a:t>20</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a:t>
            </a:r>
          </a:p>
          <a:p>
            <a:pPr marL="728663" lvl="1">
              <a:lnSpc>
                <a:spcPct val="90000"/>
              </a:lnSpc>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4.4 Any other value:</a:t>
            </a:r>
          </a:p>
          <a:p>
            <a:pPr marL="728663" lvl="1">
              <a:lnSpc>
                <a:spcPct val="90000"/>
              </a:lnSpc>
            </a:pP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4.4.1 Display an error message “</a:t>
            </a:r>
            <a:r>
              <a:rPr lang="en-US" sz="2000" dirty="0" smtClean="0">
                <a:solidFill>
                  <a:schemeClr val="accent2"/>
                </a:solidFill>
                <a:latin typeface="Tahoma" panose="020B0604030504040204" pitchFamily="34" charset="0"/>
                <a:ea typeface="Tahoma" panose="020B0604030504040204" pitchFamily="34" charset="0"/>
                <a:cs typeface="Tahoma" panose="020B0604030504040204" pitchFamily="34" charset="0"/>
              </a:rPr>
              <a:t>Invalid class for passenger</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a:t>
            </a:r>
          </a:p>
          <a:p>
            <a:pPr marL="728663" lvl="1">
              <a:lnSpc>
                <a:spcPct val="90000"/>
              </a:lnSpc>
            </a:pP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4.4.2 Go to step 7.</a:t>
            </a:r>
          </a:p>
          <a:p>
            <a:pPr marL="614363" indent="-342900">
              <a:lnSpc>
                <a:spcPct val="90000"/>
              </a:lnSpc>
              <a:buAutoNum type="arabicPeriod"/>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Calculate charge on excess weight as follows:</a:t>
            </a:r>
          </a:p>
          <a:p>
            <a:pPr marL="728663" lvl="1">
              <a:lnSpc>
                <a:spcPct val="90000"/>
              </a:lnSpc>
            </a:pP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charge</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excessWeight</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rPr>
              <a:t>10</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a:t>
            </a:r>
          </a:p>
          <a:p>
            <a:pPr marL="614363" indent="-342900">
              <a:lnSpc>
                <a:spcPct val="90000"/>
              </a:lnSpc>
              <a:buAutoNum type="arabicPeriod"/>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Display </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charge</a:t>
            </a:r>
          </a:p>
          <a:p>
            <a:pPr marL="614363" indent="-342900">
              <a:lnSpc>
                <a:spcPct val="90000"/>
              </a:lnSpc>
              <a:buAutoNum type="arabicPeriod"/>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End the program</a:t>
            </a:r>
            <a:endParaRPr lang="en-US" sz="20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5" name="Rectangle 14"/>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cxnSp>
        <p:nvCxnSpPr>
          <p:cNvPr id="16" name="Straight Connector 15"/>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5" name="Group 4"/>
          <p:cNvGrpSpPr/>
          <p:nvPr/>
        </p:nvGrpSpPr>
        <p:grpSpPr>
          <a:xfrm>
            <a:off x="323528" y="2714620"/>
            <a:ext cx="8424936" cy="2500330"/>
            <a:chOff x="323528" y="2809361"/>
            <a:chExt cx="8424936" cy="1765227"/>
          </a:xfrm>
        </p:grpSpPr>
        <p:sp>
          <p:nvSpPr>
            <p:cNvPr id="2" name="Rounded Rectangle 1"/>
            <p:cNvSpPr/>
            <p:nvPr/>
          </p:nvSpPr>
          <p:spPr>
            <a:xfrm>
              <a:off x="323528" y="2859796"/>
              <a:ext cx="8424936" cy="1714791"/>
            </a:xfrm>
            <a:prstGeom prst="round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rot="16200000">
              <a:off x="-174364" y="3338032"/>
              <a:ext cx="1765227" cy="707886"/>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40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switch</a:t>
              </a:r>
              <a:endParaRPr lang="en-US" sz="4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grpSp>
    </p:spTree>
    <p:extLst>
      <p:ext uri="{BB962C8B-B14F-4D97-AF65-F5344CB8AC3E}">
        <p14:creationId xmlns:p14="http://schemas.microsoft.com/office/powerpoint/2010/main" xmlns="" val="349341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4">
                                            <p:bg/>
                                          </p:spTgt>
                                        </p:tgtEl>
                                        <p:attrNameLst>
                                          <p:attrName>style.visibility</p:attrName>
                                        </p:attrNameLst>
                                      </p:cBhvr>
                                      <p:to>
                                        <p:strVal val="visible"/>
                                      </p:to>
                                    </p:set>
                                    <p:animEffect transition="in" filter="fade">
                                      <p:cBhvr>
                                        <p:cTn id="10" dur="1000"/>
                                        <p:tgtEl>
                                          <p:spTgt spid="14">
                                            <p:bg/>
                                          </p:spTgt>
                                        </p:tgtEl>
                                      </p:cBhvr>
                                    </p:animEffect>
                                    <p:anim calcmode="lin" valueType="num">
                                      <p:cBhvr>
                                        <p:cTn id="11" dur="1000" fill="hold"/>
                                        <p:tgtEl>
                                          <p:spTgt spid="14">
                                            <p:bg/>
                                          </p:spTgt>
                                        </p:tgtEl>
                                        <p:attrNameLst>
                                          <p:attrName>ppt_x</p:attrName>
                                        </p:attrNameLst>
                                      </p:cBhvr>
                                      <p:tavLst>
                                        <p:tav tm="0">
                                          <p:val>
                                            <p:strVal val="#ppt_x"/>
                                          </p:val>
                                        </p:tav>
                                        <p:tav tm="100000">
                                          <p:val>
                                            <p:strVal val="#ppt_x"/>
                                          </p:val>
                                        </p:tav>
                                      </p:tavLst>
                                    </p:anim>
                                    <p:anim calcmode="lin" valueType="num">
                                      <p:cBhvr>
                                        <p:cTn id="12" dur="1000" fill="hold"/>
                                        <p:tgtEl>
                                          <p:spTgt spid="14">
                                            <p:bg/>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animEffect transition="in" filter="fade">
                                      <p:cBhvr>
                                        <p:cTn id="15" dur="1000"/>
                                        <p:tgtEl>
                                          <p:spTgt spid="14">
                                            <p:txEl>
                                              <p:pRg st="0" end="0"/>
                                            </p:txEl>
                                          </p:spTgt>
                                        </p:tgtEl>
                                      </p:cBhvr>
                                    </p:animEffect>
                                    <p:anim calcmode="lin" valueType="num">
                                      <p:cBhvr>
                                        <p:cTn id="16"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14">
                                            <p:txEl>
                                              <p:pRg st="1" end="1"/>
                                            </p:txEl>
                                          </p:spTgt>
                                        </p:tgtEl>
                                        <p:attrNameLst>
                                          <p:attrName>style.visibility</p:attrName>
                                        </p:attrNameLst>
                                      </p:cBhvr>
                                      <p:to>
                                        <p:strVal val="visible"/>
                                      </p:to>
                                    </p:set>
                                    <p:animEffect transition="in" filter="fade">
                                      <p:cBhvr>
                                        <p:cTn id="22" dur="1000"/>
                                        <p:tgtEl>
                                          <p:spTgt spid="14">
                                            <p:txEl>
                                              <p:pRg st="1" end="1"/>
                                            </p:txEl>
                                          </p:spTgt>
                                        </p:tgtEl>
                                      </p:cBhvr>
                                    </p:animEffect>
                                    <p:anim calcmode="lin" valueType="num">
                                      <p:cBhvr>
                                        <p:cTn id="23"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4">
                                            <p:txEl>
                                              <p:pRg st="2" end="2"/>
                                            </p:txEl>
                                          </p:spTgt>
                                        </p:tgtEl>
                                        <p:attrNameLst>
                                          <p:attrName>style.visibility</p:attrName>
                                        </p:attrNameLst>
                                      </p:cBhvr>
                                      <p:to>
                                        <p:strVal val="visible"/>
                                      </p:to>
                                    </p:set>
                                    <p:animEffect transition="in" filter="fade">
                                      <p:cBhvr>
                                        <p:cTn id="29" dur="1000"/>
                                        <p:tgtEl>
                                          <p:spTgt spid="14">
                                            <p:txEl>
                                              <p:pRg st="2" end="2"/>
                                            </p:txEl>
                                          </p:spTgt>
                                        </p:tgtEl>
                                      </p:cBhvr>
                                    </p:animEffect>
                                    <p:anim calcmode="lin" valueType="num">
                                      <p:cBhvr>
                                        <p:cTn id="30"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4">
                                            <p:txEl>
                                              <p:pRg st="3" end="3"/>
                                            </p:txEl>
                                          </p:spTgt>
                                        </p:tgtEl>
                                        <p:attrNameLst>
                                          <p:attrName>style.visibility</p:attrName>
                                        </p:attrNameLst>
                                      </p:cBhvr>
                                      <p:to>
                                        <p:strVal val="visible"/>
                                      </p:to>
                                    </p:set>
                                    <p:animEffect transition="in" filter="fade">
                                      <p:cBhvr>
                                        <p:cTn id="36" dur="1000"/>
                                        <p:tgtEl>
                                          <p:spTgt spid="14">
                                            <p:txEl>
                                              <p:pRg st="3" end="3"/>
                                            </p:txEl>
                                          </p:spTgt>
                                        </p:tgtEl>
                                      </p:cBhvr>
                                    </p:animEffect>
                                    <p:anim calcmode="lin" valueType="num">
                                      <p:cBhvr>
                                        <p:cTn id="37"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4">
                                            <p:txEl>
                                              <p:pRg st="4" end="4"/>
                                            </p:txEl>
                                          </p:spTgt>
                                        </p:tgtEl>
                                        <p:attrNameLst>
                                          <p:attrName>style.visibility</p:attrName>
                                        </p:attrNameLst>
                                      </p:cBhvr>
                                      <p:to>
                                        <p:strVal val="visible"/>
                                      </p:to>
                                    </p:set>
                                    <p:animEffect transition="in" filter="fade">
                                      <p:cBhvr>
                                        <p:cTn id="43" dur="1000"/>
                                        <p:tgtEl>
                                          <p:spTgt spid="14">
                                            <p:txEl>
                                              <p:pRg st="4" end="4"/>
                                            </p:txEl>
                                          </p:spTgt>
                                        </p:tgtEl>
                                      </p:cBhvr>
                                    </p:animEffect>
                                    <p:anim calcmode="lin" valueType="num">
                                      <p:cBhvr>
                                        <p:cTn id="44"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45"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14">
                                            <p:txEl>
                                              <p:pRg st="5" end="5"/>
                                            </p:txEl>
                                          </p:spTgt>
                                        </p:tgtEl>
                                        <p:attrNameLst>
                                          <p:attrName>style.visibility</p:attrName>
                                        </p:attrNameLst>
                                      </p:cBhvr>
                                      <p:to>
                                        <p:strVal val="visible"/>
                                      </p:to>
                                    </p:set>
                                    <p:animEffect transition="in" filter="fade">
                                      <p:cBhvr>
                                        <p:cTn id="50" dur="1000"/>
                                        <p:tgtEl>
                                          <p:spTgt spid="14">
                                            <p:txEl>
                                              <p:pRg st="5" end="5"/>
                                            </p:txEl>
                                          </p:spTgt>
                                        </p:tgtEl>
                                      </p:cBhvr>
                                    </p:animEffect>
                                    <p:anim calcmode="lin" valueType="num">
                                      <p:cBhvr>
                                        <p:cTn id="51"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52"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14">
                                            <p:txEl>
                                              <p:pRg st="6" end="6"/>
                                            </p:txEl>
                                          </p:spTgt>
                                        </p:tgtEl>
                                        <p:attrNameLst>
                                          <p:attrName>style.visibility</p:attrName>
                                        </p:attrNameLst>
                                      </p:cBhvr>
                                      <p:to>
                                        <p:strVal val="visible"/>
                                      </p:to>
                                    </p:set>
                                    <p:animEffect transition="in" filter="fade">
                                      <p:cBhvr>
                                        <p:cTn id="57" dur="1000"/>
                                        <p:tgtEl>
                                          <p:spTgt spid="14">
                                            <p:txEl>
                                              <p:pRg st="6" end="6"/>
                                            </p:txEl>
                                          </p:spTgt>
                                        </p:tgtEl>
                                      </p:cBhvr>
                                    </p:animEffect>
                                    <p:anim calcmode="lin" valueType="num">
                                      <p:cBhvr>
                                        <p:cTn id="58"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59"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14">
                                            <p:txEl>
                                              <p:pRg st="7" end="7"/>
                                            </p:txEl>
                                          </p:spTgt>
                                        </p:tgtEl>
                                        <p:attrNameLst>
                                          <p:attrName>style.visibility</p:attrName>
                                        </p:attrNameLst>
                                      </p:cBhvr>
                                      <p:to>
                                        <p:strVal val="visible"/>
                                      </p:to>
                                    </p:set>
                                    <p:animEffect transition="in" filter="fade">
                                      <p:cBhvr>
                                        <p:cTn id="64" dur="1000"/>
                                        <p:tgtEl>
                                          <p:spTgt spid="14">
                                            <p:txEl>
                                              <p:pRg st="7" end="7"/>
                                            </p:txEl>
                                          </p:spTgt>
                                        </p:tgtEl>
                                      </p:cBhvr>
                                    </p:animEffect>
                                    <p:anim calcmode="lin" valueType="num">
                                      <p:cBhvr>
                                        <p:cTn id="65" dur="1000" fill="hold"/>
                                        <p:tgtEl>
                                          <p:spTgt spid="14">
                                            <p:txEl>
                                              <p:pRg st="7" end="7"/>
                                            </p:txEl>
                                          </p:spTgt>
                                        </p:tgtEl>
                                        <p:attrNameLst>
                                          <p:attrName>ppt_x</p:attrName>
                                        </p:attrNameLst>
                                      </p:cBhvr>
                                      <p:tavLst>
                                        <p:tav tm="0">
                                          <p:val>
                                            <p:strVal val="#ppt_x"/>
                                          </p:val>
                                        </p:tav>
                                        <p:tav tm="100000">
                                          <p:val>
                                            <p:strVal val="#ppt_x"/>
                                          </p:val>
                                        </p:tav>
                                      </p:tavLst>
                                    </p:anim>
                                    <p:anim calcmode="lin" valueType="num">
                                      <p:cBhvr>
                                        <p:cTn id="66" dur="1000" fill="hold"/>
                                        <p:tgtEl>
                                          <p:spTgt spid="1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14">
                                            <p:txEl>
                                              <p:pRg st="8" end="8"/>
                                            </p:txEl>
                                          </p:spTgt>
                                        </p:tgtEl>
                                        <p:attrNameLst>
                                          <p:attrName>style.visibility</p:attrName>
                                        </p:attrNameLst>
                                      </p:cBhvr>
                                      <p:to>
                                        <p:strVal val="visible"/>
                                      </p:to>
                                    </p:set>
                                    <p:animEffect transition="in" filter="fade">
                                      <p:cBhvr>
                                        <p:cTn id="71" dur="1000"/>
                                        <p:tgtEl>
                                          <p:spTgt spid="14">
                                            <p:txEl>
                                              <p:pRg st="8" end="8"/>
                                            </p:txEl>
                                          </p:spTgt>
                                        </p:tgtEl>
                                      </p:cBhvr>
                                    </p:animEffect>
                                    <p:anim calcmode="lin" valueType="num">
                                      <p:cBhvr>
                                        <p:cTn id="72" dur="1000" fill="hold"/>
                                        <p:tgtEl>
                                          <p:spTgt spid="14">
                                            <p:txEl>
                                              <p:pRg st="8" end="8"/>
                                            </p:txEl>
                                          </p:spTgt>
                                        </p:tgtEl>
                                        <p:attrNameLst>
                                          <p:attrName>ppt_x</p:attrName>
                                        </p:attrNameLst>
                                      </p:cBhvr>
                                      <p:tavLst>
                                        <p:tav tm="0">
                                          <p:val>
                                            <p:strVal val="#ppt_x"/>
                                          </p:val>
                                        </p:tav>
                                        <p:tav tm="100000">
                                          <p:val>
                                            <p:strVal val="#ppt_x"/>
                                          </p:val>
                                        </p:tav>
                                      </p:tavLst>
                                    </p:anim>
                                    <p:anim calcmode="lin" valueType="num">
                                      <p:cBhvr>
                                        <p:cTn id="73" dur="1000" fill="hold"/>
                                        <p:tgtEl>
                                          <p:spTgt spid="1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14">
                                            <p:txEl>
                                              <p:pRg st="9" end="9"/>
                                            </p:txEl>
                                          </p:spTgt>
                                        </p:tgtEl>
                                        <p:attrNameLst>
                                          <p:attrName>style.visibility</p:attrName>
                                        </p:attrNameLst>
                                      </p:cBhvr>
                                      <p:to>
                                        <p:strVal val="visible"/>
                                      </p:to>
                                    </p:set>
                                    <p:animEffect transition="in" filter="fade">
                                      <p:cBhvr>
                                        <p:cTn id="78" dur="1000"/>
                                        <p:tgtEl>
                                          <p:spTgt spid="14">
                                            <p:txEl>
                                              <p:pRg st="9" end="9"/>
                                            </p:txEl>
                                          </p:spTgt>
                                        </p:tgtEl>
                                      </p:cBhvr>
                                    </p:animEffect>
                                    <p:anim calcmode="lin" valueType="num">
                                      <p:cBhvr>
                                        <p:cTn id="79" dur="1000" fill="hold"/>
                                        <p:tgtEl>
                                          <p:spTgt spid="14">
                                            <p:txEl>
                                              <p:pRg st="9" end="9"/>
                                            </p:txEl>
                                          </p:spTgt>
                                        </p:tgtEl>
                                        <p:attrNameLst>
                                          <p:attrName>ppt_x</p:attrName>
                                        </p:attrNameLst>
                                      </p:cBhvr>
                                      <p:tavLst>
                                        <p:tav tm="0">
                                          <p:val>
                                            <p:strVal val="#ppt_x"/>
                                          </p:val>
                                        </p:tav>
                                        <p:tav tm="100000">
                                          <p:val>
                                            <p:strVal val="#ppt_x"/>
                                          </p:val>
                                        </p:tav>
                                      </p:tavLst>
                                    </p:anim>
                                    <p:anim calcmode="lin" valueType="num">
                                      <p:cBhvr>
                                        <p:cTn id="80" dur="1000" fill="hold"/>
                                        <p:tgtEl>
                                          <p:spTgt spid="1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14">
                                            <p:txEl>
                                              <p:pRg st="10" end="10"/>
                                            </p:txEl>
                                          </p:spTgt>
                                        </p:tgtEl>
                                        <p:attrNameLst>
                                          <p:attrName>style.visibility</p:attrName>
                                        </p:attrNameLst>
                                      </p:cBhvr>
                                      <p:to>
                                        <p:strVal val="visible"/>
                                      </p:to>
                                    </p:set>
                                    <p:animEffect transition="in" filter="fade">
                                      <p:cBhvr>
                                        <p:cTn id="85" dur="1000"/>
                                        <p:tgtEl>
                                          <p:spTgt spid="14">
                                            <p:txEl>
                                              <p:pRg st="10" end="10"/>
                                            </p:txEl>
                                          </p:spTgt>
                                        </p:tgtEl>
                                      </p:cBhvr>
                                    </p:animEffect>
                                    <p:anim calcmode="lin" valueType="num">
                                      <p:cBhvr>
                                        <p:cTn id="86" dur="1000" fill="hold"/>
                                        <p:tgtEl>
                                          <p:spTgt spid="14">
                                            <p:txEl>
                                              <p:pRg st="10" end="10"/>
                                            </p:txEl>
                                          </p:spTgt>
                                        </p:tgtEl>
                                        <p:attrNameLst>
                                          <p:attrName>ppt_x</p:attrName>
                                        </p:attrNameLst>
                                      </p:cBhvr>
                                      <p:tavLst>
                                        <p:tav tm="0">
                                          <p:val>
                                            <p:strVal val="#ppt_x"/>
                                          </p:val>
                                        </p:tav>
                                        <p:tav tm="100000">
                                          <p:val>
                                            <p:strVal val="#ppt_x"/>
                                          </p:val>
                                        </p:tav>
                                      </p:tavLst>
                                    </p:anim>
                                    <p:anim calcmode="lin" valueType="num">
                                      <p:cBhvr>
                                        <p:cTn id="87" dur="1000" fill="hold"/>
                                        <p:tgtEl>
                                          <p:spTgt spid="1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42" presetClass="entr" presetSubtype="0" fill="hold" grpId="0" nodeType="clickEffect">
                                  <p:stCondLst>
                                    <p:cond delay="0"/>
                                  </p:stCondLst>
                                  <p:childTnLst>
                                    <p:set>
                                      <p:cBhvr>
                                        <p:cTn id="91" dur="1" fill="hold">
                                          <p:stCondLst>
                                            <p:cond delay="0"/>
                                          </p:stCondLst>
                                        </p:cTn>
                                        <p:tgtEl>
                                          <p:spTgt spid="14">
                                            <p:txEl>
                                              <p:pRg st="11" end="11"/>
                                            </p:txEl>
                                          </p:spTgt>
                                        </p:tgtEl>
                                        <p:attrNameLst>
                                          <p:attrName>style.visibility</p:attrName>
                                        </p:attrNameLst>
                                      </p:cBhvr>
                                      <p:to>
                                        <p:strVal val="visible"/>
                                      </p:to>
                                    </p:set>
                                    <p:animEffect transition="in" filter="fade">
                                      <p:cBhvr>
                                        <p:cTn id="92" dur="1000"/>
                                        <p:tgtEl>
                                          <p:spTgt spid="14">
                                            <p:txEl>
                                              <p:pRg st="11" end="11"/>
                                            </p:txEl>
                                          </p:spTgt>
                                        </p:tgtEl>
                                      </p:cBhvr>
                                    </p:animEffect>
                                    <p:anim calcmode="lin" valueType="num">
                                      <p:cBhvr>
                                        <p:cTn id="93" dur="1000" fill="hold"/>
                                        <p:tgtEl>
                                          <p:spTgt spid="14">
                                            <p:txEl>
                                              <p:pRg st="11" end="11"/>
                                            </p:txEl>
                                          </p:spTgt>
                                        </p:tgtEl>
                                        <p:attrNameLst>
                                          <p:attrName>ppt_x</p:attrName>
                                        </p:attrNameLst>
                                      </p:cBhvr>
                                      <p:tavLst>
                                        <p:tav tm="0">
                                          <p:val>
                                            <p:strVal val="#ppt_x"/>
                                          </p:val>
                                        </p:tav>
                                        <p:tav tm="100000">
                                          <p:val>
                                            <p:strVal val="#ppt_x"/>
                                          </p:val>
                                        </p:tav>
                                      </p:tavLst>
                                    </p:anim>
                                    <p:anim calcmode="lin" valueType="num">
                                      <p:cBhvr>
                                        <p:cTn id="94" dur="1000" fill="hold"/>
                                        <p:tgtEl>
                                          <p:spTgt spid="14">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42" presetClass="entr" presetSubtype="0" fill="hold" grpId="0" nodeType="clickEffect">
                                  <p:stCondLst>
                                    <p:cond delay="0"/>
                                  </p:stCondLst>
                                  <p:childTnLst>
                                    <p:set>
                                      <p:cBhvr>
                                        <p:cTn id="98" dur="1" fill="hold">
                                          <p:stCondLst>
                                            <p:cond delay="0"/>
                                          </p:stCondLst>
                                        </p:cTn>
                                        <p:tgtEl>
                                          <p:spTgt spid="14">
                                            <p:txEl>
                                              <p:pRg st="12" end="12"/>
                                            </p:txEl>
                                          </p:spTgt>
                                        </p:tgtEl>
                                        <p:attrNameLst>
                                          <p:attrName>style.visibility</p:attrName>
                                        </p:attrNameLst>
                                      </p:cBhvr>
                                      <p:to>
                                        <p:strVal val="visible"/>
                                      </p:to>
                                    </p:set>
                                    <p:animEffect transition="in" filter="fade">
                                      <p:cBhvr>
                                        <p:cTn id="99" dur="1000"/>
                                        <p:tgtEl>
                                          <p:spTgt spid="14">
                                            <p:txEl>
                                              <p:pRg st="12" end="12"/>
                                            </p:txEl>
                                          </p:spTgt>
                                        </p:tgtEl>
                                      </p:cBhvr>
                                    </p:animEffect>
                                    <p:anim calcmode="lin" valueType="num">
                                      <p:cBhvr>
                                        <p:cTn id="100" dur="1000" fill="hold"/>
                                        <p:tgtEl>
                                          <p:spTgt spid="14">
                                            <p:txEl>
                                              <p:pRg st="12" end="12"/>
                                            </p:txEl>
                                          </p:spTgt>
                                        </p:tgtEl>
                                        <p:attrNameLst>
                                          <p:attrName>ppt_x</p:attrName>
                                        </p:attrNameLst>
                                      </p:cBhvr>
                                      <p:tavLst>
                                        <p:tav tm="0">
                                          <p:val>
                                            <p:strVal val="#ppt_x"/>
                                          </p:val>
                                        </p:tav>
                                        <p:tav tm="100000">
                                          <p:val>
                                            <p:strVal val="#ppt_x"/>
                                          </p:val>
                                        </p:tav>
                                      </p:tavLst>
                                    </p:anim>
                                    <p:anim calcmode="lin" valueType="num">
                                      <p:cBhvr>
                                        <p:cTn id="101" dur="1000" fill="hold"/>
                                        <p:tgtEl>
                                          <p:spTgt spid="14">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grpId="0" nodeType="clickEffect">
                                  <p:stCondLst>
                                    <p:cond delay="0"/>
                                  </p:stCondLst>
                                  <p:childTnLst>
                                    <p:set>
                                      <p:cBhvr>
                                        <p:cTn id="105" dur="1" fill="hold">
                                          <p:stCondLst>
                                            <p:cond delay="0"/>
                                          </p:stCondLst>
                                        </p:cTn>
                                        <p:tgtEl>
                                          <p:spTgt spid="14">
                                            <p:txEl>
                                              <p:pRg st="13" end="13"/>
                                            </p:txEl>
                                          </p:spTgt>
                                        </p:tgtEl>
                                        <p:attrNameLst>
                                          <p:attrName>style.visibility</p:attrName>
                                        </p:attrNameLst>
                                      </p:cBhvr>
                                      <p:to>
                                        <p:strVal val="visible"/>
                                      </p:to>
                                    </p:set>
                                    <p:animEffect transition="in" filter="fade">
                                      <p:cBhvr>
                                        <p:cTn id="106" dur="1000"/>
                                        <p:tgtEl>
                                          <p:spTgt spid="14">
                                            <p:txEl>
                                              <p:pRg st="13" end="13"/>
                                            </p:txEl>
                                          </p:spTgt>
                                        </p:tgtEl>
                                      </p:cBhvr>
                                    </p:animEffect>
                                    <p:anim calcmode="lin" valueType="num">
                                      <p:cBhvr>
                                        <p:cTn id="107" dur="1000" fill="hold"/>
                                        <p:tgtEl>
                                          <p:spTgt spid="14">
                                            <p:txEl>
                                              <p:pRg st="13" end="13"/>
                                            </p:txEl>
                                          </p:spTgt>
                                        </p:tgtEl>
                                        <p:attrNameLst>
                                          <p:attrName>ppt_x</p:attrName>
                                        </p:attrNameLst>
                                      </p:cBhvr>
                                      <p:tavLst>
                                        <p:tav tm="0">
                                          <p:val>
                                            <p:strVal val="#ppt_x"/>
                                          </p:val>
                                        </p:tav>
                                        <p:tav tm="100000">
                                          <p:val>
                                            <p:strVal val="#ppt_x"/>
                                          </p:val>
                                        </p:tav>
                                      </p:tavLst>
                                    </p:anim>
                                    <p:anim calcmode="lin" valueType="num">
                                      <p:cBhvr>
                                        <p:cTn id="108" dur="1000" fill="hold"/>
                                        <p:tgtEl>
                                          <p:spTgt spid="14">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42" presetClass="entr" presetSubtype="0" fill="hold" grpId="0" nodeType="clickEffect">
                                  <p:stCondLst>
                                    <p:cond delay="0"/>
                                  </p:stCondLst>
                                  <p:childTnLst>
                                    <p:set>
                                      <p:cBhvr>
                                        <p:cTn id="112" dur="1" fill="hold">
                                          <p:stCondLst>
                                            <p:cond delay="0"/>
                                          </p:stCondLst>
                                        </p:cTn>
                                        <p:tgtEl>
                                          <p:spTgt spid="14">
                                            <p:txEl>
                                              <p:pRg st="14" end="14"/>
                                            </p:txEl>
                                          </p:spTgt>
                                        </p:tgtEl>
                                        <p:attrNameLst>
                                          <p:attrName>style.visibility</p:attrName>
                                        </p:attrNameLst>
                                      </p:cBhvr>
                                      <p:to>
                                        <p:strVal val="visible"/>
                                      </p:to>
                                    </p:set>
                                    <p:animEffect transition="in" filter="fade">
                                      <p:cBhvr>
                                        <p:cTn id="113" dur="1000"/>
                                        <p:tgtEl>
                                          <p:spTgt spid="14">
                                            <p:txEl>
                                              <p:pRg st="14" end="14"/>
                                            </p:txEl>
                                          </p:spTgt>
                                        </p:tgtEl>
                                      </p:cBhvr>
                                    </p:animEffect>
                                    <p:anim calcmode="lin" valueType="num">
                                      <p:cBhvr>
                                        <p:cTn id="114" dur="1000" fill="hold"/>
                                        <p:tgtEl>
                                          <p:spTgt spid="14">
                                            <p:txEl>
                                              <p:pRg st="14" end="14"/>
                                            </p:txEl>
                                          </p:spTgt>
                                        </p:tgtEl>
                                        <p:attrNameLst>
                                          <p:attrName>ppt_x</p:attrName>
                                        </p:attrNameLst>
                                      </p:cBhvr>
                                      <p:tavLst>
                                        <p:tav tm="0">
                                          <p:val>
                                            <p:strVal val="#ppt_x"/>
                                          </p:val>
                                        </p:tav>
                                        <p:tav tm="100000">
                                          <p:val>
                                            <p:strVal val="#ppt_x"/>
                                          </p:val>
                                        </p:tav>
                                      </p:tavLst>
                                    </p:anim>
                                    <p:anim calcmode="lin" valueType="num">
                                      <p:cBhvr>
                                        <p:cTn id="115" dur="1000" fill="hold"/>
                                        <p:tgtEl>
                                          <p:spTgt spid="14">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116" fill="hold">
                      <p:stCondLst>
                        <p:cond delay="indefinite"/>
                      </p:stCondLst>
                      <p:childTnLst>
                        <p:par>
                          <p:cTn id="117" fill="hold">
                            <p:stCondLst>
                              <p:cond delay="0"/>
                            </p:stCondLst>
                            <p:childTnLst>
                              <p:par>
                                <p:cTn id="118" presetID="42" presetClass="entr" presetSubtype="0" fill="hold" grpId="0" nodeType="clickEffect">
                                  <p:stCondLst>
                                    <p:cond delay="0"/>
                                  </p:stCondLst>
                                  <p:childTnLst>
                                    <p:set>
                                      <p:cBhvr>
                                        <p:cTn id="119" dur="1" fill="hold">
                                          <p:stCondLst>
                                            <p:cond delay="0"/>
                                          </p:stCondLst>
                                        </p:cTn>
                                        <p:tgtEl>
                                          <p:spTgt spid="14">
                                            <p:txEl>
                                              <p:pRg st="15" end="15"/>
                                            </p:txEl>
                                          </p:spTgt>
                                        </p:tgtEl>
                                        <p:attrNameLst>
                                          <p:attrName>style.visibility</p:attrName>
                                        </p:attrNameLst>
                                      </p:cBhvr>
                                      <p:to>
                                        <p:strVal val="visible"/>
                                      </p:to>
                                    </p:set>
                                    <p:animEffect transition="in" filter="fade">
                                      <p:cBhvr>
                                        <p:cTn id="120" dur="1000"/>
                                        <p:tgtEl>
                                          <p:spTgt spid="14">
                                            <p:txEl>
                                              <p:pRg st="15" end="15"/>
                                            </p:txEl>
                                          </p:spTgt>
                                        </p:tgtEl>
                                      </p:cBhvr>
                                    </p:animEffect>
                                    <p:anim calcmode="lin" valueType="num">
                                      <p:cBhvr>
                                        <p:cTn id="121" dur="1000" fill="hold"/>
                                        <p:tgtEl>
                                          <p:spTgt spid="14">
                                            <p:txEl>
                                              <p:pRg st="15" end="15"/>
                                            </p:txEl>
                                          </p:spTgt>
                                        </p:tgtEl>
                                        <p:attrNameLst>
                                          <p:attrName>ppt_x</p:attrName>
                                        </p:attrNameLst>
                                      </p:cBhvr>
                                      <p:tavLst>
                                        <p:tav tm="0">
                                          <p:val>
                                            <p:strVal val="#ppt_x"/>
                                          </p:val>
                                        </p:tav>
                                        <p:tav tm="100000">
                                          <p:val>
                                            <p:strVal val="#ppt_x"/>
                                          </p:val>
                                        </p:tav>
                                      </p:tavLst>
                                    </p:anim>
                                    <p:anim calcmode="lin" valueType="num">
                                      <p:cBhvr>
                                        <p:cTn id="122" dur="1000" fill="hold"/>
                                        <p:tgtEl>
                                          <p:spTgt spid="14">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42" presetClass="entr" presetSubtype="0" fill="hold" grpId="0" nodeType="clickEffect">
                                  <p:stCondLst>
                                    <p:cond delay="0"/>
                                  </p:stCondLst>
                                  <p:childTnLst>
                                    <p:set>
                                      <p:cBhvr>
                                        <p:cTn id="126" dur="1" fill="hold">
                                          <p:stCondLst>
                                            <p:cond delay="0"/>
                                          </p:stCondLst>
                                        </p:cTn>
                                        <p:tgtEl>
                                          <p:spTgt spid="14">
                                            <p:txEl>
                                              <p:pRg st="16" end="16"/>
                                            </p:txEl>
                                          </p:spTgt>
                                        </p:tgtEl>
                                        <p:attrNameLst>
                                          <p:attrName>style.visibility</p:attrName>
                                        </p:attrNameLst>
                                      </p:cBhvr>
                                      <p:to>
                                        <p:strVal val="visible"/>
                                      </p:to>
                                    </p:set>
                                    <p:animEffect transition="in" filter="fade">
                                      <p:cBhvr>
                                        <p:cTn id="127" dur="1000"/>
                                        <p:tgtEl>
                                          <p:spTgt spid="14">
                                            <p:txEl>
                                              <p:pRg st="16" end="16"/>
                                            </p:txEl>
                                          </p:spTgt>
                                        </p:tgtEl>
                                      </p:cBhvr>
                                    </p:animEffect>
                                    <p:anim calcmode="lin" valueType="num">
                                      <p:cBhvr>
                                        <p:cTn id="128" dur="1000" fill="hold"/>
                                        <p:tgtEl>
                                          <p:spTgt spid="14">
                                            <p:txEl>
                                              <p:pRg st="16" end="16"/>
                                            </p:txEl>
                                          </p:spTgt>
                                        </p:tgtEl>
                                        <p:attrNameLst>
                                          <p:attrName>ppt_x</p:attrName>
                                        </p:attrNameLst>
                                      </p:cBhvr>
                                      <p:tavLst>
                                        <p:tav tm="0">
                                          <p:val>
                                            <p:strVal val="#ppt_x"/>
                                          </p:val>
                                        </p:tav>
                                        <p:tav tm="100000">
                                          <p:val>
                                            <p:strVal val="#ppt_x"/>
                                          </p:val>
                                        </p:tav>
                                      </p:tavLst>
                                    </p:anim>
                                    <p:anim calcmode="lin" valueType="num">
                                      <p:cBhvr>
                                        <p:cTn id="129" dur="1000" fill="hold"/>
                                        <p:tgtEl>
                                          <p:spTgt spid="14">
                                            <p:txEl>
                                              <p:pRg st="16" end="16"/>
                                            </p:txEl>
                                          </p:spTgt>
                                        </p:tgtEl>
                                        <p:attrNameLst>
                                          <p:attrName>ppt_y</p:attrName>
                                        </p:attrNameLst>
                                      </p:cBhvr>
                                      <p:tavLst>
                                        <p:tav tm="0">
                                          <p:val>
                                            <p:strVal val="#ppt_y+.1"/>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21" presetClass="entr" presetSubtype="1" fill="hold" nodeType="clickEffect">
                                  <p:stCondLst>
                                    <p:cond delay="0"/>
                                  </p:stCondLst>
                                  <p:childTnLst>
                                    <p:set>
                                      <p:cBhvr>
                                        <p:cTn id="133" dur="1" fill="hold">
                                          <p:stCondLst>
                                            <p:cond delay="0"/>
                                          </p:stCondLst>
                                        </p:cTn>
                                        <p:tgtEl>
                                          <p:spTgt spid="5"/>
                                        </p:tgtEl>
                                        <p:attrNameLst>
                                          <p:attrName>style.visibility</p:attrName>
                                        </p:attrNameLst>
                                      </p:cBhvr>
                                      <p:to>
                                        <p:strVal val="visible"/>
                                      </p:to>
                                    </p:set>
                                    <p:animEffect transition="in" filter="wheel(1)">
                                      <p:cBhvr>
                                        <p:cTn id="134"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a:solidFill>
                  <a:schemeClr val="accent2"/>
                </a:solidFill>
                <a:latin typeface="Tahoma" charset="0"/>
                <a:cs typeface="Arial" charset="0"/>
              </a:rPr>
              <a:t>5</a:t>
            </a:r>
            <a:r>
              <a:rPr lang="en-US" sz="4000" dirty="0" smtClean="0">
                <a:solidFill>
                  <a:schemeClr val="accent2"/>
                </a:solidFill>
                <a:latin typeface="Tahoma" charset="0"/>
                <a:cs typeface="Arial" charset="0"/>
              </a:rPr>
              <a:t>. CODE (1)</a:t>
            </a:r>
            <a:endParaRPr lang="en-US" sz="4000" dirty="0">
              <a:solidFill>
                <a:schemeClr val="accent2"/>
              </a:solidFill>
              <a:latin typeface="Tahoma" charset="0"/>
              <a:cs typeface="Arial" charset="0"/>
            </a:endParaRPr>
          </a:p>
        </p:txBody>
      </p:sp>
      <p:cxnSp>
        <p:nvCxnSpPr>
          <p:cNvPr id="16" name="Straight Connector 15"/>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179512" y="985946"/>
            <a:ext cx="8784976" cy="5755422"/>
            <a:chOff x="258661" y="1236822"/>
            <a:chExt cx="7913739" cy="5755422"/>
          </a:xfrm>
        </p:grpSpPr>
        <p:sp>
          <p:nvSpPr>
            <p:cNvPr id="9" name="TextBox 8"/>
            <p:cNvSpPr txBox="1"/>
            <p:nvPr/>
          </p:nvSpPr>
          <p:spPr>
            <a:xfrm>
              <a:off x="712728" y="1236822"/>
              <a:ext cx="7459672" cy="5755422"/>
            </a:xfrm>
            <a:prstGeom prst="rect">
              <a:avLst/>
            </a:prstGeom>
            <a:solidFill>
              <a:schemeClr val="bg2"/>
            </a:solidFill>
            <a:ln w="28575" cap="rnd" cmpd="thickThin">
              <a:solidFill>
                <a:srgbClr val="0000FF"/>
              </a:solidFill>
            </a:ln>
          </p:spPr>
          <p:txBody>
            <a:bodyPr wrap="square" rtlCol="0">
              <a:spAutoFit/>
            </a:bodyPr>
            <a:lstStyle/>
            <a:p>
              <a:r>
                <a:rPr lang="en-US" sz="1600" dirty="0" smtClean="0">
                  <a:solidFill>
                    <a:srgbClr val="00B050"/>
                  </a:solidFill>
                </a:rPr>
                <a:t>// import necessary libraries</a:t>
              </a:r>
            </a:p>
            <a:p>
              <a:r>
                <a:rPr lang="en-US" sz="1600" dirty="0" smtClean="0">
                  <a:solidFill>
                    <a:srgbClr val="00B0F0"/>
                  </a:solidFill>
                </a:rPr>
                <a:t>import</a:t>
              </a:r>
              <a:r>
                <a:rPr lang="en-US" sz="1600" dirty="0" smtClean="0"/>
                <a:t> </a:t>
              </a:r>
              <a:r>
                <a:rPr lang="en-US" sz="1600" dirty="0" err="1" smtClean="0">
                  <a:solidFill>
                    <a:srgbClr val="00B0F0"/>
                  </a:solidFill>
                </a:rPr>
                <a:t>java.util</a:t>
              </a:r>
              <a:r>
                <a:rPr lang="en-US" sz="1600" dirty="0" smtClean="0">
                  <a:solidFill>
                    <a:srgbClr val="00B0F0"/>
                  </a:solidFill>
                </a:rPr>
                <a:t>.*</a:t>
              </a:r>
              <a:r>
                <a:rPr lang="en-US" sz="1600" dirty="0" smtClean="0"/>
                <a:t>;</a:t>
              </a:r>
            </a:p>
            <a:p>
              <a:r>
                <a:rPr lang="en-US" sz="1600" dirty="0" smtClean="0">
                  <a:solidFill>
                    <a:srgbClr val="00B0F0"/>
                  </a:solidFill>
                </a:rPr>
                <a:t>public class</a:t>
              </a:r>
              <a:r>
                <a:rPr lang="en-US" sz="1600" dirty="0" smtClean="0">
                  <a:solidFill>
                    <a:srgbClr val="0000FF"/>
                  </a:solidFill>
                </a:rPr>
                <a:t> passenger</a:t>
              </a:r>
            </a:p>
            <a:p>
              <a:r>
                <a:rPr lang="en-US" sz="1600" dirty="0" smtClean="0">
                  <a:solidFill>
                    <a:srgbClr val="0000FF"/>
                  </a:solidFill>
                </a:rPr>
                <a:t>{</a:t>
              </a:r>
            </a:p>
            <a:p>
              <a:r>
                <a:rPr lang="en-US" sz="1600" dirty="0">
                  <a:solidFill>
                    <a:srgbClr val="00B050"/>
                  </a:solidFill>
                </a:rPr>
                <a:t> </a:t>
              </a:r>
              <a:r>
                <a:rPr lang="en-US" sz="1600" dirty="0" smtClean="0">
                  <a:solidFill>
                    <a:srgbClr val="00B050"/>
                  </a:solidFill>
                </a:rPr>
                <a:t>   // instantiate Scanner object</a:t>
              </a:r>
            </a:p>
            <a:p>
              <a:r>
                <a:rPr lang="en-US" sz="1600" dirty="0" smtClean="0">
                  <a:solidFill>
                    <a:srgbClr val="00B0F0"/>
                  </a:solidFill>
                </a:rPr>
                <a:t>    static </a:t>
              </a:r>
              <a:r>
                <a:rPr lang="en-US" sz="1600" dirty="0" smtClean="0">
                  <a:solidFill>
                    <a:srgbClr val="00B050"/>
                  </a:solidFill>
                </a:rPr>
                <a:t>Scanner </a:t>
              </a:r>
              <a:r>
                <a:rPr lang="en-US" sz="1600" dirty="0" smtClean="0">
                  <a:solidFill>
                    <a:srgbClr val="0000FF"/>
                  </a:solidFill>
                </a:rPr>
                <a:t>read</a:t>
              </a:r>
              <a:r>
                <a:rPr lang="en-US" sz="1600" dirty="0" smtClean="0"/>
                <a:t> = </a:t>
              </a:r>
              <a:r>
                <a:rPr lang="en-US" sz="1600" dirty="0" smtClean="0">
                  <a:solidFill>
                    <a:srgbClr val="00B0F0"/>
                  </a:solidFill>
                </a:rPr>
                <a:t>new </a:t>
              </a:r>
              <a:r>
                <a:rPr lang="en-US" sz="1600" dirty="0" smtClean="0">
                  <a:solidFill>
                    <a:srgbClr val="00B050"/>
                  </a:solidFill>
                </a:rPr>
                <a:t>Scanner(System.in)</a:t>
              </a:r>
              <a:r>
                <a:rPr lang="en-US" sz="1600" dirty="0" smtClean="0"/>
                <a:t>;</a:t>
              </a:r>
            </a:p>
            <a:p>
              <a:r>
                <a:rPr lang="en-US" sz="1600" dirty="0" smtClean="0">
                  <a:solidFill>
                    <a:srgbClr val="0000FF"/>
                  </a:solidFill>
                </a:rPr>
                <a:t>    </a:t>
              </a:r>
              <a:r>
                <a:rPr lang="en-US" sz="1600" dirty="0" smtClean="0">
                  <a:solidFill>
                    <a:srgbClr val="00B0F0"/>
                  </a:solidFill>
                </a:rPr>
                <a:t>public static void main (String[] </a:t>
              </a:r>
              <a:r>
                <a:rPr lang="en-US" sz="1600" dirty="0" err="1" smtClean="0">
                  <a:solidFill>
                    <a:srgbClr val="00B0F0"/>
                  </a:solidFill>
                </a:rPr>
                <a:t>args</a:t>
              </a:r>
              <a:r>
                <a:rPr lang="en-US" sz="1600" dirty="0" smtClean="0">
                  <a:solidFill>
                    <a:srgbClr val="00B0F0"/>
                  </a:solidFill>
                </a:rPr>
                <a:t>)</a:t>
              </a:r>
            </a:p>
            <a:p>
              <a:r>
                <a:rPr lang="en-US" sz="1600" dirty="0" smtClean="0">
                  <a:solidFill>
                    <a:srgbClr val="0000FF"/>
                  </a:solidFill>
                </a:rPr>
                <a:t>      {</a:t>
              </a:r>
            </a:p>
            <a:p>
              <a:r>
                <a:rPr lang="en-US" sz="1600" dirty="0">
                  <a:solidFill>
                    <a:srgbClr val="00B050"/>
                  </a:solidFill>
                </a:rPr>
                <a:t> </a:t>
              </a:r>
              <a:r>
                <a:rPr lang="en-US" sz="1600" dirty="0" smtClean="0">
                  <a:solidFill>
                    <a:srgbClr val="00B050"/>
                  </a:solidFill>
                </a:rPr>
                <a:t>         // Declaration section</a:t>
              </a:r>
            </a:p>
            <a:p>
              <a:r>
                <a:rPr lang="en-US" sz="1600" dirty="0" smtClean="0"/>
                <a:t>	</a:t>
              </a:r>
              <a:r>
                <a:rPr lang="en-US" sz="1600" dirty="0" smtClean="0">
                  <a:solidFill>
                    <a:srgbClr val="00B0F0"/>
                  </a:solidFill>
                </a:rPr>
                <a:t>char </a:t>
              </a:r>
              <a:r>
                <a:rPr lang="en-US" sz="1600" dirty="0" err="1" smtClean="0">
                  <a:solidFill>
                    <a:srgbClr val="0000FF"/>
                  </a:solidFill>
                </a:rPr>
                <a:t>passClass</a:t>
              </a:r>
              <a:r>
                <a:rPr lang="en-US" sz="1600" dirty="0" smtClean="0"/>
                <a:t>;</a:t>
              </a:r>
              <a:r>
                <a:rPr lang="en-US" sz="1600" dirty="0" smtClean="0">
                  <a:solidFill>
                    <a:srgbClr val="00B050"/>
                  </a:solidFill>
                </a:rPr>
                <a:t>		// passenger’s class</a:t>
              </a:r>
            </a:p>
            <a:p>
              <a:r>
                <a:rPr lang="en-US" sz="1600" dirty="0"/>
                <a:t>	</a:t>
              </a:r>
              <a:r>
                <a:rPr lang="en-US" sz="1600" dirty="0" smtClean="0">
                  <a:solidFill>
                    <a:srgbClr val="00B0F0"/>
                  </a:solidFill>
                </a:rPr>
                <a:t>double </a:t>
              </a:r>
              <a:r>
                <a:rPr lang="en-US" sz="1600" dirty="0" err="1" smtClean="0">
                  <a:solidFill>
                    <a:srgbClr val="0000FF"/>
                  </a:solidFill>
                </a:rPr>
                <a:t>bagWeight</a:t>
              </a:r>
              <a:r>
                <a:rPr lang="en-US" sz="1600" dirty="0" smtClean="0"/>
                <a:t>;</a:t>
              </a:r>
              <a:r>
                <a:rPr lang="en-US" sz="1600" dirty="0" smtClean="0">
                  <a:solidFill>
                    <a:srgbClr val="00B050"/>
                  </a:solidFill>
                </a:rPr>
                <a:t>	// passenger’s bag weight</a:t>
              </a:r>
            </a:p>
            <a:p>
              <a:r>
                <a:rPr lang="en-US" sz="1600" dirty="0">
                  <a:solidFill>
                    <a:srgbClr val="00B050"/>
                  </a:solidFill>
                </a:rPr>
                <a:t>	</a:t>
              </a:r>
              <a:r>
                <a:rPr lang="en-US" sz="1600" dirty="0" smtClean="0">
                  <a:solidFill>
                    <a:srgbClr val="00B0F0"/>
                  </a:solidFill>
                </a:rPr>
                <a:t>double </a:t>
              </a:r>
              <a:r>
                <a:rPr lang="en-US" sz="1600" dirty="0" err="1" smtClean="0">
                  <a:solidFill>
                    <a:srgbClr val="0000FF"/>
                  </a:solidFill>
                </a:rPr>
                <a:t>excessWeight</a:t>
              </a:r>
              <a:r>
                <a:rPr lang="en-US" sz="1600" dirty="0" smtClean="0">
                  <a:solidFill>
                    <a:srgbClr val="0000FF"/>
                  </a:solidFill>
                </a:rPr>
                <a:t> = 0.0</a:t>
              </a:r>
              <a:r>
                <a:rPr lang="en-US" sz="1600" dirty="0" smtClean="0"/>
                <a:t>;</a:t>
              </a:r>
              <a:r>
                <a:rPr lang="en-US" sz="1600" dirty="0" smtClean="0">
                  <a:solidFill>
                    <a:srgbClr val="00B050"/>
                  </a:solidFill>
                </a:rPr>
                <a:t>// passenger’s excess weight</a:t>
              </a:r>
            </a:p>
            <a:p>
              <a:r>
                <a:rPr lang="en-US" sz="1600" dirty="0" smtClean="0"/>
                <a:t>	</a:t>
              </a:r>
              <a:r>
                <a:rPr lang="en-US" sz="1600" dirty="0" smtClean="0">
                  <a:solidFill>
                    <a:srgbClr val="00B0F0"/>
                  </a:solidFill>
                </a:rPr>
                <a:t>double </a:t>
              </a:r>
              <a:r>
                <a:rPr lang="en-US" sz="1600" dirty="0" smtClean="0">
                  <a:solidFill>
                    <a:srgbClr val="0000FF"/>
                  </a:solidFill>
                </a:rPr>
                <a:t>charge = -1.0</a:t>
              </a:r>
              <a:r>
                <a:rPr lang="en-US" sz="1600" dirty="0" smtClean="0"/>
                <a:t>;	</a:t>
              </a:r>
              <a:r>
                <a:rPr lang="en-US" sz="1600" dirty="0" smtClean="0">
                  <a:solidFill>
                    <a:srgbClr val="00B050"/>
                  </a:solidFill>
                </a:rPr>
                <a:t>// charge on excess weight</a:t>
              </a:r>
            </a:p>
            <a:p>
              <a:r>
                <a:rPr lang="en-US" sz="1600" dirty="0" smtClean="0">
                  <a:solidFill>
                    <a:srgbClr val="00B050"/>
                  </a:solidFill>
                </a:rPr>
                <a:t>          // Input section</a:t>
              </a:r>
            </a:p>
            <a:p>
              <a:r>
                <a:rPr lang="en-US" sz="1600" dirty="0"/>
                <a:t>	</a:t>
              </a:r>
              <a:r>
                <a:rPr lang="en-US" sz="1600" dirty="0" err="1" smtClean="0">
                  <a:solidFill>
                    <a:srgbClr val="00B0F0"/>
                  </a:solidFill>
                </a:rPr>
                <a:t>System.out.print</a:t>
              </a:r>
              <a:r>
                <a:rPr lang="en-US" sz="1600" dirty="0" smtClean="0">
                  <a:solidFill>
                    <a:srgbClr val="00B0F0"/>
                  </a:solidFill>
                </a:rPr>
                <a:t> </a:t>
              </a:r>
              <a:r>
                <a:rPr lang="en-US" sz="1600" dirty="0" smtClean="0"/>
                <a:t>(“Please enter passenger’s class”);</a:t>
              </a:r>
              <a:r>
                <a:rPr lang="en-US" sz="1600" dirty="0" smtClean="0">
                  <a:solidFill>
                    <a:srgbClr val="00B050"/>
                  </a:solidFill>
                </a:rPr>
                <a:t> </a:t>
              </a:r>
            </a:p>
            <a:p>
              <a:r>
                <a:rPr lang="en-US" sz="1600" dirty="0"/>
                <a:t>	</a:t>
              </a:r>
              <a:r>
                <a:rPr lang="en-US" sz="1600" dirty="0" err="1" smtClean="0">
                  <a:solidFill>
                    <a:srgbClr val="0000FF"/>
                  </a:solidFill>
                </a:rPr>
                <a:t>passClass</a:t>
              </a:r>
              <a:r>
                <a:rPr lang="en-US" sz="1600" dirty="0" smtClean="0">
                  <a:solidFill>
                    <a:srgbClr val="0000FF"/>
                  </a:solidFill>
                </a:rPr>
                <a:t> </a:t>
              </a:r>
              <a:r>
                <a:rPr lang="en-US" sz="1600" dirty="0" smtClean="0"/>
                <a:t>=  </a:t>
              </a:r>
              <a:r>
                <a:rPr lang="en-US" sz="1600" dirty="0" err="1" smtClean="0">
                  <a:solidFill>
                    <a:srgbClr val="0000FF"/>
                  </a:solidFill>
                </a:rPr>
                <a:t>read</a:t>
              </a:r>
              <a:r>
                <a:rPr lang="en-US" sz="1600" dirty="0" err="1" smtClean="0"/>
                <a:t>.</a:t>
              </a:r>
              <a:r>
                <a:rPr lang="en-US" sz="1600" dirty="0" err="1" smtClean="0">
                  <a:solidFill>
                    <a:srgbClr val="00B050"/>
                  </a:solidFill>
                </a:rPr>
                <a:t>next</a:t>
              </a:r>
              <a:r>
                <a:rPr lang="en-US" sz="1600" dirty="0" smtClean="0">
                  <a:solidFill>
                    <a:srgbClr val="00B050"/>
                  </a:solidFill>
                </a:rPr>
                <a:t>().</a:t>
              </a:r>
              <a:r>
                <a:rPr lang="en-US" sz="1600" dirty="0" err="1" smtClean="0">
                  <a:solidFill>
                    <a:srgbClr val="00B050"/>
                  </a:solidFill>
                </a:rPr>
                <a:t>charAt</a:t>
              </a:r>
              <a:r>
                <a:rPr lang="en-US" sz="1600" dirty="0" smtClean="0">
                  <a:solidFill>
                    <a:srgbClr val="00B050"/>
                  </a:solidFill>
                </a:rPr>
                <a:t>(0)</a:t>
              </a:r>
              <a:r>
                <a:rPr lang="en-US" sz="1600" dirty="0" smtClean="0"/>
                <a:t>;	</a:t>
              </a:r>
              <a:r>
                <a:rPr lang="en-US" sz="1600" dirty="0" smtClean="0">
                  <a:solidFill>
                    <a:srgbClr val="00B050"/>
                  </a:solidFill>
                </a:rPr>
                <a:t>// read passenger’s class</a:t>
              </a:r>
            </a:p>
            <a:p>
              <a:r>
                <a:rPr lang="en-US" sz="1600" dirty="0"/>
                <a:t>	</a:t>
              </a:r>
              <a:r>
                <a:rPr lang="en-US" sz="1600" dirty="0" err="1" smtClean="0">
                  <a:solidFill>
                    <a:srgbClr val="00B0F0"/>
                  </a:solidFill>
                </a:rPr>
                <a:t>System.out.print</a:t>
              </a:r>
              <a:r>
                <a:rPr lang="en-US" sz="1600" dirty="0" smtClean="0">
                  <a:solidFill>
                    <a:srgbClr val="00B0F0"/>
                  </a:solidFill>
                </a:rPr>
                <a:t> </a:t>
              </a:r>
              <a:r>
                <a:rPr lang="en-US" sz="1600" dirty="0"/>
                <a:t>(“Please enter passenger’s </a:t>
              </a:r>
              <a:r>
                <a:rPr lang="en-US" sz="1600" dirty="0" smtClean="0"/>
                <a:t>baggage weight”);</a:t>
              </a:r>
              <a:r>
                <a:rPr lang="en-US" sz="1600" dirty="0" smtClean="0">
                  <a:solidFill>
                    <a:srgbClr val="00B050"/>
                  </a:solidFill>
                </a:rPr>
                <a:t> </a:t>
              </a:r>
              <a:endParaRPr lang="en-US" sz="1600" dirty="0">
                <a:solidFill>
                  <a:srgbClr val="00B050"/>
                </a:solidFill>
              </a:endParaRPr>
            </a:p>
            <a:p>
              <a:r>
                <a:rPr lang="en-US" sz="1600" dirty="0"/>
                <a:t>	</a:t>
              </a:r>
              <a:r>
                <a:rPr lang="en-US" sz="1600" dirty="0" err="1" smtClean="0">
                  <a:solidFill>
                    <a:srgbClr val="0000FF"/>
                  </a:solidFill>
                </a:rPr>
                <a:t>bagWeight</a:t>
              </a:r>
              <a:r>
                <a:rPr lang="en-US" sz="1600" dirty="0" smtClean="0">
                  <a:solidFill>
                    <a:srgbClr val="0000FF"/>
                  </a:solidFill>
                </a:rPr>
                <a:t> </a:t>
              </a:r>
              <a:r>
                <a:rPr lang="en-US" sz="1600" dirty="0"/>
                <a:t>=  </a:t>
              </a:r>
              <a:r>
                <a:rPr lang="en-US" sz="1600" dirty="0" err="1" smtClean="0">
                  <a:solidFill>
                    <a:srgbClr val="0000FF"/>
                  </a:solidFill>
                </a:rPr>
                <a:t>read</a:t>
              </a:r>
              <a:r>
                <a:rPr lang="en-US" sz="1600" dirty="0" err="1" smtClean="0"/>
                <a:t>.</a:t>
              </a:r>
              <a:r>
                <a:rPr lang="en-US" sz="1600" dirty="0" err="1" smtClean="0">
                  <a:solidFill>
                    <a:srgbClr val="00B050"/>
                  </a:solidFill>
                </a:rPr>
                <a:t>nextDouble</a:t>
              </a:r>
              <a:r>
                <a:rPr lang="en-US" sz="1600" dirty="0" smtClean="0">
                  <a:solidFill>
                    <a:srgbClr val="00B050"/>
                  </a:solidFill>
                </a:rPr>
                <a:t>()</a:t>
              </a:r>
              <a:r>
                <a:rPr lang="en-US" sz="1600" dirty="0" smtClean="0"/>
                <a:t>;</a:t>
              </a:r>
              <a:r>
                <a:rPr lang="en-US" sz="1600" dirty="0"/>
                <a:t>	</a:t>
              </a:r>
              <a:r>
                <a:rPr lang="en-US" sz="1600" dirty="0">
                  <a:solidFill>
                    <a:srgbClr val="00B050"/>
                  </a:solidFill>
                </a:rPr>
                <a:t>// </a:t>
              </a:r>
              <a:r>
                <a:rPr lang="en-US" sz="1600" dirty="0" smtClean="0">
                  <a:solidFill>
                    <a:srgbClr val="00B050"/>
                  </a:solidFill>
                </a:rPr>
                <a:t>read baggage weight</a:t>
              </a:r>
            </a:p>
            <a:p>
              <a:r>
                <a:rPr lang="en-US" sz="1600" dirty="0" smtClean="0">
                  <a:solidFill>
                    <a:srgbClr val="00B050"/>
                  </a:solidFill>
                </a:rPr>
                <a:t>          </a:t>
              </a:r>
              <a:r>
                <a:rPr lang="en-US" sz="1600" dirty="0">
                  <a:solidFill>
                    <a:srgbClr val="00B050"/>
                  </a:solidFill>
                </a:rPr>
                <a:t>// </a:t>
              </a:r>
              <a:r>
                <a:rPr lang="en-US" sz="1600" dirty="0" smtClean="0">
                  <a:solidFill>
                    <a:srgbClr val="00B050"/>
                  </a:solidFill>
                </a:rPr>
                <a:t>Processing section: charge depends on </a:t>
              </a:r>
              <a:r>
                <a:rPr lang="en-US" sz="1600" dirty="0" err="1" smtClean="0">
                  <a:solidFill>
                    <a:srgbClr val="00B050"/>
                  </a:solidFill>
                </a:rPr>
                <a:t>passClass</a:t>
              </a:r>
              <a:endParaRPr lang="en-US" sz="1600" dirty="0" smtClean="0">
                <a:solidFill>
                  <a:srgbClr val="00B050"/>
                </a:solidFill>
              </a:endParaRPr>
            </a:p>
            <a:p>
              <a:r>
                <a:rPr lang="en-US" sz="1600" dirty="0">
                  <a:solidFill>
                    <a:srgbClr val="00B050"/>
                  </a:solidFill>
                </a:rPr>
                <a:t> </a:t>
              </a:r>
              <a:r>
                <a:rPr lang="en-US" sz="1600" dirty="0" smtClean="0">
                  <a:solidFill>
                    <a:srgbClr val="00B050"/>
                  </a:solidFill>
                </a:rPr>
                <a:t>             </a:t>
              </a:r>
              <a:r>
                <a:rPr lang="en-US" sz="1600" dirty="0" smtClean="0">
                  <a:solidFill>
                    <a:srgbClr val="00B0F0"/>
                  </a:solidFill>
                </a:rPr>
                <a:t>switch</a:t>
              </a:r>
              <a:r>
                <a:rPr lang="en-US" sz="1600" dirty="0" smtClean="0"/>
                <a:t> (</a:t>
              </a:r>
              <a:r>
                <a:rPr lang="en-US" sz="1600" dirty="0" err="1" smtClean="0">
                  <a:solidFill>
                    <a:srgbClr val="0000FF"/>
                  </a:solidFill>
                </a:rPr>
                <a:t>passClass</a:t>
              </a:r>
              <a:r>
                <a:rPr lang="en-US" sz="1600" dirty="0" smtClean="0"/>
                <a:t>)</a:t>
              </a:r>
            </a:p>
            <a:p>
              <a:r>
                <a:rPr lang="en-US" sz="1600" dirty="0"/>
                <a:t> </a:t>
              </a:r>
              <a:r>
                <a:rPr lang="en-US" sz="1600" dirty="0" smtClean="0"/>
                <a:t>               {</a:t>
              </a:r>
            </a:p>
            <a:p>
              <a:r>
                <a:rPr lang="en-US" sz="1600" dirty="0"/>
                <a:t> </a:t>
              </a:r>
              <a:r>
                <a:rPr lang="en-US" sz="1600" dirty="0" smtClean="0"/>
                <a:t>                 </a:t>
              </a:r>
              <a:r>
                <a:rPr lang="en-US" sz="1600" dirty="0" smtClean="0">
                  <a:solidFill>
                    <a:srgbClr val="00B0F0"/>
                  </a:solidFill>
                </a:rPr>
                <a:t>case</a:t>
              </a:r>
              <a:r>
                <a:rPr lang="en-US" sz="1600" dirty="0" smtClean="0"/>
                <a:t> ‘</a:t>
              </a:r>
              <a:r>
                <a:rPr lang="en-US" sz="1600" dirty="0" smtClean="0">
                  <a:solidFill>
                    <a:srgbClr val="00B050"/>
                  </a:solidFill>
                </a:rPr>
                <a:t>F</a:t>
              </a:r>
              <a:r>
                <a:rPr lang="en-US" sz="1600" dirty="0" smtClean="0"/>
                <a:t>’: </a:t>
              </a:r>
              <a:r>
                <a:rPr lang="en-US" sz="1600" dirty="0" err="1" smtClean="0">
                  <a:solidFill>
                    <a:srgbClr val="0000FF"/>
                  </a:solidFill>
                </a:rPr>
                <a:t>excessWeight</a:t>
              </a:r>
              <a:r>
                <a:rPr lang="en-US" sz="1600" dirty="0" smtClean="0"/>
                <a:t> = </a:t>
              </a:r>
              <a:r>
                <a:rPr lang="en-US" sz="1600" dirty="0" err="1" smtClean="0">
                  <a:solidFill>
                    <a:srgbClr val="0000FF"/>
                  </a:solidFill>
                </a:rPr>
                <a:t>bagWeight</a:t>
              </a:r>
              <a:r>
                <a:rPr lang="en-US" sz="1600" dirty="0" smtClean="0"/>
                <a:t> – 30;</a:t>
              </a:r>
            </a:p>
            <a:p>
              <a:r>
                <a:rPr lang="en-US" sz="1600" dirty="0" smtClean="0">
                  <a:solidFill>
                    <a:srgbClr val="00B0F0"/>
                  </a:solidFill>
                </a:rPr>
                <a:t>	                 break</a:t>
              </a:r>
              <a:r>
                <a:rPr lang="en-US" sz="1600" dirty="0" smtClean="0"/>
                <a:t>;</a:t>
              </a:r>
            </a:p>
          </p:txBody>
        </p:sp>
        <p:sp>
          <p:nvSpPr>
            <p:cNvPr id="10" name="TextBox 9"/>
            <p:cNvSpPr txBox="1"/>
            <p:nvPr/>
          </p:nvSpPr>
          <p:spPr>
            <a:xfrm>
              <a:off x="258661" y="1236822"/>
              <a:ext cx="454067" cy="5755422"/>
            </a:xfrm>
            <a:prstGeom prst="rect">
              <a:avLst/>
            </a:prstGeom>
            <a:noFill/>
          </p:spPr>
          <p:txBody>
            <a:bodyPr wrap="square" rtlCol="0">
              <a:spAutoFit/>
            </a:bodyPr>
            <a:lstStyle/>
            <a:p>
              <a:pPr algn="r"/>
              <a:r>
                <a:rPr lang="en-US" sz="1600" dirty="0" smtClean="0">
                  <a:solidFill>
                    <a:srgbClr val="FF0000"/>
                  </a:solidFill>
                </a:rPr>
                <a:t>1</a:t>
              </a:r>
            </a:p>
            <a:p>
              <a:pPr algn="r"/>
              <a:r>
                <a:rPr lang="en-US" sz="1600" dirty="0" smtClean="0">
                  <a:solidFill>
                    <a:srgbClr val="FF0000"/>
                  </a:solidFill>
                </a:rPr>
                <a:t>2</a:t>
              </a:r>
            </a:p>
            <a:p>
              <a:pPr algn="r"/>
              <a:r>
                <a:rPr lang="en-US" sz="1600" dirty="0" smtClean="0">
                  <a:solidFill>
                    <a:srgbClr val="FF0000"/>
                  </a:solidFill>
                </a:rPr>
                <a:t>3</a:t>
              </a:r>
            </a:p>
            <a:p>
              <a:pPr algn="r"/>
              <a:r>
                <a:rPr lang="en-US" sz="1600" dirty="0" smtClean="0">
                  <a:solidFill>
                    <a:srgbClr val="FF0000"/>
                  </a:solidFill>
                </a:rPr>
                <a:t>4</a:t>
              </a:r>
            </a:p>
            <a:p>
              <a:pPr algn="r"/>
              <a:r>
                <a:rPr lang="en-US" sz="1600" dirty="0" smtClean="0">
                  <a:solidFill>
                    <a:srgbClr val="FF0000"/>
                  </a:solidFill>
                </a:rPr>
                <a:t>5</a:t>
              </a:r>
            </a:p>
            <a:p>
              <a:pPr algn="r"/>
              <a:r>
                <a:rPr lang="en-US" sz="1600" dirty="0" smtClean="0">
                  <a:solidFill>
                    <a:srgbClr val="FF0000"/>
                  </a:solidFill>
                </a:rPr>
                <a:t>6</a:t>
              </a:r>
            </a:p>
            <a:p>
              <a:pPr algn="r"/>
              <a:r>
                <a:rPr lang="en-US" sz="1600" dirty="0" smtClean="0">
                  <a:solidFill>
                    <a:srgbClr val="FF0000"/>
                  </a:solidFill>
                </a:rPr>
                <a:t>7</a:t>
              </a:r>
            </a:p>
            <a:p>
              <a:pPr algn="r"/>
              <a:r>
                <a:rPr lang="en-US" sz="1600" dirty="0" smtClean="0">
                  <a:solidFill>
                    <a:srgbClr val="FF0000"/>
                  </a:solidFill>
                </a:rPr>
                <a:t>8</a:t>
              </a:r>
            </a:p>
            <a:p>
              <a:pPr algn="r"/>
              <a:r>
                <a:rPr lang="en-US" sz="1600" dirty="0" smtClean="0">
                  <a:solidFill>
                    <a:srgbClr val="FF0000"/>
                  </a:solidFill>
                </a:rPr>
                <a:t>9</a:t>
              </a:r>
            </a:p>
            <a:p>
              <a:pPr algn="r"/>
              <a:r>
                <a:rPr lang="en-US" sz="1600" dirty="0" smtClean="0">
                  <a:solidFill>
                    <a:srgbClr val="FF0000"/>
                  </a:solidFill>
                </a:rPr>
                <a:t>10</a:t>
              </a:r>
            </a:p>
            <a:p>
              <a:pPr algn="r"/>
              <a:r>
                <a:rPr lang="en-US" sz="1600" dirty="0" smtClean="0">
                  <a:solidFill>
                    <a:srgbClr val="FF0000"/>
                  </a:solidFill>
                </a:rPr>
                <a:t>11</a:t>
              </a:r>
            </a:p>
            <a:p>
              <a:pPr algn="r"/>
              <a:r>
                <a:rPr lang="en-US" sz="1600" dirty="0" smtClean="0">
                  <a:solidFill>
                    <a:srgbClr val="FF0000"/>
                  </a:solidFill>
                </a:rPr>
                <a:t>12</a:t>
              </a:r>
            </a:p>
            <a:p>
              <a:pPr algn="r"/>
              <a:r>
                <a:rPr lang="en-US" sz="1600" dirty="0" smtClean="0">
                  <a:solidFill>
                    <a:srgbClr val="FF0000"/>
                  </a:solidFill>
                </a:rPr>
                <a:t>13</a:t>
              </a:r>
            </a:p>
            <a:p>
              <a:pPr algn="r"/>
              <a:r>
                <a:rPr lang="en-US" sz="1600" dirty="0" smtClean="0">
                  <a:solidFill>
                    <a:srgbClr val="FF0000"/>
                  </a:solidFill>
                </a:rPr>
                <a:t>14</a:t>
              </a:r>
            </a:p>
            <a:p>
              <a:pPr algn="r"/>
              <a:r>
                <a:rPr lang="en-US" sz="1600" dirty="0" smtClean="0">
                  <a:solidFill>
                    <a:srgbClr val="FF0000"/>
                  </a:solidFill>
                </a:rPr>
                <a:t>15</a:t>
              </a:r>
            </a:p>
            <a:p>
              <a:pPr algn="r"/>
              <a:r>
                <a:rPr lang="en-US" sz="1600" dirty="0" smtClean="0">
                  <a:solidFill>
                    <a:srgbClr val="FF0000"/>
                  </a:solidFill>
                </a:rPr>
                <a:t>16</a:t>
              </a:r>
            </a:p>
            <a:p>
              <a:pPr algn="r"/>
              <a:r>
                <a:rPr lang="en-US" sz="1600" dirty="0" smtClean="0">
                  <a:solidFill>
                    <a:srgbClr val="FF0000"/>
                  </a:solidFill>
                </a:rPr>
                <a:t>17</a:t>
              </a:r>
            </a:p>
            <a:p>
              <a:pPr algn="r"/>
              <a:r>
                <a:rPr lang="en-US" sz="1600" dirty="0" smtClean="0">
                  <a:solidFill>
                    <a:srgbClr val="FF0000"/>
                  </a:solidFill>
                </a:rPr>
                <a:t>18</a:t>
              </a:r>
            </a:p>
            <a:p>
              <a:pPr algn="r"/>
              <a:r>
                <a:rPr lang="en-US" sz="1600" dirty="0" smtClean="0">
                  <a:solidFill>
                    <a:srgbClr val="FF0000"/>
                  </a:solidFill>
                </a:rPr>
                <a:t>19</a:t>
              </a:r>
            </a:p>
            <a:p>
              <a:pPr algn="r"/>
              <a:r>
                <a:rPr lang="en-US" sz="1600" dirty="0" smtClean="0">
                  <a:solidFill>
                    <a:srgbClr val="FF0000"/>
                  </a:solidFill>
                </a:rPr>
                <a:t>20</a:t>
              </a:r>
            </a:p>
            <a:p>
              <a:pPr algn="r"/>
              <a:r>
                <a:rPr lang="en-US" sz="1600" dirty="0" smtClean="0">
                  <a:solidFill>
                    <a:srgbClr val="FF0000"/>
                  </a:solidFill>
                </a:rPr>
                <a:t>21</a:t>
              </a:r>
            </a:p>
            <a:p>
              <a:pPr algn="r"/>
              <a:r>
                <a:rPr lang="en-US" sz="1600" dirty="0" smtClean="0">
                  <a:solidFill>
                    <a:srgbClr val="FF0000"/>
                  </a:solidFill>
                </a:rPr>
                <a:t>22</a:t>
              </a:r>
            </a:p>
            <a:p>
              <a:pPr algn="r"/>
              <a:r>
                <a:rPr lang="en-US" sz="1600" dirty="0" smtClean="0">
                  <a:solidFill>
                    <a:srgbClr val="FF0000"/>
                  </a:solidFill>
                </a:rPr>
                <a:t>23</a:t>
              </a:r>
            </a:p>
          </p:txBody>
        </p:sp>
      </p:grpSp>
      <p:sp>
        <p:nvSpPr>
          <p:cNvPr id="7" name="Slide Number Placeholder 6"/>
          <p:cNvSpPr>
            <a:spLocks noGrp="1"/>
          </p:cNvSpPr>
          <p:nvPr>
            <p:ph type="sldNum" sz="quarter" idx="12"/>
          </p:nvPr>
        </p:nvSpPr>
        <p:spPr/>
        <p:txBody>
          <a:bodyPr/>
          <a:lstStyle/>
          <a:p>
            <a:fld id="{DA934484-767D-4C48-AF0E-A1438A969E59}" type="slidenum">
              <a:rPr lang="en-US" smtClean="0"/>
              <a:pPr/>
              <a:t>7</a:t>
            </a:fld>
            <a:endParaRPr lang="en-US"/>
          </a:p>
        </p:txBody>
      </p:sp>
    </p:spTree>
    <p:extLst>
      <p:ext uri="{BB962C8B-B14F-4D97-AF65-F5344CB8AC3E}">
        <p14:creationId xmlns:p14="http://schemas.microsoft.com/office/powerpoint/2010/main" xmlns="" val="2352696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par>
                                <p:cTn id="8" presetID="22" presetClass="entr" presetSubtype="2"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a:solidFill>
                  <a:schemeClr val="accent2"/>
                </a:solidFill>
                <a:latin typeface="Tahoma" charset="0"/>
                <a:cs typeface="Arial" charset="0"/>
              </a:rPr>
              <a:t>5</a:t>
            </a:r>
            <a:r>
              <a:rPr lang="en-US" sz="4000" dirty="0" smtClean="0">
                <a:solidFill>
                  <a:schemeClr val="accent2"/>
                </a:solidFill>
                <a:latin typeface="Tahoma" charset="0"/>
                <a:cs typeface="Arial" charset="0"/>
              </a:rPr>
              <a:t>. CODE (2)</a:t>
            </a:r>
            <a:endParaRPr lang="en-US" sz="4000" dirty="0">
              <a:solidFill>
                <a:schemeClr val="accent2"/>
              </a:solidFill>
              <a:latin typeface="Tahoma" charset="0"/>
              <a:cs typeface="Arial" charset="0"/>
            </a:endParaRPr>
          </a:p>
        </p:txBody>
      </p:sp>
      <p:sp>
        <p:nvSpPr>
          <p:cNvPr id="15" name="Rectangle 14"/>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 </a:t>
            </a:r>
            <a:endParaRPr lang="en-US" b="1" dirty="0"/>
          </a:p>
        </p:txBody>
      </p:sp>
      <p:cxnSp>
        <p:nvCxnSpPr>
          <p:cNvPr id="16" name="Straight Connector 15"/>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179512" y="1340768"/>
            <a:ext cx="8784976" cy="4524315"/>
            <a:chOff x="258661" y="1236822"/>
            <a:chExt cx="7913739" cy="4524315"/>
          </a:xfrm>
        </p:grpSpPr>
        <p:sp>
          <p:nvSpPr>
            <p:cNvPr id="9" name="TextBox 8"/>
            <p:cNvSpPr txBox="1"/>
            <p:nvPr/>
          </p:nvSpPr>
          <p:spPr>
            <a:xfrm>
              <a:off x="712728" y="1236822"/>
              <a:ext cx="7459672" cy="4524315"/>
            </a:xfrm>
            <a:prstGeom prst="rect">
              <a:avLst/>
            </a:prstGeom>
            <a:solidFill>
              <a:schemeClr val="bg2"/>
            </a:solidFill>
            <a:ln w="28575" cap="rnd" cmpd="thickThin">
              <a:solidFill>
                <a:srgbClr val="0000FF"/>
              </a:solidFill>
            </a:ln>
          </p:spPr>
          <p:txBody>
            <a:bodyPr wrap="square" rtlCol="0">
              <a:spAutoFit/>
            </a:bodyPr>
            <a:lstStyle/>
            <a:p>
              <a:r>
                <a:rPr lang="en-US" sz="1600" dirty="0" smtClean="0">
                  <a:solidFill>
                    <a:srgbClr val="00B050"/>
                  </a:solidFill>
                </a:rPr>
                <a:t>          // Processing section: charge depends on </a:t>
              </a:r>
              <a:r>
                <a:rPr lang="en-US" sz="1600" dirty="0" err="1" smtClean="0">
                  <a:solidFill>
                    <a:srgbClr val="00B050"/>
                  </a:solidFill>
                </a:rPr>
                <a:t>passClass</a:t>
              </a:r>
              <a:endParaRPr lang="en-US" sz="1600" dirty="0" smtClean="0">
                <a:solidFill>
                  <a:srgbClr val="00B050"/>
                </a:solidFill>
              </a:endParaRPr>
            </a:p>
            <a:p>
              <a:r>
                <a:rPr lang="en-US" sz="1600" dirty="0">
                  <a:solidFill>
                    <a:srgbClr val="00B050"/>
                  </a:solidFill>
                </a:rPr>
                <a:t> </a:t>
              </a:r>
              <a:r>
                <a:rPr lang="en-US" sz="1600" dirty="0" smtClean="0">
                  <a:solidFill>
                    <a:srgbClr val="00B050"/>
                  </a:solidFill>
                </a:rPr>
                <a:t>             </a:t>
              </a:r>
              <a:r>
                <a:rPr lang="en-US" sz="1600" dirty="0" smtClean="0">
                  <a:solidFill>
                    <a:srgbClr val="00B0F0"/>
                  </a:solidFill>
                </a:rPr>
                <a:t>switch</a:t>
              </a:r>
              <a:r>
                <a:rPr lang="en-US" sz="1600" dirty="0" smtClean="0"/>
                <a:t> (</a:t>
              </a:r>
              <a:r>
                <a:rPr lang="en-US" sz="1600" dirty="0" err="1" smtClean="0">
                  <a:solidFill>
                    <a:srgbClr val="0000FF"/>
                  </a:solidFill>
                </a:rPr>
                <a:t>passClass</a:t>
              </a:r>
              <a:r>
                <a:rPr lang="en-US" sz="1600" dirty="0" smtClean="0"/>
                <a:t>)</a:t>
              </a:r>
            </a:p>
            <a:p>
              <a:r>
                <a:rPr lang="en-US" sz="1600" dirty="0"/>
                <a:t> </a:t>
              </a:r>
              <a:r>
                <a:rPr lang="en-US" sz="1600" dirty="0" smtClean="0"/>
                <a:t>               {</a:t>
              </a:r>
            </a:p>
            <a:p>
              <a:r>
                <a:rPr lang="en-US" sz="1600" dirty="0"/>
                <a:t> </a:t>
              </a:r>
              <a:r>
                <a:rPr lang="en-US" sz="1600" dirty="0" smtClean="0"/>
                <a:t>                 </a:t>
              </a:r>
              <a:r>
                <a:rPr lang="en-US" sz="1600" dirty="0" smtClean="0">
                  <a:solidFill>
                    <a:srgbClr val="00B0F0"/>
                  </a:solidFill>
                </a:rPr>
                <a:t>case</a:t>
              </a:r>
              <a:r>
                <a:rPr lang="en-US" sz="1600" dirty="0" smtClean="0"/>
                <a:t> ‘</a:t>
              </a:r>
              <a:r>
                <a:rPr lang="en-US" sz="1600" dirty="0" smtClean="0">
                  <a:solidFill>
                    <a:srgbClr val="00B050"/>
                  </a:solidFill>
                </a:rPr>
                <a:t>F</a:t>
              </a:r>
              <a:r>
                <a:rPr lang="en-US" sz="1600" dirty="0" smtClean="0"/>
                <a:t>’: </a:t>
              </a:r>
              <a:r>
                <a:rPr lang="en-US" sz="1600" dirty="0" smtClean="0">
                  <a:solidFill>
                    <a:srgbClr val="00B0F0"/>
                  </a:solidFill>
                </a:rPr>
                <a:t>if</a:t>
              </a:r>
              <a:r>
                <a:rPr lang="en-US" sz="1600" dirty="0" smtClean="0"/>
                <a:t> (</a:t>
              </a:r>
              <a:r>
                <a:rPr lang="en-US" sz="1600" dirty="0" err="1" smtClean="0">
                  <a:solidFill>
                    <a:srgbClr val="0000FF"/>
                  </a:solidFill>
                </a:rPr>
                <a:t>bagWeight</a:t>
              </a:r>
              <a:r>
                <a:rPr lang="en-US" sz="1600" dirty="0" smtClean="0"/>
                <a:t> &gt; 30)</a:t>
              </a:r>
            </a:p>
            <a:p>
              <a:r>
                <a:rPr lang="en-US" sz="1600" dirty="0" smtClean="0">
                  <a:solidFill>
                    <a:srgbClr val="0000FF"/>
                  </a:solidFill>
                </a:rPr>
                <a:t>	  	       </a:t>
              </a:r>
              <a:r>
                <a:rPr lang="en-US" sz="1600" dirty="0" err="1" smtClean="0">
                  <a:solidFill>
                    <a:srgbClr val="0000FF"/>
                  </a:solidFill>
                </a:rPr>
                <a:t>excessWeight</a:t>
              </a:r>
              <a:r>
                <a:rPr lang="en-US" sz="1600" dirty="0" smtClean="0"/>
                <a:t> = </a:t>
              </a:r>
              <a:r>
                <a:rPr lang="en-US" sz="1600" dirty="0" err="1" smtClean="0">
                  <a:solidFill>
                    <a:srgbClr val="0000FF"/>
                  </a:solidFill>
                </a:rPr>
                <a:t>bagWeight</a:t>
              </a:r>
              <a:r>
                <a:rPr lang="en-US" sz="1600" dirty="0" smtClean="0"/>
                <a:t> – 30;</a:t>
              </a:r>
            </a:p>
            <a:p>
              <a:r>
                <a:rPr lang="en-US" sz="1600" dirty="0" smtClean="0">
                  <a:solidFill>
                    <a:srgbClr val="00B0F0"/>
                  </a:solidFill>
                </a:rPr>
                <a:t>		   break</a:t>
              </a:r>
              <a:r>
                <a:rPr lang="en-US" sz="1600" dirty="0" smtClean="0"/>
                <a:t>;</a:t>
              </a:r>
            </a:p>
            <a:p>
              <a:r>
                <a:rPr lang="en-US" sz="1600" dirty="0" smtClean="0">
                  <a:solidFill>
                    <a:srgbClr val="00B0F0"/>
                  </a:solidFill>
                </a:rPr>
                <a:t>                  case</a:t>
              </a:r>
              <a:r>
                <a:rPr lang="en-US" sz="1600" dirty="0" smtClean="0"/>
                <a:t> ‘</a:t>
              </a:r>
              <a:r>
                <a:rPr lang="en-US" sz="1600" dirty="0" smtClean="0">
                  <a:solidFill>
                    <a:srgbClr val="00B050"/>
                  </a:solidFill>
                </a:rPr>
                <a:t>B</a:t>
              </a:r>
              <a:r>
                <a:rPr lang="en-US" sz="1600" dirty="0" smtClean="0"/>
                <a:t>’: </a:t>
              </a:r>
              <a:r>
                <a:rPr lang="en-US" sz="1600" dirty="0" smtClean="0">
                  <a:solidFill>
                    <a:srgbClr val="00B0F0"/>
                  </a:solidFill>
                </a:rPr>
                <a:t>if</a:t>
              </a:r>
              <a:r>
                <a:rPr lang="en-US" sz="1600" dirty="0" smtClean="0"/>
                <a:t> (</a:t>
              </a:r>
              <a:r>
                <a:rPr lang="en-US" sz="1600" dirty="0" err="1" smtClean="0">
                  <a:solidFill>
                    <a:srgbClr val="0000FF"/>
                  </a:solidFill>
                </a:rPr>
                <a:t>bagWeight</a:t>
              </a:r>
              <a:r>
                <a:rPr lang="en-US" sz="1600" dirty="0" smtClean="0">
                  <a:solidFill>
                    <a:srgbClr val="0000FF"/>
                  </a:solidFill>
                </a:rPr>
                <a:t> </a:t>
              </a:r>
              <a:r>
                <a:rPr lang="en-US" sz="1600" dirty="0" smtClean="0"/>
                <a:t>&gt; 25)</a:t>
              </a:r>
            </a:p>
            <a:p>
              <a:r>
                <a:rPr lang="en-US" sz="1600" dirty="0" smtClean="0">
                  <a:solidFill>
                    <a:srgbClr val="0000FF"/>
                  </a:solidFill>
                </a:rPr>
                <a:t>                                   </a:t>
              </a:r>
              <a:r>
                <a:rPr lang="en-US" sz="1600" dirty="0" err="1" smtClean="0">
                  <a:solidFill>
                    <a:srgbClr val="0000FF"/>
                  </a:solidFill>
                </a:rPr>
                <a:t>excessWeight</a:t>
              </a:r>
              <a:r>
                <a:rPr lang="en-US" sz="1600" dirty="0" smtClean="0"/>
                <a:t> </a:t>
              </a:r>
              <a:r>
                <a:rPr lang="en-US" sz="1600" dirty="0"/>
                <a:t>= </a:t>
              </a:r>
              <a:r>
                <a:rPr lang="en-US" sz="1600" dirty="0" err="1">
                  <a:solidFill>
                    <a:srgbClr val="0000FF"/>
                  </a:solidFill>
                </a:rPr>
                <a:t>bagWeight</a:t>
              </a:r>
              <a:r>
                <a:rPr lang="en-US" sz="1600" dirty="0"/>
                <a:t> – </a:t>
              </a:r>
              <a:r>
                <a:rPr lang="en-US" sz="1600" dirty="0" smtClean="0"/>
                <a:t>25;</a:t>
              </a:r>
              <a:endParaRPr lang="en-US" sz="1600" dirty="0"/>
            </a:p>
            <a:p>
              <a:r>
                <a:rPr lang="en-US" sz="1600" dirty="0" smtClean="0">
                  <a:solidFill>
                    <a:srgbClr val="00B0F0"/>
                  </a:solidFill>
                </a:rPr>
                <a:t>                               break</a:t>
              </a:r>
              <a:r>
                <a:rPr lang="en-US" sz="1600" dirty="0" smtClean="0"/>
                <a:t>;</a:t>
              </a:r>
            </a:p>
            <a:p>
              <a:r>
                <a:rPr lang="en-US" sz="1600" dirty="0" smtClean="0"/>
                <a:t>                  </a:t>
              </a:r>
              <a:r>
                <a:rPr lang="en-US" sz="1600" dirty="0">
                  <a:solidFill>
                    <a:srgbClr val="00B0F0"/>
                  </a:solidFill>
                </a:rPr>
                <a:t>case</a:t>
              </a:r>
              <a:r>
                <a:rPr lang="en-US" sz="1600" dirty="0"/>
                <a:t> </a:t>
              </a:r>
              <a:r>
                <a:rPr lang="en-US" sz="1600" dirty="0" smtClean="0"/>
                <a:t>‘</a:t>
              </a:r>
              <a:r>
                <a:rPr lang="en-US" sz="1600" dirty="0" smtClean="0">
                  <a:solidFill>
                    <a:srgbClr val="00B050"/>
                  </a:solidFill>
                </a:rPr>
                <a:t>E</a:t>
              </a:r>
              <a:r>
                <a:rPr lang="en-US" sz="1600" dirty="0" smtClean="0"/>
                <a:t>’: </a:t>
              </a:r>
              <a:r>
                <a:rPr lang="en-US" sz="1600" dirty="0" smtClean="0">
                  <a:solidFill>
                    <a:srgbClr val="00B0F0"/>
                  </a:solidFill>
                </a:rPr>
                <a:t>if</a:t>
              </a:r>
              <a:r>
                <a:rPr lang="en-US" sz="1600" dirty="0" smtClean="0"/>
                <a:t> (</a:t>
              </a:r>
              <a:r>
                <a:rPr lang="en-US" sz="1600" dirty="0" err="1" smtClean="0">
                  <a:solidFill>
                    <a:srgbClr val="0000FF"/>
                  </a:solidFill>
                </a:rPr>
                <a:t>bagWeight</a:t>
              </a:r>
              <a:r>
                <a:rPr lang="en-US" sz="1600" dirty="0" smtClean="0">
                  <a:solidFill>
                    <a:srgbClr val="0000FF"/>
                  </a:solidFill>
                </a:rPr>
                <a:t> </a:t>
              </a:r>
              <a:r>
                <a:rPr lang="en-US" sz="1600" dirty="0" smtClean="0"/>
                <a:t>&gt; 20)</a:t>
              </a:r>
            </a:p>
            <a:p>
              <a:r>
                <a:rPr lang="en-US" sz="1600" dirty="0" smtClean="0">
                  <a:solidFill>
                    <a:srgbClr val="0000FF"/>
                  </a:solidFill>
                </a:rPr>
                <a:t>		       </a:t>
              </a:r>
              <a:r>
                <a:rPr lang="en-US" sz="1600" dirty="0" err="1" smtClean="0">
                  <a:solidFill>
                    <a:srgbClr val="0000FF"/>
                  </a:solidFill>
                </a:rPr>
                <a:t>excessWeight</a:t>
              </a:r>
              <a:r>
                <a:rPr lang="en-US" sz="1600" dirty="0" smtClean="0"/>
                <a:t> </a:t>
              </a:r>
              <a:r>
                <a:rPr lang="en-US" sz="1600" dirty="0"/>
                <a:t>= </a:t>
              </a:r>
              <a:r>
                <a:rPr lang="en-US" sz="1600" dirty="0" err="1">
                  <a:solidFill>
                    <a:srgbClr val="0000FF"/>
                  </a:solidFill>
                </a:rPr>
                <a:t>bagWeight</a:t>
              </a:r>
              <a:r>
                <a:rPr lang="en-US" sz="1600" dirty="0"/>
                <a:t> – </a:t>
              </a:r>
              <a:r>
                <a:rPr lang="en-US" sz="1600" dirty="0" smtClean="0"/>
                <a:t>20;</a:t>
              </a:r>
              <a:endParaRPr lang="en-US" sz="1600" dirty="0"/>
            </a:p>
            <a:p>
              <a:r>
                <a:rPr lang="en-US" sz="1600" dirty="0" smtClean="0">
                  <a:solidFill>
                    <a:srgbClr val="00B0F0"/>
                  </a:solidFill>
                </a:rPr>
                <a:t>                               break</a:t>
              </a:r>
              <a:r>
                <a:rPr lang="en-US" sz="1600" dirty="0" smtClean="0"/>
                <a:t>;</a:t>
              </a:r>
            </a:p>
            <a:p>
              <a:r>
                <a:rPr lang="en-US" sz="1600" dirty="0" smtClean="0"/>
                <a:t>                 } </a:t>
              </a:r>
              <a:r>
                <a:rPr lang="en-US" sz="1600" dirty="0" smtClean="0">
                  <a:solidFill>
                    <a:srgbClr val="00B050"/>
                  </a:solidFill>
                </a:rPr>
                <a:t>//end switch</a:t>
              </a:r>
            </a:p>
            <a:p>
              <a:r>
                <a:rPr lang="en-US" sz="1600" dirty="0"/>
                <a:t> </a:t>
              </a:r>
              <a:r>
                <a:rPr lang="en-US" sz="1600" dirty="0" smtClean="0"/>
                <a:t>             </a:t>
              </a:r>
              <a:r>
                <a:rPr lang="en-US" sz="1600" dirty="0" smtClean="0">
                  <a:solidFill>
                    <a:srgbClr val="0000FF"/>
                  </a:solidFill>
                </a:rPr>
                <a:t>charge </a:t>
              </a:r>
              <a:r>
                <a:rPr lang="en-US" sz="1600" dirty="0" smtClean="0"/>
                <a:t>= </a:t>
              </a:r>
              <a:r>
                <a:rPr lang="en-US" sz="1600" dirty="0" err="1" smtClean="0">
                  <a:solidFill>
                    <a:srgbClr val="0000FF"/>
                  </a:solidFill>
                </a:rPr>
                <a:t>excessWeight</a:t>
              </a:r>
              <a:r>
                <a:rPr lang="en-US" sz="1600" dirty="0" smtClean="0">
                  <a:solidFill>
                    <a:srgbClr val="0000FF"/>
                  </a:solidFill>
                </a:rPr>
                <a:t> </a:t>
              </a:r>
              <a:r>
                <a:rPr lang="en-US" sz="1600" dirty="0" smtClean="0"/>
                <a:t>* 10;</a:t>
              </a:r>
              <a:endParaRPr lang="en-US" sz="1600" dirty="0"/>
            </a:p>
            <a:p>
              <a:r>
                <a:rPr lang="en-US" sz="1600" dirty="0" smtClean="0">
                  <a:solidFill>
                    <a:srgbClr val="00B050"/>
                  </a:solidFill>
                </a:rPr>
                <a:t>          // Output Section</a:t>
              </a:r>
              <a:endParaRPr lang="en-US" sz="1600" dirty="0">
                <a:solidFill>
                  <a:srgbClr val="00B050"/>
                </a:solidFill>
              </a:endParaRPr>
            </a:p>
            <a:p>
              <a:r>
                <a:rPr lang="en-US" sz="1600" dirty="0" smtClean="0"/>
                <a:t>              </a:t>
              </a:r>
              <a:r>
                <a:rPr lang="en-US" sz="1600" dirty="0" err="1" smtClean="0">
                  <a:solidFill>
                    <a:srgbClr val="00B0F0"/>
                  </a:solidFill>
                </a:rPr>
                <a:t>System.out.printf</a:t>
              </a:r>
              <a:r>
                <a:rPr lang="en-US" sz="1600" dirty="0" smtClean="0">
                  <a:solidFill>
                    <a:srgbClr val="00B0F0"/>
                  </a:solidFill>
                </a:rPr>
                <a:t> </a:t>
              </a:r>
              <a:r>
                <a:rPr lang="en-US" sz="1600" dirty="0" smtClean="0"/>
                <a:t>(“Charge = %5f”, </a:t>
              </a:r>
              <a:r>
                <a:rPr lang="en-US" sz="1600" dirty="0" smtClean="0">
                  <a:solidFill>
                    <a:srgbClr val="0000FF"/>
                  </a:solidFill>
                </a:rPr>
                <a:t>charge</a:t>
              </a:r>
              <a:r>
                <a:rPr lang="en-US" sz="1600" dirty="0" smtClean="0"/>
                <a:t>);</a:t>
              </a:r>
            </a:p>
            <a:p>
              <a:r>
                <a:rPr lang="en-US" sz="1600" dirty="0"/>
                <a:t> </a:t>
              </a:r>
              <a:r>
                <a:rPr lang="en-US" sz="1600" dirty="0" smtClean="0"/>
                <a:t>  } </a:t>
              </a:r>
              <a:r>
                <a:rPr lang="en-US" sz="1600" dirty="0" smtClean="0">
                  <a:solidFill>
                    <a:srgbClr val="00B050"/>
                  </a:solidFill>
                </a:rPr>
                <a:t>//end main</a:t>
              </a:r>
            </a:p>
            <a:p>
              <a:r>
                <a:rPr lang="en-US" sz="1600" dirty="0" smtClean="0"/>
                <a:t>} </a:t>
              </a:r>
              <a:r>
                <a:rPr lang="en-US" sz="1600" dirty="0" smtClean="0">
                  <a:solidFill>
                    <a:srgbClr val="00B050"/>
                  </a:solidFill>
                </a:rPr>
                <a:t>//end class               </a:t>
              </a:r>
            </a:p>
          </p:txBody>
        </p:sp>
        <p:sp>
          <p:nvSpPr>
            <p:cNvPr id="10" name="TextBox 9"/>
            <p:cNvSpPr txBox="1"/>
            <p:nvPr/>
          </p:nvSpPr>
          <p:spPr>
            <a:xfrm>
              <a:off x="258661" y="1236822"/>
              <a:ext cx="454067" cy="3785652"/>
            </a:xfrm>
            <a:prstGeom prst="rect">
              <a:avLst/>
            </a:prstGeom>
            <a:noFill/>
          </p:spPr>
          <p:txBody>
            <a:bodyPr wrap="square" rtlCol="0">
              <a:spAutoFit/>
            </a:bodyPr>
            <a:lstStyle/>
            <a:p>
              <a:pPr algn="r"/>
              <a:r>
                <a:rPr lang="en-US" sz="1600" dirty="0" smtClean="0">
                  <a:solidFill>
                    <a:srgbClr val="FF0000"/>
                  </a:solidFill>
                </a:rPr>
                <a:t>19</a:t>
              </a:r>
            </a:p>
            <a:p>
              <a:pPr algn="r"/>
              <a:r>
                <a:rPr lang="en-US" sz="1600" dirty="0" smtClean="0">
                  <a:solidFill>
                    <a:srgbClr val="FF0000"/>
                  </a:solidFill>
                </a:rPr>
                <a:t>20</a:t>
              </a:r>
            </a:p>
            <a:p>
              <a:pPr algn="r"/>
              <a:r>
                <a:rPr lang="en-US" sz="1600" dirty="0" smtClean="0">
                  <a:solidFill>
                    <a:srgbClr val="FF0000"/>
                  </a:solidFill>
                </a:rPr>
                <a:t>21</a:t>
              </a:r>
            </a:p>
            <a:p>
              <a:pPr algn="r"/>
              <a:r>
                <a:rPr lang="en-US" sz="1600" dirty="0" smtClean="0">
                  <a:solidFill>
                    <a:srgbClr val="FF0000"/>
                  </a:solidFill>
                </a:rPr>
                <a:t>22</a:t>
              </a:r>
            </a:p>
            <a:p>
              <a:pPr algn="r"/>
              <a:r>
                <a:rPr lang="en-US" sz="1600" dirty="0" smtClean="0">
                  <a:solidFill>
                    <a:srgbClr val="FF0000"/>
                  </a:solidFill>
                </a:rPr>
                <a:t>23</a:t>
              </a:r>
            </a:p>
            <a:p>
              <a:pPr algn="r"/>
              <a:r>
                <a:rPr lang="en-US" sz="1600" dirty="0" smtClean="0">
                  <a:solidFill>
                    <a:srgbClr val="FF0000"/>
                  </a:solidFill>
                </a:rPr>
                <a:t>24</a:t>
              </a:r>
            </a:p>
            <a:p>
              <a:pPr algn="r"/>
              <a:r>
                <a:rPr lang="en-US" sz="1600" dirty="0" smtClean="0">
                  <a:solidFill>
                    <a:srgbClr val="FF0000"/>
                  </a:solidFill>
                </a:rPr>
                <a:t>25</a:t>
              </a:r>
            </a:p>
            <a:p>
              <a:pPr algn="r"/>
              <a:r>
                <a:rPr lang="en-US" sz="1600" dirty="0" smtClean="0">
                  <a:solidFill>
                    <a:srgbClr val="FF0000"/>
                  </a:solidFill>
                </a:rPr>
                <a:t>26</a:t>
              </a:r>
            </a:p>
            <a:p>
              <a:pPr algn="r"/>
              <a:r>
                <a:rPr lang="en-US" sz="1600" dirty="0" smtClean="0">
                  <a:solidFill>
                    <a:srgbClr val="FF0000"/>
                  </a:solidFill>
                </a:rPr>
                <a:t>27</a:t>
              </a:r>
            </a:p>
            <a:p>
              <a:pPr algn="r"/>
              <a:r>
                <a:rPr lang="en-US" sz="1600" dirty="0" smtClean="0">
                  <a:solidFill>
                    <a:srgbClr val="FF0000"/>
                  </a:solidFill>
                </a:rPr>
                <a:t>28</a:t>
              </a:r>
            </a:p>
            <a:p>
              <a:pPr algn="r"/>
              <a:r>
                <a:rPr lang="en-US" sz="1600" dirty="0" smtClean="0">
                  <a:solidFill>
                    <a:srgbClr val="FF0000"/>
                  </a:solidFill>
                </a:rPr>
                <a:t>29</a:t>
              </a:r>
            </a:p>
            <a:p>
              <a:pPr algn="r"/>
              <a:r>
                <a:rPr lang="en-US" sz="1600" dirty="0" smtClean="0">
                  <a:solidFill>
                    <a:srgbClr val="FF0000"/>
                  </a:solidFill>
                </a:rPr>
                <a:t>30</a:t>
              </a:r>
            </a:p>
            <a:p>
              <a:pPr algn="r"/>
              <a:r>
                <a:rPr lang="en-US" sz="1600" dirty="0" smtClean="0">
                  <a:solidFill>
                    <a:srgbClr val="FF0000"/>
                  </a:solidFill>
                </a:rPr>
                <a:t>31</a:t>
              </a:r>
            </a:p>
            <a:p>
              <a:pPr algn="r"/>
              <a:r>
                <a:rPr lang="en-US" sz="1600" dirty="0" smtClean="0">
                  <a:solidFill>
                    <a:srgbClr val="FF0000"/>
                  </a:solidFill>
                </a:rPr>
                <a:t>32</a:t>
              </a:r>
            </a:p>
            <a:p>
              <a:pPr algn="r"/>
              <a:r>
                <a:rPr lang="en-US" sz="1600" dirty="0" smtClean="0">
                  <a:solidFill>
                    <a:srgbClr val="FF0000"/>
                  </a:solidFill>
                </a:rPr>
                <a:t>33</a:t>
              </a:r>
            </a:p>
          </p:txBody>
        </p:sp>
      </p:grpSp>
      <p:sp>
        <p:nvSpPr>
          <p:cNvPr id="7" name="Slide Number Placeholder 6"/>
          <p:cNvSpPr>
            <a:spLocks noGrp="1"/>
          </p:cNvSpPr>
          <p:nvPr>
            <p:ph type="sldNum" sz="quarter" idx="12"/>
          </p:nvPr>
        </p:nvSpPr>
        <p:spPr/>
        <p:txBody>
          <a:bodyPr/>
          <a:lstStyle/>
          <a:p>
            <a:fld id="{DA934484-767D-4C48-AF0E-A1438A969E59}" type="slidenum">
              <a:rPr lang="en-US" smtClean="0"/>
              <a:pPr/>
              <a:t>8</a:t>
            </a:fld>
            <a:endParaRPr lang="en-US"/>
          </a:p>
        </p:txBody>
      </p:sp>
    </p:spTree>
    <p:extLst>
      <p:ext uri="{BB962C8B-B14F-4D97-AF65-F5344CB8AC3E}">
        <p14:creationId xmlns:p14="http://schemas.microsoft.com/office/powerpoint/2010/main" xmlns="" val="1635947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par>
                                <p:cTn id="8" presetID="22" presetClass="entr" presetSubtype="2"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a:solidFill>
                  <a:schemeClr val="accent2"/>
                </a:solidFill>
                <a:latin typeface="Tahoma" charset="0"/>
                <a:cs typeface="Arial" charset="0"/>
              </a:rPr>
              <a:t>5</a:t>
            </a:r>
            <a:r>
              <a:rPr lang="en-US" sz="4000" dirty="0" smtClean="0">
                <a:solidFill>
                  <a:schemeClr val="accent2"/>
                </a:solidFill>
                <a:latin typeface="Tahoma" charset="0"/>
                <a:cs typeface="Arial" charset="0"/>
              </a:rPr>
              <a:t>. CODE (3)</a:t>
            </a:r>
            <a:endParaRPr lang="en-US" sz="4000" dirty="0">
              <a:solidFill>
                <a:schemeClr val="accent2"/>
              </a:solidFill>
              <a:latin typeface="Tahoma" charset="0"/>
              <a:cs typeface="Arial" charset="0"/>
            </a:endParaRPr>
          </a:p>
        </p:txBody>
      </p:sp>
      <p:sp>
        <p:nvSpPr>
          <p:cNvPr id="15" name="Rectangle 14"/>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 WITH USER INPUT VALIDATION</a:t>
            </a:r>
            <a:endParaRPr lang="en-US" b="1" dirty="0"/>
          </a:p>
        </p:txBody>
      </p:sp>
      <p:cxnSp>
        <p:nvCxnSpPr>
          <p:cNvPr id="16" name="Straight Connector 15"/>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179512" y="1232168"/>
            <a:ext cx="8784976" cy="5509200"/>
            <a:chOff x="258661" y="1236822"/>
            <a:chExt cx="7913739" cy="5509200"/>
          </a:xfrm>
        </p:grpSpPr>
        <p:sp>
          <p:nvSpPr>
            <p:cNvPr id="9" name="TextBox 8"/>
            <p:cNvSpPr txBox="1"/>
            <p:nvPr/>
          </p:nvSpPr>
          <p:spPr>
            <a:xfrm>
              <a:off x="712728" y="1236822"/>
              <a:ext cx="7459672" cy="5509200"/>
            </a:xfrm>
            <a:prstGeom prst="rect">
              <a:avLst/>
            </a:prstGeom>
            <a:solidFill>
              <a:schemeClr val="bg2"/>
            </a:solidFill>
            <a:ln w="28575" cap="rnd" cmpd="thickThin">
              <a:solidFill>
                <a:srgbClr val="0000FF"/>
              </a:solidFill>
            </a:ln>
          </p:spPr>
          <p:txBody>
            <a:bodyPr wrap="square" rtlCol="0">
              <a:spAutoFit/>
            </a:bodyPr>
            <a:lstStyle/>
            <a:p>
              <a:r>
                <a:rPr lang="en-US" sz="1600" dirty="0" smtClean="0">
                  <a:solidFill>
                    <a:srgbClr val="00B050"/>
                  </a:solidFill>
                </a:rPr>
                <a:t>          // Processing section: charge depends on </a:t>
              </a:r>
              <a:r>
                <a:rPr lang="en-US" sz="1600" dirty="0" err="1" smtClean="0">
                  <a:solidFill>
                    <a:srgbClr val="00B050"/>
                  </a:solidFill>
                </a:rPr>
                <a:t>passClass</a:t>
              </a:r>
              <a:endParaRPr lang="en-US" sz="1600" dirty="0" smtClean="0">
                <a:solidFill>
                  <a:srgbClr val="00B050"/>
                </a:solidFill>
              </a:endParaRPr>
            </a:p>
            <a:p>
              <a:r>
                <a:rPr lang="en-US" sz="1600" dirty="0">
                  <a:solidFill>
                    <a:srgbClr val="00B050"/>
                  </a:solidFill>
                </a:rPr>
                <a:t> </a:t>
              </a:r>
              <a:r>
                <a:rPr lang="en-US" sz="1600" dirty="0" smtClean="0">
                  <a:solidFill>
                    <a:srgbClr val="00B050"/>
                  </a:solidFill>
                </a:rPr>
                <a:t>             </a:t>
              </a:r>
              <a:r>
                <a:rPr lang="en-US" sz="1600" dirty="0" smtClean="0">
                  <a:solidFill>
                    <a:srgbClr val="00B0F0"/>
                  </a:solidFill>
                </a:rPr>
                <a:t>switch</a:t>
              </a:r>
              <a:r>
                <a:rPr lang="en-US" sz="1600" dirty="0" smtClean="0"/>
                <a:t> (</a:t>
              </a:r>
              <a:r>
                <a:rPr lang="en-US" sz="1600" dirty="0" err="1" smtClean="0">
                  <a:solidFill>
                    <a:srgbClr val="0000FF"/>
                  </a:solidFill>
                </a:rPr>
                <a:t>passClass</a:t>
              </a:r>
              <a:r>
                <a:rPr lang="en-US" sz="1600" dirty="0" smtClean="0"/>
                <a:t>)</a:t>
              </a:r>
            </a:p>
            <a:p>
              <a:r>
                <a:rPr lang="en-US" sz="1600" dirty="0"/>
                <a:t> </a:t>
              </a:r>
              <a:r>
                <a:rPr lang="en-US" sz="1600" dirty="0" smtClean="0"/>
                <a:t>               {</a:t>
              </a:r>
            </a:p>
            <a:p>
              <a:r>
                <a:rPr lang="en-US" sz="1600" dirty="0"/>
                <a:t> </a:t>
              </a:r>
              <a:r>
                <a:rPr lang="en-US" sz="1600" dirty="0" smtClean="0"/>
                <a:t>                 </a:t>
              </a:r>
              <a:r>
                <a:rPr lang="en-US" sz="1600" dirty="0" smtClean="0">
                  <a:solidFill>
                    <a:srgbClr val="00B0F0"/>
                  </a:solidFill>
                </a:rPr>
                <a:t>case </a:t>
              </a:r>
              <a:r>
                <a:rPr lang="en-US" sz="1600" dirty="0" smtClean="0"/>
                <a:t>‘</a:t>
              </a:r>
              <a:r>
                <a:rPr lang="en-US" sz="1600" dirty="0" smtClean="0">
                  <a:solidFill>
                    <a:srgbClr val="00B050"/>
                  </a:solidFill>
                </a:rPr>
                <a:t>f</a:t>
              </a:r>
              <a:r>
                <a:rPr lang="en-US" sz="1600" dirty="0" smtClean="0"/>
                <a:t>’:</a:t>
              </a:r>
            </a:p>
            <a:p>
              <a:r>
                <a:rPr lang="en-US" sz="1600" dirty="0"/>
                <a:t> </a:t>
              </a:r>
              <a:r>
                <a:rPr lang="en-US" sz="1600" dirty="0" smtClean="0"/>
                <a:t>                 </a:t>
              </a:r>
              <a:r>
                <a:rPr lang="en-US" sz="1600" dirty="0" smtClean="0">
                  <a:solidFill>
                    <a:srgbClr val="00B0F0"/>
                  </a:solidFill>
                </a:rPr>
                <a:t>case</a:t>
              </a:r>
              <a:r>
                <a:rPr lang="en-US" sz="1600" dirty="0" smtClean="0"/>
                <a:t> ‘</a:t>
              </a:r>
              <a:r>
                <a:rPr lang="en-US" sz="1600" dirty="0" smtClean="0">
                  <a:solidFill>
                    <a:srgbClr val="00B050"/>
                  </a:solidFill>
                </a:rPr>
                <a:t>F</a:t>
              </a:r>
              <a:r>
                <a:rPr lang="en-US" sz="1600" dirty="0" smtClean="0"/>
                <a:t>’: </a:t>
              </a:r>
              <a:r>
                <a:rPr lang="en-US" sz="1600" dirty="0" smtClean="0">
                  <a:solidFill>
                    <a:srgbClr val="00B0F0"/>
                  </a:solidFill>
                </a:rPr>
                <a:t>if</a:t>
              </a:r>
              <a:r>
                <a:rPr lang="en-US" sz="1600" dirty="0" smtClean="0"/>
                <a:t> (</a:t>
              </a:r>
              <a:r>
                <a:rPr lang="en-US" sz="1600" dirty="0" err="1" smtClean="0">
                  <a:solidFill>
                    <a:srgbClr val="0000FF"/>
                  </a:solidFill>
                </a:rPr>
                <a:t>bagWeight</a:t>
              </a:r>
              <a:r>
                <a:rPr lang="en-US" sz="1600" dirty="0" smtClean="0">
                  <a:solidFill>
                    <a:srgbClr val="0000FF"/>
                  </a:solidFill>
                </a:rPr>
                <a:t> </a:t>
              </a:r>
              <a:r>
                <a:rPr lang="en-US" sz="1600" dirty="0" smtClean="0"/>
                <a:t>&gt; 30) 	{</a:t>
              </a:r>
              <a:r>
                <a:rPr lang="en-US" sz="1600" dirty="0" err="1" smtClean="0">
                  <a:solidFill>
                    <a:srgbClr val="0000FF"/>
                  </a:solidFill>
                </a:rPr>
                <a:t>excessWeight</a:t>
              </a:r>
              <a:r>
                <a:rPr lang="en-US" sz="1600" dirty="0" smtClean="0"/>
                <a:t> = </a:t>
              </a:r>
              <a:r>
                <a:rPr lang="en-US" sz="1600" dirty="0" err="1" smtClean="0">
                  <a:solidFill>
                    <a:srgbClr val="0000FF"/>
                  </a:solidFill>
                </a:rPr>
                <a:t>bagWeight</a:t>
              </a:r>
              <a:r>
                <a:rPr lang="en-US" sz="1600" dirty="0" smtClean="0"/>
                <a:t> – 30;</a:t>
              </a:r>
            </a:p>
            <a:p>
              <a:r>
                <a:rPr lang="en-US" sz="1600" dirty="0">
                  <a:solidFill>
                    <a:srgbClr val="0000FF"/>
                  </a:solidFill>
                </a:rPr>
                <a:t>	</a:t>
              </a:r>
              <a:r>
                <a:rPr lang="en-US" sz="1600" dirty="0" smtClean="0">
                  <a:solidFill>
                    <a:srgbClr val="0000FF"/>
                  </a:solidFill>
                </a:rPr>
                <a:t>	   			 charge </a:t>
              </a:r>
              <a:r>
                <a:rPr lang="en-US" sz="1600" dirty="0" smtClean="0"/>
                <a:t>=</a:t>
              </a:r>
              <a:r>
                <a:rPr lang="en-US" sz="1600" dirty="0" smtClean="0">
                  <a:solidFill>
                    <a:srgbClr val="0000FF"/>
                  </a:solidFill>
                </a:rPr>
                <a:t> </a:t>
              </a:r>
              <a:r>
                <a:rPr lang="en-US" sz="1600" dirty="0" err="1" smtClean="0">
                  <a:solidFill>
                    <a:srgbClr val="0000FF"/>
                  </a:solidFill>
                </a:rPr>
                <a:t>excessWeight</a:t>
              </a:r>
              <a:r>
                <a:rPr lang="en-US" sz="1600" dirty="0" smtClean="0">
                  <a:solidFill>
                    <a:srgbClr val="0000FF"/>
                  </a:solidFill>
                </a:rPr>
                <a:t> </a:t>
              </a:r>
              <a:r>
                <a:rPr lang="en-US" sz="1600" dirty="0" smtClean="0"/>
                <a:t>* 10;}</a:t>
              </a:r>
            </a:p>
            <a:p>
              <a:r>
                <a:rPr lang="en-US" sz="1600" dirty="0" smtClean="0">
                  <a:solidFill>
                    <a:srgbClr val="00B0F0"/>
                  </a:solidFill>
                </a:rPr>
                <a:t>		   break</a:t>
              </a:r>
              <a:r>
                <a:rPr lang="en-US" sz="1600" dirty="0" smtClean="0"/>
                <a:t>;</a:t>
              </a:r>
            </a:p>
            <a:p>
              <a:r>
                <a:rPr lang="en-US" sz="1600" dirty="0"/>
                <a:t> </a:t>
              </a:r>
              <a:r>
                <a:rPr lang="en-US" sz="1600" dirty="0" smtClean="0"/>
                <a:t>                 </a:t>
              </a:r>
              <a:r>
                <a:rPr lang="en-US" sz="1600" dirty="0" smtClean="0">
                  <a:solidFill>
                    <a:srgbClr val="00B0F0"/>
                  </a:solidFill>
                </a:rPr>
                <a:t>case</a:t>
              </a:r>
              <a:r>
                <a:rPr lang="en-US" sz="1600" dirty="0" smtClean="0"/>
                <a:t> ‘</a:t>
              </a:r>
              <a:r>
                <a:rPr lang="en-US" sz="1600" dirty="0" smtClean="0">
                  <a:solidFill>
                    <a:srgbClr val="00B050"/>
                  </a:solidFill>
                </a:rPr>
                <a:t>b</a:t>
              </a:r>
              <a:r>
                <a:rPr lang="en-US" sz="1600" dirty="0" smtClean="0"/>
                <a:t>’:</a:t>
              </a:r>
            </a:p>
            <a:p>
              <a:r>
                <a:rPr lang="en-US" sz="1600" dirty="0" smtClean="0">
                  <a:solidFill>
                    <a:srgbClr val="00B0F0"/>
                  </a:solidFill>
                </a:rPr>
                <a:t>                  case</a:t>
              </a:r>
              <a:r>
                <a:rPr lang="en-US" sz="1600" dirty="0" smtClean="0"/>
                <a:t> ‘</a:t>
              </a:r>
              <a:r>
                <a:rPr lang="en-US" sz="1600" dirty="0" smtClean="0">
                  <a:solidFill>
                    <a:srgbClr val="00B050"/>
                  </a:solidFill>
                </a:rPr>
                <a:t>B</a:t>
              </a:r>
              <a:r>
                <a:rPr lang="en-US" sz="1600" dirty="0" smtClean="0"/>
                <a:t>’: </a:t>
              </a:r>
              <a:r>
                <a:rPr lang="en-US" sz="1600" dirty="0" smtClean="0">
                  <a:solidFill>
                    <a:srgbClr val="00B0F0"/>
                  </a:solidFill>
                </a:rPr>
                <a:t>if</a:t>
              </a:r>
              <a:r>
                <a:rPr lang="en-US" sz="1600" dirty="0" smtClean="0"/>
                <a:t> (</a:t>
              </a:r>
              <a:r>
                <a:rPr lang="en-US" sz="1600" dirty="0" err="1" smtClean="0">
                  <a:solidFill>
                    <a:srgbClr val="0000FF"/>
                  </a:solidFill>
                </a:rPr>
                <a:t>bagWeight</a:t>
              </a:r>
              <a:r>
                <a:rPr lang="en-US" sz="1600" dirty="0" smtClean="0">
                  <a:solidFill>
                    <a:srgbClr val="0000FF"/>
                  </a:solidFill>
                </a:rPr>
                <a:t> </a:t>
              </a:r>
              <a:r>
                <a:rPr lang="en-US" sz="1600" dirty="0" smtClean="0"/>
                <a:t>&gt; 25) 	{</a:t>
              </a:r>
              <a:r>
                <a:rPr lang="en-US" sz="1600" dirty="0" err="1" smtClean="0">
                  <a:solidFill>
                    <a:srgbClr val="0000FF"/>
                  </a:solidFill>
                </a:rPr>
                <a:t>excessWeight</a:t>
              </a:r>
              <a:r>
                <a:rPr lang="en-US" sz="1600" dirty="0" smtClean="0"/>
                <a:t> </a:t>
              </a:r>
              <a:r>
                <a:rPr lang="en-US" sz="1600" dirty="0"/>
                <a:t>= </a:t>
              </a:r>
              <a:r>
                <a:rPr lang="en-US" sz="1600" dirty="0" err="1">
                  <a:solidFill>
                    <a:srgbClr val="0000FF"/>
                  </a:solidFill>
                </a:rPr>
                <a:t>bagWeight</a:t>
              </a:r>
              <a:r>
                <a:rPr lang="en-US" sz="1600" dirty="0"/>
                <a:t> – </a:t>
              </a:r>
              <a:r>
                <a:rPr lang="en-US" sz="1600" dirty="0" smtClean="0"/>
                <a:t>25;</a:t>
              </a:r>
              <a:endParaRPr lang="en-US" sz="1600" dirty="0"/>
            </a:p>
            <a:p>
              <a:r>
                <a:rPr lang="en-US" sz="1600" dirty="0" smtClean="0"/>
                <a:t>					 </a:t>
              </a:r>
              <a:r>
                <a:rPr lang="en-US" sz="1600" dirty="0" smtClean="0">
                  <a:solidFill>
                    <a:srgbClr val="0000FF"/>
                  </a:solidFill>
                </a:rPr>
                <a:t>charge </a:t>
              </a:r>
              <a:r>
                <a:rPr lang="en-US" sz="1600" dirty="0" smtClean="0"/>
                <a:t>= </a:t>
              </a:r>
              <a:r>
                <a:rPr lang="en-US" sz="1600" dirty="0" err="1" smtClean="0">
                  <a:solidFill>
                    <a:srgbClr val="0000FF"/>
                  </a:solidFill>
                </a:rPr>
                <a:t>excessWeight</a:t>
              </a:r>
              <a:r>
                <a:rPr lang="en-US" sz="1600" dirty="0" smtClean="0">
                  <a:solidFill>
                    <a:srgbClr val="0000FF"/>
                  </a:solidFill>
                </a:rPr>
                <a:t> </a:t>
              </a:r>
              <a:r>
                <a:rPr lang="en-US" sz="1600" dirty="0" smtClean="0"/>
                <a:t>* 10;}</a:t>
              </a:r>
            </a:p>
            <a:p>
              <a:r>
                <a:rPr lang="en-US" sz="1600" dirty="0" smtClean="0">
                  <a:solidFill>
                    <a:srgbClr val="00B0F0"/>
                  </a:solidFill>
                </a:rPr>
                <a:t>		    break</a:t>
              </a:r>
              <a:r>
                <a:rPr lang="en-US" sz="1600" dirty="0" smtClean="0"/>
                <a:t>;</a:t>
              </a:r>
            </a:p>
            <a:p>
              <a:r>
                <a:rPr lang="en-US" sz="1600" dirty="0"/>
                <a:t> </a:t>
              </a:r>
              <a:r>
                <a:rPr lang="en-US" sz="1600" dirty="0" smtClean="0"/>
                <a:t>                 </a:t>
              </a:r>
              <a:r>
                <a:rPr lang="en-US" sz="1600" dirty="0" smtClean="0">
                  <a:solidFill>
                    <a:srgbClr val="00B0F0"/>
                  </a:solidFill>
                </a:rPr>
                <a:t>case</a:t>
              </a:r>
              <a:r>
                <a:rPr lang="en-US" sz="1600" dirty="0" smtClean="0"/>
                <a:t> ‘</a:t>
              </a:r>
              <a:r>
                <a:rPr lang="en-US" sz="1600" dirty="0" smtClean="0">
                  <a:solidFill>
                    <a:srgbClr val="00B050"/>
                  </a:solidFill>
                </a:rPr>
                <a:t>e</a:t>
              </a:r>
              <a:r>
                <a:rPr lang="en-US" sz="1600" dirty="0" smtClean="0"/>
                <a:t>’:</a:t>
              </a:r>
            </a:p>
            <a:p>
              <a:r>
                <a:rPr lang="en-US" sz="1600" dirty="0" smtClean="0"/>
                <a:t>                  </a:t>
              </a:r>
              <a:r>
                <a:rPr lang="en-US" sz="1600" dirty="0">
                  <a:solidFill>
                    <a:srgbClr val="00B0F0"/>
                  </a:solidFill>
                </a:rPr>
                <a:t>case</a:t>
              </a:r>
              <a:r>
                <a:rPr lang="en-US" sz="1600" dirty="0"/>
                <a:t> </a:t>
              </a:r>
              <a:r>
                <a:rPr lang="en-US" sz="1600" dirty="0" smtClean="0"/>
                <a:t>‘</a:t>
              </a:r>
              <a:r>
                <a:rPr lang="en-US" sz="1600" dirty="0" smtClean="0">
                  <a:solidFill>
                    <a:srgbClr val="00B050"/>
                  </a:solidFill>
                </a:rPr>
                <a:t>E</a:t>
              </a:r>
              <a:r>
                <a:rPr lang="en-US" sz="1600" dirty="0" smtClean="0"/>
                <a:t>’: </a:t>
              </a:r>
              <a:r>
                <a:rPr lang="en-US" sz="1600" dirty="0" smtClean="0">
                  <a:solidFill>
                    <a:srgbClr val="00B0F0"/>
                  </a:solidFill>
                </a:rPr>
                <a:t>if</a:t>
              </a:r>
              <a:r>
                <a:rPr lang="en-US" sz="1600" dirty="0" smtClean="0"/>
                <a:t> (</a:t>
              </a:r>
              <a:r>
                <a:rPr lang="en-US" sz="1600" dirty="0" err="1" smtClean="0">
                  <a:solidFill>
                    <a:srgbClr val="0000FF"/>
                  </a:solidFill>
                </a:rPr>
                <a:t>bagWeight</a:t>
              </a:r>
              <a:r>
                <a:rPr lang="en-US" sz="1600" dirty="0" smtClean="0"/>
                <a:t> &gt; 20) 	{</a:t>
              </a:r>
              <a:r>
                <a:rPr lang="en-US" sz="1600" dirty="0" err="1" smtClean="0">
                  <a:solidFill>
                    <a:srgbClr val="0000FF"/>
                  </a:solidFill>
                </a:rPr>
                <a:t>excessWeight</a:t>
              </a:r>
              <a:r>
                <a:rPr lang="en-US" sz="1600" dirty="0" smtClean="0"/>
                <a:t> </a:t>
              </a:r>
              <a:r>
                <a:rPr lang="en-US" sz="1600" dirty="0"/>
                <a:t>= </a:t>
              </a:r>
              <a:r>
                <a:rPr lang="en-US" sz="1600" dirty="0" err="1">
                  <a:solidFill>
                    <a:srgbClr val="0000FF"/>
                  </a:solidFill>
                </a:rPr>
                <a:t>bagWeight</a:t>
              </a:r>
              <a:r>
                <a:rPr lang="en-US" sz="1600" dirty="0"/>
                <a:t> – </a:t>
              </a:r>
              <a:r>
                <a:rPr lang="en-US" sz="1600" dirty="0" smtClean="0"/>
                <a:t>20;</a:t>
              </a:r>
              <a:endParaRPr lang="en-US" sz="1600" dirty="0"/>
            </a:p>
            <a:p>
              <a:r>
                <a:rPr lang="en-US" sz="1600" dirty="0" smtClean="0"/>
                <a:t>                               			 </a:t>
              </a:r>
              <a:r>
                <a:rPr lang="en-US" sz="1600" dirty="0" smtClean="0">
                  <a:solidFill>
                    <a:srgbClr val="0000FF"/>
                  </a:solidFill>
                </a:rPr>
                <a:t>charge</a:t>
              </a:r>
              <a:r>
                <a:rPr lang="en-US" sz="1600" dirty="0" smtClean="0"/>
                <a:t> = </a:t>
              </a:r>
              <a:r>
                <a:rPr lang="en-US" sz="1600" dirty="0" err="1" smtClean="0">
                  <a:solidFill>
                    <a:srgbClr val="0000FF"/>
                  </a:solidFill>
                </a:rPr>
                <a:t>excessWeight</a:t>
              </a:r>
              <a:r>
                <a:rPr lang="en-US" sz="1600" dirty="0" smtClean="0"/>
                <a:t> * 10;}</a:t>
              </a:r>
            </a:p>
            <a:p>
              <a:r>
                <a:rPr lang="en-US" sz="1600" dirty="0" smtClean="0"/>
                <a:t>                               </a:t>
              </a:r>
              <a:r>
                <a:rPr lang="en-US" sz="1600" dirty="0" smtClean="0">
                  <a:solidFill>
                    <a:srgbClr val="00B0F0"/>
                  </a:solidFill>
                </a:rPr>
                <a:t>break</a:t>
              </a:r>
              <a:r>
                <a:rPr lang="en-US" sz="1600" dirty="0" smtClean="0"/>
                <a:t>;</a:t>
              </a:r>
            </a:p>
            <a:p>
              <a:r>
                <a:rPr lang="en-US" sz="1600" dirty="0" smtClean="0"/>
                <a:t>                   </a:t>
              </a:r>
              <a:r>
                <a:rPr lang="en-US" sz="1600" dirty="0" smtClean="0">
                  <a:solidFill>
                    <a:srgbClr val="00B0F0"/>
                  </a:solidFill>
                </a:rPr>
                <a:t>default</a:t>
              </a:r>
              <a:r>
                <a:rPr lang="en-US" sz="1600" dirty="0" smtClean="0"/>
                <a:t>: </a:t>
              </a:r>
              <a:r>
                <a:rPr lang="en-US" sz="1600" dirty="0" err="1" smtClean="0">
                  <a:solidFill>
                    <a:srgbClr val="00B0F0"/>
                  </a:solidFill>
                </a:rPr>
                <a:t>System.out.println</a:t>
              </a:r>
              <a:r>
                <a:rPr lang="en-US" sz="1600" dirty="0" smtClean="0">
                  <a:solidFill>
                    <a:srgbClr val="00B0F0"/>
                  </a:solidFill>
                </a:rPr>
                <a:t> </a:t>
              </a:r>
              <a:r>
                <a:rPr lang="en-US" sz="1600" dirty="0" smtClean="0"/>
                <a:t>(“Invalid passenger class”);</a:t>
              </a:r>
            </a:p>
            <a:p>
              <a:r>
                <a:rPr lang="en-US" sz="1600" dirty="0" smtClean="0"/>
                <a:t>                 } </a:t>
              </a:r>
              <a:r>
                <a:rPr lang="en-US" sz="1600" dirty="0" smtClean="0">
                  <a:solidFill>
                    <a:srgbClr val="00B050"/>
                  </a:solidFill>
                </a:rPr>
                <a:t>//end switch</a:t>
              </a:r>
              <a:endParaRPr lang="en-US" sz="1600" dirty="0">
                <a:solidFill>
                  <a:srgbClr val="00B050"/>
                </a:solidFill>
              </a:endParaRPr>
            </a:p>
            <a:p>
              <a:r>
                <a:rPr lang="en-US" sz="1600" dirty="0" smtClean="0">
                  <a:solidFill>
                    <a:srgbClr val="00B050"/>
                  </a:solidFill>
                </a:rPr>
                <a:t>          // Output Section</a:t>
              </a:r>
            </a:p>
            <a:p>
              <a:r>
                <a:rPr lang="en-US" sz="1600" dirty="0">
                  <a:solidFill>
                    <a:srgbClr val="00B050"/>
                  </a:solidFill>
                </a:rPr>
                <a:t> </a:t>
              </a:r>
              <a:r>
                <a:rPr lang="en-US" sz="1600" dirty="0" smtClean="0">
                  <a:solidFill>
                    <a:srgbClr val="00B050"/>
                  </a:solidFill>
                </a:rPr>
                <a:t>             if </a:t>
              </a:r>
              <a:r>
                <a:rPr lang="en-US" sz="1600" dirty="0" smtClean="0"/>
                <a:t>(</a:t>
              </a:r>
              <a:r>
                <a:rPr lang="en-US" sz="1600" dirty="0" smtClean="0">
                  <a:solidFill>
                    <a:srgbClr val="0000FF"/>
                  </a:solidFill>
                </a:rPr>
                <a:t>charge</a:t>
              </a:r>
              <a:r>
                <a:rPr lang="en-US" sz="1600" dirty="0" smtClean="0">
                  <a:solidFill>
                    <a:srgbClr val="00B050"/>
                  </a:solidFill>
                </a:rPr>
                <a:t> </a:t>
              </a:r>
              <a:r>
                <a:rPr lang="en-US" sz="1600" dirty="0" smtClean="0"/>
                <a:t>!= -1)        </a:t>
              </a:r>
              <a:r>
                <a:rPr lang="en-US" sz="1600" dirty="0" smtClean="0">
                  <a:solidFill>
                    <a:srgbClr val="00B050"/>
                  </a:solidFill>
                </a:rPr>
                <a:t>// if the initial value of charge is overwritten</a:t>
              </a:r>
              <a:endParaRPr lang="en-US" sz="1600" dirty="0">
                <a:solidFill>
                  <a:srgbClr val="00B050"/>
                </a:solidFill>
              </a:endParaRPr>
            </a:p>
            <a:p>
              <a:r>
                <a:rPr lang="en-US" sz="1600" dirty="0" smtClean="0"/>
                <a:t>                 </a:t>
              </a:r>
              <a:r>
                <a:rPr lang="en-US" sz="1600" dirty="0" err="1" smtClean="0">
                  <a:solidFill>
                    <a:srgbClr val="00B0F0"/>
                  </a:solidFill>
                </a:rPr>
                <a:t>System.out.printf</a:t>
              </a:r>
              <a:r>
                <a:rPr lang="en-US" sz="1600" dirty="0" smtClean="0">
                  <a:solidFill>
                    <a:srgbClr val="00B0F0"/>
                  </a:solidFill>
                </a:rPr>
                <a:t> </a:t>
              </a:r>
              <a:r>
                <a:rPr lang="en-US" sz="1600" dirty="0" smtClean="0"/>
                <a:t>(“Charge = %5f”, </a:t>
              </a:r>
              <a:r>
                <a:rPr lang="en-US" sz="1600" dirty="0" smtClean="0">
                  <a:solidFill>
                    <a:srgbClr val="0000FF"/>
                  </a:solidFill>
                </a:rPr>
                <a:t>charge</a:t>
              </a:r>
              <a:r>
                <a:rPr lang="en-US" sz="1600" dirty="0" smtClean="0"/>
                <a:t>);</a:t>
              </a:r>
            </a:p>
            <a:p>
              <a:r>
                <a:rPr lang="en-US" sz="1600" dirty="0"/>
                <a:t> </a:t>
              </a:r>
              <a:r>
                <a:rPr lang="en-US" sz="1600" dirty="0" smtClean="0"/>
                <a:t>  } </a:t>
              </a:r>
              <a:r>
                <a:rPr lang="en-US" sz="1600" dirty="0" smtClean="0">
                  <a:solidFill>
                    <a:srgbClr val="00B050"/>
                  </a:solidFill>
                </a:rPr>
                <a:t>//end main</a:t>
              </a:r>
            </a:p>
            <a:p>
              <a:r>
                <a:rPr lang="en-US" sz="1600" dirty="0" smtClean="0"/>
                <a:t>} </a:t>
              </a:r>
              <a:r>
                <a:rPr lang="en-US" sz="1600" dirty="0" smtClean="0">
                  <a:solidFill>
                    <a:srgbClr val="00B050"/>
                  </a:solidFill>
                </a:rPr>
                <a:t>//end class               </a:t>
              </a:r>
            </a:p>
          </p:txBody>
        </p:sp>
        <p:sp>
          <p:nvSpPr>
            <p:cNvPr id="10" name="TextBox 9"/>
            <p:cNvSpPr txBox="1"/>
            <p:nvPr/>
          </p:nvSpPr>
          <p:spPr>
            <a:xfrm>
              <a:off x="258661" y="1236822"/>
              <a:ext cx="454067" cy="5509200"/>
            </a:xfrm>
            <a:prstGeom prst="rect">
              <a:avLst/>
            </a:prstGeom>
            <a:noFill/>
          </p:spPr>
          <p:txBody>
            <a:bodyPr wrap="square" rtlCol="0">
              <a:spAutoFit/>
            </a:bodyPr>
            <a:lstStyle/>
            <a:p>
              <a:pPr algn="r"/>
              <a:r>
                <a:rPr lang="en-US" sz="1600" dirty="0" smtClean="0">
                  <a:solidFill>
                    <a:srgbClr val="FF0000"/>
                  </a:solidFill>
                </a:rPr>
                <a:t>19</a:t>
              </a:r>
            </a:p>
            <a:p>
              <a:pPr algn="r"/>
              <a:r>
                <a:rPr lang="en-US" sz="1600" dirty="0" smtClean="0">
                  <a:solidFill>
                    <a:srgbClr val="FF0000"/>
                  </a:solidFill>
                </a:rPr>
                <a:t>20</a:t>
              </a:r>
            </a:p>
            <a:p>
              <a:pPr algn="r"/>
              <a:r>
                <a:rPr lang="en-US" sz="1600" dirty="0" smtClean="0">
                  <a:solidFill>
                    <a:srgbClr val="FF0000"/>
                  </a:solidFill>
                </a:rPr>
                <a:t>21</a:t>
              </a:r>
            </a:p>
            <a:p>
              <a:pPr algn="r"/>
              <a:r>
                <a:rPr lang="en-US" sz="1600" dirty="0" smtClean="0">
                  <a:solidFill>
                    <a:srgbClr val="FF0000"/>
                  </a:solidFill>
                </a:rPr>
                <a:t>22</a:t>
              </a:r>
            </a:p>
            <a:p>
              <a:pPr algn="r"/>
              <a:r>
                <a:rPr lang="en-US" sz="1600" dirty="0" smtClean="0">
                  <a:solidFill>
                    <a:srgbClr val="FF0000"/>
                  </a:solidFill>
                </a:rPr>
                <a:t>23</a:t>
              </a:r>
            </a:p>
            <a:p>
              <a:pPr algn="r"/>
              <a:r>
                <a:rPr lang="en-US" sz="1600" dirty="0" smtClean="0">
                  <a:solidFill>
                    <a:srgbClr val="FF0000"/>
                  </a:solidFill>
                </a:rPr>
                <a:t>24</a:t>
              </a:r>
            </a:p>
            <a:p>
              <a:pPr algn="r"/>
              <a:r>
                <a:rPr lang="en-US" sz="1600" dirty="0" smtClean="0">
                  <a:solidFill>
                    <a:srgbClr val="FF0000"/>
                  </a:solidFill>
                </a:rPr>
                <a:t>25</a:t>
              </a:r>
            </a:p>
            <a:p>
              <a:pPr algn="r"/>
              <a:r>
                <a:rPr lang="en-US" sz="1600" dirty="0" smtClean="0">
                  <a:solidFill>
                    <a:srgbClr val="FF0000"/>
                  </a:solidFill>
                </a:rPr>
                <a:t>26</a:t>
              </a:r>
            </a:p>
            <a:p>
              <a:pPr algn="r"/>
              <a:r>
                <a:rPr lang="en-US" sz="1600" dirty="0" smtClean="0">
                  <a:solidFill>
                    <a:srgbClr val="FF0000"/>
                  </a:solidFill>
                </a:rPr>
                <a:t>27</a:t>
              </a:r>
            </a:p>
            <a:p>
              <a:pPr algn="r"/>
              <a:r>
                <a:rPr lang="en-US" sz="1600" dirty="0" smtClean="0">
                  <a:solidFill>
                    <a:srgbClr val="FF0000"/>
                  </a:solidFill>
                </a:rPr>
                <a:t>28</a:t>
              </a:r>
            </a:p>
            <a:p>
              <a:pPr algn="r"/>
              <a:r>
                <a:rPr lang="en-US" sz="1600" dirty="0" smtClean="0">
                  <a:solidFill>
                    <a:srgbClr val="FF0000"/>
                  </a:solidFill>
                </a:rPr>
                <a:t>29</a:t>
              </a:r>
            </a:p>
            <a:p>
              <a:pPr algn="r"/>
              <a:r>
                <a:rPr lang="en-US" sz="1600" dirty="0" smtClean="0">
                  <a:solidFill>
                    <a:srgbClr val="FF0000"/>
                  </a:solidFill>
                </a:rPr>
                <a:t>30</a:t>
              </a:r>
            </a:p>
            <a:p>
              <a:pPr algn="r"/>
              <a:r>
                <a:rPr lang="en-US" sz="1600" dirty="0" smtClean="0">
                  <a:solidFill>
                    <a:srgbClr val="FF0000"/>
                  </a:solidFill>
                </a:rPr>
                <a:t>31</a:t>
              </a:r>
            </a:p>
            <a:p>
              <a:pPr algn="r"/>
              <a:r>
                <a:rPr lang="en-US" sz="1600" dirty="0" smtClean="0">
                  <a:solidFill>
                    <a:srgbClr val="FF0000"/>
                  </a:solidFill>
                </a:rPr>
                <a:t>32</a:t>
              </a:r>
            </a:p>
            <a:p>
              <a:pPr algn="r"/>
              <a:r>
                <a:rPr lang="en-US" sz="1600" dirty="0" smtClean="0">
                  <a:solidFill>
                    <a:srgbClr val="FF0000"/>
                  </a:solidFill>
                </a:rPr>
                <a:t>33</a:t>
              </a:r>
            </a:p>
            <a:p>
              <a:pPr algn="r"/>
              <a:r>
                <a:rPr lang="en-US" sz="1600" dirty="0" smtClean="0">
                  <a:solidFill>
                    <a:srgbClr val="FF0000"/>
                  </a:solidFill>
                </a:rPr>
                <a:t>34</a:t>
              </a:r>
            </a:p>
            <a:p>
              <a:pPr algn="r"/>
              <a:r>
                <a:rPr lang="en-US" sz="1600" dirty="0" smtClean="0">
                  <a:solidFill>
                    <a:srgbClr val="FF0000"/>
                  </a:solidFill>
                </a:rPr>
                <a:t>35</a:t>
              </a:r>
            </a:p>
            <a:p>
              <a:pPr algn="r"/>
              <a:r>
                <a:rPr lang="en-US" sz="1600" dirty="0" smtClean="0">
                  <a:solidFill>
                    <a:srgbClr val="FF0000"/>
                  </a:solidFill>
                </a:rPr>
                <a:t>36</a:t>
              </a:r>
            </a:p>
            <a:p>
              <a:pPr algn="r"/>
              <a:r>
                <a:rPr lang="en-US" sz="1600" dirty="0" smtClean="0">
                  <a:solidFill>
                    <a:srgbClr val="FF0000"/>
                  </a:solidFill>
                </a:rPr>
                <a:t>37</a:t>
              </a:r>
            </a:p>
            <a:p>
              <a:pPr algn="r"/>
              <a:r>
                <a:rPr lang="en-US" sz="1600" dirty="0" smtClean="0">
                  <a:solidFill>
                    <a:srgbClr val="FF0000"/>
                  </a:solidFill>
                </a:rPr>
                <a:t>38</a:t>
              </a:r>
            </a:p>
            <a:p>
              <a:pPr algn="r"/>
              <a:r>
                <a:rPr lang="en-US" sz="1600" dirty="0" smtClean="0">
                  <a:solidFill>
                    <a:srgbClr val="FF0000"/>
                  </a:solidFill>
                </a:rPr>
                <a:t>39</a:t>
              </a:r>
            </a:p>
            <a:p>
              <a:pPr algn="r"/>
              <a:r>
                <a:rPr lang="en-US" sz="1600" dirty="0" smtClean="0">
                  <a:solidFill>
                    <a:srgbClr val="FF0000"/>
                  </a:solidFill>
                </a:rPr>
                <a:t>40</a:t>
              </a:r>
            </a:p>
          </p:txBody>
        </p:sp>
      </p:grpSp>
      <p:sp>
        <p:nvSpPr>
          <p:cNvPr id="7" name="Slide Number Placeholder 6"/>
          <p:cNvSpPr>
            <a:spLocks noGrp="1"/>
          </p:cNvSpPr>
          <p:nvPr>
            <p:ph type="sldNum" sz="quarter" idx="12"/>
          </p:nvPr>
        </p:nvSpPr>
        <p:spPr/>
        <p:txBody>
          <a:bodyPr/>
          <a:lstStyle/>
          <a:p>
            <a:fld id="{DA934484-767D-4C48-AF0E-A1438A969E59}" type="slidenum">
              <a:rPr lang="en-US" smtClean="0"/>
              <a:pPr/>
              <a:t>9</a:t>
            </a:fld>
            <a:endParaRPr lang="en-US"/>
          </a:p>
        </p:txBody>
      </p:sp>
      <p:sp>
        <p:nvSpPr>
          <p:cNvPr id="2" name="Rectangle 1"/>
          <p:cNvSpPr/>
          <p:nvPr/>
        </p:nvSpPr>
        <p:spPr>
          <a:xfrm>
            <a:off x="683568" y="1988840"/>
            <a:ext cx="8280920" cy="216024"/>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83568" y="2996952"/>
            <a:ext cx="8280920" cy="216024"/>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83568" y="3933056"/>
            <a:ext cx="8280920" cy="216024"/>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683568" y="4941168"/>
            <a:ext cx="8280920" cy="216024"/>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83568" y="5661248"/>
            <a:ext cx="8280920" cy="216024"/>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2338645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par>
                                <p:cTn id="8" presetID="22" presetClass="entr" presetSubtype="2"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left)">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 grpId="0" animBg="1"/>
      <p:bldP spid="11" grpId="0" animBg="1"/>
      <p:bldP spid="12" grpId="0" animBg="1"/>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0872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a:solidFill>
                  <a:schemeClr val="accent2"/>
                </a:solidFill>
                <a:latin typeface="Tahoma" charset="0"/>
                <a:cs typeface="Arial" charset="0"/>
              </a:rPr>
              <a:t>6</a:t>
            </a:r>
            <a:r>
              <a:rPr lang="en-US" sz="4000" dirty="0" smtClean="0">
                <a:solidFill>
                  <a:schemeClr val="accent2"/>
                </a:solidFill>
                <a:latin typeface="Tahoma" charset="0"/>
                <a:cs typeface="Arial" charset="0"/>
              </a:rPr>
              <a:t>. PROBLEM VARIATION (1)</a:t>
            </a:r>
            <a:endParaRPr lang="en-US" sz="4000" dirty="0">
              <a:solidFill>
                <a:schemeClr val="accent2"/>
              </a:solidFill>
              <a:latin typeface="Tahoma" charset="0"/>
              <a:cs typeface="Arial" charset="0"/>
            </a:endParaRPr>
          </a:p>
        </p:txBody>
      </p:sp>
      <p:sp>
        <p:nvSpPr>
          <p:cNvPr id="7" name="Slide Number Placeholder 6"/>
          <p:cNvSpPr>
            <a:spLocks noGrp="1"/>
          </p:cNvSpPr>
          <p:nvPr>
            <p:ph type="sldNum" sz="quarter" idx="12"/>
          </p:nvPr>
        </p:nvSpPr>
        <p:spPr/>
        <p:txBody>
          <a:bodyPr/>
          <a:lstStyle/>
          <a:p>
            <a:fld id="{DA934484-767D-4C48-AF0E-A1438A969E59}" type="slidenum">
              <a:rPr lang="en-US" smtClean="0"/>
              <a:pPr/>
              <a:t>10</a:t>
            </a:fld>
            <a:endParaRPr lang="en-US"/>
          </a:p>
        </p:txBody>
      </p:sp>
      <p:sp>
        <p:nvSpPr>
          <p:cNvPr id="8" name="Rectangle 3" descr="Rectangle: Click to edit Master text styles&#10;Second level&#10;Third level&#10;Fourth level&#10;Fifth level"/>
          <p:cNvSpPr>
            <a:spLocks noGrp="1" noChangeArrowheads="1"/>
          </p:cNvSpPr>
          <p:nvPr>
            <p:ph idx="1"/>
          </p:nvPr>
        </p:nvSpPr>
        <p:spPr>
          <a:xfrm>
            <a:off x="251520" y="1110952"/>
            <a:ext cx="8712968" cy="5486400"/>
          </a:xfrm>
          <a:prstGeom prst="foldedCorner">
            <a:avLst>
              <a:gd name="adj" fmla="val 36304"/>
            </a:avLst>
          </a:prstGeom>
          <a:solidFill>
            <a:schemeClr val="accent1">
              <a:lumMod val="20000"/>
              <a:lumOff val="80000"/>
            </a:schemeClr>
          </a:solidFill>
          <a:ln>
            <a:solidFill>
              <a:schemeClr val="accent5">
                <a:lumMod val="75000"/>
              </a:schemeClr>
            </a:solidFill>
          </a:ln>
          <a:effectLst>
            <a:outerShdw blurRad="63500" sx="102000" sy="102000" algn="ctr" rotWithShape="0">
              <a:prstClr val="black">
                <a:alpha val="40000"/>
              </a:prstClr>
            </a:outerShdw>
          </a:effectLst>
        </p:spPr>
        <p:txBody>
          <a:bodyPr>
            <a:noAutofit/>
          </a:bodyPr>
          <a:lstStyle/>
          <a:p>
            <a:pPr marL="109728" indent="0" algn="just">
              <a:buNone/>
            </a:pPr>
            <a:r>
              <a:rPr lang="en-US" sz="2000" dirty="0">
                <a:latin typeface="Tahoma" panose="020B0604030504040204" pitchFamily="34" charset="0"/>
                <a:ea typeface="Tahoma" panose="020B0604030504040204" pitchFamily="34" charset="0"/>
                <a:cs typeface="Tahoma" panose="020B0604030504040204" pitchFamily="34" charset="0"/>
              </a:rPr>
              <a:t>Saudi Airlines permit each passenger to hold one bag. The maximum weight allowed for the bag depends on the class of the passenger which is: 30Kg for First class ('F'), 25Kg for Business ('B') and 20Kg for Economy ('E'). If the weight of the bag excesses the allowed one, the passenger should pay 10 SR for each Kg. </a:t>
            </a:r>
            <a:endParaRPr lang="en-US" sz="2000" dirty="0" smtClean="0">
              <a:latin typeface="Tahoma" panose="020B0604030504040204" pitchFamily="34" charset="0"/>
              <a:ea typeface="Tahoma" panose="020B0604030504040204" pitchFamily="34" charset="0"/>
              <a:cs typeface="Tahoma" panose="020B0604030504040204" pitchFamily="34" charset="0"/>
            </a:endParaRPr>
          </a:p>
          <a:p>
            <a:pPr marL="109728" indent="0">
              <a:buNone/>
            </a:pPr>
            <a:endParaRPr lang="en-US" sz="2000" dirty="0">
              <a:latin typeface="Tahoma" panose="020B0604030504040204" pitchFamily="34" charset="0"/>
              <a:ea typeface="Tahoma" panose="020B0604030504040204" pitchFamily="34" charset="0"/>
              <a:cs typeface="Tahoma" panose="020B0604030504040204" pitchFamily="34" charset="0"/>
            </a:endParaRPr>
          </a:p>
          <a:p>
            <a:pPr marL="109728" indent="0" algn="just">
              <a:buNone/>
            </a:pPr>
            <a:r>
              <a:rPr lang="en-US" sz="2000" dirty="0">
                <a:latin typeface="Tahoma" panose="020B0604030504040204" pitchFamily="34" charset="0"/>
                <a:ea typeface="Tahoma" panose="020B0604030504040204" pitchFamily="34" charset="0"/>
                <a:cs typeface="Tahoma" panose="020B0604030504040204" pitchFamily="34" charset="0"/>
              </a:rPr>
              <a:t>Write a program that calculates the excess baggage charge for </a:t>
            </a:r>
            <a:r>
              <a:rPr lang="en-US" sz="2000" dirty="0" smtClean="0">
                <a:solidFill>
                  <a:srgbClr val="FF0000"/>
                </a:solidFill>
                <a:latin typeface="Tahoma" panose="020B0604030504040204" pitchFamily="34" charset="0"/>
                <a:ea typeface="Tahoma" panose="020B0604030504040204" pitchFamily="34" charset="0"/>
                <a:cs typeface="Tahoma" panose="020B0604030504040204" pitchFamily="34" charset="0"/>
              </a:rPr>
              <a:t>a number of passengers</a:t>
            </a:r>
            <a:r>
              <a:rPr lang="en-US" sz="2000" dirty="0" smtClean="0">
                <a:latin typeface="Tahoma" panose="020B0604030504040204" pitchFamily="34" charset="0"/>
                <a:ea typeface="Tahoma" panose="020B0604030504040204" pitchFamily="34" charset="0"/>
                <a:cs typeface="Tahoma" panose="020B0604030504040204" pitchFamily="34" charset="0"/>
              </a:rPr>
              <a:t>. </a:t>
            </a:r>
            <a:r>
              <a:rPr lang="en-US" sz="2000" dirty="0">
                <a:latin typeface="Tahoma" panose="020B0604030504040204" pitchFamily="34" charset="0"/>
                <a:ea typeface="Tahoma" panose="020B0604030504040204" pitchFamily="34" charset="0"/>
                <a:cs typeface="Tahoma" panose="020B0604030504040204" pitchFamily="34" charset="0"/>
              </a:rPr>
              <a:t>All input data should be read by the user. Solve the problem using the </a:t>
            </a:r>
            <a:r>
              <a:rPr lang="en-US" sz="2000" b="1" dirty="0">
                <a:latin typeface="Tahoma" panose="020B0604030504040204" pitchFamily="34" charset="0"/>
                <a:ea typeface="Tahoma" panose="020B0604030504040204" pitchFamily="34" charset="0"/>
                <a:cs typeface="Tahoma" panose="020B0604030504040204" pitchFamily="34" charset="0"/>
              </a:rPr>
              <a:t>switch</a:t>
            </a:r>
            <a:r>
              <a:rPr lang="en-US" sz="2000" dirty="0">
                <a:latin typeface="Tahoma" panose="020B0604030504040204" pitchFamily="34" charset="0"/>
                <a:ea typeface="Tahoma" panose="020B0604030504040204" pitchFamily="34" charset="0"/>
                <a:cs typeface="Tahoma" panose="020B0604030504040204" pitchFamily="34" charset="0"/>
              </a:rPr>
              <a:t> statement.</a:t>
            </a:r>
            <a:endParaRPr lang="en-US" sz="2000" dirty="0" smtClean="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xmlns="" val="4034180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a:solidFill>
                  <a:schemeClr val="accent2"/>
                </a:solidFill>
                <a:latin typeface="Tahoma" charset="0"/>
                <a:cs typeface="Arial" charset="0"/>
              </a:rPr>
              <a:t>7</a:t>
            </a:r>
            <a:r>
              <a:rPr lang="en-US" sz="4000" dirty="0" smtClean="0">
                <a:solidFill>
                  <a:schemeClr val="accent2"/>
                </a:solidFill>
                <a:latin typeface="Tahoma" charset="0"/>
                <a:cs typeface="Arial" charset="0"/>
              </a:rPr>
              <a:t>. ANALYSIS </a:t>
            </a:r>
            <a:endParaRPr lang="en-US" sz="4000" dirty="0">
              <a:solidFill>
                <a:schemeClr val="accent2"/>
              </a:solidFill>
              <a:latin typeface="Tahoma" charset="0"/>
              <a:cs typeface="Arial" charset="0"/>
            </a:endParaRPr>
          </a:p>
        </p:txBody>
      </p:sp>
      <p:sp>
        <p:nvSpPr>
          <p:cNvPr id="7" name="Slide Number Placeholder 6"/>
          <p:cNvSpPr>
            <a:spLocks noGrp="1"/>
          </p:cNvSpPr>
          <p:nvPr>
            <p:ph type="sldNum" sz="quarter" idx="12"/>
          </p:nvPr>
        </p:nvSpPr>
        <p:spPr/>
        <p:txBody>
          <a:bodyPr/>
          <a:lstStyle/>
          <a:p>
            <a:fld id="{DA934484-767D-4C48-AF0E-A1438A969E59}" type="slidenum">
              <a:rPr lang="en-US" smtClean="0"/>
              <a:pPr/>
              <a:t>11</a:t>
            </a:fld>
            <a:endParaRPr lang="en-US"/>
          </a:p>
        </p:txBody>
      </p:sp>
      <p:sp>
        <p:nvSpPr>
          <p:cNvPr id="27" name="TextBox 26"/>
          <p:cNvSpPr txBox="1"/>
          <p:nvPr/>
        </p:nvSpPr>
        <p:spPr>
          <a:xfrm>
            <a:off x="251520" y="836712"/>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smtClean="0">
                <a:solidFill>
                  <a:srgbClr val="FF0000"/>
                </a:solidFill>
                <a:latin typeface="Tahoma" panose="020B0604030504040204" pitchFamily="34" charset="0"/>
                <a:ea typeface="Tahoma" panose="020B0604030504040204" pitchFamily="34" charset="0"/>
                <a:cs typeface="Tahoma" panose="020B0604030504040204" pitchFamily="34" charset="0"/>
              </a:rPr>
              <a:t>INPUT</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8" name="TextBox 27"/>
          <p:cNvSpPr txBox="1"/>
          <p:nvPr/>
        </p:nvSpPr>
        <p:spPr>
          <a:xfrm>
            <a:off x="539552" y="1228690"/>
            <a:ext cx="3600400" cy="400110"/>
          </a:xfrm>
          <a:prstGeom prst="rect">
            <a:avLst/>
          </a:prstGeom>
          <a:noFill/>
        </p:spPr>
        <p:txBody>
          <a:bodyPr wrap="square" rtlCol="0">
            <a:spAutoFit/>
          </a:bodyPr>
          <a:lstStyle/>
          <a:p>
            <a:pPr marL="800100" lvl="1" indent="-342900">
              <a:buClr>
                <a:srgbClr val="FF0000"/>
              </a:buClr>
              <a:buFont typeface="Courier New" panose="02070309020205020404" pitchFamily="49" charset="0"/>
              <a:buChar char="o"/>
            </a:pP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Number of passengers</a:t>
            </a:r>
            <a:endPar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endParaRPr>
          </a:p>
        </p:txBody>
      </p:sp>
      <p:sp>
        <p:nvSpPr>
          <p:cNvPr id="29" name="TextBox 28"/>
          <p:cNvSpPr txBox="1"/>
          <p:nvPr/>
        </p:nvSpPr>
        <p:spPr>
          <a:xfrm>
            <a:off x="4139952" y="1228690"/>
            <a:ext cx="3312368" cy="400110"/>
          </a:xfrm>
          <a:prstGeom prst="rect">
            <a:avLst/>
          </a:prstGeom>
          <a:noFill/>
        </p:spPr>
        <p:txBody>
          <a:bodyPr wrap="square" rtlCol="0">
            <a:spAutoFit/>
          </a:bodyPr>
          <a:lstStyle/>
          <a:p>
            <a:pPr marL="0" lvl="1">
              <a:buClr>
                <a:srgbClr val="FF0000"/>
              </a:buClr>
            </a:pPr>
            <a:r>
              <a:rPr lang="en-US" sz="2000" dirty="0" smtClean="0">
                <a:solidFill>
                  <a:srgbClr val="00B0F0"/>
                </a:solidFill>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Entered by the user.</a:t>
            </a:r>
            <a:endPar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endParaRPr>
          </a:p>
        </p:txBody>
      </p:sp>
      <p:sp>
        <p:nvSpPr>
          <p:cNvPr id="31" name="TextBox 30"/>
          <p:cNvSpPr txBox="1"/>
          <p:nvPr/>
        </p:nvSpPr>
        <p:spPr>
          <a:xfrm>
            <a:off x="539552" y="1923207"/>
            <a:ext cx="3600400" cy="400110"/>
          </a:xfrm>
          <a:prstGeom prst="rect">
            <a:avLst/>
          </a:prstGeom>
          <a:noFill/>
        </p:spPr>
        <p:txBody>
          <a:bodyPr wrap="square" rtlCol="0">
            <a:spAutoFit/>
          </a:bodyPr>
          <a:lstStyle/>
          <a:p>
            <a:pPr marL="800100" lvl="1" indent="-342900">
              <a:buClr>
                <a:srgbClr val="FF0000"/>
              </a:buClr>
              <a:buFont typeface="Courier New" panose="02070309020205020404" pitchFamily="49" charset="0"/>
              <a:buChar char="o"/>
            </a:pP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Passenger’s Class</a:t>
            </a:r>
            <a:endPar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endParaRPr>
          </a:p>
        </p:txBody>
      </p:sp>
      <p:sp>
        <p:nvSpPr>
          <p:cNvPr id="32" name="TextBox 31"/>
          <p:cNvSpPr txBox="1"/>
          <p:nvPr/>
        </p:nvSpPr>
        <p:spPr>
          <a:xfrm>
            <a:off x="4139952" y="1923207"/>
            <a:ext cx="3312368" cy="400110"/>
          </a:xfrm>
          <a:prstGeom prst="rect">
            <a:avLst/>
          </a:prstGeom>
          <a:noFill/>
        </p:spPr>
        <p:txBody>
          <a:bodyPr wrap="square" rtlCol="0">
            <a:spAutoFit/>
          </a:bodyPr>
          <a:lstStyle/>
          <a:p>
            <a:pPr marL="0" lvl="1">
              <a:buClr>
                <a:srgbClr val="FF0000"/>
              </a:buClr>
            </a:pPr>
            <a:r>
              <a:rPr lang="en-US" sz="2000" dirty="0" smtClean="0">
                <a:solidFill>
                  <a:srgbClr val="00B0F0"/>
                </a:solidFill>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Entered by the user.</a:t>
            </a:r>
            <a:endPar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endParaRPr>
          </a:p>
        </p:txBody>
      </p:sp>
      <p:sp>
        <p:nvSpPr>
          <p:cNvPr id="45" name="TextBox 44"/>
          <p:cNvSpPr txBox="1"/>
          <p:nvPr/>
        </p:nvSpPr>
        <p:spPr>
          <a:xfrm>
            <a:off x="251520" y="2780928"/>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smtClean="0">
                <a:solidFill>
                  <a:srgbClr val="FF0000"/>
                </a:solidFill>
                <a:latin typeface="Tahoma" panose="020B0604030504040204" pitchFamily="34" charset="0"/>
                <a:ea typeface="Tahoma" panose="020B0604030504040204" pitchFamily="34" charset="0"/>
                <a:cs typeface="Tahoma" panose="020B0604030504040204" pitchFamily="34" charset="0"/>
              </a:rPr>
              <a:t>OUTPUT</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46" name="TextBox 45"/>
          <p:cNvSpPr txBox="1"/>
          <p:nvPr/>
        </p:nvSpPr>
        <p:spPr>
          <a:xfrm>
            <a:off x="251520" y="3134593"/>
            <a:ext cx="8640960" cy="400110"/>
          </a:xfrm>
          <a:prstGeom prst="rect">
            <a:avLst/>
          </a:prstGeom>
          <a:noFill/>
        </p:spPr>
        <p:txBody>
          <a:bodyPr wrap="square" rtlCol="0">
            <a:spAutoFit/>
          </a:bodyPr>
          <a:lstStyle/>
          <a:p>
            <a:pPr marL="800100" lvl="1" indent="-342900">
              <a:buClr>
                <a:srgbClr val="FF0000"/>
              </a:buClr>
              <a:buFont typeface="Courier New" panose="02070309020205020404" pitchFamily="49" charset="0"/>
              <a:buChar char="o"/>
            </a:pP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Charge to excess weight </a:t>
            </a:r>
            <a:r>
              <a:rPr lang="en-US" sz="2000" u="sng" dirty="0" smtClean="0">
                <a:solidFill>
                  <a:srgbClr val="0000FF"/>
                </a:solidFill>
                <a:latin typeface="Tahoma" panose="020B0604030504040204" pitchFamily="34" charset="0"/>
                <a:ea typeface="Tahoma" panose="020B0604030504040204" pitchFamily="34" charset="0"/>
                <a:cs typeface="Tahoma" panose="020B0604030504040204" pitchFamily="34" charset="0"/>
              </a:rPr>
              <a:t>for each passenger</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a:t>
            </a:r>
            <a:endPar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endParaRPr>
          </a:p>
        </p:txBody>
      </p:sp>
      <p:sp>
        <p:nvSpPr>
          <p:cNvPr id="47" name="TextBox 46"/>
          <p:cNvSpPr txBox="1"/>
          <p:nvPr/>
        </p:nvSpPr>
        <p:spPr>
          <a:xfrm>
            <a:off x="251520" y="3462695"/>
            <a:ext cx="8640960" cy="615553"/>
          </a:xfrm>
          <a:prstGeom prst="rect">
            <a:avLst/>
          </a:prstGeom>
          <a:noFill/>
        </p:spPr>
        <p:txBody>
          <a:bodyPr wrap="square" rtlCol="0">
            <a:spAutoFit/>
          </a:bodyPr>
          <a:lstStyle/>
          <a:p>
            <a:pPr marL="1257300" lvl="2" indent="-342900">
              <a:buClr>
                <a:srgbClr val="FF0000"/>
              </a:buClr>
              <a:buFont typeface="Arial" panose="020B0604020202020204" pitchFamily="34" charset="0"/>
              <a:buChar char="•"/>
            </a:pP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Excess weight = Actual Weight – Allowed Weight </a:t>
            </a:r>
            <a:r>
              <a:rPr lang="en-US" sz="1400" i="1" dirty="0" smtClean="0">
                <a:solidFill>
                  <a:srgbClr val="0000FF"/>
                </a:solidFill>
                <a:latin typeface="Tahoma" panose="020B0604030504040204" pitchFamily="34" charset="0"/>
                <a:ea typeface="Tahoma" panose="020B0604030504040204" pitchFamily="34" charset="0"/>
                <a:cs typeface="Tahoma" panose="020B0604030504040204" pitchFamily="34" charset="0"/>
              </a:rPr>
              <a:t>(depending on his class)</a:t>
            </a:r>
            <a:endParaRPr lang="en-US" sz="1400" i="1" dirty="0">
              <a:solidFill>
                <a:srgbClr val="0000FF"/>
              </a:solidFill>
              <a:latin typeface="Tahoma" panose="020B0604030504040204" pitchFamily="34" charset="0"/>
              <a:ea typeface="Tahoma" panose="020B0604030504040204" pitchFamily="34" charset="0"/>
              <a:cs typeface="Tahoma" panose="020B0604030504040204" pitchFamily="34" charset="0"/>
            </a:endParaRPr>
          </a:p>
        </p:txBody>
      </p:sp>
      <p:sp>
        <p:nvSpPr>
          <p:cNvPr id="24" name="TextBox 23"/>
          <p:cNvSpPr txBox="1"/>
          <p:nvPr/>
        </p:nvSpPr>
        <p:spPr>
          <a:xfrm>
            <a:off x="251520" y="4221088"/>
            <a:ext cx="8640960" cy="400110"/>
          </a:xfrm>
          <a:prstGeom prst="rect">
            <a:avLst/>
          </a:prstGeom>
          <a:noFill/>
        </p:spPr>
        <p:txBody>
          <a:bodyPr wrap="square" rtlCol="0">
            <a:spAutoFit/>
          </a:bodyPr>
          <a:lstStyle/>
          <a:p>
            <a:pPr marL="1257300" lvl="2" indent="-342900">
              <a:buClr>
                <a:srgbClr val="FF0000"/>
              </a:buClr>
              <a:buFont typeface="Arial" panose="020B0604020202020204" pitchFamily="34" charset="0"/>
              <a:buChar char="•"/>
            </a:pP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Charge = Excess Weight * 10 SR</a:t>
            </a:r>
            <a:endPar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endParaRPr>
          </a:p>
        </p:txBody>
      </p:sp>
      <p:sp>
        <p:nvSpPr>
          <p:cNvPr id="25" name="TextBox 24"/>
          <p:cNvSpPr txBox="1"/>
          <p:nvPr/>
        </p:nvSpPr>
        <p:spPr>
          <a:xfrm>
            <a:off x="251520" y="1588730"/>
            <a:ext cx="7920880" cy="400110"/>
          </a:xfrm>
          <a:prstGeom prst="rect">
            <a:avLst/>
          </a:prstGeom>
          <a:noFill/>
        </p:spPr>
        <p:txBody>
          <a:bodyPr wrap="square" rtlCol="0">
            <a:spAutoFit/>
          </a:bodyPr>
          <a:lstStyle/>
          <a:p>
            <a:pPr marL="800100" lvl="1" indent="-342900">
              <a:buClr>
                <a:srgbClr val="FF0000"/>
              </a:buClr>
              <a:buFont typeface="Wingdings" panose="05000000000000000000" pitchFamily="2" charset="2"/>
              <a:buChar char="v"/>
            </a:pPr>
            <a:r>
              <a:rPr lang="en-US" sz="2000" dirty="0" smtClean="0">
                <a:solidFill>
                  <a:schemeClr val="accent3"/>
                </a:solidFill>
                <a:latin typeface="Tahoma" panose="020B0604030504040204" pitchFamily="34" charset="0"/>
                <a:ea typeface="Tahoma" panose="020B0604030504040204" pitchFamily="34" charset="0"/>
                <a:cs typeface="Tahoma" panose="020B0604030504040204" pitchFamily="34" charset="0"/>
              </a:rPr>
              <a:t>For </a:t>
            </a:r>
            <a:r>
              <a:rPr lang="en-US" sz="2000" u="sng" dirty="0" smtClean="0">
                <a:solidFill>
                  <a:schemeClr val="accent3"/>
                </a:solidFill>
                <a:latin typeface="Tahoma" panose="020B0604030504040204" pitchFamily="34" charset="0"/>
                <a:ea typeface="Tahoma" panose="020B0604030504040204" pitchFamily="34" charset="0"/>
                <a:cs typeface="Tahoma" panose="020B0604030504040204" pitchFamily="34" charset="0"/>
              </a:rPr>
              <a:t>each</a:t>
            </a:r>
            <a:r>
              <a:rPr lang="en-US" sz="2000" dirty="0" smtClean="0">
                <a:solidFill>
                  <a:schemeClr val="accent3"/>
                </a:solidFill>
                <a:latin typeface="Tahoma" panose="020B0604030504040204" pitchFamily="34" charset="0"/>
                <a:ea typeface="Tahoma" panose="020B0604030504040204" pitchFamily="34" charset="0"/>
                <a:cs typeface="Tahoma" panose="020B0604030504040204" pitchFamily="34" charset="0"/>
              </a:rPr>
              <a:t> passenger, we want to know:</a:t>
            </a:r>
            <a:endParaRPr lang="en-US" sz="2000" dirty="0">
              <a:solidFill>
                <a:schemeClr val="accent3"/>
              </a:solidFill>
              <a:latin typeface="Tahoma" panose="020B0604030504040204" pitchFamily="34" charset="0"/>
              <a:ea typeface="Tahoma" panose="020B0604030504040204" pitchFamily="34" charset="0"/>
              <a:cs typeface="Tahoma" panose="020B0604030504040204" pitchFamily="34" charset="0"/>
            </a:endParaRPr>
          </a:p>
        </p:txBody>
      </p:sp>
      <p:sp>
        <p:nvSpPr>
          <p:cNvPr id="15" name="TextBox 14"/>
          <p:cNvSpPr txBox="1"/>
          <p:nvPr/>
        </p:nvSpPr>
        <p:spPr>
          <a:xfrm>
            <a:off x="539552" y="2308810"/>
            <a:ext cx="3600400" cy="400110"/>
          </a:xfrm>
          <a:prstGeom prst="rect">
            <a:avLst/>
          </a:prstGeom>
          <a:noFill/>
        </p:spPr>
        <p:txBody>
          <a:bodyPr wrap="square" rtlCol="0">
            <a:spAutoFit/>
          </a:bodyPr>
          <a:lstStyle/>
          <a:p>
            <a:pPr marL="800100" lvl="1" indent="-342900">
              <a:buClr>
                <a:srgbClr val="FF0000"/>
              </a:buClr>
              <a:buFont typeface="Courier New" panose="02070309020205020404" pitchFamily="49" charset="0"/>
              <a:buChar char="o"/>
            </a:pP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Baggage Weight</a:t>
            </a:r>
            <a:endPar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endParaRPr>
          </a:p>
        </p:txBody>
      </p:sp>
      <p:sp>
        <p:nvSpPr>
          <p:cNvPr id="16" name="TextBox 15"/>
          <p:cNvSpPr txBox="1"/>
          <p:nvPr/>
        </p:nvSpPr>
        <p:spPr>
          <a:xfrm>
            <a:off x="4139952" y="2308810"/>
            <a:ext cx="3312368" cy="400110"/>
          </a:xfrm>
          <a:prstGeom prst="rect">
            <a:avLst/>
          </a:prstGeom>
          <a:noFill/>
        </p:spPr>
        <p:txBody>
          <a:bodyPr wrap="square" rtlCol="0">
            <a:spAutoFit/>
          </a:bodyPr>
          <a:lstStyle/>
          <a:p>
            <a:pPr marL="0" lvl="1">
              <a:buClr>
                <a:srgbClr val="FF0000"/>
              </a:buClr>
            </a:pPr>
            <a:r>
              <a:rPr lang="en-US" sz="2000" dirty="0" smtClean="0">
                <a:solidFill>
                  <a:srgbClr val="00B0F0"/>
                </a:solidFill>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Entered by the user.</a:t>
            </a:r>
            <a:endPar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xmlns="" val="2172756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left)">
                                      <p:cBhvr>
                                        <p:cTn id="12" dur="500"/>
                                        <p:tgtEl>
                                          <p:spTgt spid="28"/>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left)">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5"/>
                                        </p:tgtEl>
                                        <p:attrNameLst>
                                          <p:attrName>style.visibility</p:attrName>
                                        </p:attrNameLst>
                                      </p:cBhvr>
                                      <p:to>
                                        <p:strVal val="visible"/>
                                      </p:to>
                                    </p:set>
                                    <p:animEffect transition="in" filter="wipe(left)">
                                      <p:cBhvr>
                                        <p:cTn id="21" dur="500"/>
                                        <p:tgtEl>
                                          <p:spTgt spid="45"/>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46"/>
                                        </p:tgtEl>
                                        <p:attrNameLst>
                                          <p:attrName>style.visibility</p:attrName>
                                        </p:attrNameLst>
                                      </p:cBhvr>
                                      <p:to>
                                        <p:strVal val="visible"/>
                                      </p:to>
                                    </p:set>
                                    <p:animEffect transition="in" filter="wipe(left)">
                                      <p:cBhvr>
                                        <p:cTn id="24" dur="500"/>
                                        <p:tgtEl>
                                          <p:spTgt spid="4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7"/>
                                        </p:tgtEl>
                                        <p:attrNameLst>
                                          <p:attrName>style.visibility</p:attrName>
                                        </p:attrNameLst>
                                      </p:cBhvr>
                                      <p:to>
                                        <p:strVal val="visible"/>
                                      </p:to>
                                    </p:set>
                                    <p:animEffect transition="in" filter="wipe(left)">
                                      <p:cBhvr>
                                        <p:cTn id="29" dur="500"/>
                                        <p:tgtEl>
                                          <p:spTgt spid="47"/>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wipe(left)">
                                      <p:cBhvr>
                                        <p:cTn id="3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45" grpId="0"/>
      <p:bldP spid="46" grpId="0"/>
      <p:bldP spid="47" grpId="0"/>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8633484" cy="598488"/>
          </a:xfrm>
        </p:spPr>
        <p:txBody>
          <a:bodyPr>
            <a:noAutofit/>
          </a:bodyPr>
          <a:lstStyle/>
          <a:p>
            <a:pPr eaLnBrk="1" hangingPunct="1"/>
            <a:r>
              <a:rPr lang="en-US" sz="4000" dirty="0">
                <a:solidFill>
                  <a:schemeClr val="accent2"/>
                </a:solidFill>
                <a:latin typeface="Tahoma" charset="0"/>
                <a:cs typeface="Arial" charset="0"/>
              </a:rPr>
              <a:t>6</a:t>
            </a:r>
            <a:r>
              <a:rPr lang="en-US" sz="4000" dirty="0" smtClean="0">
                <a:solidFill>
                  <a:schemeClr val="accent2"/>
                </a:solidFill>
                <a:latin typeface="Tahoma" charset="0"/>
                <a:cs typeface="Arial" charset="0"/>
              </a:rPr>
              <a:t>. ALGORITHM</a:t>
            </a:r>
            <a:endParaRPr lang="en-US" sz="4000" dirty="0">
              <a:solidFill>
                <a:schemeClr val="accent2"/>
              </a:solidFill>
              <a:latin typeface="Tahoma" charset="0"/>
              <a:cs typeface="Arial" charset="0"/>
            </a:endParaRPr>
          </a:p>
        </p:txBody>
      </p:sp>
      <p:sp>
        <p:nvSpPr>
          <p:cNvPr id="7" name="Slide Number Placeholder 6"/>
          <p:cNvSpPr>
            <a:spLocks noGrp="1"/>
          </p:cNvSpPr>
          <p:nvPr>
            <p:ph type="sldNum" sz="quarter" idx="12"/>
          </p:nvPr>
        </p:nvSpPr>
        <p:spPr/>
        <p:txBody>
          <a:bodyPr/>
          <a:lstStyle/>
          <a:p>
            <a:fld id="{DA934484-767D-4C48-AF0E-A1438A969E59}" type="slidenum">
              <a:rPr lang="en-US" smtClean="0"/>
              <a:pPr/>
              <a:t>12</a:t>
            </a:fld>
            <a:endParaRPr lang="en-US"/>
          </a:p>
        </p:txBody>
      </p:sp>
      <p:sp>
        <p:nvSpPr>
          <p:cNvPr id="14" name="Rectangle 13"/>
          <p:cNvSpPr/>
          <p:nvPr/>
        </p:nvSpPr>
        <p:spPr>
          <a:xfrm>
            <a:off x="221124" y="1214422"/>
            <a:ext cx="8640960" cy="5429288"/>
          </a:xfrm>
          <a:prstGeom prst="rect">
            <a:avLst/>
          </a:prstGeom>
          <a:solidFill>
            <a:schemeClr val="accent1">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4363" indent="-342900">
              <a:lnSpc>
                <a:spcPct val="90000"/>
              </a:lnSpc>
              <a:buAutoNum type="arabicPeriod"/>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Start the program.</a:t>
            </a:r>
          </a:p>
          <a:p>
            <a:pPr marL="614363" indent="-342900">
              <a:lnSpc>
                <a:spcPct val="90000"/>
              </a:lnSpc>
              <a:buAutoNum type="arabicPeriod"/>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Read number of passengers. Store in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numberOfPassengers</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a:t>
            </a:r>
          </a:p>
          <a:p>
            <a:pPr marL="614363" indent="-342900">
              <a:lnSpc>
                <a:spcPct val="90000"/>
              </a:lnSpc>
              <a:buAutoNum type="arabicPeriod"/>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Repeat from 1 to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numberOfPassengers</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a:t>
            </a:r>
          </a:p>
          <a:p>
            <a:pPr marL="271463">
              <a:lnSpc>
                <a:spcPct val="90000"/>
              </a:lnSpc>
            </a:pP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3.1 Read passenger’s class. Store it in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passClass</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a:t>
            </a:r>
          </a:p>
          <a:p>
            <a:pPr marL="271463">
              <a:lnSpc>
                <a:spcPct val="90000"/>
              </a:lnSpc>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3.2 Read the weight of passenger’s baggage. Store it in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bagWeight</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a:t>
            </a:r>
          </a:p>
          <a:p>
            <a:pPr marL="271463">
              <a:lnSpc>
                <a:spcPct val="90000"/>
              </a:lnSpc>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3.3 Calculate the excess weight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excessWeight</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as follows:</a:t>
            </a:r>
          </a:p>
          <a:p>
            <a:pPr marL="728663" lvl="1">
              <a:lnSpc>
                <a:spcPct val="90000"/>
              </a:lnSpc>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3.3.1 If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passClass</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 ‘</a:t>
            </a:r>
            <a:r>
              <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rPr>
              <a:t>F</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p>
          <a:p>
            <a:pPr marL="728663" lvl="1">
              <a:lnSpc>
                <a:spcPct val="90000"/>
              </a:lnSpc>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if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bagWeight</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&gt; 30, then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excessWeight</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bagWeight</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rPr>
              <a:t>30</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a:t>
            </a:r>
          </a:p>
          <a:p>
            <a:pPr marL="728663" lvl="1">
              <a:lnSpc>
                <a:spcPct val="90000"/>
              </a:lnSpc>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3.3.2 If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passClass</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rPr>
              <a:t>B</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p>
          <a:p>
            <a:pPr marL="728663" lvl="1">
              <a:lnSpc>
                <a:spcPct val="90000"/>
              </a:lnSpc>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if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bagWeight</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&gt; 25, then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excessWeight</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bagWeight</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rPr>
              <a:t>25</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a:t>
            </a:r>
          </a:p>
          <a:p>
            <a:pPr marL="728663" lvl="1">
              <a:lnSpc>
                <a:spcPct val="90000"/>
              </a:lnSpc>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3.3.3 If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passClass</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rPr>
              <a:t>E’</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p>
          <a:p>
            <a:pPr marL="728663" lvl="1">
              <a:lnSpc>
                <a:spcPct val="90000"/>
              </a:lnSpc>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if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bagWeight</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&gt; 20, then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excessWeight</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bagWeight</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rPr>
              <a:t>20</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a:t>
            </a:r>
          </a:p>
          <a:p>
            <a:pPr marL="728663" lvl="1">
              <a:lnSpc>
                <a:spcPct val="90000"/>
              </a:lnSpc>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3.3.4 Any other value:</a:t>
            </a:r>
          </a:p>
          <a:p>
            <a:pPr marL="728663" lvl="1">
              <a:lnSpc>
                <a:spcPct val="90000"/>
              </a:lnSpc>
            </a:pP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3.3.4.1 Display an error message “</a:t>
            </a:r>
            <a:r>
              <a:rPr lang="en-US" sz="2000" dirty="0" smtClean="0">
                <a:solidFill>
                  <a:schemeClr val="accent2"/>
                </a:solidFill>
                <a:latin typeface="Tahoma" panose="020B0604030504040204" pitchFamily="34" charset="0"/>
                <a:ea typeface="Tahoma" panose="020B0604030504040204" pitchFamily="34" charset="0"/>
                <a:cs typeface="Tahoma" panose="020B0604030504040204" pitchFamily="34" charset="0"/>
              </a:rPr>
              <a:t>Invalid class for passenger</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a:t>
            </a:r>
          </a:p>
          <a:p>
            <a:pPr marL="728663" lvl="1">
              <a:lnSpc>
                <a:spcPct val="90000"/>
              </a:lnSpc>
            </a:pP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3.3.4.2 Go to step 7.</a:t>
            </a:r>
          </a:p>
          <a:p>
            <a:pPr marL="271463">
              <a:lnSpc>
                <a:spcPct val="90000"/>
              </a:lnSpc>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3.4 Calculate charge on excess weight as follows:</a:t>
            </a:r>
          </a:p>
          <a:p>
            <a:pPr marL="728663" lvl="1">
              <a:lnSpc>
                <a:spcPct val="90000"/>
              </a:lnSpc>
            </a:pP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charge</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excessWeight</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rPr>
              <a:t>10</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a:t>
            </a:r>
          </a:p>
          <a:p>
            <a:pPr marL="271463">
              <a:lnSpc>
                <a:spcPct val="90000"/>
              </a:lnSpc>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     3.5 Display </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charge</a:t>
            </a:r>
          </a:p>
          <a:p>
            <a:pPr marL="271463">
              <a:lnSpc>
                <a:spcPct val="90000"/>
              </a:lnSpc>
            </a:pP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3.6 End of loop</a:t>
            </a:r>
          </a:p>
          <a:p>
            <a:pPr marL="271463">
              <a:lnSpc>
                <a:spcPct val="90000"/>
              </a:lnSpc>
            </a:pPr>
            <a:r>
              <a:rPr lang="en-US" sz="2000" dirty="0" smtClean="0">
                <a:solidFill>
                  <a:schemeClr val="tx1"/>
                </a:solidFill>
                <a:latin typeface="Tahoma" panose="020B0604030504040204" pitchFamily="34" charset="0"/>
                <a:ea typeface="Tahoma" panose="020B0604030504040204" pitchFamily="34" charset="0"/>
                <a:cs typeface="Tahoma" panose="020B0604030504040204" pitchFamily="34" charset="0"/>
              </a:rPr>
              <a:t>4. End the program</a:t>
            </a:r>
            <a:endParaRPr lang="en-US" sz="20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5" name="Rectangle 14"/>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COUNTER-CONTROLLED LOOP</a:t>
            </a:r>
            <a:endParaRPr lang="en-US" b="1" dirty="0"/>
          </a:p>
        </p:txBody>
      </p:sp>
      <p:cxnSp>
        <p:nvCxnSpPr>
          <p:cNvPr id="16" name="Straight Connector 15"/>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8" name="Rounded Rectangle 7"/>
          <p:cNvSpPr/>
          <p:nvPr/>
        </p:nvSpPr>
        <p:spPr>
          <a:xfrm>
            <a:off x="357158" y="2000240"/>
            <a:ext cx="8208912" cy="4357718"/>
          </a:xfrm>
          <a:prstGeom prst="roundRect">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221124" y="1784216"/>
            <a:ext cx="8671356" cy="216024"/>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389629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a:solidFill>
                  <a:schemeClr val="accent2"/>
                </a:solidFill>
                <a:latin typeface="Tahoma" charset="0"/>
                <a:cs typeface="Arial" charset="0"/>
              </a:rPr>
              <a:t>7</a:t>
            </a:r>
            <a:r>
              <a:rPr lang="en-US" sz="4000" dirty="0" smtClean="0">
                <a:solidFill>
                  <a:schemeClr val="accent2"/>
                </a:solidFill>
                <a:latin typeface="Tahoma" charset="0"/>
                <a:cs typeface="Arial" charset="0"/>
              </a:rPr>
              <a:t>. CODE (1)</a:t>
            </a:r>
            <a:endParaRPr lang="en-US" sz="4000" dirty="0">
              <a:solidFill>
                <a:schemeClr val="accent2"/>
              </a:solidFill>
              <a:latin typeface="Tahoma" charset="0"/>
              <a:cs typeface="Arial" charset="0"/>
            </a:endParaRPr>
          </a:p>
        </p:txBody>
      </p:sp>
      <p:cxnSp>
        <p:nvCxnSpPr>
          <p:cNvPr id="16" name="Straight Connector 15"/>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179512" y="764704"/>
            <a:ext cx="8784976" cy="6001643"/>
            <a:chOff x="258661" y="1236822"/>
            <a:chExt cx="7913739" cy="6001643"/>
          </a:xfrm>
        </p:grpSpPr>
        <p:sp>
          <p:nvSpPr>
            <p:cNvPr id="9" name="TextBox 8"/>
            <p:cNvSpPr txBox="1"/>
            <p:nvPr/>
          </p:nvSpPr>
          <p:spPr>
            <a:xfrm>
              <a:off x="712728" y="1236822"/>
              <a:ext cx="7459672" cy="6001643"/>
            </a:xfrm>
            <a:prstGeom prst="rect">
              <a:avLst/>
            </a:prstGeom>
            <a:solidFill>
              <a:schemeClr val="bg2"/>
            </a:solidFill>
            <a:ln w="28575" cap="rnd" cmpd="thickThin">
              <a:solidFill>
                <a:srgbClr val="0000FF"/>
              </a:solidFill>
            </a:ln>
          </p:spPr>
          <p:txBody>
            <a:bodyPr wrap="square" rtlCol="0">
              <a:spAutoFit/>
            </a:bodyPr>
            <a:lstStyle/>
            <a:p>
              <a:r>
                <a:rPr lang="en-US" sz="1600" dirty="0" smtClean="0">
                  <a:solidFill>
                    <a:srgbClr val="00B050"/>
                  </a:solidFill>
                </a:rPr>
                <a:t>// import necessary libraries</a:t>
              </a:r>
            </a:p>
            <a:p>
              <a:r>
                <a:rPr lang="en-US" sz="1600" dirty="0" smtClean="0">
                  <a:solidFill>
                    <a:srgbClr val="00B0F0"/>
                  </a:solidFill>
                </a:rPr>
                <a:t>import</a:t>
              </a:r>
              <a:r>
                <a:rPr lang="en-US" sz="1600" dirty="0" smtClean="0"/>
                <a:t> </a:t>
              </a:r>
              <a:r>
                <a:rPr lang="en-US" sz="1600" dirty="0" err="1" smtClean="0">
                  <a:solidFill>
                    <a:srgbClr val="00B0F0"/>
                  </a:solidFill>
                </a:rPr>
                <a:t>java.util</a:t>
              </a:r>
              <a:r>
                <a:rPr lang="en-US" sz="1600" dirty="0" smtClean="0">
                  <a:solidFill>
                    <a:srgbClr val="00B0F0"/>
                  </a:solidFill>
                </a:rPr>
                <a:t>.*</a:t>
              </a:r>
              <a:r>
                <a:rPr lang="en-US" sz="1600" dirty="0" smtClean="0"/>
                <a:t>;</a:t>
              </a:r>
            </a:p>
            <a:p>
              <a:r>
                <a:rPr lang="en-US" sz="1600" dirty="0" smtClean="0">
                  <a:solidFill>
                    <a:srgbClr val="00B0F0"/>
                  </a:solidFill>
                </a:rPr>
                <a:t>public class</a:t>
              </a:r>
              <a:r>
                <a:rPr lang="en-US" sz="1600" dirty="0" smtClean="0">
                  <a:solidFill>
                    <a:srgbClr val="0000FF"/>
                  </a:solidFill>
                </a:rPr>
                <a:t> passenger</a:t>
              </a:r>
            </a:p>
            <a:p>
              <a:r>
                <a:rPr lang="en-US" sz="1600" dirty="0" smtClean="0">
                  <a:solidFill>
                    <a:srgbClr val="0000FF"/>
                  </a:solidFill>
                </a:rPr>
                <a:t>{</a:t>
              </a:r>
            </a:p>
            <a:p>
              <a:r>
                <a:rPr lang="en-US" sz="1600" dirty="0">
                  <a:solidFill>
                    <a:srgbClr val="00B050"/>
                  </a:solidFill>
                </a:rPr>
                <a:t> </a:t>
              </a:r>
              <a:r>
                <a:rPr lang="en-US" sz="1600" dirty="0" smtClean="0">
                  <a:solidFill>
                    <a:srgbClr val="00B050"/>
                  </a:solidFill>
                </a:rPr>
                <a:t>   // instantiate Scanner object</a:t>
              </a:r>
            </a:p>
            <a:p>
              <a:r>
                <a:rPr lang="en-US" sz="1600" dirty="0" smtClean="0">
                  <a:solidFill>
                    <a:srgbClr val="00B0F0"/>
                  </a:solidFill>
                </a:rPr>
                <a:t>    static </a:t>
              </a:r>
              <a:r>
                <a:rPr lang="en-US" sz="1600" dirty="0" smtClean="0">
                  <a:solidFill>
                    <a:srgbClr val="00B050"/>
                  </a:solidFill>
                </a:rPr>
                <a:t>Scanner </a:t>
              </a:r>
              <a:r>
                <a:rPr lang="en-US" sz="1600" dirty="0" smtClean="0">
                  <a:solidFill>
                    <a:srgbClr val="0000FF"/>
                  </a:solidFill>
                </a:rPr>
                <a:t>read</a:t>
              </a:r>
              <a:r>
                <a:rPr lang="en-US" sz="1600" dirty="0" smtClean="0"/>
                <a:t> = </a:t>
              </a:r>
              <a:r>
                <a:rPr lang="en-US" sz="1600" dirty="0" smtClean="0">
                  <a:solidFill>
                    <a:srgbClr val="00B0F0"/>
                  </a:solidFill>
                </a:rPr>
                <a:t>new </a:t>
              </a:r>
              <a:r>
                <a:rPr lang="en-US" sz="1600" dirty="0" smtClean="0">
                  <a:solidFill>
                    <a:srgbClr val="00B050"/>
                  </a:solidFill>
                </a:rPr>
                <a:t>Scanner(System.in)</a:t>
              </a:r>
              <a:r>
                <a:rPr lang="en-US" sz="1600" dirty="0" smtClean="0"/>
                <a:t>;</a:t>
              </a:r>
            </a:p>
            <a:p>
              <a:r>
                <a:rPr lang="en-US" sz="1600" dirty="0" smtClean="0">
                  <a:solidFill>
                    <a:srgbClr val="0000FF"/>
                  </a:solidFill>
                </a:rPr>
                <a:t>    </a:t>
              </a:r>
              <a:r>
                <a:rPr lang="en-US" sz="1600" dirty="0" smtClean="0">
                  <a:solidFill>
                    <a:srgbClr val="00B0F0"/>
                  </a:solidFill>
                </a:rPr>
                <a:t>public static void main (String[] </a:t>
              </a:r>
              <a:r>
                <a:rPr lang="en-US" sz="1600" dirty="0" err="1" smtClean="0">
                  <a:solidFill>
                    <a:srgbClr val="00B0F0"/>
                  </a:solidFill>
                </a:rPr>
                <a:t>args</a:t>
              </a:r>
              <a:r>
                <a:rPr lang="en-US" sz="1600" dirty="0" smtClean="0">
                  <a:solidFill>
                    <a:srgbClr val="00B0F0"/>
                  </a:solidFill>
                </a:rPr>
                <a:t>)</a:t>
              </a:r>
            </a:p>
            <a:p>
              <a:r>
                <a:rPr lang="en-US" sz="1600" dirty="0" smtClean="0">
                  <a:solidFill>
                    <a:srgbClr val="0000FF"/>
                  </a:solidFill>
                </a:rPr>
                <a:t>      {</a:t>
              </a:r>
            </a:p>
            <a:p>
              <a:r>
                <a:rPr lang="en-US" sz="1600" dirty="0">
                  <a:solidFill>
                    <a:srgbClr val="00B050"/>
                  </a:solidFill>
                </a:rPr>
                <a:t> </a:t>
              </a:r>
              <a:r>
                <a:rPr lang="en-US" sz="1600" dirty="0" smtClean="0">
                  <a:solidFill>
                    <a:srgbClr val="00B050"/>
                  </a:solidFill>
                </a:rPr>
                <a:t>         // Declaration section</a:t>
              </a:r>
            </a:p>
            <a:p>
              <a:r>
                <a:rPr lang="en-US" sz="1600" dirty="0">
                  <a:solidFill>
                    <a:srgbClr val="00B050"/>
                  </a:solidFill>
                </a:rPr>
                <a:t> </a:t>
              </a:r>
              <a:r>
                <a:rPr lang="en-US" sz="1600" dirty="0" smtClean="0">
                  <a:solidFill>
                    <a:srgbClr val="00B050"/>
                  </a:solidFill>
                </a:rPr>
                <a:t>             </a:t>
              </a:r>
              <a:r>
                <a:rPr lang="en-US" sz="1600" dirty="0" err="1" smtClean="0">
                  <a:solidFill>
                    <a:srgbClr val="00B0F0"/>
                  </a:solidFill>
                </a:rPr>
                <a:t>int</a:t>
              </a:r>
              <a:r>
                <a:rPr lang="en-US" sz="1600" dirty="0" smtClean="0">
                  <a:solidFill>
                    <a:srgbClr val="00B050"/>
                  </a:solidFill>
                </a:rPr>
                <a:t> </a:t>
              </a:r>
              <a:r>
                <a:rPr lang="en-US" sz="1600" dirty="0" err="1" smtClean="0">
                  <a:solidFill>
                    <a:srgbClr val="0000FF"/>
                  </a:solidFill>
                </a:rPr>
                <a:t>numberOfPassengers</a:t>
              </a:r>
              <a:r>
                <a:rPr lang="en-US" sz="1600" dirty="0" smtClean="0"/>
                <a:t>;</a:t>
              </a:r>
              <a:r>
                <a:rPr lang="en-US" sz="1600" dirty="0" smtClean="0">
                  <a:solidFill>
                    <a:srgbClr val="00B050"/>
                  </a:solidFill>
                </a:rPr>
                <a:t>    // number of passengers to process</a:t>
              </a:r>
            </a:p>
            <a:p>
              <a:r>
                <a:rPr lang="en-US" sz="1600" dirty="0">
                  <a:solidFill>
                    <a:srgbClr val="00B050"/>
                  </a:solidFill>
                </a:rPr>
                <a:t> </a:t>
              </a:r>
              <a:r>
                <a:rPr lang="en-US" sz="1600" dirty="0" smtClean="0">
                  <a:solidFill>
                    <a:srgbClr val="00B050"/>
                  </a:solidFill>
                </a:rPr>
                <a:t>             </a:t>
              </a:r>
              <a:r>
                <a:rPr lang="en-US" sz="1600" dirty="0" err="1" smtClean="0">
                  <a:solidFill>
                    <a:srgbClr val="00B0F0"/>
                  </a:solidFill>
                </a:rPr>
                <a:t>int</a:t>
              </a:r>
              <a:r>
                <a:rPr lang="en-US" sz="1600" dirty="0" smtClean="0">
                  <a:solidFill>
                    <a:srgbClr val="00B050"/>
                  </a:solidFill>
                </a:rPr>
                <a:t> </a:t>
              </a:r>
              <a:r>
                <a:rPr lang="en-US" sz="1600" dirty="0" smtClean="0">
                  <a:solidFill>
                    <a:srgbClr val="0000FF"/>
                  </a:solidFill>
                </a:rPr>
                <a:t>counter</a:t>
              </a:r>
              <a:r>
                <a:rPr lang="en-US" sz="1600" dirty="0" smtClean="0"/>
                <a:t>;</a:t>
              </a:r>
              <a:r>
                <a:rPr lang="en-US" sz="1600" dirty="0" smtClean="0">
                  <a:solidFill>
                    <a:srgbClr val="00B050"/>
                  </a:solidFill>
                </a:rPr>
                <a:t>		// loop counter</a:t>
              </a:r>
            </a:p>
            <a:p>
              <a:r>
                <a:rPr lang="en-US" sz="1600" dirty="0" smtClean="0"/>
                <a:t>	</a:t>
              </a:r>
              <a:r>
                <a:rPr lang="en-US" sz="1600" dirty="0" smtClean="0">
                  <a:solidFill>
                    <a:srgbClr val="00B0F0"/>
                  </a:solidFill>
                </a:rPr>
                <a:t>char </a:t>
              </a:r>
              <a:r>
                <a:rPr lang="en-US" sz="1600" dirty="0" err="1" smtClean="0">
                  <a:solidFill>
                    <a:srgbClr val="0000FF"/>
                  </a:solidFill>
                </a:rPr>
                <a:t>passClass</a:t>
              </a:r>
              <a:r>
                <a:rPr lang="en-US" sz="1600" dirty="0" smtClean="0"/>
                <a:t>;</a:t>
              </a:r>
              <a:r>
                <a:rPr lang="en-US" sz="1600" dirty="0" smtClean="0">
                  <a:solidFill>
                    <a:srgbClr val="00B050"/>
                  </a:solidFill>
                </a:rPr>
                <a:t>		// passenger’s class</a:t>
              </a:r>
            </a:p>
            <a:p>
              <a:r>
                <a:rPr lang="en-US" sz="1600" dirty="0"/>
                <a:t>	</a:t>
              </a:r>
              <a:r>
                <a:rPr lang="en-US" sz="1600" dirty="0" smtClean="0">
                  <a:solidFill>
                    <a:srgbClr val="00B0F0"/>
                  </a:solidFill>
                </a:rPr>
                <a:t>double </a:t>
              </a:r>
              <a:r>
                <a:rPr lang="en-US" sz="1600" dirty="0" err="1" smtClean="0">
                  <a:solidFill>
                    <a:srgbClr val="0000FF"/>
                  </a:solidFill>
                </a:rPr>
                <a:t>bagWeight</a:t>
              </a:r>
              <a:r>
                <a:rPr lang="en-US" sz="1600" dirty="0" smtClean="0"/>
                <a:t>;</a:t>
              </a:r>
              <a:r>
                <a:rPr lang="en-US" sz="1600" dirty="0" smtClean="0">
                  <a:solidFill>
                    <a:srgbClr val="00B050"/>
                  </a:solidFill>
                </a:rPr>
                <a:t>	// passenger’s bag weight</a:t>
              </a:r>
            </a:p>
            <a:p>
              <a:r>
                <a:rPr lang="en-US" sz="1600" dirty="0">
                  <a:solidFill>
                    <a:srgbClr val="00B050"/>
                  </a:solidFill>
                </a:rPr>
                <a:t>	</a:t>
              </a:r>
              <a:r>
                <a:rPr lang="en-US" sz="1600" dirty="0" smtClean="0">
                  <a:solidFill>
                    <a:srgbClr val="00B0F0"/>
                  </a:solidFill>
                </a:rPr>
                <a:t>double </a:t>
              </a:r>
              <a:r>
                <a:rPr lang="en-US" sz="1600" dirty="0" err="1" smtClean="0">
                  <a:solidFill>
                    <a:srgbClr val="0000FF"/>
                  </a:solidFill>
                </a:rPr>
                <a:t>excessWeight</a:t>
              </a:r>
              <a:r>
                <a:rPr lang="en-US" sz="1600" dirty="0" smtClean="0">
                  <a:solidFill>
                    <a:srgbClr val="0000FF"/>
                  </a:solidFill>
                </a:rPr>
                <a:t> = 0</a:t>
              </a:r>
              <a:r>
                <a:rPr lang="en-US" sz="1600" dirty="0" smtClean="0"/>
                <a:t>;</a:t>
              </a:r>
              <a:r>
                <a:rPr lang="en-US" sz="1600" dirty="0" smtClean="0">
                  <a:solidFill>
                    <a:srgbClr val="00B050"/>
                  </a:solidFill>
                </a:rPr>
                <a:t>	// passenger’s excess weight</a:t>
              </a:r>
            </a:p>
            <a:p>
              <a:r>
                <a:rPr lang="en-US" sz="1600" dirty="0" smtClean="0"/>
                <a:t>	</a:t>
              </a:r>
              <a:r>
                <a:rPr lang="en-US" sz="1600" dirty="0" smtClean="0">
                  <a:solidFill>
                    <a:srgbClr val="00B0F0"/>
                  </a:solidFill>
                </a:rPr>
                <a:t>double </a:t>
              </a:r>
              <a:r>
                <a:rPr lang="en-US" sz="1600" dirty="0" smtClean="0">
                  <a:solidFill>
                    <a:srgbClr val="0000FF"/>
                  </a:solidFill>
                </a:rPr>
                <a:t>charge = -1</a:t>
              </a:r>
              <a:r>
                <a:rPr lang="en-US" sz="1600" dirty="0" smtClean="0"/>
                <a:t>;	</a:t>
              </a:r>
              <a:r>
                <a:rPr lang="en-US" sz="1600" dirty="0" smtClean="0">
                  <a:solidFill>
                    <a:srgbClr val="00B050"/>
                  </a:solidFill>
                </a:rPr>
                <a:t>// charge on excess weight</a:t>
              </a:r>
            </a:p>
            <a:p>
              <a:r>
                <a:rPr lang="en-US" sz="1600" dirty="0" smtClean="0">
                  <a:solidFill>
                    <a:srgbClr val="00B050"/>
                  </a:solidFill>
                </a:rPr>
                <a:t>          // Input section</a:t>
              </a:r>
            </a:p>
            <a:p>
              <a:r>
                <a:rPr lang="en-US" sz="1600" dirty="0" smtClean="0"/>
                <a:t>              </a:t>
              </a:r>
              <a:r>
                <a:rPr lang="en-US" sz="1600" dirty="0" err="1" smtClean="0">
                  <a:solidFill>
                    <a:srgbClr val="00B0F0"/>
                  </a:solidFill>
                </a:rPr>
                <a:t>System.out.print</a:t>
              </a:r>
              <a:r>
                <a:rPr lang="en-US" sz="1600" dirty="0" smtClean="0"/>
                <a:t> (“Please enter number of passengers”);</a:t>
              </a:r>
            </a:p>
            <a:p>
              <a:r>
                <a:rPr lang="en-US" sz="1600" dirty="0"/>
                <a:t> </a:t>
              </a:r>
              <a:r>
                <a:rPr lang="en-US" sz="1600" dirty="0" smtClean="0"/>
                <a:t>             </a:t>
              </a:r>
              <a:r>
                <a:rPr lang="en-US" sz="1600" dirty="0" err="1" smtClean="0">
                  <a:solidFill>
                    <a:srgbClr val="0000FF"/>
                  </a:solidFill>
                </a:rPr>
                <a:t>numberOfPassengers</a:t>
              </a:r>
              <a:r>
                <a:rPr lang="en-US" sz="1600" dirty="0" smtClean="0">
                  <a:solidFill>
                    <a:srgbClr val="0000FF"/>
                  </a:solidFill>
                </a:rPr>
                <a:t> </a:t>
              </a:r>
              <a:r>
                <a:rPr lang="en-US" sz="1600" dirty="0" smtClean="0"/>
                <a:t>= </a:t>
              </a:r>
              <a:r>
                <a:rPr lang="en-US" sz="1600" dirty="0" err="1" smtClean="0">
                  <a:solidFill>
                    <a:srgbClr val="0000FF"/>
                  </a:solidFill>
                </a:rPr>
                <a:t>read</a:t>
              </a:r>
              <a:r>
                <a:rPr lang="en-US" sz="1600" dirty="0" err="1" smtClean="0"/>
                <a:t>.</a:t>
              </a:r>
              <a:r>
                <a:rPr lang="en-US" sz="1600" dirty="0" err="1" smtClean="0">
                  <a:solidFill>
                    <a:srgbClr val="00B050"/>
                  </a:solidFill>
                </a:rPr>
                <a:t>nextInt</a:t>
              </a:r>
              <a:r>
                <a:rPr lang="en-US" sz="1600" dirty="0" smtClean="0">
                  <a:solidFill>
                    <a:srgbClr val="00B050"/>
                  </a:solidFill>
                </a:rPr>
                <a:t>()</a:t>
              </a:r>
              <a:r>
                <a:rPr lang="en-US" sz="1600" dirty="0" smtClean="0"/>
                <a:t>;</a:t>
              </a:r>
            </a:p>
            <a:p>
              <a:r>
                <a:rPr lang="en-US" sz="1600" dirty="0">
                  <a:solidFill>
                    <a:srgbClr val="00B050"/>
                  </a:solidFill>
                </a:rPr>
                <a:t> </a:t>
              </a:r>
              <a:r>
                <a:rPr lang="en-US" sz="1600" dirty="0" smtClean="0">
                  <a:solidFill>
                    <a:srgbClr val="00B050"/>
                  </a:solidFill>
                </a:rPr>
                <a:t>             // input for each passenger</a:t>
              </a:r>
            </a:p>
            <a:p>
              <a:r>
                <a:rPr lang="en-US" sz="1600" dirty="0"/>
                <a:t> </a:t>
              </a:r>
              <a:r>
                <a:rPr lang="en-US" sz="1600" dirty="0" smtClean="0"/>
                <a:t>             </a:t>
              </a:r>
              <a:r>
                <a:rPr lang="en-US" sz="1600" dirty="0" smtClean="0">
                  <a:solidFill>
                    <a:srgbClr val="00B0F0"/>
                  </a:solidFill>
                </a:rPr>
                <a:t>for</a:t>
              </a:r>
              <a:r>
                <a:rPr lang="en-US" sz="1600" dirty="0" smtClean="0"/>
                <a:t> (</a:t>
              </a:r>
              <a:r>
                <a:rPr lang="en-US" sz="1600" dirty="0" smtClean="0">
                  <a:solidFill>
                    <a:srgbClr val="0000FF"/>
                  </a:solidFill>
                </a:rPr>
                <a:t>counter </a:t>
              </a:r>
              <a:r>
                <a:rPr lang="en-US" sz="1600" dirty="0" smtClean="0"/>
                <a:t>= 0; </a:t>
              </a:r>
              <a:r>
                <a:rPr lang="en-US" sz="1600" dirty="0" smtClean="0">
                  <a:solidFill>
                    <a:srgbClr val="0000FF"/>
                  </a:solidFill>
                </a:rPr>
                <a:t>counter </a:t>
              </a:r>
              <a:r>
                <a:rPr lang="en-US" sz="1600" dirty="0" smtClean="0"/>
                <a:t>&lt; </a:t>
              </a:r>
              <a:r>
                <a:rPr lang="en-US" sz="1600" dirty="0" err="1" smtClean="0">
                  <a:solidFill>
                    <a:srgbClr val="0000FF"/>
                  </a:solidFill>
                </a:rPr>
                <a:t>numberOfPassengers</a:t>
              </a:r>
              <a:r>
                <a:rPr lang="en-US" sz="1600" dirty="0" smtClean="0"/>
                <a:t>; </a:t>
              </a:r>
              <a:r>
                <a:rPr lang="en-US" sz="1600" dirty="0" smtClean="0">
                  <a:solidFill>
                    <a:srgbClr val="0000FF"/>
                  </a:solidFill>
                </a:rPr>
                <a:t>counter</a:t>
              </a:r>
              <a:r>
                <a:rPr lang="en-US" sz="1600" dirty="0" smtClean="0"/>
                <a:t>++)</a:t>
              </a:r>
            </a:p>
            <a:p>
              <a:r>
                <a:rPr lang="en-US" sz="1600" dirty="0"/>
                <a:t> </a:t>
              </a:r>
              <a:r>
                <a:rPr lang="en-US" sz="1600" dirty="0" smtClean="0"/>
                <a:t>                {</a:t>
              </a:r>
            </a:p>
            <a:p>
              <a:r>
                <a:rPr lang="en-US" sz="1600" dirty="0"/>
                <a:t> </a:t>
              </a:r>
              <a:r>
                <a:rPr lang="en-US" sz="1600" dirty="0" smtClean="0"/>
                <a:t>                 </a:t>
              </a:r>
              <a:r>
                <a:rPr lang="en-US" sz="1600" dirty="0" smtClean="0">
                  <a:solidFill>
                    <a:srgbClr val="0000FF"/>
                  </a:solidFill>
                </a:rPr>
                <a:t>charge</a:t>
              </a:r>
              <a:r>
                <a:rPr lang="en-US" sz="1600" dirty="0" smtClean="0"/>
                <a:t> = -1; 		</a:t>
              </a:r>
              <a:r>
                <a:rPr lang="en-US" sz="1600" dirty="0" smtClean="0">
                  <a:solidFill>
                    <a:srgbClr val="00B050"/>
                  </a:solidFill>
                </a:rPr>
                <a:t>//initialize charge for each passenger</a:t>
              </a:r>
            </a:p>
            <a:p>
              <a:r>
                <a:rPr lang="en-US" sz="1600" dirty="0"/>
                <a:t>	</a:t>
              </a:r>
              <a:r>
                <a:rPr lang="en-US" sz="1600" dirty="0" smtClean="0"/>
                <a:t>    </a:t>
              </a:r>
              <a:r>
                <a:rPr lang="en-US" sz="1600" dirty="0" err="1" smtClean="0">
                  <a:solidFill>
                    <a:srgbClr val="00B0F0"/>
                  </a:solidFill>
                </a:rPr>
                <a:t>System.out.print</a:t>
              </a:r>
              <a:r>
                <a:rPr lang="en-US" sz="1600" dirty="0" smtClean="0">
                  <a:solidFill>
                    <a:srgbClr val="00B0F0"/>
                  </a:solidFill>
                </a:rPr>
                <a:t> </a:t>
              </a:r>
              <a:r>
                <a:rPr lang="en-US" sz="1600" dirty="0" smtClean="0"/>
                <a:t>(“Please enter passenger’s class”);</a:t>
              </a:r>
              <a:r>
                <a:rPr lang="en-US" sz="1600" dirty="0" smtClean="0">
                  <a:solidFill>
                    <a:srgbClr val="00B050"/>
                  </a:solidFill>
                </a:rPr>
                <a:t> </a:t>
              </a:r>
            </a:p>
            <a:p>
              <a:r>
                <a:rPr lang="en-US" sz="1600" dirty="0"/>
                <a:t>	</a:t>
              </a:r>
              <a:r>
                <a:rPr lang="en-US" sz="1600" dirty="0" smtClean="0"/>
                <a:t>    </a:t>
              </a:r>
              <a:r>
                <a:rPr lang="en-US" sz="1600" dirty="0" err="1" smtClean="0">
                  <a:solidFill>
                    <a:srgbClr val="0000FF"/>
                  </a:solidFill>
                </a:rPr>
                <a:t>passClass</a:t>
              </a:r>
              <a:r>
                <a:rPr lang="en-US" sz="1600" dirty="0" smtClean="0">
                  <a:solidFill>
                    <a:srgbClr val="0000FF"/>
                  </a:solidFill>
                </a:rPr>
                <a:t> </a:t>
              </a:r>
              <a:r>
                <a:rPr lang="en-US" sz="1600" dirty="0" smtClean="0"/>
                <a:t>=  </a:t>
              </a:r>
              <a:r>
                <a:rPr lang="en-US" sz="1600" dirty="0" err="1" smtClean="0">
                  <a:solidFill>
                    <a:srgbClr val="0000FF"/>
                  </a:solidFill>
                </a:rPr>
                <a:t>read</a:t>
              </a:r>
              <a:r>
                <a:rPr lang="en-US" sz="1600" dirty="0" err="1" smtClean="0"/>
                <a:t>.</a:t>
              </a:r>
              <a:r>
                <a:rPr lang="en-US" sz="1600" dirty="0" err="1" smtClean="0">
                  <a:solidFill>
                    <a:srgbClr val="00B050"/>
                  </a:solidFill>
                </a:rPr>
                <a:t>next</a:t>
              </a:r>
              <a:r>
                <a:rPr lang="en-US" sz="1600" dirty="0" smtClean="0">
                  <a:solidFill>
                    <a:srgbClr val="00B050"/>
                  </a:solidFill>
                </a:rPr>
                <a:t>().</a:t>
              </a:r>
              <a:r>
                <a:rPr lang="en-US" sz="1600" dirty="0" err="1" smtClean="0">
                  <a:solidFill>
                    <a:srgbClr val="00B050"/>
                  </a:solidFill>
                </a:rPr>
                <a:t>charAt</a:t>
              </a:r>
              <a:r>
                <a:rPr lang="en-US" sz="1600" dirty="0" smtClean="0">
                  <a:solidFill>
                    <a:srgbClr val="00B050"/>
                  </a:solidFill>
                </a:rPr>
                <a:t>(0)</a:t>
              </a:r>
              <a:r>
                <a:rPr lang="en-US" sz="1600" dirty="0" smtClean="0"/>
                <a:t>;	</a:t>
              </a:r>
              <a:r>
                <a:rPr lang="en-US" sz="1600" dirty="0" smtClean="0">
                  <a:solidFill>
                    <a:srgbClr val="00B050"/>
                  </a:solidFill>
                </a:rPr>
                <a:t>// read passenger’s class</a:t>
              </a:r>
            </a:p>
          </p:txBody>
        </p:sp>
        <p:sp>
          <p:nvSpPr>
            <p:cNvPr id="10" name="TextBox 9"/>
            <p:cNvSpPr txBox="1"/>
            <p:nvPr/>
          </p:nvSpPr>
          <p:spPr>
            <a:xfrm>
              <a:off x="258661" y="1236822"/>
              <a:ext cx="454067" cy="6001643"/>
            </a:xfrm>
            <a:prstGeom prst="rect">
              <a:avLst/>
            </a:prstGeom>
            <a:noFill/>
          </p:spPr>
          <p:txBody>
            <a:bodyPr wrap="square" rtlCol="0">
              <a:spAutoFit/>
            </a:bodyPr>
            <a:lstStyle/>
            <a:p>
              <a:pPr algn="r"/>
              <a:r>
                <a:rPr lang="en-US" sz="1600" dirty="0" smtClean="0">
                  <a:solidFill>
                    <a:srgbClr val="FF0000"/>
                  </a:solidFill>
                </a:rPr>
                <a:t>1</a:t>
              </a:r>
            </a:p>
            <a:p>
              <a:pPr algn="r"/>
              <a:r>
                <a:rPr lang="en-US" sz="1600" dirty="0" smtClean="0">
                  <a:solidFill>
                    <a:srgbClr val="FF0000"/>
                  </a:solidFill>
                </a:rPr>
                <a:t>2</a:t>
              </a:r>
            </a:p>
            <a:p>
              <a:pPr algn="r"/>
              <a:r>
                <a:rPr lang="en-US" sz="1600" dirty="0" smtClean="0">
                  <a:solidFill>
                    <a:srgbClr val="FF0000"/>
                  </a:solidFill>
                </a:rPr>
                <a:t>3</a:t>
              </a:r>
            </a:p>
            <a:p>
              <a:pPr algn="r"/>
              <a:r>
                <a:rPr lang="en-US" sz="1600" dirty="0" smtClean="0">
                  <a:solidFill>
                    <a:srgbClr val="FF0000"/>
                  </a:solidFill>
                </a:rPr>
                <a:t>4</a:t>
              </a:r>
            </a:p>
            <a:p>
              <a:pPr algn="r"/>
              <a:r>
                <a:rPr lang="en-US" sz="1600" dirty="0" smtClean="0">
                  <a:solidFill>
                    <a:srgbClr val="FF0000"/>
                  </a:solidFill>
                </a:rPr>
                <a:t>5</a:t>
              </a:r>
            </a:p>
            <a:p>
              <a:pPr algn="r"/>
              <a:r>
                <a:rPr lang="en-US" sz="1600" dirty="0" smtClean="0">
                  <a:solidFill>
                    <a:srgbClr val="FF0000"/>
                  </a:solidFill>
                </a:rPr>
                <a:t>6</a:t>
              </a:r>
            </a:p>
            <a:p>
              <a:pPr algn="r"/>
              <a:r>
                <a:rPr lang="en-US" sz="1600" dirty="0" smtClean="0">
                  <a:solidFill>
                    <a:srgbClr val="FF0000"/>
                  </a:solidFill>
                </a:rPr>
                <a:t>7</a:t>
              </a:r>
            </a:p>
            <a:p>
              <a:pPr algn="r"/>
              <a:r>
                <a:rPr lang="en-US" sz="1600" dirty="0" smtClean="0">
                  <a:solidFill>
                    <a:srgbClr val="FF0000"/>
                  </a:solidFill>
                </a:rPr>
                <a:t>8</a:t>
              </a:r>
            </a:p>
            <a:p>
              <a:pPr algn="r"/>
              <a:r>
                <a:rPr lang="en-US" sz="1600" dirty="0" smtClean="0">
                  <a:solidFill>
                    <a:srgbClr val="FF0000"/>
                  </a:solidFill>
                </a:rPr>
                <a:t>9</a:t>
              </a:r>
            </a:p>
            <a:p>
              <a:pPr algn="r"/>
              <a:r>
                <a:rPr lang="en-US" sz="1600" dirty="0" smtClean="0">
                  <a:solidFill>
                    <a:srgbClr val="FF0000"/>
                  </a:solidFill>
                </a:rPr>
                <a:t>10</a:t>
              </a:r>
            </a:p>
            <a:p>
              <a:pPr algn="r"/>
              <a:r>
                <a:rPr lang="en-US" sz="1600" dirty="0" smtClean="0">
                  <a:solidFill>
                    <a:srgbClr val="FF0000"/>
                  </a:solidFill>
                </a:rPr>
                <a:t>11</a:t>
              </a:r>
            </a:p>
            <a:p>
              <a:pPr algn="r"/>
              <a:r>
                <a:rPr lang="en-US" sz="1600" dirty="0" smtClean="0">
                  <a:solidFill>
                    <a:srgbClr val="FF0000"/>
                  </a:solidFill>
                </a:rPr>
                <a:t>12</a:t>
              </a:r>
            </a:p>
            <a:p>
              <a:pPr algn="r"/>
              <a:r>
                <a:rPr lang="en-US" sz="1600" dirty="0" smtClean="0">
                  <a:solidFill>
                    <a:srgbClr val="FF0000"/>
                  </a:solidFill>
                </a:rPr>
                <a:t>13</a:t>
              </a:r>
            </a:p>
            <a:p>
              <a:pPr algn="r"/>
              <a:r>
                <a:rPr lang="en-US" sz="1600" dirty="0" smtClean="0">
                  <a:solidFill>
                    <a:srgbClr val="FF0000"/>
                  </a:solidFill>
                </a:rPr>
                <a:t>14</a:t>
              </a:r>
            </a:p>
            <a:p>
              <a:pPr algn="r"/>
              <a:r>
                <a:rPr lang="en-US" sz="1600" dirty="0" smtClean="0">
                  <a:solidFill>
                    <a:srgbClr val="FF0000"/>
                  </a:solidFill>
                </a:rPr>
                <a:t>15</a:t>
              </a:r>
            </a:p>
            <a:p>
              <a:pPr algn="r"/>
              <a:r>
                <a:rPr lang="en-US" sz="1600" dirty="0" smtClean="0">
                  <a:solidFill>
                    <a:srgbClr val="FF0000"/>
                  </a:solidFill>
                </a:rPr>
                <a:t>16</a:t>
              </a:r>
            </a:p>
            <a:p>
              <a:pPr algn="r"/>
              <a:r>
                <a:rPr lang="en-US" sz="1600" dirty="0" smtClean="0">
                  <a:solidFill>
                    <a:srgbClr val="FF0000"/>
                  </a:solidFill>
                </a:rPr>
                <a:t>17</a:t>
              </a:r>
            </a:p>
            <a:p>
              <a:pPr algn="r"/>
              <a:r>
                <a:rPr lang="en-US" sz="1600" dirty="0" smtClean="0">
                  <a:solidFill>
                    <a:srgbClr val="FF0000"/>
                  </a:solidFill>
                </a:rPr>
                <a:t>18</a:t>
              </a:r>
            </a:p>
            <a:p>
              <a:pPr algn="r"/>
              <a:r>
                <a:rPr lang="en-US" sz="1600" dirty="0" smtClean="0">
                  <a:solidFill>
                    <a:srgbClr val="FF0000"/>
                  </a:solidFill>
                </a:rPr>
                <a:t>19</a:t>
              </a:r>
            </a:p>
            <a:p>
              <a:pPr algn="r"/>
              <a:r>
                <a:rPr lang="en-US" sz="1600" dirty="0" smtClean="0">
                  <a:solidFill>
                    <a:srgbClr val="FF0000"/>
                  </a:solidFill>
                </a:rPr>
                <a:t>20</a:t>
              </a:r>
            </a:p>
            <a:p>
              <a:pPr algn="r"/>
              <a:r>
                <a:rPr lang="en-US" sz="1600" dirty="0" smtClean="0">
                  <a:solidFill>
                    <a:srgbClr val="FF0000"/>
                  </a:solidFill>
                </a:rPr>
                <a:t>21</a:t>
              </a:r>
            </a:p>
            <a:p>
              <a:pPr algn="r"/>
              <a:r>
                <a:rPr lang="en-US" sz="1600" dirty="0" smtClean="0">
                  <a:solidFill>
                    <a:srgbClr val="FF0000"/>
                  </a:solidFill>
                </a:rPr>
                <a:t>22</a:t>
              </a:r>
            </a:p>
            <a:p>
              <a:pPr algn="r"/>
              <a:r>
                <a:rPr lang="en-US" sz="1600" dirty="0" smtClean="0">
                  <a:solidFill>
                    <a:srgbClr val="FF0000"/>
                  </a:solidFill>
                </a:rPr>
                <a:t>23</a:t>
              </a:r>
            </a:p>
            <a:p>
              <a:pPr algn="r"/>
              <a:r>
                <a:rPr lang="en-US" sz="1600" dirty="0" smtClean="0">
                  <a:solidFill>
                    <a:srgbClr val="FF0000"/>
                  </a:solidFill>
                </a:rPr>
                <a:t>24</a:t>
              </a:r>
            </a:p>
          </p:txBody>
        </p:sp>
      </p:grpSp>
      <p:sp>
        <p:nvSpPr>
          <p:cNvPr id="7" name="Slide Number Placeholder 6"/>
          <p:cNvSpPr>
            <a:spLocks noGrp="1"/>
          </p:cNvSpPr>
          <p:nvPr>
            <p:ph type="sldNum" sz="quarter" idx="12"/>
          </p:nvPr>
        </p:nvSpPr>
        <p:spPr/>
        <p:txBody>
          <a:bodyPr/>
          <a:lstStyle/>
          <a:p>
            <a:fld id="{DA934484-767D-4C48-AF0E-A1438A969E59}" type="slidenum">
              <a:rPr lang="en-US" smtClean="0"/>
              <a:pPr/>
              <a:t>13</a:t>
            </a:fld>
            <a:endParaRPr lang="en-US" dirty="0"/>
          </a:p>
        </p:txBody>
      </p:sp>
      <p:sp>
        <p:nvSpPr>
          <p:cNvPr id="11" name="Rectangle 10"/>
          <p:cNvSpPr/>
          <p:nvPr/>
        </p:nvSpPr>
        <p:spPr>
          <a:xfrm>
            <a:off x="683568" y="5949280"/>
            <a:ext cx="8280920" cy="216024"/>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83568" y="5445224"/>
            <a:ext cx="8280920" cy="216024"/>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683568" y="2996952"/>
            <a:ext cx="8280920" cy="216024"/>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83568" y="4725144"/>
            <a:ext cx="8280920" cy="432048"/>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904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par>
                                <p:cTn id="8" presetID="22" presetClass="entr" presetSubtype="2"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left)">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left)">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1" grpId="0" animBg="1"/>
      <p:bldP spid="12" grpId="0" animBg="1"/>
      <p:bldP spid="13"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a:solidFill>
                  <a:schemeClr val="accent2"/>
                </a:solidFill>
                <a:latin typeface="Tahoma" charset="0"/>
                <a:cs typeface="Arial" charset="0"/>
              </a:rPr>
              <a:t>7</a:t>
            </a:r>
            <a:r>
              <a:rPr lang="en-US" sz="4000" dirty="0" smtClean="0">
                <a:solidFill>
                  <a:schemeClr val="accent2"/>
                </a:solidFill>
                <a:latin typeface="Tahoma" charset="0"/>
                <a:cs typeface="Arial" charset="0"/>
              </a:rPr>
              <a:t>. CODE (2)</a:t>
            </a:r>
            <a:endParaRPr lang="en-US" sz="4000" dirty="0">
              <a:solidFill>
                <a:schemeClr val="accent2"/>
              </a:solidFill>
              <a:latin typeface="Tahoma" charset="0"/>
              <a:cs typeface="Arial" charset="0"/>
            </a:endParaRPr>
          </a:p>
        </p:txBody>
      </p:sp>
      <p:sp>
        <p:nvSpPr>
          <p:cNvPr id="15" name="Rectangle 14"/>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cxnSp>
        <p:nvCxnSpPr>
          <p:cNvPr id="16" name="Straight Connector 15"/>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179512" y="500042"/>
            <a:ext cx="8784976" cy="6247864"/>
            <a:chOff x="258661" y="953433"/>
            <a:chExt cx="7913739" cy="6629028"/>
          </a:xfrm>
        </p:grpSpPr>
        <p:sp>
          <p:nvSpPr>
            <p:cNvPr id="9" name="TextBox 8"/>
            <p:cNvSpPr txBox="1"/>
            <p:nvPr/>
          </p:nvSpPr>
          <p:spPr>
            <a:xfrm>
              <a:off x="712728" y="953433"/>
              <a:ext cx="7459672" cy="6629028"/>
            </a:xfrm>
            <a:prstGeom prst="rect">
              <a:avLst/>
            </a:prstGeom>
            <a:solidFill>
              <a:schemeClr val="bg2"/>
            </a:solidFill>
            <a:ln w="28575" cap="rnd" cmpd="thickThin">
              <a:solidFill>
                <a:srgbClr val="0000FF"/>
              </a:solidFill>
            </a:ln>
          </p:spPr>
          <p:txBody>
            <a:bodyPr wrap="square" rtlCol="0">
              <a:spAutoFit/>
            </a:bodyPr>
            <a:lstStyle/>
            <a:p>
              <a:r>
                <a:rPr lang="en-US" sz="1600" dirty="0">
                  <a:solidFill>
                    <a:srgbClr val="00B050"/>
                  </a:solidFill>
                </a:rPr>
                <a:t> </a:t>
              </a:r>
              <a:r>
                <a:rPr lang="en-US" sz="1600" dirty="0" smtClean="0">
                  <a:solidFill>
                    <a:srgbClr val="00B050"/>
                  </a:solidFill>
                </a:rPr>
                <a:t>             // </a:t>
              </a:r>
              <a:r>
                <a:rPr lang="en-US" sz="1600" dirty="0">
                  <a:solidFill>
                    <a:srgbClr val="00B050"/>
                  </a:solidFill>
                </a:rPr>
                <a:t>input for each passenger</a:t>
              </a:r>
            </a:p>
            <a:p>
              <a:r>
                <a:rPr lang="en-US" sz="1600" dirty="0"/>
                <a:t>              </a:t>
              </a:r>
              <a:r>
                <a:rPr lang="en-US" sz="1600" dirty="0">
                  <a:solidFill>
                    <a:srgbClr val="00B0F0"/>
                  </a:solidFill>
                </a:rPr>
                <a:t>for</a:t>
              </a:r>
              <a:r>
                <a:rPr lang="en-US" sz="1600" dirty="0"/>
                <a:t> (</a:t>
              </a:r>
              <a:r>
                <a:rPr lang="en-US" sz="1600" dirty="0">
                  <a:solidFill>
                    <a:srgbClr val="0000FF"/>
                  </a:solidFill>
                </a:rPr>
                <a:t>counter </a:t>
              </a:r>
              <a:r>
                <a:rPr lang="en-US" sz="1600" dirty="0"/>
                <a:t>= 0; </a:t>
              </a:r>
              <a:r>
                <a:rPr lang="en-US" sz="1600" dirty="0">
                  <a:solidFill>
                    <a:srgbClr val="0000FF"/>
                  </a:solidFill>
                </a:rPr>
                <a:t>counter </a:t>
              </a:r>
              <a:r>
                <a:rPr lang="en-US" sz="1600" dirty="0"/>
                <a:t>&lt; </a:t>
              </a:r>
              <a:r>
                <a:rPr lang="en-US" sz="1600" dirty="0" err="1">
                  <a:solidFill>
                    <a:srgbClr val="0000FF"/>
                  </a:solidFill>
                </a:rPr>
                <a:t>numberOfPassengers</a:t>
              </a:r>
              <a:r>
                <a:rPr lang="en-US" sz="1600" dirty="0"/>
                <a:t>; </a:t>
              </a:r>
              <a:r>
                <a:rPr lang="en-US" sz="1600" dirty="0">
                  <a:solidFill>
                    <a:srgbClr val="0000FF"/>
                  </a:solidFill>
                </a:rPr>
                <a:t>counter</a:t>
              </a:r>
              <a:r>
                <a:rPr lang="en-US" sz="1600" dirty="0"/>
                <a:t>++)</a:t>
              </a:r>
            </a:p>
            <a:p>
              <a:r>
                <a:rPr lang="en-US" sz="1600" dirty="0"/>
                <a:t>                 </a:t>
              </a:r>
              <a:r>
                <a:rPr lang="en-US" sz="1600" dirty="0" smtClean="0"/>
                <a:t>{</a:t>
              </a:r>
            </a:p>
            <a:p>
              <a:r>
                <a:rPr lang="en-US" sz="1600" dirty="0"/>
                <a:t> </a:t>
              </a:r>
              <a:r>
                <a:rPr lang="en-US" sz="1600" dirty="0" smtClean="0"/>
                <a:t>                 </a:t>
              </a:r>
              <a:r>
                <a:rPr lang="en-US" sz="1600" dirty="0" smtClean="0">
                  <a:solidFill>
                    <a:srgbClr val="0000FF"/>
                  </a:solidFill>
                </a:rPr>
                <a:t>charge</a:t>
              </a:r>
              <a:r>
                <a:rPr lang="en-US" sz="1600" dirty="0" smtClean="0"/>
                <a:t> = -1;		</a:t>
              </a:r>
              <a:r>
                <a:rPr lang="en-US" sz="1600" dirty="0" smtClean="0">
                  <a:solidFill>
                    <a:srgbClr val="00B050"/>
                  </a:solidFill>
                </a:rPr>
                <a:t>//initialize charge for each passenger</a:t>
              </a:r>
              <a:endParaRPr lang="en-US" sz="1600" dirty="0">
                <a:solidFill>
                  <a:srgbClr val="00B050"/>
                </a:solidFill>
              </a:endParaRPr>
            </a:p>
            <a:p>
              <a:r>
                <a:rPr lang="en-US" sz="1600" dirty="0"/>
                <a:t>	    </a:t>
              </a:r>
              <a:r>
                <a:rPr lang="en-US" sz="1600" dirty="0" err="1">
                  <a:solidFill>
                    <a:srgbClr val="00B0F0"/>
                  </a:solidFill>
                </a:rPr>
                <a:t>System.out.print</a:t>
              </a:r>
              <a:r>
                <a:rPr lang="en-US" sz="1600" dirty="0">
                  <a:solidFill>
                    <a:srgbClr val="00B0F0"/>
                  </a:solidFill>
                </a:rPr>
                <a:t> </a:t>
              </a:r>
              <a:r>
                <a:rPr lang="en-US" sz="1600" dirty="0"/>
                <a:t>(“Please enter passenger’s class”);</a:t>
              </a:r>
              <a:r>
                <a:rPr lang="en-US" sz="1600" dirty="0">
                  <a:solidFill>
                    <a:srgbClr val="00B050"/>
                  </a:solidFill>
                </a:rPr>
                <a:t> </a:t>
              </a:r>
            </a:p>
            <a:p>
              <a:r>
                <a:rPr lang="en-US" sz="1600" dirty="0"/>
                <a:t>	    </a:t>
              </a:r>
              <a:r>
                <a:rPr lang="en-US" sz="1600" dirty="0" err="1">
                  <a:solidFill>
                    <a:srgbClr val="0000FF"/>
                  </a:solidFill>
                </a:rPr>
                <a:t>passClass</a:t>
              </a:r>
              <a:r>
                <a:rPr lang="en-US" sz="1600" dirty="0">
                  <a:solidFill>
                    <a:srgbClr val="0000FF"/>
                  </a:solidFill>
                </a:rPr>
                <a:t> </a:t>
              </a:r>
              <a:r>
                <a:rPr lang="en-US" sz="1600" dirty="0"/>
                <a:t>=  </a:t>
              </a:r>
              <a:r>
                <a:rPr lang="en-US" sz="1600" dirty="0" err="1">
                  <a:solidFill>
                    <a:srgbClr val="0000FF"/>
                  </a:solidFill>
                </a:rPr>
                <a:t>read</a:t>
              </a:r>
              <a:r>
                <a:rPr lang="en-US" sz="1600" dirty="0" err="1"/>
                <a:t>.</a:t>
              </a:r>
              <a:r>
                <a:rPr lang="en-US" sz="1600" dirty="0" err="1">
                  <a:solidFill>
                    <a:srgbClr val="00B050"/>
                  </a:solidFill>
                </a:rPr>
                <a:t>next</a:t>
              </a:r>
              <a:r>
                <a:rPr lang="en-US" sz="1600" dirty="0">
                  <a:solidFill>
                    <a:srgbClr val="00B050"/>
                  </a:solidFill>
                </a:rPr>
                <a:t>().</a:t>
              </a:r>
              <a:r>
                <a:rPr lang="en-US" sz="1600" dirty="0" err="1">
                  <a:solidFill>
                    <a:srgbClr val="00B050"/>
                  </a:solidFill>
                </a:rPr>
                <a:t>charAt</a:t>
              </a:r>
              <a:r>
                <a:rPr lang="en-US" sz="1600" dirty="0">
                  <a:solidFill>
                    <a:srgbClr val="00B050"/>
                  </a:solidFill>
                </a:rPr>
                <a:t>(0)</a:t>
              </a:r>
              <a:r>
                <a:rPr lang="en-US" sz="1600" dirty="0"/>
                <a:t>;	</a:t>
              </a:r>
              <a:r>
                <a:rPr lang="en-US" sz="1600" dirty="0">
                  <a:solidFill>
                    <a:srgbClr val="00B050"/>
                  </a:solidFill>
                </a:rPr>
                <a:t>// read passenger’s class</a:t>
              </a:r>
            </a:p>
            <a:p>
              <a:r>
                <a:rPr lang="en-US" sz="1600" dirty="0"/>
                <a:t>	   </a:t>
              </a:r>
              <a:r>
                <a:rPr lang="en-US" sz="1600" dirty="0" smtClean="0"/>
                <a:t> </a:t>
              </a:r>
              <a:r>
                <a:rPr lang="en-US" sz="1600" dirty="0" err="1" smtClean="0">
                  <a:solidFill>
                    <a:srgbClr val="00B0F0"/>
                  </a:solidFill>
                </a:rPr>
                <a:t>System.out.print</a:t>
              </a:r>
              <a:r>
                <a:rPr lang="en-US" sz="1600" dirty="0" smtClean="0">
                  <a:solidFill>
                    <a:srgbClr val="00B0F0"/>
                  </a:solidFill>
                </a:rPr>
                <a:t> </a:t>
              </a:r>
              <a:r>
                <a:rPr lang="en-US" sz="1600" dirty="0"/>
                <a:t>(“Please enter passenger’s baggage weight”);</a:t>
              </a:r>
              <a:r>
                <a:rPr lang="en-US" sz="1600" dirty="0">
                  <a:solidFill>
                    <a:srgbClr val="00B050"/>
                  </a:solidFill>
                </a:rPr>
                <a:t> </a:t>
              </a:r>
            </a:p>
            <a:p>
              <a:r>
                <a:rPr lang="en-US" sz="1600" dirty="0"/>
                <a:t>	   </a:t>
              </a:r>
              <a:r>
                <a:rPr lang="en-US" sz="1600" dirty="0" smtClean="0"/>
                <a:t> </a:t>
              </a:r>
              <a:r>
                <a:rPr lang="en-US" sz="1600" dirty="0" err="1" smtClean="0">
                  <a:solidFill>
                    <a:srgbClr val="0000FF"/>
                  </a:solidFill>
                </a:rPr>
                <a:t>bagWeight</a:t>
              </a:r>
              <a:r>
                <a:rPr lang="en-US" sz="1600" dirty="0" smtClean="0">
                  <a:solidFill>
                    <a:srgbClr val="0000FF"/>
                  </a:solidFill>
                </a:rPr>
                <a:t> </a:t>
              </a:r>
              <a:r>
                <a:rPr lang="en-US" sz="1600" dirty="0"/>
                <a:t>=  </a:t>
              </a:r>
              <a:r>
                <a:rPr lang="en-US" sz="1600" dirty="0" err="1">
                  <a:solidFill>
                    <a:srgbClr val="0000FF"/>
                  </a:solidFill>
                </a:rPr>
                <a:t>read</a:t>
              </a:r>
              <a:r>
                <a:rPr lang="en-US" sz="1600" dirty="0" err="1"/>
                <a:t>.</a:t>
              </a:r>
              <a:r>
                <a:rPr lang="en-US" sz="1600" dirty="0" err="1">
                  <a:solidFill>
                    <a:srgbClr val="00B050"/>
                  </a:solidFill>
                </a:rPr>
                <a:t>nextDouble</a:t>
              </a:r>
              <a:r>
                <a:rPr lang="en-US" sz="1600" dirty="0">
                  <a:solidFill>
                    <a:srgbClr val="00B050"/>
                  </a:solidFill>
                </a:rPr>
                <a:t>()</a:t>
              </a:r>
              <a:r>
                <a:rPr lang="en-US" sz="1600" dirty="0"/>
                <a:t>;	</a:t>
              </a:r>
              <a:r>
                <a:rPr lang="en-US" sz="1600" dirty="0">
                  <a:solidFill>
                    <a:srgbClr val="00B050"/>
                  </a:solidFill>
                </a:rPr>
                <a:t>// read baggage weight</a:t>
              </a:r>
              <a:r>
                <a:rPr lang="en-US" sz="1600" dirty="0" smtClean="0">
                  <a:solidFill>
                    <a:srgbClr val="00B050"/>
                  </a:solidFill>
                </a:rPr>
                <a:t>          </a:t>
              </a:r>
            </a:p>
            <a:p>
              <a:r>
                <a:rPr lang="en-US" sz="1600" dirty="0">
                  <a:solidFill>
                    <a:srgbClr val="00B050"/>
                  </a:solidFill>
                </a:rPr>
                <a:t> </a:t>
              </a:r>
              <a:r>
                <a:rPr lang="en-US" sz="1600" dirty="0" smtClean="0">
                  <a:solidFill>
                    <a:srgbClr val="00B050"/>
                  </a:solidFill>
                </a:rPr>
                <a:t>                 // Processing: charge depends on </a:t>
              </a:r>
              <a:r>
                <a:rPr lang="en-US" sz="1600" dirty="0" err="1" smtClean="0">
                  <a:solidFill>
                    <a:srgbClr val="00B050"/>
                  </a:solidFill>
                </a:rPr>
                <a:t>passClass</a:t>
              </a:r>
              <a:r>
                <a:rPr lang="en-US" sz="1600" dirty="0" smtClean="0">
                  <a:solidFill>
                    <a:srgbClr val="00B050"/>
                  </a:solidFill>
                </a:rPr>
                <a:t> of each passenger</a:t>
              </a:r>
            </a:p>
            <a:p>
              <a:r>
                <a:rPr lang="en-US" sz="1600" dirty="0">
                  <a:solidFill>
                    <a:srgbClr val="00B050"/>
                  </a:solidFill>
                </a:rPr>
                <a:t> </a:t>
              </a:r>
              <a:r>
                <a:rPr lang="en-US" sz="1600" dirty="0" smtClean="0">
                  <a:solidFill>
                    <a:srgbClr val="00B050"/>
                  </a:solidFill>
                </a:rPr>
                <a:t>                 </a:t>
              </a:r>
              <a:r>
                <a:rPr lang="en-US" sz="1600" dirty="0" smtClean="0">
                  <a:solidFill>
                    <a:srgbClr val="00B0F0"/>
                  </a:solidFill>
                </a:rPr>
                <a:t>switch</a:t>
              </a:r>
              <a:r>
                <a:rPr lang="en-US" sz="1600" dirty="0" smtClean="0"/>
                <a:t> (</a:t>
              </a:r>
              <a:r>
                <a:rPr lang="en-US" sz="1600" dirty="0" err="1" smtClean="0">
                  <a:solidFill>
                    <a:srgbClr val="0000FF"/>
                  </a:solidFill>
                </a:rPr>
                <a:t>passClass</a:t>
              </a:r>
              <a:r>
                <a:rPr lang="en-US" sz="1600" dirty="0" smtClean="0"/>
                <a:t>)</a:t>
              </a:r>
            </a:p>
            <a:p>
              <a:r>
                <a:rPr lang="en-US" sz="1600" dirty="0"/>
                <a:t> </a:t>
              </a:r>
              <a:r>
                <a:rPr lang="en-US" sz="1600" dirty="0" smtClean="0"/>
                <a:t>                   {</a:t>
              </a:r>
            </a:p>
            <a:p>
              <a:r>
                <a:rPr lang="en-US" sz="1600" dirty="0"/>
                <a:t> </a:t>
              </a:r>
              <a:r>
                <a:rPr lang="en-US" sz="1600" dirty="0" smtClean="0"/>
                <a:t>                     </a:t>
              </a:r>
              <a:r>
                <a:rPr lang="en-US" sz="1600" dirty="0" smtClean="0">
                  <a:solidFill>
                    <a:srgbClr val="00B0F0"/>
                  </a:solidFill>
                </a:rPr>
                <a:t>case </a:t>
              </a:r>
              <a:r>
                <a:rPr lang="en-US" sz="1600" dirty="0" smtClean="0"/>
                <a:t>‘</a:t>
              </a:r>
              <a:r>
                <a:rPr lang="en-US" sz="1600" dirty="0" smtClean="0">
                  <a:solidFill>
                    <a:srgbClr val="00B050"/>
                  </a:solidFill>
                </a:rPr>
                <a:t>f</a:t>
              </a:r>
              <a:r>
                <a:rPr lang="en-US" sz="1600" dirty="0" smtClean="0"/>
                <a:t>’:</a:t>
              </a:r>
            </a:p>
            <a:p>
              <a:r>
                <a:rPr lang="en-US" sz="1600" dirty="0"/>
                <a:t> </a:t>
              </a:r>
              <a:r>
                <a:rPr lang="en-US" sz="1600" dirty="0" smtClean="0"/>
                <a:t>                     </a:t>
              </a:r>
              <a:r>
                <a:rPr lang="en-US" sz="1600" dirty="0" smtClean="0">
                  <a:solidFill>
                    <a:srgbClr val="00B0F0"/>
                  </a:solidFill>
                </a:rPr>
                <a:t>case</a:t>
              </a:r>
              <a:r>
                <a:rPr lang="en-US" sz="1600" dirty="0" smtClean="0"/>
                <a:t> ‘</a:t>
              </a:r>
              <a:r>
                <a:rPr lang="en-US" sz="1600" dirty="0" smtClean="0">
                  <a:solidFill>
                    <a:srgbClr val="00B050"/>
                  </a:solidFill>
                </a:rPr>
                <a:t>F</a:t>
              </a:r>
              <a:r>
                <a:rPr lang="en-US" sz="1600" dirty="0" smtClean="0"/>
                <a:t>’: </a:t>
              </a:r>
              <a:r>
                <a:rPr lang="en-US" sz="1600" dirty="0" smtClean="0">
                  <a:solidFill>
                    <a:srgbClr val="00B0F0"/>
                  </a:solidFill>
                </a:rPr>
                <a:t>if</a:t>
              </a:r>
              <a:r>
                <a:rPr lang="en-US" sz="1600" dirty="0" smtClean="0"/>
                <a:t> (</a:t>
              </a:r>
              <a:r>
                <a:rPr lang="en-US" sz="1600" dirty="0" err="1" smtClean="0">
                  <a:solidFill>
                    <a:srgbClr val="0000FF"/>
                  </a:solidFill>
                </a:rPr>
                <a:t>bagWeight</a:t>
              </a:r>
              <a:r>
                <a:rPr lang="en-US" sz="1600" dirty="0" smtClean="0"/>
                <a:t> &gt; 30) {</a:t>
              </a:r>
              <a:r>
                <a:rPr lang="en-US" sz="1600" dirty="0" err="1" smtClean="0">
                  <a:solidFill>
                    <a:srgbClr val="0000FF"/>
                  </a:solidFill>
                </a:rPr>
                <a:t>excessWeight</a:t>
              </a:r>
              <a:r>
                <a:rPr lang="en-US" sz="1600" dirty="0" smtClean="0"/>
                <a:t> = </a:t>
              </a:r>
              <a:r>
                <a:rPr lang="en-US" sz="1600" dirty="0" err="1" smtClean="0">
                  <a:solidFill>
                    <a:srgbClr val="0000FF"/>
                  </a:solidFill>
                </a:rPr>
                <a:t>bagWeight</a:t>
              </a:r>
              <a:r>
                <a:rPr lang="en-US" sz="1600" dirty="0" smtClean="0"/>
                <a:t> – 30;</a:t>
              </a:r>
            </a:p>
            <a:p>
              <a:r>
                <a:rPr lang="en-US" sz="1600" dirty="0"/>
                <a:t> </a:t>
              </a:r>
              <a:r>
                <a:rPr lang="en-US" sz="1600" dirty="0" smtClean="0"/>
                <a:t>                                  		           </a:t>
              </a:r>
              <a:r>
                <a:rPr lang="en-US" sz="1600" dirty="0" smtClean="0">
                  <a:solidFill>
                    <a:srgbClr val="0000FF"/>
                  </a:solidFill>
                </a:rPr>
                <a:t>charge</a:t>
              </a:r>
              <a:r>
                <a:rPr lang="en-US" sz="1600" dirty="0" smtClean="0"/>
                <a:t> = </a:t>
              </a:r>
              <a:r>
                <a:rPr lang="en-US" sz="1600" dirty="0" err="1" smtClean="0">
                  <a:solidFill>
                    <a:srgbClr val="0000FF"/>
                  </a:solidFill>
                </a:rPr>
                <a:t>excessWeight</a:t>
              </a:r>
              <a:r>
                <a:rPr lang="en-US" sz="1600" dirty="0" smtClean="0"/>
                <a:t> * 10;}</a:t>
              </a:r>
            </a:p>
            <a:p>
              <a:r>
                <a:rPr lang="en-US" sz="1600" dirty="0"/>
                <a:t> </a:t>
              </a:r>
              <a:r>
                <a:rPr lang="en-US" sz="1600" dirty="0" smtClean="0"/>
                <a:t>                                  </a:t>
              </a:r>
              <a:r>
                <a:rPr lang="en-US" sz="1600" dirty="0" smtClean="0">
                  <a:solidFill>
                    <a:srgbClr val="00B0F0"/>
                  </a:solidFill>
                </a:rPr>
                <a:t>break</a:t>
              </a:r>
              <a:r>
                <a:rPr lang="en-US" sz="1600" dirty="0" smtClean="0"/>
                <a:t>;</a:t>
              </a:r>
            </a:p>
            <a:p>
              <a:r>
                <a:rPr lang="en-US" sz="1600" dirty="0"/>
                <a:t> </a:t>
              </a:r>
              <a:r>
                <a:rPr lang="en-US" sz="1600" dirty="0" smtClean="0"/>
                <a:t>                     </a:t>
              </a:r>
              <a:r>
                <a:rPr lang="en-US" sz="1600" dirty="0" smtClean="0">
                  <a:solidFill>
                    <a:srgbClr val="00B0F0"/>
                  </a:solidFill>
                </a:rPr>
                <a:t>case</a:t>
              </a:r>
              <a:r>
                <a:rPr lang="en-US" sz="1600" dirty="0" smtClean="0"/>
                <a:t> ‘</a:t>
              </a:r>
              <a:r>
                <a:rPr lang="en-US" sz="1600" dirty="0" smtClean="0">
                  <a:solidFill>
                    <a:srgbClr val="00B050"/>
                  </a:solidFill>
                </a:rPr>
                <a:t>b</a:t>
              </a:r>
              <a:r>
                <a:rPr lang="en-US" sz="1600" dirty="0" smtClean="0"/>
                <a:t>’:</a:t>
              </a:r>
            </a:p>
            <a:p>
              <a:r>
                <a:rPr lang="en-US" sz="1600" dirty="0" smtClean="0">
                  <a:solidFill>
                    <a:srgbClr val="00B0F0"/>
                  </a:solidFill>
                </a:rPr>
                <a:t>                      case</a:t>
              </a:r>
              <a:r>
                <a:rPr lang="en-US" sz="1600" dirty="0" smtClean="0"/>
                <a:t> ‘</a:t>
              </a:r>
              <a:r>
                <a:rPr lang="en-US" sz="1600" dirty="0" smtClean="0">
                  <a:solidFill>
                    <a:srgbClr val="00B050"/>
                  </a:solidFill>
                </a:rPr>
                <a:t>B</a:t>
              </a:r>
              <a:r>
                <a:rPr lang="en-US" sz="1600" dirty="0" smtClean="0"/>
                <a:t>’: </a:t>
              </a:r>
              <a:r>
                <a:rPr lang="en-US" sz="1600" dirty="0" smtClean="0">
                  <a:solidFill>
                    <a:srgbClr val="00B0F0"/>
                  </a:solidFill>
                </a:rPr>
                <a:t>if</a:t>
              </a:r>
              <a:r>
                <a:rPr lang="en-US" sz="1600" dirty="0" smtClean="0"/>
                <a:t> (</a:t>
              </a:r>
              <a:r>
                <a:rPr lang="en-US" sz="1600" dirty="0" err="1" smtClean="0">
                  <a:solidFill>
                    <a:srgbClr val="0000FF"/>
                  </a:solidFill>
                </a:rPr>
                <a:t>bagWeight</a:t>
              </a:r>
              <a:r>
                <a:rPr lang="en-US" sz="1600" dirty="0" smtClean="0">
                  <a:solidFill>
                    <a:srgbClr val="0000FF"/>
                  </a:solidFill>
                </a:rPr>
                <a:t> </a:t>
              </a:r>
              <a:r>
                <a:rPr lang="en-US" sz="1600" dirty="0" smtClean="0"/>
                <a:t>&gt; 25) {</a:t>
              </a:r>
              <a:r>
                <a:rPr lang="en-US" sz="1600" dirty="0" err="1" smtClean="0">
                  <a:solidFill>
                    <a:srgbClr val="0000FF"/>
                  </a:solidFill>
                </a:rPr>
                <a:t>excessWeight</a:t>
              </a:r>
              <a:r>
                <a:rPr lang="en-US" sz="1600" dirty="0" smtClean="0"/>
                <a:t> </a:t>
              </a:r>
              <a:r>
                <a:rPr lang="en-US" sz="1600" dirty="0"/>
                <a:t>= </a:t>
              </a:r>
              <a:r>
                <a:rPr lang="en-US" sz="1600" dirty="0" err="1">
                  <a:solidFill>
                    <a:srgbClr val="0000FF"/>
                  </a:solidFill>
                </a:rPr>
                <a:t>bagWeight</a:t>
              </a:r>
              <a:r>
                <a:rPr lang="en-US" sz="1600" dirty="0"/>
                <a:t> – </a:t>
              </a:r>
              <a:r>
                <a:rPr lang="en-US" sz="1600" dirty="0" smtClean="0"/>
                <a:t>25;</a:t>
              </a:r>
              <a:endParaRPr lang="en-US" sz="1600" dirty="0"/>
            </a:p>
            <a:p>
              <a:r>
                <a:rPr lang="en-US" sz="1600" dirty="0"/>
                <a:t>                      </a:t>
              </a:r>
              <a:r>
                <a:rPr lang="en-US" sz="1600" dirty="0" smtClean="0"/>
                <a:t>             		           </a:t>
              </a:r>
              <a:r>
                <a:rPr lang="en-US" sz="1600" dirty="0" smtClean="0">
                  <a:solidFill>
                    <a:srgbClr val="0000FF"/>
                  </a:solidFill>
                </a:rPr>
                <a:t>charge</a:t>
              </a:r>
              <a:r>
                <a:rPr lang="en-US" sz="1600" dirty="0" smtClean="0"/>
                <a:t> </a:t>
              </a:r>
              <a:r>
                <a:rPr lang="en-US" sz="1600" dirty="0"/>
                <a:t>= </a:t>
              </a:r>
              <a:r>
                <a:rPr lang="en-US" sz="1600" dirty="0" err="1">
                  <a:solidFill>
                    <a:srgbClr val="0000FF"/>
                  </a:solidFill>
                </a:rPr>
                <a:t>excessWeight</a:t>
              </a:r>
              <a:r>
                <a:rPr lang="en-US" sz="1600" dirty="0"/>
                <a:t> * 10</a:t>
              </a:r>
              <a:r>
                <a:rPr lang="en-US" sz="1600" dirty="0" smtClean="0"/>
                <a:t>;}</a:t>
              </a:r>
              <a:endParaRPr lang="en-US" sz="1600" dirty="0"/>
            </a:p>
            <a:p>
              <a:r>
                <a:rPr lang="en-US" sz="1600" dirty="0"/>
                <a:t>                          </a:t>
              </a:r>
              <a:r>
                <a:rPr lang="en-US" sz="1600" dirty="0" smtClean="0"/>
                <a:t>         </a:t>
              </a:r>
              <a:r>
                <a:rPr lang="en-US" sz="1600" dirty="0">
                  <a:solidFill>
                    <a:srgbClr val="00B0F0"/>
                  </a:solidFill>
                </a:rPr>
                <a:t>break</a:t>
              </a:r>
              <a:r>
                <a:rPr lang="en-US" sz="1600" dirty="0" smtClean="0"/>
                <a:t>;</a:t>
              </a:r>
            </a:p>
            <a:p>
              <a:r>
                <a:rPr lang="en-US" sz="1600" dirty="0"/>
                <a:t> </a:t>
              </a:r>
              <a:r>
                <a:rPr lang="en-US" sz="1600" dirty="0" smtClean="0"/>
                <a:t>                     </a:t>
              </a:r>
              <a:r>
                <a:rPr lang="en-US" sz="1600" dirty="0" smtClean="0">
                  <a:solidFill>
                    <a:srgbClr val="00B0F0"/>
                  </a:solidFill>
                </a:rPr>
                <a:t>case</a:t>
              </a:r>
              <a:r>
                <a:rPr lang="en-US" sz="1600" dirty="0" smtClean="0"/>
                <a:t> ‘</a:t>
              </a:r>
              <a:r>
                <a:rPr lang="en-US" sz="1600" dirty="0" smtClean="0">
                  <a:solidFill>
                    <a:srgbClr val="00B050"/>
                  </a:solidFill>
                </a:rPr>
                <a:t>e</a:t>
              </a:r>
              <a:r>
                <a:rPr lang="en-US" sz="1600" dirty="0" smtClean="0"/>
                <a:t>’:</a:t>
              </a:r>
            </a:p>
            <a:p>
              <a:r>
                <a:rPr lang="en-US" sz="1600" dirty="0" smtClean="0"/>
                <a:t>                      </a:t>
              </a:r>
              <a:r>
                <a:rPr lang="en-US" sz="1600" dirty="0" smtClean="0">
                  <a:solidFill>
                    <a:srgbClr val="00B0F0"/>
                  </a:solidFill>
                </a:rPr>
                <a:t>case</a:t>
              </a:r>
              <a:r>
                <a:rPr lang="en-US" sz="1600" dirty="0" smtClean="0"/>
                <a:t> ‘</a:t>
              </a:r>
              <a:r>
                <a:rPr lang="en-US" sz="1600" dirty="0" smtClean="0">
                  <a:solidFill>
                    <a:srgbClr val="00B050"/>
                  </a:solidFill>
                </a:rPr>
                <a:t>E</a:t>
              </a:r>
              <a:r>
                <a:rPr lang="en-US" sz="1600" dirty="0" smtClean="0"/>
                <a:t>’: </a:t>
              </a:r>
              <a:r>
                <a:rPr lang="en-US" sz="1600" dirty="0" smtClean="0">
                  <a:solidFill>
                    <a:srgbClr val="00B0F0"/>
                  </a:solidFill>
                </a:rPr>
                <a:t>if</a:t>
              </a:r>
              <a:r>
                <a:rPr lang="en-US" sz="1600" dirty="0" smtClean="0"/>
                <a:t> (</a:t>
              </a:r>
              <a:r>
                <a:rPr lang="en-US" sz="1600" dirty="0" err="1" smtClean="0">
                  <a:solidFill>
                    <a:srgbClr val="0000FF"/>
                  </a:solidFill>
                </a:rPr>
                <a:t>bagWeight</a:t>
              </a:r>
              <a:r>
                <a:rPr lang="en-US" sz="1600" dirty="0" smtClean="0">
                  <a:solidFill>
                    <a:srgbClr val="0000FF"/>
                  </a:solidFill>
                </a:rPr>
                <a:t> </a:t>
              </a:r>
              <a:r>
                <a:rPr lang="en-US" sz="1600" dirty="0" smtClean="0"/>
                <a:t>&gt; 20) {</a:t>
              </a:r>
              <a:r>
                <a:rPr lang="en-US" sz="1600" dirty="0" err="1" smtClean="0">
                  <a:solidFill>
                    <a:srgbClr val="0000FF"/>
                  </a:solidFill>
                </a:rPr>
                <a:t>excessWeight</a:t>
              </a:r>
              <a:r>
                <a:rPr lang="en-US" sz="1600" dirty="0" smtClean="0"/>
                <a:t> </a:t>
              </a:r>
              <a:r>
                <a:rPr lang="en-US" sz="1600" dirty="0"/>
                <a:t>= </a:t>
              </a:r>
              <a:r>
                <a:rPr lang="en-US" sz="1600" dirty="0" err="1">
                  <a:solidFill>
                    <a:srgbClr val="0000FF"/>
                  </a:solidFill>
                </a:rPr>
                <a:t>bagWeight</a:t>
              </a:r>
              <a:r>
                <a:rPr lang="en-US" sz="1600" dirty="0"/>
                <a:t> – </a:t>
              </a:r>
              <a:r>
                <a:rPr lang="en-US" sz="1600" dirty="0" smtClean="0"/>
                <a:t>20;</a:t>
              </a:r>
              <a:endParaRPr lang="en-US" sz="1600" dirty="0"/>
            </a:p>
            <a:p>
              <a:r>
                <a:rPr lang="en-US" sz="1600" dirty="0"/>
                <a:t>                      </a:t>
              </a:r>
              <a:r>
                <a:rPr lang="en-US" sz="1600" dirty="0" smtClean="0"/>
                <a:t>             		           </a:t>
              </a:r>
              <a:r>
                <a:rPr lang="en-US" sz="1600" dirty="0" smtClean="0">
                  <a:solidFill>
                    <a:srgbClr val="0000FF"/>
                  </a:solidFill>
                </a:rPr>
                <a:t>charge</a:t>
              </a:r>
              <a:r>
                <a:rPr lang="en-US" sz="1600" dirty="0" smtClean="0"/>
                <a:t> </a:t>
              </a:r>
              <a:r>
                <a:rPr lang="en-US" sz="1600" dirty="0"/>
                <a:t>= </a:t>
              </a:r>
              <a:r>
                <a:rPr lang="en-US" sz="1600" dirty="0" err="1">
                  <a:solidFill>
                    <a:srgbClr val="0000FF"/>
                  </a:solidFill>
                </a:rPr>
                <a:t>excessWeight</a:t>
              </a:r>
              <a:r>
                <a:rPr lang="en-US" sz="1600" dirty="0"/>
                <a:t> * 10</a:t>
              </a:r>
              <a:r>
                <a:rPr lang="en-US" sz="1600" dirty="0" smtClean="0"/>
                <a:t>;}</a:t>
              </a:r>
              <a:endParaRPr lang="en-US" sz="1600" dirty="0"/>
            </a:p>
            <a:p>
              <a:r>
                <a:rPr lang="en-US" sz="1600" dirty="0"/>
                <a:t>                          </a:t>
              </a:r>
              <a:r>
                <a:rPr lang="en-US" sz="1600" dirty="0" smtClean="0"/>
                <a:t>         </a:t>
              </a:r>
              <a:r>
                <a:rPr lang="en-US" sz="1600" dirty="0">
                  <a:solidFill>
                    <a:srgbClr val="00B0F0"/>
                  </a:solidFill>
                </a:rPr>
                <a:t>break</a:t>
              </a:r>
              <a:r>
                <a:rPr lang="en-US" sz="1600" dirty="0" smtClean="0"/>
                <a:t>;</a:t>
              </a:r>
            </a:p>
            <a:p>
              <a:r>
                <a:rPr lang="en-US" sz="1600" dirty="0"/>
                <a:t> </a:t>
              </a:r>
              <a:r>
                <a:rPr lang="en-US" sz="1600" dirty="0" smtClean="0"/>
                <a:t>                      </a:t>
              </a:r>
              <a:r>
                <a:rPr lang="en-US" sz="1600" dirty="0" smtClean="0">
                  <a:solidFill>
                    <a:srgbClr val="00B0F0"/>
                  </a:solidFill>
                </a:rPr>
                <a:t>default</a:t>
              </a:r>
              <a:r>
                <a:rPr lang="en-US" sz="1600" dirty="0" smtClean="0"/>
                <a:t>: </a:t>
              </a:r>
              <a:r>
                <a:rPr lang="en-US" sz="1600" dirty="0" err="1" smtClean="0">
                  <a:solidFill>
                    <a:srgbClr val="00B0F0"/>
                  </a:solidFill>
                </a:rPr>
                <a:t>System.out.println</a:t>
              </a:r>
              <a:r>
                <a:rPr lang="en-US" sz="1600" dirty="0" smtClean="0">
                  <a:solidFill>
                    <a:srgbClr val="00B0F0"/>
                  </a:solidFill>
                </a:rPr>
                <a:t> </a:t>
              </a:r>
              <a:r>
                <a:rPr lang="en-US" sz="1600" dirty="0" smtClean="0"/>
                <a:t>(“Invalid passenger class”);</a:t>
              </a:r>
            </a:p>
            <a:p>
              <a:r>
                <a:rPr lang="en-US" sz="1600" dirty="0" smtClean="0"/>
                <a:t>                     } </a:t>
              </a:r>
              <a:r>
                <a:rPr lang="en-US" sz="1600" dirty="0" smtClean="0">
                  <a:solidFill>
                    <a:srgbClr val="00B050"/>
                  </a:solidFill>
                </a:rPr>
                <a:t>//end switch</a:t>
              </a:r>
              <a:endParaRPr lang="en-US" sz="1600" dirty="0">
                <a:solidFill>
                  <a:srgbClr val="00B050"/>
                </a:solidFill>
              </a:endParaRPr>
            </a:p>
          </p:txBody>
        </p:sp>
        <p:sp>
          <p:nvSpPr>
            <p:cNvPr id="10" name="TextBox 9"/>
            <p:cNvSpPr txBox="1"/>
            <p:nvPr/>
          </p:nvSpPr>
          <p:spPr>
            <a:xfrm>
              <a:off x="258661" y="953433"/>
              <a:ext cx="454067" cy="6247864"/>
            </a:xfrm>
            <a:prstGeom prst="rect">
              <a:avLst/>
            </a:prstGeom>
            <a:noFill/>
          </p:spPr>
          <p:txBody>
            <a:bodyPr wrap="square" rtlCol="0">
              <a:spAutoFit/>
            </a:bodyPr>
            <a:lstStyle/>
            <a:p>
              <a:pPr algn="r"/>
              <a:r>
                <a:rPr lang="en-US" sz="1600" dirty="0" smtClean="0">
                  <a:solidFill>
                    <a:srgbClr val="FF0000"/>
                  </a:solidFill>
                </a:rPr>
                <a:t>19</a:t>
              </a:r>
            </a:p>
            <a:p>
              <a:pPr algn="r"/>
              <a:r>
                <a:rPr lang="en-US" sz="1600" dirty="0" smtClean="0">
                  <a:solidFill>
                    <a:srgbClr val="FF0000"/>
                  </a:solidFill>
                </a:rPr>
                <a:t>20</a:t>
              </a:r>
            </a:p>
            <a:p>
              <a:pPr algn="r"/>
              <a:r>
                <a:rPr lang="en-US" sz="1600" dirty="0" smtClean="0">
                  <a:solidFill>
                    <a:srgbClr val="FF0000"/>
                  </a:solidFill>
                </a:rPr>
                <a:t>21</a:t>
              </a:r>
            </a:p>
            <a:p>
              <a:pPr algn="r"/>
              <a:r>
                <a:rPr lang="en-US" sz="1600" dirty="0" smtClean="0">
                  <a:solidFill>
                    <a:srgbClr val="FF0000"/>
                  </a:solidFill>
                </a:rPr>
                <a:t>22</a:t>
              </a:r>
            </a:p>
            <a:p>
              <a:pPr algn="r"/>
              <a:r>
                <a:rPr lang="en-US" sz="1600" dirty="0" smtClean="0">
                  <a:solidFill>
                    <a:srgbClr val="FF0000"/>
                  </a:solidFill>
                </a:rPr>
                <a:t>23</a:t>
              </a:r>
            </a:p>
            <a:p>
              <a:pPr algn="r"/>
              <a:r>
                <a:rPr lang="en-US" sz="1600" dirty="0" smtClean="0">
                  <a:solidFill>
                    <a:srgbClr val="FF0000"/>
                  </a:solidFill>
                </a:rPr>
                <a:t>24</a:t>
              </a:r>
            </a:p>
            <a:p>
              <a:pPr algn="r"/>
              <a:r>
                <a:rPr lang="en-US" sz="1600" dirty="0" smtClean="0">
                  <a:solidFill>
                    <a:srgbClr val="FF0000"/>
                  </a:solidFill>
                </a:rPr>
                <a:t>25</a:t>
              </a:r>
            </a:p>
            <a:p>
              <a:pPr algn="r"/>
              <a:r>
                <a:rPr lang="en-US" sz="1600" dirty="0" smtClean="0">
                  <a:solidFill>
                    <a:srgbClr val="FF0000"/>
                  </a:solidFill>
                </a:rPr>
                <a:t>26</a:t>
              </a:r>
            </a:p>
            <a:p>
              <a:pPr algn="r"/>
              <a:r>
                <a:rPr lang="en-US" sz="1600" dirty="0" smtClean="0">
                  <a:solidFill>
                    <a:srgbClr val="FF0000"/>
                  </a:solidFill>
                </a:rPr>
                <a:t>27</a:t>
              </a:r>
            </a:p>
            <a:p>
              <a:pPr algn="r"/>
              <a:r>
                <a:rPr lang="en-US" sz="1600" dirty="0" smtClean="0">
                  <a:solidFill>
                    <a:srgbClr val="FF0000"/>
                  </a:solidFill>
                </a:rPr>
                <a:t>28</a:t>
              </a:r>
            </a:p>
            <a:p>
              <a:pPr algn="r"/>
              <a:r>
                <a:rPr lang="en-US" sz="1600" dirty="0" smtClean="0">
                  <a:solidFill>
                    <a:srgbClr val="FF0000"/>
                  </a:solidFill>
                </a:rPr>
                <a:t>29</a:t>
              </a:r>
            </a:p>
            <a:p>
              <a:pPr algn="r"/>
              <a:r>
                <a:rPr lang="en-US" sz="1600" dirty="0" smtClean="0">
                  <a:solidFill>
                    <a:srgbClr val="FF0000"/>
                  </a:solidFill>
                </a:rPr>
                <a:t>30</a:t>
              </a:r>
            </a:p>
            <a:p>
              <a:pPr algn="r"/>
              <a:r>
                <a:rPr lang="en-US" sz="1600" dirty="0" smtClean="0">
                  <a:solidFill>
                    <a:srgbClr val="FF0000"/>
                  </a:solidFill>
                </a:rPr>
                <a:t>31</a:t>
              </a:r>
            </a:p>
            <a:p>
              <a:pPr algn="r"/>
              <a:r>
                <a:rPr lang="en-US" sz="1600" dirty="0" smtClean="0">
                  <a:solidFill>
                    <a:srgbClr val="FF0000"/>
                  </a:solidFill>
                </a:rPr>
                <a:t>32</a:t>
              </a:r>
            </a:p>
            <a:p>
              <a:pPr algn="r"/>
              <a:r>
                <a:rPr lang="en-US" sz="1600" dirty="0" smtClean="0">
                  <a:solidFill>
                    <a:srgbClr val="FF0000"/>
                  </a:solidFill>
                </a:rPr>
                <a:t>33</a:t>
              </a:r>
            </a:p>
            <a:p>
              <a:pPr algn="r"/>
              <a:r>
                <a:rPr lang="en-US" sz="1600" dirty="0" smtClean="0">
                  <a:solidFill>
                    <a:srgbClr val="FF0000"/>
                  </a:solidFill>
                </a:rPr>
                <a:t>34</a:t>
              </a:r>
            </a:p>
            <a:p>
              <a:pPr algn="r"/>
              <a:r>
                <a:rPr lang="en-US" sz="1600" dirty="0" smtClean="0">
                  <a:solidFill>
                    <a:srgbClr val="FF0000"/>
                  </a:solidFill>
                </a:rPr>
                <a:t>35</a:t>
              </a:r>
            </a:p>
            <a:p>
              <a:pPr algn="r"/>
              <a:r>
                <a:rPr lang="en-US" sz="1600" dirty="0" smtClean="0">
                  <a:solidFill>
                    <a:srgbClr val="FF0000"/>
                  </a:solidFill>
                </a:rPr>
                <a:t>36</a:t>
              </a:r>
            </a:p>
            <a:p>
              <a:pPr algn="r"/>
              <a:r>
                <a:rPr lang="en-US" sz="1600" dirty="0" smtClean="0">
                  <a:solidFill>
                    <a:srgbClr val="FF0000"/>
                  </a:solidFill>
                </a:rPr>
                <a:t>37</a:t>
              </a:r>
            </a:p>
            <a:p>
              <a:pPr algn="r"/>
              <a:r>
                <a:rPr lang="en-US" sz="1600" dirty="0" smtClean="0">
                  <a:solidFill>
                    <a:srgbClr val="FF0000"/>
                  </a:solidFill>
                </a:rPr>
                <a:t>38</a:t>
              </a:r>
            </a:p>
            <a:p>
              <a:pPr algn="r"/>
              <a:r>
                <a:rPr lang="en-US" sz="1600" dirty="0" smtClean="0">
                  <a:solidFill>
                    <a:srgbClr val="FF0000"/>
                  </a:solidFill>
                </a:rPr>
                <a:t>39</a:t>
              </a:r>
            </a:p>
            <a:p>
              <a:pPr algn="r"/>
              <a:r>
                <a:rPr lang="en-US" sz="1600" dirty="0" smtClean="0">
                  <a:solidFill>
                    <a:srgbClr val="FF0000"/>
                  </a:solidFill>
                </a:rPr>
                <a:t>40</a:t>
              </a:r>
            </a:p>
            <a:p>
              <a:pPr algn="r"/>
              <a:r>
                <a:rPr lang="en-US" sz="1600" dirty="0" smtClean="0">
                  <a:solidFill>
                    <a:srgbClr val="FF0000"/>
                  </a:solidFill>
                </a:rPr>
                <a:t>41</a:t>
              </a:r>
            </a:p>
            <a:p>
              <a:pPr algn="r"/>
              <a:r>
                <a:rPr lang="en-US" sz="1600" dirty="0" smtClean="0">
                  <a:solidFill>
                    <a:srgbClr val="FF0000"/>
                  </a:solidFill>
                </a:rPr>
                <a:t>42</a:t>
              </a:r>
            </a:p>
            <a:p>
              <a:pPr algn="r"/>
              <a:r>
                <a:rPr lang="en-US" sz="1600" dirty="0" smtClean="0">
                  <a:solidFill>
                    <a:srgbClr val="FF0000"/>
                  </a:solidFill>
                </a:rPr>
                <a:t>43</a:t>
              </a:r>
            </a:p>
          </p:txBody>
        </p:sp>
      </p:grpSp>
      <p:sp>
        <p:nvSpPr>
          <p:cNvPr id="7" name="Slide Number Placeholder 6"/>
          <p:cNvSpPr>
            <a:spLocks noGrp="1"/>
          </p:cNvSpPr>
          <p:nvPr>
            <p:ph type="sldNum" sz="quarter" idx="12"/>
          </p:nvPr>
        </p:nvSpPr>
        <p:spPr/>
        <p:txBody>
          <a:bodyPr/>
          <a:lstStyle/>
          <a:p>
            <a:fld id="{DA934484-767D-4C48-AF0E-A1438A969E59}" type="slidenum">
              <a:rPr lang="en-US" smtClean="0"/>
              <a:pPr/>
              <a:t>14</a:t>
            </a:fld>
            <a:endParaRPr lang="en-US"/>
          </a:p>
        </p:txBody>
      </p:sp>
      <p:sp>
        <p:nvSpPr>
          <p:cNvPr id="17" name="Rectangle 16"/>
          <p:cNvSpPr/>
          <p:nvPr/>
        </p:nvSpPr>
        <p:spPr>
          <a:xfrm>
            <a:off x="683568" y="785794"/>
            <a:ext cx="8280920" cy="216024"/>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683568" y="1285860"/>
            <a:ext cx="8280920" cy="216024"/>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3813674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par>
                                <p:cTn id="8" presetID="22" presetClass="entr" presetSubtype="2"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left)">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a:solidFill>
                  <a:schemeClr val="accent2"/>
                </a:solidFill>
                <a:latin typeface="Tahoma" charset="0"/>
                <a:cs typeface="Arial" charset="0"/>
              </a:rPr>
              <a:t>7</a:t>
            </a:r>
            <a:r>
              <a:rPr lang="en-US" sz="4000" dirty="0" smtClean="0">
                <a:solidFill>
                  <a:schemeClr val="accent2"/>
                </a:solidFill>
                <a:latin typeface="Tahoma" charset="0"/>
                <a:cs typeface="Arial" charset="0"/>
              </a:rPr>
              <a:t>. CODE (3)</a:t>
            </a:r>
            <a:endParaRPr lang="en-US" sz="4000" dirty="0">
              <a:solidFill>
                <a:schemeClr val="accent2"/>
              </a:solidFill>
              <a:latin typeface="Tahoma" charset="0"/>
              <a:cs typeface="Arial" charset="0"/>
            </a:endParaRPr>
          </a:p>
        </p:txBody>
      </p:sp>
      <p:sp>
        <p:nvSpPr>
          <p:cNvPr id="15" name="Rectangle 14"/>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cxnSp>
        <p:nvCxnSpPr>
          <p:cNvPr id="16" name="Straight Connector 15"/>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179512" y="1340768"/>
            <a:ext cx="8784976" cy="2062103"/>
            <a:chOff x="258661" y="953433"/>
            <a:chExt cx="7913739" cy="2062103"/>
          </a:xfrm>
        </p:grpSpPr>
        <p:sp>
          <p:nvSpPr>
            <p:cNvPr id="9" name="TextBox 8"/>
            <p:cNvSpPr txBox="1"/>
            <p:nvPr/>
          </p:nvSpPr>
          <p:spPr>
            <a:xfrm>
              <a:off x="712728" y="953433"/>
              <a:ext cx="7459672" cy="2062103"/>
            </a:xfrm>
            <a:prstGeom prst="rect">
              <a:avLst/>
            </a:prstGeom>
            <a:solidFill>
              <a:schemeClr val="bg2"/>
            </a:solidFill>
            <a:ln w="28575" cap="rnd" cmpd="thickThin">
              <a:solidFill>
                <a:srgbClr val="0000FF"/>
              </a:solidFill>
            </a:ln>
          </p:spPr>
          <p:txBody>
            <a:bodyPr wrap="square" rtlCol="0">
              <a:spAutoFit/>
            </a:bodyPr>
            <a:lstStyle/>
            <a:p>
              <a:r>
                <a:rPr lang="en-US" sz="1600" dirty="0" smtClean="0">
                  <a:solidFill>
                    <a:srgbClr val="00B050"/>
                  </a:solidFill>
                </a:rPr>
                <a:t>                // Output Section</a:t>
              </a:r>
            </a:p>
            <a:p>
              <a:r>
                <a:rPr lang="en-US" sz="1600" dirty="0">
                  <a:solidFill>
                    <a:srgbClr val="00B050"/>
                  </a:solidFill>
                </a:rPr>
                <a:t> </a:t>
              </a:r>
              <a:r>
                <a:rPr lang="en-US" sz="1600" dirty="0" smtClean="0">
                  <a:solidFill>
                    <a:srgbClr val="00B050"/>
                  </a:solidFill>
                </a:rPr>
                <a:t>               if </a:t>
              </a:r>
              <a:r>
                <a:rPr lang="en-US" sz="1600" dirty="0" smtClean="0"/>
                <a:t>(</a:t>
              </a:r>
              <a:r>
                <a:rPr lang="en-US" sz="1600" dirty="0" smtClean="0">
                  <a:solidFill>
                    <a:srgbClr val="0000FF"/>
                  </a:solidFill>
                </a:rPr>
                <a:t>charge</a:t>
              </a:r>
              <a:r>
                <a:rPr lang="en-US" sz="1600" dirty="0" smtClean="0">
                  <a:solidFill>
                    <a:srgbClr val="00B050"/>
                  </a:solidFill>
                </a:rPr>
                <a:t> </a:t>
              </a:r>
              <a:r>
                <a:rPr lang="en-US" sz="1600" dirty="0" smtClean="0"/>
                <a:t>!= -1)        </a:t>
              </a:r>
              <a:r>
                <a:rPr lang="en-US" sz="1600" dirty="0" smtClean="0">
                  <a:solidFill>
                    <a:srgbClr val="00B050"/>
                  </a:solidFill>
                </a:rPr>
                <a:t>// if the initial value of charge for the last </a:t>
              </a:r>
            </a:p>
            <a:p>
              <a:r>
                <a:rPr lang="en-US" sz="1600" dirty="0">
                  <a:solidFill>
                    <a:srgbClr val="00B050"/>
                  </a:solidFill>
                </a:rPr>
                <a:t> </a:t>
              </a:r>
              <a:r>
                <a:rPr lang="en-US" sz="1600" dirty="0" smtClean="0">
                  <a:solidFill>
                    <a:srgbClr val="00B050"/>
                  </a:solidFill>
                </a:rPr>
                <a:t>                                               //passenger is overwritten</a:t>
              </a:r>
              <a:endParaRPr lang="en-US" sz="1600" dirty="0">
                <a:solidFill>
                  <a:srgbClr val="00B050"/>
                </a:solidFill>
              </a:endParaRPr>
            </a:p>
            <a:p>
              <a:r>
                <a:rPr lang="en-US" sz="1600" dirty="0" smtClean="0"/>
                <a:t>                   </a:t>
              </a:r>
              <a:r>
                <a:rPr lang="en-US" sz="1600" dirty="0" err="1" smtClean="0">
                  <a:solidFill>
                    <a:srgbClr val="00B0F0"/>
                  </a:solidFill>
                </a:rPr>
                <a:t>System.out.printf</a:t>
              </a:r>
              <a:r>
                <a:rPr lang="en-US" sz="1600" dirty="0" smtClean="0">
                  <a:solidFill>
                    <a:srgbClr val="00B0F0"/>
                  </a:solidFill>
                </a:rPr>
                <a:t> </a:t>
              </a:r>
              <a:r>
                <a:rPr lang="en-US" sz="1600" dirty="0" smtClean="0"/>
                <a:t>(“Charge = %5f”, </a:t>
              </a:r>
              <a:r>
                <a:rPr lang="en-US" sz="1600" dirty="0" smtClean="0">
                  <a:solidFill>
                    <a:srgbClr val="0000FF"/>
                  </a:solidFill>
                </a:rPr>
                <a:t>charge</a:t>
              </a:r>
              <a:r>
                <a:rPr lang="en-US" sz="1600" dirty="0" smtClean="0"/>
                <a:t>);</a:t>
              </a:r>
            </a:p>
            <a:p>
              <a:r>
                <a:rPr lang="en-US" sz="1600" dirty="0"/>
                <a:t> </a:t>
              </a:r>
              <a:r>
                <a:rPr lang="en-US" sz="1600" dirty="0" smtClean="0"/>
                <a:t>     } </a:t>
              </a:r>
              <a:r>
                <a:rPr lang="en-US" sz="1600" dirty="0" smtClean="0">
                  <a:solidFill>
                    <a:srgbClr val="00B050"/>
                  </a:solidFill>
                </a:rPr>
                <a:t>//end for</a:t>
              </a:r>
            </a:p>
            <a:p>
              <a:r>
                <a:rPr lang="en-US" sz="1600" dirty="0">
                  <a:solidFill>
                    <a:srgbClr val="00B050"/>
                  </a:solidFill>
                </a:rPr>
                <a:t> </a:t>
              </a:r>
              <a:r>
                <a:rPr lang="en-US" sz="1600" dirty="0" smtClean="0">
                  <a:solidFill>
                    <a:srgbClr val="00B050"/>
                  </a:solidFill>
                </a:rPr>
                <a:t>     </a:t>
              </a:r>
              <a:r>
                <a:rPr lang="en-US" sz="1600" dirty="0" err="1" smtClean="0">
                  <a:solidFill>
                    <a:srgbClr val="00B0F0"/>
                  </a:solidFill>
                </a:rPr>
                <a:t>System.out.println</a:t>
              </a:r>
              <a:r>
                <a:rPr lang="en-US" sz="1600" dirty="0" smtClean="0">
                  <a:solidFill>
                    <a:srgbClr val="00B050"/>
                  </a:solidFill>
                </a:rPr>
                <a:t> </a:t>
              </a:r>
              <a:r>
                <a:rPr lang="en-US" sz="1600" dirty="0" smtClean="0"/>
                <a:t>(“End of program”);</a:t>
              </a:r>
            </a:p>
            <a:p>
              <a:r>
                <a:rPr lang="en-US" sz="1600" dirty="0"/>
                <a:t> </a:t>
              </a:r>
              <a:r>
                <a:rPr lang="en-US" sz="1600" dirty="0" smtClean="0"/>
                <a:t>  } </a:t>
              </a:r>
              <a:r>
                <a:rPr lang="en-US" sz="1600" dirty="0" smtClean="0">
                  <a:solidFill>
                    <a:srgbClr val="00B050"/>
                  </a:solidFill>
                </a:rPr>
                <a:t>//end main</a:t>
              </a:r>
            </a:p>
            <a:p>
              <a:r>
                <a:rPr lang="en-US" sz="1600" dirty="0" smtClean="0"/>
                <a:t>} </a:t>
              </a:r>
              <a:r>
                <a:rPr lang="en-US" sz="1600" dirty="0" smtClean="0">
                  <a:solidFill>
                    <a:srgbClr val="00B050"/>
                  </a:solidFill>
                </a:rPr>
                <a:t>//end class               </a:t>
              </a:r>
            </a:p>
          </p:txBody>
        </p:sp>
        <p:sp>
          <p:nvSpPr>
            <p:cNvPr id="10" name="TextBox 9"/>
            <p:cNvSpPr txBox="1"/>
            <p:nvPr/>
          </p:nvSpPr>
          <p:spPr>
            <a:xfrm>
              <a:off x="258661" y="953433"/>
              <a:ext cx="454067" cy="2062103"/>
            </a:xfrm>
            <a:prstGeom prst="rect">
              <a:avLst/>
            </a:prstGeom>
            <a:noFill/>
          </p:spPr>
          <p:txBody>
            <a:bodyPr wrap="square" rtlCol="0">
              <a:spAutoFit/>
            </a:bodyPr>
            <a:lstStyle/>
            <a:p>
              <a:pPr algn="r"/>
              <a:r>
                <a:rPr lang="en-US" sz="1600" dirty="0" smtClean="0">
                  <a:solidFill>
                    <a:srgbClr val="FF0000"/>
                  </a:solidFill>
                </a:rPr>
                <a:t>44</a:t>
              </a:r>
            </a:p>
            <a:p>
              <a:pPr algn="r"/>
              <a:r>
                <a:rPr lang="en-US" sz="1600" dirty="0" smtClean="0">
                  <a:solidFill>
                    <a:srgbClr val="FF0000"/>
                  </a:solidFill>
                </a:rPr>
                <a:t>45</a:t>
              </a:r>
            </a:p>
            <a:p>
              <a:pPr algn="r"/>
              <a:r>
                <a:rPr lang="en-US" sz="1600" dirty="0" smtClean="0">
                  <a:solidFill>
                    <a:srgbClr val="FF0000"/>
                  </a:solidFill>
                </a:rPr>
                <a:t>46</a:t>
              </a:r>
            </a:p>
            <a:p>
              <a:pPr algn="r"/>
              <a:r>
                <a:rPr lang="en-US" sz="1600" dirty="0" smtClean="0">
                  <a:solidFill>
                    <a:srgbClr val="FF0000"/>
                  </a:solidFill>
                </a:rPr>
                <a:t>47</a:t>
              </a:r>
            </a:p>
            <a:p>
              <a:pPr algn="r"/>
              <a:r>
                <a:rPr lang="en-US" sz="1600" dirty="0" smtClean="0">
                  <a:solidFill>
                    <a:srgbClr val="FF0000"/>
                  </a:solidFill>
                </a:rPr>
                <a:t>48</a:t>
              </a:r>
            </a:p>
            <a:p>
              <a:pPr algn="r"/>
              <a:r>
                <a:rPr lang="en-US" sz="1600" dirty="0" smtClean="0">
                  <a:solidFill>
                    <a:srgbClr val="FF0000"/>
                  </a:solidFill>
                </a:rPr>
                <a:t>49</a:t>
              </a:r>
            </a:p>
            <a:p>
              <a:pPr algn="r"/>
              <a:r>
                <a:rPr lang="en-US" sz="1600" dirty="0" smtClean="0">
                  <a:solidFill>
                    <a:srgbClr val="FF0000"/>
                  </a:solidFill>
                </a:rPr>
                <a:t>50</a:t>
              </a:r>
            </a:p>
            <a:p>
              <a:pPr algn="r"/>
              <a:r>
                <a:rPr lang="en-US" sz="1600" dirty="0" smtClean="0">
                  <a:solidFill>
                    <a:srgbClr val="FF0000"/>
                  </a:solidFill>
                </a:rPr>
                <a:t>51</a:t>
              </a:r>
            </a:p>
          </p:txBody>
        </p:sp>
      </p:grpSp>
      <p:sp>
        <p:nvSpPr>
          <p:cNvPr id="7" name="Slide Number Placeholder 6"/>
          <p:cNvSpPr>
            <a:spLocks noGrp="1"/>
          </p:cNvSpPr>
          <p:nvPr>
            <p:ph type="sldNum" sz="quarter" idx="12"/>
          </p:nvPr>
        </p:nvSpPr>
        <p:spPr/>
        <p:txBody>
          <a:bodyPr/>
          <a:lstStyle/>
          <a:p>
            <a:fld id="{DA934484-767D-4C48-AF0E-A1438A969E59}" type="slidenum">
              <a:rPr lang="en-US" smtClean="0"/>
              <a:pPr/>
              <a:t>15</a:t>
            </a:fld>
            <a:endParaRPr lang="en-US"/>
          </a:p>
        </p:txBody>
      </p:sp>
      <p:sp>
        <p:nvSpPr>
          <p:cNvPr id="11" name="Rectangle 10"/>
          <p:cNvSpPr/>
          <p:nvPr/>
        </p:nvSpPr>
        <p:spPr>
          <a:xfrm>
            <a:off x="683568" y="1628800"/>
            <a:ext cx="8280920" cy="504056"/>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870041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par>
                                <p:cTn id="8" presetID="22" presetClass="entr" presetSubtype="2"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0872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smtClean="0">
                <a:solidFill>
                  <a:schemeClr val="accent2"/>
                </a:solidFill>
                <a:latin typeface="Tahoma" charset="0"/>
                <a:cs typeface="Arial" charset="0"/>
              </a:rPr>
              <a:t>8. PROBLEM VARIATION (2)</a:t>
            </a:r>
            <a:endParaRPr lang="en-US" sz="4000" dirty="0">
              <a:solidFill>
                <a:schemeClr val="accent2"/>
              </a:solidFill>
              <a:latin typeface="Tahoma" charset="0"/>
              <a:cs typeface="Arial" charset="0"/>
            </a:endParaRPr>
          </a:p>
        </p:txBody>
      </p:sp>
      <p:sp>
        <p:nvSpPr>
          <p:cNvPr id="7" name="Slide Number Placeholder 6"/>
          <p:cNvSpPr>
            <a:spLocks noGrp="1"/>
          </p:cNvSpPr>
          <p:nvPr>
            <p:ph type="sldNum" sz="quarter" idx="12"/>
          </p:nvPr>
        </p:nvSpPr>
        <p:spPr/>
        <p:txBody>
          <a:bodyPr/>
          <a:lstStyle/>
          <a:p>
            <a:fld id="{DA934484-767D-4C48-AF0E-A1438A969E59}" type="slidenum">
              <a:rPr lang="en-US" smtClean="0"/>
              <a:pPr/>
              <a:t>16</a:t>
            </a:fld>
            <a:endParaRPr lang="en-US"/>
          </a:p>
        </p:txBody>
      </p:sp>
      <p:sp>
        <p:nvSpPr>
          <p:cNvPr id="8" name="Rectangle 3" descr="Rectangle: Click to edit Master text styles&#10;Second level&#10;Third level&#10;Fourth level&#10;Fifth level"/>
          <p:cNvSpPr>
            <a:spLocks noGrp="1" noChangeArrowheads="1"/>
          </p:cNvSpPr>
          <p:nvPr>
            <p:ph idx="1"/>
          </p:nvPr>
        </p:nvSpPr>
        <p:spPr>
          <a:xfrm>
            <a:off x="251520" y="1110952"/>
            <a:ext cx="8712968" cy="5486400"/>
          </a:xfrm>
          <a:prstGeom prst="foldedCorner">
            <a:avLst>
              <a:gd name="adj" fmla="val 36304"/>
            </a:avLst>
          </a:prstGeom>
          <a:solidFill>
            <a:schemeClr val="accent1">
              <a:lumMod val="20000"/>
              <a:lumOff val="80000"/>
            </a:schemeClr>
          </a:solidFill>
          <a:ln>
            <a:solidFill>
              <a:schemeClr val="accent5">
                <a:lumMod val="75000"/>
              </a:schemeClr>
            </a:solidFill>
          </a:ln>
          <a:effectLst>
            <a:outerShdw blurRad="63500" sx="102000" sy="102000" algn="ctr" rotWithShape="0">
              <a:prstClr val="black">
                <a:alpha val="40000"/>
              </a:prstClr>
            </a:outerShdw>
          </a:effectLst>
        </p:spPr>
        <p:txBody>
          <a:bodyPr>
            <a:noAutofit/>
          </a:bodyPr>
          <a:lstStyle/>
          <a:p>
            <a:pPr marL="109728" indent="0" algn="just">
              <a:buNone/>
            </a:pPr>
            <a:r>
              <a:rPr lang="en-US" sz="2000" dirty="0">
                <a:latin typeface="Tahoma" panose="020B0604030504040204" pitchFamily="34" charset="0"/>
                <a:ea typeface="Tahoma" panose="020B0604030504040204" pitchFamily="34" charset="0"/>
                <a:cs typeface="Tahoma" panose="020B0604030504040204" pitchFamily="34" charset="0"/>
              </a:rPr>
              <a:t>Saudi Airlines permit each passenger to hold one bag. The maximum weight allowed for the bag depends on the class of the passenger which is: 30Kg for First class ('F'), 25Kg for Business ('B') and 20Kg for Economy ('E'). If the weight of the bag excesses the allowed one, the passenger should pay 10 SR for each Kg. </a:t>
            </a:r>
            <a:endParaRPr lang="en-US" sz="2000" dirty="0" smtClean="0">
              <a:latin typeface="Tahoma" panose="020B0604030504040204" pitchFamily="34" charset="0"/>
              <a:ea typeface="Tahoma" panose="020B0604030504040204" pitchFamily="34" charset="0"/>
              <a:cs typeface="Tahoma" panose="020B0604030504040204" pitchFamily="34" charset="0"/>
            </a:endParaRPr>
          </a:p>
          <a:p>
            <a:pPr marL="109728" indent="0">
              <a:buNone/>
            </a:pPr>
            <a:endParaRPr lang="en-US" sz="2000" dirty="0">
              <a:latin typeface="Tahoma" panose="020B0604030504040204" pitchFamily="34" charset="0"/>
              <a:ea typeface="Tahoma" panose="020B0604030504040204" pitchFamily="34" charset="0"/>
              <a:cs typeface="Tahoma" panose="020B0604030504040204" pitchFamily="34" charset="0"/>
            </a:endParaRPr>
          </a:p>
          <a:p>
            <a:pPr marL="109728" indent="0" algn="just">
              <a:buNone/>
            </a:pPr>
            <a:r>
              <a:rPr lang="en-US" sz="2000" dirty="0">
                <a:latin typeface="Tahoma" panose="020B0604030504040204" pitchFamily="34" charset="0"/>
                <a:ea typeface="Tahoma" panose="020B0604030504040204" pitchFamily="34" charset="0"/>
                <a:cs typeface="Tahoma" panose="020B0604030504040204" pitchFamily="34" charset="0"/>
              </a:rPr>
              <a:t>Write a program that calculates the excess baggage </a:t>
            </a:r>
            <a:r>
              <a:rPr lang="en-US" sz="2000" dirty="0" smtClean="0">
                <a:latin typeface="Tahoma" panose="020B0604030504040204" pitchFamily="34" charset="0"/>
                <a:ea typeface="Tahoma" panose="020B0604030504040204" pitchFamily="34" charset="0"/>
                <a:cs typeface="Tahoma" panose="020B0604030504040204" pitchFamily="34" charset="0"/>
              </a:rPr>
              <a:t>charge. </a:t>
            </a:r>
            <a:r>
              <a:rPr lang="en-US" sz="2000" dirty="0">
                <a:latin typeface="Tahoma" panose="020B0604030504040204" pitchFamily="34" charset="0"/>
                <a:ea typeface="Tahoma" panose="020B0604030504040204" pitchFamily="34" charset="0"/>
                <a:cs typeface="Tahoma" panose="020B0604030504040204" pitchFamily="34" charset="0"/>
              </a:rPr>
              <a:t>All input data should be read by the user. Solve the problem using the </a:t>
            </a:r>
            <a:r>
              <a:rPr lang="en-US" sz="2000" b="1" dirty="0">
                <a:latin typeface="Tahoma" panose="020B0604030504040204" pitchFamily="34" charset="0"/>
                <a:ea typeface="Tahoma" panose="020B0604030504040204" pitchFamily="34" charset="0"/>
                <a:cs typeface="Tahoma" panose="020B0604030504040204" pitchFamily="34" charset="0"/>
              </a:rPr>
              <a:t>switch</a:t>
            </a:r>
            <a:r>
              <a:rPr lang="en-US" sz="2000" dirty="0">
                <a:latin typeface="Tahoma" panose="020B0604030504040204" pitchFamily="34" charset="0"/>
                <a:ea typeface="Tahoma" panose="020B0604030504040204" pitchFamily="34" charset="0"/>
                <a:cs typeface="Tahoma" panose="020B0604030504040204" pitchFamily="34" charset="0"/>
              </a:rPr>
              <a:t> statement</a:t>
            </a:r>
            <a:r>
              <a:rPr lang="en-US" sz="2000" dirty="0" smtClean="0">
                <a:latin typeface="Tahoma" panose="020B0604030504040204" pitchFamily="34" charset="0"/>
                <a:ea typeface="Tahoma" panose="020B0604030504040204" pitchFamily="34" charset="0"/>
                <a:cs typeface="Tahoma" panose="020B0604030504040204" pitchFamily="34" charset="0"/>
              </a:rPr>
              <a:t>. </a:t>
            </a:r>
            <a:r>
              <a:rPr lang="en-US" sz="2000" dirty="0" smtClean="0">
                <a:solidFill>
                  <a:srgbClr val="FF0000"/>
                </a:solidFill>
                <a:latin typeface="Tahoma" panose="020B0604030504040204" pitchFamily="34" charset="0"/>
                <a:ea typeface="Tahoma" panose="020B0604030504040204" pitchFamily="34" charset="0"/>
                <a:cs typeface="Tahoma" panose="020B0604030504040204" pitchFamily="34" charset="0"/>
              </a:rPr>
              <a:t>The program should repeat as long as the user needs.</a:t>
            </a:r>
          </a:p>
        </p:txBody>
      </p:sp>
      <p:sp>
        <p:nvSpPr>
          <p:cNvPr id="9" name="Rounded Rectangle 8"/>
          <p:cNvSpPr/>
          <p:nvPr/>
        </p:nvSpPr>
        <p:spPr>
          <a:xfrm>
            <a:off x="1763688" y="4077072"/>
            <a:ext cx="6048672" cy="432048"/>
          </a:xfrm>
          <a:prstGeom prst="roundRect">
            <a:avLst/>
          </a:prstGeom>
          <a:solidFill>
            <a:srgbClr val="0000FF"/>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Use a sentinel</a:t>
            </a:r>
            <a:endParaRPr lang="en-US" dirty="0"/>
          </a:p>
        </p:txBody>
      </p:sp>
      <p:sp>
        <p:nvSpPr>
          <p:cNvPr id="2" name="Down Arrow 1"/>
          <p:cNvSpPr/>
          <p:nvPr/>
        </p:nvSpPr>
        <p:spPr>
          <a:xfrm>
            <a:off x="3275856" y="4005064"/>
            <a:ext cx="288032" cy="360040"/>
          </a:xfrm>
          <a:prstGeom prst="down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2804670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a:solidFill>
                  <a:schemeClr val="accent2"/>
                </a:solidFill>
                <a:latin typeface="Tahoma" charset="0"/>
                <a:cs typeface="Arial" charset="0"/>
              </a:rPr>
              <a:t>9</a:t>
            </a:r>
            <a:r>
              <a:rPr lang="en-US" sz="4000" dirty="0" smtClean="0">
                <a:solidFill>
                  <a:schemeClr val="accent2"/>
                </a:solidFill>
                <a:latin typeface="Tahoma" charset="0"/>
                <a:cs typeface="Arial" charset="0"/>
              </a:rPr>
              <a:t>. SENTINELS (1)</a:t>
            </a:r>
            <a:endParaRPr lang="en-US" sz="4000" dirty="0">
              <a:solidFill>
                <a:schemeClr val="accent2"/>
              </a:solidFill>
              <a:latin typeface="Tahoma" charset="0"/>
              <a:cs typeface="Arial" charset="0"/>
            </a:endParaRPr>
          </a:p>
        </p:txBody>
      </p:sp>
      <p:sp>
        <p:nvSpPr>
          <p:cNvPr id="7" name="Slide Number Placeholder 6"/>
          <p:cNvSpPr>
            <a:spLocks noGrp="1"/>
          </p:cNvSpPr>
          <p:nvPr>
            <p:ph type="sldNum" sz="quarter" idx="12"/>
          </p:nvPr>
        </p:nvSpPr>
        <p:spPr/>
        <p:txBody>
          <a:bodyPr/>
          <a:lstStyle/>
          <a:p>
            <a:fld id="{DA934484-767D-4C48-AF0E-A1438A969E59}" type="slidenum">
              <a:rPr lang="en-US" smtClean="0"/>
              <a:pPr/>
              <a:t>17</a:t>
            </a:fld>
            <a:endParaRPr lang="en-US"/>
          </a:p>
        </p:txBody>
      </p:sp>
      <p:sp>
        <p:nvSpPr>
          <p:cNvPr id="8" name="TextBox 7"/>
          <p:cNvSpPr txBox="1"/>
          <p:nvPr/>
        </p:nvSpPr>
        <p:spPr>
          <a:xfrm>
            <a:off x="251520" y="712440"/>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smtClean="0">
                <a:solidFill>
                  <a:srgbClr val="FF0000"/>
                </a:solidFill>
                <a:latin typeface="Tahoma" panose="020B0604030504040204" pitchFamily="34" charset="0"/>
                <a:ea typeface="Tahoma" panose="020B0604030504040204" pitchFamily="34" charset="0"/>
                <a:cs typeface="Tahoma" panose="020B0604030504040204" pitchFamily="34" charset="0"/>
              </a:rPr>
              <a:t>The program has two inputs:</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9" name="TextBox 8"/>
          <p:cNvSpPr txBox="1"/>
          <p:nvPr/>
        </p:nvSpPr>
        <p:spPr>
          <a:xfrm>
            <a:off x="251520" y="980728"/>
            <a:ext cx="8640960" cy="400110"/>
          </a:xfrm>
          <a:prstGeom prst="rect">
            <a:avLst/>
          </a:prstGeom>
          <a:noFill/>
        </p:spPr>
        <p:txBody>
          <a:bodyPr wrap="square" rtlCol="0">
            <a:spAutoFit/>
          </a:bodyPr>
          <a:lstStyle/>
          <a:p>
            <a:pPr marL="540000" lvl="1" indent="-342900">
              <a:buClr>
                <a:srgbClr val="FF0000"/>
              </a:buClr>
              <a:buFont typeface="Courier New" panose="02070309020205020404" pitchFamily="49" charset="0"/>
              <a:buChar char="o"/>
            </a:pPr>
            <a:r>
              <a:rPr lang="en-US" sz="2000" dirty="0" smtClean="0">
                <a:latin typeface="Tahoma" panose="020B0604030504040204" pitchFamily="34" charset="0"/>
                <a:ea typeface="Tahoma" panose="020B0604030504040204" pitchFamily="34" charset="0"/>
                <a:cs typeface="Tahoma" panose="020B0604030504040204" pitchFamily="34" charset="0"/>
              </a:rPr>
              <a:t>The passenger’s class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passClass</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latin typeface="Tahoma" panose="020B0604030504040204" pitchFamily="34" charset="0"/>
                <a:ea typeface="Tahoma" panose="020B0604030504040204" pitchFamily="34" charset="0"/>
                <a:cs typeface="Tahoma" panose="020B0604030504040204" pitchFamily="34" charset="0"/>
              </a:rPr>
              <a:t>of type </a:t>
            </a:r>
            <a:r>
              <a:rPr lang="en-US" sz="2000" dirty="0" smtClean="0">
                <a:solidFill>
                  <a:srgbClr val="00B0F0"/>
                </a:solidFill>
                <a:latin typeface="Tahoma" panose="020B0604030504040204" pitchFamily="34" charset="0"/>
                <a:ea typeface="Tahoma" panose="020B0604030504040204" pitchFamily="34" charset="0"/>
                <a:cs typeface="Tahoma" panose="020B0604030504040204" pitchFamily="34" charset="0"/>
              </a:rPr>
              <a:t>char</a:t>
            </a:r>
            <a:r>
              <a:rPr lang="en-US" sz="2000" dirty="0" smtClean="0">
                <a:latin typeface="Tahoma" panose="020B0604030504040204" pitchFamily="34" charset="0"/>
                <a:ea typeface="Tahoma" panose="020B0604030504040204" pitchFamily="34" charset="0"/>
                <a:cs typeface="Tahoma" panose="020B0604030504040204" pitchFamily="34" charset="0"/>
              </a:rPr>
              <a:t>.</a:t>
            </a:r>
            <a:endParaRPr lang="en-US" sz="2000" dirty="0">
              <a:latin typeface="Tahoma" panose="020B0604030504040204" pitchFamily="34" charset="0"/>
              <a:ea typeface="Tahoma" panose="020B0604030504040204" pitchFamily="34" charset="0"/>
              <a:cs typeface="Tahoma" panose="020B0604030504040204" pitchFamily="34" charset="0"/>
            </a:endParaRPr>
          </a:p>
        </p:txBody>
      </p:sp>
      <p:sp>
        <p:nvSpPr>
          <p:cNvPr id="10" name="TextBox 9"/>
          <p:cNvSpPr txBox="1"/>
          <p:nvPr/>
        </p:nvSpPr>
        <p:spPr>
          <a:xfrm>
            <a:off x="251520" y="1307073"/>
            <a:ext cx="8640960" cy="400110"/>
          </a:xfrm>
          <a:prstGeom prst="rect">
            <a:avLst/>
          </a:prstGeom>
          <a:noFill/>
        </p:spPr>
        <p:txBody>
          <a:bodyPr wrap="square" rtlCol="0">
            <a:spAutoFit/>
          </a:bodyPr>
          <a:lstStyle/>
          <a:p>
            <a:pPr marL="540000" lvl="1" indent="-342900">
              <a:buClr>
                <a:srgbClr val="FF0000"/>
              </a:buClr>
              <a:buFont typeface="Courier New" panose="02070309020205020404" pitchFamily="49" charset="0"/>
              <a:buChar char="o"/>
            </a:pPr>
            <a:r>
              <a:rPr lang="en-US" sz="2000" dirty="0" smtClean="0">
                <a:latin typeface="Tahoma" panose="020B0604030504040204" pitchFamily="34" charset="0"/>
                <a:ea typeface="Tahoma" panose="020B0604030504040204" pitchFamily="34" charset="0"/>
                <a:cs typeface="Tahoma" panose="020B0604030504040204" pitchFamily="34" charset="0"/>
              </a:rPr>
              <a:t>The passenger’s baggage weight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bagWeight</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latin typeface="Tahoma" panose="020B0604030504040204" pitchFamily="34" charset="0"/>
                <a:ea typeface="Tahoma" panose="020B0604030504040204" pitchFamily="34" charset="0"/>
                <a:cs typeface="Tahoma" panose="020B0604030504040204" pitchFamily="34" charset="0"/>
              </a:rPr>
              <a:t>of type </a:t>
            </a:r>
            <a:r>
              <a:rPr lang="en-US" sz="2000" dirty="0" smtClean="0">
                <a:solidFill>
                  <a:srgbClr val="00B0F0"/>
                </a:solidFill>
                <a:latin typeface="Tahoma" panose="020B0604030504040204" pitchFamily="34" charset="0"/>
                <a:ea typeface="Tahoma" panose="020B0604030504040204" pitchFamily="34" charset="0"/>
                <a:cs typeface="Tahoma" panose="020B0604030504040204" pitchFamily="34" charset="0"/>
              </a:rPr>
              <a:t>double</a:t>
            </a:r>
            <a:r>
              <a:rPr lang="en-US" sz="2000" dirty="0" smtClean="0">
                <a:latin typeface="Tahoma" panose="020B0604030504040204" pitchFamily="34" charset="0"/>
                <a:ea typeface="Tahoma" panose="020B0604030504040204" pitchFamily="34" charset="0"/>
                <a:cs typeface="Tahoma" panose="020B0604030504040204" pitchFamily="34" charset="0"/>
              </a:rPr>
              <a:t>.</a:t>
            </a:r>
            <a:endParaRPr lang="en-US" sz="2000" dirty="0">
              <a:latin typeface="Tahoma" panose="020B0604030504040204" pitchFamily="34" charset="0"/>
              <a:ea typeface="Tahoma" panose="020B0604030504040204" pitchFamily="34" charset="0"/>
              <a:cs typeface="Tahoma" panose="020B0604030504040204" pitchFamily="34" charset="0"/>
            </a:endParaRPr>
          </a:p>
        </p:txBody>
      </p:sp>
      <p:sp>
        <p:nvSpPr>
          <p:cNvPr id="12" name="TextBox 11"/>
          <p:cNvSpPr txBox="1"/>
          <p:nvPr/>
        </p:nvSpPr>
        <p:spPr>
          <a:xfrm>
            <a:off x="251520" y="1877343"/>
            <a:ext cx="8640960" cy="400110"/>
          </a:xfrm>
          <a:prstGeom prst="rect">
            <a:avLst/>
          </a:prstGeom>
          <a:noFill/>
        </p:spPr>
        <p:txBody>
          <a:bodyPr wrap="square" rtlCol="0">
            <a:spAutoFit/>
          </a:bodyPr>
          <a:lstStyle/>
          <a:p>
            <a:pPr marL="540000" lvl="1" indent="-342900" algn="just">
              <a:buClr>
                <a:srgbClr val="FF0000"/>
              </a:buClr>
              <a:buFont typeface="Courier New" panose="02070309020205020404" pitchFamily="49" charset="0"/>
              <a:buChar char="o"/>
            </a:pPr>
            <a:r>
              <a:rPr lang="en-US" sz="2000" dirty="0" smtClean="0">
                <a:latin typeface="Tahoma" panose="020B0604030504040204" pitchFamily="34" charset="0"/>
                <a:ea typeface="Tahoma" panose="020B0604030504040204" pitchFamily="34" charset="0"/>
                <a:cs typeface="Tahoma" panose="020B0604030504040204" pitchFamily="34" charset="0"/>
              </a:rPr>
              <a:t>The sentinel is selected on ANY input, provided it is the FIRST input.</a:t>
            </a:r>
            <a:endParaRPr lang="en-US" sz="2000" dirty="0">
              <a:latin typeface="Tahoma" panose="020B0604030504040204" pitchFamily="34" charset="0"/>
              <a:ea typeface="Tahoma" panose="020B0604030504040204" pitchFamily="34" charset="0"/>
              <a:cs typeface="Tahoma" panose="020B0604030504040204" pitchFamily="34" charset="0"/>
            </a:endParaRPr>
          </a:p>
        </p:txBody>
      </p:sp>
      <p:sp>
        <p:nvSpPr>
          <p:cNvPr id="13" name="TextBox 12"/>
          <p:cNvSpPr txBox="1"/>
          <p:nvPr/>
        </p:nvSpPr>
        <p:spPr>
          <a:xfrm>
            <a:off x="251520" y="1588730"/>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smtClean="0">
                <a:solidFill>
                  <a:srgbClr val="FF0000"/>
                </a:solidFill>
                <a:latin typeface="Tahoma" panose="020B0604030504040204" pitchFamily="34" charset="0"/>
                <a:ea typeface="Tahoma" panose="020B0604030504040204" pitchFamily="34" charset="0"/>
                <a:cs typeface="Tahoma" panose="020B0604030504040204" pitchFamily="34" charset="0"/>
              </a:rPr>
              <a:t>The sentinel will be on which input?</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4" name="TextBox 13"/>
          <p:cNvSpPr txBox="1"/>
          <p:nvPr/>
        </p:nvSpPr>
        <p:spPr>
          <a:xfrm>
            <a:off x="251520" y="2244934"/>
            <a:ext cx="8640960" cy="1631216"/>
          </a:xfrm>
          <a:prstGeom prst="rect">
            <a:avLst/>
          </a:prstGeom>
          <a:noFill/>
        </p:spPr>
        <p:txBody>
          <a:bodyPr wrap="square" rtlCol="0">
            <a:spAutoFit/>
          </a:bodyPr>
          <a:lstStyle/>
          <a:p>
            <a:pPr marL="540000" lvl="1" indent="-342900" algn="just">
              <a:buClr>
                <a:srgbClr val="FF0000"/>
              </a:buClr>
              <a:buFont typeface="Courier New" panose="02070309020205020404" pitchFamily="49" charset="0"/>
              <a:buChar char="o"/>
            </a:pPr>
            <a:r>
              <a:rPr lang="en-US" sz="2000" dirty="0">
                <a:latin typeface="Tahoma" panose="020B0604030504040204" pitchFamily="34" charset="0"/>
                <a:ea typeface="Tahoma" panose="020B0604030504040204" pitchFamily="34" charset="0"/>
                <a:cs typeface="Tahoma" panose="020B0604030504040204" pitchFamily="34" charset="0"/>
              </a:rPr>
              <a:t>I</a:t>
            </a:r>
            <a:r>
              <a:rPr lang="en-US" sz="2000" dirty="0" smtClean="0">
                <a:latin typeface="Tahoma" panose="020B0604030504040204" pitchFamily="34" charset="0"/>
                <a:ea typeface="Tahoma" panose="020B0604030504040204" pitchFamily="34" charset="0"/>
                <a:cs typeface="Tahoma" panose="020B0604030504040204" pitchFamily="34" charset="0"/>
              </a:rPr>
              <a:t>t should be of </a:t>
            </a:r>
            <a:r>
              <a:rPr lang="en-US" sz="2000" u="sng" dirty="0" smtClean="0">
                <a:latin typeface="Tahoma" panose="020B0604030504040204" pitchFamily="34" charset="0"/>
                <a:ea typeface="Tahoma" panose="020B0604030504040204" pitchFamily="34" charset="0"/>
                <a:cs typeface="Tahoma" panose="020B0604030504040204" pitchFamily="34" charset="0"/>
              </a:rPr>
              <a:t>the same type as the selected input</a:t>
            </a:r>
            <a:r>
              <a:rPr lang="en-US" sz="2000" dirty="0" smtClean="0">
                <a:latin typeface="Tahoma" panose="020B0604030504040204" pitchFamily="34" charset="0"/>
                <a:ea typeface="Tahoma" panose="020B0604030504040204" pitchFamily="34" charset="0"/>
                <a:cs typeface="Tahoma" panose="020B0604030504040204" pitchFamily="34" charset="0"/>
              </a:rPr>
              <a:t>:</a:t>
            </a:r>
          </a:p>
          <a:p>
            <a:pPr marL="997200" lvl="3" indent="-342900" algn="just">
              <a:buClr>
                <a:srgbClr val="FF0000"/>
              </a:buClr>
              <a:buFont typeface="Arial" panose="020B0604020202020204" pitchFamily="34" charset="0"/>
              <a:buChar char="•"/>
            </a:pPr>
            <a:r>
              <a:rPr lang="en-US" sz="2000" dirty="0" smtClean="0">
                <a:latin typeface="Tahoma" panose="020B0604030504040204" pitchFamily="34" charset="0"/>
                <a:ea typeface="Tahoma" panose="020B0604030504040204" pitchFamily="34" charset="0"/>
                <a:cs typeface="Tahoma" panose="020B0604030504040204" pitchFamily="34" charset="0"/>
              </a:rPr>
              <a:t>If you’ll design your program with the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passClass</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latin typeface="Tahoma" panose="020B0604030504040204" pitchFamily="34" charset="0"/>
                <a:ea typeface="Tahoma" panose="020B0604030504040204" pitchFamily="34" charset="0"/>
                <a:cs typeface="Tahoma" panose="020B0604030504040204" pitchFamily="34" charset="0"/>
              </a:rPr>
              <a:t>as a sentinel, then the sentinel should be of type </a:t>
            </a:r>
            <a:r>
              <a:rPr lang="en-US" sz="2000" dirty="0" smtClean="0">
                <a:solidFill>
                  <a:srgbClr val="00B0F0"/>
                </a:solidFill>
                <a:latin typeface="Tahoma" panose="020B0604030504040204" pitchFamily="34" charset="0"/>
                <a:ea typeface="Tahoma" panose="020B0604030504040204" pitchFamily="34" charset="0"/>
                <a:cs typeface="Tahoma" panose="020B0604030504040204" pitchFamily="34" charset="0"/>
              </a:rPr>
              <a:t>char</a:t>
            </a:r>
            <a:r>
              <a:rPr lang="en-US" sz="2000" dirty="0" smtClean="0">
                <a:latin typeface="Tahoma" panose="020B0604030504040204" pitchFamily="34" charset="0"/>
                <a:ea typeface="Tahoma" panose="020B0604030504040204" pitchFamily="34" charset="0"/>
                <a:cs typeface="Tahoma" panose="020B0604030504040204" pitchFamily="34" charset="0"/>
              </a:rPr>
              <a:t>.</a:t>
            </a:r>
          </a:p>
          <a:p>
            <a:pPr marL="997200" lvl="3" indent="-342900" algn="just">
              <a:buClr>
                <a:srgbClr val="FF0000"/>
              </a:buClr>
              <a:buFont typeface="Arial" panose="020B0604020202020204" pitchFamily="34" charset="0"/>
              <a:buChar char="•"/>
            </a:pPr>
            <a:r>
              <a:rPr lang="en-US" sz="2000" dirty="0" smtClean="0">
                <a:latin typeface="Tahoma" panose="020B0604030504040204" pitchFamily="34" charset="0"/>
                <a:ea typeface="Tahoma" panose="020B0604030504040204" pitchFamily="34" charset="0"/>
                <a:cs typeface="Tahoma" panose="020B0604030504040204" pitchFamily="34" charset="0"/>
              </a:rPr>
              <a:t>If you’ll design your program with the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bagWeight</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latin typeface="Tahoma" panose="020B0604030504040204" pitchFamily="34" charset="0"/>
                <a:ea typeface="Tahoma" panose="020B0604030504040204" pitchFamily="34" charset="0"/>
                <a:cs typeface="Tahoma" panose="020B0604030504040204" pitchFamily="34" charset="0"/>
              </a:rPr>
              <a:t>as a sentinel, then the sentinel should be of type </a:t>
            </a:r>
            <a:r>
              <a:rPr lang="en-US" sz="2000" dirty="0" smtClean="0">
                <a:solidFill>
                  <a:srgbClr val="00B0F0"/>
                </a:solidFill>
                <a:latin typeface="Tahoma" panose="020B0604030504040204" pitchFamily="34" charset="0"/>
                <a:ea typeface="Tahoma" panose="020B0604030504040204" pitchFamily="34" charset="0"/>
                <a:cs typeface="Tahoma" panose="020B0604030504040204" pitchFamily="34" charset="0"/>
              </a:rPr>
              <a:t>double</a:t>
            </a:r>
            <a:r>
              <a:rPr lang="en-US" sz="2000" dirty="0" smtClean="0">
                <a:latin typeface="Tahoma" panose="020B0604030504040204" pitchFamily="34" charset="0"/>
                <a:ea typeface="Tahoma" panose="020B0604030504040204" pitchFamily="34" charset="0"/>
                <a:cs typeface="Tahoma" panose="020B0604030504040204" pitchFamily="34" charset="0"/>
              </a:rPr>
              <a:t>.</a:t>
            </a:r>
            <a:endParaRPr lang="en-US" sz="2000" dirty="0">
              <a:latin typeface="Tahoma" panose="020B0604030504040204" pitchFamily="34" charset="0"/>
              <a:ea typeface="Tahoma" panose="020B0604030504040204" pitchFamily="34" charset="0"/>
              <a:cs typeface="Tahoma" panose="020B0604030504040204" pitchFamily="34" charset="0"/>
            </a:endParaRPr>
          </a:p>
        </p:txBody>
      </p:sp>
      <p:sp>
        <p:nvSpPr>
          <p:cNvPr id="16" name="TextBox 15"/>
          <p:cNvSpPr txBox="1"/>
          <p:nvPr/>
        </p:nvSpPr>
        <p:spPr>
          <a:xfrm>
            <a:off x="251520" y="3717032"/>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smtClean="0">
                <a:solidFill>
                  <a:srgbClr val="FF0000"/>
                </a:solidFill>
                <a:latin typeface="Tahoma" panose="020B0604030504040204" pitchFamily="34" charset="0"/>
                <a:ea typeface="Tahoma" panose="020B0604030504040204" pitchFamily="34" charset="0"/>
                <a:cs typeface="Tahoma" panose="020B0604030504040204" pitchFamily="34" charset="0"/>
              </a:rPr>
              <a:t>The sentinel will have which value?</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7" name="TextBox 16"/>
          <p:cNvSpPr txBox="1"/>
          <p:nvPr/>
        </p:nvSpPr>
        <p:spPr>
          <a:xfrm>
            <a:off x="251520" y="4005064"/>
            <a:ext cx="8640960" cy="707886"/>
          </a:xfrm>
          <a:prstGeom prst="rect">
            <a:avLst/>
          </a:prstGeom>
          <a:noFill/>
        </p:spPr>
        <p:txBody>
          <a:bodyPr wrap="square" rtlCol="0">
            <a:spAutoFit/>
          </a:bodyPr>
          <a:lstStyle/>
          <a:p>
            <a:pPr marL="540000" lvl="1" indent="-342900" algn="just">
              <a:buClr>
                <a:srgbClr val="FF0000"/>
              </a:buClr>
              <a:buFont typeface="Courier New" panose="02070309020205020404" pitchFamily="49" charset="0"/>
              <a:buChar char="o"/>
            </a:pPr>
            <a:r>
              <a:rPr lang="en-US" sz="2000" dirty="0" smtClean="0">
                <a:latin typeface="Tahoma" panose="020B0604030504040204" pitchFamily="34" charset="0"/>
                <a:ea typeface="Tahoma" panose="020B0604030504040204" pitchFamily="34" charset="0"/>
                <a:cs typeface="Tahoma" panose="020B0604030504040204" pitchFamily="34" charset="0"/>
              </a:rPr>
              <a:t>The sentinel’s value is selected so that it can never be part of real data.</a:t>
            </a:r>
            <a:endParaRPr lang="en-US" sz="2000" dirty="0">
              <a:latin typeface="Tahoma" panose="020B0604030504040204" pitchFamily="34" charset="0"/>
              <a:ea typeface="Tahoma" panose="020B0604030504040204" pitchFamily="34" charset="0"/>
              <a:cs typeface="Tahoma" panose="020B0604030504040204" pitchFamily="34" charset="0"/>
            </a:endParaRPr>
          </a:p>
        </p:txBody>
      </p:sp>
      <p:sp>
        <p:nvSpPr>
          <p:cNvPr id="18" name="TextBox 17"/>
          <p:cNvSpPr txBox="1"/>
          <p:nvPr/>
        </p:nvSpPr>
        <p:spPr>
          <a:xfrm>
            <a:off x="251520" y="4593322"/>
            <a:ext cx="8640960" cy="400110"/>
          </a:xfrm>
          <a:prstGeom prst="rect">
            <a:avLst/>
          </a:prstGeom>
          <a:noFill/>
        </p:spPr>
        <p:txBody>
          <a:bodyPr wrap="square" rtlCol="0">
            <a:spAutoFit/>
          </a:bodyPr>
          <a:lstStyle/>
          <a:p>
            <a:pPr marL="997200" lvl="2" indent="-342900" algn="just">
              <a:buClr>
                <a:srgbClr val="FF0000"/>
              </a:buClr>
              <a:buFont typeface="Arial" panose="020B0604020202020204" pitchFamily="34" charset="0"/>
              <a:buChar char="•"/>
            </a:pP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passClass</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latin typeface="Tahoma" panose="020B0604030504040204" pitchFamily="34" charset="0"/>
                <a:ea typeface="Tahoma" panose="020B0604030504040204" pitchFamily="34" charset="0"/>
                <a:cs typeface="Tahoma" panose="020B0604030504040204" pitchFamily="34" charset="0"/>
              </a:rPr>
              <a:t>is either ‘F’, ‘f’, ‘B’, ‘b’, ‘E’, ‘e’ </a:t>
            </a:r>
            <a:r>
              <a:rPr lang="en-US" sz="2000"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 is a good choice</a:t>
            </a:r>
            <a:endParaRPr lang="en-US" sz="2000" dirty="0">
              <a:latin typeface="Tahoma" panose="020B0604030504040204" pitchFamily="34" charset="0"/>
              <a:ea typeface="Tahoma" panose="020B0604030504040204" pitchFamily="34" charset="0"/>
              <a:cs typeface="Tahoma" panose="020B0604030504040204" pitchFamily="34" charset="0"/>
            </a:endParaRPr>
          </a:p>
        </p:txBody>
      </p:sp>
      <p:sp>
        <p:nvSpPr>
          <p:cNvPr id="19" name="TextBox 18"/>
          <p:cNvSpPr txBox="1"/>
          <p:nvPr/>
        </p:nvSpPr>
        <p:spPr>
          <a:xfrm>
            <a:off x="251520" y="4901098"/>
            <a:ext cx="8640960" cy="400110"/>
          </a:xfrm>
          <a:prstGeom prst="rect">
            <a:avLst/>
          </a:prstGeom>
          <a:noFill/>
        </p:spPr>
        <p:txBody>
          <a:bodyPr wrap="square" rtlCol="0">
            <a:spAutoFit/>
          </a:bodyPr>
          <a:lstStyle/>
          <a:p>
            <a:pPr marL="997200" lvl="2" indent="-342900" algn="just">
              <a:buClr>
                <a:srgbClr val="FF0000"/>
              </a:buClr>
              <a:buFont typeface="Arial" panose="020B0604020202020204" pitchFamily="34" charset="0"/>
              <a:buChar char="•"/>
            </a:pP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bagWeight</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 </a:t>
            </a:r>
            <a:r>
              <a:rPr lang="en-US" sz="2000" dirty="0" smtClean="0">
                <a:latin typeface="Tahoma" panose="020B0604030504040204" pitchFamily="34" charset="0"/>
                <a:ea typeface="Tahoma" panose="020B0604030504040204" pitchFamily="34" charset="0"/>
                <a:cs typeface="Tahoma" panose="020B0604030504040204" pitchFamily="34" charset="0"/>
              </a:rPr>
              <a:t>is a positive value </a:t>
            </a:r>
            <a:r>
              <a:rPr lang="en-US" sz="2000" dirty="0" smtClean="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-1 is a good choice</a:t>
            </a:r>
            <a:endParaRPr lang="en-US" sz="2000"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p:cNvSpPr txBox="1"/>
          <p:nvPr/>
        </p:nvSpPr>
        <p:spPr>
          <a:xfrm>
            <a:off x="251520" y="5261138"/>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smtClean="0">
                <a:solidFill>
                  <a:srgbClr val="FF0000"/>
                </a:solidFill>
                <a:latin typeface="Tahoma" panose="020B0604030504040204" pitchFamily="34" charset="0"/>
                <a:ea typeface="Tahoma" panose="020B0604030504040204" pitchFamily="34" charset="0"/>
                <a:cs typeface="Tahoma" panose="020B0604030504040204" pitchFamily="34" charset="0"/>
              </a:rPr>
              <a:t>Declaration?</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1" name="TextBox 20"/>
          <p:cNvSpPr txBox="1"/>
          <p:nvPr/>
        </p:nvSpPr>
        <p:spPr>
          <a:xfrm>
            <a:off x="251520" y="5601434"/>
            <a:ext cx="8640960" cy="400110"/>
          </a:xfrm>
          <a:prstGeom prst="rect">
            <a:avLst/>
          </a:prstGeom>
          <a:noFill/>
        </p:spPr>
        <p:txBody>
          <a:bodyPr wrap="square" rtlCol="0">
            <a:spAutoFit/>
          </a:bodyPr>
          <a:lstStyle/>
          <a:p>
            <a:pPr marL="540000" lvl="1" indent="-342900" algn="just">
              <a:buClr>
                <a:srgbClr val="FF0000"/>
              </a:buClr>
              <a:buFont typeface="Courier New" panose="02070309020205020404" pitchFamily="49" charset="0"/>
              <a:buChar char="o"/>
            </a:pPr>
            <a:r>
              <a:rPr lang="en-US" sz="2000" dirty="0" smtClean="0">
                <a:solidFill>
                  <a:srgbClr val="00B0F0"/>
                </a:solidFill>
                <a:latin typeface="Tahoma" panose="020B0604030504040204" pitchFamily="34" charset="0"/>
                <a:ea typeface="Tahoma" panose="020B0604030504040204" pitchFamily="34" charset="0"/>
                <a:cs typeface="Tahoma" panose="020B0604030504040204" pitchFamily="34" charset="0"/>
              </a:rPr>
              <a:t>static final char </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SENTINEL </a:t>
            </a:r>
            <a:r>
              <a:rPr lang="en-US" sz="2000" dirty="0" smtClean="0">
                <a:latin typeface="Tahoma" panose="020B0604030504040204" pitchFamily="34" charset="0"/>
                <a:ea typeface="Tahoma" panose="020B0604030504040204" pitchFamily="34" charset="0"/>
                <a:cs typeface="Tahoma" panose="020B0604030504040204" pitchFamily="34" charset="0"/>
              </a:rPr>
              <a:t>= ‘*’;           </a:t>
            </a:r>
            <a:r>
              <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rPr>
              <a:t>//to be used with </a:t>
            </a:r>
            <a:r>
              <a:rPr lang="en-US" sz="2000" dirty="0" err="1" smtClean="0">
                <a:solidFill>
                  <a:srgbClr val="00B050"/>
                </a:solidFill>
                <a:latin typeface="Tahoma" panose="020B0604030504040204" pitchFamily="34" charset="0"/>
                <a:ea typeface="Tahoma" panose="020B0604030504040204" pitchFamily="34" charset="0"/>
                <a:cs typeface="Tahoma" panose="020B0604030504040204" pitchFamily="34" charset="0"/>
              </a:rPr>
              <a:t>passClass</a:t>
            </a:r>
            <a:endParaRPr lang="en-US" sz="2000" dirty="0">
              <a:solidFill>
                <a:srgbClr val="00B050"/>
              </a:solidFill>
              <a:latin typeface="Tahoma" panose="020B0604030504040204" pitchFamily="34" charset="0"/>
              <a:ea typeface="Tahoma" panose="020B0604030504040204" pitchFamily="34" charset="0"/>
              <a:cs typeface="Tahoma" panose="020B0604030504040204" pitchFamily="34" charset="0"/>
            </a:endParaRPr>
          </a:p>
        </p:txBody>
      </p:sp>
      <p:sp>
        <p:nvSpPr>
          <p:cNvPr id="22" name="TextBox 21"/>
          <p:cNvSpPr txBox="1"/>
          <p:nvPr/>
        </p:nvSpPr>
        <p:spPr>
          <a:xfrm>
            <a:off x="251520" y="5981218"/>
            <a:ext cx="8640960" cy="400110"/>
          </a:xfrm>
          <a:prstGeom prst="rect">
            <a:avLst/>
          </a:prstGeom>
          <a:solidFill>
            <a:schemeClr val="bg1"/>
          </a:solidFill>
        </p:spPr>
        <p:txBody>
          <a:bodyPr wrap="square" rtlCol="0">
            <a:spAutoFit/>
          </a:bodyPr>
          <a:lstStyle/>
          <a:p>
            <a:pPr marL="540000" lvl="1" indent="-342900" algn="just">
              <a:buClr>
                <a:srgbClr val="FF0000"/>
              </a:buClr>
              <a:buFont typeface="Courier New" panose="02070309020205020404" pitchFamily="49" charset="0"/>
              <a:buChar char="o"/>
            </a:pPr>
            <a:r>
              <a:rPr lang="en-US" sz="2000" dirty="0" smtClean="0">
                <a:solidFill>
                  <a:srgbClr val="00B0F0"/>
                </a:solidFill>
                <a:latin typeface="Tahoma" panose="020B0604030504040204" pitchFamily="34" charset="0"/>
                <a:ea typeface="Tahoma" panose="020B0604030504040204" pitchFamily="34" charset="0"/>
                <a:cs typeface="Tahoma" panose="020B0604030504040204" pitchFamily="34" charset="0"/>
              </a:rPr>
              <a:t>static final double </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SENTINEL </a:t>
            </a:r>
            <a:r>
              <a:rPr lang="en-US" sz="2000" dirty="0" smtClean="0">
                <a:latin typeface="Tahoma" panose="020B0604030504040204" pitchFamily="34" charset="0"/>
                <a:ea typeface="Tahoma" panose="020B0604030504040204" pitchFamily="34" charset="0"/>
                <a:cs typeface="Tahoma" panose="020B0604030504040204" pitchFamily="34" charset="0"/>
              </a:rPr>
              <a:t>= -1.0;     </a:t>
            </a:r>
            <a:r>
              <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rPr>
              <a:t>//to be used with </a:t>
            </a:r>
            <a:r>
              <a:rPr lang="en-US" sz="2000" dirty="0" err="1" smtClean="0">
                <a:solidFill>
                  <a:srgbClr val="00B050"/>
                </a:solidFill>
                <a:latin typeface="Tahoma" panose="020B0604030504040204" pitchFamily="34" charset="0"/>
                <a:ea typeface="Tahoma" panose="020B0604030504040204" pitchFamily="34" charset="0"/>
                <a:cs typeface="Tahoma" panose="020B0604030504040204" pitchFamily="34" charset="0"/>
              </a:rPr>
              <a:t>bagWeight</a:t>
            </a:r>
            <a:endParaRPr lang="en-US" sz="2000" dirty="0">
              <a:solidFill>
                <a:srgbClr val="00B05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xmlns="" val="4241674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righ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right)">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left)">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left)">
                                      <p:cBhvr>
                                        <p:cTn id="47" dur="5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wipe(left)">
                                      <p:cBhvr>
                                        <p:cTn id="52" dur="500"/>
                                        <p:tgtEl>
                                          <p:spTgt spid="1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2"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wipe(right)">
                                      <p:cBhvr>
                                        <p:cTn id="57" dur="500"/>
                                        <p:tgtEl>
                                          <p:spTgt spid="2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wipe(left)">
                                      <p:cBhvr>
                                        <p:cTn id="62" dur="500"/>
                                        <p:tgtEl>
                                          <p:spTgt spid="2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left)">
                                      <p:cBhvr>
                                        <p:cTn id="6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p:bldP spid="13" grpId="0"/>
      <p:bldP spid="14" grpId="0"/>
      <p:bldP spid="16" grpId="0"/>
      <p:bldP spid="17" grpId="0"/>
      <p:bldP spid="18" grpId="0"/>
      <p:bldP spid="19" grpId="0"/>
      <p:bldP spid="20" grpId="0"/>
      <p:bldP spid="21" grpId="0"/>
      <p:bldP spid="2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a:solidFill>
                  <a:schemeClr val="accent2"/>
                </a:solidFill>
                <a:latin typeface="Tahoma" charset="0"/>
                <a:cs typeface="Arial" charset="0"/>
              </a:rPr>
              <a:t>9</a:t>
            </a:r>
            <a:r>
              <a:rPr lang="en-US" sz="4000" dirty="0" smtClean="0">
                <a:solidFill>
                  <a:schemeClr val="accent2"/>
                </a:solidFill>
                <a:latin typeface="Tahoma" charset="0"/>
                <a:cs typeface="Arial" charset="0"/>
              </a:rPr>
              <a:t>. SENTINELS (2)</a:t>
            </a:r>
            <a:endParaRPr lang="en-US" sz="4000" dirty="0">
              <a:solidFill>
                <a:schemeClr val="accent2"/>
              </a:solidFill>
              <a:latin typeface="Tahoma" charset="0"/>
              <a:cs typeface="Arial" charset="0"/>
            </a:endParaRPr>
          </a:p>
        </p:txBody>
      </p:sp>
      <p:sp>
        <p:nvSpPr>
          <p:cNvPr id="7" name="Slide Number Placeholder 6"/>
          <p:cNvSpPr>
            <a:spLocks noGrp="1"/>
          </p:cNvSpPr>
          <p:nvPr>
            <p:ph type="sldNum" sz="quarter" idx="12"/>
          </p:nvPr>
        </p:nvSpPr>
        <p:spPr/>
        <p:txBody>
          <a:bodyPr/>
          <a:lstStyle/>
          <a:p>
            <a:fld id="{DA934484-767D-4C48-AF0E-A1438A969E59}" type="slidenum">
              <a:rPr lang="en-US" smtClean="0"/>
              <a:pPr/>
              <a:t>18</a:t>
            </a:fld>
            <a:endParaRPr lang="en-US"/>
          </a:p>
        </p:txBody>
      </p:sp>
      <p:sp>
        <p:nvSpPr>
          <p:cNvPr id="8" name="TextBox 7"/>
          <p:cNvSpPr txBox="1"/>
          <p:nvPr/>
        </p:nvSpPr>
        <p:spPr>
          <a:xfrm>
            <a:off x="251520" y="712440"/>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smtClean="0">
                <a:solidFill>
                  <a:srgbClr val="FF0000"/>
                </a:solidFill>
                <a:latin typeface="Tahoma" panose="020B0604030504040204" pitchFamily="34" charset="0"/>
                <a:ea typeface="Tahoma" panose="020B0604030504040204" pitchFamily="34" charset="0"/>
                <a:cs typeface="Tahoma" panose="020B0604030504040204" pitchFamily="34" charset="0"/>
              </a:rPr>
              <a:t>Logical Expression?</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1" name="TextBox 20"/>
          <p:cNvSpPr txBox="1"/>
          <p:nvPr/>
        </p:nvSpPr>
        <p:spPr>
          <a:xfrm>
            <a:off x="107504" y="1112550"/>
            <a:ext cx="8640960" cy="1631216"/>
          </a:xfrm>
          <a:prstGeom prst="rect">
            <a:avLst/>
          </a:prstGeom>
          <a:noFill/>
        </p:spPr>
        <p:txBody>
          <a:bodyPr wrap="square" rtlCol="0">
            <a:spAutoFit/>
          </a:bodyPr>
          <a:lstStyle/>
          <a:p>
            <a:pPr marL="197100" lvl="1" algn="just">
              <a:buClr>
                <a:srgbClr val="FF0000"/>
              </a:buClr>
            </a:pPr>
            <a:r>
              <a:rPr lang="en-US" sz="2000" dirty="0" smtClean="0">
                <a:solidFill>
                  <a:srgbClr val="00B0F0"/>
                </a:solidFill>
                <a:latin typeface="Tahoma" panose="020B0604030504040204" pitchFamily="34" charset="0"/>
                <a:ea typeface="Tahoma" panose="020B0604030504040204" pitchFamily="34" charset="0"/>
                <a:cs typeface="Tahoma" panose="020B0604030504040204" pitchFamily="34" charset="0"/>
              </a:rPr>
              <a:t>static final char </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SENTINEL </a:t>
            </a:r>
            <a:r>
              <a:rPr lang="en-US" sz="2000" dirty="0" smtClean="0">
                <a:latin typeface="Tahoma" panose="020B0604030504040204" pitchFamily="34" charset="0"/>
                <a:ea typeface="Tahoma" panose="020B0604030504040204" pitchFamily="34" charset="0"/>
                <a:cs typeface="Tahoma" panose="020B0604030504040204" pitchFamily="34" charset="0"/>
              </a:rPr>
              <a:t>= ‘*’;                 </a:t>
            </a:r>
            <a:r>
              <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rPr>
              <a:t>//to be used with </a:t>
            </a:r>
            <a:r>
              <a:rPr lang="en-US" sz="2000" dirty="0" err="1" smtClean="0">
                <a:solidFill>
                  <a:srgbClr val="00B050"/>
                </a:solidFill>
                <a:latin typeface="Tahoma" panose="020B0604030504040204" pitchFamily="34" charset="0"/>
                <a:ea typeface="Tahoma" panose="020B0604030504040204" pitchFamily="34" charset="0"/>
                <a:cs typeface="Tahoma" panose="020B0604030504040204" pitchFamily="34" charset="0"/>
              </a:rPr>
              <a:t>passClass</a:t>
            </a:r>
            <a:endPar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endParaRPr>
          </a:p>
          <a:p>
            <a:pPr marL="197100" lvl="1" algn="just">
              <a:buClr>
                <a:srgbClr val="FF0000"/>
              </a:buClr>
            </a:pPr>
            <a:r>
              <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rPr>
              <a:t>----</a:t>
            </a:r>
          </a:p>
          <a:p>
            <a:pPr marL="197100" lvl="1" algn="just">
              <a:buClr>
                <a:srgbClr val="FF0000"/>
              </a:buClr>
            </a:pPr>
            <a:r>
              <a:rPr lang="en-US" sz="2000" dirty="0" smtClean="0">
                <a:solidFill>
                  <a:srgbClr val="00B0F0"/>
                </a:solidFill>
                <a:latin typeface="Tahoma" panose="020B0604030504040204" pitchFamily="34" charset="0"/>
                <a:ea typeface="Tahoma" panose="020B0604030504040204" pitchFamily="34" charset="0"/>
                <a:cs typeface="Tahoma" panose="020B0604030504040204" pitchFamily="34" charset="0"/>
              </a:rPr>
              <a:t>while</a:t>
            </a:r>
            <a:r>
              <a:rPr lang="en-US" sz="2000" dirty="0" smtClean="0">
                <a:latin typeface="Tahoma" panose="020B0604030504040204" pitchFamily="34" charset="0"/>
                <a:ea typeface="Tahoma" panose="020B0604030504040204" pitchFamily="34" charset="0"/>
                <a:cs typeface="Tahoma" panose="020B0604030504040204" pitchFamily="34" charset="0"/>
              </a:rPr>
              <a:t>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passClass</a:t>
            </a:r>
            <a:r>
              <a:rPr lang="en-US" sz="2000" dirty="0" smtClean="0">
                <a:latin typeface="Tahoma" panose="020B0604030504040204" pitchFamily="34" charset="0"/>
                <a:ea typeface="Tahoma" panose="020B0604030504040204" pitchFamily="34" charset="0"/>
                <a:cs typeface="Tahoma" panose="020B0604030504040204" pitchFamily="34" charset="0"/>
              </a:rPr>
              <a:t> != </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SENTINEL</a:t>
            </a:r>
            <a:r>
              <a:rPr lang="en-US" sz="2000" dirty="0" smtClean="0">
                <a:latin typeface="Tahoma" panose="020B0604030504040204" pitchFamily="34" charset="0"/>
                <a:ea typeface="Tahoma" panose="020B0604030504040204" pitchFamily="34" charset="0"/>
                <a:cs typeface="Tahoma" panose="020B0604030504040204" pitchFamily="34" charset="0"/>
              </a:rPr>
              <a:t>)</a:t>
            </a:r>
          </a:p>
          <a:p>
            <a:pPr marL="197100" lvl="1" algn="just">
              <a:buClr>
                <a:srgbClr val="FF0000"/>
              </a:buClr>
            </a:pP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smtClean="0">
                <a:latin typeface="Tahoma" panose="020B0604030504040204" pitchFamily="34" charset="0"/>
                <a:ea typeface="Tahoma" panose="020B0604030504040204" pitchFamily="34" charset="0"/>
                <a:cs typeface="Tahoma" panose="020B0604030504040204" pitchFamily="34" charset="0"/>
              </a:rPr>
              <a:t>{---</a:t>
            </a:r>
          </a:p>
          <a:p>
            <a:pPr marL="197100" lvl="1" algn="just">
              <a:buClr>
                <a:srgbClr val="FF0000"/>
              </a:buClr>
            </a:pPr>
            <a:r>
              <a:rPr lang="en-US" sz="2000" dirty="0">
                <a:latin typeface="Tahoma" panose="020B0604030504040204" pitchFamily="34" charset="0"/>
                <a:ea typeface="Tahoma" panose="020B0604030504040204" pitchFamily="34" charset="0"/>
                <a:cs typeface="Tahoma" panose="020B0604030504040204" pitchFamily="34" charset="0"/>
              </a:rPr>
              <a:t>}</a:t>
            </a:r>
          </a:p>
        </p:txBody>
      </p:sp>
      <p:sp>
        <p:nvSpPr>
          <p:cNvPr id="23" name="TextBox 22"/>
          <p:cNvSpPr txBox="1"/>
          <p:nvPr/>
        </p:nvSpPr>
        <p:spPr>
          <a:xfrm>
            <a:off x="107504" y="2996952"/>
            <a:ext cx="8640960" cy="1631216"/>
          </a:xfrm>
          <a:prstGeom prst="rect">
            <a:avLst/>
          </a:prstGeom>
          <a:noFill/>
        </p:spPr>
        <p:txBody>
          <a:bodyPr wrap="square" rtlCol="0">
            <a:spAutoFit/>
          </a:bodyPr>
          <a:lstStyle/>
          <a:p>
            <a:pPr marL="197100" lvl="1" algn="just">
              <a:buClr>
                <a:srgbClr val="FF0000"/>
              </a:buClr>
            </a:pPr>
            <a:r>
              <a:rPr lang="en-US" sz="2000" dirty="0" smtClean="0">
                <a:solidFill>
                  <a:srgbClr val="00B0F0"/>
                </a:solidFill>
                <a:latin typeface="Tahoma" panose="020B0604030504040204" pitchFamily="34" charset="0"/>
                <a:ea typeface="Tahoma" panose="020B0604030504040204" pitchFamily="34" charset="0"/>
                <a:cs typeface="Tahoma" panose="020B0604030504040204" pitchFamily="34" charset="0"/>
              </a:rPr>
              <a:t>static final double </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SENTINEL </a:t>
            </a:r>
            <a:r>
              <a:rPr lang="en-US" sz="2000" dirty="0" smtClean="0">
                <a:latin typeface="Tahoma" panose="020B0604030504040204" pitchFamily="34" charset="0"/>
                <a:ea typeface="Tahoma" panose="020B0604030504040204" pitchFamily="34" charset="0"/>
                <a:cs typeface="Tahoma" panose="020B0604030504040204" pitchFamily="34" charset="0"/>
              </a:rPr>
              <a:t>= -1.0;           </a:t>
            </a:r>
            <a:r>
              <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rPr>
              <a:t>//to be used with </a:t>
            </a:r>
            <a:r>
              <a:rPr lang="en-US" sz="2000" dirty="0" err="1" smtClean="0">
                <a:solidFill>
                  <a:srgbClr val="00B050"/>
                </a:solidFill>
                <a:latin typeface="Tahoma" panose="020B0604030504040204" pitchFamily="34" charset="0"/>
                <a:ea typeface="Tahoma" panose="020B0604030504040204" pitchFamily="34" charset="0"/>
                <a:cs typeface="Tahoma" panose="020B0604030504040204" pitchFamily="34" charset="0"/>
              </a:rPr>
              <a:t>bagWeight</a:t>
            </a:r>
            <a:endPar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endParaRPr>
          </a:p>
          <a:p>
            <a:pPr marL="197100" lvl="1" algn="just">
              <a:buClr>
                <a:srgbClr val="FF0000"/>
              </a:buClr>
            </a:pPr>
            <a:r>
              <a:rPr lang="en-US" sz="2000" dirty="0" smtClean="0">
                <a:solidFill>
                  <a:srgbClr val="00B050"/>
                </a:solidFill>
                <a:latin typeface="Tahoma" panose="020B0604030504040204" pitchFamily="34" charset="0"/>
                <a:ea typeface="Tahoma" panose="020B0604030504040204" pitchFamily="34" charset="0"/>
                <a:cs typeface="Tahoma" panose="020B0604030504040204" pitchFamily="34" charset="0"/>
              </a:rPr>
              <a:t>----</a:t>
            </a:r>
          </a:p>
          <a:p>
            <a:pPr marL="197100" lvl="1" algn="just">
              <a:buClr>
                <a:srgbClr val="FF0000"/>
              </a:buClr>
            </a:pPr>
            <a:r>
              <a:rPr lang="en-US" sz="2000" dirty="0" smtClean="0">
                <a:solidFill>
                  <a:srgbClr val="00B0F0"/>
                </a:solidFill>
                <a:latin typeface="Tahoma" panose="020B0604030504040204" pitchFamily="34" charset="0"/>
                <a:ea typeface="Tahoma" panose="020B0604030504040204" pitchFamily="34" charset="0"/>
                <a:cs typeface="Tahoma" panose="020B0604030504040204" pitchFamily="34" charset="0"/>
              </a:rPr>
              <a:t>while</a:t>
            </a:r>
            <a:r>
              <a:rPr lang="en-US" sz="2000" dirty="0" smtClean="0">
                <a:latin typeface="Tahoma" panose="020B0604030504040204" pitchFamily="34" charset="0"/>
                <a:ea typeface="Tahoma" panose="020B0604030504040204" pitchFamily="34" charset="0"/>
                <a:cs typeface="Tahoma" panose="020B0604030504040204" pitchFamily="34" charset="0"/>
              </a:rPr>
              <a:t> (</a:t>
            </a:r>
            <a:r>
              <a:rPr lang="en-US" sz="2000" dirty="0" err="1" smtClean="0">
                <a:solidFill>
                  <a:srgbClr val="0000FF"/>
                </a:solidFill>
                <a:latin typeface="Tahoma" panose="020B0604030504040204" pitchFamily="34" charset="0"/>
                <a:ea typeface="Tahoma" panose="020B0604030504040204" pitchFamily="34" charset="0"/>
                <a:cs typeface="Tahoma" panose="020B0604030504040204" pitchFamily="34" charset="0"/>
              </a:rPr>
              <a:t>bagWeight</a:t>
            </a:r>
            <a:r>
              <a:rPr lang="en-US" sz="2000" dirty="0" smtClean="0">
                <a:latin typeface="Tahoma" panose="020B0604030504040204" pitchFamily="34" charset="0"/>
                <a:ea typeface="Tahoma" panose="020B0604030504040204" pitchFamily="34" charset="0"/>
                <a:cs typeface="Tahoma" panose="020B0604030504040204" pitchFamily="34" charset="0"/>
              </a:rPr>
              <a:t> &gt; </a:t>
            </a:r>
            <a:r>
              <a:rPr lang="en-US" sz="2000" dirty="0" smtClean="0">
                <a:solidFill>
                  <a:srgbClr val="0000FF"/>
                </a:solidFill>
                <a:latin typeface="Tahoma" panose="020B0604030504040204" pitchFamily="34" charset="0"/>
                <a:ea typeface="Tahoma" panose="020B0604030504040204" pitchFamily="34" charset="0"/>
                <a:cs typeface="Tahoma" panose="020B0604030504040204" pitchFamily="34" charset="0"/>
              </a:rPr>
              <a:t>SENTINEL</a:t>
            </a:r>
            <a:r>
              <a:rPr lang="en-US" sz="2000" dirty="0" smtClean="0">
                <a:latin typeface="Tahoma" panose="020B0604030504040204" pitchFamily="34" charset="0"/>
                <a:ea typeface="Tahoma" panose="020B0604030504040204" pitchFamily="34" charset="0"/>
                <a:cs typeface="Tahoma" panose="020B0604030504040204" pitchFamily="34" charset="0"/>
              </a:rPr>
              <a:t>)</a:t>
            </a:r>
          </a:p>
          <a:p>
            <a:pPr marL="197100" lvl="1" algn="just">
              <a:buClr>
                <a:srgbClr val="FF0000"/>
              </a:buClr>
            </a:pP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smtClean="0">
                <a:latin typeface="Tahoma" panose="020B0604030504040204" pitchFamily="34" charset="0"/>
                <a:ea typeface="Tahoma" panose="020B0604030504040204" pitchFamily="34" charset="0"/>
                <a:cs typeface="Tahoma" panose="020B0604030504040204" pitchFamily="34" charset="0"/>
              </a:rPr>
              <a:t>{---</a:t>
            </a:r>
          </a:p>
          <a:p>
            <a:pPr marL="197100" lvl="1" algn="just">
              <a:buClr>
                <a:srgbClr val="FF0000"/>
              </a:buClr>
            </a:pPr>
            <a:r>
              <a:rPr lang="en-US" sz="2000" dirty="0">
                <a:latin typeface="Tahoma" panose="020B0604030504040204" pitchFamily="34" charset="0"/>
                <a:ea typeface="Tahoma" panose="020B0604030504040204" pitchFamily="34" charset="0"/>
                <a:cs typeface="Tahoma" panose="020B0604030504040204" pitchFamily="34" charset="0"/>
              </a:rPr>
              <a:t>}</a:t>
            </a:r>
          </a:p>
        </p:txBody>
      </p:sp>
      <p:sp>
        <p:nvSpPr>
          <p:cNvPr id="24" name="TextBox 23"/>
          <p:cNvSpPr txBox="1"/>
          <p:nvPr/>
        </p:nvSpPr>
        <p:spPr>
          <a:xfrm>
            <a:off x="251520" y="4509120"/>
            <a:ext cx="8640960" cy="400110"/>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en-US" sz="2000" dirty="0" smtClean="0">
                <a:solidFill>
                  <a:srgbClr val="FF0000"/>
                </a:solidFill>
                <a:latin typeface="Tahoma" panose="020B0604030504040204" pitchFamily="34" charset="0"/>
                <a:ea typeface="Tahoma" panose="020B0604030504040204" pitchFamily="34" charset="0"/>
                <a:cs typeface="Tahoma" panose="020B0604030504040204" pitchFamily="34" charset="0"/>
              </a:rPr>
              <a:t>Avoid using the equal operator with </a:t>
            </a:r>
            <a:r>
              <a:rPr lang="en-US" sz="2000" dirty="0" smtClean="0">
                <a:solidFill>
                  <a:srgbClr val="00B0F0"/>
                </a:solidFill>
                <a:latin typeface="Tahoma" panose="020B0604030504040204" pitchFamily="34" charset="0"/>
                <a:ea typeface="Tahoma" panose="020B0604030504040204" pitchFamily="34" charset="0"/>
                <a:cs typeface="Tahoma" panose="020B0604030504040204" pitchFamily="34" charset="0"/>
              </a:rPr>
              <a:t>double </a:t>
            </a:r>
            <a:r>
              <a:rPr lang="en-US" sz="2000" dirty="0" smtClean="0">
                <a:solidFill>
                  <a:srgbClr val="FF0000"/>
                </a:solidFill>
                <a:latin typeface="Tahoma" panose="020B0604030504040204" pitchFamily="34" charset="0"/>
                <a:ea typeface="Tahoma" panose="020B0604030504040204" pitchFamily="34" charset="0"/>
                <a:cs typeface="Tahoma" panose="020B0604030504040204" pitchFamily="34" charset="0"/>
              </a:rPr>
              <a:t>values for accuracy.</a:t>
            </a:r>
            <a:endPar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5" name="TextBox 24"/>
          <p:cNvSpPr txBox="1"/>
          <p:nvPr/>
        </p:nvSpPr>
        <p:spPr>
          <a:xfrm>
            <a:off x="251520" y="5457418"/>
            <a:ext cx="8640960" cy="707886"/>
          </a:xfrm>
          <a:prstGeom prst="rect">
            <a:avLst/>
          </a:prstGeom>
          <a:solidFill>
            <a:schemeClr val="accent6">
              <a:lumMod val="20000"/>
              <a:lumOff val="80000"/>
            </a:schemeClr>
          </a:solidFill>
          <a:ln w="28575">
            <a:solidFill>
              <a:srgbClr val="FF0000"/>
            </a:solidFill>
          </a:ln>
        </p:spPr>
        <p:txBody>
          <a:bodyPr wrap="square" rtlCol="0">
            <a:spAutoFit/>
          </a:bodyPr>
          <a:lstStyle/>
          <a:p>
            <a:pPr marL="342900" indent="-342900">
              <a:buClr>
                <a:srgbClr val="FF0000"/>
              </a:buClr>
              <a:buFont typeface="Wingdings" panose="05000000000000000000" pitchFamily="2" charset="2"/>
              <a:buChar char="Ø"/>
            </a:pPr>
            <a:r>
              <a:rPr lang="en-US" sz="2000" dirty="0" smtClean="0">
                <a:solidFill>
                  <a:srgbClr val="FF0000"/>
                </a:solidFill>
                <a:latin typeface="Tahoma" panose="020B0604030504040204" pitchFamily="34" charset="0"/>
                <a:ea typeface="Tahoma" panose="020B0604030504040204" pitchFamily="34" charset="0"/>
                <a:cs typeface="Tahoma" panose="020B0604030504040204" pitchFamily="34" charset="0"/>
              </a:rPr>
              <a:t>CONCLUSION:</a:t>
            </a:r>
            <a:r>
              <a:rPr lang="en-US" sz="2000" dirty="0" smtClean="0">
                <a:latin typeface="Tahoma" panose="020B0604030504040204" pitchFamily="34" charset="0"/>
                <a:ea typeface="Tahoma" panose="020B0604030504040204" pitchFamily="34" charset="0"/>
                <a:cs typeface="Tahoma" panose="020B0604030504040204" pitchFamily="34" charset="0"/>
              </a:rPr>
              <a:t> If you have multiple inputs, use a sentinel for one of them only.</a:t>
            </a:r>
            <a:endParaRPr lang="en-US" sz="20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xmlns="" val="335596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left)">
                                      <p:cBhvr>
                                        <p:cTn id="17" dur="500"/>
                                        <p:tgtEl>
                                          <p:spTgt spid="23"/>
                                        </p:tgtEl>
                                      </p:cBhvr>
                                    </p:animEffect>
                                  </p:childTnLst>
                                </p:cTn>
                              </p:par>
                            </p:childTnLst>
                          </p:cTn>
                        </p:par>
                        <p:par>
                          <p:cTn id="18" fill="hold">
                            <p:stCondLst>
                              <p:cond delay="500"/>
                            </p:stCondLst>
                            <p:childTnLst>
                              <p:par>
                                <p:cTn id="19" presetID="22" presetClass="entr" presetSubtype="2"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wipe(right)">
                                      <p:cBhvr>
                                        <p:cTn id="21" dur="5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p:cTn id="26" dur="500" fill="hold"/>
                                        <p:tgtEl>
                                          <p:spTgt spid="25"/>
                                        </p:tgtEl>
                                        <p:attrNameLst>
                                          <p:attrName>ppt_w</p:attrName>
                                        </p:attrNameLst>
                                      </p:cBhvr>
                                      <p:tavLst>
                                        <p:tav tm="0">
                                          <p:val>
                                            <p:fltVal val="0"/>
                                          </p:val>
                                        </p:tav>
                                        <p:tav tm="100000">
                                          <p:val>
                                            <p:strVal val="#ppt_w"/>
                                          </p:val>
                                        </p:tav>
                                      </p:tavLst>
                                    </p:anim>
                                    <p:anim calcmode="lin" valueType="num">
                                      <p:cBhvr>
                                        <p:cTn id="27" dur="500" fill="hold"/>
                                        <p:tgtEl>
                                          <p:spTgt spid="25"/>
                                        </p:tgtEl>
                                        <p:attrNameLst>
                                          <p:attrName>ppt_h</p:attrName>
                                        </p:attrNameLst>
                                      </p:cBhvr>
                                      <p:tavLst>
                                        <p:tav tm="0">
                                          <p:val>
                                            <p:fltVal val="0"/>
                                          </p:val>
                                        </p:tav>
                                        <p:tav tm="100000">
                                          <p:val>
                                            <p:strVal val="#ppt_h"/>
                                          </p:val>
                                        </p:tav>
                                      </p:tavLst>
                                    </p:anim>
                                    <p:animEffect transition="in" filter="fade">
                                      <p:cBhvr>
                                        <p:cTn id="2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1" grpId="0"/>
      <p:bldP spid="23" grpId="0"/>
      <p:bldP spid="24" grpId="0"/>
      <p:bldP spid="2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smtClean="0">
                <a:solidFill>
                  <a:schemeClr val="accent2"/>
                </a:solidFill>
                <a:latin typeface="Tahoma" charset="0"/>
                <a:cs typeface="Arial" charset="0"/>
              </a:rPr>
              <a:t>10. CODE (1)</a:t>
            </a:r>
            <a:endParaRPr lang="en-US" sz="4000" dirty="0">
              <a:solidFill>
                <a:schemeClr val="accent2"/>
              </a:solidFill>
              <a:latin typeface="Tahoma" charset="0"/>
              <a:cs typeface="Arial" charset="0"/>
            </a:endParaRPr>
          </a:p>
        </p:txBody>
      </p:sp>
      <p:cxnSp>
        <p:nvCxnSpPr>
          <p:cNvPr id="16" name="Straight Connector 15"/>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179512" y="985946"/>
            <a:ext cx="8784976" cy="5755422"/>
            <a:chOff x="258661" y="1236822"/>
            <a:chExt cx="7913739" cy="5755422"/>
          </a:xfrm>
        </p:grpSpPr>
        <p:sp>
          <p:nvSpPr>
            <p:cNvPr id="9" name="TextBox 8"/>
            <p:cNvSpPr txBox="1"/>
            <p:nvPr/>
          </p:nvSpPr>
          <p:spPr>
            <a:xfrm>
              <a:off x="712728" y="1236822"/>
              <a:ext cx="7459672" cy="5755422"/>
            </a:xfrm>
            <a:prstGeom prst="rect">
              <a:avLst/>
            </a:prstGeom>
            <a:solidFill>
              <a:schemeClr val="bg2"/>
            </a:solidFill>
            <a:ln w="28575" cap="rnd" cmpd="thickThin">
              <a:solidFill>
                <a:srgbClr val="0000FF"/>
              </a:solidFill>
            </a:ln>
          </p:spPr>
          <p:txBody>
            <a:bodyPr wrap="square" rtlCol="0">
              <a:spAutoFit/>
            </a:bodyPr>
            <a:lstStyle/>
            <a:p>
              <a:r>
                <a:rPr lang="en-US" sz="1600" dirty="0" smtClean="0">
                  <a:solidFill>
                    <a:srgbClr val="00B050"/>
                  </a:solidFill>
                </a:rPr>
                <a:t>// import necessary libraries</a:t>
              </a:r>
            </a:p>
            <a:p>
              <a:r>
                <a:rPr lang="en-US" sz="1600" dirty="0" smtClean="0">
                  <a:solidFill>
                    <a:srgbClr val="00B0F0"/>
                  </a:solidFill>
                </a:rPr>
                <a:t>import</a:t>
              </a:r>
              <a:r>
                <a:rPr lang="en-US" sz="1600" dirty="0" smtClean="0"/>
                <a:t> </a:t>
              </a:r>
              <a:r>
                <a:rPr lang="en-US" sz="1600" dirty="0" err="1" smtClean="0">
                  <a:solidFill>
                    <a:srgbClr val="00B0F0"/>
                  </a:solidFill>
                </a:rPr>
                <a:t>java.util</a:t>
              </a:r>
              <a:r>
                <a:rPr lang="en-US" sz="1600" dirty="0" smtClean="0">
                  <a:solidFill>
                    <a:srgbClr val="00B0F0"/>
                  </a:solidFill>
                </a:rPr>
                <a:t>.*</a:t>
              </a:r>
              <a:r>
                <a:rPr lang="en-US" sz="1600" dirty="0" smtClean="0"/>
                <a:t>;</a:t>
              </a:r>
            </a:p>
            <a:p>
              <a:r>
                <a:rPr lang="en-US" sz="1600" dirty="0" smtClean="0">
                  <a:solidFill>
                    <a:srgbClr val="00B0F0"/>
                  </a:solidFill>
                </a:rPr>
                <a:t>public class</a:t>
              </a:r>
              <a:r>
                <a:rPr lang="en-US" sz="1600" dirty="0" smtClean="0">
                  <a:solidFill>
                    <a:srgbClr val="0000FF"/>
                  </a:solidFill>
                </a:rPr>
                <a:t> passenger</a:t>
              </a:r>
            </a:p>
            <a:p>
              <a:r>
                <a:rPr lang="en-US" sz="1600" dirty="0" smtClean="0">
                  <a:solidFill>
                    <a:srgbClr val="0000FF"/>
                  </a:solidFill>
                </a:rPr>
                <a:t>{</a:t>
              </a:r>
            </a:p>
            <a:p>
              <a:r>
                <a:rPr lang="en-US" sz="1600" dirty="0">
                  <a:solidFill>
                    <a:srgbClr val="00B050"/>
                  </a:solidFill>
                </a:rPr>
                <a:t> </a:t>
              </a:r>
              <a:r>
                <a:rPr lang="en-US" sz="1600" dirty="0" smtClean="0">
                  <a:solidFill>
                    <a:srgbClr val="00B050"/>
                  </a:solidFill>
                </a:rPr>
                <a:t>   // instantiate Scanner object</a:t>
              </a:r>
            </a:p>
            <a:p>
              <a:r>
                <a:rPr lang="en-US" sz="1600" dirty="0" smtClean="0">
                  <a:solidFill>
                    <a:srgbClr val="00B0F0"/>
                  </a:solidFill>
                </a:rPr>
                <a:t>    static Scanner</a:t>
              </a:r>
              <a:r>
                <a:rPr lang="en-US" sz="1600" dirty="0" smtClean="0">
                  <a:solidFill>
                    <a:srgbClr val="00B050"/>
                  </a:solidFill>
                </a:rPr>
                <a:t> </a:t>
              </a:r>
              <a:r>
                <a:rPr lang="en-US" sz="1600" dirty="0" smtClean="0">
                  <a:solidFill>
                    <a:srgbClr val="0000FF"/>
                  </a:solidFill>
                </a:rPr>
                <a:t>read</a:t>
              </a:r>
              <a:r>
                <a:rPr lang="en-US" sz="1600" dirty="0" smtClean="0"/>
                <a:t> = </a:t>
              </a:r>
              <a:r>
                <a:rPr lang="en-US" sz="1600" dirty="0" smtClean="0">
                  <a:solidFill>
                    <a:srgbClr val="00B0F0"/>
                  </a:solidFill>
                </a:rPr>
                <a:t>new Scanner(System.in)</a:t>
              </a:r>
              <a:r>
                <a:rPr lang="en-US" sz="1600" dirty="0" smtClean="0"/>
                <a:t>;</a:t>
              </a:r>
            </a:p>
            <a:p>
              <a:r>
                <a:rPr lang="en-US" sz="1600" dirty="0">
                  <a:solidFill>
                    <a:srgbClr val="00B050"/>
                  </a:solidFill>
                </a:rPr>
                <a:t> </a:t>
              </a:r>
              <a:r>
                <a:rPr lang="en-US" sz="1600" dirty="0" smtClean="0">
                  <a:solidFill>
                    <a:srgbClr val="00B050"/>
                  </a:solidFill>
                </a:rPr>
                <a:t>   // define the sentinel</a:t>
              </a:r>
            </a:p>
            <a:p>
              <a:r>
                <a:rPr lang="en-US" sz="1600" dirty="0"/>
                <a:t> </a:t>
              </a:r>
              <a:r>
                <a:rPr lang="en-US" sz="1600" dirty="0" smtClean="0"/>
                <a:t>   </a:t>
              </a:r>
              <a:r>
                <a:rPr lang="en-US" sz="1600" dirty="0" smtClean="0">
                  <a:solidFill>
                    <a:srgbClr val="00B0F0"/>
                  </a:solidFill>
                </a:rPr>
                <a:t>static final char </a:t>
              </a:r>
              <a:r>
                <a:rPr lang="en-US" sz="1600" dirty="0" smtClean="0">
                  <a:solidFill>
                    <a:srgbClr val="0000FF"/>
                  </a:solidFill>
                </a:rPr>
                <a:t>SENTINEL </a:t>
              </a:r>
              <a:r>
                <a:rPr lang="en-US" sz="1600" dirty="0" smtClean="0"/>
                <a:t>= ‘*’;</a:t>
              </a:r>
            </a:p>
            <a:p>
              <a:r>
                <a:rPr lang="en-US" sz="1600" dirty="0" smtClean="0">
                  <a:solidFill>
                    <a:srgbClr val="0000FF"/>
                  </a:solidFill>
                </a:rPr>
                <a:t>    </a:t>
              </a:r>
              <a:r>
                <a:rPr lang="en-US" sz="1600" dirty="0" smtClean="0">
                  <a:solidFill>
                    <a:srgbClr val="00B0F0"/>
                  </a:solidFill>
                </a:rPr>
                <a:t>public static void main (String[] </a:t>
              </a:r>
              <a:r>
                <a:rPr lang="en-US" sz="1600" dirty="0" err="1" smtClean="0">
                  <a:solidFill>
                    <a:srgbClr val="00B0F0"/>
                  </a:solidFill>
                </a:rPr>
                <a:t>args</a:t>
              </a:r>
              <a:r>
                <a:rPr lang="en-US" sz="1600" dirty="0" smtClean="0">
                  <a:solidFill>
                    <a:srgbClr val="00B0F0"/>
                  </a:solidFill>
                </a:rPr>
                <a:t>)</a:t>
              </a:r>
            </a:p>
            <a:p>
              <a:r>
                <a:rPr lang="en-US" sz="1600" dirty="0" smtClean="0">
                  <a:solidFill>
                    <a:srgbClr val="0000FF"/>
                  </a:solidFill>
                </a:rPr>
                <a:t>      {</a:t>
              </a:r>
            </a:p>
            <a:p>
              <a:r>
                <a:rPr lang="en-US" sz="1600" dirty="0">
                  <a:solidFill>
                    <a:srgbClr val="00B050"/>
                  </a:solidFill>
                </a:rPr>
                <a:t> </a:t>
              </a:r>
              <a:r>
                <a:rPr lang="en-US" sz="1600" dirty="0" smtClean="0">
                  <a:solidFill>
                    <a:srgbClr val="00B050"/>
                  </a:solidFill>
                </a:rPr>
                <a:t>         // Declaration section</a:t>
              </a:r>
            </a:p>
            <a:p>
              <a:r>
                <a:rPr lang="en-US" sz="1600" dirty="0" smtClean="0"/>
                <a:t>	</a:t>
              </a:r>
              <a:r>
                <a:rPr lang="en-US" sz="1600" dirty="0" smtClean="0">
                  <a:solidFill>
                    <a:srgbClr val="00B0F0"/>
                  </a:solidFill>
                </a:rPr>
                <a:t>char </a:t>
              </a:r>
              <a:r>
                <a:rPr lang="en-US" sz="1600" dirty="0" err="1" smtClean="0">
                  <a:solidFill>
                    <a:srgbClr val="0000FF"/>
                  </a:solidFill>
                </a:rPr>
                <a:t>passClass</a:t>
              </a:r>
              <a:r>
                <a:rPr lang="en-US" sz="1600" dirty="0" smtClean="0"/>
                <a:t>;</a:t>
              </a:r>
              <a:r>
                <a:rPr lang="en-US" sz="1600" dirty="0" smtClean="0">
                  <a:solidFill>
                    <a:srgbClr val="00B050"/>
                  </a:solidFill>
                </a:rPr>
                <a:t>		// passenger’s class</a:t>
              </a:r>
            </a:p>
            <a:p>
              <a:r>
                <a:rPr lang="en-US" sz="1600" dirty="0"/>
                <a:t>	</a:t>
              </a:r>
              <a:r>
                <a:rPr lang="en-US" sz="1600" dirty="0" smtClean="0">
                  <a:solidFill>
                    <a:srgbClr val="00B0F0"/>
                  </a:solidFill>
                </a:rPr>
                <a:t>double </a:t>
              </a:r>
              <a:r>
                <a:rPr lang="en-US" sz="1600" dirty="0" err="1" smtClean="0">
                  <a:solidFill>
                    <a:srgbClr val="0000FF"/>
                  </a:solidFill>
                </a:rPr>
                <a:t>bagWeight</a:t>
              </a:r>
              <a:r>
                <a:rPr lang="en-US" sz="1600" dirty="0" smtClean="0"/>
                <a:t>;</a:t>
              </a:r>
              <a:r>
                <a:rPr lang="en-US" sz="1600" dirty="0" smtClean="0">
                  <a:solidFill>
                    <a:srgbClr val="00B050"/>
                  </a:solidFill>
                </a:rPr>
                <a:t>	// passenger’s bag weight</a:t>
              </a:r>
            </a:p>
            <a:p>
              <a:r>
                <a:rPr lang="en-US" sz="1600" dirty="0">
                  <a:solidFill>
                    <a:srgbClr val="00B050"/>
                  </a:solidFill>
                </a:rPr>
                <a:t>	</a:t>
              </a:r>
              <a:r>
                <a:rPr lang="en-US" sz="1600" dirty="0" smtClean="0">
                  <a:solidFill>
                    <a:srgbClr val="00B0F0"/>
                  </a:solidFill>
                </a:rPr>
                <a:t>double </a:t>
              </a:r>
              <a:r>
                <a:rPr lang="en-US" sz="1600" dirty="0" err="1" smtClean="0">
                  <a:solidFill>
                    <a:srgbClr val="0000FF"/>
                  </a:solidFill>
                </a:rPr>
                <a:t>excessWeight</a:t>
              </a:r>
              <a:r>
                <a:rPr lang="en-US" sz="1600" dirty="0" smtClean="0">
                  <a:solidFill>
                    <a:srgbClr val="0000FF"/>
                  </a:solidFill>
                </a:rPr>
                <a:t> = 0</a:t>
              </a:r>
              <a:r>
                <a:rPr lang="en-US" sz="1600" dirty="0" smtClean="0"/>
                <a:t>;</a:t>
              </a:r>
              <a:r>
                <a:rPr lang="en-US" sz="1600" dirty="0" smtClean="0">
                  <a:solidFill>
                    <a:srgbClr val="00B050"/>
                  </a:solidFill>
                </a:rPr>
                <a:t>	// passenger’s excess weight</a:t>
              </a:r>
            </a:p>
            <a:p>
              <a:r>
                <a:rPr lang="en-US" sz="1600" dirty="0" smtClean="0"/>
                <a:t>	</a:t>
              </a:r>
              <a:r>
                <a:rPr lang="en-US" sz="1600" dirty="0" smtClean="0">
                  <a:solidFill>
                    <a:srgbClr val="00B0F0"/>
                  </a:solidFill>
                </a:rPr>
                <a:t>double </a:t>
              </a:r>
              <a:r>
                <a:rPr lang="en-US" sz="1600" dirty="0" smtClean="0">
                  <a:solidFill>
                    <a:srgbClr val="0000FF"/>
                  </a:solidFill>
                </a:rPr>
                <a:t>charge = -1</a:t>
              </a:r>
              <a:r>
                <a:rPr lang="en-US" sz="1600" dirty="0" smtClean="0"/>
                <a:t>;	</a:t>
              </a:r>
              <a:r>
                <a:rPr lang="en-US" sz="1600" dirty="0" smtClean="0">
                  <a:solidFill>
                    <a:srgbClr val="00B050"/>
                  </a:solidFill>
                </a:rPr>
                <a:t>// charge on excess weight</a:t>
              </a:r>
            </a:p>
            <a:p>
              <a:r>
                <a:rPr lang="en-US" sz="1600" dirty="0" smtClean="0">
                  <a:solidFill>
                    <a:srgbClr val="00B050"/>
                  </a:solidFill>
                </a:rPr>
                <a:t>          // Input section</a:t>
              </a:r>
            </a:p>
            <a:p>
              <a:r>
                <a:rPr lang="en-US" sz="1600" dirty="0" smtClean="0"/>
                <a:t>              </a:t>
              </a:r>
              <a:r>
                <a:rPr lang="en-US" sz="1600" dirty="0" err="1" smtClean="0">
                  <a:solidFill>
                    <a:srgbClr val="00B0F0"/>
                  </a:solidFill>
                </a:rPr>
                <a:t>System.out.printf</a:t>
              </a:r>
              <a:r>
                <a:rPr lang="en-US" sz="1600" dirty="0" smtClean="0"/>
                <a:t> (“Enter passenger’s class, %c to exit”, </a:t>
              </a:r>
              <a:r>
                <a:rPr lang="en-US" sz="1600" dirty="0" smtClean="0">
                  <a:solidFill>
                    <a:srgbClr val="0000FF"/>
                  </a:solidFill>
                </a:rPr>
                <a:t>SENTINEL</a:t>
              </a:r>
              <a:r>
                <a:rPr lang="en-US" sz="1600" dirty="0" smtClean="0"/>
                <a:t>);</a:t>
              </a:r>
            </a:p>
            <a:p>
              <a:r>
                <a:rPr lang="en-US" sz="1600" dirty="0"/>
                <a:t> </a:t>
              </a:r>
              <a:r>
                <a:rPr lang="en-US" sz="1600" dirty="0" smtClean="0"/>
                <a:t>             </a:t>
              </a:r>
              <a:r>
                <a:rPr lang="en-US" sz="1600" dirty="0" err="1" smtClean="0">
                  <a:solidFill>
                    <a:srgbClr val="0000FF"/>
                  </a:solidFill>
                </a:rPr>
                <a:t>passClass</a:t>
              </a:r>
              <a:r>
                <a:rPr lang="en-US" sz="1600" dirty="0" smtClean="0">
                  <a:solidFill>
                    <a:srgbClr val="0000FF"/>
                  </a:solidFill>
                </a:rPr>
                <a:t> </a:t>
              </a:r>
              <a:r>
                <a:rPr lang="en-US" sz="1600" dirty="0" smtClean="0"/>
                <a:t>=  </a:t>
              </a:r>
              <a:r>
                <a:rPr lang="en-US" sz="1600" dirty="0" err="1" smtClean="0">
                  <a:solidFill>
                    <a:srgbClr val="0000FF"/>
                  </a:solidFill>
                </a:rPr>
                <a:t>read</a:t>
              </a:r>
              <a:r>
                <a:rPr lang="en-US" sz="1600" dirty="0" err="1" smtClean="0"/>
                <a:t>.</a:t>
              </a:r>
              <a:r>
                <a:rPr lang="en-US" sz="1600" dirty="0" err="1" smtClean="0">
                  <a:solidFill>
                    <a:srgbClr val="00B050"/>
                  </a:solidFill>
                </a:rPr>
                <a:t>next</a:t>
              </a:r>
              <a:r>
                <a:rPr lang="en-US" sz="1600" dirty="0" smtClean="0">
                  <a:solidFill>
                    <a:srgbClr val="00B050"/>
                  </a:solidFill>
                </a:rPr>
                <a:t>().</a:t>
              </a:r>
              <a:r>
                <a:rPr lang="en-US" sz="1600" dirty="0" err="1" smtClean="0">
                  <a:solidFill>
                    <a:srgbClr val="00B050"/>
                  </a:solidFill>
                </a:rPr>
                <a:t>charAt</a:t>
              </a:r>
              <a:r>
                <a:rPr lang="en-US" sz="1600" dirty="0" smtClean="0">
                  <a:solidFill>
                    <a:srgbClr val="00B050"/>
                  </a:solidFill>
                </a:rPr>
                <a:t>(0)</a:t>
              </a:r>
              <a:r>
                <a:rPr lang="en-US" sz="1600" dirty="0" smtClean="0"/>
                <a:t>;	</a:t>
              </a:r>
              <a:r>
                <a:rPr lang="en-US" sz="1600" dirty="0" smtClean="0">
                  <a:solidFill>
                    <a:srgbClr val="00B050"/>
                  </a:solidFill>
                </a:rPr>
                <a:t>// read passenger’s class</a:t>
              </a:r>
            </a:p>
            <a:p>
              <a:r>
                <a:rPr lang="en-US" sz="1600" dirty="0">
                  <a:solidFill>
                    <a:srgbClr val="00B050"/>
                  </a:solidFill>
                </a:rPr>
                <a:t> </a:t>
              </a:r>
              <a:r>
                <a:rPr lang="en-US" sz="1600" dirty="0" smtClean="0">
                  <a:solidFill>
                    <a:srgbClr val="00B050"/>
                  </a:solidFill>
                </a:rPr>
                <a:t>         // start looping as long as the </a:t>
              </a:r>
              <a:r>
                <a:rPr lang="en-US" sz="1600" dirty="0" err="1" smtClean="0">
                  <a:solidFill>
                    <a:srgbClr val="00B050"/>
                  </a:solidFill>
                </a:rPr>
                <a:t>passClass</a:t>
              </a:r>
              <a:r>
                <a:rPr lang="en-US" sz="1600" dirty="0" smtClean="0">
                  <a:solidFill>
                    <a:srgbClr val="00B050"/>
                  </a:solidFill>
                </a:rPr>
                <a:t> does not equal the SENTINEL</a:t>
              </a:r>
            </a:p>
            <a:p>
              <a:r>
                <a:rPr lang="en-US" sz="1600" dirty="0">
                  <a:solidFill>
                    <a:srgbClr val="00B050"/>
                  </a:solidFill>
                </a:rPr>
                <a:t> </a:t>
              </a:r>
              <a:r>
                <a:rPr lang="en-US" sz="1600" dirty="0" smtClean="0">
                  <a:solidFill>
                    <a:srgbClr val="00B050"/>
                  </a:solidFill>
                </a:rPr>
                <a:t>             </a:t>
              </a:r>
              <a:r>
                <a:rPr lang="en-US" sz="1600" dirty="0" smtClean="0">
                  <a:solidFill>
                    <a:srgbClr val="00B0F0"/>
                  </a:solidFill>
                </a:rPr>
                <a:t>while </a:t>
              </a:r>
              <a:r>
                <a:rPr lang="en-US" sz="1600" dirty="0" smtClean="0"/>
                <a:t>(</a:t>
              </a:r>
              <a:r>
                <a:rPr lang="en-US" sz="1600" dirty="0" err="1" smtClean="0">
                  <a:solidFill>
                    <a:srgbClr val="0000FF"/>
                  </a:solidFill>
                </a:rPr>
                <a:t>passClass</a:t>
              </a:r>
              <a:r>
                <a:rPr lang="en-US" sz="1600" dirty="0" smtClean="0">
                  <a:solidFill>
                    <a:srgbClr val="0000FF"/>
                  </a:solidFill>
                </a:rPr>
                <a:t> </a:t>
              </a:r>
              <a:r>
                <a:rPr lang="en-US" sz="1600" dirty="0" smtClean="0"/>
                <a:t>!= </a:t>
              </a:r>
              <a:r>
                <a:rPr lang="en-US" sz="1600" dirty="0" smtClean="0">
                  <a:solidFill>
                    <a:srgbClr val="0000FF"/>
                  </a:solidFill>
                </a:rPr>
                <a:t>SENTINEL</a:t>
              </a:r>
              <a:r>
                <a:rPr lang="en-US" sz="1600" dirty="0" smtClean="0"/>
                <a:t>)</a:t>
              </a:r>
            </a:p>
            <a:p>
              <a:r>
                <a:rPr lang="en-US" sz="1600" dirty="0">
                  <a:solidFill>
                    <a:srgbClr val="00B050"/>
                  </a:solidFill>
                </a:rPr>
                <a:t> </a:t>
              </a:r>
              <a:r>
                <a:rPr lang="en-US" sz="1600" dirty="0" smtClean="0">
                  <a:solidFill>
                    <a:srgbClr val="00B050"/>
                  </a:solidFill>
                </a:rPr>
                <a:t>                </a:t>
              </a:r>
              <a:r>
                <a:rPr lang="en-US" sz="1600" dirty="0" smtClean="0"/>
                <a:t>{ </a:t>
              </a:r>
              <a:r>
                <a:rPr lang="en-US" sz="1600" dirty="0" smtClean="0">
                  <a:solidFill>
                    <a:srgbClr val="0000FF"/>
                  </a:solidFill>
                </a:rPr>
                <a:t>charge </a:t>
              </a:r>
              <a:r>
                <a:rPr lang="en-US" sz="1600" dirty="0" smtClean="0"/>
                <a:t>= -1;</a:t>
              </a:r>
            </a:p>
            <a:p>
              <a:r>
                <a:rPr lang="en-US" sz="1600" dirty="0">
                  <a:solidFill>
                    <a:srgbClr val="00B050"/>
                  </a:solidFill>
                </a:rPr>
                <a:t> </a:t>
              </a:r>
              <a:r>
                <a:rPr lang="en-US" sz="1600" dirty="0" smtClean="0">
                  <a:solidFill>
                    <a:srgbClr val="00B050"/>
                  </a:solidFill>
                </a:rPr>
                <a:t>                </a:t>
              </a:r>
              <a:r>
                <a:rPr lang="en-US" sz="1600" dirty="0" smtClean="0"/>
                <a:t>  </a:t>
              </a:r>
              <a:r>
                <a:rPr lang="en-US" sz="1600" dirty="0" err="1" smtClean="0">
                  <a:solidFill>
                    <a:srgbClr val="00B0F0"/>
                  </a:solidFill>
                </a:rPr>
                <a:t>System.out.print</a:t>
              </a:r>
              <a:r>
                <a:rPr lang="en-US" sz="1600" dirty="0" smtClean="0">
                  <a:solidFill>
                    <a:srgbClr val="00B0F0"/>
                  </a:solidFill>
                </a:rPr>
                <a:t> </a:t>
              </a:r>
              <a:r>
                <a:rPr lang="en-US" sz="1600" dirty="0" smtClean="0"/>
                <a:t>(“Please enter bag weight”);</a:t>
              </a:r>
            </a:p>
            <a:p>
              <a:r>
                <a:rPr lang="en-US" sz="1600" dirty="0">
                  <a:solidFill>
                    <a:srgbClr val="00B050"/>
                  </a:solidFill>
                </a:rPr>
                <a:t> </a:t>
              </a:r>
              <a:r>
                <a:rPr lang="en-US" sz="1600" dirty="0" smtClean="0">
                  <a:solidFill>
                    <a:srgbClr val="00B050"/>
                  </a:solidFill>
                </a:rPr>
                <a:t>                  </a:t>
              </a:r>
              <a:r>
                <a:rPr lang="en-US" sz="1600" dirty="0" err="1" smtClean="0">
                  <a:solidFill>
                    <a:srgbClr val="0000FF"/>
                  </a:solidFill>
                </a:rPr>
                <a:t>bagWeight</a:t>
              </a:r>
              <a:r>
                <a:rPr lang="en-US" sz="1600" dirty="0" smtClean="0">
                  <a:solidFill>
                    <a:srgbClr val="0000FF"/>
                  </a:solidFill>
                </a:rPr>
                <a:t> </a:t>
              </a:r>
              <a:r>
                <a:rPr lang="en-US" sz="1600" dirty="0" smtClean="0">
                  <a:solidFill>
                    <a:srgbClr val="00B050"/>
                  </a:solidFill>
                </a:rPr>
                <a:t>= </a:t>
              </a:r>
              <a:r>
                <a:rPr lang="en-US" sz="1600" dirty="0" err="1" smtClean="0">
                  <a:solidFill>
                    <a:srgbClr val="0000FF"/>
                  </a:solidFill>
                </a:rPr>
                <a:t>read</a:t>
              </a:r>
              <a:r>
                <a:rPr lang="en-US" sz="1600" dirty="0" err="1" smtClean="0">
                  <a:solidFill>
                    <a:srgbClr val="00B050"/>
                  </a:solidFill>
                </a:rPr>
                <a:t>.nextDouble</a:t>
              </a:r>
              <a:r>
                <a:rPr lang="en-US" sz="1600" dirty="0" smtClean="0">
                  <a:solidFill>
                    <a:srgbClr val="00B050"/>
                  </a:solidFill>
                </a:rPr>
                <a:t>();</a:t>
              </a:r>
            </a:p>
          </p:txBody>
        </p:sp>
        <p:sp>
          <p:nvSpPr>
            <p:cNvPr id="10" name="TextBox 9"/>
            <p:cNvSpPr txBox="1"/>
            <p:nvPr/>
          </p:nvSpPr>
          <p:spPr>
            <a:xfrm>
              <a:off x="258661" y="1236822"/>
              <a:ext cx="454067" cy="5755422"/>
            </a:xfrm>
            <a:prstGeom prst="rect">
              <a:avLst/>
            </a:prstGeom>
            <a:noFill/>
          </p:spPr>
          <p:txBody>
            <a:bodyPr wrap="square" rtlCol="0">
              <a:spAutoFit/>
            </a:bodyPr>
            <a:lstStyle/>
            <a:p>
              <a:pPr algn="r"/>
              <a:r>
                <a:rPr lang="en-US" sz="1600" dirty="0" smtClean="0">
                  <a:solidFill>
                    <a:srgbClr val="FF0000"/>
                  </a:solidFill>
                </a:rPr>
                <a:t>1</a:t>
              </a:r>
            </a:p>
            <a:p>
              <a:pPr algn="r"/>
              <a:r>
                <a:rPr lang="en-US" sz="1600" dirty="0" smtClean="0">
                  <a:solidFill>
                    <a:srgbClr val="FF0000"/>
                  </a:solidFill>
                </a:rPr>
                <a:t>2</a:t>
              </a:r>
            </a:p>
            <a:p>
              <a:pPr algn="r"/>
              <a:r>
                <a:rPr lang="en-US" sz="1600" dirty="0" smtClean="0">
                  <a:solidFill>
                    <a:srgbClr val="FF0000"/>
                  </a:solidFill>
                </a:rPr>
                <a:t>3</a:t>
              </a:r>
            </a:p>
            <a:p>
              <a:pPr algn="r"/>
              <a:r>
                <a:rPr lang="en-US" sz="1600" dirty="0" smtClean="0">
                  <a:solidFill>
                    <a:srgbClr val="FF0000"/>
                  </a:solidFill>
                </a:rPr>
                <a:t>4</a:t>
              </a:r>
            </a:p>
            <a:p>
              <a:pPr algn="r"/>
              <a:r>
                <a:rPr lang="en-US" sz="1600" dirty="0" smtClean="0">
                  <a:solidFill>
                    <a:srgbClr val="FF0000"/>
                  </a:solidFill>
                </a:rPr>
                <a:t>5</a:t>
              </a:r>
            </a:p>
            <a:p>
              <a:pPr algn="r"/>
              <a:r>
                <a:rPr lang="en-US" sz="1600" dirty="0" smtClean="0">
                  <a:solidFill>
                    <a:srgbClr val="FF0000"/>
                  </a:solidFill>
                </a:rPr>
                <a:t>6</a:t>
              </a:r>
            </a:p>
            <a:p>
              <a:pPr algn="r"/>
              <a:r>
                <a:rPr lang="en-US" sz="1600" dirty="0" smtClean="0">
                  <a:solidFill>
                    <a:srgbClr val="FF0000"/>
                  </a:solidFill>
                </a:rPr>
                <a:t>7</a:t>
              </a:r>
            </a:p>
            <a:p>
              <a:pPr algn="r"/>
              <a:r>
                <a:rPr lang="en-US" sz="1600" dirty="0" smtClean="0">
                  <a:solidFill>
                    <a:srgbClr val="FF0000"/>
                  </a:solidFill>
                </a:rPr>
                <a:t>8</a:t>
              </a:r>
            </a:p>
            <a:p>
              <a:pPr algn="r"/>
              <a:r>
                <a:rPr lang="en-US" sz="1600" dirty="0" smtClean="0">
                  <a:solidFill>
                    <a:srgbClr val="FF0000"/>
                  </a:solidFill>
                </a:rPr>
                <a:t>9</a:t>
              </a:r>
            </a:p>
            <a:p>
              <a:pPr algn="r"/>
              <a:r>
                <a:rPr lang="en-US" sz="1600" dirty="0" smtClean="0">
                  <a:solidFill>
                    <a:srgbClr val="FF0000"/>
                  </a:solidFill>
                </a:rPr>
                <a:t>10</a:t>
              </a:r>
            </a:p>
            <a:p>
              <a:pPr algn="r"/>
              <a:r>
                <a:rPr lang="en-US" sz="1600" dirty="0" smtClean="0">
                  <a:solidFill>
                    <a:srgbClr val="FF0000"/>
                  </a:solidFill>
                </a:rPr>
                <a:t>11</a:t>
              </a:r>
            </a:p>
            <a:p>
              <a:pPr algn="r"/>
              <a:r>
                <a:rPr lang="en-US" sz="1600" dirty="0" smtClean="0">
                  <a:solidFill>
                    <a:srgbClr val="FF0000"/>
                  </a:solidFill>
                </a:rPr>
                <a:t>12</a:t>
              </a:r>
            </a:p>
            <a:p>
              <a:pPr algn="r"/>
              <a:r>
                <a:rPr lang="en-US" sz="1600" dirty="0" smtClean="0">
                  <a:solidFill>
                    <a:srgbClr val="FF0000"/>
                  </a:solidFill>
                </a:rPr>
                <a:t>13</a:t>
              </a:r>
            </a:p>
            <a:p>
              <a:pPr algn="r"/>
              <a:r>
                <a:rPr lang="en-US" sz="1600" dirty="0" smtClean="0">
                  <a:solidFill>
                    <a:srgbClr val="FF0000"/>
                  </a:solidFill>
                </a:rPr>
                <a:t>14</a:t>
              </a:r>
            </a:p>
            <a:p>
              <a:pPr algn="r"/>
              <a:r>
                <a:rPr lang="en-US" sz="1600" dirty="0" smtClean="0">
                  <a:solidFill>
                    <a:srgbClr val="FF0000"/>
                  </a:solidFill>
                </a:rPr>
                <a:t>15</a:t>
              </a:r>
            </a:p>
            <a:p>
              <a:pPr algn="r"/>
              <a:r>
                <a:rPr lang="en-US" sz="1600" dirty="0" smtClean="0">
                  <a:solidFill>
                    <a:srgbClr val="FF0000"/>
                  </a:solidFill>
                </a:rPr>
                <a:t>16</a:t>
              </a:r>
            </a:p>
            <a:p>
              <a:pPr algn="r"/>
              <a:r>
                <a:rPr lang="en-US" sz="1600" dirty="0" smtClean="0">
                  <a:solidFill>
                    <a:srgbClr val="FF0000"/>
                  </a:solidFill>
                </a:rPr>
                <a:t>17</a:t>
              </a:r>
            </a:p>
            <a:p>
              <a:pPr algn="r"/>
              <a:r>
                <a:rPr lang="en-US" sz="1600" dirty="0" smtClean="0">
                  <a:solidFill>
                    <a:srgbClr val="FF0000"/>
                  </a:solidFill>
                </a:rPr>
                <a:t>18</a:t>
              </a:r>
            </a:p>
            <a:p>
              <a:pPr algn="r"/>
              <a:r>
                <a:rPr lang="en-US" sz="1600" dirty="0" smtClean="0">
                  <a:solidFill>
                    <a:srgbClr val="FF0000"/>
                  </a:solidFill>
                </a:rPr>
                <a:t>19</a:t>
              </a:r>
            </a:p>
            <a:p>
              <a:pPr algn="r"/>
              <a:r>
                <a:rPr lang="en-US" sz="1600" dirty="0" smtClean="0">
                  <a:solidFill>
                    <a:srgbClr val="FF0000"/>
                  </a:solidFill>
                </a:rPr>
                <a:t>20</a:t>
              </a:r>
            </a:p>
            <a:p>
              <a:pPr algn="r"/>
              <a:r>
                <a:rPr lang="en-US" sz="1600" dirty="0" smtClean="0">
                  <a:solidFill>
                    <a:srgbClr val="FF0000"/>
                  </a:solidFill>
                </a:rPr>
                <a:t>21</a:t>
              </a:r>
            </a:p>
            <a:p>
              <a:pPr algn="r"/>
              <a:r>
                <a:rPr lang="en-US" sz="1600" dirty="0" smtClean="0">
                  <a:solidFill>
                    <a:srgbClr val="FF0000"/>
                  </a:solidFill>
                </a:rPr>
                <a:t>22</a:t>
              </a:r>
            </a:p>
            <a:p>
              <a:pPr algn="r"/>
              <a:r>
                <a:rPr lang="en-US" sz="1600" dirty="0" smtClean="0">
                  <a:solidFill>
                    <a:srgbClr val="FF0000"/>
                  </a:solidFill>
                </a:rPr>
                <a:t>23</a:t>
              </a:r>
            </a:p>
          </p:txBody>
        </p:sp>
      </p:grpSp>
      <p:sp>
        <p:nvSpPr>
          <p:cNvPr id="7" name="Slide Number Placeholder 6"/>
          <p:cNvSpPr>
            <a:spLocks noGrp="1"/>
          </p:cNvSpPr>
          <p:nvPr>
            <p:ph type="sldNum" sz="quarter" idx="12"/>
          </p:nvPr>
        </p:nvSpPr>
        <p:spPr/>
        <p:txBody>
          <a:bodyPr/>
          <a:lstStyle/>
          <a:p>
            <a:fld id="{DA934484-767D-4C48-AF0E-A1438A969E59}" type="slidenum">
              <a:rPr lang="en-US" smtClean="0"/>
              <a:pPr/>
              <a:t>19</a:t>
            </a:fld>
            <a:endParaRPr lang="en-US" dirty="0"/>
          </a:p>
        </p:txBody>
      </p:sp>
      <p:sp>
        <p:nvSpPr>
          <p:cNvPr id="12" name="Rectangle 11"/>
          <p:cNvSpPr/>
          <p:nvPr/>
        </p:nvSpPr>
        <p:spPr>
          <a:xfrm>
            <a:off x="683568" y="5445224"/>
            <a:ext cx="8280920" cy="216024"/>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16365" y="2492896"/>
            <a:ext cx="8280920" cy="432048"/>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3654934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par>
                                <p:cTn id="8" presetID="22" presetClass="entr" presetSubtype="2"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left)">
                                      <p:cBhvr>
                                        <p:cTn id="2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2" grpId="0" animBg="1"/>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smtClean="0">
                <a:solidFill>
                  <a:schemeClr val="accent2"/>
                </a:solidFill>
                <a:latin typeface="Tahoma" charset="0"/>
                <a:cs typeface="Arial" charset="0"/>
              </a:rPr>
              <a:t>10. CODE (2)</a:t>
            </a:r>
            <a:endParaRPr lang="en-US" sz="4000" dirty="0">
              <a:solidFill>
                <a:schemeClr val="accent2"/>
              </a:solidFill>
              <a:latin typeface="Tahoma" charset="0"/>
              <a:cs typeface="Arial" charset="0"/>
            </a:endParaRPr>
          </a:p>
        </p:txBody>
      </p:sp>
      <p:cxnSp>
        <p:nvCxnSpPr>
          <p:cNvPr id="16" name="Straight Connector 15"/>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179512" y="898366"/>
            <a:ext cx="8784976" cy="5755422"/>
            <a:chOff x="258661" y="1236822"/>
            <a:chExt cx="7913739" cy="5755422"/>
          </a:xfrm>
        </p:grpSpPr>
        <p:sp>
          <p:nvSpPr>
            <p:cNvPr id="9" name="TextBox 8"/>
            <p:cNvSpPr txBox="1"/>
            <p:nvPr/>
          </p:nvSpPr>
          <p:spPr>
            <a:xfrm>
              <a:off x="712728" y="1236822"/>
              <a:ext cx="7459672" cy="5755422"/>
            </a:xfrm>
            <a:prstGeom prst="rect">
              <a:avLst/>
            </a:prstGeom>
            <a:solidFill>
              <a:schemeClr val="bg2"/>
            </a:solidFill>
            <a:ln w="28575" cap="rnd" cmpd="thickThin">
              <a:solidFill>
                <a:srgbClr val="0000FF"/>
              </a:solidFill>
            </a:ln>
          </p:spPr>
          <p:txBody>
            <a:bodyPr wrap="square" rtlCol="0">
              <a:spAutoFit/>
            </a:bodyPr>
            <a:lstStyle/>
            <a:p>
              <a:r>
                <a:rPr lang="en-US" sz="1600" dirty="0" smtClean="0">
                  <a:solidFill>
                    <a:srgbClr val="00B050"/>
                  </a:solidFill>
                </a:rPr>
                <a:t>// Input section</a:t>
              </a:r>
            </a:p>
            <a:p>
              <a:r>
                <a:rPr lang="en-US" sz="1600" dirty="0" smtClean="0"/>
                <a:t>              </a:t>
              </a:r>
              <a:r>
                <a:rPr lang="en-US" sz="1600" dirty="0" err="1" smtClean="0">
                  <a:solidFill>
                    <a:srgbClr val="00B0F0"/>
                  </a:solidFill>
                </a:rPr>
                <a:t>System.out.printf</a:t>
              </a:r>
              <a:r>
                <a:rPr lang="en-US" sz="1600" dirty="0" smtClean="0"/>
                <a:t> (“Enter passenger’s class, %c to exit”, </a:t>
              </a:r>
              <a:r>
                <a:rPr lang="en-US" sz="1600" dirty="0" smtClean="0">
                  <a:solidFill>
                    <a:srgbClr val="0000FF"/>
                  </a:solidFill>
                </a:rPr>
                <a:t>SENTINEL</a:t>
              </a:r>
              <a:r>
                <a:rPr lang="en-US" sz="1600" dirty="0" smtClean="0"/>
                <a:t>);</a:t>
              </a:r>
            </a:p>
            <a:p>
              <a:r>
                <a:rPr lang="en-US" sz="1600" dirty="0"/>
                <a:t> </a:t>
              </a:r>
              <a:r>
                <a:rPr lang="en-US" sz="1600" dirty="0" smtClean="0"/>
                <a:t>             </a:t>
              </a:r>
              <a:r>
                <a:rPr lang="en-US" sz="1600" dirty="0" err="1" smtClean="0">
                  <a:solidFill>
                    <a:srgbClr val="0000FF"/>
                  </a:solidFill>
                </a:rPr>
                <a:t>passClass</a:t>
              </a:r>
              <a:r>
                <a:rPr lang="en-US" sz="1600" dirty="0" smtClean="0">
                  <a:solidFill>
                    <a:srgbClr val="0000FF"/>
                  </a:solidFill>
                </a:rPr>
                <a:t> </a:t>
              </a:r>
              <a:r>
                <a:rPr lang="en-US" sz="1600" dirty="0" smtClean="0"/>
                <a:t>=  </a:t>
              </a:r>
              <a:r>
                <a:rPr lang="en-US" sz="1600" dirty="0" err="1" smtClean="0">
                  <a:solidFill>
                    <a:srgbClr val="0000FF"/>
                  </a:solidFill>
                </a:rPr>
                <a:t>read</a:t>
              </a:r>
              <a:r>
                <a:rPr lang="en-US" sz="1600" dirty="0" err="1" smtClean="0"/>
                <a:t>.</a:t>
              </a:r>
              <a:r>
                <a:rPr lang="en-US" sz="1600" dirty="0" err="1" smtClean="0">
                  <a:solidFill>
                    <a:srgbClr val="00B050"/>
                  </a:solidFill>
                </a:rPr>
                <a:t>next</a:t>
              </a:r>
              <a:r>
                <a:rPr lang="en-US" sz="1600" dirty="0" smtClean="0">
                  <a:solidFill>
                    <a:srgbClr val="00B050"/>
                  </a:solidFill>
                </a:rPr>
                <a:t>().</a:t>
              </a:r>
              <a:r>
                <a:rPr lang="en-US" sz="1600" dirty="0" err="1" smtClean="0">
                  <a:solidFill>
                    <a:srgbClr val="00B050"/>
                  </a:solidFill>
                </a:rPr>
                <a:t>charAt</a:t>
              </a:r>
              <a:r>
                <a:rPr lang="en-US" sz="1600" dirty="0" smtClean="0">
                  <a:solidFill>
                    <a:srgbClr val="00B050"/>
                  </a:solidFill>
                </a:rPr>
                <a:t>(0)</a:t>
              </a:r>
              <a:r>
                <a:rPr lang="en-US" sz="1600" dirty="0" smtClean="0"/>
                <a:t>;	</a:t>
              </a:r>
              <a:r>
                <a:rPr lang="en-US" sz="1600" dirty="0" smtClean="0">
                  <a:solidFill>
                    <a:srgbClr val="00B050"/>
                  </a:solidFill>
                </a:rPr>
                <a:t>// read passenger’s class</a:t>
              </a:r>
            </a:p>
            <a:p>
              <a:r>
                <a:rPr lang="en-US" sz="1600" dirty="0">
                  <a:solidFill>
                    <a:srgbClr val="00B050"/>
                  </a:solidFill>
                </a:rPr>
                <a:t> </a:t>
              </a:r>
              <a:r>
                <a:rPr lang="en-US" sz="1600" dirty="0" smtClean="0">
                  <a:solidFill>
                    <a:srgbClr val="00B050"/>
                  </a:solidFill>
                </a:rPr>
                <a:t>         // start looping as long as the </a:t>
              </a:r>
              <a:r>
                <a:rPr lang="en-US" sz="1600" dirty="0" err="1" smtClean="0">
                  <a:solidFill>
                    <a:srgbClr val="00B050"/>
                  </a:solidFill>
                </a:rPr>
                <a:t>passClass</a:t>
              </a:r>
              <a:r>
                <a:rPr lang="en-US" sz="1600" dirty="0" smtClean="0">
                  <a:solidFill>
                    <a:srgbClr val="00B050"/>
                  </a:solidFill>
                </a:rPr>
                <a:t> does not equal the SENTINEL</a:t>
              </a:r>
            </a:p>
            <a:p>
              <a:r>
                <a:rPr lang="en-US" sz="1600" dirty="0">
                  <a:solidFill>
                    <a:srgbClr val="00B050"/>
                  </a:solidFill>
                </a:rPr>
                <a:t> </a:t>
              </a:r>
              <a:r>
                <a:rPr lang="en-US" sz="1600" dirty="0" smtClean="0">
                  <a:solidFill>
                    <a:srgbClr val="00B050"/>
                  </a:solidFill>
                </a:rPr>
                <a:t>             </a:t>
              </a:r>
              <a:r>
                <a:rPr lang="en-US" sz="1600" dirty="0" smtClean="0">
                  <a:solidFill>
                    <a:srgbClr val="00B0F0"/>
                  </a:solidFill>
                </a:rPr>
                <a:t>while </a:t>
              </a:r>
              <a:r>
                <a:rPr lang="en-US" sz="1600" dirty="0" smtClean="0"/>
                <a:t>(</a:t>
              </a:r>
              <a:r>
                <a:rPr lang="en-US" sz="1600" dirty="0" err="1" smtClean="0">
                  <a:solidFill>
                    <a:srgbClr val="0000FF"/>
                  </a:solidFill>
                </a:rPr>
                <a:t>passClass</a:t>
              </a:r>
              <a:r>
                <a:rPr lang="en-US" sz="1600" dirty="0" smtClean="0">
                  <a:solidFill>
                    <a:srgbClr val="0000FF"/>
                  </a:solidFill>
                </a:rPr>
                <a:t> </a:t>
              </a:r>
              <a:r>
                <a:rPr lang="en-US" sz="1600" dirty="0" smtClean="0"/>
                <a:t>!= </a:t>
              </a:r>
              <a:r>
                <a:rPr lang="en-US" sz="1600" dirty="0" smtClean="0">
                  <a:solidFill>
                    <a:srgbClr val="0000FF"/>
                  </a:solidFill>
                </a:rPr>
                <a:t>SENTINEL</a:t>
              </a:r>
              <a:r>
                <a:rPr lang="en-US" sz="1600" dirty="0" smtClean="0"/>
                <a:t>)</a:t>
              </a:r>
            </a:p>
            <a:p>
              <a:r>
                <a:rPr lang="en-US" sz="1600" dirty="0">
                  <a:solidFill>
                    <a:srgbClr val="00B050"/>
                  </a:solidFill>
                </a:rPr>
                <a:t> </a:t>
              </a:r>
              <a:r>
                <a:rPr lang="en-US" sz="1600" dirty="0" smtClean="0">
                  <a:solidFill>
                    <a:srgbClr val="00B050"/>
                  </a:solidFill>
                </a:rPr>
                <a:t>                </a:t>
              </a:r>
              <a:r>
                <a:rPr lang="en-US" sz="1600" dirty="0" smtClean="0"/>
                <a:t>{ </a:t>
              </a:r>
              <a:r>
                <a:rPr lang="en-US" sz="1600" dirty="0" smtClean="0">
                  <a:solidFill>
                    <a:srgbClr val="0000FF"/>
                  </a:solidFill>
                </a:rPr>
                <a:t>charge </a:t>
              </a:r>
              <a:r>
                <a:rPr lang="en-US" sz="1600" dirty="0" smtClean="0"/>
                <a:t>= -1;</a:t>
              </a:r>
            </a:p>
            <a:p>
              <a:r>
                <a:rPr lang="en-US" sz="1600" dirty="0">
                  <a:solidFill>
                    <a:srgbClr val="00B050"/>
                  </a:solidFill>
                </a:rPr>
                <a:t> </a:t>
              </a:r>
              <a:r>
                <a:rPr lang="en-US" sz="1600" dirty="0" smtClean="0">
                  <a:solidFill>
                    <a:srgbClr val="00B050"/>
                  </a:solidFill>
                </a:rPr>
                <a:t>                </a:t>
              </a:r>
              <a:r>
                <a:rPr lang="en-US" sz="1600" dirty="0" smtClean="0"/>
                <a:t>  </a:t>
              </a:r>
              <a:r>
                <a:rPr lang="en-US" sz="1600" dirty="0" err="1" smtClean="0">
                  <a:solidFill>
                    <a:srgbClr val="00B0F0"/>
                  </a:solidFill>
                </a:rPr>
                <a:t>System.out.print</a:t>
              </a:r>
              <a:r>
                <a:rPr lang="en-US" sz="1600" dirty="0" smtClean="0">
                  <a:solidFill>
                    <a:srgbClr val="00B0F0"/>
                  </a:solidFill>
                </a:rPr>
                <a:t> </a:t>
              </a:r>
              <a:r>
                <a:rPr lang="en-US" sz="1600" dirty="0" smtClean="0"/>
                <a:t>(“Please enter bag weight”);</a:t>
              </a:r>
            </a:p>
            <a:p>
              <a:r>
                <a:rPr lang="en-US" sz="1600" dirty="0">
                  <a:solidFill>
                    <a:srgbClr val="00B050"/>
                  </a:solidFill>
                </a:rPr>
                <a:t> </a:t>
              </a:r>
              <a:r>
                <a:rPr lang="en-US" sz="1600" dirty="0" smtClean="0">
                  <a:solidFill>
                    <a:srgbClr val="00B050"/>
                  </a:solidFill>
                </a:rPr>
                <a:t>                  </a:t>
              </a:r>
              <a:r>
                <a:rPr lang="en-US" sz="1600" dirty="0" err="1" smtClean="0">
                  <a:solidFill>
                    <a:srgbClr val="0000FF"/>
                  </a:solidFill>
                </a:rPr>
                <a:t>bagWeight</a:t>
              </a:r>
              <a:r>
                <a:rPr lang="en-US" sz="1600" dirty="0" smtClean="0">
                  <a:solidFill>
                    <a:srgbClr val="0000FF"/>
                  </a:solidFill>
                </a:rPr>
                <a:t> </a:t>
              </a:r>
              <a:r>
                <a:rPr lang="en-US" sz="1600" dirty="0" smtClean="0">
                  <a:solidFill>
                    <a:srgbClr val="00B050"/>
                  </a:solidFill>
                </a:rPr>
                <a:t>= </a:t>
              </a:r>
              <a:r>
                <a:rPr lang="en-US" sz="1600" dirty="0" err="1" smtClean="0">
                  <a:solidFill>
                    <a:srgbClr val="0000FF"/>
                  </a:solidFill>
                </a:rPr>
                <a:t>read</a:t>
              </a:r>
              <a:r>
                <a:rPr lang="en-US" sz="1600" dirty="0" err="1" smtClean="0">
                  <a:solidFill>
                    <a:srgbClr val="00B050"/>
                  </a:solidFill>
                </a:rPr>
                <a:t>.nextDouble</a:t>
              </a:r>
              <a:r>
                <a:rPr lang="en-US" sz="1600" dirty="0" smtClean="0">
                  <a:solidFill>
                    <a:srgbClr val="00B050"/>
                  </a:solidFill>
                </a:rPr>
                <a:t>();</a:t>
              </a:r>
            </a:p>
            <a:p>
              <a:r>
                <a:rPr lang="en-US" sz="1600" dirty="0">
                  <a:solidFill>
                    <a:srgbClr val="00B050"/>
                  </a:solidFill>
                </a:rPr>
                <a:t> </a:t>
              </a:r>
              <a:r>
                <a:rPr lang="en-US" sz="1600" dirty="0" smtClean="0">
                  <a:solidFill>
                    <a:srgbClr val="00B050"/>
                  </a:solidFill>
                </a:rPr>
                <a:t>                  </a:t>
              </a:r>
              <a:r>
                <a:rPr lang="en-US" sz="1600" dirty="0" smtClean="0">
                  <a:solidFill>
                    <a:srgbClr val="00B0F0"/>
                  </a:solidFill>
                </a:rPr>
                <a:t>switch </a:t>
              </a:r>
              <a:r>
                <a:rPr lang="en-US" sz="1600" dirty="0" smtClean="0"/>
                <a:t>(</a:t>
              </a:r>
              <a:r>
                <a:rPr lang="en-US" sz="1600" dirty="0" err="1" smtClean="0">
                  <a:solidFill>
                    <a:srgbClr val="0000FF"/>
                  </a:solidFill>
                </a:rPr>
                <a:t>passClass</a:t>
              </a:r>
              <a:r>
                <a:rPr lang="en-US" sz="1600" dirty="0" smtClean="0"/>
                <a:t>)</a:t>
              </a:r>
            </a:p>
            <a:p>
              <a:r>
                <a:rPr lang="en-US" sz="1600" dirty="0"/>
                <a:t> </a:t>
              </a:r>
              <a:r>
                <a:rPr lang="en-US" sz="1600" dirty="0" smtClean="0"/>
                <a:t>                    {</a:t>
              </a:r>
            </a:p>
            <a:p>
              <a:r>
                <a:rPr lang="en-US" sz="1600" dirty="0"/>
                <a:t> </a:t>
              </a:r>
              <a:r>
                <a:rPr lang="en-US" sz="1600" dirty="0" smtClean="0"/>
                <a:t>                      ---</a:t>
              </a:r>
            </a:p>
            <a:p>
              <a:r>
                <a:rPr lang="en-US" sz="1600" dirty="0"/>
                <a:t> </a:t>
              </a:r>
              <a:r>
                <a:rPr lang="en-US" sz="1600" dirty="0" smtClean="0"/>
                <a:t>                    } </a:t>
              </a:r>
              <a:r>
                <a:rPr lang="en-US" sz="1600" dirty="0" smtClean="0">
                  <a:solidFill>
                    <a:srgbClr val="00B050"/>
                  </a:solidFill>
                </a:rPr>
                <a:t>//end switch</a:t>
              </a:r>
            </a:p>
            <a:p>
              <a:r>
                <a:rPr lang="en-US" sz="1600" dirty="0">
                  <a:solidFill>
                    <a:srgbClr val="00B050"/>
                  </a:solidFill>
                </a:rPr>
                <a:t> </a:t>
              </a:r>
              <a:r>
                <a:rPr lang="en-US" sz="1600" dirty="0" smtClean="0">
                  <a:solidFill>
                    <a:srgbClr val="00B050"/>
                  </a:solidFill>
                </a:rPr>
                <a:t>                  //output section</a:t>
              </a:r>
            </a:p>
            <a:p>
              <a:r>
                <a:rPr lang="en-US" sz="1600" dirty="0">
                  <a:solidFill>
                    <a:srgbClr val="00B050"/>
                  </a:solidFill>
                </a:rPr>
                <a:t> </a:t>
              </a:r>
              <a:r>
                <a:rPr lang="en-US" sz="1600" dirty="0" smtClean="0">
                  <a:solidFill>
                    <a:srgbClr val="00B050"/>
                  </a:solidFill>
                </a:rPr>
                <a:t>                      </a:t>
              </a:r>
              <a:r>
                <a:rPr lang="en-US" sz="1600" dirty="0" smtClean="0">
                  <a:solidFill>
                    <a:srgbClr val="00B0F0"/>
                  </a:solidFill>
                </a:rPr>
                <a:t>if</a:t>
              </a:r>
              <a:r>
                <a:rPr lang="en-US" sz="1600" dirty="0" smtClean="0">
                  <a:solidFill>
                    <a:srgbClr val="00B050"/>
                  </a:solidFill>
                </a:rPr>
                <a:t> </a:t>
              </a:r>
              <a:r>
                <a:rPr lang="en-US" sz="1600" dirty="0" smtClean="0"/>
                <a:t>(</a:t>
              </a:r>
              <a:r>
                <a:rPr lang="en-US" sz="1600" dirty="0" smtClean="0">
                  <a:solidFill>
                    <a:srgbClr val="0000FF"/>
                  </a:solidFill>
                </a:rPr>
                <a:t>charge </a:t>
              </a:r>
              <a:r>
                <a:rPr lang="en-US" sz="1600" dirty="0" smtClean="0"/>
                <a:t>!= -1)</a:t>
              </a:r>
            </a:p>
            <a:p>
              <a:r>
                <a:rPr lang="en-US" sz="1600" dirty="0">
                  <a:solidFill>
                    <a:srgbClr val="00B050"/>
                  </a:solidFill>
                </a:rPr>
                <a:t> </a:t>
              </a:r>
              <a:r>
                <a:rPr lang="en-US" sz="1600" dirty="0" smtClean="0">
                  <a:solidFill>
                    <a:srgbClr val="00B050"/>
                  </a:solidFill>
                </a:rPr>
                <a:t>                         </a:t>
              </a:r>
              <a:r>
                <a:rPr lang="en-US" sz="1600" dirty="0" err="1" smtClean="0">
                  <a:solidFill>
                    <a:srgbClr val="00B0F0"/>
                  </a:solidFill>
                </a:rPr>
                <a:t>System.out.printf</a:t>
              </a:r>
              <a:r>
                <a:rPr lang="en-US" sz="1600" dirty="0" smtClean="0">
                  <a:solidFill>
                    <a:srgbClr val="00B0F0"/>
                  </a:solidFill>
                </a:rPr>
                <a:t> </a:t>
              </a:r>
              <a:r>
                <a:rPr lang="en-US" sz="1600" dirty="0" smtClean="0"/>
                <a:t>(“Charge = %5f”, </a:t>
              </a:r>
              <a:r>
                <a:rPr lang="en-US" sz="1600" dirty="0" smtClean="0">
                  <a:solidFill>
                    <a:srgbClr val="0000FF"/>
                  </a:solidFill>
                </a:rPr>
                <a:t>charge</a:t>
              </a:r>
              <a:r>
                <a:rPr lang="en-US" sz="1600" dirty="0" smtClean="0"/>
                <a:t>);</a:t>
              </a:r>
            </a:p>
            <a:p>
              <a:r>
                <a:rPr lang="en-US" sz="1600" dirty="0">
                  <a:solidFill>
                    <a:srgbClr val="00B050"/>
                  </a:solidFill>
                </a:rPr>
                <a:t> </a:t>
              </a:r>
              <a:r>
                <a:rPr lang="en-US" sz="1600" dirty="0" smtClean="0">
                  <a:solidFill>
                    <a:srgbClr val="00B050"/>
                  </a:solidFill>
                </a:rPr>
                <a:t>                  //process next passenger</a:t>
              </a:r>
            </a:p>
            <a:p>
              <a:r>
                <a:rPr lang="en-US" sz="1600" dirty="0"/>
                <a:t> </a:t>
              </a:r>
              <a:r>
                <a:rPr lang="en-US" sz="1600" dirty="0" smtClean="0"/>
                <a:t>                  </a:t>
              </a:r>
              <a:r>
                <a:rPr lang="en-US" sz="1600" dirty="0" err="1" smtClean="0">
                  <a:solidFill>
                    <a:srgbClr val="00B0F0"/>
                  </a:solidFill>
                </a:rPr>
                <a:t>System.out.print</a:t>
              </a:r>
              <a:r>
                <a:rPr lang="en-US" sz="1600" dirty="0" smtClean="0"/>
                <a:t> </a:t>
              </a:r>
              <a:r>
                <a:rPr lang="en-US" sz="1600" dirty="0"/>
                <a:t>(“Please enter </a:t>
              </a:r>
              <a:r>
                <a:rPr lang="en-US" sz="1600" dirty="0" smtClean="0"/>
                <a:t>next passenger’s class, %c to exit”, </a:t>
              </a:r>
              <a:r>
                <a:rPr lang="en-US" sz="1600" dirty="0" smtClean="0">
                  <a:solidFill>
                    <a:srgbClr val="0000FF"/>
                  </a:solidFill>
                </a:rPr>
                <a:t>SENTINEL</a:t>
              </a:r>
              <a:r>
                <a:rPr lang="en-US" sz="1600" dirty="0" smtClean="0"/>
                <a:t>);</a:t>
              </a:r>
              <a:endParaRPr lang="en-US" sz="1600" dirty="0"/>
            </a:p>
            <a:p>
              <a:r>
                <a:rPr lang="en-US" sz="1600" dirty="0"/>
                <a:t>              </a:t>
              </a:r>
              <a:r>
                <a:rPr lang="en-US" sz="1600" dirty="0" smtClean="0"/>
                <a:t>     </a:t>
              </a:r>
              <a:r>
                <a:rPr lang="en-US" sz="1600" dirty="0" err="1" smtClean="0">
                  <a:solidFill>
                    <a:srgbClr val="0000FF"/>
                  </a:solidFill>
                </a:rPr>
                <a:t>passClass</a:t>
              </a:r>
              <a:r>
                <a:rPr lang="en-US" sz="1600" dirty="0" smtClean="0">
                  <a:solidFill>
                    <a:srgbClr val="0000FF"/>
                  </a:solidFill>
                </a:rPr>
                <a:t> </a:t>
              </a:r>
              <a:r>
                <a:rPr lang="en-US" sz="1600" dirty="0"/>
                <a:t>=  </a:t>
              </a:r>
              <a:r>
                <a:rPr lang="en-US" sz="1600" dirty="0" err="1">
                  <a:solidFill>
                    <a:srgbClr val="0000FF"/>
                  </a:solidFill>
                </a:rPr>
                <a:t>read</a:t>
              </a:r>
              <a:r>
                <a:rPr lang="en-US" sz="1600" dirty="0" err="1"/>
                <a:t>.</a:t>
              </a:r>
              <a:r>
                <a:rPr lang="en-US" sz="1600" dirty="0" err="1">
                  <a:solidFill>
                    <a:srgbClr val="00B050"/>
                  </a:solidFill>
                </a:rPr>
                <a:t>next</a:t>
              </a:r>
              <a:r>
                <a:rPr lang="en-US" sz="1600" dirty="0">
                  <a:solidFill>
                    <a:srgbClr val="00B050"/>
                  </a:solidFill>
                </a:rPr>
                <a:t>().</a:t>
              </a:r>
              <a:r>
                <a:rPr lang="en-US" sz="1600" dirty="0" err="1">
                  <a:solidFill>
                    <a:srgbClr val="00B050"/>
                  </a:solidFill>
                </a:rPr>
                <a:t>charAt</a:t>
              </a:r>
              <a:r>
                <a:rPr lang="en-US" sz="1600" dirty="0">
                  <a:solidFill>
                    <a:srgbClr val="00B050"/>
                  </a:solidFill>
                </a:rPr>
                <a:t>(0)</a:t>
              </a:r>
              <a:r>
                <a:rPr lang="en-US" sz="1600" dirty="0"/>
                <a:t>;	</a:t>
              </a:r>
              <a:r>
                <a:rPr lang="en-US" sz="1600" dirty="0">
                  <a:solidFill>
                    <a:srgbClr val="00B050"/>
                  </a:solidFill>
                </a:rPr>
                <a:t>// read passenger’s </a:t>
              </a:r>
              <a:r>
                <a:rPr lang="en-US" sz="1600" dirty="0" smtClean="0">
                  <a:solidFill>
                    <a:srgbClr val="00B050"/>
                  </a:solidFill>
                </a:rPr>
                <a:t>class</a:t>
              </a:r>
            </a:p>
            <a:p>
              <a:r>
                <a:rPr lang="en-US" sz="1600" dirty="0">
                  <a:solidFill>
                    <a:srgbClr val="00B050"/>
                  </a:solidFill>
                </a:rPr>
                <a:t> </a:t>
              </a:r>
              <a:r>
                <a:rPr lang="en-US" sz="1600" dirty="0" smtClean="0">
                  <a:solidFill>
                    <a:srgbClr val="00B050"/>
                  </a:solidFill>
                </a:rPr>
                <a:t>                </a:t>
              </a:r>
              <a:r>
                <a:rPr lang="en-US" sz="1600" dirty="0" smtClean="0"/>
                <a:t>} </a:t>
              </a:r>
              <a:r>
                <a:rPr lang="en-US" sz="1600" dirty="0" smtClean="0">
                  <a:solidFill>
                    <a:srgbClr val="00B050"/>
                  </a:solidFill>
                </a:rPr>
                <a:t>// end while </a:t>
              </a:r>
            </a:p>
            <a:p>
              <a:r>
                <a:rPr lang="en-US" sz="1600" dirty="0">
                  <a:solidFill>
                    <a:srgbClr val="00B050"/>
                  </a:solidFill>
                </a:rPr>
                <a:t> </a:t>
              </a:r>
              <a:r>
                <a:rPr lang="en-US" sz="1600" dirty="0" smtClean="0">
                  <a:solidFill>
                    <a:srgbClr val="00B050"/>
                  </a:solidFill>
                </a:rPr>
                <a:t>              </a:t>
              </a:r>
              <a:r>
                <a:rPr lang="en-US" sz="1600" dirty="0" err="1" smtClean="0">
                  <a:solidFill>
                    <a:srgbClr val="00B0F0"/>
                  </a:solidFill>
                </a:rPr>
                <a:t>System.out.println</a:t>
              </a:r>
              <a:r>
                <a:rPr lang="en-US" sz="1600" dirty="0" smtClean="0">
                  <a:solidFill>
                    <a:srgbClr val="00B0F0"/>
                  </a:solidFill>
                </a:rPr>
                <a:t> </a:t>
              </a:r>
              <a:r>
                <a:rPr lang="en-US" sz="1600" dirty="0" smtClean="0"/>
                <a:t>(“End of program”);</a:t>
              </a:r>
            </a:p>
            <a:p>
              <a:r>
                <a:rPr lang="en-US" sz="1600" dirty="0">
                  <a:solidFill>
                    <a:srgbClr val="00B050"/>
                  </a:solidFill>
                </a:rPr>
                <a:t> </a:t>
              </a:r>
              <a:r>
                <a:rPr lang="en-US" sz="1600" dirty="0" smtClean="0">
                  <a:solidFill>
                    <a:srgbClr val="00B050"/>
                  </a:solidFill>
                </a:rPr>
                <a:t>  } //end main</a:t>
              </a:r>
            </a:p>
            <a:p>
              <a:r>
                <a:rPr lang="en-US" sz="1600" dirty="0" smtClean="0">
                  <a:solidFill>
                    <a:srgbClr val="00B050"/>
                  </a:solidFill>
                </a:rPr>
                <a:t>} end class                   </a:t>
              </a:r>
            </a:p>
          </p:txBody>
        </p:sp>
        <p:sp>
          <p:nvSpPr>
            <p:cNvPr id="10" name="TextBox 9"/>
            <p:cNvSpPr txBox="1"/>
            <p:nvPr/>
          </p:nvSpPr>
          <p:spPr>
            <a:xfrm>
              <a:off x="258661" y="1236822"/>
              <a:ext cx="454067" cy="5755422"/>
            </a:xfrm>
            <a:prstGeom prst="rect">
              <a:avLst/>
            </a:prstGeom>
            <a:noFill/>
          </p:spPr>
          <p:txBody>
            <a:bodyPr wrap="square" rtlCol="0">
              <a:spAutoFit/>
            </a:bodyPr>
            <a:lstStyle/>
            <a:p>
              <a:pPr algn="r"/>
              <a:r>
                <a:rPr lang="en-US" sz="1600" dirty="0" smtClean="0">
                  <a:solidFill>
                    <a:srgbClr val="FF0000"/>
                  </a:solidFill>
                </a:rPr>
                <a:t>16</a:t>
              </a:r>
            </a:p>
            <a:p>
              <a:pPr algn="r"/>
              <a:r>
                <a:rPr lang="en-US" sz="1600" dirty="0" smtClean="0">
                  <a:solidFill>
                    <a:srgbClr val="FF0000"/>
                  </a:solidFill>
                </a:rPr>
                <a:t>17</a:t>
              </a:r>
            </a:p>
            <a:p>
              <a:pPr algn="r"/>
              <a:r>
                <a:rPr lang="en-US" sz="1600" dirty="0" smtClean="0">
                  <a:solidFill>
                    <a:srgbClr val="FF0000"/>
                  </a:solidFill>
                </a:rPr>
                <a:t>18</a:t>
              </a:r>
            </a:p>
            <a:p>
              <a:pPr algn="r"/>
              <a:r>
                <a:rPr lang="en-US" sz="1600" dirty="0" smtClean="0">
                  <a:solidFill>
                    <a:srgbClr val="FF0000"/>
                  </a:solidFill>
                </a:rPr>
                <a:t>19</a:t>
              </a:r>
            </a:p>
            <a:p>
              <a:pPr algn="r"/>
              <a:r>
                <a:rPr lang="en-US" sz="1600" dirty="0" smtClean="0">
                  <a:solidFill>
                    <a:srgbClr val="FF0000"/>
                  </a:solidFill>
                </a:rPr>
                <a:t>20</a:t>
              </a:r>
            </a:p>
            <a:p>
              <a:pPr algn="r"/>
              <a:r>
                <a:rPr lang="en-US" sz="1600" dirty="0" smtClean="0">
                  <a:solidFill>
                    <a:srgbClr val="FF0000"/>
                  </a:solidFill>
                </a:rPr>
                <a:t>21</a:t>
              </a:r>
            </a:p>
            <a:p>
              <a:pPr algn="r"/>
              <a:r>
                <a:rPr lang="en-US" sz="1600" dirty="0" smtClean="0">
                  <a:solidFill>
                    <a:srgbClr val="FF0000"/>
                  </a:solidFill>
                </a:rPr>
                <a:t>22</a:t>
              </a:r>
            </a:p>
            <a:p>
              <a:pPr algn="r"/>
              <a:r>
                <a:rPr lang="en-US" sz="1600" dirty="0" smtClean="0">
                  <a:solidFill>
                    <a:srgbClr val="FF0000"/>
                  </a:solidFill>
                </a:rPr>
                <a:t>23</a:t>
              </a:r>
            </a:p>
            <a:p>
              <a:pPr algn="r"/>
              <a:r>
                <a:rPr lang="en-US" sz="1600" dirty="0" smtClean="0">
                  <a:solidFill>
                    <a:srgbClr val="FF0000"/>
                  </a:solidFill>
                </a:rPr>
                <a:t>25</a:t>
              </a:r>
            </a:p>
            <a:p>
              <a:pPr algn="r"/>
              <a:r>
                <a:rPr lang="en-US" sz="1600" dirty="0" smtClean="0">
                  <a:solidFill>
                    <a:srgbClr val="FF0000"/>
                  </a:solidFill>
                </a:rPr>
                <a:t>26</a:t>
              </a:r>
            </a:p>
            <a:p>
              <a:pPr algn="r"/>
              <a:r>
                <a:rPr lang="en-US" sz="1600" dirty="0" smtClean="0">
                  <a:solidFill>
                    <a:srgbClr val="FF0000"/>
                  </a:solidFill>
                </a:rPr>
                <a:t>--</a:t>
              </a:r>
            </a:p>
            <a:p>
              <a:pPr algn="r"/>
              <a:r>
                <a:rPr lang="en-US" sz="1600" dirty="0" smtClean="0">
                  <a:solidFill>
                    <a:srgbClr val="FF0000"/>
                  </a:solidFill>
                </a:rPr>
                <a:t>41</a:t>
              </a:r>
            </a:p>
            <a:p>
              <a:pPr algn="r"/>
              <a:r>
                <a:rPr lang="en-US" sz="1600" dirty="0" smtClean="0">
                  <a:solidFill>
                    <a:srgbClr val="FF0000"/>
                  </a:solidFill>
                </a:rPr>
                <a:t>42</a:t>
              </a:r>
            </a:p>
            <a:p>
              <a:pPr algn="r"/>
              <a:r>
                <a:rPr lang="en-US" sz="1600" dirty="0" smtClean="0">
                  <a:solidFill>
                    <a:srgbClr val="FF0000"/>
                  </a:solidFill>
                </a:rPr>
                <a:t>43</a:t>
              </a:r>
            </a:p>
            <a:p>
              <a:pPr algn="r"/>
              <a:r>
                <a:rPr lang="en-US" sz="1600" dirty="0" smtClean="0">
                  <a:solidFill>
                    <a:srgbClr val="FF0000"/>
                  </a:solidFill>
                </a:rPr>
                <a:t>44</a:t>
              </a:r>
            </a:p>
            <a:p>
              <a:pPr algn="r"/>
              <a:r>
                <a:rPr lang="en-US" sz="1600" dirty="0" smtClean="0">
                  <a:solidFill>
                    <a:srgbClr val="FF0000"/>
                  </a:solidFill>
                </a:rPr>
                <a:t>45</a:t>
              </a:r>
            </a:p>
            <a:p>
              <a:pPr algn="r"/>
              <a:r>
                <a:rPr lang="en-US" sz="1600" dirty="0" smtClean="0">
                  <a:solidFill>
                    <a:srgbClr val="FF0000"/>
                  </a:solidFill>
                </a:rPr>
                <a:t>46</a:t>
              </a:r>
            </a:p>
            <a:p>
              <a:pPr algn="r"/>
              <a:endParaRPr lang="en-US" sz="1600" dirty="0" smtClean="0">
                <a:solidFill>
                  <a:srgbClr val="FF0000"/>
                </a:solidFill>
              </a:endParaRPr>
            </a:p>
            <a:p>
              <a:pPr algn="r"/>
              <a:r>
                <a:rPr lang="en-US" sz="1600" dirty="0" smtClean="0">
                  <a:solidFill>
                    <a:srgbClr val="FF0000"/>
                  </a:solidFill>
                </a:rPr>
                <a:t>47</a:t>
              </a:r>
            </a:p>
            <a:p>
              <a:pPr algn="r"/>
              <a:r>
                <a:rPr lang="en-US" sz="1600" dirty="0" smtClean="0">
                  <a:solidFill>
                    <a:srgbClr val="FF0000"/>
                  </a:solidFill>
                </a:rPr>
                <a:t>48</a:t>
              </a:r>
            </a:p>
            <a:p>
              <a:pPr algn="r"/>
              <a:r>
                <a:rPr lang="en-US" sz="1600" dirty="0" smtClean="0">
                  <a:solidFill>
                    <a:srgbClr val="FF0000"/>
                  </a:solidFill>
                </a:rPr>
                <a:t>49</a:t>
              </a:r>
            </a:p>
            <a:p>
              <a:pPr algn="r"/>
              <a:r>
                <a:rPr lang="en-US" sz="1600" dirty="0" smtClean="0">
                  <a:solidFill>
                    <a:srgbClr val="FF0000"/>
                  </a:solidFill>
                </a:rPr>
                <a:t>50</a:t>
              </a:r>
            </a:p>
            <a:p>
              <a:pPr algn="r"/>
              <a:r>
                <a:rPr lang="en-US" sz="1600" dirty="0" smtClean="0">
                  <a:solidFill>
                    <a:srgbClr val="FF0000"/>
                  </a:solidFill>
                </a:rPr>
                <a:t>51</a:t>
              </a:r>
            </a:p>
          </p:txBody>
        </p:sp>
      </p:grpSp>
      <p:sp>
        <p:nvSpPr>
          <p:cNvPr id="7" name="Slide Number Placeholder 6"/>
          <p:cNvSpPr>
            <a:spLocks noGrp="1"/>
          </p:cNvSpPr>
          <p:nvPr>
            <p:ph type="sldNum" sz="quarter" idx="12"/>
          </p:nvPr>
        </p:nvSpPr>
        <p:spPr/>
        <p:txBody>
          <a:bodyPr/>
          <a:lstStyle/>
          <a:p>
            <a:fld id="{DA934484-767D-4C48-AF0E-A1438A969E59}" type="slidenum">
              <a:rPr lang="en-US" smtClean="0"/>
              <a:pPr/>
              <a:t>20</a:t>
            </a:fld>
            <a:endParaRPr lang="en-US" dirty="0"/>
          </a:p>
        </p:txBody>
      </p:sp>
      <p:sp>
        <p:nvSpPr>
          <p:cNvPr id="13" name="Rectangle 12"/>
          <p:cNvSpPr/>
          <p:nvPr/>
        </p:nvSpPr>
        <p:spPr>
          <a:xfrm>
            <a:off x="683568" y="1906478"/>
            <a:ext cx="8280920" cy="216024"/>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Callout 13"/>
          <p:cNvSpPr/>
          <p:nvPr/>
        </p:nvSpPr>
        <p:spPr>
          <a:xfrm>
            <a:off x="6228184" y="2014490"/>
            <a:ext cx="2736304" cy="900100"/>
          </a:xfrm>
          <a:prstGeom prst="wedgeEllipseCallout">
            <a:avLst>
              <a:gd name="adj1" fmla="val -98490"/>
              <a:gd name="adj2" fmla="val -50178"/>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solidFill>
                  <a:srgbClr val="0000FF"/>
                </a:solidFill>
              </a:rPr>
              <a:t>passClass</a:t>
            </a:r>
            <a:r>
              <a:rPr lang="en-US" dirty="0" smtClean="0">
                <a:solidFill>
                  <a:srgbClr val="0000FF"/>
                </a:solidFill>
              </a:rPr>
              <a:t> is the loop control variable</a:t>
            </a:r>
            <a:endParaRPr lang="en-US" dirty="0">
              <a:solidFill>
                <a:srgbClr val="00B0F0"/>
              </a:solidFill>
            </a:endParaRPr>
          </a:p>
        </p:txBody>
      </p:sp>
      <p:sp>
        <p:nvSpPr>
          <p:cNvPr id="17" name="Rectangle 16"/>
          <p:cNvSpPr/>
          <p:nvPr/>
        </p:nvSpPr>
        <p:spPr>
          <a:xfrm>
            <a:off x="683568" y="1126360"/>
            <a:ext cx="8280920" cy="504056"/>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Callout 17"/>
          <p:cNvSpPr/>
          <p:nvPr/>
        </p:nvSpPr>
        <p:spPr>
          <a:xfrm>
            <a:off x="4591845" y="214290"/>
            <a:ext cx="3923928" cy="900100"/>
          </a:xfrm>
          <a:prstGeom prst="wedgeEllipseCallout">
            <a:avLst>
              <a:gd name="adj1" fmla="val -34073"/>
              <a:gd name="adj2" fmla="val 98685"/>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solidFill>
                  <a:srgbClr val="0000FF"/>
                </a:solidFill>
              </a:rPr>
              <a:t>passClass</a:t>
            </a:r>
            <a:r>
              <a:rPr lang="en-US" dirty="0" smtClean="0">
                <a:solidFill>
                  <a:srgbClr val="0000FF"/>
                </a:solidFill>
              </a:rPr>
              <a:t> has a value before starting the loop</a:t>
            </a:r>
            <a:endParaRPr lang="en-US" dirty="0">
              <a:solidFill>
                <a:srgbClr val="00B0F0"/>
              </a:solidFill>
            </a:endParaRPr>
          </a:p>
        </p:txBody>
      </p:sp>
      <p:sp>
        <p:nvSpPr>
          <p:cNvPr id="19" name="Rectangle 18"/>
          <p:cNvSpPr/>
          <p:nvPr/>
        </p:nvSpPr>
        <p:spPr>
          <a:xfrm>
            <a:off x="659585" y="4273622"/>
            <a:ext cx="8280920" cy="504056"/>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Callout 19"/>
          <p:cNvSpPr/>
          <p:nvPr/>
        </p:nvSpPr>
        <p:spPr>
          <a:xfrm>
            <a:off x="5040560" y="2914590"/>
            <a:ext cx="3923928" cy="1152128"/>
          </a:xfrm>
          <a:prstGeom prst="wedgeEllipseCallout">
            <a:avLst>
              <a:gd name="adj1" fmla="val -33381"/>
              <a:gd name="adj2" fmla="val 120216"/>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0000FF"/>
                </a:solidFill>
              </a:rPr>
              <a:t>Update the value of </a:t>
            </a:r>
            <a:r>
              <a:rPr lang="en-US" dirty="0" err="1" smtClean="0">
                <a:solidFill>
                  <a:srgbClr val="0000FF"/>
                </a:solidFill>
              </a:rPr>
              <a:t>passClass</a:t>
            </a:r>
            <a:r>
              <a:rPr lang="en-US" dirty="0" smtClean="0">
                <a:solidFill>
                  <a:srgbClr val="0000FF"/>
                </a:solidFill>
              </a:rPr>
              <a:t> in each iteration AT THE END OF THE LOOP</a:t>
            </a:r>
            <a:endParaRPr lang="en-US" dirty="0">
              <a:solidFill>
                <a:srgbClr val="00B0F0"/>
              </a:solidFill>
            </a:endParaRPr>
          </a:p>
        </p:txBody>
      </p:sp>
    </p:spTree>
    <p:extLst>
      <p:ext uri="{BB962C8B-B14F-4D97-AF65-F5344CB8AC3E}">
        <p14:creationId xmlns:p14="http://schemas.microsoft.com/office/powerpoint/2010/main" xmlns="" val="3346120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par>
                                <p:cTn id="8" presetID="22" presetClass="entr" presetSubtype="2"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500"/>
                            </p:stCondLst>
                            <p:childTnLst>
                              <p:par>
                                <p:cTn id="17" presetID="53" presetClass="entr" presetSubtype="16"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animEffect transition="in" filter="fade">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left)">
                                      <p:cBhvr>
                                        <p:cTn id="26" dur="500"/>
                                        <p:tgtEl>
                                          <p:spTgt spid="17"/>
                                        </p:tgtEl>
                                      </p:cBhvr>
                                    </p:animEffect>
                                  </p:childTnLst>
                                </p:cTn>
                              </p:par>
                            </p:childTnLst>
                          </p:cTn>
                        </p:par>
                        <p:par>
                          <p:cTn id="27" fill="hold">
                            <p:stCondLst>
                              <p:cond delay="500"/>
                            </p:stCondLst>
                            <p:childTnLst>
                              <p:par>
                                <p:cTn id="28" presetID="53" presetClass="entr" presetSubtype="16" fill="hold" grpId="0" nodeType="afterEffect">
                                  <p:stCondLst>
                                    <p:cond delay="0"/>
                                  </p:stCondLst>
                                  <p:childTnLst>
                                    <p:set>
                                      <p:cBhvr>
                                        <p:cTn id="29" dur="1" fill="hold">
                                          <p:stCondLst>
                                            <p:cond delay="0"/>
                                          </p:stCondLst>
                                        </p:cTn>
                                        <p:tgtEl>
                                          <p:spTgt spid="18"/>
                                        </p:tgtEl>
                                        <p:attrNameLst>
                                          <p:attrName>style.visibility</p:attrName>
                                        </p:attrNameLst>
                                      </p:cBhvr>
                                      <p:to>
                                        <p:strVal val="visible"/>
                                      </p:to>
                                    </p:set>
                                    <p:anim calcmode="lin" valueType="num">
                                      <p:cBhvr>
                                        <p:cTn id="30" dur="500" fill="hold"/>
                                        <p:tgtEl>
                                          <p:spTgt spid="18"/>
                                        </p:tgtEl>
                                        <p:attrNameLst>
                                          <p:attrName>ppt_w</p:attrName>
                                        </p:attrNameLst>
                                      </p:cBhvr>
                                      <p:tavLst>
                                        <p:tav tm="0">
                                          <p:val>
                                            <p:fltVal val="0"/>
                                          </p:val>
                                        </p:tav>
                                        <p:tav tm="100000">
                                          <p:val>
                                            <p:strVal val="#ppt_w"/>
                                          </p:val>
                                        </p:tav>
                                      </p:tavLst>
                                    </p:anim>
                                    <p:anim calcmode="lin" valueType="num">
                                      <p:cBhvr>
                                        <p:cTn id="31" dur="500" fill="hold"/>
                                        <p:tgtEl>
                                          <p:spTgt spid="18"/>
                                        </p:tgtEl>
                                        <p:attrNameLst>
                                          <p:attrName>ppt_h</p:attrName>
                                        </p:attrNameLst>
                                      </p:cBhvr>
                                      <p:tavLst>
                                        <p:tav tm="0">
                                          <p:val>
                                            <p:fltVal val="0"/>
                                          </p:val>
                                        </p:tav>
                                        <p:tav tm="100000">
                                          <p:val>
                                            <p:strVal val="#ppt_h"/>
                                          </p:val>
                                        </p:tav>
                                      </p:tavLst>
                                    </p:anim>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left)">
                                      <p:cBhvr>
                                        <p:cTn id="37" dur="500"/>
                                        <p:tgtEl>
                                          <p:spTgt spid="19"/>
                                        </p:tgtEl>
                                      </p:cBhvr>
                                    </p:animEffect>
                                  </p:childTnLst>
                                </p:cTn>
                              </p:par>
                            </p:childTnLst>
                          </p:cTn>
                        </p:par>
                        <p:par>
                          <p:cTn id="38" fill="hold">
                            <p:stCondLst>
                              <p:cond delay="500"/>
                            </p:stCondLst>
                            <p:childTnLst>
                              <p:par>
                                <p:cTn id="39" presetID="53" presetClass="entr" presetSubtype="16" fill="hold" grpId="0" nodeType="afterEffect">
                                  <p:stCondLst>
                                    <p:cond delay="0"/>
                                  </p:stCondLst>
                                  <p:childTnLst>
                                    <p:set>
                                      <p:cBhvr>
                                        <p:cTn id="40" dur="1" fill="hold">
                                          <p:stCondLst>
                                            <p:cond delay="0"/>
                                          </p:stCondLst>
                                        </p:cTn>
                                        <p:tgtEl>
                                          <p:spTgt spid="20"/>
                                        </p:tgtEl>
                                        <p:attrNameLst>
                                          <p:attrName>style.visibility</p:attrName>
                                        </p:attrNameLst>
                                      </p:cBhvr>
                                      <p:to>
                                        <p:strVal val="visible"/>
                                      </p:to>
                                    </p:set>
                                    <p:anim calcmode="lin" valueType="num">
                                      <p:cBhvr>
                                        <p:cTn id="41" dur="500" fill="hold"/>
                                        <p:tgtEl>
                                          <p:spTgt spid="20"/>
                                        </p:tgtEl>
                                        <p:attrNameLst>
                                          <p:attrName>ppt_w</p:attrName>
                                        </p:attrNameLst>
                                      </p:cBhvr>
                                      <p:tavLst>
                                        <p:tav tm="0">
                                          <p:val>
                                            <p:fltVal val="0"/>
                                          </p:val>
                                        </p:tav>
                                        <p:tav tm="100000">
                                          <p:val>
                                            <p:strVal val="#ppt_w"/>
                                          </p:val>
                                        </p:tav>
                                      </p:tavLst>
                                    </p:anim>
                                    <p:anim calcmode="lin" valueType="num">
                                      <p:cBhvr>
                                        <p:cTn id="42" dur="500" fill="hold"/>
                                        <p:tgtEl>
                                          <p:spTgt spid="20"/>
                                        </p:tgtEl>
                                        <p:attrNameLst>
                                          <p:attrName>ppt_h</p:attrName>
                                        </p:attrNameLst>
                                      </p:cBhvr>
                                      <p:tavLst>
                                        <p:tav tm="0">
                                          <p:val>
                                            <p:fltVal val="0"/>
                                          </p:val>
                                        </p:tav>
                                        <p:tav tm="100000">
                                          <p:val>
                                            <p:strVal val="#ppt_h"/>
                                          </p:val>
                                        </p:tav>
                                      </p:tavLst>
                                    </p:anim>
                                    <p:animEffect transition="in" filter="fade">
                                      <p:cBhvr>
                                        <p:cTn id="4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3" grpId="0" animBg="1"/>
      <p:bldP spid="14" grpId="0" animBg="1"/>
      <p:bldP spid="17" grpId="0" animBg="1"/>
      <p:bldP spid="18" grpId="0" animBg="1"/>
      <p:bldP spid="19" grpId="0" animBg="1"/>
      <p:bldP spid="2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0872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smtClean="0">
                <a:solidFill>
                  <a:schemeClr val="accent2"/>
                </a:solidFill>
                <a:latin typeface="Tahoma" charset="0"/>
                <a:cs typeface="Arial" charset="0"/>
              </a:rPr>
              <a:t>11. PROBLEM VARIATION (3)</a:t>
            </a:r>
            <a:endParaRPr lang="en-US" sz="4000" dirty="0">
              <a:solidFill>
                <a:schemeClr val="accent2"/>
              </a:solidFill>
              <a:latin typeface="Tahoma" charset="0"/>
              <a:cs typeface="Arial" charset="0"/>
            </a:endParaRPr>
          </a:p>
        </p:txBody>
      </p:sp>
      <p:sp>
        <p:nvSpPr>
          <p:cNvPr id="7" name="Slide Number Placeholder 6"/>
          <p:cNvSpPr>
            <a:spLocks noGrp="1"/>
          </p:cNvSpPr>
          <p:nvPr>
            <p:ph type="sldNum" sz="quarter" idx="12"/>
          </p:nvPr>
        </p:nvSpPr>
        <p:spPr/>
        <p:txBody>
          <a:bodyPr/>
          <a:lstStyle/>
          <a:p>
            <a:fld id="{DA934484-767D-4C48-AF0E-A1438A969E59}" type="slidenum">
              <a:rPr lang="en-US" smtClean="0"/>
              <a:pPr/>
              <a:t>21</a:t>
            </a:fld>
            <a:endParaRPr lang="en-US"/>
          </a:p>
        </p:txBody>
      </p:sp>
      <p:sp>
        <p:nvSpPr>
          <p:cNvPr id="8" name="Rectangle 3" descr="Rectangle: Click to edit Master text styles&#10;Second level&#10;Third level&#10;Fourth level&#10;Fifth level"/>
          <p:cNvSpPr>
            <a:spLocks noGrp="1" noChangeArrowheads="1"/>
          </p:cNvSpPr>
          <p:nvPr>
            <p:ph idx="1"/>
          </p:nvPr>
        </p:nvSpPr>
        <p:spPr>
          <a:xfrm>
            <a:off x="251520" y="1110952"/>
            <a:ext cx="8712968" cy="5486400"/>
          </a:xfrm>
          <a:prstGeom prst="foldedCorner">
            <a:avLst>
              <a:gd name="adj" fmla="val 36304"/>
            </a:avLst>
          </a:prstGeom>
          <a:solidFill>
            <a:schemeClr val="accent1">
              <a:lumMod val="20000"/>
              <a:lumOff val="80000"/>
            </a:schemeClr>
          </a:solidFill>
          <a:ln>
            <a:solidFill>
              <a:schemeClr val="accent5">
                <a:lumMod val="75000"/>
              </a:schemeClr>
            </a:solidFill>
          </a:ln>
          <a:effectLst>
            <a:outerShdw blurRad="63500" sx="102000" sy="102000" algn="ctr" rotWithShape="0">
              <a:prstClr val="black">
                <a:alpha val="40000"/>
              </a:prstClr>
            </a:outerShdw>
          </a:effectLst>
        </p:spPr>
        <p:txBody>
          <a:bodyPr>
            <a:noAutofit/>
          </a:bodyPr>
          <a:lstStyle/>
          <a:p>
            <a:pPr marL="109728" indent="0" algn="just">
              <a:buNone/>
            </a:pPr>
            <a:r>
              <a:rPr lang="en-US" sz="2000" dirty="0">
                <a:latin typeface="Tahoma" panose="020B0604030504040204" pitchFamily="34" charset="0"/>
                <a:ea typeface="Tahoma" panose="020B0604030504040204" pitchFamily="34" charset="0"/>
                <a:cs typeface="Tahoma" panose="020B0604030504040204" pitchFamily="34" charset="0"/>
              </a:rPr>
              <a:t>Saudi Airlines permit each passenger to hold one bag. The maximum weight allowed for the bag depends on the class of the passenger which is: 30Kg for First class ('F'), 25Kg for Business ('B') and 20Kg for Economy ('E'). If the weight of the bag excesses the allowed one, the passenger should pay 10 SR for each Kg. </a:t>
            </a:r>
            <a:endParaRPr lang="en-US" sz="2000" dirty="0" smtClean="0">
              <a:latin typeface="Tahoma" panose="020B0604030504040204" pitchFamily="34" charset="0"/>
              <a:ea typeface="Tahoma" panose="020B0604030504040204" pitchFamily="34" charset="0"/>
              <a:cs typeface="Tahoma" panose="020B0604030504040204" pitchFamily="34" charset="0"/>
            </a:endParaRPr>
          </a:p>
          <a:p>
            <a:pPr marL="109728" indent="0">
              <a:buNone/>
            </a:pPr>
            <a:endParaRPr lang="en-US" sz="2000" dirty="0">
              <a:latin typeface="Tahoma" panose="020B0604030504040204" pitchFamily="34" charset="0"/>
              <a:ea typeface="Tahoma" panose="020B0604030504040204" pitchFamily="34" charset="0"/>
              <a:cs typeface="Tahoma" panose="020B0604030504040204" pitchFamily="34" charset="0"/>
            </a:endParaRPr>
          </a:p>
          <a:p>
            <a:pPr marL="109728" indent="0" algn="just">
              <a:buNone/>
            </a:pPr>
            <a:r>
              <a:rPr lang="en-US" sz="2000" dirty="0">
                <a:latin typeface="Tahoma" panose="020B0604030504040204" pitchFamily="34" charset="0"/>
                <a:ea typeface="Tahoma" panose="020B0604030504040204" pitchFamily="34" charset="0"/>
                <a:cs typeface="Tahoma" panose="020B0604030504040204" pitchFamily="34" charset="0"/>
              </a:rPr>
              <a:t>Write a program that calculates the excess baggage </a:t>
            </a:r>
            <a:r>
              <a:rPr lang="en-US" sz="2000" dirty="0" smtClean="0">
                <a:latin typeface="Tahoma" panose="020B0604030504040204" pitchFamily="34" charset="0"/>
                <a:ea typeface="Tahoma" panose="020B0604030504040204" pitchFamily="34" charset="0"/>
                <a:cs typeface="Tahoma" panose="020B0604030504040204" pitchFamily="34" charset="0"/>
              </a:rPr>
              <a:t>charge. </a:t>
            </a:r>
            <a:r>
              <a:rPr lang="en-US" sz="2000" dirty="0">
                <a:latin typeface="Tahoma" panose="020B0604030504040204" pitchFamily="34" charset="0"/>
                <a:ea typeface="Tahoma" panose="020B0604030504040204" pitchFamily="34" charset="0"/>
                <a:cs typeface="Tahoma" panose="020B0604030504040204" pitchFamily="34" charset="0"/>
              </a:rPr>
              <a:t>All input data should be read by the user. Solve the problem using the </a:t>
            </a:r>
            <a:r>
              <a:rPr lang="en-US" sz="2000" b="1" dirty="0">
                <a:latin typeface="Tahoma" panose="020B0604030504040204" pitchFamily="34" charset="0"/>
                <a:ea typeface="Tahoma" panose="020B0604030504040204" pitchFamily="34" charset="0"/>
                <a:cs typeface="Tahoma" panose="020B0604030504040204" pitchFamily="34" charset="0"/>
              </a:rPr>
              <a:t>switch</a:t>
            </a:r>
            <a:r>
              <a:rPr lang="en-US" sz="2000" dirty="0">
                <a:latin typeface="Tahoma" panose="020B0604030504040204" pitchFamily="34" charset="0"/>
                <a:ea typeface="Tahoma" panose="020B0604030504040204" pitchFamily="34" charset="0"/>
                <a:cs typeface="Tahoma" panose="020B0604030504040204" pitchFamily="34" charset="0"/>
              </a:rPr>
              <a:t> statement</a:t>
            </a:r>
            <a:r>
              <a:rPr lang="en-US" sz="2000" dirty="0" smtClean="0">
                <a:latin typeface="Tahoma" panose="020B0604030504040204" pitchFamily="34" charset="0"/>
                <a:ea typeface="Tahoma" panose="020B0604030504040204" pitchFamily="34" charset="0"/>
                <a:cs typeface="Tahoma" panose="020B0604030504040204" pitchFamily="34" charset="0"/>
              </a:rPr>
              <a:t>. The program should repeat as long as the user needs. </a:t>
            </a:r>
            <a:r>
              <a:rPr lang="en-US" sz="2000" dirty="0" smtClean="0">
                <a:solidFill>
                  <a:srgbClr val="FF0000"/>
                </a:solidFill>
                <a:latin typeface="Tahoma" panose="020B0604030504040204" pitchFamily="34" charset="0"/>
                <a:ea typeface="Tahoma" panose="020B0604030504040204" pitchFamily="34" charset="0"/>
                <a:cs typeface="Tahoma" panose="020B0604030504040204" pitchFamily="34" charset="0"/>
              </a:rPr>
              <a:t>Display the number of processed passengers.</a:t>
            </a:r>
          </a:p>
        </p:txBody>
      </p:sp>
      <p:sp>
        <p:nvSpPr>
          <p:cNvPr id="9" name="Rounded Rectangle 8"/>
          <p:cNvSpPr/>
          <p:nvPr/>
        </p:nvSpPr>
        <p:spPr>
          <a:xfrm>
            <a:off x="1763688" y="4365104"/>
            <a:ext cx="6048672" cy="432048"/>
          </a:xfrm>
          <a:prstGeom prst="roundRect">
            <a:avLst/>
          </a:prstGeom>
          <a:solidFill>
            <a:srgbClr val="0000FF"/>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Use a counter</a:t>
            </a:r>
            <a:endParaRPr lang="en-US" dirty="0"/>
          </a:p>
        </p:txBody>
      </p:sp>
      <p:sp>
        <p:nvSpPr>
          <p:cNvPr id="2" name="Down Arrow 1"/>
          <p:cNvSpPr/>
          <p:nvPr/>
        </p:nvSpPr>
        <p:spPr>
          <a:xfrm>
            <a:off x="3275856" y="4293096"/>
            <a:ext cx="288032" cy="360040"/>
          </a:xfrm>
          <a:prstGeom prst="down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180846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smtClean="0">
                <a:solidFill>
                  <a:schemeClr val="accent2"/>
                </a:solidFill>
                <a:latin typeface="Tahoma" charset="0"/>
                <a:cs typeface="Arial" charset="0"/>
              </a:rPr>
              <a:t>12. CODE (1)</a:t>
            </a:r>
            <a:endParaRPr lang="en-US" sz="4000" dirty="0">
              <a:solidFill>
                <a:schemeClr val="accent2"/>
              </a:solidFill>
              <a:latin typeface="Tahoma" charset="0"/>
              <a:cs typeface="Arial" charset="0"/>
            </a:endParaRPr>
          </a:p>
        </p:txBody>
      </p:sp>
      <p:cxnSp>
        <p:nvCxnSpPr>
          <p:cNvPr id="16" name="Straight Connector 15"/>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179512" y="985946"/>
            <a:ext cx="8784976" cy="5755422"/>
            <a:chOff x="258661" y="1236822"/>
            <a:chExt cx="7913739" cy="5755422"/>
          </a:xfrm>
        </p:grpSpPr>
        <p:sp>
          <p:nvSpPr>
            <p:cNvPr id="9" name="TextBox 8"/>
            <p:cNvSpPr txBox="1"/>
            <p:nvPr/>
          </p:nvSpPr>
          <p:spPr>
            <a:xfrm>
              <a:off x="712728" y="1236822"/>
              <a:ext cx="7459672" cy="5755422"/>
            </a:xfrm>
            <a:prstGeom prst="rect">
              <a:avLst/>
            </a:prstGeom>
            <a:solidFill>
              <a:schemeClr val="bg2"/>
            </a:solidFill>
            <a:ln w="28575" cap="rnd" cmpd="thickThin">
              <a:solidFill>
                <a:srgbClr val="0000FF"/>
              </a:solidFill>
            </a:ln>
          </p:spPr>
          <p:txBody>
            <a:bodyPr wrap="square" rtlCol="0">
              <a:spAutoFit/>
            </a:bodyPr>
            <a:lstStyle/>
            <a:p>
              <a:r>
                <a:rPr lang="en-US" sz="1600" dirty="0" smtClean="0">
                  <a:solidFill>
                    <a:srgbClr val="00B050"/>
                  </a:solidFill>
                </a:rPr>
                <a:t>// import necessary libraries</a:t>
              </a:r>
            </a:p>
            <a:p>
              <a:r>
                <a:rPr lang="en-US" sz="1600" dirty="0" smtClean="0">
                  <a:solidFill>
                    <a:srgbClr val="00B0F0"/>
                  </a:solidFill>
                </a:rPr>
                <a:t>import</a:t>
              </a:r>
              <a:r>
                <a:rPr lang="en-US" sz="1600" dirty="0" smtClean="0"/>
                <a:t> </a:t>
              </a:r>
              <a:r>
                <a:rPr lang="en-US" sz="1600" dirty="0" err="1" smtClean="0">
                  <a:solidFill>
                    <a:srgbClr val="00B0F0"/>
                  </a:solidFill>
                </a:rPr>
                <a:t>java.util</a:t>
              </a:r>
              <a:r>
                <a:rPr lang="en-US" sz="1600" dirty="0" smtClean="0">
                  <a:solidFill>
                    <a:srgbClr val="00B0F0"/>
                  </a:solidFill>
                </a:rPr>
                <a:t>.*</a:t>
              </a:r>
              <a:r>
                <a:rPr lang="en-US" sz="1600" dirty="0" smtClean="0"/>
                <a:t>;</a:t>
              </a:r>
            </a:p>
            <a:p>
              <a:r>
                <a:rPr lang="en-US" sz="1600" dirty="0" smtClean="0">
                  <a:solidFill>
                    <a:srgbClr val="00B0F0"/>
                  </a:solidFill>
                </a:rPr>
                <a:t>public class</a:t>
              </a:r>
              <a:r>
                <a:rPr lang="en-US" sz="1600" dirty="0" smtClean="0">
                  <a:solidFill>
                    <a:srgbClr val="0000FF"/>
                  </a:solidFill>
                </a:rPr>
                <a:t> passenger</a:t>
              </a:r>
            </a:p>
            <a:p>
              <a:r>
                <a:rPr lang="en-US" sz="1600" dirty="0" smtClean="0">
                  <a:solidFill>
                    <a:srgbClr val="0000FF"/>
                  </a:solidFill>
                </a:rPr>
                <a:t>{</a:t>
              </a:r>
            </a:p>
            <a:p>
              <a:r>
                <a:rPr lang="en-US" sz="1600" dirty="0">
                  <a:solidFill>
                    <a:srgbClr val="00B050"/>
                  </a:solidFill>
                </a:rPr>
                <a:t> </a:t>
              </a:r>
              <a:r>
                <a:rPr lang="en-US" sz="1600" dirty="0" smtClean="0">
                  <a:solidFill>
                    <a:srgbClr val="00B050"/>
                  </a:solidFill>
                </a:rPr>
                <a:t>   // instantiate Scanner object</a:t>
              </a:r>
            </a:p>
            <a:p>
              <a:r>
                <a:rPr lang="en-US" sz="1600" dirty="0" smtClean="0">
                  <a:solidFill>
                    <a:srgbClr val="00B0F0"/>
                  </a:solidFill>
                </a:rPr>
                <a:t>    static Scanner</a:t>
              </a:r>
              <a:r>
                <a:rPr lang="en-US" sz="1600" dirty="0" smtClean="0">
                  <a:solidFill>
                    <a:srgbClr val="00B050"/>
                  </a:solidFill>
                </a:rPr>
                <a:t> </a:t>
              </a:r>
              <a:r>
                <a:rPr lang="en-US" sz="1600" dirty="0" smtClean="0">
                  <a:solidFill>
                    <a:srgbClr val="0000FF"/>
                  </a:solidFill>
                </a:rPr>
                <a:t>read</a:t>
              </a:r>
              <a:r>
                <a:rPr lang="en-US" sz="1600" dirty="0" smtClean="0"/>
                <a:t> = </a:t>
              </a:r>
              <a:r>
                <a:rPr lang="en-US" sz="1600" dirty="0" smtClean="0">
                  <a:solidFill>
                    <a:srgbClr val="00B0F0"/>
                  </a:solidFill>
                </a:rPr>
                <a:t>new Scanner(System.in)</a:t>
              </a:r>
              <a:r>
                <a:rPr lang="en-US" sz="1600" dirty="0" smtClean="0"/>
                <a:t>;</a:t>
              </a:r>
            </a:p>
            <a:p>
              <a:r>
                <a:rPr lang="en-US" sz="1600" dirty="0">
                  <a:solidFill>
                    <a:srgbClr val="00B050"/>
                  </a:solidFill>
                </a:rPr>
                <a:t> </a:t>
              </a:r>
              <a:r>
                <a:rPr lang="en-US" sz="1600" dirty="0" smtClean="0">
                  <a:solidFill>
                    <a:srgbClr val="00B050"/>
                  </a:solidFill>
                </a:rPr>
                <a:t>   // define the sentinel</a:t>
              </a:r>
            </a:p>
            <a:p>
              <a:r>
                <a:rPr lang="en-US" sz="1600" dirty="0"/>
                <a:t> </a:t>
              </a:r>
              <a:r>
                <a:rPr lang="en-US" sz="1600" dirty="0" smtClean="0"/>
                <a:t>   </a:t>
              </a:r>
              <a:r>
                <a:rPr lang="en-US" sz="1600" dirty="0" smtClean="0">
                  <a:solidFill>
                    <a:srgbClr val="00B0F0"/>
                  </a:solidFill>
                </a:rPr>
                <a:t>static final char </a:t>
              </a:r>
              <a:r>
                <a:rPr lang="en-US" sz="1600" dirty="0" smtClean="0">
                  <a:solidFill>
                    <a:srgbClr val="0000FF"/>
                  </a:solidFill>
                </a:rPr>
                <a:t>SENTINEL </a:t>
              </a:r>
              <a:r>
                <a:rPr lang="en-US" sz="1600" dirty="0" smtClean="0"/>
                <a:t>= ‘*’;</a:t>
              </a:r>
            </a:p>
            <a:p>
              <a:r>
                <a:rPr lang="en-US" sz="1600" dirty="0" smtClean="0">
                  <a:solidFill>
                    <a:srgbClr val="0000FF"/>
                  </a:solidFill>
                </a:rPr>
                <a:t>    </a:t>
              </a:r>
              <a:r>
                <a:rPr lang="en-US" sz="1600" dirty="0" smtClean="0">
                  <a:solidFill>
                    <a:srgbClr val="00B0F0"/>
                  </a:solidFill>
                </a:rPr>
                <a:t>public static void main (String[] </a:t>
              </a:r>
              <a:r>
                <a:rPr lang="en-US" sz="1600" dirty="0" err="1" smtClean="0">
                  <a:solidFill>
                    <a:srgbClr val="00B0F0"/>
                  </a:solidFill>
                </a:rPr>
                <a:t>args</a:t>
              </a:r>
              <a:r>
                <a:rPr lang="en-US" sz="1600" dirty="0" smtClean="0">
                  <a:solidFill>
                    <a:srgbClr val="00B0F0"/>
                  </a:solidFill>
                </a:rPr>
                <a:t>)</a:t>
              </a:r>
            </a:p>
            <a:p>
              <a:r>
                <a:rPr lang="en-US" sz="1600" dirty="0" smtClean="0">
                  <a:solidFill>
                    <a:srgbClr val="0000FF"/>
                  </a:solidFill>
                </a:rPr>
                <a:t>      {</a:t>
              </a:r>
            </a:p>
            <a:p>
              <a:r>
                <a:rPr lang="en-US" sz="1600" dirty="0">
                  <a:solidFill>
                    <a:srgbClr val="00B050"/>
                  </a:solidFill>
                </a:rPr>
                <a:t> </a:t>
              </a:r>
              <a:r>
                <a:rPr lang="en-US" sz="1600" dirty="0" smtClean="0">
                  <a:solidFill>
                    <a:srgbClr val="00B050"/>
                  </a:solidFill>
                </a:rPr>
                <a:t>         // Declaration section</a:t>
              </a:r>
            </a:p>
            <a:p>
              <a:r>
                <a:rPr lang="en-US" sz="1600" dirty="0" smtClean="0"/>
                <a:t>	</a:t>
              </a:r>
              <a:r>
                <a:rPr lang="en-US" sz="1600" dirty="0" smtClean="0">
                  <a:solidFill>
                    <a:srgbClr val="00B0F0"/>
                  </a:solidFill>
                </a:rPr>
                <a:t>char </a:t>
              </a:r>
              <a:r>
                <a:rPr lang="en-US" sz="1600" dirty="0" err="1" smtClean="0">
                  <a:solidFill>
                    <a:srgbClr val="0000FF"/>
                  </a:solidFill>
                </a:rPr>
                <a:t>passClass</a:t>
              </a:r>
              <a:r>
                <a:rPr lang="en-US" sz="1600" dirty="0" smtClean="0"/>
                <a:t>;</a:t>
              </a:r>
              <a:r>
                <a:rPr lang="en-US" sz="1600" dirty="0" smtClean="0">
                  <a:solidFill>
                    <a:srgbClr val="00B050"/>
                  </a:solidFill>
                </a:rPr>
                <a:t>		// passenger’s class</a:t>
              </a:r>
            </a:p>
            <a:p>
              <a:r>
                <a:rPr lang="en-US" sz="1600" dirty="0"/>
                <a:t>	</a:t>
              </a:r>
              <a:r>
                <a:rPr lang="en-US" sz="1600" dirty="0" smtClean="0">
                  <a:solidFill>
                    <a:srgbClr val="00B0F0"/>
                  </a:solidFill>
                </a:rPr>
                <a:t>double </a:t>
              </a:r>
              <a:r>
                <a:rPr lang="en-US" sz="1600" dirty="0" err="1" smtClean="0">
                  <a:solidFill>
                    <a:srgbClr val="0000FF"/>
                  </a:solidFill>
                </a:rPr>
                <a:t>bagWeight</a:t>
              </a:r>
              <a:r>
                <a:rPr lang="en-US" sz="1600" dirty="0" smtClean="0"/>
                <a:t>,</a:t>
              </a:r>
              <a:r>
                <a:rPr lang="en-US" sz="1600" dirty="0" smtClean="0">
                  <a:solidFill>
                    <a:srgbClr val="00B0F0"/>
                  </a:solidFill>
                </a:rPr>
                <a:t> </a:t>
              </a:r>
              <a:r>
                <a:rPr lang="en-US" sz="1600" dirty="0" err="1" smtClean="0">
                  <a:solidFill>
                    <a:srgbClr val="0000FF"/>
                  </a:solidFill>
                </a:rPr>
                <a:t>excessWeight</a:t>
              </a:r>
              <a:r>
                <a:rPr lang="en-US" sz="1600" dirty="0" smtClean="0">
                  <a:solidFill>
                    <a:srgbClr val="0000FF"/>
                  </a:solidFill>
                </a:rPr>
                <a:t> = 0</a:t>
              </a:r>
              <a:r>
                <a:rPr lang="en-US" sz="1600" dirty="0" smtClean="0"/>
                <a:t>;</a:t>
              </a:r>
            </a:p>
            <a:p>
              <a:r>
                <a:rPr lang="en-US" sz="1600" dirty="0">
                  <a:solidFill>
                    <a:srgbClr val="0000FF"/>
                  </a:solidFill>
                </a:rPr>
                <a:t> </a:t>
              </a:r>
              <a:r>
                <a:rPr lang="en-US" sz="1600" dirty="0" smtClean="0">
                  <a:solidFill>
                    <a:srgbClr val="0000FF"/>
                  </a:solidFill>
                </a:rPr>
                <a:t>            </a:t>
              </a:r>
              <a:r>
                <a:rPr lang="en-US" sz="1600" dirty="0" smtClean="0">
                  <a:solidFill>
                    <a:srgbClr val="00B0F0"/>
                  </a:solidFill>
                </a:rPr>
                <a:t> double</a:t>
              </a:r>
              <a:r>
                <a:rPr lang="en-US" sz="1600" dirty="0" smtClean="0">
                  <a:solidFill>
                    <a:srgbClr val="0000FF"/>
                  </a:solidFill>
                </a:rPr>
                <a:t> charge </a:t>
              </a:r>
              <a:r>
                <a:rPr lang="en-US" sz="1600" dirty="0" smtClean="0"/>
                <a:t>= -1;	</a:t>
              </a:r>
            </a:p>
            <a:p>
              <a:r>
                <a:rPr lang="en-US" sz="1600" dirty="0"/>
                <a:t> </a:t>
              </a:r>
              <a:r>
                <a:rPr lang="en-US" sz="1600" dirty="0" smtClean="0"/>
                <a:t>             </a:t>
              </a:r>
              <a:r>
                <a:rPr lang="en-US" sz="1600" dirty="0" err="1" smtClean="0">
                  <a:solidFill>
                    <a:srgbClr val="00B0F0"/>
                  </a:solidFill>
                </a:rPr>
                <a:t>int</a:t>
              </a:r>
              <a:r>
                <a:rPr lang="en-US" sz="1600" dirty="0" smtClean="0"/>
                <a:t> </a:t>
              </a:r>
              <a:r>
                <a:rPr lang="en-US" sz="1600" dirty="0" err="1" smtClean="0">
                  <a:solidFill>
                    <a:srgbClr val="0000FF"/>
                  </a:solidFill>
                </a:rPr>
                <a:t>numberOfPassengers</a:t>
              </a:r>
              <a:r>
                <a:rPr lang="en-US" sz="1600" dirty="0" smtClean="0">
                  <a:solidFill>
                    <a:srgbClr val="0000FF"/>
                  </a:solidFill>
                </a:rPr>
                <a:t> </a:t>
              </a:r>
              <a:r>
                <a:rPr lang="en-US" sz="1600" dirty="0" smtClean="0"/>
                <a:t>= 0; </a:t>
              </a:r>
              <a:r>
                <a:rPr lang="en-US" sz="1600" dirty="0" smtClean="0">
                  <a:solidFill>
                    <a:srgbClr val="00B050"/>
                  </a:solidFill>
                </a:rPr>
                <a:t>//initialize the counter</a:t>
              </a:r>
            </a:p>
            <a:p>
              <a:r>
                <a:rPr lang="en-US" sz="1600" dirty="0" smtClean="0">
                  <a:solidFill>
                    <a:srgbClr val="00B050"/>
                  </a:solidFill>
                </a:rPr>
                <a:t>          // Input section</a:t>
              </a:r>
            </a:p>
            <a:p>
              <a:r>
                <a:rPr lang="en-US" sz="1600" dirty="0" smtClean="0"/>
                <a:t>              </a:t>
              </a:r>
              <a:r>
                <a:rPr lang="en-US" sz="1600" dirty="0" err="1" smtClean="0">
                  <a:solidFill>
                    <a:srgbClr val="00B0F0"/>
                  </a:solidFill>
                </a:rPr>
                <a:t>System.out.print</a:t>
              </a:r>
              <a:r>
                <a:rPr lang="en-US" sz="1600" dirty="0" smtClean="0"/>
                <a:t> (“Please enter passenger’s class, %c to exit”, </a:t>
              </a:r>
              <a:r>
                <a:rPr lang="en-US" sz="1600" dirty="0" smtClean="0">
                  <a:solidFill>
                    <a:srgbClr val="0000FF"/>
                  </a:solidFill>
                </a:rPr>
                <a:t>SENTINEL</a:t>
              </a:r>
              <a:r>
                <a:rPr lang="en-US" sz="1600" dirty="0" smtClean="0"/>
                <a:t>);</a:t>
              </a:r>
            </a:p>
            <a:p>
              <a:r>
                <a:rPr lang="en-US" sz="1600" dirty="0"/>
                <a:t> </a:t>
              </a:r>
              <a:r>
                <a:rPr lang="en-US" sz="1600" dirty="0" smtClean="0"/>
                <a:t>             </a:t>
              </a:r>
              <a:r>
                <a:rPr lang="en-US" sz="1600" dirty="0" err="1" smtClean="0">
                  <a:solidFill>
                    <a:srgbClr val="0000FF"/>
                  </a:solidFill>
                </a:rPr>
                <a:t>passClass</a:t>
              </a:r>
              <a:r>
                <a:rPr lang="en-US" sz="1600" dirty="0" smtClean="0">
                  <a:solidFill>
                    <a:srgbClr val="0000FF"/>
                  </a:solidFill>
                </a:rPr>
                <a:t> </a:t>
              </a:r>
              <a:r>
                <a:rPr lang="en-US" sz="1600" dirty="0" smtClean="0"/>
                <a:t>=  </a:t>
              </a:r>
              <a:r>
                <a:rPr lang="en-US" sz="1600" dirty="0" err="1" smtClean="0">
                  <a:solidFill>
                    <a:srgbClr val="0000FF"/>
                  </a:solidFill>
                </a:rPr>
                <a:t>read</a:t>
              </a:r>
              <a:r>
                <a:rPr lang="en-US" sz="1600" dirty="0" err="1" smtClean="0"/>
                <a:t>.</a:t>
              </a:r>
              <a:r>
                <a:rPr lang="en-US" sz="1600" dirty="0" err="1" smtClean="0">
                  <a:solidFill>
                    <a:srgbClr val="00B050"/>
                  </a:solidFill>
                </a:rPr>
                <a:t>next</a:t>
              </a:r>
              <a:r>
                <a:rPr lang="en-US" sz="1600" dirty="0" smtClean="0">
                  <a:solidFill>
                    <a:srgbClr val="00B050"/>
                  </a:solidFill>
                </a:rPr>
                <a:t>().</a:t>
              </a:r>
              <a:r>
                <a:rPr lang="en-US" sz="1600" dirty="0" err="1" smtClean="0">
                  <a:solidFill>
                    <a:srgbClr val="00B050"/>
                  </a:solidFill>
                </a:rPr>
                <a:t>charAt</a:t>
              </a:r>
              <a:r>
                <a:rPr lang="en-US" sz="1600" dirty="0" smtClean="0">
                  <a:solidFill>
                    <a:srgbClr val="00B050"/>
                  </a:solidFill>
                </a:rPr>
                <a:t>(0)</a:t>
              </a:r>
              <a:r>
                <a:rPr lang="en-US" sz="1600" dirty="0" smtClean="0"/>
                <a:t>;	</a:t>
              </a:r>
              <a:r>
                <a:rPr lang="en-US" sz="1600" dirty="0" smtClean="0">
                  <a:solidFill>
                    <a:srgbClr val="00B050"/>
                  </a:solidFill>
                </a:rPr>
                <a:t>// read passenger’s class</a:t>
              </a:r>
            </a:p>
            <a:p>
              <a:r>
                <a:rPr lang="en-US" sz="1600" dirty="0">
                  <a:solidFill>
                    <a:srgbClr val="00B050"/>
                  </a:solidFill>
                </a:rPr>
                <a:t> </a:t>
              </a:r>
              <a:r>
                <a:rPr lang="en-US" sz="1600" dirty="0" smtClean="0">
                  <a:solidFill>
                    <a:srgbClr val="00B050"/>
                  </a:solidFill>
                </a:rPr>
                <a:t>         // start looping as long as the </a:t>
              </a:r>
              <a:r>
                <a:rPr lang="en-US" sz="1600" dirty="0" err="1" smtClean="0">
                  <a:solidFill>
                    <a:srgbClr val="00B050"/>
                  </a:solidFill>
                </a:rPr>
                <a:t>passClass</a:t>
              </a:r>
              <a:r>
                <a:rPr lang="en-US" sz="1600" dirty="0" smtClean="0">
                  <a:solidFill>
                    <a:srgbClr val="00B050"/>
                  </a:solidFill>
                </a:rPr>
                <a:t> does not equal the SENTINEL</a:t>
              </a:r>
            </a:p>
            <a:p>
              <a:r>
                <a:rPr lang="en-US" sz="1600" dirty="0">
                  <a:solidFill>
                    <a:srgbClr val="00B050"/>
                  </a:solidFill>
                </a:rPr>
                <a:t> </a:t>
              </a:r>
              <a:r>
                <a:rPr lang="en-US" sz="1600" dirty="0" smtClean="0">
                  <a:solidFill>
                    <a:srgbClr val="00B050"/>
                  </a:solidFill>
                </a:rPr>
                <a:t>             </a:t>
              </a:r>
              <a:r>
                <a:rPr lang="en-US" sz="1600" dirty="0" smtClean="0">
                  <a:solidFill>
                    <a:srgbClr val="00B0F0"/>
                  </a:solidFill>
                </a:rPr>
                <a:t>while </a:t>
              </a:r>
              <a:r>
                <a:rPr lang="en-US" sz="1600" dirty="0" smtClean="0"/>
                <a:t>(</a:t>
              </a:r>
              <a:r>
                <a:rPr lang="en-US" sz="1600" dirty="0" err="1" smtClean="0">
                  <a:solidFill>
                    <a:srgbClr val="0000FF"/>
                  </a:solidFill>
                </a:rPr>
                <a:t>passClass</a:t>
              </a:r>
              <a:r>
                <a:rPr lang="en-US" sz="1600" dirty="0" smtClean="0">
                  <a:solidFill>
                    <a:srgbClr val="0000FF"/>
                  </a:solidFill>
                </a:rPr>
                <a:t> </a:t>
              </a:r>
              <a:r>
                <a:rPr lang="en-US" sz="1600" dirty="0" smtClean="0"/>
                <a:t>!= </a:t>
              </a:r>
              <a:r>
                <a:rPr lang="en-US" sz="1600" dirty="0" smtClean="0">
                  <a:solidFill>
                    <a:srgbClr val="0000FF"/>
                  </a:solidFill>
                </a:rPr>
                <a:t>SENTINEL</a:t>
              </a:r>
              <a:r>
                <a:rPr lang="en-US" sz="1600" dirty="0" smtClean="0"/>
                <a:t>)</a:t>
              </a:r>
            </a:p>
            <a:p>
              <a:r>
                <a:rPr lang="en-US" sz="1600" dirty="0">
                  <a:solidFill>
                    <a:srgbClr val="00B050"/>
                  </a:solidFill>
                </a:rPr>
                <a:t> </a:t>
              </a:r>
              <a:r>
                <a:rPr lang="en-US" sz="1600" dirty="0" smtClean="0">
                  <a:solidFill>
                    <a:srgbClr val="00B050"/>
                  </a:solidFill>
                </a:rPr>
                <a:t>                </a:t>
              </a:r>
              <a:r>
                <a:rPr lang="en-US" sz="1600" dirty="0" smtClean="0"/>
                <a:t>{ </a:t>
              </a:r>
              <a:r>
                <a:rPr lang="en-US" sz="1600" dirty="0" smtClean="0">
                  <a:solidFill>
                    <a:srgbClr val="0000FF"/>
                  </a:solidFill>
                </a:rPr>
                <a:t>charge </a:t>
              </a:r>
              <a:r>
                <a:rPr lang="en-US" sz="1600" dirty="0" smtClean="0"/>
                <a:t>= -1;</a:t>
              </a:r>
            </a:p>
            <a:p>
              <a:r>
                <a:rPr lang="en-US" sz="1600" dirty="0">
                  <a:solidFill>
                    <a:srgbClr val="00B050"/>
                  </a:solidFill>
                </a:rPr>
                <a:t> </a:t>
              </a:r>
              <a:r>
                <a:rPr lang="en-US" sz="1600" dirty="0" smtClean="0">
                  <a:solidFill>
                    <a:srgbClr val="00B050"/>
                  </a:solidFill>
                </a:rPr>
                <a:t>                </a:t>
              </a:r>
              <a:r>
                <a:rPr lang="en-US" sz="1600" dirty="0" smtClean="0"/>
                <a:t>  </a:t>
              </a:r>
              <a:r>
                <a:rPr lang="en-US" sz="1600" dirty="0" err="1" smtClean="0">
                  <a:solidFill>
                    <a:srgbClr val="00B0F0"/>
                  </a:solidFill>
                </a:rPr>
                <a:t>System.out.print</a:t>
              </a:r>
              <a:r>
                <a:rPr lang="en-US" sz="1600" dirty="0" smtClean="0">
                  <a:solidFill>
                    <a:srgbClr val="00B0F0"/>
                  </a:solidFill>
                </a:rPr>
                <a:t> </a:t>
              </a:r>
              <a:r>
                <a:rPr lang="en-US" sz="1600" dirty="0" smtClean="0"/>
                <a:t>(“Please enter bag weight”);</a:t>
              </a:r>
            </a:p>
            <a:p>
              <a:r>
                <a:rPr lang="en-US" sz="1600" dirty="0">
                  <a:solidFill>
                    <a:srgbClr val="00B050"/>
                  </a:solidFill>
                </a:rPr>
                <a:t> </a:t>
              </a:r>
              <a:r>
                <a:rPr lang="en-US" sz="1600" dirty="0" smtClean="0">
                  <a:solidFill>
                    <a:srgbClr val="00B050"/>
                  </a:solidFill>
                </a:rPr>
                <a:t>                  </a:t>
              </a:r>
              <a:r>
                <a:rPr lang="en-US" sz="1600" dirty="0" err="1" smtClean="0">
                  <a:solidFill>
                    <a:srgbClr val="0000FF"/>
                  </a:solidFill>
                </a:rPr>
                <a:t>bagWeight</a:t>
              </a:r>
              <a:r>
                <a:rPr lang="en-US" sz="1600" dirty="0" smtClean="0">
                  <a:solidFill>
                    <a:srgbClr val="0000FF"/>
                  </a:solidFill>
                </a:rPr>
                <a:t> </a:t>
              </a:r>
              <a:r>
                <a:rPr lang="en-US" sz="1600" dirty="0" smtClean="0">
                  <a:solidFill>
                    <a:srgbClr val="00B050"/>
                  </a:solidFill>
                </a:rPr>
                <a:t>= </a:t>
              </a:r>
              <a:r>
                <a:rPr lang="en-US" sz="1600" dirty="0" err="1" smtClean="0">
                  <a:solidFill>
                    <a:srgbClr val="0000FF"/>
                  </a:solidFill>
                </a:rPr>
                <a:t>read</a:t>
              </a:r>
              <a:r>
                <a:rPr lang="en-US" sz="1600" dirty="0" err="1" smtClean="0">
                  <a:solidFill>
                    <a:srgbClr val="00B050"/>
                  </a:solidFill>
                </a:rPr>
                <a:t>.nextDouble</a:t>
              </a:r>
              <a:r>
                <a:rPr lang="en-US" sz="1600" dirty="0" smtClean="0">
                  <a:solidFill>
                    <a:srgbClr val="00B050"/>
                  </a:solidFill>
                </a:rPr>
                <a:t>();</a:t>
              </a:r>
            </a:p>
          </p:txBody>
        </p:sp>
        <p:sp>
          <p:nvSpPr>
            <p:cNvPr id="10" name="TextBox 9"/>
            <p:cNvSpPr txBox="1"/>
            <p:nvPr/>
          </p:nvSpPr>
          <p:spPr>
            <a:xfrm>
              <a:off x="258661" y="1236822"/>
              <a:ext cx="454067" cy="5755422"/>
            </a:xfrm>
            <a:prstGeom prst="rect">
              <a:avLst/>
            </a:prstGeom>
            <a:noFill/>
          </p:spPr>
          <p:txBody>
            <a:bodyPr wrap="square" rtlCol="0">
              <a:spAutoFit/>
            </a:bodyPr>
            <a:lstStyle/>
            <a:p>
              <a:pPr algn="r"/>
              <a:r>
                <a:rPr lang="en-US" sz="1600" dirty="0" smtClean="0">
                  <a:solidFill>
                    <a:srgbClr val="FF0000"/>
                  </a:solidFill>
                </a:rPr>
                <a:t>1</a:t>
              </a:r>
            </a:p>
            <a:p>
              <a:pPr algn="r"/>
              <a:r>
                <a:rPr lang="en-US" sz="1600" dirty="0" smtClean="0">
                  <a:solidFill>
                    <a:srgbClr val="FF0000"/>
                  </a:solidFill>
                </a:rPr>
                <a:t>2</a:t>
              </a:r>
            </a:p>
            <a:p>
              <a:pPr algn="r"/>
              <a:r>
                <a:rPr lang="en-US" sz="1600" dirty="0" smtClean="0">
                  <a:solidFill>
                    <a:srgbClr val="FF0000"/>
                  </a:solidFill>
                </a:rPr>
                <a:t>3</a:t>
              </a:r>
            </a:p>
            <a:p>
              <a:pPr algn="r"/>
              <a:r>
                <a:rPr lang="en-US" sz="1600" dirty="0" smtClean="0">
                  <a:solidFill>
                    <a:srgbClr val="FF0000"/>
                  </a:solidFill>
                </a:rPr>
                <a:t>4</a:t>
              </a:r>
            </a:p>
            <a:p>
              <a:pPr algn="r"/>
              <a:r>
                <a:rPr lang="en-US" sz="1600" dirty="0" smtClean="0">
                  <a:solidFill>
                    <a:srgbClr val="FF0000"/>
                  </a:solidFill>
                </a:rPr>
                <a:t>5</a:t>
              </a:r>
            </a:p>
            <a:p>
              <a:pPr algn="r"/>
              <a:r>
                <a:rPr lang="en-US" sz="1600" dirty="0" smtClean="0">
                  <a:solidFill>
                    <a:srgbClr val="FF0000"/>
                  </a:solidFill>
                </a:rPr>
                <a:t>6</a:t>
              </a:r>
            </a:p>
            <a:p>
              <a:pPr algn="r"/>
              <a:r>
                <a:rPr lang="en-US" sz="1600" dirty="0" smtClean="0">
                  <a:solidFill>
                    <a:srgbClr val="FF0000"/>
                  </a:solidFill>
                </a:rPr>
                <a:t>7</a:t>
              </a:r>
            </a:p>
            <a:p>
              <a:pPr algn="r"/>
              <a:r>
                <a:rPr lang="en-US" sz="1600" dirty="0" smtClean="0">
                  <a:solidFill>
                    <a:srgbClr val="FF0000"/>
                  </a:solidFill>
                </a:rPr>
                <a:t>8</a:t>
              </a:r>
            </a:p>
            <a:p>
              <a:pPr algn="r"/>
              <a:r>
                <a:rPr lang="en-US" sz="1600" dirty="0" smtClean="0">
                  <a:solidFill>
                    <a:srgbClr val="FF0000"/>
                  </a:solidFill>
                </a:rPr>
                <a:t>9</a:t>
              </a:r>
            </a:p>
            <a:p>
              <a:pPr algn="r"/>
              <a:r>
                <a:rPr lang="en-US" sz="1600" dirty="0" smtClean="0">
                  <a:solidFill>
                    <a:srgbClr val="FF0000"/>
                  </a:solidFill>
                </a:rPr>
                <a:t>10</a:t>
              </a:r>
            </a:p>
            <a:p>
              <a:pPr algn="r"/>
              <a:r>
                <a:rPr lang="en-US" sz="1600" dirty="0" smtClean="0">
                  <a:solidFill>
                    <a:srgbClr val="FF0000"/>
                  </a:solidFill>
                </a:rPr>
                <a:t>11</a:t>
              </a:r>
            </a:p>
            <a:p>
              <a:pPr algn="r"/>
              <a:r>
                <a:rPr lang="en-US" sz="1600" dirty="0" smtClean="0">
                  <a:solidFill>
                    <a:srgbClr val="FF0000"/>
                  </a:solidFill>
                </a:rPr>
                <a:t>12</a:t>
              </a:r>
            </a:p>
            <a:p>
              <a:pPr algn="r"/>
              <a:r>
                <a:rPr lang="en-US" sz="1600" dirty="0" smtClean="0">
                  <a:solidFill>
                    <a:srgbClr val="FF0000"/>
                  </a:solidFill>
                </a:rPr>
                <a:t>13</a:t>
              </a:r>
            </a:p>
            <a:p>
              <a:pPr algn="r"/>
              <a:r>
                <a:rPr lang="en-US" sz="1600" dirty="0" smtClean="0">
                  <a:solidFill>
                    <a:srgbClr val="FF0000"/>
                  </a:solidFill>
                </a:rPr>
                <a:t>14</a:t>
              </a:r>
            </a:p>
            <a:p>
              <a:pPr algn="r"/>
              <a:r>
                <a:rPr lang="en-US" sz="1600" dirty="0" smtClean="0">
                  <a:solidFill>
                    <a:srgbClr val="FF0000"/>
                  </a:solidFill>
                </a:rPr>
                <a:t>15</a:t>
              </a:r>
            </a:p>
            <a:p>
              <a:pPr algn="r"/>
              <a:r>
                <a:rPr lang="en-US" sz="1600" dirty="0" smtClean="0">
                  <a:solidFill>
                    <a:srgbClr val="FF0000"/>
                  </a:solidFill>
                </a:rPr>
                <a:t>16</a:t>
              </a:r>
            </a:p>
            <a:p>
              <a:pPr algn="r"/>
              <a:r>
                <a:rPr lang="en-US" sz="1600" dirty="0" smtClean="0">
                  <a:solidFill>
                    <a:srgbClr val="FF0000"/>
                  </a:solidFill>
                </a:rPr>
                <a:t>17</a:t>
              </a:r>
            </a:p>
            <a:p>
              <a:pPr algn="r"/>
              <a:r>
                <a:rPr lang="en-US" sz="1600" dirty="0" smtClean="0">
                  <a:solidFill>
                    <a:srgbClr val="FF0000"/>
                  </a:solidFill>
                </a:rPr>
                <a:t>18</a:t>
              </a:r>
            </a:p>
            <a:p>
              <a:pPr algn="r"/>
              <a:r>
                <a:rPr lang="en-US" sz="1600" dirty="0" smtClean="0">
                  <a:solidFill>
                    <a:srgbClr val="FF0000"/>
                  </a:solidFill>
                </a:rPr>
                <a:t>19</a:t>
              </a:r>
            </a:p>
            <a:p>
              <a:pPr algn="r"/>
              <a:r>
                <a:rPr lang="en-US" sz="1600" dirty="0" smtClean="0">
                  <a:solidFill>
                    <a:srgbClr val="FF0000"/>
                  </a:solidFill>
                </a:rPr>
                <a:t>20</a:t>
              </a:r>
            </a:p>
            <a:p>
              <a:pPr algn="r"/>
              <a:r>
                <a:rPr lang="en-US" sz="1600" dirty="0" smtClean="0">
                  <a:solidFill>
                    <a:srgbClr val="FF0000"/>
                  </a:solidFill>
                </a:rPr>
                <a:t>21</a:t>
              </a:r>
            </a:p>
            <a:p>
              <a:pPr algn="r"/>
              <a:r>
                <a:rPr lang="en-US" sz="1600" dirty="0" smtClean="0">
                  <a:solidFill>
                    <a:srgbClr val="FF0000"/>
                  </a:solidFill>
                </a:rPr>
                <a:t>22</a:t>
              </a:r>
            </a:p>
            <a:p>
              <a:pPr algn="r"/>
              <a:r>
                <a:rPr lang="en-US" sz="1600" dirty="0" smtClean="0">
                  <a:solidFill>
                    <a:srgbClr val="FF0000"/>
                  </a:solidFill>
                </a:rPr>
                <a:t>23</a:t>
              </a:r>
            </a:p>
          </p:txBody>
        </p:sp>
      </p:grpSp>
      <p:sp>
        <p:nvSpPr>
          <p:cNvPr id="7" name="Slide Number Placeholder 6"/>
          <p:cNvSpPr>
            <a:spLocks noGrp="1"/>
          </p:cNvSpPr>
          <p:nvPr>
            <p:ph type="sldNum" sz="quarter" idx="12"/>
          </p:nvPr>
        </p:nvSpPr>
        <p:spPr/>
        <p:txBody>
          <a:bodyPr/>
          <a:lstStyle/>
          <a:p>
            <a:fld id="{DA934484-767D-4C48-AF0E-A1438A969E59}" type="slidenum">
              <a:rPr lang="en-US" smtClean="0"/>
              <a:pPr/>
              <a:t>22</a:t>
            </a:fld>
            <a:endParaRPr lang="en-US" dirty="0"/>
          </a:p>
        </p:txBody>
      </p:sp>
      <p:sp>
        <p:nvSpPr>
          <p:cNvPr id="12" name="Rectangle 11"/>
          <p:cNvSpPr/>
          <p:nvPr/>
        </p:nvSpPr>
        <p:spPr>
          <a:xfrm>
            <a:off x="683568" y="5661248"/>
            <a:ext cx="8280920" cy="216024"/>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83568" y="4437112"/>
            <a:ext cx="8280920" cy="216024"/>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8619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par>
                                <p:cTn id="8" presetID="22" presetClass="entr" presetSubtype="2"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left)">
                                      <p:cBhvr>
                                        <p:cTn id="2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2" grpId="0" animBg="1"/>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smtClean="0">
                <a:solidFill>
                  <a:schemeClr val="accent2"/>
                </a:solidFill>
                <a:latin typeface="Tahoma" charset="0"/>
                <a:cs typeface="Arial" charset="0"/>
              </a:rPr>
              <a:t>12. CODE (2)</a:t>
            </a:r>
            <a:endParaRPr lang="en-US" sz="4000" dirty="0">
              <a:solidFill>
                <a:schemeClr val="accent2"/>
              </a:solidFill>
              <a:latin typeface="Tahoma" charset="0"/>
              <a:cs typeface="Arial" charset="0"/>
            </a:endParaRPr>
          </a:p>
        </p:txBody>
      </p:sp>
      <p:cxnSp>
        <p:nvCxnSpPr>
          <p:cNvPr id="16" name="Straight Connector 15"/>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179512" y="714356"/>
            <a:ext cx="8784976" cy="6001643"/>
            <a:chOff x="258661" y="1236822"/>
            <a:chExt cx="7913739" cy="6001643"/>
          </a:xfrm>
        </p:grpSpPr>
        <p:sp>
          <p:nvSpPr>
            <p:cNvPr id="9" name="TextBox 8"/>
            <p:cNvSpPr txBox="1"/>
            <p:nvPr/>
          </p:nvSpPr>
          <p:spPr>
            <a:xfrm>
              <a:off x="712728" y="1236822"/>
              <a:ext cx="7459672" cy="6001643"/>
            </a:xfrm>
            <a:prstGeom prst="rect">
              <a:avLst/>
            </a:prstGeom>
            <a:solidFill>
              <a:schemeClr val="bg2"/>
            </a:solidFill>
            <a:ln w="28575" cap="rnd" cmpd="thickThin">
              <a:solidFill>
                <a:srgbClr val="0000FF"/>
              </a:solidFill>
            </a:ln>
          </p:spPr>
          <p:txBody>
            <a:bodyPr wrap="square" rtlCol="0">
              <a:spAutoFit/>
            </a:bodyPr>
            <a:lstStyle/>
            <a:p>
              <a:r>
                <a:rPr lang="en-US" sz="1600" dirty="0" smtClean="0">
                  <a:solidFill>
                    <a:srgbClr val="00B050"/>
                  </a:solidFill>
                </a:rPr>
                <a:t>// Input section</a:t>
              </a:r>
            </a:p>
            <a:p>
              <a:r>
                <a:rPr lang="en-US" sz="1600" dirty="0" smtClean="0"/>
                <a:t>              </a:t>
              </a:r>
              <a:r>
                <a:rPr lang="en-US" sz="1600" dirty="0" err="1" smtClean="0">
                  <a:solidFill>
                    <a:srgbClr val="00B0F0"/>
                  </a:solidFill>
                </a:rPr>
                <a:t>System.out.print</a:t>
              </a:r>
              <a:r>
                <a:rPr lang="en-US" sz="1600" dirty="0" smtClean="0"/>
                <a:t> (“Please enter passenger’s class, %c to exit”, </a:t>
              </a:r>
              <a:r>
                <a:rPr lang="en-US" sz="1600" dirty="0" smtClean="0">
                  <a:solidFill>
                    <a:srgbClr val="0000FF"/>
                  </a:solidFill>
                </a:rPr>
                <a:t>SENTINEL</a:t>
              </a:r>
              <a:r>
                <a:rPr lang="en-US" sz="1600" dirty="0" smtClean="0"/>
                <a:t>);</a:t>
              </a:r>
            </a:p>
            <a:p>
              <a:r>
                <a:rPr lang="en-US" sz="1600" dirty="0"/>
                <a:t> </a:t>
              </a:r>
              <a:r>
                <a:rPr lang="en-US" sz="1600" dirty="0" smtClean="0"/>
                <a:t>             </a:t>
              </a:r>
              <a:r>
                <a:rPr lang="en-US" sz="1600" dirty="0" err="1" smtClean="0">
                  <a:solidFill>
                    <a:srgbClr val="0000FF"/>
                  </a:solidFill>
                </a:rPr>
                <a:t>passClass</a:t>
              </a:r>
              <a:r>
                <a:rPr lang="en-US" sz="1600" dirty="0" smtClean="0">
                  <a:solidFill>
                    <a:srgbClr val="0000FF"/>
                  </a:solidFill>
                </a:rPr>
                <a:t> </a:t>
              </a:r>
              <a:r>
                <a:rPr lang="en-US" sz="1600" dirty="0" smtClean="0"/>
                <a:t>=  </a:t>
              </a:r>
              <a:r>
                <a:rPr lang="en-US" sz="1600" dirty="0" err="1" smtClean="0">
                  <a:solidFill>
                    <a:srgbClr val="0000FF"/>
                  </a:solidFill>
                </a:rPr>
                <a:t>read</a:t>
              </a:r>
              <a:r>
                <a:rPr lang="en-US" sz="1600" dirty="0" err="1" smtClean="0"/>
                <a:t>.</a:t>
              </a:r>
              <a:r>
                <a:rPr lang="en-US" sz="1600" dirty="0" err="1" smtClean="0">
                  <a:solidFill>
                    <a:srgbClr val="00B050"/>
                  </a:solidFill>
                </a:rPr>
                <a:t>next</a:t>
              </a:r>
              <a:r>
                <a:rPr lang="en-US" sz="1600" dirty="0" smtClean="0">
                  <a:solidFill>
                    <a:srgbClr val="00B050"/>
                  </a:solidFill>
                </a:rPr>
                <a:t>().</a:t>
              </a:r>
              <a:r>
                <a:rPr lang="en-US" sz="1600" dirty="0" err="1" smtClean="0">
                  <a:solidFill>
                    <a:srgbClr val="00B050"/>
                  </a:solidFill>
                </a:rPr>
                <a:t>charAt</a:t>
              </a:r>
              <a:r>
                <a:rPr lang="en-US" sz="1600" dirty="0" smtClean="0">
                  <a:solidFill>
                    <a:srgbClr val="00B050"/>
                  </a:solidFill>
                </a:rPr>
                <a:t>(0)</a:t>
              </a:r>
              <a:r>
                <a:rPr lang="en-US" sz="1600" dirty="0" smtClean="0"/>
                <a:t>;	</a:t>
              </a:r>
              <a:r>
                <a:rPr lang="en-US" sz="1600" dirty="0" smtClean="0">
                  <a:solidFill>
                    <a:srgbClr val="00B050"/>
                  </a:solidFill>
                </a:rPr>
                <a:t>// read passenger’s class</a:t>
              </a:r>
            </a:p>
            <a:p>
              <a:r>
                <a:rPr lang="en-US" sz="1600" dirty="0">
                  <a:solidFill>
                    <a:srgbClr val="00B050"/>
                  </a:solidFill>
                </a:rPr>
                <a:t> </a:t>
              </a:r>
              <a:r>
                <a:rPr lang="en-US" sz="1600" dirty="0" smtClean="0">
                  <a:solidFill>
                    <a:srgbClr val="00B050"/>
                  </a:solidFill>
                </a:rPr>
                <a:t>         // start looping as long as the </a:t>
              </a:r>
              <a:r>
                <a:rPr lang="en-US" sz="1600" dirty="0" err="1" smtClean="0">
                  <a:solidFill>
                    <a:srgbClr val="00B050"/>
                  </a:solidFill>
                </a:rPr>
                <a:t>passClass</a:t>
              </a:r>
              <a:r>
                <a:rPr lang="en-US" sz="1600" dirty="0" smtClean="0">
                  <a:solidFill>
                    <a:srgbClr val="00B050"/>
                  </a:solidFill>
                </a:rPr>
                <a:t> does not equal the SENTINEL</a:t>
              </a:r>
            </a:p>
            <a:p>
              <a:r>
                <a:rPr lang="en-US" sz="1600" dirty="0">
                  <a:solidFill>
                    <a:srgbClr val="00B050"/>
                  </a:solidFill>
                </a:rPr>
                <a:t> </a:t>
              </a:r>
              <a:r>
                <a:rPr lang="en-US" sz="1600" dirty="0" smtClean="0">
                  <a:solidFill>
                    <a:srgbClr val="00B050"/>
                  </a:solidFill>
                </a:rPr>
                <a:t>             </a:t>
              </a:r>
              <a:r>
                <a:rPr lang="en-US" sz="1600" dirty="0" smtClean="0">
                  <a:solidFill>
                    <a:srgbClr val="00B0F0"/>
                  </a:solidFill>
                </a:rPr>
                <a:t>while </a:t>
              </a:r>
              <a:r>
                <a:rPr lang="en-US" sz="1600" dirty="0" smtClean="0"/>
                <a:t>(</a:t>
              </a:r>
              <a:r>
                <a:rPr lang="en-US" sz="1600" dirty="0" err="1" smtClean="0">
                  <a:solidFill>
                    <a:srgbClr val="0000FF"/>
                  </a:solidFill>
                </a:rPr>
                <a:t>passClass</a:t>
              </a:r>
              <a:r>
                <a:rPr lang="en-US" sz="1600" dirty="0" smtClean="0">
                  <a:solidFill>
                    <a:srgbClr val="0000FF"/>
                  </a:solidFill>
                </a:rPr>
                <a:t> </a:t>
              </a:r>
              <a:r>
                <a:rPr lang="en-US" sz="1600" dirty="0" smtClean="0"/>
                <a:t>!= </a:t>
              </a:r>
              <a:r>
                <a:rPr lang="en-US" sz="1600" dirty="0" smtClean="0">
                  <a:solidFill>
                    <a:srgbClr val="0000FF"/>
                  </a:solidFill>
                </a:rPr>
                <a:t>SENTINEL</a:t>
              </a:r>
              <a:r>
                <a:rPr lang="en-US" sz="1600" dirty="0" smtClean="0"/>
                <a:t>)</a:t>
              </a:r>
            </a:p>
            <a:p>
              <a:r>
                <a:rPr lang="en-US" sz="1600" dirty="0">
                  <a:solidFill>
                    <a:srgbClr val="00B050"/>
                  </a:solidFill>
                </a:rPr>
                <a:t> </a:t>
              </a:r>
              <a:r>
                <a:rPr lang="en-US" sz="1600" dirty="0" smtClean="0">
                  <a:solidFill>
                    <a:srgbClr val="00B050"/>
                  </a:solidFill>
                </a:rPr>
                <a:t>                </a:t>
              </a:r>
              <a:r>
                <a:rPr lang="en-US" sz="1600" dirty="0" smtClean="0"/>
                <a:t>{ </a:t>
              </a:r>
              <a:r>
                <a:rPr lang="en-US" sz="1600" dirty="0" smtClean="0">
                  <a:solidFill>
                    <a:srgbClr val="0000FF"/>
                  </a:solidFill>
                </a:rPr>
                <a:t>charge </a:t>
              </a:r>
              <a:r>
                <a:rPr lang="en-US" sz="1600" dirty="0" smtClean="0"/>
                <a:t>= -1;</a:t>
              </a:r>
              <a:endParaRPr lang="en-US" sz="1600" dirty="0" smtClean="0">
                <a:solidFill>
                  <a:srgbClr val="00B050"/>
                </a:solidFill>
              </a:endParaRPr>
            </a:p>
            <a:p>
              <a:r>
                <a:rPr lang="en-US" sz="1600" dirty="0">
                  <a:solidFill>
                    <a:srgbClr val="00B050"/>
                  </a:solidFill>
                </a:rPr>
                <a:t> </a:t>
              </a:r>
              <a:r>
                <a:rPr lang="en-US" sz="1600" dirty="0" smtClean="0">
                  <a:solidFill>
                    <a:srgbClr val="00B050"/>
                  </a:solidFill>
                </a:rPr>
                <a:t>                </a:t>
              </a:r>
              <a:r>
                <a:rPr lang="en-US" sz="1600" dirty="0" smtClean="0"/>
                <a:t>  </a:t>
              </a:r>
              <a:r>
                <a:rPr lang="en-US" sz="1600" dirty="0" err="1" smtClean="0">
                  <a:solidFill>
                    <a:srgbClr val="00B0F0"/>
                  </a:solidFill>
                </a:rPr>
                <a:t>System.out.print</a:t>
              </a:r>
              <a:r>
                <a:rPr lang="en-US" sz="1600" dirty="0" smtClean="0">
                  <a:solidFill>
                    <a:srgbClr val="00B0F0"/>
                  </a:solidFill>
                </a:rPr>
                <a:t> </a:t>
              </a:r>
              <a:r>
                <a:rPr lang="en-US" sz="1600" dirty="0" smtClean="0"/>
                <a:t>(“Please enter bag weight”);</a:t>
              </a:r>
            </a:p>
            <a:p>
              <a:r>
                <a:rPr lang="en-US" sz="1600" dirty="0">
                  <a:solidFill>
                    <a:srgbClr val="00B050"/>
                  </a:solidFill>
                </a:rPr>
                <a:t> </a:t>
              </a:r>
              <a:r>
                <a:rPr lang="en-US" sz="1600" dirty="0" smtClean="0">
                  <a:solidFill>
                    <a:srgbClr val="00B050"/>
                  </a:solidFill>
                </a:rPr>
                <a:t>                  </a:t>
              </a:r>
              <a:r>
                <a:rPr lang="en-US" sz="1600" dirty="0" err="1" smtClean="0">
                  <a:solidFill>
                    <a:srgbClr val="0000FF"/>
                  </a:solidFill>
                </a:rPr>
                <a:t>bagWeight</a:t>
              </a:r>
              <a:r>
                <a:rPr lang="en-US" sz="1600" dirty="0" smtClean="0">
                  <a:solidFill>
                    <a:srgbClr val="0000FF"/>
                  </a:solidFill>
                </a:rPr>
                <a:t> </a:t>
              </a:r>
              <a:r>
                <a:rPr lang="en-US" sz="1600" dirty="0" smtClean="0">
                  <a:solidFill>
                    <a:srgbClr val="00B050"/>
                  </a:solidFill>
                </a:rPr>
                <a:t>= </a:t>
              </a:r>
              <a:r>
                <a:rPr lang="en-US" sz="1600" dirty="0" err="1" smtClean="0">
                  <a:solidFill>
                    <a:srgbClr val="0000FF"/>
                  </a:solidFill>
                </a:rPr>
                <a:t>read</a:t>
              </a:r>
              <a:r>
                <a:rPr lang="en-US" sz="1600" dirty="0" err="1" smtClean="0">
                  <a:solidFill>
                    <a:srgbClr val="00B050"/>
                  </a:solidFill>
                </a:rPr>
                <a:t>.nextDouble</a:t>
              </a:r>
              <a:r>
                <a:rPr lang="en-US" sz="1600" dirty="0" smtClean="0">
                  <a:solidFill>
                    <a:srgbClr val="00B050"/>
                  </a:solidFill>
                </a:rPr>
                <a:t>();</a:t>
              </a:r>
            </a:p>
            <a:p>
              <a:r>
                <a:rPr lang="en-US" sz="1600" dirty="0">
                  <a:solidFill>
                    <a:srgbClr val="00B050"/>
                  </a:solidFill>
                </a:rPr>
                <a:t> </a:t>
              </a:r>
              <a:r>
                <a:rPr lang="en-US" sz="1600" dirty="0" smtClean="0">
                  <a:solidFill>
                    <a:srgbClr val="00B050"/>
                  </a:solidFill>
                </a:rPr>
                <a:t>                  </a:t>
              </a:r>
              <a:r>
                <a:rPr lang="en-US" sz="1600" dirty="0" smtClean="0">
                  <a:solidFill>
                    <a:srgbClr val="00B0F0"/>
                  </a:solidFill>
                </a:rPr>
                <a:t>switch </a:t>
              </a:r>
              <a:r>
                <a:rPr lang="en-US" sz="1600" dirty="0" smtClean="0"/>
                <a:t>(</a:t>
              </a:r>
              <a:r>
                <a:rPr lang="en-US" sz="1600" dirty="0" err="1" smtClean="0">
                  <a:solidFill>
                    <a:srgbClr val="0000FF"/>
                  </a:solidFill>
                </a:rPr>
                <a:t>passClass</a:t>
              </a:r>
              <a:r>
                <a:rPr lang="en-US" sz="1600" dirty="0" smtClean="0"/>
                <a:t>)</a:t>
              </a:r>
            </a:p>
            <a:p>
              <a:r>
                <a:rPr lang="en-US" sz="1600" dirty="0"/>
                <a:t> </a:t>
              </a:r>
              <a:r>
                <a:rPr lang="en-US" sz="1600" dirty="0" smtClean="0"/>
                <a:t>                    {</a:t>
              </a:r>
            </a:p>
            <a:p>
              <a:r>
                <a:rPr lang="en-US" sz="1600" dirty="0"/>
                <a:t> </a:t>
              </a:r>
              <a:r>
                <a:rPr lang="en-US" sz="1600" dirty="0" smtClean="0"/>
                <a:t>                      ---</a:t>
              </a:r>
            </a:p>
            <a:p>
              <a:r>
                <a:rPr lang="en-US" sz="1600" dirty="0"/>
                <a:t> </a:t>
              </a:r>
              <a:r>
                <a:rPr lang="en-US" sz="1600" dirty="0" smtClean="0"/>
                <a:t>                    } </a:t>
              </a:r>
              <a:r>
                <a:rPr lang="en-US" sz="1600" dirty="0" smtClean="0">
                  <a:solidFill>
                    <a:srgbClr val="00B050"/>
                  </a:solidFill>
                </a:rPr>
                <a:t>//end switch</a:t>
              </a:r>
            </a:p>
            <a:p>
              <a:r>
                <a:rPr lang="en-US" sz="1600" dirty="0">
                  <a:solidFill>
                    <a:srgbClr val="00B050"/>
                  </a:solidFill>
                </a:rPr>
                <a:t> </a:t>
              </a:r>
              <a:r>
                <a:rPr lang="en-US" sz="1600" dirty="0" smtClean="0">
                  <a:solidFill>
                    <a:srgbClr val="00B050"/>
                  </a:solidFill>
                </a:rPr>
                <a:t>                  //output section</a:t>
              </a:r>
            </a:p>
            <a:p>
              <a:r>
                <a:rPr lang="en-US" sz="1600" dirty="0" smtClean="0">
                  <a:solidFill>
                    <a:srgbClr val="00B050"/>
                  </a:solidFill>
                </a:rPr>
                <a:t>                      ---</a:t>
              </a:r>
            </a:p>
            <a:p>
              <a:r>
                <a:rPr lang="en-US" sz="1600" dirty="0">
                  <a:solidFill>
                    <a:srgbClr val="00B050"/>
                  </a:solidFill>
                </a:rPr>
                <a:t> </a:t>
              </a:r>
              <a:r>
                <a:rPr lang="en-US" sz="1600" dirty="0" smtClean="0">
                  <a:solidFill>
                    <a:srgbClr val="00B050"/>
                  </a:solidFill>
                </a:rPr>
                <a:t>                  // increment counter before processing next passenger</a:t>
              </a:r>
            </a:p>
            <a:p>
              <a:r>
                <a:rPr lang="en-US" sz="1600" dirty="0">
                  <a:solidFill>
                    <a:srgbClr val="0000FF"/>
                  </a:solidFill>
                </a:rPr>
                <a:t> </a:t>
              </a:r>
              <a:r>
                <a:rPr lang="en-US" sz="1600" dirty="0" smtClean="0">
                  <a:solidFill>
                    <a:srgbClr val="0000FF"/>
                  </a:solidFill>
                </a:rPr>
                <a:t>                   </a:t>
              </a:r>
              <a:r>
                <a:rPr lang="en-US" sz="1600" dirty="0" err="1" smtClean="0">
                  <a:solidFill>
                    <a:srgbClr val="0000FF"/>
                  </a:solidFill>
                </a:rPr>
                <a:t>numberOfPassengers</a:t>
              </a:r>
              <a:r>
                <a:rPr lang="en-US" sz="1600" dirty="0" smtClean="0">
                  <a:solidFill>
                    <a:srgbClr val="0000FF"/>
                  </a:solidFill>
                </a:rPr>
                <a:t>++</a:t>
              </a:r>
              <a:r>
                <a:rPr lang="en-US" sz="1600" dirty="0" smtClean="0"/>
                <a:t>;</a:t>
              </a:r>
              <a:r>
                <a:rPr lang="en-US" sz="1600" dirty="0" smtClean="0">
                  <a:solidFill>
                    <a:srgbClr val="00B050"/>
                  </a:solidFill>
                </a:rPr>
                <a:t>    </a:t>
              </a:r>
            </a:p>
            <a:p>
              <a:r>
                <a:rPr lang="en-US" sz="1600" dirty="0" smtClean="0">
                  <a:solidFill>
                    <a:srgbClr val="00B050"/>
                  </a:solidFill>
                </a:rPr>
                <a:t>                   //process next passenger</a:t>
              </a:r>
            </a:p>
            <a:p>
              <a:r>
                <a:rPr lang="en-US" sz="1600" dirty="0"/>
                <a:t> </a:t>
              </a:r>
              <a:r>
                <a:rPr lang="en-US" sz="1600" dirty="0" smtClean="0"/>
                <a:t>                  </a:t>
              </a:r>
              <a:r>
                <a:rPr lang="en-US" sz="1600" dirty="0" err="1" smtClean="0">
                  <a:solidFill>
                    <a:srgbClr val="00B0F0"/>
                  </a:solidFill>
                </a:rPr>
                <a:t>System.out.print</a:t>
              </a:r>
              <a:r>
                <a:rPr lang="en-US" sz="1600" dirty="0" smtClean="0"/>
                <a:t> </a:t>
              </a:r>
              <a:r>
                <a:rPr lang="en-US" sz="1600" dirty="0"/>
                <a:t>(“Please enter </a:t>
              </a:r>
              <a:r>
                <a:rPr lang="en-US" sz="1600" dirty="0" smtClean="0"/>
                <a:t>next passenger’s class, %c to exit”, </a:t>
              </a:r>
              <a:r>
                <a:rPr lang="en-US" sz="1600" dirty="0" smtClean="0">
                  <a:solidFill>
                    <a:srgbClr val="0000FF"/>
                  </a:solidFill>
                </a:rPr>
                <a:t>SENTINEL</a:t>
              </a:r>
              <a:r>
                <a:rPr lang="en-US" sz="1600" dirty="0" smtClean="0"/>
                <a:t>);</a:t>
              </a:r>
              <a:endParaRPr lang="en-US" sz="1600" dirty="0"/>
            </a:p>
            <a:p>
              <a:r>
                <a:rPr lang="en-US" sz="1600" dirty="0"/>
                <a:t>              </a:t>
              </a:r>
              <a:r>
                <a:rPr lang="en-US" sz="1600" dirty="0" smtClean="0"/>
                <a:t>     </a:t>
              </a:r>
              <a:r>
                <a:rPr lang="en-US" sz="1600" dirty="0" err="1" smtClean="0">
                  <a:solidFill>
                    <a:srgbClr val="0000FF"/>
                  </a:solidFill>
                </a:rPr>
                <a:t>passClass</a:t>
              </a:r>
              <a:r>
                <a:rPr lang="en-US" sz="1600" dirty="0" smtClean="0">
                  <a:solidFill>
                    <a:srgbClr val="0000FF"/>
                  </a:solidFill>
                </a:rPr>
                <a:t> </a:t>
              </a:r>
              <a:r>
                <a:rPr lang="en-US" sz="1600" dirty="0"/>
                <a:t>=  </a:t>
              </a:r>
              <a:r>
                <a:rPr lang="en-US" sz="1600" dirty="0" err="1">
                  <a:solidFill>
                    <a:srgbClr val="0000FF"/>
                  </a:solidFill>
                </a:rPr>
                <a:t>read</a:t>
              </a:r>
              <a:r>
                <a:rPr lang="en-US" sz="1600" dirty="0" err="1"/>
                <a:t>.</a:t>
              </a:r>
              <a:r>
                <a:rPr lang="en-US" sz="1600" dirty="0" err="1">
                  <a:solidFill>
                    <a:srgbClr val="00B050"/>
                  </a:solidFill>
                </a:rPr>
                <a:t>next</a:t>
              </a:r>
              <a:r>
                <a:rPr lang="en-US" sz="1600" dirty="0">
                  <a:solidFill>
                    <a:srgbClr val="00B050"/>
                  </a:solidFill>
                </a:rPr>
                <a:t>().</a:t>
              </a:r>
              <a:r>
                <a:rPr lang="en-US" sz="1600" dirty="0" err="1">
                  <a:solidFill>
                    <a:srgbClr val="00B050"/>
                  </a:solidFill>
                </a:rPr>
                <a:t>charAt</a:t>
              </a:r>
              <a:r>
                <a:rPr lang="en-US" sz="1600" dirty="0">
                  <a:solidFill>
                    <a:srgbClr val="00B050"/>
                  </a:solidFill>
                </a:rPr>
                <a:t>(0)</a:t>
              </a:r>
              <a:r>
                <a:rPr lang="en-US" sz="1600" dirty="0"/>
                <a:t>;	</a:t>
              </a:r>
              <a:r>
                <a:rPr lang="en-US" sz="1600" dirty="0">
                  <a:solidFill>
                    <a:srgbClr val="00B050"/>
                  </a:solidFill>
                </a:rPr>
                <a:t>// read passenger’s </a:t>
              </a:r>
              <a:r>
                <a:rPr lang="en-US" sz="1600" dirty="0" smtClean="0">
                  <a:solidFill>
                    <a:srgbClr val="00B050"/>
                  </a:solidFill>
                </a:rPr>
                <a:t>class</a:t>
              </a:r>
            </a:p>
            <a:p>
              <a:r>
                <a:rPr lang="en-US" sz="1600" dirty="0">
                  <a:solidFill>
                    <a:srgbClr val="00B050"/>
                  </a:solidFill>
                </a:rPr>
                <a:t> </a:t>
              </a:r>
              <a:r>
                <a:rPr lang="en-US" sz="1600" dirty="0" smtClean="0">
                  <a:solidFill>
                    <a:srgbClr val="00B050"/>
                  </a:solidFill>
                </a:rPr>
                <a:t>                </a:t>
              </a:r>
              <a:r>
                <a:rPr lang="en-US" sz="1600" dirty="0" smtClean="0"/>
                <a:t>} </a:t>
              </a:r>
              <a:r>
                <a:rPr lang="en-US" sz="1600" dirty="0" smtClean="0">
                  <a:solidFill>
                    <a:srgbClr val="00B050"/>
                  </a:solidFill>
                </a:rPr>
                <a:t>// end while </a:t>
              </a:r>
            </a:p>
            <a:p>
              <a:r>
                <a:rPr lang="en-US" sz="1600" dirty="0">
                  <a:solidFill>
                    <a:srgbClr val="00B050"/>
                  </a:solidFill>
                </a:rPr>
                <a:t> </a:t>
              </a:r>
              <a:r>
                <a:rPr lang="en-US" sz="1600" dirty="0" smtClean="0">
                  <a:solidFill>
                    <a:srgbClr val="00B050"/>
                  </a:solidFill>
                </a:rPr>
                <a:t>              </a:t>
              </a:r>
              <a:r>
                <a:rPr lang="en-US" sz="1600" dirty="0" err="1" smtClean="0">
                  <a:solidFill>
                    <a:srgbClr val="00B0F0"/>
                  </a:solidFill>
                </a:rPr>
                <a:t>System.out.printf</a:t>
              </a:r>
              <a:r>
                <a:rPr lang="en-US" sz="1600" dirty="0" smtClean="0">
                  <a:solidFill>
                    <a:srgbClr val="00B0F0"/>
                  </a:solidFill>
                </a:rPr>
                <a:t> </a:t>
              </a:r>
              <a:r>
                <a:rPr lang="en-US" sz="1600" dirty="0" smtClean="0"/>
                <a:t>(“Passengers processed=%d”, </a:t>
              </a:r>
              <a:r>
                <a:rPr lang="en-US" sz="1600" dirty="0" err="1" smtClean="0"/>
                <a:t>numberOfPassengers</a:t>
              </a:r>
              <a:r>
                <a:rPr lang="en-US" sz="1600" dirty="0" smtClean="0"/>
                <a:t>);</a:t>
              </a:r>
            </a:p>
            <a:p>
              <a:r>
                <a:rPr lang="en-US" sz="1600" dirty="0">
                  <a:solidFill>
                    <a:srgbClr val="00B050"/>
                  </a:solidFill>
                </a:rPr>
                <a:t> </a:t>
              </a:r>
              <a:r>
                <a:rPr lang="en-US" sz="1600" dirty="0" smtClean="0">
                  <a:solidFill>
                    <a:srgbClr val="00B050"/>
                  </a:solidFill>
                </a:rPr>
                <a:t>  } //end main</a:t>
              </a:r>
            </a:p>
            <a:p>
              <a:r>
                <a:rPr lang="en-US" sz="1600" dirty="0" smtClean="0">
                  <a:solidFill>
                    <a:srgbClr val="00B050"/>
                  </a:solidFill>
                </a:rPr>
                <a:t>} end class                   </a:t>
              </a:r>
            </a:p>
          </p:txBody>
        </p:sp>
        <p:sp>
          <p:nvSpPr>
            <p:cNvPr id="10" name="TextBox 9"/>
            <p:cNvSpPr txBox="1"/>
            <p:nvPr/>
          </p:nvSpPr>
          <p:spPr>
            <a:xfrm>
              <a:off x="258661" y="1236822"/>
              <a:ext cx="454067" cy="6001643"/>
            </a:xfrm>
            <a:prstGeom prst="rect">
              <a:avLst/>
            </a:prstGeom>
            <a:noFill/>
          </p:spPr>
          <p:txBody>
            <a:bodyPr wrap="square" rtlCol="0">
              <a:spAutoFit/>
            </a:bodyPr>
            <a:lstStyle/>
            <a:p>
              <a:pPr algn="r"/>
              <a:r>
                <a:rPr lang="en-US" sz="1600" dirty="0" smtClean="0">
                  <a:solidFill>
                    <a:srgbClr val="FF0000"/>
                  </a:solidFill>
                </a:rPr>
                <a:t>16</a:t>
              </a:r>
            </a:p>
            <a:p>
              <a:pPr algn="r"/>
              <a:r>
                <a:rPr lang="en-US" sz="1600" dirty="0" smtClean="0">
                  <a:solidFill>
                    <a:srgbClr val="FF0000"/>
                  </a:solidFill>
                </a:rPr>
                <a:t>17</a:t>
              </a:r>
            </a:p>
            <a:p>
              <a:pPr algn="r"/>
              <a:r>
                <a:rPr lang="en-US" sz="1600" dirty="0" smtClean="0">
                  <a:solidFill>
                    <a:srgbClr val="FF0000"/>
                  </a:solidFill>
                </a:rPr>
                <a:t>18</a:t>
              </a:r>
            </a:p>
            <a:p>
              <a:pPr algn="r"/>
              <a:r>
                <a:rPr lang="en-US" sz="1600" dirty="0" smtClean="0">
                  <a:solidFill>
                    <a:srgbClr val="FF0000"/>
                  </a:solidFill>
                </a:rPr>
                <a:t>19</a:t>
              </a:r>
            </a:p>
            <a:p>
              <a:pPr algn="r"/>
              <a:r>
                <a:rPr lang="en-US" sz="1600" dirty="0" smtClean="0">
                  <a:solidFill>
                    <a:srgbClr val="FF0000"/>
                  </a:solidFill>
                </a:rPr>
                <a:t>20</a:t>
              </a:r>
            </a:p>
            <a:p>
              <a:pPr algn="r"/>
              <a:r>
                <a:rPr lang="en-US" sz="1600" dirty="0" smtClean="0">
                  <a:solidFill>
                    <a:srgbClr val="FF0000"/>
                  </a:solidFill>
                </a:rPr>
                <a:t>21</a:t>
              </a:r>
            </a:p>
            <a:p>
              <a:pPr algn="r"/>
              <a:r>
                <a:rPr lang="en-US" sz="1600" dirty="0" smtClean="0">
                  <a:solidFill>
                    <a:srgbClr val="FF0000"/>
                  </a:solidFill>
                </a:rPr>
                <a:t>22</a:t>
              </a:r>
            </a:p>
            <a:p>
              <a:pPr algn="r"/>
              <a:r>
                <a:rPr lang="en-US" sz="1600" dirty="0" smtClean="0">
                  <a:solidFill>
                    <a:srgbClr val="FF0000"/>
                  </a:solidFill>
                </a:rPr>
                <a:t>23</a:t>
              </a:r>
            </a:p>
            <a:p>
              <a:pPr algn="r"/>
              <a:r>
                <a:rPr lang="en-US" sz="1600" dirty="0" smtClean="0">
                  <a:solidFill>
                    <a:srgbClr val="FF0000"/>
                  </a:solidFill>
                </a:rPr>
                <a:t>24</a:t>
              </a:r>
            </a:p>
            <a:p>
              <a:pPr algn="r"/>
              <a:r>
                <a:rPr lang="en-US" sz="1600" dirty="0" smtClean="0">
                  <a:solidFill>
                    <a:srgbClr val="FF0000"/>
                  </a:solidFill>
                </a:rPr>
                <a:t>25</a:t>
              </a:r>
            </a:p>
            <a:p>
              <a:pPr algn="r"/>
              <a:r>
                <a:rPr lang="en-US" sz="1600" dirty="0" smtClean="0">
                  <a:solidFill>
                    <a:srgbClr val="FF0000"/>
                  </a:solidFill>
                </a:rPr>
                <a:t>--</a:t>
              </a:r>
            </a:p>
            <a:p>
              <a:pPr algn="r"/>
              <a:r>
                <a:rPr lang="en-US" sz="1600" dirty="0" smtClean="0">
                  <a:solidFill>
                    <a:srgbClr val="FF0000"/>
                  </a:solidFill>
                </a:rPr>
                <a:t>41</a:t>
              </a:r>
            </a:p>
            <a:p>
              <a:pPr algn="r"/>
              <a:r>
                <a:rPr lang="en-US" sz="1600" dirty="0" smtClean="0">
                  <a:solidFill>
                    <a:srgbClr val="FF0000"/>
                  </a:solidFill>
                </a:rPr>
                <a:t>42</a:t>
              </a:r>
            </a:p>
            <a:p>
              <a:pPr algn="r"/>
              <a:r>
                <a:rPr lang="en-US" sz="1600" dirty="0" smtClean="0">
                  <a:solidFill>
                    <a:srgbClr val="FF0000"/>
                  </a:solidFill>
                </a:rPr>
                <a:t>--</a:t>
              </a:r>
            </a:p>
            <a:p>
              <a:pPr algn="r"/>
              <a:r>
                <a:rPr lang="en-US" sz="1600" dirty="0" smtClean="0">
                  <a:solidFill>
                    <a:srgbClr val="FF0000"/>
                  </a:solidFill>
                </a:rPr>
                <a:t>45</a:t>
              </a:r>
            </a:p>
            <a:p>
              <a:pPr algn="r"/>
              <a:r>
                <a:rPr lang="en-US" sz="1600" dirty="0" smtClean="0">
                  <a:solidFill>
                    <a:srgbClr val="FF0000"/>
                  </a:solidFill>
                </a:rPr>
                <a:t>46</a:t>
              </a:r>
            </a:p>
            <a:p>
              <a:pPr algn="r"/>
              <a:r>
                <a:rPr lang="en-US" sz="1600" dirty="0" smtClean="0">
                  <a:solidFill>
                    <a:srgbClr val="FF0000"/>
                  </a:solidFill>
                </a:rPr>
                <a:t>47</a:t>
              </a:r>
            </a:p>
            <a:p>
              <a:pPr algn="r"/>
              <a:r>
                <a:rPr lang="en-US" sz="1600" dirty="0" smtClean="0">
                  <a:solidFill>
                    <a:srgbClr val="FF0000"/>
                  </a:solidFill>
                </a:rPr>
                <a:t>48</a:t>
              </a:r>
            </a:p>
            <a:p>
              <a:pPr algn="r"/>
              <a:endParaRPr lang="en-US" sz="1600" dirty="0" smtClean="0">
                <a:solidFill>
                  <a:srgbClr val="FF0000"/>
                </a:solidFill>
              </a:endParaRPr>
            </a:p>
            <a:p>
              <a:pPr algn="r"/>
              <a:r>
                <a:rPr lang="en-US" sz="1600" dirty="0" smtClean="0">
                  <a:solidFill>
                    <a:srgbClr val="FF0000"/>
                  </a:solidFill>
                </a:rPr>
                <a:t>49</a:t>
              </a:r>
            </a:p>
            <a:p>
              <a:pPr algn="r"/>
              <a:r>
                <a:rPr lang="en-US" sz="1600" dirty="0" smtClean="0">
                  <a:solidFill>
                    <a:srgbClr val="FF0000"/>
                  </a:solidFill>
                </a:rPr>
                <a:t>50</a:t>
              </a:r>
            </a:p>
            <a:p>
              <a:pPr algn="r"/>
              <a:r>
                <a:rPr lang="en-US" sz="1600" dirty="0" smtClean="0">
                  <a:solidFill>
                    <a:srgbClr val="FF0000"/>
                  </a:solidFill>
                </a:rPr>
                <a:t>51</a:t>
              </a:r>
            </a:p>
            <a:p>
              <a:pPr algn="r"/>
              <a:r>
                <a:rPr lang="en-US" sz="1600" dirty="0" smtClean="0">
                  <a:solidFill>
                    <a:srgbClr val="FF0000"/>
                  </a:solidFill>
                </a:rPr>
                <a:t>52</a:t>
              </a:r>
            </a:p>
            <a:p>
              <a:pPr algn="r"/>
              <a:r>
                <a:rPr lang="en-US" sz="1600" dirty="0" smtClean="0">
                  <a:solidFill>
                    <a:srgbClr val="FF0000"/>
                  </a:solidFill>
                </a:rPr>
                <a:t>53</a:t>
              </a:r>
            </a:p>
          </p:txBody>
        </p:sp>
      </p:grpSp>
      <p:sp>
        <p:nvSpPr>
          <p:cNvPr id="7" name="Slide Number Placeholder 6"/>
          <p:cNvSpPr>
            <a:spLocks noGrp="1"/>
          </p:cNvSpPr>
          <p:nvPr>
            <p:ph type="sldNum" sz="quarter" idx="12"/>
          </p:nvPr>
        </p:nvSpPr>
        <p:spPr/>
        <p:txBody>
          <a:bodyPr/>
          <a:lstStyle/>
          <a:p>
            <a:fld id="{DA934484-767D-4C48-AF0E-A1438A969E59}" type="slidenum">
              <a:rPr lang="en-US" smtClean="0"/>
              <a:pPr/>
              <a:t>23</a:t>
            </a:fld>
            <a:endParaRPr lang="en-US" dirty="0"/>
          </a:p>
        </p:txBody>
      </p:sp>
      <p:sp>
        <p:nvSpPr>
          <p:cNvPr id="13" name="Rectangle 12"/>
          <p:cNvSpPr/>
          <p:nvPr/>
        </p:nvSpPr>
        <p:spPr>
          <a:xfrm>
            <a:off x="683568" y="1714488"/>
            <a:ext cx="8280920" cy="216024"/>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683568" y="4365104"/>
            <a:ext cx="8280920" cy="504056"/>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683568" y="5856182"/>
            <a:ext cx="8280920" cy="216024"/>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2828227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par>
                                <p:cTn id="8" presetID="22" presetClass="entr" presetSubtype="2"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left)">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left)">
                                      <p:cBhvr>
                                        <p:cTn id="2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3" grpId="0" animBg="1"/>
      <p:bldP spid="19" grpId="0" animBg="1"/>
      <p:bldP spid="2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0872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smtClean="0">
                <a:solidFill>
                  <a:schemeClr val="accent2"/>
                </a:solidFill>
                <a:latin typeface="Tahoma" charset="0"/>
                <a:cs typeface="Arial" charset="0"/>
              </a:rPr>
              <a:t>13. PROBLEM VARIATION (4)</a:t>
            </a:r>
            <a:endParaRPr lang="en-US" sz="4000" dirty="0">
              <a:solidFill>
                <a:schemeClr val="accent2"/>
              </a:solidFill>
              <a:latin typeface="Tahoma" charset="0"/>
              <a:cs typeface="Arial" charset="0"/>
            </a:endParaRPr>
          </a:p>
        </p:txBody>
      </p:sp>
      <p:sp>
        <p:nvSpPr>
          <p:cNvPr id="7" name="Slide Number Placeholder 6"/>
          <p:cNvSpPr>
            <a:spLocks noGrp="1"/>
          </p:cNvSpPr>
          <p:nvPr>
            <p:ph type="sldNum" sz="quarter" idx="12"/>
          </p:nvPr>
        </p:nvSpPr>
        <p:spPr/>
        <p:txBody>
          <a:bodyPr/>
          <a:lstStyle/>
          <a:p>
            <a:fld id="{DA934484-767D-4C48-AF0E-A1438A969E59}" type="slidenum">
              <a:rPr lang="en-US" smtClean="0"/>
              <a:pPr/>
              <a:t>24</a:t>
            </a:fld>
            <a:endParaRPr lang="en-US"/>
          </a:p>
        </p:txBody>
      </p:sp>
      <p:sp>
        <p:nvSpPr>
          <p:cNvPr id="8" name="Rectangle 3" descr="Rectangle: Click to edit Master text styles&#10;Second level&#10;Third level&#10;Fourth level&#10;Fifth level"/>
          <p:cNvSpPr>
            <a:spLocks noGrp="1" noChangeArrowheads="1"/>
          </p:cNvSpPr>
          <p:nvPr>
            <p:ph idx="1"/>
          </p:nvPr>
        </p:nvSpPr>
        <p:spPr>
          <a:xfrm>
            <a:off x="251520" y="1110952"/>
            <a:ext cx="8712968" cy="5486400"/>
          </a:xfrm>
          <a:prstGeom prst="foldedCorner">
            <a:avLst>
              <a:gd name="adj" fmla="val 36304"/>
            </a:avLst>
          </a:prstGeom>
          <a:solidFill>
            <a:schemeClr val="accent1">
              <a:lumMod val="20000"/>
              <a:lumOff val="80000"/>
            </a:schemeClr>
          </a:solidFill>
          <a:ln>
            <a:solidFill>
              <a:schemeClr val="accent5">
                <a:lumMod val="75000"/>
              </a:schemeClr>
            </a:solidFill>
          </a:ln>
          <a:effectLst>
            <a:outerShdw blurRad="63500" sx="102000" sy="102000" algn="ctr" rotWithShape="0">
              <a:prstClr val="black">
                <a:alpha val="40000"/>
              </a:prstClr>
            </a:outerShdw>
          </a:effectLst>
        </p:spPr>
        <p:txBody>
          <a:bodyPr>
            <a:noAutofit/>
          </a:bodyPr>
          <a:lstStyle/>
          <a:p>
            <a:pPr marL="109728" indent="0" algn="just">
              <a:buNone/>
            </a:pPr>
            <a:r>
              <a:rPr lang="en-US" sz="2000" dirty="0">
                <a:latin typeface="Tahoma" panose="020B0604030504040204" pitchFamily="34" charset="0"/>
                <a:ea typeface="Tahoma" panose="020B0604030504040204" pitchFamily="34" charset="0"/>
                <a:cs typeface="Tahoma" panose="020B0604030504040204" pitchFamily="34" charset="0"/>
              </a:rPr>
              <a:t>Saudi Airlines permit each passenger to hold one bag. The maximum weight allowed for the bag depends on the class of the passenger which is: 30Kg for First class ('F'), 25Kg for Business ('B') and 20Kg for Economy ('E'). If the weight of the bag excesses the allowed one, the passenger should pay 10 SR for each Kg. </a:t>
            </a:r>
            <a:r>
              <a:rPr lang="en-US" sz="2000" dirty="0" smtClean="0">
                <a:solidFill>
                  <a:srgbClr val="FF0000"/>
                </a:solidFill>
                <a:latin typeface="Tahoma" panose="020B0604030504040204" pitchFamily="34" charset="0"/>
                <a:ea typeface="Tahoma" panose="020B0604030504040204" pitchFamily="34" charset="0"/>
                <a:cs typeface="Tahoma" panose="020B0604030504040204" pitchFamily="34" charset="0"/>
              </a:rPr>
              <a:t>An offer is given to the passengers whose numbers are multiple of 17: no limit is imposed on their baggage weight.</a:t>
            </a:r>
          </a:p>
          <a:p>
            <a:pPr marL="109728" indent="0">
              <a:buNone/>
            </a:pPr>
            <a:endParaRPr lang="en-US" sz="2000" dirty="0">
              <a:latin typeface="Tahoma" panose="020B0604030504040204" pitchFamily="34" charset="0"/>
              <a:ea typeface="Tahoma" panose="020B0604030504040204" pitchFamily="34" charset="0"/>
              <a:cs typeface="Tahoma" panose="020B0604030504040204" pitchFamily="34" charset="0"/>
            </a:endParaRPr>
          </a:p>
          <a:p>
            <a:pPr marL="109728" indent="0" algn="just">
              <a:buNone/>
            </a:pPr>
            <a:r>
              <a:rPr lang="en-US" sz="2000" dirty="0">
                <a:latin typeface="Tahoma" panose="020B0604030504040204" pitchFamily="34" charset="0"/>
                <a:ea typeface="Tahoma" panose="020B0604030504040204" pitchFamily="34" charset="0"/>
                <a:cs typeface="Tahoma" panose="020B0604030504040204" pitchFamily="34" charset="0"/>
              </a:rPr>
              <a:t>Write a program that calculates the excess baggage </a:t>
            </a:r>
            <a:r>
              <a:rPr lang="en-US" sz="2000" dirty="0" smtClean="0">
                <a:latin typeface="Tahoma" panose="020B0604030504040204" pitchFamily="34" charset="0"/>
                <a:ea typeface="Tahoma" panose="020B0604030504040204" pitchFamily="34" charset="0"/>
                <a:cs typeface="Tahoma" panose="020B0604030504040204" pitchFamily="34" charset="0"/>
              </a:rPr>
              <a:t>charge. </a:t>
            </a:r>
            <a:r>
              <a:rPr lang="en-US" sz="2000" dirty="0">
                <a:latin typeface="Tahoma" panose="020B0604030504040204" pitchFamily="34" charset="0"/>
                <a:ea typeface="Tahoma" panose="020B0604030504040204" pitchFamily="34" charset="0"/>
                <a:cs typeface="Tahoma" panose="020B0604030504040204" pitchFamily="34" charset="0"/>
              </a:rPr>
              <a:t>All input data should be read by the user. Solve the problem using the </a:t>
            </a:r>
            <a:r>
              <a:rPr lang="en-US" sz="2000" b="1" dirty="0">
                <a:latin typeface="Tahoma" panose="020B0604030504040204" pitchFamily="34" charset="0"/>
                <a:ea typeface="Tahoma" panose="020B0604030504040204" pitchFamily="34" charset="0"/>
                <a:cs typeface="Tahoma" panose="020B0604030504040204" pitchFamily="34" charset="0"/>
              </a:rPr>
              <a:t>switch</a:t>
            </a:r>
            <a:r>
              <a:rPr lang="en-US" sz="2000" dirty="0">
                <a:latin typeface="Tahoma" panose="020B0604030504040204" pitchFamily="34" charset="0"/>
                <a:ea typeface="Tahoma" panose="020B0604030504040204" pitchFamily="34" charset="0"/>
                <a:cs typeface="Tahoma" panose="020B0604030504040204" pitchFamily="34" charset="0"/>
              </a:rPr>
              <a:t> statement</a:t>
            </a:r>
            <a:r>
              <a:rPr lang="en-US" sz="2000" dirty="0" smtClean="0">
                <a:latin typeface="Tahoma" panose="020B0604030504040204" pitchFamily="34" charset="0"/>
                <a:ea typeface="Tahoma" panose="020B0604030504040204" pitchFamily="34" charset="0"/>
                <a:cs typeface="Tahoma" panose="020B0604030504040204" pitchFamily="34" charset="0"/>
              </a:rPr>
              <a:t>. The program should repeat as long as the user needs. Display the number of processed passengers.</a:t>
            </a:r>
          </a:p>
        </p:txBody>
      </p:sp>
    </p:spTree>
    <p:extLst>
      <p:ext uri="{BB962C8B-B14F-4D97-AF65-F5344CB8AC3E}">
        <p14:creationId xmlns:p14="http://schemas.microsoft.com/office/powerpoint/2010/main" xmlns="" val="3286774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smtClean="0">
                <a:solidFill>
                  <a:schemeClr val="accent2"/>
                </a:solidFill>
                <a:latin typeface="Tahoma" charset="0"/>
                <a:cs typeface="Arial" charset="0"/>
              </a:rPr>
              <a:t>12. CODE </a:t>
            </a:r>
            <a:endParaRPr lang="en-US" sz="4000" dirty="0">
              <a:solidFill>
                <a:schemeClr val="accent2"/>
              </a:solidFill>
              <a:latin typeface="Tahoma" charset="0"/>
              <a:cs typeface="Arial" charset="0"/>
            </a:endParaRPr>
          </a:p>
        </p:txBody>
      </p:sp>
      <p:cxnSp>
        <p:nvCxnSpPr>
          <p:cNvPr id="16" name="Straight Connector 15"/>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179512" y="734400"/>
            <a:ext cx="8784976" cy="5909310"/>
            <a:chOff x="258661" y="1236822"/>
            <a:chExt cx="7913739" cy="6190333"/>
          </a:xfrm>
        </p:grpSpPr>
        <p:sp>
          <p:nvSpPr>
            <p:cNvPr id="9" name="TextBox 8"/>
            <p:cNvSpPr txBox="1"/>
            <p:nvPr/>
          </p:nvSpPr>
          <p:spPr>
            <a:xfrm>
              <a:off x="712728" y="1236822"/>
              <a:ext cx="7459672" cy="6190333"/>
            </a:xfrm>
            <a:prstGeom prst="rect">
              <a:avLst/>
            </a:prstGeom>
            <a:solidFill>
              <a:schemeClr val="bg2"/>
            </a:solidFill>
            <a:ln w="28575" cap="rnd" cmpd="thickThin">
              <a:solidFill>
                <a:srgbClr val="0000FF"/>
              </a:solidFill>
            </a:ln>
          </p:spPr>
          <p:txBody>
            <a:bodyPr wrap="square" rtlCol="0">
              <a:spAutoFit/>
            </a:bodyPr>
            <a:lstStyle/>
            <a:p>
              <a:r>
                <a:rPr lang="en-US" sz="1400" dirty="0" smtClean="0">
                  <a:solidFill>
                    <a:srgbClr val="00B050"/>
                  </a:solidFill>
                </a:rPr>
                <a:t>---</a:t>
              </a:r>
            </a:p>
            <a:p>
              <a:r>
                <a:rPr lang="en-US" sz="1400" dirty="0" smtClean="0">
                  <a:solidFill>
                    <a:srgbClr val="00B050"/>
                  </a:solidFill>
                </a:rPr>
                <a:t>// Input section</a:t>
              </a:r>
            </a:p>
            <a:p>
              <a:r>
                <a:rPr lang="en-US" sz="1400" dirty="0" smtClean="0"/>
                <a:t>              </a:t>
              </a:r>
              <a:r>
                <a:rPr lang="en-US" sz="1400" dirty="0" err="1" smtClean="0">
                  <a:solidFill>
                    <a:srgbClr val="00B0F0"/>
                  </a:solidFill>
                </a:rPr>
                <a:t>System.out.print</a:t>
              </a:r>
              <a:r>
                <a:rPr lang="en-US" sz="1400" dirty="0" smtClean="0"/>
                <a:t> (“Please enter passenger’s class”);</a:t>
              </a:r>
            </a:p>
            <a:p>
              <a:r>
                <a:rPr lang="en-US" sz="1400" dirty="0"/>
                <a:t> </a:t>
              </a:r>
              <a:r>
                <a:rPr lang="en-US" sz="1400" dirty="0" smtClean="0"/>
                <a:t>             </a:t>
              </a:r>
              <a:r>
                <a:rPr lang="en-US" sz="1400" dirty="0" err="1" smtClean="0">
                  <a:solidFill>
                    <a:srgbClr val="0000FF"/>
                  </a:solidFill>
                </a:rPr>
                <a:t>passClass</a:t>
              </a:r>
              <a:r>
                <a:rPr lang="en-US" sz="1400" dirty="0" smtClean="0">
                  <a:solidFill>
                    <a:srgbClr val="0000FF"/>
                  </a:solidFill>
                </a:rPr>
                <a:t> </a:t>
              </a:r>
              <a:r>
                <a:rPr lang="en-US" sz="1400" dirty="0" smtClean="0"/>
                <a:t>=  </a:t>
              </a:r>
              <a:r>
                <a:rPr lang="en-US" sz="1400" dirty="0" err="1" smtClean="0">
                  <a:solidFill>
                    <a:srgbClr val="0000FF"/>
                  </a:solidFill>
                </a:rPr>
                <a:t>read</a:t>
              </a:r>
              <a:r>
                <a:rPr lang="en-US" sz="1400" dirty="0" err="1" smtClean="0"/>
                <a:t>.</a:t>
              </a:r>
              <a:r>
                <a:rPr lang="en-US" sz="1400" dirty="0" err="1" smtClean="0">
                  <a:solidFill>
                    <a:srgbClr val="00B050"/>
                  </a:solidFill>
                </a:rPr>
                <a:t>next</a:t>
              </a:r>
              <a:r>
                <a:rPr lang="en-US" sz="1400" dirty="0" smtClean="0">
                  <a:solidFill>
                    <a:srgbClr val="00B050"/>
                  </a:solidFill>
                </a:rPr>
                <a:t>().</a:t>
              </a:r>
              <a:r>
                <a:rPr lang="en-US" sz="1400" dirty="0" err="1" smtClean="0">
                  <a:solidFill>
                    <a:srgbClr val="00B050"/>
                  </a:solidFill>
                </a:rPr>
                <a:t>charAt</a:t>
              </a:r>
              <a:r>
                <a:rPr lang="en-US" sz="1400" dirty="0" smtClean="0">
                  <a:solidFill>
                    <a:srgbClr val="00B050"/>
                  </a:solidFill>
                </a:rPr>
                <a:t>(0)</a:t>
              </a:r>
              <a:r>
                <a:rPr lang="en-US" sz="1400" dirty="0" smtClean="0"/>
                <a:t>;	</a:t>
              </a:r>
              <a:r>
                <a:rPr lang="en-US" sz="1400" dirty="0" smtClean="0">
                  <a:solidFill>
                    <a:srgbClr val="00B050"/>
                  </a:solidFill>
                </a:rPr>
                <a:t>// read passenger’s class</a:t>
              </a:r>
            </a:p>
            <a:p>
              <a:r>
                <a:rPr lang="en-US" sz="1400" dirty="0">
                  <a:solidFill>
                    <a:srgbClr val="00B050"/>
                  </a:solidFill>
                </a:rPr>
                <a:t> </a:t>
              </a:r>
              <a:r>
                <a:rPr lang="en-US" sz="1400" dirty="0" smtClean="0">
                  <a:solidFill>
                    <a:srgbClr val="00B050"/>
                  </a:solidFill>
                </a:rPr>
                <a:t>         // start looping as long as the </a:t>
              </a:r>
              <a:r>
                <a:rPr lang="en-US" sz="1400" dirty="0" err="1" smtClean="0">
                  <a:solidFill>
                    <a:srgbClr val="00B050"/>
                  </a:solidFill>
                </a:rPr>
                <a:t>passClass</a:t>
              </a:r>
              <a:r>
                <a:rPr lang="en-US" sz="1400" dirty="0" smtClean="0">
                  <a:solidFill>
                    <a:srgbClr val="00B050"/>
                  </a:solidFill>
                </a:rPr>
                <a:t> does not equal the SENTINEL</a:t>
              </a:r>
            </a:p>
            <a:p>
              <a:r>
                <a:rPr lang="en-US" sz="1400" dirty="0">
                  <a:solidFill>
                    <a:srgbClr val="00B050"/>
                  </a:solidFill>
                </a:rPr>
                <a:t> </a:t>
              </a:r>
              <a:r>
                <a:rPr lang="en-US" sz="1400" dirty="0" smtClean="0">
                  <a:solidFill>
                    <a:srgbClr val="00B050"/>
                  </a:solidFill>
                </a:rPr>
                <a:t>             </a:t>
              </a:r>
              <a:r>
                <a:rPr lang="en-US" sz="1400" dirty="0" smtClean="0">
                  <a:solidFill>
                    <a:srgbClr val="00B0F0"/>
                  </a:solidFill>
                </a:rPr>
                <a:t>while </a:t>
              </a:r>
              <a:r>
                <a:rPr lang="en-US" sz="1400" dirty="0" smtClean="0"/>
                <a:t>(</a:t>
              </a:r>
              <a:r>
                <a:rPr lang="en-US" sz="1400" dirty="0" err="1" smtClean="0">
                  <a:solidFill>
                    <a:srgbClr val="0000FF"/>
                  </a:solidFill>
                </a:rPr>
                <a:t>passClass</a:t>
              </a:r>
              <a:r>
                <a:rPr lang="en-US" sz="1400" dirty="0" smtClean="0">
                  <a:solidFill>
                    <a:srgbClr val="0000FF"/>
                  </a:solidFill>
                </a:rPr>
                <a:t> </a:t>
              </a:r>
              <a:r>
                <a:rPr lang="en-US" sz="1400" dirty="0" smtClean="0"/>
                <a:t>!= </a:t>
              </a:r>
              <a:r>
                <a:rPr lang="en-US" sz="1400" dirty="0" smtClean="0">
                  <a:solidFill>
                    <a:srgbClr val="0000FF"/>
                  </a:solidFill>
                </a:rPr>
                <a:t>SENTINEL</a:t>
              </a:r>
              <a:r>
                <a:rPr lang="en-US" sz="1400" dirty="0" smtClean="0"/>
                <a:t>)</a:t>
              </a:r>
            </a:p>
            <a:p>
              <a:r>
                <a:rPr lang="en-US" sz="1400" dirty="0">
                  <a:solidFill>
                    <a:srgbClr val="00B050"/>
                  </a:solidFill>
                </a:rPr>
                <a:t> </a:t>
              </a:r>
              <a:r>
                <a:rPr lang="en-US" sz="1400" dirty="0" smtClean="0">
                  <a:solidFill>
                    <a:srgbClr val="00B050"/>
                  </a:solidFill>
                </a:rPr>
                <a:t>                </a:t>
              </a:r>
              <a:r>
                <a:rPr lang="en-US" sz="1400" dirty="0" smtClean="0"/>
                <a:t>{ </a:t>
              </a:r>
              <a:r>
                <a:rPr lang="en-US" sz="1400" dirty="0" smtClean="0">
                  <a:solidFill>
                    <a:srgbClr val="0000FF"/>
                  </a:solidFill>
                </a:rPr>
                <a:t>charge </a:t>
              </a:r>
              <a:r>
                <a:rPr lang="en-US" sz="1400" dirty="0" smtClean="0"/>
                <a:t>= -1;</a:t>
              </a:r>
              <a:endParaRPr lang="en-US" sz="1400" dirty="0" smtClean="0">
                <a:solidFill>
                  <a:srgbClr val="00B050"/>
                </a:solidFill>
              </a:endParaRPr>
            </a:p>
            <a:p>
              <a:r>
                <a:rPr lang="en-US" sz="1400" dirty="0"/>
                <a:t> </a:t>
              </a:r>
              <a:r>
                <a:rPr lang="en-US" sz="1400" dirty="0" smtClean="0"/>
                <a:t>                  </a:t>
              </a:r>
              <a:r>
                <a:rPr lang="en-US" sz="1400" dirty="0" smtClean="0">
                  <a:solidFill>
                    <a:srgbClr val="00B0F0"/>
                  </a:solidFill>
                </a:rPr>
                <a:t>if</a:t>
              </a:r>
              <a:r>
                <a:rPr lang="en-US" sz="1400" dirty="0" smtClean="0"/>
                <a:t> ((</a:t>
              </a:r>
              <a:r>
                <a:rPr lang="en-US" sz="1400" dirty="0" err="1" smtClean="0">
                  <a:solidFill>
                    <a:srgbClr val="0000FF"/>
                  </a:solidFill>
                </a:rPr>
                <a:t>numberOfPassengers</a:t>
              </a:r>
              <a:r>
                <a:rPr lang="en-US" sz="1400" dirty="0" smtClean="0">
                  <a:solidFill>
                    <a:srgbClr val="0000FF"/>
                  </a:solidFill>
                </a:rPr>
                <a:t> </a:t>
              </a:r>
              <a:r>
                <a:rPr lang="en-US" sz="1400" dirty="0" smtClean="0"/>
                <a:t>% 17) == 0) </a:t>
              </a:r>
            </a:p>
            <a:p>
              <a:r>
                <a:rPr lang="en-US" sz="1400" dirty="0"/>
                <a:t> </a:t>
              </a:r>
              <a:r>
                <a:rPr lang="en-US" sz="1400" dirty="0" smtClean="0"/>
                <a:t>                    {</a:t>
              </a:r>
            </a:p>
            <a:p>
              <a:r>
                <a:rPr lang="en-US" sz="1400" dirty="0"/>
                <a:t> </a:t>
              </a:r>
              <a:r>
                <a:rPr lang="en-US" sz="1400" dirty="0" smtClean="0"/>
                <a:t>                      </a:t>
              </a:r>
              <a:r>
                <a:rPr lang="en-US" sz="1400" dirty="0" err="1" smtClean="0">
                  <a:solidFill>
                    <a:srgbClr val="00B0F0"/>
                  </a:solidFill>
                </a:rPr>
                <a:t>System.out.println</a:t>
              </a:r>
              <a:r>
                <a:rPr lang="en-US" sz="1400" dirty="0" smtClean="0">
                  <a:solidFill>
                    <a:srgbClr val="00B0F0"/>
                  </a:solidFill>
                </a:rPr>
                <a:t> </a:t>
              </a:r>
              <a:r>
                <a:rPr lang="en-US" sz="1400" dirty="0" smtClean="0"/>
                <a:t>(“Congratulations!! You have no weight limit”);</a:t>
              </a:r>
            </a:p>
            <a:p>
              <a:r>
                <a:rPr lang="en-US" sz="1400" dirty="0"/>
                <a:t> </a:t>
              </a:r>
              <a:r>
                <a:rPr lang="en-US" sz="1400" dirty="0" smtClean="0"/>
                <a:t>                      </a:t>
              </a:r>
              <a:r>
                <a:rPr lang="en-US" sz="1400" dirty="0" err="1" smtClean="0">
                  <a:solidFill>
                    <a:srgbClr val="0000FF"/>
                  </a:solidFill>
                </a:rPr>
                <a:t>numberOfPassengers</a:t>
              </a:r>
              <a:r>
                <a:rPr lang="en-US" sz="1400" dirty="0" smtClean="0"/>
                <a:t>++;</a:t>
              </a:r>
            </a:p>
            <a:p>
              <a:r>
                <a:rPr lang="en-US" sz="1400" dirty="0">
                  <a:solidFill>
                    <a:srgbClr val="00B050"/>
                  </a:solidFill>
                </a:rPr>
                <a:t> </a:t>
              </a:r>
              <a:r>
                <a:rPr lang="en-US" sz="1400" dirty="0" smtClean="0">
                  <a:solidFill>
                    <a:srgbClr val="00B050"/>
                  </a:solidFill>
                </a:rPr>
                <a:t>                      //process next passenger</a:t>
              </a:r>
            </a:p>
            <a:p>
              <a:r>
                <a:rPr lang="en-US" sz="1400" dirty="0" smtClean="0"/>
                <a:t>                      </a:t>
              </a:r>
              <a:r>
                <a:rPr lang="en-US" sz="1400" dirty="0" err="1" smtClean="0">
                  <a:solidFill>
                    <a:srgbClr val="00B0F0"/>
                  </a:solidFill>
                </a:rPr>
                <a:t>System.out.print</a:t>
              </a:r>
              <a:r>
                <a:rPr lang="en-US" sz="1400" dirty="0" smtClean="0"/>
                <a:t> (“Please enter next passenger’s class, %c to exit”, </a:t>
              </a:r>
              <a:r>
                <a:rPr lang="en-US" sz="1400" dirty="0" smtClean="0">
                  <a:solidFill>
                    <a:srgbClr val="0000FF"/>
                  </a:solidFill>
                </a:rPr>
                <a:t>SENTINEL</a:t>
              </a:r>
              <a:r>
                <a:rPr lang="en-US" sz="1400" dirty="0" smtClean="0"/>
                <a:t>);      	      </a:t>
              </a:r>
              <a:r>
                <a:rPr lang="en-US" sz="1400" dirty="0" err="1" smtClean="0">
                  <a:solidFill>
                    <a:srgbClr val="0000FF"/>
                  </a:solidFill>
                </a:rPr>
                <a:t>passClass</a:t>
              </a:r>
              <a:r>
                <a:rPr lang="en-US" sz="1400" dirty="0" smtClean="0">
                  <a:solidFill>
                    <a:srgbClr val="0000FF"/>
                  </a:solidFill>
                </a:rPr>
                <a:t> </a:t>
              </a:r>
              <a:r>
                <a:rPr lang="en-US" sz="1400" dirty="0" smtClean="0"/>
                <a:t>= </a:t>
              </a:r>
              <a:r>
                <a:rPr lang="en-US" sz="1400" dirty="0" err="1" smtClean="0">
                  <a:solidFill>
                    <a:srgbClr val="0000FF"/>
                  </a:solidFill>
                </a:rPr>
                <a:t>read</a:t>
              </a:r>
              <a:r>
                <a:rPr lang="en-US" sz="1400" dirty="0" err="1" smtClean="0"/>
                <a:t>.</a:t>
              </a:r>
              <a:r>
                <a:rPr lang="en-US" sz="1400" dirty="0" err="1" smtClean="0">
                  <a:solidFill>
                    <a:srgbClr val="00B050"/>
                  </a:solidFill>
                </a:rPr>
                <a:t>next</a:t>
              </a:r>
              <a:r>
                <a:rPr lang="en-US" sz="1400" dirty="0" smtClean="0">
                  <a:solidFill>
                    <a:srgbClr val="00B050"/>
                  </a:solidFill>
                </a:rPr>
                <a:t>().</a:t>
              </a:r>
              <a:r>
                <a:rPr lang="en-US" sz="1400" dirty="0" err="1" smtClean="0">
                  <a:solidFill>
                    <a:srgbClr val="00B050"/>
                  </a:solidFill>
                </a:rPr>
                <a:t>charAt</a:t>
              </a:r>
              <a:r>
                <a:rPr lang="en-US" sz="1400" dirty="0" smtClean="0">
                  <a:solidFill>
                    <a:srgbClr val="00B050"/>
                  </a:solidFill>
                </a:rPr>
                <a:t>(0)</a:t>
              </a:r>
              <a:r>
                <a:rPr lang="en-US" sz="1400" dirty="0" smtClean="0"/>
                <a:t>;</a:t>
              </a:r>
            </a:p>
            <a:p>
              <a:r>
                <a:rPr lang="en-US" sz="1400" dirty="0"/>
                <a:t> </a:t>
              </a:r>
              <a:r>
                <a:rPr lang="en-US" sz="1400" dirty="0" smtClean="0"/>
                <a:t>                      </a:t>
              </a:r>
              <a:r>
                <a:rPr lang="en-US" sz="1400" dirty="0" smtClean="0">
                  <a:solidFill>
                    <a:srgbClr val="00B0F0"/>
                  </a:solidFill>
                </a:rPr>
                <a:t>continue</a:t>
              </a:r>
              <a:r>
                <a:rPr lang="en-US" sz="1400" dirty="0" smtClean="0"/>
                <a:t>;</a:t>
              </a:r>
            </a:p>
            <a:p>
              <a:r>
                <a:rPr lang="en-US" sz="1400" dirty="0"/>
                <a:t> </a:t>
              </a:r>
              <a:r>
                <a:rPr lang="en-US" sz="1400" dirty="0" smtClean="0"/>
                <a:t>                    }</a:t>
              </a:r>
            </a:p>
            <a:p>
              <a:r>
                <a:rPr lang="en-US" sz="1400" dirty="0">
                  <a:solidFill>
                    <a:srgbClr val="00B050"/>
                  </a:solidFill>
                </a:rPr>
                <a:t> </a:t>
              </a:r>
              <a:r>
                <a:rPr lang="en-US" sz="1400" dirty="0" smtClean="0">
                  <a:solidFill>
                    <a:srgbClr val="00B050"/>
                  </a:solidFill>
                </a:rPr>
                <a:t>                </a:t>
              </a:r>
              <a:r>
                <a:rPr lang="en-US" sz="1400" dirty="0" smtClean="0"/>
                <a:t>  </a:t>
              </a:r>
              <a:r>
                <a:rPr lang="en-US" sz="1400" dirty="0" err="1" smtClean="0">
                  <a:solidFill>
                    <a:srgbClr val="00B0F0"/>
                  </a:solidFill>
                </a:rPr>
                <a:t>System.out.print</a:t>
              </a:r>
              <a:r>
                <a:rPr lang="en-US" sz="1400" dirty="0" smtClean="0">
                  <a:solidFill>
                    <a:srgbClr val="00B0F0"/>
                  </a:solidFill>
                </a:rPr>
                <a:t> </a:t>
              </a:r>
              <a:r>
                <a:rPr lang="en-US" sz="1400" dirty="0" smtClean="0"/>
                <a:t>(“Please enter bag weight”);</a:t>
              </a:r>
            </a:p>
            <a:p>
              <a:r>
                <a:rPr lang="en-US" sz="1400" dirty="0">
                  <a:solidFill>
                    <a:srgbClr val="00B050"/>
                  </a:solidFill>
                </a:rPr>
                <a:t> </a:t>
              </a:r>
              <a:r>
                <a:rPr lang="en-US" sz="1400" dirty="0" smtClean="0">
                  <a:solidFill>
                    <a:srgbClr val="00B050"/>
                  </a:solidFill>
                </a:rPr>
                <a:t>                  </a:t>
              </a:r>
              <a:r>
                <a:rPr lang="en-US" sz="1400" dirty="0" err="1" smtClean="0">
                  <a:solidFill>
                    <a:srgbClr val="0000FF"/>
                  </a:solidFill>
                </a:rPr>
                <a:t>bagWeight</a:t>
              </a:r>
              <a:r>
                <a:rPr lang="en-US" sz="1400" dirty="0" smtClean="0">
                  <a:solidFill>
                    <a:srgbClr val="0000FF"/>
                  </a:solidFill>
                </a:rPr>
                <a:t> </a:t>
              </a:r>
              <a:r>
                <a:rPr lang="en-US" sz="1400" dirty="0" smtClean="0">
                  <a:solidFill>
                    <a:srgbClr val="00B050"/>
                  </a:solidFill>
                </a:rPr>
                <a:t>= </a:t>
              </a:r>
              <a:r>
                <a:rPr lang="en-US" sz="1400" dirty="0" err="1" smtClean="0">
                  <a:solidFill>
                    <a:srgbClr val="0000FF"/>
                  </a:solidFill>
                </a:rPr>
                <a:t>read</a:t>
              </a:r>
              <a:r>
                <a:rPr lang="en-US" sz="1400" dirty="0" err="1" smtClean="0">
                  <a:solidFill>
                    <a:srgbClr val="00B050"/>
                  </a:solidFill>
                </a:rPr>
                <a:t>.nextDouble</a:t>
              </a:r>
              <a:r>
                <a:rPr lang="en-US" sz="1400" dirty="0" smtClean="0">
                  <a:solidFill>
                    <a:srgbClr val="00B050"/>
                  </a:solidFill>
                </a:rPr>
                <a:t>();</a:t>
              </a:r>
            </a:p>
            <a:p>
              <a:r>
                <a:rPr lang="en-US" sz="1400" dirty="0">
                  <a:solidFill>
                    <a:srgbClr val="00B050"/>
                  </a:solidFill>
                </a:rPr>
                <a:t> </a:t>
              </a:r>
              <a:r>
                <a:rPr lang="en-US" sz="1400" dirty="0" smtClean="0">
                  <a:solidFill>
                    <a:srgbClr val="00B050"/>
                  </a:solidFill>
                </a:rPr>
                <a:t>                  </a:t>
              </a:r>
              <a:r>
                <a:rPr lang="en-US" sz="1400" dirty="0" smtClean="0">
                  <a:solidFill>
                    <a:srgbClr val="00B0F0"/>
                  </a:solidFill>
                </a:rPr>
                <a:t>switch </a:t>
              </a:r>
              <a:r>
                <a:rPr lang="en-US" sz="1400" dirty="0" smtClean="0"/>
                <a:t>(</a:t>
              </a:r>
              <a:r>
                <a:rPr lang="en-US" sz="1400" dirty="0" err="1" smtClean="0">
                  <a:solidFill>
                    <a:srgbClr val="0000FF"/>
                  </a:solidFill>
                </a:rPr>
                <a:t>passClass</a:t>
              </a:r>
              <a:r>
                <a:rPr lang="en-US" sz="1400" dirty="0" smtClean="0"/>
                <a:t>)</a:t>
              </a:r>
            </a:p>
            <a:p>
              <a:r>
                <a:rPr lang="en-US" sz="1400" dirty="0"/>
                <a:t> </a:t>
              </a:r>
              <a:r>
                <a:rPr lang="en-US" sz="1400" dirty="0" smtClean="0"/>
                <a:t>                     ---</a:t>
              </a:r>
            </a:p>
            <a:p>
              <a:r>
                <a:rPr lang="en-US" sz="1400" dirty="0" smtClean="0">
                  <a:solidFill>
                    <a:srgbClr val="00B050"/>
                  </a:solidFill>
                </a:rPr>
                <a:t>                   // increment counter before processing next passenger</a:t>
              </a:r>
            </a:p>
            <a:p>
              <a:r>
                <a:rPr lang="en-US" sz="1400" dirty="0">
                  <a:solidFill>
                    <a:srgbClr val="0000FF"/>
                  </a:solidFill>
                </a:rPr>
                <a:t> </a:t>
              </a:r>
              <a:r>
                <a:rPr lang="en-US" sz="1400" dirty="0" smtClean="0">
                  <a:solidFill>
                    <a:srgbClr val="0000FF"/>
                  </a:solidFill>
                </a:rPr>
                <a:t>                   </a:t>
              </a:r>
              <a:r>
                <a:rPr lang="en-US" sz="1400" dirty="0" err="1" smtClean="0">
                  <a:solidFill>
                    <a:srgbClr val="0000FF"/>
                  </a:solidFill>
                </a:rPr>
                <a:t>numberOfPassengers</a:t>
              </a:r>
              <a:r>
                <a:rPr lang="en-US" sz="1400" dirty="0" smtClean="0">
                  <a:solidFill>
                    <a:srgbClr val="0000FF"/>
                  </a:solidFill>
                </a:rPr>
                <a:t>++</a:t>
              </a:r>
              <a:r>
                <a:rPr lang="en-US" sz="1400" dirty="0" smtClean="0"/>
                <a:t>;</a:t>
              </a:r>
              <a:r>
                <a:rPr lang="en-US" sz="1400" dirty="0" smtClean="0">
                  <a:solidFill>
                    <a:srgbClr val="00B050"/>
                  </a:solidFill>
                </a:rPr>
                <a:t>    </a:t>
              </a:r>
            </a:p>
            <a:p>
              <a:r>
                <a:rPr lang="en-US" sz="1400" dirty="0" smtClean="0">
                  <a:solidFill>
                    <a:srgbClr val="00B050"/>
                  </a:solidFill>
                </a:rPr>
                <a:t>                   //process next passenger</a:t>
              </a:r>
            </a:p>
            <a:p>
              <a:r>
                <a:rPr lang="en-US" sz="1400" dirty="0"/>
                <a:t> </a:t>
              </a:r>
              <a:r>
                <a:rPr lang="en-US" sz="1400" dirty="0" smtClean="0"/>
                <a:t>                  </a:t>
              </a:r>
              <a:r>
                <a:rPr lang="en-US" sz="1400" dirty="0" err="1" smtClean="0">
                  <a:solidFill>
                    <a:srgbClr val="00B0F0"/>
                  </a:solidFill>
                </a:rPr>
                <a:t>System.out.print</a:t>
              </a:r>
              <a:r>
                <a:rPr lang="en-US" sz="1400" dirty="0" smtClean="0"/>
                <a:t> </a:t>
              </a:r>
              <a:r>
                <a:rPr lang="en-US" sz="1400" dirty="0"/>
                <a:t>(“Please enter </a:t>
              </a:r>
              <a:r>
                <a:rPr lang="en-US" sz="1400" dirty="0" smtClean="0"/>
                <a:t>next passenger’s class, %c to exit”, </a:t>
              </a:r>
              <a:r>
                <a:rPr lang="en-US" sz="1400" dirty="0" smtClean="0">
                  <a:solidFill>
                    <a:srgbClr val="0000FF"/>
                  </a:solidFill>
                </a:rPr>
                <a:t>SENTINEL</a:t>
              </a:r>
              <a:r>
                <a:rPr lang="en-US" sz="1400" dirty="0" smtClean="0"/>
                <a:t>);</a:t>
              </a:r>
              <a:endParaRPr lang="en-US" sz="1400" dirty="0"/>
            </a:p>
            <a:p>
              <a:r>
                <a:rPr lang="en-US" sz="1400" dirty="0"/>
                <a:t>              </a:t>
              </a:r>
              <a:r>
                <a:rPr lang="en-US" sz="1400" dirty="0" smtClean="0"/>
                <a:t>     </a:t>
              </a:r>
              <a:r>
                <a:rPr lang="en-US" sz="1400" dirty="0" err="1" smtClean="0">
                  <a:solidFill>
                    <a:srgbClr val="0000FF"/>
                  </a:solidFill>
                </a:rPr>
                <a:t>passClass</a:t>
              </a:r>
              <a:r>
                <a:rPr lang="en-US" sz="1400" dirty="0" smtClean="0">
                  <a:solidFill>
                    <a:srgbClr val="0000FF"/>
                  </a:solidFill>
                </a:rPr>
                <a:t> </a:t>
              </a:r>
              <a:r>
                <a:rPr lang="en-US" sz="1400" dirty="0"/>
                <a:t>=  </a:t>
              </a:r>
              <a:r>
                <a:rPr lang="en-US" sz="1400" dirty="0" err="1">
                  <a:solidFill>
                    <a:srgbClr val="0000FF"/>
                  </a:solidFill>
                </a:rPr>
                <a:t>read</a:t>
              </a:r>
              <a:r>
                <a:rPr lang="en-US" sz="1400" dirty="0" err="1"/>
                <a:t>.</a:t>
              </a:r>
              <a:r>
                <a:rPr lang="en-US" sz="1400" dirty="0" err="1">
                  <a:solidFill>
                    <a:srgbClr val="00B050"/>
                  </a:solidFill>
                </a:rPr>
                <a:t>next</a:t>
              </a:r>
              <a:r>
                <a:rPr lang="en-US" sz="1400" dirty="0">
                  <a:solidFill>
                    <a:srgbClr val="00B050"/>
                  </a:solidFill>
                </a:rPr>
                <a:t>().</a:t>
              </a:r>
              <a:r>
                <a:rPr lang="en-US" sz="1400" dirty="0" err="1">
                  <a:solidFill>
                    <a:srgbClr val="00B050"/>
                  </a:solidFill>
                </a:rPr>
                <a:t>charAt</a:t>
              </a:r>
              <a:r>
                <a:rPr lang="en-US" sz="1400" dirty="0">
                  <a:solidFill>
                    <a:srgbClr val="00B050"/>
                  </a:solidFill>
                </a:rPr>
                <a:t>(0)</a:t>
              </a:r>
              <a:r>
                <a:rPr lang="en-US" sz="1400" dirty="0"/>
                <a:t>;	</a:t>
              </a:r>
              <a:r>
                <a:rPr lang="en-US" sz="1400" dirty="0">
                  <a:solidFill>
                    <a:srgbClr val="00B050"/>
                  </a:solidFill>
                </a:rPr>
                <a:t>// read passenger’s </a:t>
              </a:r>
              <a:r>
                <a:rPr lang="en-US" sz="1400" dirty="0" smtClean="0">
                  <a:solidFill>
                    <a:srgbClr val="00B050"/>
                  </a:solidFill>
                </a:rPr>
                <a:t>class</a:t>
              </a:r>
            </a:p>
            <a:p>
              <a:r>
                <a:rPr lang="en-US" sz="1400" dirty="0">
                  <a:solidFill>
                    <a:srgbClr val="00B050"/>
                  </a:solidFill>
                </a:rPr>
                <a:t> </a:t>
              </a:r>
              <a:r>
                <a:rPr lang="en-US" sz="1400" dirty="0" smtClean="0">
                  <a:solidFill>
                    <a:srgbClr val="00B050"/>
                  </a:solidFill>
                </a:rPr>
                <a:t>                </a:t>
              </a:r>
              <a:r>
                <a:rPr lang="en-US" sz="1400" dirty="0" smtClean="0"/>
                <a:t>} </a:t>
              </a:r>
              <a:r>
                <a:rPr lang="en-US" sz="1400" dirty="0" smtClean="0">
                  <a:solidFill>
                    <a:srgbClr val="00B050"/>
                  </a:solidFill>
                </a:rPr>
                <a:t>// end while</a:t>
              </a:r>
            </a:p>
            <a:p>
              <a:r>
                <a:rPr lang="en-US" sz="1400" dirty="0" smtClean="0">
                  <a:solidFill>
                    <a:srgbClr val="00B050"/>
                  </a:solidFill>
                </a:rPr>
                <a:t>---</a:t>
              </a:r>
            </a:p>
          </p:txBody>
        </p:sp>
        <p:sp>
          <p:nvSpPr>
            <p:cNvPr id="10" name="TextBox 9"/>
            <p:cNvSpPr txBox="1"/>
            <p:nvPr/>
          </p:nvSpPr>
          <p:spPr>
            <a:xfrm>
              <a:off x="258661" y="1236822"/>
              <a:ext cx="454067" cy="6190333"/>
            </a:xfrm>
            <a:prstGeom prst="rect">
              <a:avLst/>
            </a:prstGeom>
            <a:noFill/>
          </p:spPr>
          <p:txBody>
            <a:bodyPr wrap="square" rtlCol="0">
              <a:spAutoFit/>
            </a:bodyPr>
            <a:lstStyle/>
            <a:p>
              <a:pPr algn="r"/>
              <a:r>
                <a:rPr lang="en-US" sz="1400" dirty="0" smtClean="0">
                  <a:solidFill>
                    <a:srgbClr val="FF0000"/>
                  </a:solidFill>
                </a:rPr>
                <a:t>--</a:t>
              </a:r>
            </a:p>
            <a:p>
              <a:pPr algn="r"/>
              <a:r>
                <a:rPr lang="en-US" sz="1400" dirty="0" smtClean="0">
                  <a:solidFill>
                    <a:srgbClr val="FF0000"/>
                  </a:solidFill>
                </a:rPr>
                <a:t>16</a:t>
              </a:r>
            </a:p>
            <a:p>
              <a:pPr algn="r"/>
              <a:r>
                <a:rPr lang="en-US" sz="1400" dirty="0" smtClean="0">
                  <a:solidFill>
                    <a:srgbClr val="FF0000"/>
                  </a:solidFill>
                </a:rPr>
                <a:t>17</a:t>
              </a:r>
            </a:p>
            <a:p>
              <a:pPr algn="r"/>
              <a:r>
                <a:rPr lang="en-US" sz="1400" dirty="0" smtClean="0">
                  <a:solidFill>
                    <a:srgbClr val="FF0000"/>
                  </a:solidFill>
                </a:rPr>
                <a:t>18</a:t>
              </a:r>
            </a:p>
            <a:p>
              <a:pPr algn="r"/>
              <a:r>
                <a:rPr lang="en-US" sz="1400" dirty="0" smtClean="0">
                  <a:solidFill>
                    <a:srgbClr val="FF0000"/>
                  </a:solidFill>
                </a:rPr>
                <a:t>19</a:t>
              </a:r>
            </a:p>
            <a:p>
              <a:pPr algn="r"/>
              <a:r>
                <a:rPr lang="en-US" sz="1400" dirty="0" smtClean="0">
                  <a:solidFill>
                    <a:srgbClr val="FF0000"/>
                  </a:solidFill>
                </a:rPr>
                <a:t>20</a:t>
              </a:r>
            </a:p>
            <a:p>
              <a:pPr algn="r"/>
              <a:r>
                <a:rPr lang="en-US" sz="1400" dirty="0" smtClean="0">
                  <a:solidFill>
                    <a:srgbClr val="FF0000"/>
                  </a:solidFill>
                </a:rPr>
                <a:t>21</a:t>
              </a:r>
            </a:p>
            <a:p>
              <a:pPr algn="r"/>
              <a:r>
                <a:rPr lang="en-US" sz="1400" dirty="0" smtClean="0">
                  <a:solidFill>
                    <a:srgbClr val="FF0000"/>
                  </a:solidFill>
                </a:rPr>
                <a:t>22</a:t>
              </a:r>
            </a:p>
            <a:p>
              <a:pPr algn="r"/>
              <a:r>
                <a:rPr lang="en-US" sz="1400" dirty="0" smtClean="0">
                  <a:solidFill>
                    <a:srgbClr val="FF0000"/>
                  </a:solidFill>
                </a:rPr>
                <a:t>23</a:t>
              </a:r>
            </a:p>
            <a:p>
              <a:pPr algn="r"/>
              <a:r>
                <a:rPr lang="en-US" sz="1400" dirty="0" smtClean="0">
                  <a:solidFill>
                    <a:srgbClr val="FF0000"/>
                  </a:solidFill>
                </a:rPr>
                <a:t>24</a:t>
              </a:r>
            </a:p>
            <a:p>
              <a:pPr algn="r"/>
              <a:r>
                <a:rPr lang="en-US" sz="1400" dirty="0" smtClean="0">
                  <a:solidFill>
                    <a:srgbClr val="FF0000"/>
                  </a:solidFill>
                </a:rPr>
                <a:t>25</a:t>
              </a:r>
            </a:p>
            <a:p>
              <a:pPr algn="r"/>
              <a:r>
                <a:rPr lang="en-US" sz="1400" dirty="0" smtClean="0">
                  <a:solidFill>
                    <a:srgbClr val="FF0000"/>
                  </a:solidFill>
                </a:rPr>
                <a:t>26</a:t>
              </a:r>
            </a:p>
            <a:p>
              <a:pPr algn="r"/>
              <a:r>
                <a:rPr lang="en-US" sz="1400" dirty="0" smtClean="0">
                  <a:solidFill>
                    <a:srgbClr val="FF0000"/>
                  </a:solidFill>
                </a:rPr>
                <a:t>27</a:t>
              </a:r>
            </a:p>
            <a:p>
              <a:pPr algn="r"/>
              <a:r>
                <a:rPr lang="en-US" sz="1400" dirty="0" smtClean="0">
                  <a:solidFill>
                    <a:srgbClr val="FF0000"/>
                  </a:solidFill>
                </a:rPr>
                <a:t>28</a:t>
              </a:r>
            </a:p>
            <a:p>
              <a:pPr algn="r"/>
              <a:r>
                <a:rPr lang="en-US" sz="1400" dirty="0" smtClean="0">
                  <a:solidFill>
                    <a:srgbClr val="FF0000"/>
                  </a:solidFill>
                </a:rPr>
                <a:t>29</a:t>
              </a:r>
            </a:p>
            <a:p>
              <a:pPr algn="r"/>
              <a:r>
                <a:rPr lang="en-US" sz="1400" dirty="0" smtClean="0">
                  <a:solidFill>
                    <a:srgbClr val="FF0000"/>
                  </a:solidFill>
                </a:rPr>
                <a:t>30</a:t>
              </a:r>
            </a:p>
            <a:p>
              <a:pPr algn="r"/>
              <a:r>
                <a:rPr lang="en-US" sz="1400" dirty="0" smtClean="0">
                  <a:solidFill>
                    <a:srgbClr val="FF0000"/>
                  </a:solidFill>
                </a:rPr>
                <a:t>31</a:t>
              </a:r>
            </a:p>
            <a:p>
              <a:pPr algn="r"/>
              <a:r>
                <a:rPr lang="en-US" sz="1400" dirty="0" smtClean="0">
                  <a:solidFill>
                    <a:srgbClr val="FF0000"/>
                  </a:solidFill>
                </a:rPr>
                <a:t>32</a:t>
              </a:r>
            </a:p>
            <a:p>
              <a:pPr algn="r"/>
              <a:r>
                <a:rPr lang="en-US" sz="1400" dirty="0" smtClean="0">
                  <a:solidFill>
                    <a:srgbClr val="FF0000"/>
                  </a:solidFill>
                </a:rPr>
                <a:t>--</a:t>
              </a:r>
            </a:p>
            <a:p>
              <a:pPr algn="r"/>
              <a:r>
                <a:rPr lang="en-US" sz="1400" dirty="0" smtClean="0">
                  <a:solidFill>
                    <a:srgbClr val="FF0000"/>
                  </a:solidFill>
                </a:rPr>
                <a:t>55</a:t>
              </a:r>
            </a:p>
            <a:p>
              <a:pPr algn="r"/>
              <a:r>
                <a:rPr lang="en-US" sz="1400" dirty="0" smtClean="0">
                  <a:solidFill>
                    <a:srgbClr val="FF0000"/>
                  </a:solidFill>
                </a:rPr>
                <a:t>56</a:t>
              </a:r>
            </a:p>
            <a:p>
              <a:pPr algn="r"/>
              <a:r>
                <a:rPr lang="en-US" sz="1400" dirty="0" smtClean="0">
                  <a:solidFill>
                    <a:srgbClr val="FF0000"/>
                  </a:solidFill>
                </a:rPr>
                <a:t>57</a:t>
              </a:r>
            </a:p>
            <a:p>
              <a:pPr algn="r"/>
              <a:r>
                <a:rPr lang="en-US" sz="1400" dirty="0" smtClean="0">
                  <a:solidFill>
                    <a:srgbClr val="FF0000"/>
                  </a:solidFill>
                </a:rPr>
                <a:t>58</a:t>
              </a:r>
            </a:p>
            <a:p>
              <a:pPr algn="r"/>
              <a:r>
                <a:rPr lang="en-US" sz="1400" dirty="0" smtClean="0">
                  <a:solidFill>
                    <a:srgbClr val="FF0000"/>
                  </a:solidFill>
                </a:rPr>
                <a:t>59</a:t>
              </a:r>
            </a:p>
            <a:p>
              <a:pPr algn="r"/>
              <a:endParaRPr lang="en-US" sz="1400" dirty="0" smtClean="0">
                <a:solidFill>
                  <a:srgbClr val="FF0000"/>
                </a:solidFill>
              </a:endParaRPr>
            </a:p>
            <a:p>
              <a:pPr algn="r"/>
              <a:r>
                <a:rPr lang="en-US" sz="1400" dirty="0" smtClean="0">
                  <a:solidFill>
                    <a:srgbClr val="FF0000"/>
                  </a:solidFill>
                </a:rPr>
                <a:t>60</a:t>
              </a:r>
            </a:p>
            <a:p>
              <a:pPr algn="r"/>
              <a:r>
                <a:rPr lang="en-US" sz="1400" dirty="0" smtClean="0">
                  <a:solidFill>
                    <a:srgbClr val="FF0000"/>
                  </a:solidFill>
                </a:rPr>
                <a:t>--</a:t>
              </a:r>
            </a:p>
          </p:txBody>
        </p:sp>
      </p:grpSp>
      <p:sp>
        <p:nvSpPr>
          <p:cNvPr id="7" name="Slide Number Placeholder 6"/>
          <p:cNvSpPr>
            <a:spLocks noGrp="1"/>
          </p:cNvSpPr>
          <p:nvPr>
            <p:ph type="sldNum" sz="quarter" idx="12"/>
          </p:nvPr>
        </p:nvSpPr>
        <p:spPr/>
        <p:txBody>
          <a:bodyPr/>
          <a:lstStyle/>
          <a:p>
            <a:fld id="{DA934484-767D-4C48-AF0E-A1438A969E59}" type="slidenum">
              <a:rPr lang="en-US" smtClean="0"/>
              <a:pPr/>
              <a:t>25</a:t>
            </a:fld>
            <a:endParaRPr lang="en-US" dirty="0"/>
          </a:p>
        </p:txBody>
      </p:sp>
      <p:sp>
        <p:nvSpPr>
          <p:cNvPr id="13" name="Rectangle 12"/>
          <p:cNvSpPr/>
          <p:nvPr/>
        </p:nvSpPr>
        <p:spPr>
          <a:xfrm>
            <a:off x="683568" y="2284282"/>
            <a:ext cx="8280920" cy="216024"/>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683568" y="2500306"/>
            <a:ext cx="8280920" cy="1643074"/>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p:nvPr/>
        </p:nvCxnSpPr>
        <p:spPr>
          <a:xfrm rot="10800000">
            <a:off x="214282" y="3857628"/>
            <a:ext cx="1643074"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5400000">
            <a:off x="-750131" y="2893215"/>
            <a:ext cx="1928826"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214282" y="1928802"/>
            <a:ext cx="1356824"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4192659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par>
                                <p:cTn id="8" presetID="22" presetClass="entr" presetSubtype="2"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left)">
                                      <p:cBhvr>
                                        <p:cTn id="20" dur="5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right)">
                                      <p:cBhvr>
                                        <p:cTn id="25" dur="500"/>
                                        <p:tgtEl>
                                          <p:spTgt spid="14"/>
                                        </p:tgtEl>
                                      </p:cBhvr>
                                    </p:animEffect>
                                  </p:childTnLst>
                                </p:cTn>
                              </p:par>
                            </p:childTnLst>
                          </p:cTn>
                        </p:par>
                        <p:par>
                          <p:cTn id="26" fill="hold">
                            <p:stCondLst>
                              <p:cond delay="500"/>
                            </p:stCondLst>
                            <p:childTnLst>
                              <p:par>
                                <p:cTn id="27" presetID="22" presetClass="entr" presetSubtype="4" fill="hold" nodeType="after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down)">
                                      <p:cBhvr>
                                        <p:cTn id="29" dur="500"/>
                                        <p:tgtEl>
                                          <p:spTgt spid="17"/>
                                        </p:tgtEl>
                                      </p:cBhvr>
                                    </p:animEffect>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left)">
                                      <p:cBhvr>
                                        <p:cTn id="3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3" grpId="0" animBg="1"/>
      <p:bldP spid="2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0872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smtClean="0">
                <a:solidFill>
                  <a:schemeClr val="accent2"/>
                </a:solidFill>
                <a:latin typeface="Tahoma" charset="0"/>
                <a:cs typeface="Arial" charset="0"/>
              </a:rPr>
              <a:t>15. PROBLEM VARIATION (5)</a:t>
            </a:r>
            <a:endParaRPr lang="en-US" sz="4000" dirty="0">
              <a:solidFill>
                <a:schemeClr val="accent2"/>
              </a:solidFill>
              <a:latin typeface="Tahoma" charset="0"/>
              <a:cs typeface="Arial" charset="0"/>
            </a:endParaRPr>
          </a:p>
        </p:txBody>
      </p:sp>
      <p:sp>
        <p:nvSpPr>
          <p:cNvPr id="7" name="Slide Number Placeholder 6"/>
          <p:cNvSpPr>
            <a:spLocks noGrp="1"/>
          </p:cNvSpPr>
          <p:nvPr>
            <p:ph type="sldNum" sz="quarter" idx="12"/>
          </p:nvPr>
        </p:nvSpPr>
        <p:spPr/>
        <p:txBody>
          <a:bodyPr/>
          <a:lstStyle/>
          <a:p>
            <a:fld id="{DA934484-767D-4C48-AF0E-A1438A969E59}" type="slidenum">
              <a:rPr lang="en-US" smtClean="0"/>
              <a:pPr/>
              <a:t>26</a:t>
            </a:fld>
            <a:endParaRPr lang="en-US"/>
          </a:p>
        </p:txBody>
      </p:sp>
      <p:sp>
        <p:nvSpPr>
          <p:cNvPr id="8" name="Rectangle 3" descr="Rectangle: Click to edit Master text styles&#10;Second level&#10;Third level&#10;Fourth level&#10;Fifth level"/>
          <p:cNvSpPr>
            <a:spLocks noGrp="1" noChangeArrowheads="1"/>
          </p:cNvSpPr>
          <p:nvPr>
            <p:ph idx="1"/>
          </p:nvPr>
        </p:nvSpPr>
        <p:spPr>
          <a:xfrm>
            <a:off x="251520" y="1110952"/>
            <a:ext cx="8712968" cy="5486400"/>
          </a:xfrm>
          <a:prstGeom prst="foldedCorner">
            <a:avLst>
              <a:gd name="adj" fmla="val 36304"/>
            </a:avLst>
          </a:prstGeom>
          <a:solidFill>
            <a:schemeClr val="accent1">
              <a:lumMod val="20000"/>
              <a:lumOff val="80000"/>
            </a:schemeClr>
          </a:solidFill>
          <a:ln>
            <a:solidFill>
              <a:schemeClr val="accent5">
                <a:lumMod val="75000"/>
              </a:schemeClr>
            </a:solidFill>
          </a:ln>
          <a:effectLst>
            <a:outerShdw blurRad="63500" sx="102000" sy="102000" algn="ctr" rotWithShape="0">
              <a:prstClr val="black">
                <a:alpha val="40000"/>
              </a:prstClr>
            </a:outerShdw>
          </a:effectLst>
        </p:spPr>
        <p:txBody>
          <a:bodyPr>
            <a:noAutofit/>
          </a:bodyPr>
          <a:lstStyle/>
          <a:p>
            <a:pPr marL="109728" indent="0" algn="just">
              <a:buNone/>
            </a:pPr>
            <a:r>
              <a:rPr lang="en-US" sz="2000" dirty="0">
                <a:latin typeface="Tahoma" panose="020B0604030504040204" pitchFamily="34" charset="0"/>
                <a:ea typeface="Tahoma" panose="020B0604030504040204" pitchFamily="34" charset="0"/>
                <a:cs typeface="Tahoma" panose="020B0604030504040204" pitchFamily="34" charset="0"/>
              </a:rPr>
              <a:t>Saudi Airlines permit each passenger to hold one bag. The maximum weight allowed for the bag depends on the class of the passenger which is: 30Kg for First class ('F'), 25Kg for Business ('B') and 20Kg for Economy ('E'). If the weight of the bag excesses the allowed one, the passenger should pay 10 SR for each Kg. </a:t>
            </a:r>
            <a:r>
              <a:rPr lang="en-US" sz="2000" dirty="0" smtClean="0">
                <a:solidFill>
                  <a:srgbClr val="FF0000"/>
                </a:solidFill>
                <a:latin typeface="Tahoma" panose="020B0604030504040204" pitchFamily="34" charset="0"/>
                <a:ea typeface="Tahoma" panose="020B0604030504040204" pitchFamily="34" charset="0"/>
                <a:cs typeface="Tahoma" panose="020B0604030504040204" pitchFamily="34" charset="0"/>
              </a:rPr>
              <a:t>A flight is allowed to carry 1000 Kg baggage maximum. No passenger after that is allowed to take the flight.</a:t>
            </a:r>
          </a:p>
          <a:p>
            <a:pPr marL="109728" indent="0">
              <a:buNone/>
            </a:pPr>
            <a:endParaRPr lang="en-US" sz="2000" dirty="0">
              <a:latin typeface="Tahoma" panose="020B0604030504040204" pitchFamily="34" charset="0"/>
              <a:ea typeface="Tahoma" panose="020B0604030504040204" pitchFamily="34" charset="0"/>
              <a:cs typeface="Tahoma" panose="020B0604030504040204" pitchFamily="34" charset="0"/>
            </a:endParaRPr>
          </a:p>
          <a:p>
            <a:pPr marL="109728" indent="0" algn="just">
              <a:buNone/>
            </a:pPr>
            <a:r>
              <a:rPr lang="en-US" sz="2000" dirty="0">
                <a:latin typeface="Tahoma" panose="020B0604030504040204" pitchFamily="34" charset="0"/>
                <a:ea typeface="Tahoma" panose="020B0604030504040204" pitchFamily="34" charset="0"/>
                <a:cs typeface="Tahoma" panose="020B0604030504040204" pitchFamily="34" charset="0"/>
              </a:rPr>
              <a:t>Write a program that calculates the excess baggage </a:t>
            </a:r>
            <a:r>
              <a:rPr lang="en-US" sz="2000" dirty="0" smtClean="0">
                <a:latin typeface="Tahoma" panose="020B0604030504040204" pitchFamily="34" charset="0"/>
                <a:ea typeface="Tahoma" panose="020B0604030504040204" pitchFamily="34" charset="0"/>
                <a:cs typeface="Tahoma" panose="020B0604030504040204" pitchFamily="34" charset="0"/>
              </a:rPr>
              <a:t>charge. </a:t>
            </a:r>
            <a:r>
              <a:rPr lang="en-US" sz="2000" dirty="0">
                <a:latin typeface="Tahoma" panose="020B0604030504040204" pitchFamily="34" charset="0"/>
                <a:ea typeface="Tahoma" panose="020B0604030504040204" pitchFamily="34" charset="0"/>
                <a:cs typeface="Tahoma" panose="020B0604030504040204" pitchFamily="34" charset="0"/>
              </a:rPr>
              <a:t>All input data should be read by the user. Solve the problem using the </a:t>
            </a:r>
            <a:r>
              <a:rPr lang="en-US" sz="2000" b="1" dirty="0">
                <a:latin typeface="Tahoma" panose="020B0604030504040204" pitchFamily="34" charset="0"/>
                <a:ea typeface="Tahoma" panose="020B0604030504040204" pitchFamily="34" charset="0"/>
                <a:cs typeface="Tahoma" panose="020B0604030504040204" pitchFamily="34" charset="0"/>
              </a:rPr>
              <a:t>switch</a:t>
            </a:r>
            <a:r>
              <a:rPr lang="en-US" sz="2000" dirty="0">
                <a:latin typeface="Tahoma" panose="020B0604030504040204" pitchFamily="34" charset="0"/>
                <a:ea typeface="Tahoma" panose="020B0604030504040204" pitchFamily="34" charset="0"/>
                <a:cs typeface="Tahoma" panose="020B0604030504040204" pitchFamily="34" charset="0"/>
              </a:rPr>
              <a:t> statement</a:t>
            </a:r>
            <a:r>
              <a:rPr lang="en-US" sz="2000" dirty="0" smtClean="0">
                <a:latin typeface="Tahoma" panose="020B0604030504040204" pitchFamily="34" charset="0"/>
                <a:ea typeface="Tahoma" panose="020B0604030504040204" pitchFamily="34" charset="0"/>
                <a:cs typeface="Tahoma" panose="020B0604030504040204" pitchFamily="34" charset="0"/>
              </a:rPr>
              <a:t>. The program should repeat as long as the user needs. Display the number of processed passengers.</a:t>
            </a:r>
          </a:p>
        </p:txBody>
      </p:sp>
    </p:spTree>
    <p:extLst>
      <p:ext uri="{BB962C8B-B14F-4D97-AF65-F5344CB8AC3E}">
        <p14:creationId xmlns:p14="http://schemas.microsoft.com/office/powerpoint/2010/main" xmlns="" val="3171002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smtClean="0">
                <a:solidFill>
                  <a:schemeClr val="accent2"/>
                </a:solidFill>
                <a:latin typeface="Tahoma" charset="0"/>
                <a:cs typeface="Arial" charset="0"/>
              </a:rPr>
              <a:t>12. CODE (1)</a:t>
            </a:r>
            <a:endParaRPr lang="en-US" sz="4000" dirty="0">
              <a:solidFill>
                <a:schemeClr val="accent2"/>
              </a:solidFill>
              <a:latin typeface="Tahoma" charset="0"/>
              <a:cs typeface="Arial" charset="0"/>
            </a:endParaRPr>
          </a:p>
        </p:txBody>
      </p:sp>
      <p:cxnSp>
        <p:nvCxnSpPr>
          <p:cNvPr id="16" name="Straight Connector 15"/>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179512" y="1436578"/>
            <a:ext cx="8784976" cy="5016758"/>
            <a:chOff x="258661" y="1236822"/>
            <a:chExt cx="7913739" cy="5016758"/>
          </a:xfrm>
        </p:grpSpPr>
        <p:sp>
          <p:nvSpPr>
            <p:cNvPr id="9" name="TextBox 8"/>
            <p:cNvSpPr txBox="1"/>
            <p:nvPr/>
          </p:nvSpPr>
          <p:spPr>
            <a:xfrm>
              <a:off x="712728" y="1236822"/>
              <a:ext cx="7459672" cy="5016758"/>
            </a:xfrm>
            <a:prstGeom prst="rect">
              <a:avLst/>
            </a:prstGeom>
            <a:solidFill>
              <a:schemeClr val="bg2"/>
            </a:solidFill>
            <a:ln w="28575" cap="rnd" cmpd="thickThin">
              <a:solidFill>
                <a:srgbClr val="0000FF"/>
              </a:solidFill>
            </a:ln>
          </p:spPr>
          <p:txBody>
            <a:bodyPr wrap="square" rtlCol="0">
              <a:spAutoFit/>
            </a:bodyPr>
            <a:lstStyle/>
            <a:p>
              <a:r>
                <a:rPr lang="en-US" sz="1600" dirty="0" smtClean="0">
                  <a:solidFill>
                    <a:srgbClr val="00B050"/>
                  </a:solidFill>
                </a:rPr>
                <a:t>// import necessary libraries</a:t>
              </a:r>
            </a:p>
            <a:p>
              <a:r>
                <a:rPr lang="en-US" sz="1600" dirty="0" smtClean="0">
                  <a:solidFill>
                    <a:srgbClr val="00B0F0"/>
                  </a:solidFill>
                </a:rPr>
                <a:t>import</a:t>
              </a:r>
              <a:r>
                <a:rPr lang="en-US" sz="1600" dirty="0" smtClean="0"/>
                <a:t> </a:t>
              </a:r>
              <a:r>
                <a:rPr lang="en-US" sz="1600" dirty="0" err="1" smtClean="0">
                  <a:solidFill>
                    <a:srgbClr val="00B0F0"/>
                  </a:solidFill>
                </a:rPr>
                <a:t>java.util</a:t>
              </a:r>
              <a:r>
                <a:rPr lang="en-US" sz="1600" dirty="0" smtClean="0">
                  <a:solidFill>
                    <a:srgbClr val="00B0F0"/>
                  </a:solidFill>
                </a:rPr>
                <a:t>.*</a:t>
              </a:r>
              <a:r>
                <a:rPr lang="en-US" sz="1600" dirty="0" smtClean="0"/>
                <a:t>;</a:t>
              </a:r>
            </a:p>
            <a:p>
              <a:r>
                <a:rPr lang="en-US" sz="1600" dirty="0" smtClean="0">
                  <a:solidFill>
                    <a:srgbClr val="00B0F0"/>
                  </a:solidFill>
                </a:rPr>
                <a:t>public class</a:t>
              </a:r>
              <a:r>
                <a:rPr lang="en-US" sz="1600" dirty="0" smtClean="0">
                  <a:solidFill>
                    <a:srgbClr val="0000FF"/>
                  </a:solidFill>
                </a:rPr>
                <a:t> passenger</a:t>
              </a:r>
            </a:p>
            <a:p>
              <a:r>
                <a:rPr lang="en-US" sz="1600" dirty="0" smtClean="0">
                  <a:solidFill>
                    <a:srgbClr val="0000FF"/>
                  </a:solidFill>
                </a:rPr>
                <a:t>{</a:t>
              </a:r>
            </a:p>
            <a:p>
              <a:r>
                <a:rPr lang="en-US" sz="1600" dirty="0">
                  <a:solidFill>
                    <a:srgbClr val="00B050"/>
                  </a:solidFill>
                </a:rPr>
                <a:t> </a:t>
              </a:r>
              <a:r>
                <a:rPr lang="en-US" sz="1600" dirty="0" smtClean="0">
                  <a:solidFill>
                    <a:srgbClr val="00B050"/>
                  </a:solidFill>
                </a:rPr>
                <a:t>   // instantiate Scanner object</a:t>
              </a:r>
            </a:p>
            <a:p>
              <a:r>
                <a:rPr lang="en-US" sz="1600" dirty="0" smtClean="0">
                  <a:solidFill>
                    <a:srgbClr val="00B0F0"/>
                  </a:solidFill>
                </a:rPr>
                <a:t>    static </a:t>
              </a:r>
              <a:r>
                <a:rPr lang="en-US" sz="1600" dirty="0" smtClean="0">
                  <a:solidFill>
                    <a:srgbClr val="00B050"/>
                  </a:solidFill>
                </a:rPr>
                <a:t>Scanner </a:t>
              </a:r>
              <a:r>
                <a:rPr lang="en-US" sz="1600" dirty="0" smtClean="0">
                  <a:solidFill>
                    <a:srgbClr val="0000FF"/>
                  </a:solidFill>
                </a:rPr>
                <a:t>read</a:t>
              </a:r>
              <a:r>
                <a:rPr lang="en-US" sz="1600" dirty="0" smtClean="0"/>
                <a:t> = </a:t>
              </a:r>
              <a:r>
                <a:rPr lang="en-US" sz="1600" dirty="0" smtClean="0">
                  <a:solidFill>
                    <a:srgbClr val="00B0F0"/>
                  </a:solidFill>
                </a:rPr>
                <a:t>new </a:t>
              </a:r>
              <a:r>
                <a:rPr lang="en-US" sz="1600" dirty="0" smtClean="0">
                  <a:solidFill>
                    <a:srgbClr val="00B050"/>
                  </a:solidFill>
                </a:rPr>
                <a:t>Scanner(System.in)</a:t>
              </a:r>
              <a:r>
                <a:rPr lang="en-US" sz="1600" dirty="0" smtClean="0"/>
                <a:t>;</a:t>
              </a:r>
            </a:p>
            <a:p>
              <a:r>
                <a:rPr lang="en-US" sz="1600" dirty="0">
                  <a:solidFill>
                    <a:srgbClr val="00B050"/>
                  </a:solidFill>
                </a:rPr>
                <a:t> </a:t>
              </a:r>
              <a:r>
                <a:rPr lang="en-US" sz="1600" dirty="0" smtClean="0">
                  <a:solidFill>
                    <a:srgbClr val="00B050"/>
                  </a:solidFill>
                </a:rPr>
                <a:t>   // define the sentinel</a:t>
              </a:r>
            </a:p>
            <a:p>
              <a:r>
                <a:rPr lang="en-US" sz="1600" dirty="0"/>
                <a:t> </a:t>
              </a:r>
              <a:r>
                <a:rPr lang="en-US" sz="1600" dirty="0" smtClean="0"/>
                <a:t>   </a:t>
              </a:r>
              <a:r>
                <a:rPr lang="en-US" sz="1600" dirty="0" smtClean="0">
                  <a:solidFill>
                    <a:srgbClr val="00B0F0"/>
                  </a:solidFill>
                </a:rPr>
                <a:t>static final char </a:t>
              </a:r>
              <a:r>
                <a:rPr lang="en-US" sz="1600" dirty="0" smtClean="0">
                  <a:solidFill>
                    <a:srgbClr val="0000FF"/>
                  </a:solidFill>
                </a:rPr>
                <a:t>SENTINEL </a:t>
              </a:r>
              <a:r>
                <a:rPr lang="en-US" sz="1600" dirty="0" smtClean="0"/>
                <a:t>= ‘*’;</a:t>
              </a:r>
            </a:p>
            <a:p>
              <a:r>
                <a:rPr lang="en-US" sz="1600" dirty="0" smtClean="0">
                  <a:solidFill>
                    <a:srgbClr val="0000FF"/>
                  </a:solidFill>
                </a:rPr>
                <a:t>    </a:t>
              </a:r>
              <a:r>
                <a:rPr lang="en-US" sz="1600" dirty="0" smtClean="0">
                  <a:solidFill>
                    <a:srgbClr val="00B0F0"/>
                  </a:solidFill>
                </a:rPr>
                <a:t>public static void main (String[] </a:t>
              </a:r>
              <a:r>
                <a:rPr lang="en-US" sz="1600" dirty="0" err="1" smtClean="0">
                  <a:solidFill>
                    <a:srgbClr val="00B0F0"/>
                  </a:solidFill>
                </a:rPr>
                <a:t>args</a:t>
              </a:r>
              <a:r>
                <a:rPr lang="en-US" sz="1600" dirty="0" smtClean="0">
                  <a:solidFill>
                    <a:srgbClr val="00B0F0"/>
                  </a:solidFill>
                </a:rPr>
                <a:t>)</a:t>
              </a:r>
            </a:p>
            <a:p>
              <a:r>
                <a:rPr lang="en-US" sz="1600" dirty="0" smtClean="0">
                  <a:solidFill>
                    <a:srgbClr val="0000FF"/>
                  </a:solidFill>
                </a:rPr>
                <a:t>      {</a:t>
              </a:r>
            </a:p>
            <a:p>
              <a:r>
                <a:rPr lang="en-US" sz="1600" dirty="0">
                  <a:solidFill>
                    <a:srgbClr val="00B050"/>
                  </a:solidFill>
                </a:rPr>
                <a:t> </a:t>
              </a:r>
              <a:r>
                <a:rPr lang="en-US" sz="1600" dirty="0" smtClean="0">
                  <a:solidFill>
                    <a:srgbClr val="00B050"/>
                  </a:solidFill>
                </a:rPr>
                <a:t>         // Declaration section</a:t>
              </a:r>
            </a:p>
            <a:p>
              <a:r>
                <a:rPr lang="en-US" sz="1600" dirty="0" smtClean="0"/>
                <a:t>	</a:t>
              </a:r>
              <a:r>
                <a:rPr lang="en-US" sz="1600" dirty="0" smtClean="0">
                  <a:solidFill>
                    <a:srgbClr val="00B0F0"/>
                  </a:solidFill>
                </a:rPr>
                <a:t>char </a:t>
              </a:r>
              <a:r>
                <a:rPr lang="en-US" sz="1600" dirty="0" err="1" smtClean="0">
                  <a:solidFill>
                    <a:srgbClr val="0000FF"/>
                  </a:solidFill>
                </a:rPr>
                <a:t>passClass</a:t>
              </a:r>
              <a:r>
                <a:rPr lang="en-US" sz="1600" dirty="0" smtClean="0"/>
                <a:t>;</a:t>
              </a:r>
              <a:r>
                <a:rPr lang="en-US" sz="1600" dirty="0" smtClean="0">
                  <a:solidFill>
                    <a:srgbClr val="00B050"/>
                  </a:solidFill>
                </a:rPr>
                <a:t>		// passenger’s class</a:t>
              </a:r>
            </a:p>
            <a:p>
              <a:r>
                <a:rPr lang="en-US" sz="1600" dirty="0"/>
                <a:t>	</a:t>
              </a:r>
              <a:r>
                <a:rPr lang="en-US" sz="1600" dirty="0" smtClean="0">
                  <a:solidFill>
                    <a:srgbClr val="00B0F0"/>
                  </a:solidFill>
                </a:rPr>
                <a:t>double </a:t>
              </a:r>
              <a:r>
                <a:rPr lang="en-US" sz="1600" dirty="0" err="1" smtClean="0">
                  <a:solidFill>
                    <a:srgbClr val="0000FF"/>
                  </a:solidFill>
                </a:rPr>
                <a:t>bagWeight</a:t>
              </a:r>
              <a:r>
                <a:rPr lang="en-US" sz="1600" dirty="0" smtClean="0"/>
                <a:t>,</a:t>
              </a:r>
              <a:r>
                <a:rPr lang="en-US" sz="1600" dirty="0" smtClean="0">
                  <a:solidFill>
                    <a:srgbClr val="00B0F0"/>
                  </a:solidFill>
                </a:rPr>
                <a:t> </a:t>
              </a:r>
              <a:r>
                <a:rPr lang="en-US" sz="1600" dirty="0" err="1" smtClean="0">
                  <a:solidFill>
                    <a:srgbClr val="0000FF"/>
                  </a:solidFill>
                </a:rPr>
                <a:t>excessWeight</a:t>
              </a:r>
              <a:r>
                <a:rPr lang="en-US" sz="1600" dirty="0" smtClean="0">
                  <a:solidFill>
                    <a:srgbClr val="0000FF"/>
                  </a:solidFill>
                </a:rPr>
                <a:t> = 0</a:t>
              </a:r>
              <a:r>
                <a:rPr lang="en-US" sz="1600" dirty="0" smtClean="0"/>
                <a:t>;</a:t>
              </a:r>
            </a:p>
            <a:p>
              <a:r>
                <a:rPr lang="en-US" sz="1600" dirty="0"/>
                <a:t> </a:t>
              </a:r>
              <a:r>
                <a:rPr lang="en-US" sz="1600" dirty="0" smtClean="0"/>
                <a:t>             </a:t>
              </a:r>
              <a:r>
                <a:rPr lang="en-US" sz="1600" dirty="0" smtClean="0">
                  <a:solidFill>
                    <a:srgbClr val="00B0F0"/>
                  </a:solidFill>
                </a:rPr>
                <a:t>double </a:t>
              </a:r>
              <a:r>
                <a:rPr lang="en-US" sz="1600" dirty="0" err="1" smtClean="0">
                  <a:solidFill>
                    <a:srgbClr val="0000FF"/>
                  </a:solidFill>
                </a:rPr>
                <a:t>currentTotalWeight</a:t>
              </a:r>
              <a:r>
                <a:rPr lang="en-US" sz="1600" dirty="0" smtClean="0">
                  <a:solidFill>
                    <a:srgbClr val="0000FF"/>
                  </a:solidFill>
                </a:rPr>
                <a:t> </a:t>
              </a:r>
              <a:r>
                <a:rPr lang="en-US" sz="1600" dirty="0" smtClean="0"/>
                <a:t>= 0.0; </a:t>
              </a:r>
              <a:r>
                <a:rPr lang="en-US" sz="1600" dirty="0" smtClean="0">
                  <a:solidFill>
                    <a:srgbClr val="00B050"/>
                  </a:solidFill>
                </a:rPr>
                <a:t>//accumulator</a:t>
              </a:r>
            </a:p>
            <a:p>
              <a:r>
                <a:rPr lang="en-US" sz="1600" dirty="0">
                  <a:solidFill>
                    <a:srgbClr val="0000FF"/>
                  </a:solidFill>
                </a:rPr>
                <a:t> </a:t>
              </a:r>
              <a:r>
                <a:rPr lang="en-US" sz="1600" dirty="0" smtClean="0">
                  <a:solidFill>
                    <a:srgbClr val="0000FF"/>
                  </a:solidFill>
                </a:rPr>
                <a:t>            </a:t>
              </a:r>
              <a:r>
                <a:rPr lang="en-US" sz="1600" dirty="0" smtClean="0">
                  <a:solidFill>
                    <a:srgbClr val="00B0F0"/>
                  </a:solidFill>
                </a:rPr>
                <a:t> double</a:t>
              </a:r>
              <a:r>
                <a:rPr lang="en-US" sz="1600" dirty="0" smtClean="0">
                  <a:solidFill>
                    <a:srgbClr val="0000FF"/>
                  </a:solidFill>
                </a:rPr>
                <a:t> charge = -1</a:t>
              </a:r>
              <a:r>
                <a:rPr lang="en-US" sz="1600" dirty="0" smtClean="0"/>
                <a:t>;	</a:t>
              </a:r>
            </a:p>
            <a:p>
              <a:r>
                <a:rPr lang="en-US" sz="1600" dirty="0"/>
                <a:t> </a:t>
              </a:r>
              <a:r>
                <a:rPr lang="en-US" sz="1600" dirty="0" smtClean="0"/>
                <a:t>             </a:t>
              </a:r>
              <a:r>
                <a:rPr lang="en-US" sz="1600" dirty="0" err="1" smtClean="0">
                  <a:solidFill>
                    <a:srgbClr val="00B0F0"/>
                  </a:solidFill>
                </a:rPr>
                <a:t>int</a:t>
              </a:r>
              <a:r>
                <a:rPr lang="en-US" sz="1600" dirty="0" smtClean="0"/>
                <a:t> </a:t>
              </a:r>
              <a:r>
                <a:rPr lang="en-US" sz="1600" dirty="0" err="1" smtClean="0">
                  <a:solidFill>
                    <a:srgbClr val="0000FF"/>
                  </a:solidFill>
                </a:rPr>
                <a:t>numberOfPassengers</a:t>
              </a:r>
              <a:r>
                <a:rPr lang="en-US" sz="1600" dirty="0" smtClean="0">
                  <a:solidFill>
                    <a:srgbClr val="0000FF"/>
                  </a:solidFill>
                </a:rPr>
                <a:t> </a:t>
              </a:r>
              <a:r>
                <a:rPr lang="en-US" sz="1600" dirty="0" smtClean="0"/>
                <a:t>= 0; </a:t>
              </a:r>
              <a:r>
                <a:rPr lang="en-US" sz="1600" dirty="0" smtClean="0">
                  <a:solidFill>
                    <a:srgbClr val="00B050"/>
                  </a:solidFill>
                </a:rPr>
                <a:t>//initialize the counter</a:t>
              </a:r>
            </a:p>
            <a:p>
              <a:r>
                <a:rPr lang="en-US" sz="1600" dirty="0" smtClean="0">
                  <a:solidFill>
                    <a:srgbClr val="00B050"/>
                  </a:solidFill>
                </a:rPr>
                <a:t>          // Input section</a:t>
              </a:r>
            </a:p>
            <a:p>
              <a:r>
                <a:rPr lang="en-US" sz="1600" dirty="0" smtClean="0"/>
                <a:t>              </a:t>
              </a:r>
              <a:r>
                <a:rPr lang="en-US" sz="1600" dirty="0" err="1" smtClean="0">
                  <a:solidFill>
                    <a:srgbClr val="00B0F0"/>
                  </a:solidFill>
                </a:rPr>
                <a:t>System.out.print</a:t>
              </a:r>
              <a:r>
                <a:rPr lang="en-US" sz="1600" dirty="0" smtClean="0"/>
                <a:t> (“Please enter passenger’s class, %c to exit”, </a:t>
              </a:r>
              <a:r>
                <a:rPr lang="en-US" sz="1600" dirty="0" smtClean="0">
                  <a:solidFill>
                    <a:srgbClr val="0000FF"/>
                  </a:solidFill>
                </a:rPr>
                <a:t>SENTINEL</a:t>
              </a:r>
              <a:r>
                <a:rPr lang="en-US" sz="1600" dirty="0" smtClean="0"/>
                <a:t>);</a:t>
              </a:r>
            </a:p>
            <a:p>
              <a:r>
                <a:rPr lang="en-US" sz="1600" dirty="0"/>
                <a:t> </a:t>
              </a:r>
              <a:r>
                <a:rPr lang="en-US" sz="1600" dirty="0" smtClean="0"/>
                <a:t>             </a:t>
              </a:r>
              <a:r>
                <a:rPr lang="en-US" sz="1600" dirty="0" err="1" smtClean="0">
                  <a:solidFill>
                    <a:srgbClr val="0000FF"/>
                  </a:solidFill>
                </a:rPr>
                <a:t>passClass</a:t>
              </a:r>
              <a:r>
                <a:rPr lang="en-US" sz="1600" dirty="0" smtClean="0">
                  <a:solidFill>
                    <a:srgbClr val="0000FF"/>
                  </a:solidFill>
                </a:rPr>
                <a:t> </a:t>
              </a:r>
              <a:r>
                <a:rPr lang="en-US" sz="1600" dirty="0" smtClean="0"/>
                <a:t>=  </a:t>
              </a:r>
              <a:r>
                <a:rPr lang="en-US" sz="1600" dirty="0" err="1" smtClean="0">
                  <a:solidFill>
                    <a:srgbClr val="0000FF"/>
                  </a:solidFill>
                </a:rPr>
                <a:t>read</a:t>
              </a:r>
              <a:r>
                <a:rPr lang="en-US" sz="1600" dirty="0" err="1" smtClean="0"/>
                <a:t>.</a:t>
              </a:r>
              <a:r>
                <a:rPr lang="en-US" sz="1600" dirty="0" err="1" smtClean="0">
                  <a:solidFill>
                    <a:srgbClr val="00B050"/>
                  </a:solidFill>
                </a:rPr>
                <a:t>next</a:t>
              </a:r>
              <a:r>
                <a:rPr lang="en-US" sz="1600" dirty="0" smtClean="0">
                  <a:solidFill>
                    <a:srgbClr val="00B050"/>
                  </a:solidFill>
                </a:rPr>
                <a:t>().</a:t>
              </a:r>
              <a:r>
                <a:rPr lang="en-US" sz="1600" dirty="0" err="1" smtClean="0">
                  <a:solidFill>
                    <a:srgbClr val="00B050"/>
                  </a:solidFill>
                </a:rPr>
                <a:t>charAt</a:t>
              </a:r>
              <a:r>
                <a:rPr lang="en-US" sz="1600" dirty="0" smtClean="0">
                  <a:solidFill>
                    <a:srgbClr val="00B050"/>
                  </a:solidFill>
                </a:rPr>
                <a:t>(0)</a:t>
              </a:r>
              <a:r>
                <a:rPr lang="en-US" sz="1600" dirty="0" smtClean="0"/>
                <a:t>;	</a:t>
              </a:r>
              <a:r>
                <a:rPr lang="en-US" sz="1600" dirty="0" smtClean="0">
                  <a:solidFill>
                    <a:srgbClr val="00B050"/>
                  </a:solidFill>
                </a:rPr>
                <a:t>// read passenger’s class</a:t>
              </a:r>
            </a:p>
            <a:p>
              <a:r>
                <a:rPr lang="en-US" sz="1600" dirty="0">
                  <a:solidFill>
                    <a:srgbClr val="00B050"/>
                  </a:solidFill>
                </a:rPr>
                <a:t> </a:t>
              </a:r>
              <a:r>
                <a:rPr lang="en-US" sz="1600" dirty="0" smtClean="0">
                  <a:solidFill>
                    <a:srgbClr val="00B050"/>
                  </a:solidFill>
                </a:rPr>
                <a:t>         // start looping as long as the </a:t>
              </a:r>
              <a:r>
                <a:rPr lang="en-US" sz="1600" dirty="0" err="1" smtClean="0">
                  <a:solidFill>
                    <a:srgbClr val="00B050"/>
                  </a:solidFill>
                </a:rPr>
                <a:t>passClass</a:t>
              </a:r>
              <a:r>
                <a:rPr lang="en-US" sz="1600" dirty="0" smtClean="0">
                  <a:solidFill>
                    <a:srgbClr val="00B050"/>
                  </a:solidFill>
                </a:rPr>
                <a:t> does not equal the SENTINEL</a:t>
              </a:r>
            </a:p>
          </p:txBody>
        </p:sp>
        <p:sp>
          <p:nvSpPr>
            <p:cNvPr id="10" name="TextBox 9"/>
            <p:cNvSpPr txBox="1"/>
            <p:nvPr/>
          </p:nvSpPr>
          <p:spPr>
            <a:xfrm>
              <a:off x="258661" y="1236822"/>
              <a:ext cx="454067" cy="5016758"/>
            </a:xfrm>
            <a:prstGeom prst="rect">
              <a:avLst/>
            </a:prstGeom>
            <a:noFill/>
          </p:spPr>
          <p:txBody>
            <a:bodyPr wrap="square" rtlCol="0">
              <a:spAutoFit/>
            </a:bodyPr>
            <a:lstStyle/>
            <a:p>
              <a:pPr algn="r"/>
              <a:r>
                <a:rPr lang="en-US" sz="1600" dirty="0" smtClean="0">
                  <a:solidFill>
                    <a:srgbClr val="FF0000"/>
                  </a:solidFill>
                </a:rPr>
                <a:t>1</a:t>
              </a:r>
            </a:p>
            <a:p>
              <a:pPr algn="r"/>
              <a:r>
                <a:rPr lang="en-US" sz="1600" dirty="0" smtClean="0">
                  <a:solidFill>
                    <a:srgbClr val="FF0000"/>
                  </a:solidFill>
                </a:rPr>
                <a:t>2</a:t>
              </a:r>
            </a:p>
            <a:p>
              <a:pPr algn="r"/>
              <a:r>
                <a:rPr lang="en-US" sz="1600" dirty="0" smtClean="0">
                  <a:solidFill>
                    <a:srgbClr val="FF0000"/>
                  </a:solidFill>
                </a:rPr>
                <a:t>3</a:t>
              </a:r>
            </a:p>
            <a:p>
              <a:pPr algn="r"/>
              <a:r>
                <a:rPr lang="en-US" sz="1600" dirty="0" smtClean="0">
                  <a:solidFill>
                    <a:srgbClr val="FF0000"/>
                  </a:solidFill>
                </a:rPr>
                <a:t>4</a:t>
              </a:r>
            </a:p>
            <a:p>
              <a:pPr algn="r"/>
              <a:r>
                <a:rPr lang="en-US" sz="1600" dirty="0" smtClean="0">
                  <a:solidFill>
                    <a:srgbClr val="FF0000"/>
                  </a:solidFill>
                </a:rPr>
                <a:t>5</a:t>
              </a:r>
            </a:p>
            <a:p>
              <a:pPr algn="r"/>
              <a:r>
                <a:rPr lang="en-US" sz="1600" dirty="0" smtClean="0">
                  <a:solidFill>
                    <a:srgbClr val="FF0000"/>
                  </a:solidFill>
                </a:rPr>
                <a:t>6</a:t>
              </a:r>
            </a:p>
            <a:p>
              <a:pPr algn="r"/>
              <a:r>
                <a:rPr lang="en-US" sz="1600" dirty="0" smtClean="0">
                  <a:solidFill>
                    <a:srgbClr val="FF0000"/>
                  </a:solidFill>
                </a:rPr>
                <a:t>7</a:t>
              </a:r>
            </a:p>
            <a:p>
              <a:pPr algn="r"/>
              <a:r>
                <a:rPr lang="en-US" sz="1600" dirty="0" smtClean="0">
                  <a:solidFill>
                    <a:srgbClr val="FF0000"/>
                  </a:solidFill>
                </a:rPr>
                <a:t>8</a:t>
              </a:r>
            </a:p>
            <a:p>
              <a:pPr algn="r"/>
              <a:r>
                <a:rPr lang="en-US" sz="1600" dirty="0" smtClean="0">
                  <a:solidFill>
                    <a:srgbClr val="FF0000"/>
                  </a:solidFill>
                </a:rPr>
                <a:t>9</a:t>
              </a:r>
            </a:p>
            <a:p>
              <a:pPr algn="r"/>
              <a:r>
                <a:rPr lang="en-US" sz="1600" dirty="0" smtClean="0">
                  <a:solidFill>
                    <a:srgbClr val="FF0000"/>
                  </a:solidFill>
                </a:rPr>
                <a:t>10</a:t>
              </a:r>
            </a:p>
            <a:p>
              <a:pPr algn="r"/>
              <a:r>
                <a:rPr lang="en-US" sz="1600" dirty="0" smtClean="0">
                  <a:solidFill>
                    <a:srgbClr val="FF0000"/>
                  </a:solidFill>
                </a:rPr>
                <a:t>11</a:t>
              </a:r>
            </a:p>
            <a:p>
              <a:pPr algn="r"/>
              <a:r>
                <a:rPr lang="en-US" sz="1600" dirty="0" smtClean="0">
                  <a:solidFill>
                    <a:srgbClr val="FF0000"/>
                  </a:solidFill>
                </a:rPr>
                <a:t>12</a:t>
              </a:r>
            </a:p>
            <a:p>
              <a:pPr algn="r"/>
              <a:r>
                <a:rPr lang="en-US" sz="1600" dirty="0" smtClean="0">
                  <a:solidFill>
                    <a:srgbClr val="FF0000"/>
                  </a:solidFill>
                </a:rPr>
                <a:t>13</a:t>
              </a:r>
            </a:p>
            <a:p>
              <a:pPr algn="r"/>
              <a:r>
                <a:rPr lang="en-US" sz="1600" dirty="0" smtClean="0">
                  <a:solidFill>
                    <a:srgbClr val="FF0000"/>
                  </a:solidFill>
                </a:rPr>
                <a:t>14</a:t>
              </a:r>
            </a:p>
            <a:p>
              <a:pPr algn="r"/>
              <a:r>
                <a:rPr lang="en-US" sz="1600" dirty="0" smtClean="0">
                  <a:solidFill>
                    <a:srgbClr val="FF0000"/>
                  </a:solidFill>
                </a:rPr>
                <a:t>15</a:t>
              </a:r>
            </a:p>
            <a:p>
              <a:pPr algn="r"/>
              <a:r>
                <a:rPr lang="en-US" sz="1600" dirty="0" smtClean="0">
                  <a:solidFill>
                    <a:srgbClr val="FF0000"/>
                  </a:solidFill>
                </a:rPr>
                <a:t>16</a:t>
              </a:r>
            </a:p>
            <a:p>
              <a:pPr algn="r"/>
              <a:r>
                <a:rPr lang="en-US" sz="1600" dirty="0" smtClean="0">
                  <a:solidFill>
                    <a:srgbClr val="FF0000"/>
                  </a:solidFill>
                </a:rPr>
                <a:t>17</a:t>
              </a:r>
            </a:p>
            <a:p>
              <a:pPr algn="r"/>
              <a:r>
                <a:rPr lang="en-US" sz="1600" dirty="0" smtClean="0">
                  <a:solidFill>
                    <a:srgbClr val="FF0000"/>
                  </a:solidFill>
                </a:rPr>
                <a:t>18</a:t>
              </a:r>
            </a:p>
            <a:p>
              <a:pPr algn="r"/>
              <a:r>
                <a:rPr lang="en-US" sz="1600" dirty="0" smtClean="0">
                  <a:solidFill>
                    <a:srgbClr val="FF0000"/>
                  </a:solidFill>
                </a:rPr>
                <a:t>19</a:t>
              </a:r>
            </a:p>
            <a:p>
              <a:pPr algn="r"/>
              <a:r>
                <a:rPr lang="en-US" sz="1600" dirty="0" smtClean="0">
                  <a:solidFill>
                    <a:srgbClr val="FF0000"/>
                  </a:solidFill>
                </a:rPr>
                <a:t>20</a:t>
              </a:r>
            </a:p>
          </p:txBody>
        </p:sp>
      </p:grpSp>
      <p:sp>
        <p:nvSpPr>
          <p:cNvPr id="7" name="Slide Number Placeholder 6"/>
          <p:cNvSpPr>
            <a:spLocks noGrp="1"/>
          </p:cNvSpPr>
          <p:nvPr>
            <p:ph type="sldNum" sz="quarter" idx="12"/>
          </p:nvPr>
        </p:nvSpPr>
        <p:spPr/>
        <p:txBody>
          <a:bodyPr/>
          <a:lstStyle/>
          <a:p>
            <a:fld id="{DA934484-767D-4C48-AF0E-A1438A969E59}" type="slidenum">
              <a:rPr lang="en-US" smtClean="0"/>
              <a:pPr/>
              <a:t>27</a:t>
            </a:fld>
            <a:endParaRPr lang="en-US" dirty="0"/>
          </a:p>
        </p:txBody>
      </p:sp>
      <p:sp>
        <p:nvSpPr>
          <p:cNvPr id="13" name="Rectangle 12"/>
          <p:cNvSpPr/>
          <p:nvPr/>
        </p:nvSpPr>
        <p:spPr>
          <a:xfrm>
            <a:off x="683568" y="4641736"/>
            <a:ext cx="8280920" cy="216024"/>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997192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par>
                                <p:cTn id="8" presetID="22" presetClass="entr" presetSubtype="2"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836712"/>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cxnSp>
        <p:nvCxnSpPr>
          <p:cNvPr id="4" name="Straight Connector 3"/>
          <p:cNvCxnSpPr/>
          <p:nvPr/>
        </p:nvCxnSpPr>
        <p:spPr>
          <a:xfrm>
            <a:off x="0" y="764704"/>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smtClean="0">
                <a:solidFill>
                  <a:schemeClr val="accent2"/>
                </a:solidFill>
                <a:latin typeface="Tahoma" charset="0"/>
                <a:cs typeface="Arial" charset="0"/>
              </a:rPr>
              <a:t>12. CODE (2)</a:t>
            </a:r>
            <a:endParaRPr lang="en-US" sz="4000" dirty="0">
              <a:solidFill>
                <a:schemeClr val="accent2"/>
              </a:solidFill>
              <a:latin typeface="Tahoma" charset="0"/>
              <a:cs typeface="Arial" charset="0"/>
            </a:endParaRPr>
          </a:p>
        </p:txBody>
      </p:sp>
      <p:cxnSp>
        <p:nvCxnSpPr>
          <p:cNvPr id="16" name="Straight Connector 15"/>
          <p:cNvCxnSpPr/>
          <p:nvPr/>
        </p:nvCxnSpPr>
        <p:spPr>
          <a:xfrm>
            <a:off x="0" y="119675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179512" y="1599178"/>
            <a:ext cx="8784976" cy="4278094"/>
            <a:chOff x="258661" y="1236822"/>
            <a:chExt cx="7913739" cy="4278094"/>
          </a:xfrm>
        </p:grpSpPr>
        <p:sp>
          <p:nvSpPr>
            <p:cNvPr id="9" name="TextBox 8"/>
            <p:cNvSpPr txBox="1"/>
            <p:nvPr/>
          </p:nvSpPr>
          <p:spPr>
            <a:xfrm>
              <a:off x="712728" y="1236822"/>
              <a:ext cx="7459672" cy="4278094"/>
            </a:xfrm>
            <a:prstGeom prst="rect">
              <a:avLst/>
            </a:prstGeom>
            <a:solidFill>
              <a:schemeClr val="bg2"/>
            </a:solidFill>
            <a:ln w="28575" cap="rnd" cmpd="thickThin">
              <a:solidFill>
                <a:srgbClr val="0000FF"/>
              </a:solidFill>
            </a:ln>
          </p:spPr>
          <p:txBody>
            <a:bodyPr wrap="square" rtlCol="0">
              <a:spAutoFit/>
            </a:bodyPr>
            <a:lstStyle/>
            <a:p>
              <a:r>
                <a:rPr lang="en-US" sz="1600" dirty="0" smtClean="0">
                  <a:solidFill>
                    <a:srgbClr val="00B050"/>
                  </a:solidFill>
                </a:rPr>
                <a:t>          // start looping as long as the </a:t>
              </a:r>
              <a:r>
                <a:rPr lang="en-US" sz="1600" dirty="0" err="1" smtClean="0">
                  <a:solidFill>
                    <a:srgbClr val="00B050"/>
                  </a:solidFill>
                </a:rPr>
                <a:t>passClass</a:t>
              </a:r>
              <a:r>
                <a:rPr lang="en-US" sz="1600" dirty="0" smtClean="0">
                  <a:solidFill>
                    <a:srgbClr val="00B050"/>
                  </a:solidFill>
                </a:rPr>
                <a:t> does not equal the SENTINEL</a:t>
              </a:r>
            </a:p>
            <a:p>
              <a:r>
                <a:rPr lang="en-US" sz="1600" dirty="0">
                  <a:solidFill>
                    <a:srgbClr val="00B050"/>
                  </a:solidFill>
                </a:rPr>
                <a:t> </a:t>
              </a:r>
              <a:r>
                <a:rPr lang="en-US" sz="1600" dirty="0" smtClean="0">
                  <a:solidFill>
                    <a:srgbClr val="00B050"/>
                  </a:solidFill>
                </a:rPr>
                <a:t>             </a:t>
              </a:r>
              <a:r>
                <a:rPr lang="en-US" sz="1600" dirty="0" smtClean="0">
                  <a:solidFill>
                    <a:srgbClr val="00B0F0"/>
                  </a:solidFill>
                </a:rPr>
                <a:t>while </a:t>
              </a:r>
              <a:r>
                <a:rPr lang="en-US" sz="1600" dirty="0" smtClean="0"/>
                <a:t>(</a:t>
              </a:r>
              <a:r>
                <a:rPr lang="en-US" sz="1600" dirty="0" err="1" smtClean="0">
                  <a:solidFill>
                    <a:srgbClr val="0000FF"/>
                  </a:solidFill>
                </a:rPr>
                <a:t>passClass</a:t>
              </a:r>
              <a:r>
                <a:rPr lang="en-US" sz="1600" dirty="0" smtClean="0">
                  <a:solidFill>
                    <a:srgbClr val="0000FF"/>
                  </a:solidFill>
                </a:rPr>
                <a:t> </a:t>
              </a:r>
              <a:r>
                <a:rPr lang="en-US" sz="1600" dirty="0" smtClean="0"/>
                <a:t>!= </a:t>
              </a:r>
              <a:r>
                <a:rPr lang="en-US" sz="1600" dirty="0" smtClean="0">
                  <a:solidFill>
                    <a:srgbClr val="0000FF"/>
                  </a:solidFill>
                </a:rPr>
                <a:t>SENTINEL</a:t>
              </a:r>
              <a:r>
                <a:rPr lang="en-US" sz="1600" dirty="0" smtClean="0"/>
                <a:t>)</a:t>
              </a:r>
            </a:p>
            <a:p>
              <a:r>
                <a:rPr lang="en-US" sz="1600" dirty="0">
                  <a:solidFill>
                    <a:srgbClr val="00B050"/>
                  </a:solidFill>
                </a:rPr>
                <a:t> </a:t>
              </a:r>
              <a:r>
                <a:rPr lang="en-US" sz="1600" dirty="0" smtClean="0">
                  <a:solidFill>
                    <a:srgbClr val="00B050"/>
                  </a:solidFill>
                </a:rPr>
                <a:t>                </a:t>
              </a:r>
              <a:r>
                <a:rPr lang="en-US" sz="1600" dirty="0" smtClean="0"/>
                <a:t>{ </a:t>
              </a:r>
              <a:r>
                <a:rPr lang="en-US" sz="1600" dirty="0" smtClean="0">
                  <a:solidFill>
                    <a:srgbClr val="0000FF"/>
                  </a:solidFill>
                </a:rPr>
                <a:t>charge </a:t>
              </a:r>
              <a:r>
                <a:rPr lang="en-US" sz="1600" dirty="0" smtClean="0"/>
                <a:t>= -1;</a:t>
              </a:r>
            </a:p>
            <a:p>
              <a:r>
                <a:rPr lang="en-US" sz="1600" dirty="0">
                  <a:solidFill>
                    <a:srgbClr val="00B050"/>
                  </a:solidFill>
                </a:rPr>
                <a:t> </a:t>
              </a:r>
              <a:r>
                <a:rPr lang="en-US" sz="1600" dirty="0" smtClean="0">
                  <a:solidFill>
                    <a:srgbClr val="00B050"/>
                  </a:solidFill>
                </a:rPr>
                <a:t>                </a:t>
              </a:r>
              <a:r>
                <a:rPr lang="en-US" sz="1600" dirty="0" smtClean="0"/>
                <a:t>  </a:t>
              </a:r>
              <a:r>
                <a:rPr lang="en-US" sz="1600" dirty="0" err="1" smtClean="0">
                  <a:solidFill>
                    <a:srgbClr val="00B0F0"/>
                  </a:solidFill>
                </a:rPr>
                <a:t>System.out.print</a:t>
              </a:r>
              <a:r>
                <a:rPr lang="en-US" sz="1600" dirty="0" smtClean="0">
                  <a:solidFill>
                    <a:srgbClr val="00B0F0"/>
                  </a:solidFill>
                </a:rPr>
                <a:t> </a:t>
              </a:r>
              <a:r>
                <a:rPr lang="en-US" sz="1600" dirty="0" smtClean="0"/>
                <a:t>(“Please enter bag weight”);</a:t>
              </a:r>
            </a:p>
            <a:p>
              <a:r>
                <a:rPr lang="en-US" sz="1600" dirty="0">
                  <a:solidFill>
                    <a:srgbClr val="00B050"/>
                  </a:solidFill>
                </a:rPr>
                <a:t> </a:t>
              </a:r>
              <a:r>
                <a:rPr lang="en-US" sz="1600" dirty="0" smtClean="0">
                  <a:solidFill>
                    <a:srgbClr val="00B050"/>
                  </a:solidFill>
                </a:rPr>
                <a:t>                  </a:t>
              </a:r>
              <a:r>
                <a:rPr lang="en-US" sz="1600" dirty="0" err="1" smtClean="0">
                  <a:solidFill>
                    <a:srgbClr val="0000FF"/>
                  </a:solidFill>
                </a:rPr>
                <a:t>bagWeight</a:t>
              </a:r>
              <a:r>
                <a:rPr lang="en-US" sz="1600" dirty="0" smtClean="0">
                  <a:solidFill>
                    <a:srgbClr val="0000FF"/>
                  </a:solidFill>
                </a:rPr>
                <a:t> </a:t>
              </a:r>
              <a:r>
                <a:rPr lang="en-US" sz="1600" dirty="0" smtClean="0">
                  <a:solidFill>
                    <a:srgbClr val="00B050"/>
                  </a:solidFill>
                </a:rPr>
                <a:t>= </a:t>
              </a:r>
              <a:r>
                <a:rPr lang="en-US" sz="1600" dirty="0" err="1" smtClean="0">
                  <a:solidFill>
                    <a:srgbClr val="0000FF"/>
                  </a:solidFill>
                </a:rPr>
                <a:t>read</a:t>
              </a:r>
              <a:r>
                <a:rPr lang="en-US" sz="1600" dirty="0" err="1" smtClean="0">
                  <a:solidFill>
                    <a:srgbClr val="00B050"/>
                  </a:solidFill>
                </a:rPr>
                <a:t>.nextDouble</a:t>
              </a:r>
              <a:r>
                <a:rPr lang="en-US" sz="1600" dirty="0" smtClean="0">
                  <a:solidFill>
                    <a:srgbClr val="00B050"/>
                  </a:solidFill>
                </a:rPr>
                <a:t>();</a:t>
              </a:r>
            </a:p>
            <a:p>
              <a:r>
                <a:rPr lang="en-US" sz="1600" dirty="0"/>
                <a:t> </a:t>
              </a:r>
              <a:r>
                <a:rPr lang="en-US" sz="1600" dirty="0" smtClean="0"/>
                <a:t>                  </a:t>
              </a:r>
              <a:r>
                <a:rPr lang="en-US" sz="1600" dirty="0" err="1" smtClean="0">
                  <a:solidFill>
                    <a:srgbClr val="0000FF"/>
                  </a:solidFill>
                </a:rPr>
                <a:t>currentTotalWeight</a:t>
              </a:r>
              <a:r>
                <a:rPr lang="en-US" sz="1600" dirty="0" smtClean="0">
                  <a:solidFill>
                    <a:srgbClr val="0000FF"/>
                  </a:solidFill>
                </a:rPr>
                <a:t> </a:t>
              </a:r>
              <a:r>
                <a:rPr lang="en-US" sz="1600" dirty="0" smtClean="0"/>
                <a:t>+= </a:t>
              </a:r>
              <a:r>
                <a:rPr lang="en-US" sz="1600" dirty="0" err="1" smtClean="0">
                  <a:solidFill>
                    <a:srgbClr val="0000FF"/>
                  </a:solidFill>
                </a:rPr>
                <a:t>bagWeight</a:t>
              </a:r>
              <a:r>
                <a:rPr lang="en-US" sz="1600" dirty="0" smtClean="0"/>
                <a:t>;</a:t>
              </a:r>
            </a:p>
            <a:p>
              <a:r>
                <a:rPr lang="en-US" sz="1600" dirty="0"/>
                <a:t> </a:t>
              </a:r>
              <a:r>
                <a:rPr lang="en-US" sz="1600" dirty="0" smtClean="0"/>
                <a:t>                  </a:t>
              </a:r>
              <a:r>
                <a:rPr lang="en-US" sz="1600" dirty="0" smtClean="0">
                  <a:solidFill>
                    <a:srgbClr val="00B0F0"/>
                  </a:solidFill>
                </a:rPr>
                <a:t>if</a:t>
              </a:r>
              <a:r>
                <a:rPr lang="en-US" sz="1600" dirty="0" smtClean="0"/>
                <a:t> (</a:t>
              </a:r>
              <a:r>
                <a:rPr lang="en-US" sz="1600" dirty="0" err="1" smtClean="0">
                  <a:solidFill>
                    <a:srgbClr val="0000FF"/>
                  </a:solidFill>
                </a:rPr>
                <a:t>currentTotalWeight</a:t>
              </a:r>
              <a:r>
                <a:rPr lang="en-US" sz="1600" dirty="0" smtClean="0">
                  <a:solidFill>
                    <a:srgbClr val="0000FF"/>
                  </a:solidFill>
                </a:rPr>
                <a:t> </a:t>
              </a:r>
              <a:r>
                <a:rPr lang="en-US" sz="1600" dirty="0" smtClean="0"/>
                <a:t>&gt; 1000)</a:t>
              </a:r>
            </a:p>
            <a:p>
              <a:r>
                <a:rPr lang="en-US" sz="1600" dirty="0"/>
                <a:t> </a:t>
              </a:r>
              <a:r>
                <a:rPr lang="en-US" sz="1600" dirty="0" smtClean="0"/>
                <a:t>                     {</a:t>
              </a:r>
            </a:p>
            <a:p>
              <a:r>
                <a:rPr lang="en-US" sz="1600" dirty="0"/>
                <a:t> </a:t>
              </a:r>
              <a:r>
                <a:rPr lang="en-US" sz="1600" dirty="0" smtClean="0"/>
                <a:t>                        </a:t>
              </a:r>
              <a:r>
                <a:rPr lang="en-US" sz="1600" dirty="0" err="1" smtClean="0">
                  <a:solidFill>
                    <a:srgbClr val="00B0F0"/>
                  </a:solidFill>
                </a:rPr>
                <a:t>System.out.println</a:t>
              </a:r>
              <a:r>
                <a:rPr lang="en-US" sz="1600" dirty="0" smtClean="0">
                  <a:solidFill>
                    <a:srgbClr val="00B0F0"/>
                  </a:solidFill>
                </a:rPr>
                <a:t> </a:t>
              </a:r>
              <a:r>
                <a:rPr lang="en-US" sz="1600" dirty="0" smtClean="0"/>
                <a:t>(“Flight maximum weight reached. Program ends”);</a:t>
              </a:r>
            </a:p>
            <a:p>
              <a:r>
                <a:rPr lang="en-US" sz="1600" dirty="0"/>
                <a:t> </a:t>
              </a:r>
              <a:r>
                <a:rPr lang="en-US" sz="1600" dirty="0" smtClean="0"/>
                <a:t>                        </a:t>
              </a:r>
              <a:r>
                <a:rPr lang="en-US" sz="1600" dirty="0" smtClean="0">
                  <a:solidFill>
                    <a:srgbClr val="00B0F0"/>
                  </a:solidFill>
                </a:rPr>
                <a:t>break</a:t>
              </a:r>
              <a:r>
                <a:rPr lang="en-US" sz="1600" dirty="0" smtClean="0"/>
                <a:t>;</a:t>
              </a:r>
            </a:p>
            <a:p>
              <a:r>
                <a:rPr lang="en-US" sz="1600" dirty="0"/>
                <a:t> </a:t>
              </a:r>
              <a:r>
                <a:rPr lang="en-US" sz="1600" dirty="0" smtClean="0"/>
                <a:t>                      }</a:t>
              </a:r>
            </a:p>
            <a:p>
              <a:r>
                <a:rPr lang="en-US" sz="1600" dirty="0">
                  <a:solidFill>
                    <a:srgbClr val="00B050"/>
                  </a:solidFill>
                </a:rPr>
                <a:t> </a:t>
              </a:r>
              <a:r>
                <a:rPr lang="en-US" sz="1600" dirty="0" smtClean="0">
                  <a:solidFill>
                    <a:srgbClr val="00B050"/>
                  </a:solidFill>
                </a:rPr>
                <a:t>                  ---</a:t>
              </a:r>
              <a:endParaRPr lang="en-US" sz="1600" dirty="0" smtClean="0"/>
            </a:p>
            <a:p>
              <a:r>
                <a:rPr lang="en-US" sz="1600" dirty="0" smtClean="0"/>
                <a:t>                 } </a:t>
              </a:r>
              <a:r>
                <a:rPr lang="en-US" sz="1600" dirty="0" smtClean="0">
                  <a:solidFill>
                    <a:srgbClr val="00B050"/>
                  </a:solidFill>
                </a:rPr>
                <a:t>// end while </a:t>
              </a:r>
            </a:p>
            <a:p>
              <a:r>
                <a:rPr lang="en-US" sz="1600" dirty="0">
                  <a:solidFill>
                    <a:srgbClr val="00B050"/>
                  </a:solidFill>
                </a:rPr>
                <a:t> </a:t>
              </a:r>
              <a:r>
                <a:rPr lang="en-US" sz="1600" dirty="0" smtClean="0">
                  <a:solidFill>
                    <a:srgbClr val="00B050"/>
                  </a:solidFill>
                </a:rPr>
                <a:t>              </a:t>
              </a:r>
              <a:r>
                <a:rPr lang="en-US" sz="1600" dirty="0" err="1" smtClean="0">
                  <a:solidFill>
                    <a:srgbClr val="00B0F0"/>
                  </a:solidFill>
                </a:rPr>
                <a:t>System.out.printf</a:t>
              </a:r>
              <a:r>
                <a:rPr lang="en-US" sz="1600" dirty="0" smtClean="0">
                  <a:solidFill>
                    <a:srgbClr val="00B0F0"/>
                  </a:solidFill>
                </a:rPr>
                <a:t> </a:t>
              </a:r>
              <a:r>
                <a:rPr lang="en-US" sz="1600" dirty="0" smtClean="0"/>
                <a:t>(“Passengers processed=%d”, </a:t>
              </a:r>
              <a:r>
                <a:rPr lang="en-US" sz="1600" dirty="0" err="1" smtClean="0">
                  <a:solidFill>
                    <a:srgbClr val="0000FF"/>
                  </a:solidFill>
                </a:rPr>
                <a:t>numberOfPassengers</a:t>
              </a:r>
              <a:r>
                <a:rPr lang="en-US" sz="1600" dirty="0" smtClean="0"/>
                <a:t>);</a:t>
              </a:r>
            </a:p>
            <a:p>
              <a:r>
                <a:rPr lang="en-US" sz="1600" dirty="0">
                  <a:solidFill>
                    <a:srgbClr val="00B050"/>
                  </a:solidFill>
                </a:rPr>
                <a:t> </a:t>
              </a:r>
              <a:r>
                <a:rPr lang="en-US" sz="1600" dirty="0" smtClean="0">
                  <a:solidFill>
                    <a:srgbClr val="00B050"/>
                  </a:solidFill>
                </a:rPr>
                <a:t>  } //end main</a:t>
              </a:r>
            </a:p>
            <a:p>
              <a:r>
                <a:rPr lang="en-US" sz="1600" dirty="0" smtClean="0">
                  <a:solidFill>
                    <a:srgbClr val="00B050"/>
                  </a:solidFill>
                </a:rPr>
                <a:t>} end class                   </a:t>
              </a:r>
            </a:p>
          </p:txBody>
        </p:sp>
        <p:sp>
          <p:nvSpPr>
            <p:cNvPr id="10" name="TextBox 9"/>
            <p:cNvSpPr txBox="1"/>
            <p:nvPr/>
          </p:nvSpPr>
          <p:spPr>
            <a:xfrm>
              <a:off x="258661" y="1236822"/>
              <a:ext cx="454067" cy="4278094"/>
            </a:xfrm>
            <a:prstGeom prst="rect">
              <a:avLst/>
            </a:prstGeom>
            <a:noFill/>
          </p:spPr>
          <p:txBody>
            <a:bodyPr wrap="square" rtlCol="0">
              <a:spAutoFit/>
            </a:bodyPr>
            <a:lstStyle/>
            <a:p>
              <a:pPr algn="r"/>
              <a:r>
                <a:rPr lang="en-US" sz="1600" dirty="0" smtClean="0">
                  <a:solidFill>
                    <a:srgbClr val="FF0000"/>
                  </a:solidFill>
                </a:rPr>
                <a:t>20</a:t>
              </a:r>
            </a:p>
            <a:p>
              <a:pPr algn="r"/>
              <a:r>
                <a:rPr lang="en-US" sz="1600" dirty="0" smtClean="0">
                  <a:solidFill>
                    <a:srgbClr val="FF0000"/>
                  </a:solidFill>
                </a:rPr>
                <a:t>21</a:t>
              </a:r>
            </a:p>
            <a:p>
              <a:pPr algn="r"/>
              <a:r>
                <a:rPr lang="en-US" sz="1600" dirty="0" smtClean="0">
                  <a:solidFill>
                    <a:srgbClr val="FF0000"/>
                  </a:solidFill>
                </a:rPr>
                <a:t>22</a:t>
              </a:r>
            </a:p>
            <a:p>
              <a:pPr algn="r"/>
              <a:r>
                <a:rPr lang="en-US" sz="1600" dirty="0" smtClean="0">
                  <a:solidFill>
                    <a:srgbClr val="FF0000"/>
                  </a:solidFill>
                </a:rPr>
                <a:t>23</a:t>
              </a:r>
            </a:p>
            <a:p>
              <a:pPr algn="r"/>
              <a:r>
                <a:rPr lang="en-US" sz="1600" dirty="0" smtClean="0">
                  <a:solidFill>
                    <a:srgbClr val="FF0000"/>
                  </a:solidFill>
                </a:rPr>
                <a:t>24</a:t>
              </a:r>
            </a:p>
            <a:p>
              <a:pPr algn="r"/>
              <a:r>
                <a:rPr lang="en-US" sz="1600" dirty="0" smtClean="0">
                  <a:solidFill>
                    <a:srgbClr val="FF0000"/>
                  </a:solidFill>
                </a:rPr>
                <a:t>25</a:t>
              </a:r>
            </a:p>
            <a:p>
              <a:pPr algn="r"/>
              <a:r>
                <a:rPr lang="en-US" sz="1600" dirty="0" smtClean="0">
                  <a:solidFill>
                    <a:srgbClr val="FF0000"/>
                  </a:solidFill>
                </a:rPr>
                <a:t>26</a:t>
              </a:r>
            </a:p>
            <a:p>
              <a:pPr algn="r"/>
              <a:r>
                <a:rPr lang="en-US" sz="1600" dirty="0" smtClean="0">
                  <a:solidFill>
                    <a:srgbClr val="FF0000"/>
                  </a:solidFill>
                </a:rPr>
                <a:t>27</a:t>
              </a:r>
            </a:p>
            <a:p>
              <a:pPr algn="r"/>
              <a:r>
                <a:rPr lang="en-US" sz="1600" dirty="0" smtClean="0">
                  <a:solidFill>
                    <a:srgbClr val="FF0000"/>
                  </a:solidFill>
                </a:rPr>
                <a:t>28</a:t>
              </a:r>
            </a:p>
            <a:p>
              <a:pPr algn="r"/>
              <a:endParaRPr lang="en-US" sz="1600" dirty="0" smtClean="0">
                <a:solidFill>
                  <a:srgbClr val="FF0000"/>
                </a:solidFill>
              </a:endParaRPr>
            </a:p>
            <a:p>
              <a:pPr algn="r"/>
              <a:r>
                <a:rPr lang="en-US" sz="1600" dirty="0" smtClean="0">
                  <a:solidFill>
                    <a:srgbClr val="FF0000"/>
                  </a:solidFill>
                </a:rPr>
                <a:t>29</a:t>
              </a:r>
            </a:p>
            <a:p>
              <a:pPr algn="r"/>
              <a:r>
                <a:rPr lang="en-US" sz="1600" dirty="0" smtClean="0">
                  <a:solidFill>
                    <a:srgbClr val="FF0000"/>
                  </a:solidFill>
                </a:rPr>
                <a:t>30</a:t>
              </a:r>
            </a:p>
            <a:p>
              <a:pPr algn="r"/>
              <a:r>
                <a:rPr lang="en-US" sz="1600" dirty="0" smtClean="0">
                  <a:solidFill>
                    <a:srgbClr val="FF0000"/>
                  </a:solidFill>
                </a:rPr>
                <a:t>--</a:t>
              </a:r>
            </a:p>
            <a:p>
              <a:pPr algn="r"/>
              <a:r>
                <a:rPr lang="en-US" sz="1600" dirty="0" smtClean="0">
                  <a:solidFill>
                    <a:srgbClr val="FF0000"/>
                  </a:solidFill>
                </a:rPr>
                <a:t>--</a:t>
              </a:r>
            </a:p>
            <a:p>
              <a:pPr algn="r"/>
              <a:r>
                <a:rPr lang="en-US" sz="1600" dirty="0" smtClean="0">
                  <a:solidFill>
                    <a:srgbClr val="FF0000"/>
                  </a:solidFill>
                </a:rPr>
                <a:t>----</a:t>
              </a:r>
            </a:p>
            <a:p>
              <a:pPr algn="r"/>
              <a:r>
                <a:rPr lang="en-US" sz="1600" dirty="0" smtClean="0">
                  <a:solidFill>
                    <a:srgbClr val="FF0000"/>
                  </a:solidFill>
                </a:rPr>
                <a:t>--</a:t>
              </a:r>
            </a:p>
          </p:txBody>
        </p:sp>
      </p:grpSp>
      <p:sp>
        <p:nvSpPr>
          <p:cNvPr id="7" name="Slide Number Placeholder 6"/>
          <p:cNvSpPr>
            <a:spLocks noGrp="1"/>
          </p:cNvSpPr>
          <p:nvPr>
            <p:ph type="sldNum" sz="quarter" idx="12"/>
          </p:nvPr>
        </p:nvSpPr>
        <p:spPr/>
        <p:txBody>
          <a:bodyPr/>
          <a:lstStyle/>
          <a:p>
            <a:fld id="{DA934484-767D-4C48-AF0E-A1438A969E59}" type="slidenum">
              <a:rPr lang="en-US" smtClean="0"/>
              <a:pPr/>
              <a:t>28</a:t>
            </a:fld>
            <a:endParaRPr lang="en-US" dirty="0"/>
          </a:p>
        </p:txBody>
      </p:sp>
      <p:sp>
        <p:nvSpPr>
          <p:cNvPr id="14" name="Rectangle 13"/>
          <p:cNvSpPr/>
          <p:nvPr/>
        </p:nvSpPr>
        <p:spPr>
          <a:xfrm>
            <a:off x="683568" y="3356992"/>
            <a:ext cx="8280920" cy="1224136"/>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683568" y="3071810"/>
            <a:ext cx="8280920" cy="216024"/>
          </a:xfrm>
          <a:prstGeom prst="rect">
            <a:avLst/>
          </a:prstGeom>
          <a:solidFill>
            <a:schemeClr val="accent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flipH="1">
            <a:off x="251520" y="4221088"/>
            <a:ext cx="20882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51520" y="4221088"/>
            <a:ext cx="0" cy="9361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251520" y="5157192"/>
            <a:ext cx="144016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49286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par>
                                <p:cTn id="8" presetID="22" presetClass="entr" presetSubtype="2"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left)">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left)">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right)">
                                      <p:cBhvr>
                                        <p:cTn id="25" dur="500"/>
                                        <p:tgtEl>
                                          <p:spTgt spid="18"/>
                                        </p:tgtEl>
                                      </p:cBhvr>
                                    </p:animEffect>
                                  </p:childTnLst>
                                </p:cTn>
                              </p:par>
                            </p:childTnLst>
                          </p:cTn>
                        </p:par>
                        <p:par>
                          <p:cTn id="26" fill="hold">
                            <p:stCondLst>
                              <p:cond delay="500"/>
                            </p:stCondLst>
                            <p:childTnLst>
                              <p:par>
                                <p:cTn id="27" presetID="22" presetClass="entr" presetSubtype="1" fill="hold" nodeType="after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up)">
                                      <p:cBhvr>
                                        <p:cTn id="29" dur="500"/>
                                        <p:tgtEl>
                                          <p:spTgt spid="20"/>
                                        </p:tgtEl>
                                      </p:cBhvr>
                                    </p:animEffect>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wipe(left)">
                                      <p:cBhvr>
                                        <p:cTn id="3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4" grpId="0" animBg="1"/>
      <p:bldP spid="17" grpId="0" animBg="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785</TotalTime>
  <Words>2270</Words>
  <Application>Microsoft Office PowerPoint</Application>
  <PresentationFormat>On-screen Show (4:3)</PresentationFormat>
  <Paragraphs>752</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Concourse</vt:lpstr>
      <vt:lpstr>   REVISION</vt:lpstr>
      <vt:lpstr>1. PROBLEM</vt:lpstr>
      <vt:lpstr>2. ANALYSIS </vt:lpstr>
      <vt:lpstr>2. ANALYSIS </vt:lpstr>
      <vt:lpstr>3. DATA TYPES</vt:lpstr>
      <vt:lpstr>4. ALGORITHM</vt:lpstr>
      <vt:lpstr>5. CODE (1)</vt:lpstr>
      <vt:lpstr>5. CODE (2)</vt:lpstr>
      <vt:lpstr>5. CODE (3)</vt:lpstr>
      <vt:lpstr>6. PROBLEM VARIATION (1)</vt:lpstr>
      <vt:lpstr>7. ANALYSIS </vt:lpstr>
      <vt:lpstr>6. ALGORITHM</vt:lpstr>
      <vt:lpstr>7. CODE (1)</vt:lpstr>
      <vt:lpstr>7. CODE (2)</vt:lpstr>
      <vt:lpstr>7. CODE (3)</vt:lpstr>
      <vt:lpstr>8. PROBLEM VARIATION (2)</vt:lpstr>
      <vt:lpstr>9. SENTINELS (1)</vt:lpstr>
      <vt:lpstr>9. SENTINELS (2)</vt:lpstr>
      <vt:lpstr>10. CODE (1)</vt:lpstr>
      <vt:lpstr>10. CODE (2)</vt:lpstr>
      <vt:lpstr>11. PROBLEM VARIATION (3)</vt:lpstr>
      <vt:lpstr>12. CODE (1)</vt:lpstr>
      <vt:lpstr>12. CODE (2)</vt:lpstr>
      <vt:lpstr>13. PROBLEM VARIATION (4)</vt:lpstr>
      <vt:lpstr>12. CODE </vt:lpstr>
      <vt:lpstr>15. PROBLEM VARIATION (5)</vt:lpstr>
      <vt:lpstr>12. CODE (1)</vt:lpstr>
      <vt:lpstr>12. CODE (2)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REVISION (2)</dc:title>
  <dc:creator>Soha S.Zaghloul</dc:creator>
  <cp:lastModifiedBy>Omar</cp:lastModifiedBy>
  <cp:revision>74</cp:revision>
  <dcterms:created xsi:type="dcterms:W3CDTF">2015-03-11T14:19:57Z</dcterms:created>
  <dcterms:modified xsi:type="dcterms:W3CDTF">2016-10-30T07:31:50Z</dcterms:modified>
</cp:coreProperties>
</file>