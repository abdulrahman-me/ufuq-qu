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73" r:id="rId4"/>
    <p:sldId id="274" r:id="rId5"/>
    <p:sldId id="275" r:id="rId6"/>
    <p:sldId id="278" r:id="rId7"/>
    <p:sldId id="276" r:id="rId8"/>
    <p:sldId id="277" r:id="rId9"/>
    <p:sldId id="279" r:id="rId10"/>
    <p:sldId id="280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91" r:id="rId20"/>
    <p:sldId id="292" r:id="rId21"/>
    <p:sldId id="293" r:id="rId22"/>
    <p:sldId id="295" r:id="rId23"/>
    <p:sldId id="29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4D12D-268A-4234-8C6A-BAA2E8369DAD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C78C7-2F75-4530-B28D-1BD2BB7282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8060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ARRAYS 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Two-dimensional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7826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Introduction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Declaration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3. Accessing Array Elements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4. </a:t>
            </a:r>
            <a:r>
              <a:rPr lang="en-US" sz="2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length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5. Initialization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6. Processing 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latin typeface="Tahoma" charset="0"/>
                <a:cs typeface="Arial" charset="0"/>
              </a:rPr>
              <a:t>6.1 Processing a row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latin typeface="Tahoma" charset="0"/>
                <a:cs typeface="Arial" charset="0"/>
              </a:rPr>
              <a:t>6.2 Processing a column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latin typeface="Tahoma" charset="0"/>
                <a:cs typeface="Arial" charset="0"/>
              </a:rPr>
              <a:t>6.3 Summary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latin typeface="Tahoma" charset="0"/>
                <a:cs typeface="Arial" charset="0"/>
              </a:rPr>
              <a:t>6.4 Array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7. Programming Examples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550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INTRODUCTION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One-dimensional arrays are suitable for data provided in a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105273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Two-dimensional arrays are suitable for data provided in a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134076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example that provides the letter grades of a student: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33725377"/>
              </p:ext>
            </p:extLst>
          </p:nvPr>
        </p:nvGraphicFramePr>
        <p:xfrm>
          <a:off x="971600" y="2305680"/>
          <a:ext cx="720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/>
                <a:gridCol w="1440160"/>
                <a:gridCol w="1440160"/>
                <a:gridCol w="1440160"/>
                <a:gridCol w="144016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CS1301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CS1111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PHY1040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CE1111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Fahd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Ahmed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Faisal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D+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3528" y="401725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the above example, you need to know: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rows in the table (3 in the example)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columns in the table (4 in the example)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5005625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Also, in order to access an array element, you need to know: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element lies in which row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element lies in which column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5981218"/>
            <a:ext cx="864096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Fahd grade in CE1111 lies in the intersection of the first row with the fourth column.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7818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/>
      <p:bldP spid="13" grpId="0"/>
      <p:bldP spid="20" grpId="0"/>
      <p:bldP spid="21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DECLARATION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intExp1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indicates the number of rows.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77110" y="908720"/>
            <a:ext cx="7215369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dataType</a:t>
            </a:r>
            <a:r>
              <a:rPr lang="en-US" dirty="0" smtClean="0">
                <a:solidFill>
                  <a:srgbClr val="00B0F0"/>
                </a:solidFill>
              </a:rPr>
              <a:t>[][] </a:t>
            </a:r>
            <a:r>
              <a:rPr lang="en-US" dirty="0" err="1" smtClean="0">
                <a:solidFill>
                  <a:srgbClr val="00B0F0"/>
                </a:solidFill>
              </a:rPr>
              <a:t>arrayName</a:t>
            </a:r>
            <a:r>
              <a:rPr lang="en-US" dirty="0" smtClean="0">
                <a:solidFill>
                  <a:srgbClr val="00B0F0"/>
                </a:solidFill>
              </a:rPr>
              <a:t> = new </a:t>
            </a:r>
            <a:r>
              <a:rPr lang="en-US" dirty="0" err="1" smtClean="0">
                <a:solidFill>
                  <a:srgbClr val="00B0F0"/>
                </a:solidFill>
              </a:rPr>
              <a:t>dataType</a:t>
            </a:r>
            <a:r>
              <a:rPr lang="en-US" dirty="0" smtClean="0">
                <a:solidFill>
                  <a:srgbClr val="00B0F0"/>
                </a:solidFill>
              </a:rPr>
              <a:t>[intExp1][intExp2];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6951" y="90872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23528" y="194877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intExp2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indicates the number of columns.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227687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example declares a two-dimensional array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arks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4 rows and 12 columns: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3" y="3068960"/>
            <a:ext cx="8784976" cy="369332"/>
            <a:chOff x="323529" y="1236822"/>
            <a:chExt cx="7848872" cy="347291"/>
          </a:xfrm>
        </p:grpSpPr>
        <p:sp>
          <p:nvSpPr>
            <p:cNvPr id="26" name="TextBox 25"/>
            <p:cNvSpPr txBox="1"/>
            <p:nvPr/>
          </p:nvSpPr>
          <p:spPr>
            <a:xfrm>
              <a:off x="611561" y="1236822"/>
              <a:ext cx="7560840" cy="34729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double[][]</a:t>
              </a:r>
              <a:r>
                <a:rPr lang="en-US" dirty="0" smtClean="0">
                  <a:solidFill>
                    <a:srgbClr val="0000FF"/>
                  </a:solidFill>
                </a:rPr>
                <a:t> marks = </a:t>
              </a:r>
              <a:r>
                <a:rPr lang="en-US" dirty="0" smtClean="0">
                  <a:solidFill>
                    <a:srgbClr val="00B0F0"/>
                  </a:solidFill>
                </a:rPr>
                <a:t>new double</a:t>
              </a:r>
              <a:r>
                <a:rPr lang="en-US" dirty="0" smtClean="0">
                  <a:solidFill>
                    <a:srgbClr val="0000FF"/>
                  </a:solidFill>
                </a:rPr>
                <a:t>[4][12];	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9" y="1236822"/>
              <a:ext cx="288032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23528" y="364502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rows may represent the branches of the company; and the columns may represent the months of the year: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07378573"/>
              </p:ext>
            </p:extLst>
          </p:nvPr>
        </p:nvGraphicFramePr>
        <p:xfrm>
          <a:off x="524985" y="4527128"/>
          <a:ext cx="807946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576"/>
                <a:gridCol w="743576"/>
                <a:gridCol w="743576"/>
                <a:gridCol w="743576"/>
                <a:gridCol w="743576"/>
                <a:gridCol w="790504"/>
                <a:gridCol w="696649"/>
                <a:gridCol w="743576"/>
                <a:gridCol w="843452"/>
                <a:gridCol w="643701"/>
                <a:gridCol w="643701"/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Jan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Feb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Mar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Apr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May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Jun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Jul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Aug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Dec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Hyt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Shr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Grn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Ryd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184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18" grpId="0" animBg="1"/>
      <p:bldP spid="22" grpId="0"/>
      <p:bldP spid="23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DECLARATION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8367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memory layout of the following declaration is shown below: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3" y="1268760"/>
            <a:ext cx="8784976" cy="369332"/>
            <a:chOff x="323529" y="1236822"/>
            <a:chExt cx="7848872" cy="347291"/>
          </a:xfrm>
        </p:grpSpPr>
        <p:sp>
          <p:nvSpPr>
            <p:cNvPr id="26" name="TextBox 25"/>
            <p:cNvSpPr txBox="1"/>
            <p:nvPr/>
          </p:nvSpPr>
          <p:spPr>
            <a:xfrm>
              <a:off x="611561" y="1236822"/>
              <a:ext cx="7560840" cy="34729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double[][]</a:t>
              </a:r>
              <a:r>
                <a:rPr lang="en-US" dirty="0" smtClean="0">
                  <a:solidFill>
                    <a:srgbClr val="0000FF"/>
                  </a:solidFill>
                </a:rPr>
                <a:t> sales = </a:t>
              </a:r>
              <a:r>
                <a:rPr lang="en-US" dirty="0" smtClean="0">
                  <a:solidFill>
                    <a:srgbClr val="00B0F0"/>
                  </a:solidFill>
                </a:rPr>
                <a:t>new double</a:t>
              </a:r>
              <a:r>
                <a:rPr lang="en-US" dirty="0" smtClean="0">
                  <a:solidFill>
                    <a:srgbClr val="0000FF"/>
                  </a:solidFill>
                </a:rPr>
                <a:t>[4][5];	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9" y="1236822"/>
              <a:ext cx="288032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9804678"/>
              </p:ext>
            </p:extLst>
          </p:nvPr>
        </p:nvGraphicFramePr>
        <p:xfrm>
          <a:off x="1451992" y="2942952"/>
          <a:ext cx="73684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80"/>
                <a:gridCol w="1228080"/>
                <a:gridCol w="1228080"/>
                <a:gridCol w="1228080"/>
                <a:gridCol w="1228080"/>
                <a:gridCol w="1228080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sales[][0]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sales[][1]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sales[][2]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sales[][3]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sales[][4]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sales[0][]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sales[1][]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sales[2][]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sales[3][]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35032242"/>
              </p:ext>
            </p:extLst>
          </p:nvPr>
        </p:nvGraphicFramePr>
        <p:xfrm>
          <a:off x="179512" y="2204864"/>
          <a:ext cx="1064154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432048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sales</a:t>
                      </a:r>
                      <a:endParaRPr kumimoji="0" lang="en-US" sz="1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1043608" y="2968685"/>
            <a:ext cx="1728192" cy="416575"/>
          </a:xfrm>
          <a:prstGeom prst="straightConnector1">
            <a:avLst/>
          </a:prstGeom>
          <a:ln w="28575">
            <a:solidFill>
              <a:srgbClr val="0000FF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3528" y="1628800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array name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 the same base address as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sales[0][0]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3528" y="206084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figure also shows how to access each memory cell in the array.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3528" y="486916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shown, you need two indices to access an element in a two-dimensional array: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the row: this is always mentioned first.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the column.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783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DECLARATION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8367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two-dimensional array may also be declared as shown in the following statements: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2" y="1628801"/>
            <a:ext cx="8784976" cy="5078313"/>
            <a:chOff x="323528" y="1236822"/>
            <a:chExt cx="7848872" cy="4775245"/>
          </a:xfrm>
        </p:grpSpPr>
        <p:sp>
          <p:nvSpPr>
            <p:cNvPr id="26" name="TextBox 25"/>
            <p:cNvSpPr txBox="1"/>
            <p:nvPr/>
          </p:nvSpPr>
          <p:spPr>
            <a:xfrm>
              <a:off x="773872" y="1236822"/>
              <a:ext cx="7398528" cy="477524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// Using constants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final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ROWS = 15;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final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COLUMNS = 20;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double[][]</a:t>
              </a:r>
              <a:r>
                <a:rPr lang="en-US" dirty="0" smtClean="0">
                  <a:solidFill>
                    <a:srgbClr val="0000FF"/>
                  </a:solidFill>
                </a:rPr>
                <a:t> matrix = </a:t>
              </a:r>
              <a:r>
                <a:rPr lang="en-US" dirty="0" smtClean="0">
                  <a:solidFill>
                    <a:srgbClr val="00B0F0"/>
                  </a:solidFill>
                </a:rPr>
                <a:t>new double</a:t>
              </a:r>
              <a:r>
                <a:rPr lang="en-US" dirty="0" smtClean="0">
                  <a:solidFill>
                    <a:srgbClr val="0000FF"/>
                  </a:solidFill>
                </a:rPr>
                <a:t>[ROWS][COLUMNS];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//Using Expressions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[][] </a:t>
              </a:r>
              <a:r>
                <a:rPr lang="en-US" dirty="0" smtClean="0">
                  <a:solidFill>
                    <a:srgbClr val="0000FF"/>
                  </a:solidFill>
                </a:rPr>
                <a:t>table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[ROWS*5][COLUMNS*10];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//Using variables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 = 9, col = 4;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char[][]</a:t>
              </a:r>
              <a:r>
                <a:rPr lang="en-US" dirty="0" smtClean="0">
                  <a:solidFill>
                    <a:srgbClr val="0000FF"/>
                  </a:solidFill>
                </a:rPr>
                <a:t> flags = </a:t>
              </a:r>
              <a:r>
                <a:rPr lang="en-US" dirty="0" smtClean="0">
                  <a:solidFill>
                    <a:srgbClr val="00B0F0"/>
                  </a:solidFill>
                </a:rPr>
                <a:t>new char</a:t>
              </a:r>
              <a:r>
                <a:rPr lang="en-US" dirty="0" smtClean="0">
                  <a:solidFill>
                    <a:srgbClr val="0000FF"/>
                  </a:solidFill>
                </a:rPr>
                <a:t>[row][row*2];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//Accepting number of rows and columns from the user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rows, cols;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(“Enter number of rows”);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rows = </a:t>
              </a:r>
              <a:r>
                <a:rPr lang="en-US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(“Enter number of columns”);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cols = </a:t>
              </a:r>
              <a:r>
                <a:rPr lang="en-US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String[][]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timeTable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smtClean="0">
                  <a:solidFill>
                    <a:srgbClr val="00B0F0"/>
                  </a:solidFill>
                </a:rPr>
                <a:t>new String</a:t>
              </a:r>
              <a:r>
                <a:rPr lang="en-US" dirty="0" smtClean="0">
                  <a:solidFill>
                    <a:srgbClr val="0000FF"/>
                  </a:solidFill>
                </a:rPr>
                <a:t>[rows][cols];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//Initialize and declare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[][]</a:t>
              </a:r>
              <a:r>
                <a:rPr lang="en-US" dirty="0" smtClean="0">
                  <a:solidFill>
                    <a:srgbClr val="0000FF"/>
                  </a:solidFill>
                </a:rPr>
                <a:t> table2 = { {2, 1, 3}, {3, 5, 2}, {4, 2, 2}};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1236822"/>
              <a:ext cx="450344" cy="4775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683567" y="1700808"/>
            <a:ext cx="828092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568" y="2780928"/>
            <a:ext cx="828092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3568" y="3356992"/>
            <a:ext cx="828092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3568" y="4149080"/>
            <a:ext cx="828092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83568" y="6093296"/>
            <a:ext cx="828092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20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ACCESSING ARRAY ELEMENTS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55679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effect of the following statements on the memory layout is shown below: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24752369"/>
              </p:ext>
            </p:extLst>
          </p:nvPr>
        </p:nvGraphicFramePr>
        <p:xfrm>
          <a:off x="1451992" y="3663032"/>
          <a:ext cx="73684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80"/>
                <a:gridCol w="1228080"/>
                <a:gridCol w="1228080"/>
                <a:gridCol w="1228080"/>
                <a:gridCol w="1228080"/>
                <a:gridCol w="1228080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sales[][0]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sales[][1]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sales[][2]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sales[][3]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sales[][4]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sales[0][]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15.0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sales[0][4]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sales[1][]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12.0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sales[1][4]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sales[2][]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21.0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430.0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sales[2][4]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sales[3][]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sales[3][0]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sales[3][1]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sales[3][2]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sales[3][3]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rgbClr val="0000FF"/>
                          </a:solidFill>
                        </a:rPr>
                        <a:t>sales[3][4]</a:t>
                      </a:r>
                      <a:endParaRPr 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87560892"/>
              </p:ext>
            </p:extLst>
          </p:nvPr>
        </p:nvGraphicFramePr>
        <p:xfrm>
          <a:off x="179512" y="3429000"/>
          <a:ext cx="1064154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432048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sales</a:t>
                      </a:r>
                      <a:endParaRPr kumimoji="0" lang="en-US" sz="1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1043608" y="4105340"/>
            <a:ext cx="1728192" cy="0"/>
          </a:xfrm>
          <a:prstGeom prst="straightConnector1">
            <a:avLst/>
          </a:prstGeom>
          <a:ln w="28575">
            <a:solidFill>
              <a:srgbClr val="0000FF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79513" y="2267581"/>
            <a:ext cx="8784976" cy="1077218"/>
            <a:chOff x="323529" y="1236822"/>
            <a:chExt cx="7848872" cy="1012931"/>
          </a:xfrm>
        </p:grpSpPr>
        <p:sp>
          <p:nvSpPr>
            <p:cNvPr id="26" name="TextBox 25"/>
            <p:cNvSpPr txBox="1"/>
            <p:nvPr/>
          </p:nvSpPr>
          <p:spPr>
            <a:xfrm>
              <a:off x="611561" y="1236822"/>
              <a:ext cx="7560840" cy="10129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00FF"/>
                  </a:solidFill>
                </a:rPr>
                <a:t>sales[0][0] = 15.0;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sales[1][2] = 12.0;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sales[2][1] = 21.0;</a:t>
              </a:r>
            </a:p>
            <a:p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=2; j=4; sales[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][j-1]=430.0;</a:t>
              </a:r>
              <a:r>
                <a:rPr lang="en-US" sz="1600" dirty="0" smtClean="0">
                  <a:solidFill>
                    <a:srgbClr val="00B050"/>
                  </a:solidFill>
                </a:rPr>
                <a:t>//variables &amp; expressions are used as indices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9" y="1236822"/>
              <a:ext cx="288032" cy="1012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677111" y="908720"/>
            <a:ext cx="5775210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arrayName</a:t>
            </a:r>
            <a:r>
              <a:rPr lang="en-US" dirty="0" smtClean="0">
                <a:solidFill>
                  <a:srgbClr val="00B0F0"/>
                </a:solidFill>
              </a:rPr>
              <a:t>[Row][Col]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36951" y="90872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2870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length</a:t>
            </a:r>
            <a:endParaRPr lang="en-US" sz="4000" dirty="0">
              <a:solidFill>
                <a:srgbClr val="00B0F0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8367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code segment: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79513" y="1268761"/>
            <a:ext cx="8784976" cy="923330"/>
            <a:chOff x="323529" y="1236822"/>
            <a:chExt cx="7848872" cy="868227"/>
          </a:xfrm>
        </p:grpSpPr>
        <p:sp>
          <p:nvSpPr>
            <p:cNvPr id="13" name="TextBox 12"/>
            <p:cNvSpPr txBox="1"/>
            <p:nvPr/>
          </p:nvSpPr>
          <p:spPr>
            <a:xfrm>
              <a:off x="611561" y="1236822"/>
              <a:ext cx="7560840" cy="86822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[][]</a:t>
              </a:r>
              <a:r>
                <a:rPr lang="en-US" dirty="0" smtClean="0">
                  <a:solidFill>
                    <a:srgbClr val="0000FF"/>
                  </a:solidFill>
                </a:rPr>
                <a:t> matrix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[20][15];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(“Number of rows = %d”, </a:t>
              </a:r>
              <a:r>
                <a:rPr lang="en-US" dirty="0" err="1" smtClean="0">
                  <a:solidFill>
                    <a:srgbClr val="CC00CC"/>
                  </a:solidFill>
                </a:rPr>
                <a:t>matrix</a:t>
              </a:r>
              <a:r>
                <a:rPr lang="en-US" dirty="0" err="1" smtClean="0">
                  <a:solidFill>
                    <a:srgbClr val="0000FF"/>
                  </a:solidFill>
                </a:rPr>
                <a:t>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);	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(“Number of columns = %d”, </a:t>
              </a:r>
              <a:r>
                <a:rPr lang="en-US" dirty="0" smtClean="0">
                  <a:solidFill>
                    <a:srgbClr val="CC00CC"/>
                  </a:solidFill>
                </a:rPr>
                <a:t>matrix[0]</a:t>
              </a:r>
              <a:r>
                <a:rPr lang="en-US" dirty="0" smtClean="0">
                  <a:solidFill>
                    <a:srgbClr val="0000FF"/>
                  </a:solidFill>
                </a:rPr>
                <a:t>.</a:t>
              </a:r>
              <a:r>
                <a:rPr lang="en-US" dirty="0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9" y="1236822"/>
              <a:ext cx="288032" cy="86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955934" y="2276872"/>
            <a:ext cx="7008554" cy="523220"/>
            <a:chOff x="683568" y="1236822"/>
            <a:chExt cx="7488832" cy="523220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Number of rows = 20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Number of columns = 15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251520" y="2276874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30288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arrayName.length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gives the number of rows.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34290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arrayName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[0]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gives the number of columns.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5692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INITIALIZATION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9087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two-dimensional array may be initialized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2" y="1340767"/>
            <a:ext cx="8784976" cy="646331"/>
            <a:chOff x="323528" y="1236822"/>
            <a:chExt cx="7848872" cy="607759"/>
          </a:xfrm>
        </p:grpSpPr>
        <p:sp>
          <p:nvSpPr>
            <p:cNvPr id="26" name="TextBox 25"/>
            <p:cNvSpPr txBox="1"/>
            <p:nvPr/>
          </p:nvSpPr>
          <p:spPr>
            <a:xfrm>
              <a:off x="773872" y="1236822"/>
              <a:ext cx="7398528" cy="60775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//Initialize and declare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[][]</a:t>
              </a:r>
              <a:r>
                <a:rPr lang="en-US" dirty="0" smtClean="0">
                  <a:solidFill>
                    <a:srgbClr val="0000FF"/>
                  </a:solidFill>
                </a:rPr>
                <a:t> table2 = </a:t>
              </a:r>
              <a:r>
                <a:rPr lang="en-US" b="1" dirty="0" smtClean="0">
                  <a:solidFill>
                    <a:srgbClr val="FF0000"/>
                  </a:solidFill>
                </a:rPr>
                <a:t>{</a:t>
              </a:r>
              <a:r>
                <a:rPr lang="en-US" dirty="0" smtClean="0">
                  <a:solidFill>
                    <a:srgbClr val="0000FF"/>
                  </a:solidFill>
                </a:rPr>
                <a:t> {2, 1, 3}</a:t>
              </a:r>
              <a:r>
                <a:rPr lang="en-US" b="1" dirty="0" smtClean="0">
                  <a:solidFill>
                    <a:srgbClr val="FF0000"/>
                  </a:solidFill>
                </a:rPr>
                <a:t>,</a:t>
              </a:r>
              <a:r>
                <a:rPr lang="en-US" dirty="0" smtClean="0">
                  <a:solidFill>
                    <a:srgbClr val="0000FF"/>
                  </a:solidFill>
                </a:rPr>
                <a:t> {3, 5, 2}</a:t>
              </a:r>
              <a:r>
                <a:rPr lang="en-US" b="1" dirty="0" smtClean="0">
                  <a:solidFill>
                    <a:srgbClr val="FF0000"/>
                  </a:solidFill>
                </a:rPr>
                <a:t>,</a:t>
              </a:r>
              <a:r>
                <a:rPr lang="en-US" dirty="0" smtClean="0">
                  <a:solidFill>
                    <a:srgbClr val="0000FF"/>
                  </a:solidFill>
                </a:rPr>
                <a:t> {4, 2, 2}</a:t>
              </a:r>
              <a:r>
                <a:rPr lang="en-US" b="1" dirty="0" smtClean="0">
                  <a:solidFill>
                    <a:srgbClr val="FF0000"/>
                  </a:solidFill>
                </a:rPr>
                <a:t>}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1236822"/>
              <a:ext cx="450344" cy="607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23528" y="206084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whole array is enclosed between outer braces.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250088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row is enclosed between inner braces.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294091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Rows are separated by commas.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3380947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Elements are separated by commas within the inner braces (rows).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382097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above example may be depicted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71600" y="4202556"/>
            <a:ext cx="2160240" cy="2178772"/>
            <a:chOff x="1691680" y="4130548"/>
            <a:chExt cx="2160240" cy="2178772"/>
          </a:xfrm>
        </p:grpSpPr>
        <p:grpSp>
          <p:nvGrpSpPr>
            <p:cNvPr id="3" name="Group 2"/>
            <p:cNvGrpSpPr/>
            <p:nvPr/>
          </p:nvGrpSpPr>
          <p:grpSpPr>
            <a:xfrm>
              <a:off x="1691680" y="4130548"/>
              <a:ext cx="2160240" cy="720080"/>
              <a:chOff x="1691680" y="4130548"/>
              <a:chExt cx="2160240" cy="72008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69168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41176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313184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691680" y="4869160"/>
              <a:ext cx="2160240" cy="720080"/>
              <a:chOff x="1691680" y="4130548"/>
              <a:chExt cx="2160240" cy="72008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69168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41176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5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13184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1691680" y="5589240"/>
              <a:ext cx="2160240" cy="720080"/>
              <a:chOff x="1691680" y="4130548"/>
              <a:chExt cx="2160240" cy="72008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169168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1176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131840" y="4130548"/>
                <a:ext cx="720080" cy="720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213452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  <p:bldP spid="10" grpId="0"/>
      <p:bldP spid="11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statements: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2" y="1668864"/>
            <a:ext cx="8784976" cy="1200329"/>
            <a:chOff x="323528" y="1236822"/>
            <a:chExt cx="7848872" cy="1128695"/>
          </a:xfrm>
        </p:grpSpPr>
        <p:sp>
          <p:nvSpPr>
            <p:cNvPr id="26" name="TextBox 25"/>
            <p:cNvSpPr txBox="1"/>
            <p:nvPr/>
          </p:nvSpPr>
          <p:spPr>
            <a:xfrm>
              <a:off x="773872" y="1236822"/>
              <a:ext cx="7398528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00FF"/>
                  </a:solidFill>
                </a:rPr>
                <a:t>static final </a:t>
              </a:r>
              <a:r>
                <a:rPr lang="en-US" dirty="0" err="1" smtClean="0">
                  <a:solidFill>
                    <a:srgbClr val="0000FF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ROWS = 4;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static final </a:t>
              </a:r>
              <a:r>
                <a:rPr lang="en-US" dirty="0" err="1" smtClean="0">
                  <a:solidFill>
                    <a:srgbClr val="0000FF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 COLUMNS = 3;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//Instantiate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[][]</a:t>
              </a:r>
              <a:r>
                <a:rPr lang="en-US" dirty="0" smtClean="0">
                  <a:solidFill>
                    <a:srgbClr val="0000FF"/>
                  </a:solidFill>
                </a:rPr>
                <a:t> matrix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[ROWS][COLUMNS];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1236822"/>
              <a:ext cx="45034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6.1 PROCESSING A ROW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3528" y="30288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46976300"/>
              </p:ext>
            </p:extLst>
          </p:nvPr>
        </p:nvGraphicFramePr>
        <p:xfrm>
          <a:off x="2555776" y="3573016"/>
          <a:ext cx="3456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59503492"/>
              </p:ext>
            </p:extLst>
          </p:nvPr>
        </p:nvGraphicFramePr>
        <p:xfrm>
          <a:off x="539552" y="3922256"/>
          <a:ext cx="11521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matrix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14"/>
          <p:cNvCxnSpPr>
            <a:stCxn id="9" idx="3"/>
          </p:cNvCxnSpPr>
          <p:nvPr/>
        </p:nvCxnSpPr>
        <p:spPr>
          <a:xfrm>
            <a:off x="1691680" y="4107676"/>
            <a:ext cx="187220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744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 animBg="1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us initialize the elements of row #2 to 7: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2" y="1668864"/>
            <a:ext cx="8784976" cy="923330"/>
            <a:chOff x="323528" y="1236822"/>
            <a:chExt cx="7848872" cy="868227"/>
          </a:xfrm>
        </p:grpSpPr>
        <p:sp>
          <p:nvSpPr>
            <p:cNvPr id="26" name="TextBox 25"/>
            <p:cNvSpPr txBox="1"/>
            <p:nvPr/>
          </p:nvSpPr>
          <p:spPr>
            <a:xfrm>
              <a:off x="773872" y="1236822"/>
              <a:ext cx="7398528" cy="86822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col;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(col = 0; col &lt; matrix[2].</a:t>
              </a:r>
              <a:r>
                <a:rPr lang="en-US" dirty="0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matrix[2][col] = 7;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1236822"/>
              <a:ext cx="450344" cy="86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6.1 PROCESSING A ROW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3528" y="26369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processing a row using a loop, the condition is “the number of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”, which is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matrix[2].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example.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335699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the row is fixed, and the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the column varies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0 to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matrix[2].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col is the loop counter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401725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Alternatively, we may write the following code: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9512" y="4509120"/>
            <a:ext cx="8784976" cy="1200329"/>
            <a:chOff x="323528" y="1236822"/>
            <a:chExt cx="7848872" cy="1128695"/>
          </a:xfrm>
        </p:grpSpPr>
        <p:sp>
          <p:nvSpPr>
            <p:cNvPr id="21" name="TextBox 20"/>
            <p:cNvSpPr txBox="1"/>
            <p:nvPr/>
          </p:nvSpPr>
          <p:spPr>
            <a:xfrm>
              <a:off x="773872" y="1236822"/>
              <a:ext cx="7398528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col;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CC00CC"/>
                  </a:solidFill>
                </a:rPr>
                <a:t>row = 2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(col = 0; col &lt; matrix[</a:t>
              </a:r>
              <a:r>
                <a:rPr lang="en-US" dirty="0" smtClean="0">
                  <a:solidFill>
                    <a:srgbClr val="CC00CC"/>
                  </a:solidFill>
                </a:rPr>
                <a:t>row</a:t>
              </a:r>
              <a:r>
                <a:rPr lang="en-US" dirty="0" smtClean="0">
                  <a:solidFill>
                    <a:srgbClr val="0000FF"/>
                  </a:solidFill>
                </a:rPr>
                <a:t>].</a:t>
              </a:r>
              <a:r>
                <a:rPr lang="en-US" dirty="0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matrix[</a:t>
              </a:r>
              <a:r>
                <a:rPr lang="en-US" dirty="0" smtClean="0">
                  <a:solidFill>
                    <a:srgbClr val="CC00CC"/>
                  </a:solidFill>
                </a:rPr>
                <a:t>row</a:t>
              </a:r>
              <a:r>
                <a:rPr lang="en-US" dirty="0" smtClean="0">
                  <a:solidFill>
                    <a:srgbClr val="0000FF"/>
                  </a:solidFill>
                </a:rPr>
                <a:t>][col] = 7;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93926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 animBg="1"/>
      <p:bldP spid="46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2869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executing the previous segments, 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6.1 PROCESSING A ROW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91126856"/>
              </p:ext>
            </p:extLst>
          </p:nvPr>
        </p:nvGraphicFramePr>
        <p:xfrm>
          <a:off x="2555776" y="2006848"/>
          <a:ext cx="3456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11799032"/>
              </p:ext>
            </p:extLst>
          </p:nvPr>
        </p:nvGraphicFramePr>
        <p:xfrm>
          <a:off x="539552" y="1988840"/>
          <a:ext cx="11521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matrix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14"/>
          <p:cNvCxnSpPr>
            <a:stCxn id="9" idx="3"/>
          </p:cNvCxnSpPr>
          <p:nvPr/>
        </p:nvCxnSpPr>
        <p:spPr>
          <a:xfrm>
            <a:off x="1691680" y="2174260"/>
            <a:ext cx="1872208" cy="3186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4042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us initialize the elements of col #1 to 5: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79512" y="1668864"/>
            <a:ext cx="8784976" cy="923330"/>
            <a:chOff x="323528" y="1236822"/>
            <a:chExt cx="7848872" cy="868227"/>
          </a:xfrm>
        </p:grpSpPr>
        <p:sp>
          <p:nvSpPr>
            <p:cNvPr id="26" name="TextBox 25"/>
            <p:cNvSpPr txBox="1"/>
            <p:nvPr/>
          </p:nvSpPr>
          <p:spPr>
            <a:xfrm>
              <a:off x="773872" y="1236822"/>
              <a:ext cx="7398528" cy="86822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matrix[row][1] = 5;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1236822"/>
              <a:ext cx="450344" cy="86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6.2 PROCESSING A COLUMN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3528" y="26369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processing a column using a loop, the condition is “the number of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”, which is </a:t>
            </a: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matrix.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this example.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335699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the column is fixed, and the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the row varies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0 to </a:t>
            </a: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matrix.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row is the loop counter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401725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Alternatively, we may write the following code: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9512" y="4604935"/>
            <a:ext cx="8784976" cy="1200329"/>
            <a:chOff x="323528" y="1236822"/>
            <a:chExt cx="7848872" cy="1128695"/>
          </a:xfrm>
        </p:grpSpPr>
        <p:sp>
          <p:nvSpPr>
            <p:cNvPr id="21" name="TextBox 20"/>
            <p:cNvSpPr txBox="1"/>
            <p:nvPr/>
          </p:nvSpPr>
          <p:spPr>
            <a:xfrm>
              <a:off x="773872" y="1236822"/>
              <a:ext cx="7398528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CC00CC"/>
                  </a:solidFill>
                </a:rPr>
                <a:t>col = 1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matrix[row][</a:t>
              </a:r>
              <a:r>
                <a:rPr lang="en-US" dirty="0" smtClean="0">
                  <a:solidFill>
                    <a:srgbClr val="CC00CC"/>
                  </a:solidFill>
                </a:rPr>
                <a:t>col</a:t>
              </a:r>
              <a:r>
                <a:rPr lang="en-US" dirty="0" smtClean="0">
                  <a:solidFill>
                    <a:srgbClr val="0000FF"/>
                  </a:solidFill>
                </a:rPr>
                <a:t>] = 5;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63030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 animBg="1"/>
      <p:bldP spid="46" grpId="0"/>
      <p:bldP spid="16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2869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executing the previous segment, 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6.2 PROCESSING A COLUMN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54227705"/>
              </p:ext>
            </p:extLst>
          </p:nvPr>
        </p:nvGraphicFramePr>
        <p:xfrm>
          <a:off x="2555776" y="2006848"/>
          <a:ext cx="3456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159451"/>
              </p:ext>
            </p:extLst>
          </p:nvPr>
        </p:nvGraphicFramePr>
        <p:xfrm>
          <a:off x="539552" y="1988840"/>
          <a:ext cx="11521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matrix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14"/>
          <p:cNvCxnSpPr>
            <a:stCxn id="9" idx="3"/>
          </p:cNvCxnSpPr>
          <p:nvPr/>
        </p:nvCxnSpPr>
        <p:spPr>
          <a:xfrm>
            <a:off x="1691680" y="2174260"/>
            <a:ext cx="1872208" cy="3186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8997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6.3 SUMMARY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75518904"/>
              </p:ext>
            </p:extLst>
          </p:nvPr>
        </p:nvGraphicFramePr>
        <p:xfrm>
          <a:off x="887760" y="1397000"/>
          <a:ext cx="736848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2824088"/>
                <a:gridCol w="2456160"/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FF"/>
                          </a:solidFill>
                        </a:rPr>
                        <a:t>Processing</a:t>
                      </a:r>
                      <a:r>
                        <a:rPr lang="en-US" b="0" baseline="0" dirty="0" smtClean="0">
                          <a:solidFill>
                            <a:srgbClr val="0000FF"/>
                          </a:solidFill>
                        </a:rPr>
                        <a:t> a </a:t>
                      </a:r>
                    </a:p>
                    <a:p>
                      <a:r>
                        <a:rPr lang="en-US" b="0" baseline="0" dirty="0" smtClean="0">
                          <a:solidFill>
                            <a:srgbClr val="0000FF"/>
                          </a:solidFill>
                        </a:rPr>
                        <a:t>ROW</a:t>
                      </a:r>
                      <a:endParaRPr lang="en-US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FF"/>
                          </a:solidFill>
                        </a:rPr>
                        <a:t>Processing</a:t>
                      </a:r>
                      <a:r>
                        <a:rPr lang="en-US" b="0" baseline="0" dirty="0" smtClean="0">
                          <a:solidFill>
                            <a:srgbClr val="0000FF"/>
                          </a:solidFill>
                        </a:rPr>
                        <a:t> a COLUMN</a:t>
                      </a:r>
                      <a:endParaRPr lang="en-US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FF"/>
                          </a:solidFill>
                        </a:rPr>
                        <a:t>Fixed</a:t>
                      </a:r>
                      <a:endParaRPr lang="en-US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 number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FF"/>
                          </a:solidFill>
                        </a:rPr>
                        <a:t>Loop</a:t>
                      </a:r>
                      <a:r>
                        <a:rPr lang="en-US" b="0" baseline="0" dirty="0" smtClean="0">
                          <a:solidFill>
                            <a:srgbClr val="0000FF"/>
                          </a:solidFill>
                        </a:rPr>
                        <a:t> counter</a:t>
                      </a:r>
                      <a:endParaRPr lang="en-US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FF"/>
                          </a:solidFill>
                        </a:rPr>
                        <a:t>Ending condition</a:t>
                      </a:r>
                      <a:endParaRPr lang="en-US" b="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columns</a:t>
                      </a:r>
                    </a:p>
                    <a:p>
                      <a:r>
                        <a:rPr lang="en-US" dirty="0" smtClean="0"/>
                        <a:t>= </a:t>
                      </a:r>
                      <a:r>
                        <a:rPr lang="en-US" dirty="0" smtClean="0">
                          <a:solidFill>
                            <a:srgbClr val="CC00CC"/>
                          </a:solidFill>
                        </a:rPr>
                        <a:t>matrix[row].length</a:t>
                      </a:r>
                      <a:endParaRPr lang="en-US" dirty="0">
                        <a:solidFill>
                          <a:srgbClr val="CC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rows</a:t>
                      </a:r>
                    </a:p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>
                          <a:solidFill>
                            <a:srgbClr val="CC00CC"/>
                          </a:solidFill>
                        </a:rPr>
                        <a:t>matrix.length</a:t>
                      </a:r>
                      <a:endParaRPr lang="en-US" dirty="0">
                        <a:solidFill>
                          <a:srgbClr val="CC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2650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6.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6.4 ARRAY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3528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to process the whole array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 by row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we do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559927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Start with row number 0.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89116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Loop over all columns from 0 to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matrix[0].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222240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Increment the row number.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255363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Go to step 2.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288487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Repeat steps 3&amp;4 until all rows are scanned (row=</a:t>
            </a: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matrix.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34290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previous algorithm is represented in the following code: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79512" y="3861048"/>
            <a:ext cx="8784976" cy="1200329"/>
            <a:chOff x="323528" y="1236822"/>
            <a:chExt cx="7848872" cy="1128695"/>
          </a:xfrm>
        </p:grpSpPr>
        <p:sp>
          <p:nvSpPr>
            <p:cNvPr id="18" name="TextBox 17"/>
            <p:cNvSpPr txBox="1"/>
            <p:nvPr/>
          </p:nvSpPr>
          <p:spPr>
            <a:xfrm>
              <a:off x="773872" y="1236822"/>
              <a:ext cx="7398528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row, col;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</a:t>
              </a:r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(col = 0; col &lt; matrix[row].</a:t>
              </a:r>
              <a:r>
                <a:rPr lang="en-US" dirty="0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	</a:t>
              </a:r>
              <a:r>
                <a:rPr lang="en-US" dirty="0" smtClean="0">
                  <a:solidFill>
                    <a:srgbClr val="00B050"/>
                  </a:solidFill>
                </a:rPr>
                <a:t>//process the element matrix[row][col]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528" y="1236822"/>
              <a:ext cx="45034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23528" y="533314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</a:t>
            </a:r>
            <a:r>
              <a:rPr lang="en-US" sz="2000" dirty="0" err="1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matrix.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4; </a:t>
            </a:r>
            <a:r>
              <a:rPr lang="en-US" sz="2000" dirty="0" smtClean="0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matrix[row]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3.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569318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let us trace the above segment in the next slide.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664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6. PROCESSING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6.4 ARRAY</a:t>
            </a:r>
            <a:endParaRPr lang="en-US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60507" y="1340768"/>
            <a:ext cx="8784976" cy="1200329"/>
            <a:chOff x="323528" y="1236822"/>
            <a:chExt cx="7848872" cy="1128695"/>
          </a:xfrm>
        </p:grpSpPr>
        <p:sp>
          <p:nvSpPr>
            <p:cNvPr id="18" name="TextBox 17"/>
            <p:cNvSpPr txBox="1"/>
            <p:nvPr/>
          </p:nvSpPr>
          <p:spPr>
            <a:xfrm>
              <a:off x="773872" y="1236822"/>
              <a:ext cx="7398528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row, col;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</a:t>
              </a:r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(col = 0; col &lt; matrix[row].</a:t>
              </a:r>
              <a:r>
                <a:rPr lang="en-US" dirty="0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	</a:t>
              </a:r>
              <a:r>
                <a:rPr lang="en-US" dirty="0" smtClean="0">
                  <a:solidFill>
                    <a:srgbClr val="00B050"/>
                  </a:solidFill>
                </a:rPr>
                <a:t>//process the element matrix[row][col]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528" y="1236822"/>
              <a:ext cx="45034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12098802"/>
              </p:ext>
            </p:extLst>
          </p:nvPr>
        </p:nvGraphicFramePr>
        <p:xfrm>
          <a:off x="2665324" y="2708920"/>
          <a:ext cx="19066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49"/>
                <a:gridCol w="625577"/>
                <a:gridCol w="81325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600" dirty="0" smtClean="0"/>
                        <a:t>First Row</a:t>
                      </a:r>
                      <a:endParaRPr lang="en-US" sz="1600" dirty="0"/>
                    </a:p>
                  </a:txBody>
                  <a:tcPr vert="vert27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200" dirty="0" smtClean="0"/>
                        <a:t>Second Row</a:t>
                      </a:r>
                      <a:endParaRPr lang="en-US" sz="1200" dirty="0"/>
                    </a:p>
                  </a:txBody>
                  <a:tcPr vert="vert27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33407677"/>
              </p:ext>
            </p:extLst>
          </p:nvPr>
        </p:nvGraphicFramePr>
        <p:xfrm>
          <a:off x="5292080" y="2708920"/>
          <a:ext cx="1944216" cy="26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395"/>
                <a:gridCol w="670419"/>
                <a:gridCol w="819402"/>
              </a:tblGrid>
              <a:tr h="4512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600" dirty="0" smtClean="0"/>
                        <a:t>Third Row</a:t>
                      </a:r>
                      <a:endParaRPr lang="en-US" sz="1600" dirty="0"/>
                    </a:p>
                  </a:txBody>
                  <a:tcPr vert="vert27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400" dirty="0" smtClean="0"/>
                        <a:t>Fourth Row</a:t>
                      </a:r>
                      <a:endParaRPr lang="en-US" sz="1400" dirty="0"/>
                    </a:p>
                  </a:txBody>
                  <a:tcPr vert="vert27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96540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7.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ANALYSIS 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520" y="1340768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Write a program that puts the sum of each row of a two-dimensional array in the corresponding row of a one-dimensional array.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220486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1619672" y="2204864"/>
            <a:ext cx="7344816" cy="7560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 two-dimensional array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smtClean="0">
                <a:solidFill>
                  <a:srgbClr val="0000FF"/>
                </a:solidFill>
              </a:rPr>
              <a:t>matrix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</a:t>
            </a:r>
            <a:r>
              <a:rPr lang="en-US" dirty="0" smtClean="0">
                <a:solidFill>
                  <a:srgbClr val="0000FF"/>
                </a:solidFill>
              </a:rPr>
              <a:t>matrix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CC00CC"/>
                </a:solidFill>
              </a:rPr>
              <a:t>variables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ROWS x COLUMNS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520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1634241" y="3068960"/>
            <a:ext cx="7344816" cy="864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 one-dimensional array </a:t>
            </a:r>
            <a:r>
              <a:rPr lang="en-US" dirty="0" smtClean="0">
                <a:solidFill>
                  <a:srgbClr val="0000FF"/>
                </a:solidFill>
              </a:rPr>
              <a:t>sums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</a:t>
            </a:r>
            <a:r>
              <a:rPr lang="en-US" dirty="0" smtClean="0">
                <a:solidFill>
                  <a:srgbClr val="0000FF"/>
                </a:solidFill>
              </a:rPr>
              <a:t>sums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en-US" dirty="0" smtClean="0">
                <a:solidFill>
                  <a:srgbClr val="0000FF"/>
                </a:solidFill>
              </a:rPr>
              <a:t>ROWS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460432" y="6407944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51520" y="414908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77548906"/>
              </p:ext>
            </p:extLst>
          </p:nvPr>
        </p:nvGraphicFramePr>
        <p:xfrm>
          <a:off x="1691680" y="4149080"/>
          <a:ext cx="3456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15518490"/>
              </p:ext>
            </p:extLst>
          </p:nvPr>
        </p:nvGraphicFramePr>
        <p:xfrm>
          <a:off x="6372200" y="4149080"/>
          <a:ext cx="17281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2699792" y="6165304"/>
            <a:ext cx="201622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matrix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732240" y="6165304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sums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5004048" y="4869160"/>
            <a:ext cx="1512168" cy="648072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9408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15" grpId="0" animBg="1"/>
      <p:bldP spid="2" grpId="0" animBg="1"/>
      <p:bldP spid="3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7.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CODE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196752"/>
            <a:ext cx="8784976" cy="5478423"/>
            <a:chOff x="323528" y="1236822"/>
            <a:chExt cx="7848872" cy="5151489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1514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sumOfRows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static </a:t>
              </a:r>
              <a:r>
                <a:rPr lang="en-US" sz="1400" dirty="0" smtClean="0">
                  <a:solidFill>
                    <a:srgbClr val="0000FF"/>
                  </a:solidFill>
                </a:rPr>
                <a:t>Scanner read 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</a:t>
              </a:r>
              <a:r>
                <a:rPr lang="en-US" sz="1400" dirty="0" smtClean="0">
                  <a:solidFill>
                    <a:srgbClr val="0000FF"/>
                  </a:solidFill>
                </a:rPr>
                <a:t> Scanner (System.in);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final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ROWS = 7;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final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COLUMNS = 5;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public static void</a:t>
              </a:r>
              <a:r>
                <a:rPr lang="en-US" sz="14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{</a:t>
              </a:r>
            </a:p>
            <a:p>
              <a:r>
                <a:rPr lang="en-US" sz="1400" dirty="0" smtClean="0"/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[][] </a:t>
              </a:r>
              <a:r>
                <a:rPr lang="en-US" sz="1400" dirty="0" smtClean="0">
                  <a:solidFill>
                    <a:srgbClr val="0000FF"/>
                  </a:solidFill>
                </a:rPr>
                <a:t>matrix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[ROWS][COLUMNS];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</a:t>
              </a:r>
              <a:r>
                <a:rPr lang="en-US" sz="1400" dirty="0" smtClean="0">
                  <a:solidFill>
                    <a:srgbClr val="0000FF"/>
                  </a:solidFill>
                </a:rPr>
                <a:t> sums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[ROWS];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row, col;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// Fill in the array using the math random generator with values between 10 &amp;1000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row++) </a:t>
              </a:r>
              <a:r>
                <a:rPr lang="en-US" sz="1400" dirty="0" smtClean="0">
                  <a:solidFill>
                    <a:srgbClr val="00B050"/>
                  </a:solidFill>
                </a:rPr>
                <a:t>//</a:t>
              </a:r>
              <a:r>
                <a:rPr lang="en-US" sz="1400" dirty="0" smtClean="0">
                  <a:solidFill>
                    <a:srgbClr val="CC00CC"/>
                  </a:solidFill>
                </a:rPr>
                <a:t>row is the outer loop </a:t>
              </a:r>
              <a:r>
                <a:rPr lang="en-US" sz="1400" dirty="0" smtClean="0">
                  <a:solidFill>
                    <a:srgbClr val="CC00CC"/>
                  </a:solidFill>
                  <a:sym typeface="Wingdings" panose="05000000000000000000" pitchFamily="2" charset="2"/>
                </a:rPr>
                <a:t> row by row</a:t>
              </a:r>
              <a:endParaRPr lang="en-US" sz="1400" dirty="0" smtClean="0">
                <a:solidFill>
                  <a:srgbClr val="CC00CC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(col = 0; col &lt; matrix[row].</a:t>
              </a:r>
              <a:r>
                <a:rPr lang="en-US" sz="14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     matrix[row][col] = (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)(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Math.random</a:t>
              </a:r>
              <a:r>
                <a:rPr lang="en-US" sz="1400" dirty="0" smtClean="0">
                  <a:solidFill>
                    <a:srgbClr val="0000FF"/>
                  </a:solidFill>
                </a:rPr>
                <a:t>() * 1000) + 10; </a:t>
              </a:r>
              <a:r>
                <a:rPr lang="en-US" sz="1400" dirty="0" smtClean="0">
                  <a:solidFill>
                    <a:srgbClr val="00B050"/>
                  </a:solidFill>
                </a:rPr>
                <a:t>// 10 ⋜ value &lt; 1000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// Add the element of each row of matrix &amp; store in the corresponding row of sums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// </a:t>
              </a:r>
              <a:r>
                <a:rPr lang="en-US" sz="1400" dirty="0" smtClean="0">
                  <a:solidFill>
                    <a:srgbClr val="CC00CC"/>
                  </a:solidFill>
                </a:rPr>
                <a:t>row is the outer loop </a:t>
              </a:r>
              <a:r>
                <a:rPr lang="en-US" sz="1400" dirty="0" smtClean="0">
                  <a:solidFill>
                    <a:srgbClr val="CC00CC"/>
                  </a:solidFill>
                  <a:sym typeface="Wingdings" panose="05000000000000000000" pitchFamily="2" charset="2"/>
                </a:rPr>
                <a:t> read row by row</a:t>
              </a:r>
              <a:endParaRPr lang="en-US" sz="1400" dirty="0" smtClean="0">
                <a:solidFill>
                  <a:srgbClr val="CC00CC"/>
                </a:solidFill>
              </a:endParaRP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row++)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(col = 0; col &lt; matrix[row].</a:t>
              </a:r>
              <a:r>
                <a:rPr lang="en-US" sz="14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sums[row] += matrix[row][col];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 // print sums: each element on a new line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sums.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(“sums[%d] = %d %n”, row, sums[row]);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5151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25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899592" y="3789040"/>
            <a:ext cx="8064896" cy="64807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99592" y="4869160"/>
            <a:ext cx="8064896" cy="64807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5733256"/>
            <a:ext cx="8064896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939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179512" y="6165304"/>
            <a:ext cx="871296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Initialize </a:t>
            </a:r>
            <a:r>
              <a:rPr lang="en-US" dirty="0" smtClean="0">
                <a:solidFill>
                  <a:srgbClr val="0000FF"/>
                </a:solidFill>
              </a:rPr>
              <a:t>sum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with the start of each column.</a:t>
            </a:r>
            <a:endParaRPr lang="en-US" dirty="0" smtClean="0">
              <a:solidFill>
                <a:srgbClr val="0000FF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7.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2 – ANALYSIS 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520" y="1268760"/>
            <a:ext cx="8712968" cy="432048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/>
              <a:t>Write a program that prints the sum of each column of a two-dimensional array.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177281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1619672" y="1772816"/>
            <a:ext cx="7344816" cy="7560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 two-dimensional array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smtClean="0">
                <a:solidFill>
                  <a:srgbClr val="0000FF"/>
                </a:solidFill>
              </a:rPr>
              <a:t>matrix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</a:t>
            </a:r>
            <a:r>
              <a:rPr lang="en-US" dirty="0" smtClean="0">
                <a:solidFill>
                  <a:srgbClr val="0000FF"/>
                </a:solidFill>
              </a:rPr>
              <a:t>matrix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CC00CC"/>
                </a:solidFill>
              </a:rPr>
              <a:t>variables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ROWS x COLUMNS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520" y="256490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1634241" y="2564904"/>
            <a:ext cx="7344816" cy="57606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sum of each column printed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smtClean="0">
                <a:solidFill>
                  <a:srgbClr val="0000FF"/>
                </a:solidFill>
              </a:rPr>
              <a:t>sum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 smtClean="0">
              <a:solidFill>
                <a:srgbClr val="0000FF"/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460432" y="6407944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51520" y="321297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76240954"/>
              </p:ext>
            </p:extLst>
          </p:nvPr>
        </p:nvGraphicFramePr>
        <p:xfrm>
          <a:off x="1691680" y="3212976"/>
          <a:ext cx="3456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Col 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Row 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91370453"/>
              </p:ext>
            </p:extLst>
          </p:nvPr>
        </p:nvGraphicFramePr>
        <p:xfrm>
          <a:off x="1634241" y="5157192"/>
          <a:ext cx="8495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sum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72191386"/>
              </p:ext>
            </p:extLst>
          </p:nvPr>
        </p:nvGraphicFramePr>
        <p:xfrm>
          <a:off x="2555776" y="5157192"/>
          <a:ext cx="8495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12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25019247"/>
              </p:ext>
            </p:extLst>
          </p:nvPr>
        </p:nvGraphicFramePr>
        <p:xfrm>
          <a:off x="3434441" y="5157192"/>
          <a:ext cx="8495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13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83205321"/>
              </p:ext>
            </p:extLst>
          </p:nvPr>
        </p:nvGraphicFramePr>
        <p:xfrm>
          <a:off x="4355976" y="5157192"/>
          <a:ext cx="8495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19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79512" y="5589240"/>
            <a:ext cx="871296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We should go column by column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CC"/>
                </a:solidFill>
                <a:sym typeface="Wingdings" panose="05000000000000000000" pitchFamily="2" charset="2"/>
              </a:rPr>
              <a:t>col is the outer loop</a:t>
            </a:r>
            <a:endParaRPr lang="en-US" dirty="0" smtClean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018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1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15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7.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2 – CODE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406381"/>
            <a:ext cx="8784976" cy="5262979"/>
            <a:chOff x="323528" y="1236822"/>
            <a:chExt cx="7848872" cy="4948902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9489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sumOfColumns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static </a:t>
              </a:r>
              <a:r>
                <a:rPr lang="en-US" sz="1400" dirty="0" smtClean="0">
                  <a:solidFill>
                    <a:srgbClr val="0000FF"/>
                  </a:solidFill>
                </a:rPr>
                <a:t>Scanner read 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</a:t>
              </a:r>
              <a:r>
                <a:rPr lang="en-US" sz="1400" dirty="0" smtClean="0">
                  <a:solidFill>
                    <a:srgbClr val="0000FF"/>
                  </a:solidFill>
                </a:rPr>
                <a:t> Scanner (System.in);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final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ROWS = 7;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final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COLUMNS = 5;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public static void</a:t>
              </a:r>
              <a:r>
                <a:rPr lang="en-US" sz="14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{</a:t>
              </a:r>
            </a:p>
            <a:p>
              <a:r>
                <a:rPr lang="en-US" sz="1400" dirty="0" smtClean="0"/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[][] </a:t>
              </a:r>
              <a:r>
                <a:rPr lang="en-US" sz="1400" dirty="0" smtClean="0">
                  <a:solidFill>
                    <a:srgbClr val="0000FF"/>
                  </a:solidFill>
                </a:rPr>
                <a:t>matrix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[ROWS][COLUMNS];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row, col, sum = 0;	</a:t>
              </a:r>
              <a:r>
                <a:rPr lang="en-US" sz="1400" dirty="0" smtClean="0">
                  <a:solidFill>
                    <a:srgbClr val="00B050"/>
                  </a:solidFill>
                </a:rPr>
                <a:t>//initialize sum to zero (accumulator)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// Fill in the array using the math random generator with values between 10 &amp;1000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row++) </a:t>
              </a:r>
              <a:r>
                <a:rPr lang="en-US" sz="1400" dirty="0" smtClean="0">
                  <a:solidFill>
                    <a:srgbClr val="00B050"/>
                  </a:solidFill>
                </a:rPr>
                <a:t>//</a:t>
              </a:r>
              <a:r>
                <a:rPr lang="en-US" sz="1400" dirty="0" smtClean="0">
                  <a:solidFill>
                    <a:srgbClr val="CC00CC"/>
                  </a:solidFill>
                </a:rPr>
                <a:t>row is the outer loop </a:t>
              </a:r>
              <a:r>
                <a:rPr lang="en-US" sz="1400" dirty="0" smtClean="0">
                  <a:solidFill>
                    <a:srgbClr val="CC00CC"/>
                  </a:solidFill>
                  <a:sym typeface="Wingdings" panose="05000000000000000000" pitchFamily="2" charset="2"/>
                </a:rPr>
                <a:t> row by row</a:t>
              </a:r>
              <a:endParaRPr lang="en-US" sz="1400" dirty="0" smtClean="0">
                <a:solidFill>
                  <a:srgbClr val="CC00CC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(col = 0; col &lt; matrix[row].</a:t>
              </a:r>
              <a:r>
                <a:rPr lang="en-US" sz="14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col++)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     matrix[row][col] = (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)(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Math.random</a:t>
              </a:r>
              <a:r>
                <a:rPr lang="en-US" sz="1400" dirty="0" smtClean="0">
                  <a:solidFill>
                    <a:srgbClr val="0000FF"/>
                  </a:solidFill>
                </a:rPr>
                <a:t>() * 1000) + 10; </a:t>
              </a:r>
              <a:r>
                <a:rPr lang="en-US" sz="1400" dirty="0" smtClean="0">
                  <a:solidFill>
                    <a:srgbClr val="00B050"/>
                  </a:solidFill>
                </a:rPr>
                <a:t>// 10 ⋜ value &lt; 1000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 // we want to go column by column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400" dirty="0" smtClean="0">
                  <a:solidFill>
                    <a:srgbClr val="CC00CC"/>
                  </a:solidFill>
                  <a:sym typeface="Wingdings" panose="05000000000000000000" pitchFamily="2" charset="2"/>
                </a:rPr>
                <a:t>col</a:t>
              </a:r>
              <a:r>
                <a:rPr lang="en-US" sz="1400" dirty="0" smtClean="0">
                  <a:solidFill>
                    <a:srgbClr val="CC00CC"/>
                  </a:solidFill>
                </a:rPr>
                <a:t> is the outer loop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(col = 0; col &lt; matrix[0].</a:t>
              </a:r>
              <a:r>
                <a:rPr lang="en-US" sz="14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col++)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sum = 0; </a:t>
              </a:r>
              <a:r>
                <a:rPr lang="en-US" sz="1400" dirty="0" smtClean="0">
                  <a:solidFill>
                    <a:srgbClr val="00B050"/>
                  </a:solidFill>
                </a:rPr>
                <a:t>//initialize with each column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</a:t>
              </a:r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(row = 0; row &lt;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matrix.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row++)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sum += matrix[row][col];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(“Sum of column #%d = %d”, col, sum);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for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4948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24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904877" y="3789040"/>
            <a:ext cx="8064896" cy="64807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9592" y="465313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9592" y="5301208"/>
            <a:ext cx="8064896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9592" y="508518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5374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3" grpId="0" animBg="1"/>
      <p:bldP spid="14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7.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3: TWO-DIMENSIONAL ARRAYS AS METHOD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"/>
          <p:cNvGrpSpPr/>
          <p:nvPr/>
        </p:nvGrpSpPr>
        <p:grpSpPr>
          <a:xfrm>
            <a:off x="179512" y="1340768"/>
            <a:ext cx="8784977" cy="5016758"/>
            <a:chOff x="323528" y="1236822"/>
            <a:chExt cx="7848873" cy="4717361"/>
          </a:xfrm>
        </p:grpSpPr>
        <p:sp>
          <p:nvSpPr>
            <p:cNvPr id="15" name="TextBox 14"/>
            <p:cNvSpPr txBox="1"/>
            <p:nvPr/>
          </p:nvSpPr>
          <p:spPr>
            <a:xfrm>
              <a:off x="788528" y="1236822"/>
              <a:ext cx="7383873" cy="471736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600" dirty="0" smtClean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arrayAsParameters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600" dirty="0" smtClean="0"/>
                <a:t>Scanner read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 </a:t>
              </a:r>
              <a:r>
                <a:rPr lang="en-US" sz="1600" dirty="0" smtClean="0"/>
                <a:t>Scanner (System.in);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  double[][]</a:t>
              </a:r>
              <a:r>
                <a:rPr lang="en-US" sz="1600" dirty="0" smtClean="0"/>
                <a:t> sales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 double</a:t>
              </a:r>
              <a:r>
                <a:rPr lang="en-US" sz="1600" dirty="0" smtClean="0"/>
                <a:t>[20][30];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600" dirty="0" smtClean="0">
                  <a:solidFill>
                    <a:srgbClr val="0000FF"/>
                  </a:solidFill>
                </a:rPr>
                <a:t> (sales)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/>
                <a:t>    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       // This method fills a two-dimensional array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</a:t>
              </a:r>
              <a:r>
                <a:rPr lang="en-US" sz="1600" dirty="0" smtClean="0">
                  <a:solidFill>
                    <a:srgbClr val="00B050"/>
                  </a:solidFill>
                </a:rPr>
                <a:t> </a:t>
              </a:r>
              <a:r>
                <a:rPr lang="en-US" sz="1600" dirty="0" err="1" smtClean="0"/>
                <a:t>fillArray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double[][]</a:t>
              </a:r>
              <a:r>
                <a:rPr lang="en-US" sz="1600" dirty="0" smtClean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{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for</a:t>
              </a:r>
              <a:r>
                <a:rPr lang="en-US" sz="1600" dirty="0" smtClean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/>
                <a:t>row=0; row&lt;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list.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/>
                <a:t>; row++)</a:t>
              </a:r>
            </a:p>
            <a:p>
              <a:r>
                <a:rPr lang="en-US" sz="1600" dirty="0" smtClean="0"/>
                <a:t>             for (</a:t>
              </a:r>
              <a:r>
                <a:rPr lang="en-US" sz="1600" dirty="0" err="1" smtClean="0"/>
                <a:t>int</a:t>
              </a:r>
              <a:r>
                <a:rPr lang="en-US" sz="1600" dirty="0" smtClean="0"/>
                <a:t> col=0; col &lt; 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[row].</a:t>
              </a:r>
              <a:r>
                <a:rPr lang="en-US" sz="16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/>
                <a:t>; col++) </a:t>
              </a:r>
            </a:p>
            <a:p>
              <a:r>
                <a:rPr lang="en-US" sz="1600" dirty="0" smtClean="0"/>
                <a:t>      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</a:t>
              </a:r>
              <a:r>
                <a:rPr lang="en-US" sz="1600" dirty="0" err="1" smtClean="0"/>
                <a:t>System.out.println</a:t>
              </a:r>
              <a:r>
                <a:rPr lang="en-US" sz="1600" dirty="0" smtClean="0"/>
                <a:t> (“Enter next element: “);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              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[row][col] = </a:t>
              </a:r>
              <a:r>
                <a:rPr lang="en-US" sz="1600" dirty="0" err="1" smtClean="0"/>
                <a:t>read.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nextDouble</a:t>
              </a:r>
              <a:r>
                <a:rPr lang="en-US" sz="1600" dirty="0" smtClean="0">
                  <a:solidFill>
                    <a:srgbClr val="00B050"/>
                  </a:solidFill>
                </a:rPr>
                <a:t>()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 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for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fillArray</a:t>
              </a:r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/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class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528" y="1236822"/>
              <a:ext cx="450344" cy="4717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83568" y="3573016"/>
            <a:ext cx="8280919" cy="244827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3568" y="3068960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Callout 11"/>
          <p:cNvSpPr/>
          <p:nvPr/>
        </p:nvSpPr>
        <p:spPr>
          <a:xfrm>
            <a:off x="6156176" y="2636912"/>
            <a:ext cx="2448272" cy="1368152"/>
          </a:xfrm>
          <a:prstGeom prst="wedgeEllipseCallout">
            <a:avLst>
              <a:gd name="adj1" fmla="val -180511"/>
              <a:gd name="adj2" fmla="val -9192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Note that [] are not written for actual parameters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13" name="Oval Callout 12"/>
          <p:cNvSpPr/>
          <p:nvPr/>
        </p:nvSpPr>
        <p:spPr>
          <a:xfrm>
            <a:off x="6516216" y="4293096"/>
            <a:ext cx="2448272" cy="1368152"/>
          </a:xfrm>
          <a:prstGeom prst="wedgeEllipseCallout">
            <a:avLst>
              <a:gd name="adj1" fmla="val -93945"/>
              <a:gd name="adj2" fmla="val -75402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Every occurrence of </a:t>
            </a:r>
            <a:r>
              <a:rPr lang="en-US" sz="1400" dirty="0" smtClean="0">
                <a:solidFill>
                  <a:srgbClr val="FF33CC"/>
                </a:solidFill>
              </a:rPr>
              <a:t>list </a:t>
            </a:r>
            <a:r>
              <a:rPr lang="en-US" sz="1400" dirty="0" smtClean="0">
                <a:solidFill>
                  <a:srgbClr val="0000FF"/>
                </a:solidFill>
              </a:rPr>
              <a:t>is replaced by </a:t>
            </a:r>
            <a:r>
              <a:rPr lang="en-US" sz="1400" dirty="0" smtClean="0">
                <a:solidFill>
                  <a:srgbClr val="FF33CC"/>
                </a:solidFill>
              </a:rPr>
              <a:t>sales</a:t>
            </a:r>
            <a:endParaRPr lang="en-US" sz="14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570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2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9512" y="90872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Write a complete program that searches </a:t>
            </a:r>
            <a:r>
              <a:rPr lang="en-US" dirty="0" smtClean="0"/>
              <a:t>for an element in an integer two-dimensional array of 100 rows and 50 columns. Fill in the array using the random number generator function.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W9.3 Arrays – Two-dimensional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19888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Write a complete program that </a:t>
            </a:r>
            <a:r>
              <a:rPr lang="en-US" dirty="0" smtClean="0"/>
              <a:t>finds the largest element in an integer two-dimensional array of 20 rows and 15 columns. Fill in the array using the random number generator function with values between 25 and 100 exclusive.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6040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1147</TotalTime>
  <Words>2142</Words>
  <Application>Microsoft Office PowerPoint</Application>
  <PresentationFormat>On-screen Show (4:3)</PresentationFormat>
  <Paragraphs>705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Concourse</vt:lpstr>
      <vt:lpstr>  ARRAYS </vt:lpstr>
      <vt:lpstr>Outline</vt:lpstr>
      <vt:lpstr>1. INTRODUCTION</vt:lpstr>
      <vt:lpstr>2. DECLARATION</vt:lpstr>
      <vt:lpstr>2. DECLARATION</vt:lpstr>
      <vt:lpstr>2. DECLARATION</vt:lpstr>
      <vt:lpstr>3. ACCESSING ARRAY ELEMENTS</vt:lpstr>
      <vt:lpstr>4. length</vt:lpstr>
      <vt:lpstr>5. INITIALIZATION</vt:lpstr>
      <vt:lpstr>6. PROCESSING</vt:lpstr>
      <vt:lpstr>6. PROCESSING</vt:lpstr>
      <vt:lpstr>6. PROCESSING</vt:lpstr>
      <vt:lpstr>6. PROCESSING</vt:lpstr>
      <vt:lpstr>6. PROCESSING</vt:lpstr>
      <vt:lpstr>6. PROCESSING</vt:lpstr>
      <vt:lpstr>6. PROCESSING</vt:lpstr>
      <vt:lpstr>6. PROCESSING</vt:lpstr>
      <vt:lpstr>7. PROGRAMMING EXAMPLES</vt:lpstr>
      <vt:lpstr>7. PROGRAMMING EXAMPLES</vt:lpstr>
      <vt:lpstr>7. PROGRAMMING EXAMPLES</vt:lpstr>
      <vt:lpstr>7. PROGRAMMING EXAMPLES</vt:lpstr>
      <vt:lpstr>7. PROGRAMMING EXAMPLES</vt:lpstr>
      <vt:lpstr>Self-Check Exercises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(2)</dc:title>
  <dc:creator>Soha S.Zaghloul</dc:creator>
  <cp:lastModifiedBy>Omar</cp:lastModifiedBy>
  <cp:revision>85</cp:revision>
  <dcterms:created xsi:type="dcterms:W3CDTF">2015-03-18T17:55:00Z</dcterms:created>
  <dcterms:modified xsi:type="dcterms:W3CDTF">2016-12-23T19:30:51Z</dcterms:modified>
</cp:coreProperties>
</file>