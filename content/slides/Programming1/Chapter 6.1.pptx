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FFFFCC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155" autoAdjust="0"/>
    <p:restoredTop sz="94660"/>
  </p:normalViewPr>
  <p:slideViewPr>
    <p:cSldViewPr>
      <p:cViewPr varScale="1">
        <p:scale>
          <a:sx n="59" d="100"/>
          <a:sy n="59" d="100"/>
        </p:scale>
        <p:origin x="-87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85E48BD-A807-456B-9E93-1A6B374B7AE3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EA4835A-078C-4DCB-B17F-B7A40645A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USER-DEFINED METHODS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void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649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User-defined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	1.1 What?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1.2 Layout 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1.3 Why?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smtClean="0">
                <a:latin typeface="Tahoma" charset="0"/>
                <a:cs typeface="Arial" charset="0"/>
              </a:rPr>
              <a:t>2</a:t>
            </a:r>
            <a:r>
              <a:rPr lang="en-US" sz="2000" dirty="0" smtClean="0">
                <a:latin typeface="Tahoma" charset="0"/>
                <a:cs typeface="Arial" charset="0"/>
              </a:rPr>
              <a:t>. Void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2.1 With no parameters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2.2 With a single parameter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2.3 With multiple parameters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solidFill>
                <a:srgbClr val="0000FF"/>
              </a:solidFill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3. Programming Example: Searching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6120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USER-DEFINED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user-defined method is a small program (set of statements) that is written once in the program, but used as much as needed.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1.1 WHAT?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528" y="22453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Pre-defined methods are provided by Java.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29141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methods are designed by the programmer.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358288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programmer codes a method when it is not readily provided by Java.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42516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may write one or more methods in the program.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49204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methods are placed after the end of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558924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are executed only when they are called.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815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20" grpId="0"/>
      <p:bldP spid="21" grpId="0"/>
      <p:bldP spid="22" grpId="0"/>
      <p:bldP spid="23" grpId="0"/>
      <p:bldP spid="24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USER-DEFINED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1.2 LAYOUT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3528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layout of a program with methods is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79513" y="1628800"/>
            <a:ext cx="8784976" cy="5262979"/>
            <a:chOff x="323529" y="1236822"/>
            <a:chExt cx="7848872" cy="4948889"/>
          </a:xfrm>
        </p:grpSpPr>
        <p:sp>
          <p:nvSpPr>
            <p:cNvPr id="32" name="TextBox 31"/>
            <p:cNvSpPr txBox="1"/>
            <p:nvPr/>
          </p:nvSpPr>
          <p:spPr>
            <a:xfrm>
              <a:off x="788528" y="1236822"/>
              <a:ext cx="7383873" cy="486206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layout</a:t>
              </a:r>
            </a:p>
            <a:p>
              <a:r>
                <a:rPr lang="en-US" sz="1600" b="1" dirty="0" smtClean="0"/>
                <a:t>    {</a:t>
              </a:r>
              <a:endParaRPr lang="en-US" sz="1400" b="1" dirty="0" smtClean="0"/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     {</a:t>
              </a:r>
              <a:endParaRPr lang="en-US" sz="1400" b="1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}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//end of main</a:t>
              </a:r>
            </a:p>
            <a:p>
              <a:endParaRPr lang="en-US" sz="1400" dirty="0">
                <a:solidFill>
                  <a:srgbClr val="00B0F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method1()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…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} //end of method1</a:t>
              </a:r>
            </a:p>
            <a:p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public static void </a:t>
              </a:r>
              <a:r>
                <a:rPr lang="en-US" sz="1400" dirty="0" smtClean="0">
                  <a:solidFill>
                    <a:srgbClr val="00B050"/>
                  </a:solidFill>
                </a:rPr>
                <a:t>method2()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600" b="1" dirty="0" smtClean="0">
                  <a:solidFill>
                    <a:srgbClr val="00B050"/>
                  </a:solidFill>
                </a:rPr>
                <a:t>{</a:t>
              </a:r>
              <a:endParaRPr lang="en-US" sz="1400" b="1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b="1" dirty="0" smtClean="0">
                  <a:solidFill>
                    <a:srgbClr val="00B050"/>
                  </a:solidFill>
                </a:rPr>
                <a:t>} //end of method2</a:t>
              </a:r>
            </a:p>
            <a:p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600" b="1" dirty="0" smtClean="0"/>
                <a:t>    } </a:t>
              </a:r>
              <a:r>
                <a:rPr lang="en-US" sz="1400" b="1" dirty="0" smtClean="0"/>
                <a:t>//end of class</a:t>
              </a:r>
              <a:endParaRPr lang="en-US" sz="14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3529" y="1236822"/>
              <a:ext cx="386010" cy="4948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24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827584" y="2217302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27584" y="2226350"/>
            <a:ext cx="0" cy="43710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12566" y="6597352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71600" y="2636912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971600" y="2636912"/>
            <a:ext cx="0" cy="9361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971600" y="3573016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99592" y="4221088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99592" y="4221088"/>
            <a:ext cx="0" cy="6480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99592" y="4869160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99592" y="5517232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99592" y="5517232"/>
            <a:ext cx="0" cy="6480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99592" y="6165304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4093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USER-DEFINED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Programmers may need methods for one or more of the following reasons: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1.3 WHY?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528" y="21279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1)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Modularity: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Breaking up the problem into sub-problems.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26793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2)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Top-Down Design Approach: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attempting to solve a problem at one level, new sub-problems arise at a lower level.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35384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3)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Sharing: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big projects, the coding is assigned to many different people. Every programmer writes one or methods, then these are assembled in a single program. This is impossible to achieve without the concept of methods.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501317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4)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packages: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same way, there are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java.util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.*,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java.lang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.*, you can create your own package using classes and methods.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7181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20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USER-DEFINED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1.4 EXAMPLE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484784"/>
            <a:ext cx="8784977" cy="4278094"/>
            <a:chOff x="323528" y="1236822"/>
            <a:chExt cx="7848873" cy="4022780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402278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600" dirty="0" smtClean="0">
                  <a:solidFill>
                    <a:srgbClr val="0000FF"/>
                  </a:solidFill>
                </a:rPr>
                <a:t> layout</a:t>
              </a:r>
            </a:p>
            <a:p>
              <a:r>
                <a:rPr lang="en-US" sz="1600" dirty="0" smtClean="0"/>
                <a:t>  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600" b="1" dirty="0">
                  <a:solidFill>
                    <a:srgbClr val="0000FF"/>
                  </a:solidFill>
                </a:rPr>
                <a:t>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1600" dirty="0" smtClean="0">
                  <a:solidFill>
                    <a:srgbClr val="0000FF"/>
                  </a:solidFill>
                </a:rPr>
                <a:t> x, y;</a:t>
              </a:r>
            </a:p>
            <a:p>
              <a:r>
                <a:rPr lang="en-US" sz="1600" b="1" dirty="0">
                  <a:solidFill>
                    <a:srgbClr val="0000FF"/>
                  </a:solidFill>
                </a:rPr>
                <a:t>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        …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if (y == 0)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errorMessage</a:t>
              </a:r>
              <a:r>
                <a:rPr lang="en-US" sz="1600" dirty="0" smtClean="0">
                  <a:solidFill>
                    <a:srgbClr val="0000FF"/>
                  </a:solidFill>
                </a:rPr>
                <a:t>();     </a:t>
              </a:r>
              <a:r>
                <a:rPr lang="en-US" sz="1600" dirty="0" smtClean="0">
                  <a:solidFill>
                    <a:srgbClr val="00B050"/>
                  </a:solidFill>
                </a:rPr>
                <a:t>//method calling (using)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//method definition: This method prints an error message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600" dirty="0" smtClean="0">
                  <a:solidFill>
                    <a:srgbClr val="FF0000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errorMessage</a:t>
              </a:r>
              <a:r>
                <a:rPr lang="en-US" sz="1600" dirty="0" smtClean="0">
                  <a:solidFill>
                    <a:srgbClr val="FF0000"/>
                  </a:solidFill>
                </a:rPr>
                <a:t>()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</a:t>
              </a:r>
              <a:r>
                <a:rPr lang="en-US" sz="1600" b="1" dirty="0" smtClean="0">
                  <a:solidFill>
                    <a:srgbClr val="FF0000"/>
                  </a:solidFill>
                </a:rPr>
                <a:t>{</a:t>
              </a:r>
            </a:p>
            <a:p>
              <a:r>
                <a:rPr lang="en-US" sz="1600" dirty="0" smtClean="0">
                  <a:solidFill>
                    <a:srgbClr val="FF0000"/>
                  </a:solidFill>
                </a:rPr>
                <a:t>       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System.out.println</a:t>
              </a:r>
              <a:r>
                <a:rPr lang="en-US" sz="1600" dirty="0" smtClean="0">
                  <a:solidFill>
                    <a:srgbClr val="FF0000"/>
                  </a:solidFill>
                </a:rPr>
                <a:t> (“There is something wrong…!!”);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600" b="1" dirty="0" smtClean="0">
                  <a:solidFill>
                    <a:srgbClr val="FF0000"/>
                  </a:solidFill>
                </a:rPr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errorMessage</a:t>
              </a:r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/>
                <a:t>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class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402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83568" y="4221088"/>
            <a:ext cx="8280919" cy="122413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3568" y="3490848"/>
            <a:ext cx="8280919" cy="226184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83568" y="4437112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Callout 13"/>
          <p:cNvSpPr/>
          <p:nvPr/>
        </p:nvSpPr>
        <p:spPr>
          <a:xfrm>
            <a:off x="6421304" y="1844824"/>
            <a:ext cx="2448272" cy="1080120"/>
          </a:xfrm>
          <a:prstGeom prst="wedgeEllipseCallout">
            <a:avLst>
              <a:gd name="adj1" fmla="val -80682"/>
              <a:gd name="adj2" fmla="val 20488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228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24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27089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static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known as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modifiers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2.1 WITH NO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528" y="311065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 the same modifiers used for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677110" y="1340768"/>
            <a:ext cx="7215369" cy="136815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public static  void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methodName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statements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1340768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528" y="351239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modifiers indicate the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visibility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method. In other words, where in the program can the method be used (called).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3528" y="414908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all cases, the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of execution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(running) starts with the first statement in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691679" y="5517232"/>
            <a:ext cx="7215369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0000FF"/>
                </a:solidFill>
              </a:rPr>
              <a:t>methodName</a:t>
            </a:r>
            <a:r>
              <a:rPr lang="en-US" dirty="0" smtClean="0">
                <a:solidFill>
                  <a:srgbClr val="0000FF"/>
                </a:solidFill>
              </a:rPr>
              <a:t>();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51520" y="5517232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CALLING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23528" y="504511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with no parameters are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called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(used)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244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20" grpId="0"/>
      <p:bldP spid="13" grpId="0" animBg="1"/>
      <p:bldP spid="14" grpId="0" animBg="1"/>
      <p:bldP spid="15" grpId="0"/>
      <p:bldP spid="29" grpId="0"/>
      <p:bldP spid="30" grpId="0" animBg="1"/>
      <p:bldP spid="31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2.1 WITH NO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77110" y="1268760"/>
            <a:ext cx="7215369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welcome() </a:t>
            </a:r>
            <a:r>
              <a:rPr lang="en-US" dirty="0" smtClean="0">
                <a:solidFill>
                  <a:schemeClr val="tx1"/>
                </a:solidFill>
              </a:rPr>
              <a:t>method prints a welcome message.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6951" y="12687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EXAMPLE 1</a:t>
            </a:r>
            <a:endParaRPr lang="en-US" sz="1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79512" y="1844824"/>
            <a:ext cx="8784977" cy="4031873"/>
            <a:chOff x="323528" y="1236822"/>
            <a:chExt cx="7848873" cy="3791254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379125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methodNoParameters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  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</a:t>
              </a:r>
              <a:r>
                <a:rPr lang="en-US" sz="1600" dirty="0" err="1" smtClean="0"/>
                <a:t>System.out.println</a:t>
              </a:r>
              <a:r>
                <a:rPr lang="en-US" sz="1600" dirty="0" smtClean="0"/>
                <a:t> (“Start of Program”);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	welcome();     </a:t>
              </a:r>
              <a:r>
                <a:rPr lang="en-US" sz="1600" dirty="0" smtClean="0">
                  <a:solidFill>
                    <a:srgbClr val="00B050"/>
                  </a:solidFill>
                </a:rPr>
                <a:t>//method calling (using)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 </a:t>
              </a:r>
              <a:r>
                <a:rPr lang="en-US" sz="1600" dirty="0" err="1" smtClean="0"/>
                <a:t>System.out.println</a:t>
              </a:r>
              <a:r>
                <a:rPr lang="en-US" sz="1600" dirty="0" smtClean="0"/>
                <a:t> (“End of Program”);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      //method definition: This method prints a welcome message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600" dirty="0" smtClean="0">
                  <a:solidFill>
                    <a:srgbClr val="FF000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welcome()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 smtClean="0">
                  <a:solidFill>
                    <a:srgbClr val="0000FF"/>
                  </a:solidFill>
                </a:rPr>
                <a:t> (“Hello..!!”);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600" b="1" dirty="0" smtClean="0">
                  <a:solidFill>
                    <a:srgbClr val="0000FF"/>
                  </a:solidFill>
                </a:rPr>
                <a:t>}</a:t>
              </a:r>
              <a:r>
                <a:rPr lang="en-US" sz="16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welcome</a:t>
              </a:r>
            </a:p>
            <a:p>
              <a:r>
                <a:rPr lang="en-US" sz="1600" dirty="0" smtClean="0"/>
                <a:t>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of class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3791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83568" y="4293096"/>
            <a:ext cx="8280919" cy="122413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3568" y="3315470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51520" y="5949280"/>
            <a:ext cx="8712967" cy="738664"/>
            <a:chOff x="683568" y="1236822"/>
            <a:chExt cx="7488831" cy="738664"/>
          </a:xfrm>
        </p:grpSpPr>
        <p:sp>
          <p:nvSpPr>
            <p:cNvPr id="26" name="TextBox 25"/>
            <p:cNvSpPr txBox="1"/>
            <p:nvPr/>
          </p:nvSpPr>
          <p:spPr>
            <a:xfrm>
              <a:off x="1069013" y="1236822"/>
              <a:ext cx="7103386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Start of Program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Hello..!!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End of Program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cxnSp>
        <p:nvCxnSpPr>
          <p:cNvPr id="28" name="Straight Connector 27"/>
          <p:cNvCxnSpPr/>
          <p:nvPr/>
        </p:nvCxnSpPr>
        <p:spPr>
          <a:xfrm flipH="1">
            <a:off x="971600" y="3429000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619672" y="3212976"/>
            <a:ext cx="0" cy="216024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71600" y="3429000"/>
            <a:ext cx="0" cy="1224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203848" y="5445224"/>
            <a:ext cx="2808312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979727" y="3645024"/>
            <a:ext cx="0" cy="1800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5508104" y="3708098"/>
            <a:ext cx="48560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3568" y="5979766"/>
            <a:ext cx="8280919" cy="25754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83568" y="6195790"/>
            <a:ext cx="8280919" cy="25754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3568" y="6453336"/>
            <a:ext cx="8280919" cy="25754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Callout 39"/>
          <p:cNvSpPr/>
          <p:nvPr/>
        </p:nvSpPr>
        <p:spPr>
          <a:xfrm>
            <a:off x="6421304" y="1844824"/>
            <a:ext cx="2448272" cy="1080120"/>
          </a:xfrm>
          <a:prstGeom prst="wedgeEllipseCallout">
            <a:avLst>
              <a:gd name="adj1" fmla="val -83823"/>
              <a:gd name="adj2" fmla="val 7196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Start execution with the first statement in main</a:t>
            </a:r>
            <a:endParaRPr lang="en-US" sz="1400" dirty="0">
              <a:solidFill>
                <a:srgbClr val="00B0F0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971600" y="4653136"/>
            <a:ext cx="0" cy="792088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3568" y="4570968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Callout 30"/>
          <p:cNvSpPr/>
          <p:nvPr/>
        </p:nvSpPr>
        <p:spPr>
          <a:xfrm>
            <a:off x="6573704" y="4797152"/>
            <a:ext cx="2448272" cy="1080120"/>
          </a:xfrm>
          <a:prstGeom prst="wedgeEllipseCallout">
            <a:avLst>
              <a:gd name="adj1" fmla="val -151190"/>
              <a:gd name="adj2" fmla="val -60162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3635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  <p:bldP spid="23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2.1 WITH NO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77110" y="1268760"/>
            <a:ext cx="7215369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0000FF"/>
                </a:solidFill>
              </a:rPr>
              <a:t>displayMenu</a:t>
            </a:r>
            <a:r>
              <a:rPr lang="en-US" dirty="0" smtClean="0">
                <a:solidFill>
                  <a:srgbClr val="0000FF"/>
                </a:solidFill>
              </a:rPr>
              <a:t>() </a:t>
            </a:r>
            <a:r>
              <a:rPr lang="en-US" dirty="0" smtClean="0">
                <a:solidFill>
                  <a:schemeClr val="tx1"/>
                </a:solidFill>
              </a:rPr>
              <a:t>method displays a menu.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6951" y="12687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EXAMPLE 2</a:t>
            </a:r>
            <a:endParaRPr lang="en-US" sz="1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79512" y="1844824"/>
            <a:ext cx="8784977" cy="3785652"/>
            <a:chOff x="323528" y="1236822"/>
            <a:chExt cx="7848873" cy="3559727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35307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methodNoParameters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 (“Start of Program”);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displayMenu</a:t>
              </a:r>
              <a:r>
                <a:rPr lang="en-US" sz="1400" dirty="0" smtClean="0">
                  <a:solidFill>
                    <a:srgbClr val="0000FF"/>
                  </a:solidFill>
                </a:rPr>
                <a:t>();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//method calling (using)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 (“End of Program”);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//method definition: This method displays a menu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displayMenu</a:t>
              </a:r>
              <a:r>
                <a:rPr lang="en-US" sz="1400" dirty="0" smtClean="0">
                  <a:solidFill>
                    <a:srgbClr val="0000FF"/>
                  </a:solidFill>
                </a:rPr>
                <a:t>()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(“1. R for Residential”);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(“2. C for Commercial”);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(“3. I for industrial”);</a:t>
              </a:r>
            </a:p>
            <a:p>
              <a:r>
                <a:rPr lang="en-US" sz="1400" b="1" dirty="0" smtClean="0">
                  <a:solidFill>
                    <a:srgbClr val="0000FF"/>
                  </a:solidFill>
                </a:rPr>
                <a:t>      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displayMenu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3559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83568" y="3789040"/>
            <a:ext cx="8280919" cy="151216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3568" y="3140968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51520" y="5517232"/>
            <a:ext cx="8712967" cy="1223556"/>
            <a:chOff x="683568" y="1092806"/>
            <a:chExt cx="7488831" cy="1223556"/>
          </a:xfrm>
        </p:grpSpPr>
        <p:sp>
          <p:nvSpPr>
            <p:cNvPr id="26" name="TextBox 25"/>
            <p:cNvSpPr txBox="1"/>
            <p:nvPr/>
          </p:nvSpPr>
          <p:spPr>
            <a:xfrm>
              <a:off x="1069013" y="1092806"/>
              <a:ext cx="7103386" cy="1169551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Start of Program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1. R for Residential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2. C for Commercial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3. I for Industrial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End of Program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146811"/>
              <a:ext cx="216024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cxnSp>
        <p:nvCxnSpPr>
          <p:cNvPr id="28" name="Straight Connector 27"/>
          <p:cNvCxnSpPr/>
          <p:nvPr/>
        </p:nvCxnSpPr>
        <p:spPr>
          <a:xfrm flipH="1">
            <a:off x="971600" y="3284984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619672" y="3068960"/>
            <a:ext cx="0" cy="216024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71600" y="3284984"/>
            <a:ext cx="0" cy="8640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275856" y="5229200"/>
            <a:ext cx="273630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6002256" y="3501008"/>
            <a:ext cx="0" cy="172819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5076056" y="3489695"/>
            <a:ext cx="9262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3568" y="5547718"/>
            <a:ext cx="8280919" cy="25754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83568" y="5774778"/>
            <a:ext cx="8280919" cy="678558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3568" y="6453336"/>
            <a:ext cx="8280919" cy="25754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971600" y="4149080"/>
            <a:ext cx="0" cy="108012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3568" y="3994904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Callout 29"/>
          <p:cNvSpPr/>
          <p:nvPr/>
        </p:nvSpPr>
        <p:spPr>
          <a:xfrm>
            <a:off x="6573704" y="4221088"/>
            <a:ext cx="2448272" cy="1080120"/>
          </a:xfrm>
          <a:prstGeom prst="wedgeEllipseCallout">
            <a:avLst>
              <a:gd name="adj1" fmla="val -151190"/>
              <a:gd name="adj2" fmla="val -60162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664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  <p:bldP spid="23" grpId="0" animBg="1"/>
      <p:bldP spid="24" grpId="0" animBg="1"/>
      <p:bldP spid="37" grpId="0" animBg="1"/>
      <p:bldP spid="38" grpId="0" animBg="1"/>
      <p:bldP spid="39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23528" y="6105490"/>
            <a:ext cx="864096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actual parameter replaces each occurrence of the formal parameter in the 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written between the parenthesis.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WITH A SINGLE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528" y="289463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datatype of the formal parameter precedes its name.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677110" y="1340768"/>
            <a:ext cx="7215369" cy="11521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public static  void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methodName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dataType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formal_parameter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statements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1340768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528" y="32963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name of the formal parameter will be used inside the 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3528" y="378904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with a single parameter are called using an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actual parameter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691679" y="4549190"/>
            <a:ext cx="7215369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0000FF"/>
                </a:solidFill>
              </a:rPr>
              <a:t>methodName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err="1" smtClean="0">
                <a:solidFill>
                  <a:srgbClr val="0000FF"/>
                </a:solidFill>
              </a:rPr>
              <a:t>actualParameter</a:t>
            </a:r>
            <a:r>
              <a:rPr lang="en-US" dirty="0" smtClean="0">
                <a:solidFill>
                  <a:srgbClr val="0000FF"/>
                </a:solidFill>
              </a:rPr>
              <a:t>);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51520" y="4549190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CALLING</a:t>
            </a:r>
            <a:endParaRPr lang="en-US"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23528" y="508518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type of the parameter is NOT written when calling.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540515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actual parameter should have a value before being used to call the method.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1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9" grpId="0"/>
      <p:bldP spid="16" grpId="0" animBg="1"/>
      <p:bldP spid="20" grpId="0"/>
      <p:bldP spid="13" grpId="0" animBg="1"/>
      <p:bldP spid="14" grpId="0" animBg="1"/>
      <p:bldP spid="15" grpId="0"/>
      <p:bldP spid="28" grpId="0"/>
      <p:bldP spid="30" grpId="0" animBg="1"/>
      <p:bldP spid="31" grpId="0" animBg="1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WITH A SINGLE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77110" y="1268760"/>
            <a:ext cx="7215369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0000FF"/>
                </a:solidFill>
              </a:rPr>
              <a:t>drawLine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method prints a line using the given character.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6951" y="12687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EXAMPLE 1</a:t>
            </a:r>
            <a:endParaRPr lang="en-US" sz="1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79512" y="1844824"/>
            <a:ext cx="8784977" cy="4185761"/>
            <a:chOff x="323528" y="1236822"/>
            <a:chExt cx="7848873" cy="3935959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393595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methodOneParameter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 (“Start of Program”); </a:t>
              </a:r>
              <a:r>
                <a:rPr lang="en-US" sz="1400" dirty="0" smtClean="0">
                  <a:solidFill>
                    <a:srgbClr val="00B050"/>
                  </a:solidFill>
                </a:rPr>
                <a:t>//output line #1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(‘*’);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//method calling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output line #2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(‘~’);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//method calling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output line #3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 (“End of Program”);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//method definition: This method draws a line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=0;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 &lt; 10;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();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393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</p:txBody>
        </p:sp>
      </p:grpSp>
      <p:cxnSp>
        <p:nvCxnSpPr>
          <p:cNvPr id="28" name="Straight Connector 27"/>
          <p:cNvCxnSpPr/>
          <p:nvPr/>
        </p:nvCxnSpPr>
        <p:spPr>
          <a:xfrm flipH="1">
            <a:off x="899592" y="3212976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1547664" y="2996952"/>
            <a:ext cx="0" cy="216024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899592" y="3212976"/>
            <a:ext cx="0" cy="11521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203848" y="5661248"/>
            <a:ext cx="56166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802022" y="3429000"/>
            <a:ext cx="0" cy="223224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156176" y="3429000"/>
            <a:ext cx="264584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885023" y="4365104"/>
            <a:ext cx="14569" cy="129614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1043608" y="3501008"/>
            <a:ext cx="5760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043608" y="3501008"/>
            <a:ext cx="0" cy="8640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1043608" y="4365104"/>
            <a:ext cx="8384" cy="129614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8316416" y="3645024"/>
            <a:ext cx="0" cy="19442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932040" y="3645024"/>
            <a:ext cx="338437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203848" y="5589240"/>
            <a:ext cx="511256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251520" y="5949280"/>
            <a:ext cx="8712967" cy="830997"/>
            <a:chOff x="683568" y="1362835"/>
            <a:chExt cx="7488831" cy="830997"/>
          </a:xfrm>
        </p:grpSpPr>
        <p:sp>
          <p:nvSpPr>
            <p:cNvPr id="62" name="TextBox 61"/>
            <p:cNvSpPr txBox="1"/>
            <p:nvPr/>
          </p:nvSpPr>
          <p:spPr>
            <a:xfrm>
              <a:off x="1069013" y="1362835"/>
              <a:ext cx="7103386" cy="83099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Start of Program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**********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~~~~~~~~~~</a:t>
              </a:r>
            </a:p>
            <a:p>
              <a:r>
                <a:rPr lang="en-US" sz="1200" dirty="0" smtClean="0">
                  <a:solidFill>
                    <a:schemeClr val="bg1"/>
                  </a:solidFill>
                </a:rPr>
                <a:t>End of Program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83568" y="1362835"/>
              <a:ext cx="216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200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683568" y="3140968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3568" y="6165304"/>
            <a:ext cx="8280919" cy="185537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3568" y="3398514"/>
            <a:ext cx="8280919" cy="174502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3568" y="6339807"/>
            <a:ext cx="8280919" cy="185537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3568" y="5979767"/>
            <a:ext cx="8280919" cy="185537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3568" y="6525344"/>
            <a:ext cx="8280919" cy="185537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83568" y="4005064"/>
            <a:ext cx="8280919" cy="165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83568" y="4210928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Callout 37"/>
          <p:cNvSpPr/>
          <p:nvPr/>
        </p:nvSpPr>
        <p:spPr>
          <a:xfrm>
            <a:off x="6156176" y="4149080"/>
            <a:ext cx="2448272" cy="1080120"/>
          </a:xfrm>
          <a:prstGeom prst="wedgeEllipseCallout">
            <a:avLst>
              <a:gd name="adj1" fmla="val -126756"/>
              <a:gd name="adj2" fmla="val -3405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696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39" grpId="0" animBg="1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251520" y="4941168"/>
            <a:ext cx="8784977" cy="1600438"/>
            <a:chOff x="323528" y="1236822"/>
            <a:chExt cx="7848873" cy="1504925"/>
          </a:xfrm>
        </p:grpSpPr>
        <p:sp>
          <p:nvSpPr>
            <p:cNvPr id="32" name="TextBox 31"/>
            <p:cNvSpPr txBox="1"/>
            <p:nvPr/>
          </p:nvSpPr>
          <p:spPr>
            <a:xfrm>
              <a:off x="788528" y="1236822"/>
              <a:ext cx="7383873" cy="150492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‘*’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=0;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 &lt; 10;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smtClean="0">
                  <a:solidFill>
                    <a:srgbClr val="FF33CC"/>
                  </a:solidFill>
                </a:rPr>
                <a:t>‘*’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();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3528" y="1236822"/>
              <a:ext cx="450344" cy="1504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us focus on lines 7 &amp; 8 in the previous code.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WITH A SINGLE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251519" y="1596862"/>
            <a:ext cx="8784977" cy="2246769"/>
            <a:chOff x="323528" y="1236822"/>
            <a:chExt cx="7848873" cy="2112684"/>
          </a:xfrm>
        </p:grpSpPr>
        <p:sp>
          <p:nvSpPr>
            <p:cNvPr id="24" name="TextBox 23"/>
            <p:cNvSpPr txBox="1"/>
            <p:nvPr/>
          </p:nvSpPr>
          <p:spPr>
            <a:xfrm>
              <a:off x="788528" y="1236822"/>
              <a:ext cx="7383873" cy="211268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00FF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(‘*’);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//method calling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output line #2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(‘~’);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//method calling </a:t>
              </a:r>
              <a:r>
                <a:rPr lang="en-US" sz="14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output line #3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//method definition: This method draws a line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=0;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 &lt; 10;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</a:t>
              </a:r>
              <a:r>
                <a:rPr lang="en-US" sz="1400" dirty="0" smtClean="0">
                  <a:solidFill>
                    <a:srgbClr val="0000FF"/>
                  </a:solidFill>
                </a:rPr>
                <a:t> (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(); 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</a:t>
              </a:r>
              <a:r>
                <a:rPr lang="en-US" sz="1400" b="1" dirty="0" smtClean="0">
                  <a:solidFill>
                    <a:srgbClr val="0000FF"/>
                  </a:solidFill>
                </a:rPr>
                <a:t>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8" y="1236822"/>
              <a:ext cx="450344" cy="2112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23528" y="38610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method is called with an actual parameter, the latter replaces every occurrence of the formal parameter in the method statements.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3528" y="44371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calling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drawLine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(‘*’)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equivalent to the following code: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Oval Callout 33"/>
          <p:cNvSpPr/>
          <p:nvPr/>
        </p:nvSpPr>
        <p:spPr>
          <a:xfrm>
            <a:off x="6421304" y="5085184"/>
            <a:ext cx="2448272" cy="1080120"/>
          </a:xfrm>
          <a:prstGeom prst="wedgeEllipseCallout">
            <a:avLst>
              <a:gd name="adj1" fmla="val -182605"/>
              <a:gd name="adj2" fmla="val 2766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Every </a:t>
            </a:r>
            <a:r>
              <a:rPr lang="en-US" sz="1400" dirty="0" err="1" smtClean="0">
                <a:solidFill>
                  <a:srgbClr val="FF33CC"/>
                </a:solidFill>
              </a:rPr>
              <a:t>ch</a:t>
            </a:r>
            <a:r>
              <a:rPr lang="en-US" sz="1400" dirty="0" smtClean="0">
                <a:solidFill>
                  <a:srgbClr val="0000FF"/>
                </a:solidFill>
              </a:rPr>
              <a:t> is replaced by </a:t>
            </a:r>
            <a:r>
              <a:rPr lang="en-US" sz="1400" dirty="0" smtClean="0">
                <a:solidFill>
                  <a:srgbClr val="FF33CC"/>
                </a:solidFill>
              </a:rPr>
              <a:t>*</a:t>
            </a:r>
            <a:endParaRPr lang="en-US" sz="14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829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26" grpId="0"/>
      <p:bldP spid="27" grpId="0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Similarly, calling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drawLine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(‘~’)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replaces each </a:t>
            </a:r>
            <a:r>
              <a:rPr lang="en-US" sz="2000" dirty="0" err="1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</a:t>
            </a:r>
            <a:r>
              <a:rPr lang="en-US" sz="2000" dirty="0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WITH A SINGLE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528" y="1700808"/>
            <a:ext cx="8640960" cy="707886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the actual parameter replaces each occurrence of the formal parameter in the called method.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previous example illustrates that a method is written once, but may be executed as much as wanted with different values.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350100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previous code may be re-written so that it accepts a character from the user to draw the line with. Refer to the next slide.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420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20" grpId="0" animBg="1"/>
      <p:bldP spid="22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2.2 WITH A SINGLE PARAMETER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331471"/>
            <a:ext cx="8784977" cy="4401205"/>
            <a:chOff x="323528" y="1236822"/>
            <a:chExt cx="7848873" cy="4138545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413854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4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methodOneParameter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400" dirty="0" smtClean="0"/>
                <a:t>Scanner read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smtClean="0"/>
                <a:t>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char </a:t>
              </a:r>
              <a:r>
                <a:rPr lang="en-US" sz="1400" dirty="0" smtClean="0"/>
                <a:t>symbol;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(“Enter the symbol that draws the line: “);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symbol 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</a:t>
              </a:r>
              <a:r>
                <a:rPr lang="en-US" sz="1400" dirty="0" smtClean="0">
                  <a:solidFill>
                    <a:srgbClr val="00B050"/>
                  </a:solidFill>
                </a:rPr>
                <a:t>().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charAt</a:t>
              </a:r>
              <a:r>
                <a:rPr lang="en-US" sz="1400" dirty="0" smtClean="0">
                  <a:solidFill>
                    <a:srgbClr val="00B050"/>
                  </a:solidFill>
                </a:rPr>
                <a:t>(0)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(symbol);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//method definition: This method draws a line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</a:t>
              </a:r>
              <a:r>
                <a:rPr lang="en-US" sz="1400" b="1" dirty="0" smtClean="0"/>
                <a:t>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/>
                <a:t>i</a:t>
              </a:r>
              <a:r>
                <a:rPr lang="en-US" sz="1400" dirty="0"/>
                <a:t>;</a:t>
              </a:r>
              <a:endParaRPr lang="en-US" sz="1400" dirty="0" smtClean="0"/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=0;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 &lt; 10;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(); </a:t>
              </a:r>
            </a:p>
            <a:p>
              <a:r>
                <a:rPr lang="en-US" sz="1400" dirty="0" smtClean="0"/>
                <a:t>      </a:t>
              </a:r>
              <a:r>
                <a:rPr lang="en-US" sz="1400" b="1" dirty="0" smtClean="0"/>
                <a:t>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4138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83568" y="3284984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Callout 28"/>
          <p:cNvSpPr/>
          <p:nvPr/>
        </p:nvSpPr>
        <p:spPr>
          <a:xfrm>
            <a:off x="6300192" y="2636912"/>
            <a:ext cx="2448272" cy="1368152"/>
          </a:xfrm>
          <a:prstGeom prst="wedgeEllipseCallout">
            <a:avLst>
              <a:gd name="adj1" fmla="val -179115"/>
              <a:gd name="adj2" fmla="val 5798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The actual parameter should have a value before calling the method</a:t>
            </a:r>
            <a:endParaRPr lang="en-US" sz="14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215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321297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may have any number of parameters.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2.3 WITH MULTIPLE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77110" y="1340767"/>
            <a:ext cx="7215369" cy="188817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rgbClr val="00B0F0"/>
                </a:solidFill>
              </a:rPr>
              <a:t>public static  void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methodName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	dataType1 formal_parameter1,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	dataType2 formal_parameter2,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	….)</a:t>
            </a:r>
          </a:p>
          <a:p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statements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1340768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528" y="36049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Parameters may have the same type or may be of different types.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691679" y="4725144"/>
            <a:ext cx="7215369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0000FF"/>
                </a:solidFill>
              </a:rPr>
              <a:t>methodName</a:t>
            </a:r>
            <a:r>
              <a:rPr lang="en-US" dirty="0" smtClean="0">
                <a:solidFill>
                  <a:srgbClr val="0000FF"/>
                </a:solidFill>
              </a:rPr>
              <a:t>(actualParameter1, actualParameter2, …);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51520" y="4725144"/>
            <a:ext cx="1296144" cy="5040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CALLING</a:t>
            </a:r>
            <a:endParaRPr lang="en-US"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23528" y="52292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 of parameters must be the same.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554917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types of the corresponding parameters must match.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396499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calling multiple-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paramater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methods, the order of the actual parameters is important.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9971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 animBg="1"/>
      <p:bldP spid="13" grpId="0" animBg="1"/>
      <p:bldP spid="14" grpId="0" animBg="1"/>
      <p:bldP spid="28" grpId="0"/>
      <p:bldP spid="30" grpId="0" animBg="1"/>
      <p:bldP spid="31" grpId="0" animBg="1"/>
      <p:bldP spid="21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VOID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2.3 WITH MULTIPLE PARAMETERS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405800"/>
            <a:ext cx="8784977" cy="5047536"/>
            <a:chOff x="323528" y="1236822"/>
            <a:chExt cx="7848873" cy="4746304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474630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400" smtClean="0">
                  <a:solidFill>
                    <a:srgbClr val="FF0000"/>
                  </a:solidFill>
                </a:rPr>
                <a:t>java.util</a:t>
              </a:r>
              <a:r>
                <a:rPr lang="en-US" sz="1400" smtClean="0">
                  <a:solidFill>
                    <a:srgbClr val="0000FF"/>
                  </a:solidFill>
                </a:rPr>
                <a:t>.Scanner;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methodMultiParameters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/>
                <a:t>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400" dirty="0" smtClean="0"/>
                <a:t>Scanner read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smtClean="0"/>
                <a:t>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char </a:t>
              </a:r>
              <a:r>
                <a:rPr lang="en-US" sz="1400" dirty="0" smtClean="0"/>
                <a:t>symbol;</a:t>
              </a:r>
            </a:p>
            <a:p>
              <a:r>
                <a:rPr lang="en-US" sz="1400" dirty="0" smtClean="0"/>
                <a:t>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/>
                <a:t> times;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(“Enter the symbol that draws the line: “);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symbol 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</a:t>
              </a:r>
              <a:r>
                <a:rPr lang="en-US" sz="1400" dirty="0" smtClean="0">
                  <a:solidFill>
                    <a:srgbClr val="00B050"/>
                  </a:solidFill>
                </a:rPr>
                <a:t>().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charAt</a:t>
              </a:r>
              <a:r>
                <a:rPr lang="en-US" sz="1400" dirty="0" smtClean="0">
                  <a:solidFill>
                    <a:srgbClr val="00B050"/>
                  </a:solidFill>
                </a:rPr>
                <a:t>(0)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/>
                <a:t> 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(“Enter the number of times to repeat the symbol: “);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times = </a:t>
              </a:r>
              <a:r>
                <a:rPr lang="en-US" sz="1400" dirty="0" err="1" smtClean="0"/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            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(symbol, times);</a:t>
              </a:r>
              <a:r>
                <a:rPr lang="en-US" sz="1400" dirty="0" smtClean="0">
                  <a:solidFill>
                    <a:srgbClr val="00B050"/>
                  </a:solidFill>
                </a:rPr>
                <a:t> 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//method definition: This method draws a line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drawLine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char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,</a:t>
              </a:r>
              <a:r>
                <a:rPr lang="en-US" sz="1400" dirty="0" smtClean="0">
                  <a:solidFill>
                    <a:srgbClr val="FF33CC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FF33CC"/>
                  </a:solidFill>
                </a:rPr>
                <a:t> repeat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{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/>
                <a:t>i</a:t>
              </a:r>
              <a:r>
                <a:rPr lang="en-US" sz="1400" dirty="0"/>
                <a:t>;</a:t>
              </a:r>
              <a:endParaRPr lang="en-US" sz="1400" dirty="0" smtClean="0"/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/>
                <a:t>(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=0;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 &lt; </a:t>
              </a:r>
              <a:r>
                <a:rPr lang="en-US" sz="1400" dirty="0" smtClean="0">
                  <a:solidFill>
                    <a:srgbClr val="FF33CC"/>
                  </a:solidFill>
                </a:rPr>
                <a:t>repeat</a:t>
              </a:r>
              <a:r>
                <a:rPr lang="en-US" sz="1400" dirty="0" smtClean="0"/>
                <a:t>; 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++)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</a:t>
              </a:r>
              <a:r>
                <a:rPr lang="en-US" sz="1400" dirty="0" err="1" smtClean="0"/>
                <a:t>System.out.print</a:t>
              </a:r>
              <a:r>
                <a:rPr lang="en-US" sz="1400" dirty="0" smtClean="0"/>
                <a:t> (</a:t>
              </a:r>
              <a:r>
                <a:rPr lang="en-US" sz="1400" dirty="0" err="1" smtClean="0">
                  <a:solidFill>
                    <a:srgbClr val="FF33CC"/>
                  </a:solidFill>
                </a:rPr>
                <a:t>ch</a:t>
              </a:r>
              <a:r>
                <a:rPr lang="en-US" sz="1400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</a:t>
              </a:r>
              <a:r>
                <a:rPr lang="en-US" sz="1400" dirty="0" err="1" smtClean="0"/>
                <a:t>System.out.println</a:t>
              </a:r>
              <a:r>
                <a:rPr lang="en-US" sz="1400" dirty="0" smtClean="0"/>
                <a:t>(); </a:t>
              </a:r>
            </a:p>
            <a:p>
              <a:r>
                <a:rPr lang="en-US" sz="1400" dirty="0" smtClean="0"/>
                <a:t>      }</a:t>
              </a:r>
              <a:r>
                <a:rPr lang="en-US" sz="14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drawLine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/>
                <a:t>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class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4746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</p:txBody>
        </p:sp>
      </p:grpSp>
      <p:sp>
        <p:nvSpPr>
          <p:cNvPr id="13" name="Oval Callout 12"/>
          <p:cNvSpPr/>
          <p:nvPr/>
        </p:nvSpPr>
        <p:spPr>
          <a:xfrm>
            <a:off x="6452592" y="1628800"/>
            <a:ext cx="2448272" cy="1368152"/>
          </a:xfrm>
          <a:prstGeom prst="wedgeEllipseCallout">
            <a:avLst>
              <a:gd name="adj1" fmla="val -101625"/>
              <a:gd name="adj2" fmla="val 13197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B050"/>
                </a:solidFill>
              </a:rPr>
              <a:t>symbol</a:t>
            </a:r>
            <a:r>
              <a:rPr lang="en-US" sz="1400" dirty="0" smtClean="0">
                <a:solidFill>
                  <a:srgbClr val="0000FF"/>
                </a:solidFill>
              </a:rPr>
              <a:t> corresponds to </a:t>
            </a:r>
            <a:r>
              <a:rPr lang="en-US" sz="1400" dirty="0" err="1" smtClean="0">
                <a:solidFill>
                  <a:srgbClr val="FF33CC"/>
                </a:solidFill>
              </a:rPr>
              <a:t>ch</a:t>
            </a:r>
            <a:r>
              <a:rPr lang="en-US" sz="1400" dirty="0" smtClean="0">
                <a:solidFill>
                  <a:srgbClr val="0000FF"/>
                </a:solidFill>
              </a:rPr>
              <a:t>; </a:t>
            </a:r>
            <a:r>
              <a:rPr lang="en-US" sz="1400" dirty="0" smtClean="0">
                <a:solidFill>
                  <a:srgbClr val="00B050"/>
                </a:solidFill>
              </a:rPr>
              <a:t>times </a:t>
            </a:r>
            <a:r>
              <a:rPr lang="en-US" sz="1400" dirty="0" smtClean="0">
                <a:solidFill>
                  <a:srgbClr val="0000FF"/>
                </a:solidFill>
              </a:rPr>
              <a:t>corresponds to </a:t>
            </a:r>
            <a:r>
              <a:rPr lang="en-US" sz="1400" dirty="0" smtClean="0">
                <a:solidFill>
                  <a:srgbClr val="FF33CC"/>
                </a:solidFill>
              </a:rPr>
              <a:t>repeat</a:t>
            </a:r>
            <a:endParaRPr lang="en-US" sz="1400" dirty="0">
              <a:solidFill>
                <a:srgbClr val="FF33CC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3568" y="3963542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923928" y="4221088"/>
            <a:ext cx="72008" cy="39604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56713" y="4221088"/>
            <a:ext cx="72008" cy="39604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Callout 10"/>
          <p:cNvSpPr/>
          <p:nvPr/>
        </p:nvSpPr>
        <p:spPr>
          <a:xfrm>
            <a:off x="6300192" y="3933056"/>
            <a:ext cx="2448272" cy="1368152"/>
          </a:xfrm>
          <a:prstGeom prst="wedgeEllipseCallout">
            <a:avLst>
              <a:gd name="adj1" fmla="val -89409"/>
              <a:gd name="adj2" fmla="val -3355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The actual parameters have values before calling the method</a:t>
            </a:r>
            <a:endParaRPr lang="en-US" sz="1400" dirty="0">
              <a:solidFill>
                <a:srgbClr val="FF33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91880" y="4941168"/>
            <a:ext cx="2808312" cy="11521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0000FF"/>
                </a:solidFill>
              </a:rPr>
              <a:t>for (</a:t>
            </a:r>
            <a:r>
              <a:rPr lang="en-US" sz="1400" dirty="0" err="1" smtClean="0">
                <a:solidFill>
                  <a:srgbClr val="0000FF"/>
                </a:solidFill>
              </a:rPr>
              <a:t>i</a:t>
            </a:r>
            <a:r>
              <a:rPr lang="en-US" sz="1400" dirty="0" smtClean="0">
                <a:solidFill>
                  <a:srgbClr val="0000FF"/>
                </a:solidFill>
              </a:rPr>
              <a:t>=0; </a:t>
            </a:r>
            <a:r>
              <a:rPr lang="en-US" sz="1400" dirty="0" err="1" smtClean="0">
                <a:solidFill>
                  <a:srgbClr val="0000FF"/>
                </a:solidFill>
              </a:rPr>
              <a:t>i</a:t>
            </a:r>
            <a:r>
              <a:rPr lang="en-US" sz="1400" dirty="0" smtClean="0">
                <a:solidFill>
                  <a:srgbClr val="0000FF"/>
                </a:solidFill>
              </a:rPr>
              <a:t>&lt; </a:t>
            </a:r>
            <a:r>
              <a:rPr lang="en-US" sz="1400" dirty="0" smtClean="0">
                <a:solidFill>
                  <a:srgbClr val="FF0000"/>
                </a:solidFill>
              </a:rPr>
              <a:t>times</a:t>
            </a:r>
            <a:r>
              <a:rPr lang="en-US" sz="1400" dirty="0" smtClean="0">
                <a:solidFill>
                  <a:srgbClr val="0000FF"/>
                </a:solidFill>
              </a:rPr>
              <a:t>; </a:t>
            </a:r>
            <a:r>
              <a:rPr lang="en-US" sz="1400" dirty="0" err="1" smtClean="0">
                <a:solidFill>
                  <a:srgbClr val="0000FF"/>
                </a:solidFill>
              </a:rPr>
              <a:t>i</a:t>
            </a:r>
            <a:r>
              <a:rPr lang="en-US" sz="1400" dirty="0" smtClean="0">
                <a:solidFill>
                  <a:srgbClr val="0000FF"/>
                </a:solidFill>
              </a:rPr>
              <a:t>++)</a:t>
            </a:r>
          </a:p>
          <a:p>
            <a:pPr algn="ctr"/>
            <a:r>
              <a:rPr lang="en-US" sz="1400" dirty="0" err="1" smtClean="0">
                <a:solidFill>
                  <a:srgbClr val="0000FF"/>
                </a:solidFill>
              </a:rPr>
              <a:t>System.out.print</a:t>
            </a:r>
            <a:r>
              <a:rPr lang="en-US" sz="1400" dirty="0" smtClean="0">
                <a:solidFill>
                  <a:srgbClr val="0000FF"/>
                </a:solidFill>
              </a:rPr>
              <a:t> (</a:t>
            </a:r>
            <a:r>
              <a:rPr lang="en-US" sz="1400" dirty="0" smtClean="0">
                <a:solidFill>
                  <a:srgbClr val="FF0000"/>
                </a:solidFill>
              </a:rPr>
              <a:t>symbol</a:t>
            </a:r>
            <a:r>
              <a:rPr lang="en-US" sz="1400" dirty="0" smtClean="0">
                <a:solidFill>
                  <a:srgbClr val="0000FF"/>
                </a:solidFill>
              </a:rPr>
              <a:t>);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65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  <p:bldP spid="11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9512" y="9087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Write a </a:t>
            </a:r>
            <a:r>
              <a:rPr lang="en-US" u="sng" dirty="0" smtClean="0"/>
              <a:t>modular</a:t>
            </a:r>
            <a:r>
              <a:rPr lang="en-US" dirty="0" smtClean="0"/>
              <a:t> (</a:t>
            </a:r>
            <a:r>
              <a:rPr lang="en-US" dirty="0" err="1" smtClean="0"/>
              <a:t>ie</a:t>
            </a:r>
            <a:r>
              <a:rPr lang="en-US" dirty="0" smtClean="0"/>
              <a:t>. using methods) program that accepts a score in the main program, then calls the method </a:t>
            </a:r>
            <a:r>
              <a:rPr lang="en-US" i="1" dirty="0" err="1" smtClean="0"/>
              <a:t>getGrade</a:t>
            </a:r>
            <a:r>
              <a:rPr lang="en-US" dirty="0" smtClean="0"/>
              <a:t>. This method calculates the corresponding letter grade. The user should enter data as much as needed.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W7.1 User-defined methods-void</a:t>
            </a:r>
            <a:endParaRPr 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200671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895</TotalTime>
  <Words>1612</Words>
  <Application>Microsoft Office PowerPoint</Application>
  <PresentationFormat>On-screen Show (4:3)</PresentationFormat>
  <Paragraphs>467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  USER-DEFINED METHODS</vt:lpstr>
      <vt:lpstr>Outline</vt:lpstr>
      <vt:lpstr>1. USER-DEFINED METHODS</vt:lpstr>
      <vt:lpstr>1. USER-DEFINED METHODS</vt:lpstr>
      <vt:lpstr>1. USER-DEFINED METHODS</vt:lpstr>
      <vt:lpstr>1. USER-DEFINED METHODS</vt:lpstr>
      <vt:lpstr>2. VOID METHODS</vt:lpstr>
      <vt:lpstr>2. VOID METHODS</vt:lpstr>
      <vt:lpstr>2. VOID METHODS</vt:lpstr>
      <vt:lpstr>2. VOID METHODS</vt:lpstr>
      <vt:lpstr>2. VOID METHODS</vt:lpstr>
      <vt:lpstr>2. VOID METHODS</vt:lpstr>
      <vt:lpstr>2. VOID METHODS</vt:lpstr>
      <vt:lpstr>2. VOID METHODS</vt:lpstr>
      <vt:lpstr>2. VOID METHODS</vt:lpstr>
      <vt:lpstr>2. VOID METHODS</vt:lpstr>
      <vt:lpstr>Self-Check Exercises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METHODS</dc:title>
  <dc:creator>Soha S.Zaghloul</dc:creator>
  <cp:lastModifiedBy>Omar</cp:lastModifiedBy>
  <cp:revision>85</cp:revision>
  <dcterms:created xsi:type="dcterms:W3CDTF">2015-04-06T03:49:33Z</dcterms:created>
  <dcterms:modified xsi:type="dcterms:W3CDTF">2016-11-20T11:26:40Z</dcterms:modified>
</cp:coreProperties>
</file>