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tags/tag11.xml" ContentType="application/vnd.openxmlformats-officedocument.presentationml.tags+xml"/>
  <Override PartName="/ppt/notesSlides/notesSlide6.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8.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9.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10.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11.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12.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notesSlides/notesSlide13.xml" ContentType="application/vnd.openxmlformats-officedocument.presentationml.notesSlide+xml"/>
  <Override PartName="/ppt/tags/tag26.xml" ContentType="application/vnd.openxmlformats-officedocument.presentationml.tags+xml"/>
  <Override PartName="/ppt/tags/tag27.xml" ContentType="application/vnd.openxmlformats-officedocument.presentationml.tags+xml"/>
  <Override PartName="/ppt/notesSlides/notesSlide14.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notesSlides/notesSlide15.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notesSlides/notesSlide16.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17.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notesSlides/notesSlide18.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notesSlides/notesSlide19.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notesSlides/notesSlide20.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notesSlides/notesSlide21.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notesSlides/notesSlide22.xml" ContentType="application/vnd.openxmlformats-officedocument.presentationml.notesSlide+xml"/>
  <Override PartName="/ppt/tags/tag4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58" r:id="rId4"/>
    <p:sldId id="260" r:id="rId5"/>
    <p:sldId id="259" r:id="rId6"/>
    <p:sldId id="261" r:id="rId7"/>
    <p:sldId id="272" r:id="rId8"/>
    <p:sldId id="262" r:id="rId9"/>
    <p:sldId id="263" r:id="rId10"/>
    <p:sldId id="264" r:id="rId11"/>
    <p:sldId id="273" r:id="rId12"/>
    <p:sldId id="274" r:id="rId13"/>
    <p:sldId id="280" r:id="rId14"/>
    <p:sldId id="266" r:id="rId15"/>
    <p:sldId id="267" r:id="rId16"/>
    <p:sldId id="281" r:id="rId17"/>
    <p:sldId id="268" r:id="rId18"/>
    <p:sldId id="269" r:id="rId19"/>
    <p:sldId id="270" r:id="rId20"/>
    <p:sldId id="271" r:id="rId21"/>
    <p:sldId id="275" r:id="rId22"/>
    <p:sldId id="276" r:id="rId23"/>
    <p:sldId id="277" r:id="rId24"/>
    <p:sldId id="278" r:id="rId25"/>
    <p:sldId id="279"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990099"/>
    <a:srgbClr val="660066"/>
    <a:srgbClr val="CC3300"/>
    <a:srgbClr val="006600"/>
    <a:srgbClr val="003217"/>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19"/>
    <p:restoredTop sz="94694"/>
  </p:normalViewPr>
  <p:slideViewPr>
    <p:cSldViewPr>
      <p:cViewPr varScale="1">
        <p:scale>
          <a:sx n="121" d="100"/>
          <a:sy n="121" d="100"/>
        </p:scale>
        <p:origin x="1600"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F34E479-E466-450E-875A-A7269C4497D3}" type="datetimeFigureOut">
              <a:rPr lang="en-US" smtClean="0"/>
              <a:pPr/>
              <a:t>3/12/24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401B244-0A1C-4023-A360-688FC451195F}" type="slidenum">
              <a:rPr lang="en-US" smtClean="0"/>
              <a:pPr/>
              <a:t>‹#›</a:t>
            </a:fld>
            <a:endParaRPr lang="en-US"/>
          </a:p>
        </p:txBody>
      </p:sp>
    </p:spTree>
    <p:extLst>
      <p:ext uri="{BB962C8B-B14F-4D97-AF65-F5344CB8AC3E}">
        <p14:creationId xmlns:p14="http://schemas.microsoft.com/office/powerpoint/2010/main" val="1004290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2.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4.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6.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ags" Target="../tags/tag8.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10.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12.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14.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16.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18.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1.xml"/><Relationship Id="rId2" Type="http://schemas.openxmlformats.org/officeDocument/2006/relationships/notesMaster" Target="../notesMasters/notesMaster1.xml"/><Relationship Id="rId1" Type="http://schemas.openxmlformats.org/officeDocument/2006/relationships/tags" Target="../tags/tag2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22.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24.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ags" Target="../tags/tag26.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28.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ags" Target="../tags/tag30.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ags" Target="../tags/tag32.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ags" Target="../tags/tag34.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ags" Target="../tags/tag36.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ags" Target="../tags/tag38.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ags" Target="../tags/tag40.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ags" Target="../tags/tag42.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ags" Target="../tags/tag4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9</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10</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11</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12</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13</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14</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15</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16</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17</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18</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19</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20</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21</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22</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custDataLst>
              <p:tags r:id="rId1"/>
            </p:custDataLst>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A5D78FC6-CE17-4259-A63C-DDFC12E048FC}" type="slidenum">
              <a:rPr lang="en-US" smtClean="0"/>
              <a:pPr/>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D32D8171-C865-4002-A645-72D1AEE9906F}" type="datetime1">
              <a:rPr lang="en-US" smtClean="0"/>
              <a:pPr/>
              <a:t>3/12/24</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FCB24399-1A6F-41FB-A0B4-F38486D35EDD}"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8509D791-D72B-44F0-B14A-B1012C62C1F7}" type="datetime1">
              <a:rPr lang="en-US" smtClean="0"/>
              <a:pPr/>
              <a:t>3/12/24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B24399-1A6F-41FB-A0B4-F38486D35EDD}" type="slidenum">
              <a:rPr lang="en-US" smtClean="0"/>
              <a:pPr/>
              <a:t>‹#›</a:t>
            </a:fld>
            <a:endParaRPr lang="en-US"/>
          </a:p>
        </p:txBody>
      </p:sp>
      <p:sp>
        <p:nvSpPr>
          <p:cNvPr id="7" name="Title 6"/>
          <p:cNvSpPr>
            <a:spLocks noGrp="1"/>
          </p:cNvSpPr>
          <p:nvPr>
            <p:ph type="title"/>
          </p:nvPr>
        </p:nvSpPr>
        <p:spPr/>
        <p:txBody>
          <a:bodyPr rtlCol="0"/>
          <a:lstStyle/>
          <a:p>
            <a:r>
              <a:rPr kumimoji="0" lang="en-US"/>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57936E6-27F5-4C64-85DF-AF0D2EC7A54B}" type="datetime1">
              <a:rPr lang="en-US" smtClean="0"/>
              <a:pPr/>
              <a:t>3/12/24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B24399-1A6F-41FB-A0B4-F38486D35EDD}"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8840CC19-2F8F-49BD-BBDD-D64DB6A2F0FB}" type="datetime1">
              <a:rPr lang="en-US" smtClean="0"/>
              <a:pPr/>
              <a:t>3/12/24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B24399-1A6F-41FB-A0B4-F38486D35EDD}"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C22C0C7B-1C52-4460-9ED9-FC18FE475353}" type="datetime1">
              <a:rPr lang="en-US" smtClean="0"/>
              <a:pPr/>
              <a:t>3/12/24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CB24399-1A6F-41FB-A0B4-F38486D35ED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16871DD1-83F1-4D39-AD86-B8E97EE93BA3}" type="datetime1">
              <a:rPr lang="en-US" smtClean="0"/>
              <a:pPr/>
              <a:t>3/12/24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CB24399-1A6F-41FB-A0B4-F38486D35EDD}"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4CD091-F32C-449E-8982-522FB1D2F781}" type="datetime1">
              <a:rPr lang="en-US" smtClean="0"/>
              <a:pPr/>
              <a:t>3/12/24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CB24399-1A6F-41FB-A0B4-F38486D35EDD}"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p>
            <a:fld id="{1FCA8F23-7BCE-41C7-884B-6EDA03E39A81}" type="datetime1">
              <a:rPr lang="en-US" smtClean="0"/>
              <a:pPr/>
              <a:t>3/12/24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CB24399-1A6F-41FB-A0B4-F38486D35EDD}"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9350638B-B780-451D-9EFA-03F538C4DC5A}" type="datetime1">
              <a:rPr lang="en-US" smtClean="0"/>
              <a:pPr/>
              <a:t>3/12/24</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FCB24399-1A6F-41FB-A0B4-F38486D35EDD}"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2B612E2-71A4-4739-A041-ADCA414FBC35}" type="datetime1">
              <a:rPr lang="en-US" smtClean="0"/>
              <a:pPr/>
              <a:t>3/12/24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B24399-1A6F-41FB-A0B4-F38486D35EDD}"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5503AC9-217E-4FC9-8859-F1A33B024148}" type="datetime1">
              <a:rPr lang="en-US" smtClean="0"/>
              <a:pPr/>
              <a:t>3/12/24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CB24399-1A6F-41FB-A0B4-F38486D35EDD}"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499273" y="5944936"/>
            <a:ext cx="4940624"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485717" y="5939011"/>
            <a:ext cx="369045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CCA45A66-38FC-4876-8C12-BEAB22805659}" type="datetime1">
              <a:rPr lang="en-US" smtClean="0"/>
              <a:pPr/>
              <a:t>3/12/24</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FCB24399-1A6F-41FB-A0B4-F38486D35EDD}"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2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2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2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31.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35.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39.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4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43.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p:cNvSpPr>
          <p:nvPr>
            <p:ph type="ctrTitle"/>
          </p:nvPr>
        </p:nvSpPr>
        <p:spPr>
          <a:xfrm>
            <a:off x="251521" y="2708920"/>
            <a:ext cx="8640960" cy="1152128"/>
          </a:xfrm>
          <a:ln w="28575">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vert="horz" anchor="b">
            <a:normAutofit fontScale="90000"/>
            <a:scene3d>
              <a:camera prst="orthographicFront"/>
              <a:lightRig rig="soft" dir="t"/>
            </a:scene3d>
            <a:sp3d prstMaterial="softEdge">
              <a:bevelT w="25400" h="25400"/>
            </a:sp3d>
          </a:bodyPr>
          <a:lstStyle/>
          <a:p>
            <a:br>
              <a:rPr lang="en-US" sz="5400" dirty="0">
                <a:solidFill>
                  <a:srgbClr val="C00000"/>
                </a:solidFill>
              </a:rPr>
            </a:br>
            <a:br>
              <a:rPr lang="en-US" sz="5400" dirty="0">
                <a:solidFill>
                  <a:srgbClr val="C00000"/>
                </a:solidFill>
              </a:rPr>
            </a:br>
            <a:r>
              <a:rPr lang="en-US" sz="5400" dirty="0">
                <a:solidFill>
                  <a:srgbClr val="C00000"/>
                </a:solidFill>
              </a:rPr>
              <a:t>SELECTION STATEMENTS (3)</a:t>
            </a:r>
          </a:p>
        </p:txBody>
      </p:sp>
      <p:sp>
        <p:nvSpPr>
          <p:cNvPr id="5" name="PPTShape_0"/>
          <p:cNvSpPr txBox="1">
            <a:spLocks/>
          </p:cNvSpPr>
          <p:nvPr/>
        </p:nvSpPr>
        <p:spPr>
          <a:xfrm>
            <a:off x="72008" y="5949280"/>
            <a:ext cx="1869423" cy="646331"/>
          </a:xfrm>
          <a:prstGeom prst="rect">
            <a:avLst/>
          </a:prstGeom>
          <a:noFill/>
          <a:effectLst>
            <a:outerShdw blurRad="50800" dist="38100" dir="10800000" algn="r" rotWithShape="0">
              <a:prstClr val="black">
                <a:alpha val="40000"/>
              </a:prstClr>
            </a:outerShdw>
          </a:effectLst>
        </p:spPr>
        <p:txBody>
          <a:bodyPr wrap="none" rtlCol="0">
            <a:spAutoFit/>
            <a:scene3d>
              <a:camera prst="orthographicFront"/>
              <a:lightRig rig="threePt" dir="t"/>
            </a:scene3d>
            <a:sp3d extrusionH="57150">
              <a:bevelT w="38100" h="38100"/>
            </a:sp3d>
          </a:bodyPr>
          <a:lstStyle>
            <a:defPPr>
              <a:defRPr lang="en-US"/>
            </a:defPPr>
            <a:lvl1pPr fontAlgn="base">
              <a:spcBef>
                <a:spcPct val="0"/>
              </a:spcBef>
              <a:spcAft>
                <a:spcPct val="0"/>
              </a:spcAft>
              <a:defRPr sz="3600">
                <a:solidFill>
                  <a:schemeClr val="bg1"/>
                </a:solidFill>
                <a:effectLst>
                  <a:reflection blurRad="6350" stA="55000" endA="300" endPos="45500" dir="5400000" sy="-100000" algn="bl" rotWithShape="0"/>
                </a:effectLst>
                <a:latin typeface="Tahoma" charset="0"/>
                <a:ea typeface="ＭＳ Ｐゴシック" charset="0"/>
                <a:cs typeface="Arial" charset="0"/>
              </a:defRPr>
            </a:lvl1pPr>
            <a:lvl2pPr fontAlgn="base">
              <a:spcBef>
                <a:spcPct val="0"/>
              </a:spcBef>
              <a:spcAft>
                <a:spcPct val="0"/>
              </a:spcAft>
              <a:defRPr>
                <a:latin typeface="Tahoma" charset="0"/>
                <a:ea typeface="ＭＳ Ｐゴシック" charset="0"/>
                <a:cs typeface="Arial" charset="0"/>
              </a:defRPr>
            </a:lvl2pPr>
            <a:lvl3pPr fontAlgn="base">
              <a:spcBef>
                <a:spcPct val="0"/>
              </a:spcBef>
              <a:spcAft>
                <a:spcPct val="0"/>
              </a:spcAft>
              <a:defRPr>
                <a:latin typeface="Tahoma" charset="0"/>
                <a:ea typeface="ＭＳ Ｐゴシック" charset="0"/>
                <a:cs typeface="Arial" charset="0"/>
              </a:defRPr>
            </a:lvl3pPr>
            <a:lvl4pPr fontAlgn="base">
              <a:spcBef>
                <a:spcPct val="0"/>
              </a:spcBef>
              <a:spcAft>
                <a:spcPct val="0"/>
              </a:spcAft>
              <a:defRPr>
                <a:latin typeface="Tahoma" charset="0"/>
                <a:ea typeface="ＭＳ Ｐゴシック" charset="0"/>
                <a:cs typeface="Arial" charset="0"/>
              </a:defRPr>
            </a:lvl4pPr>
            <a:lvl5pPr fontAlgn="base">
              <a:spcBef>
                <a:spcPct val="0"/>
              </a:spcBef>
              <a:spcAft>
                <a:spcPct val="0"/>
              </a:spcAft>
              <a:defRPr>
                <a:latin typeface="Tahoma" charset="0"/>
                <a:ea typeface="ＭＳ Ｐゴシック" charset="0"/>
                <a:cs typeface="Arial" charset="0"/>
              </a:defRPr>
            </a:lvl5pPr>
            <a:lvl6pPr defTabSz="457200">
              <a:defRPr>
                <a:latin typeface="Tahoma" charset="0"/>
                <a:ea typeface="ＭＳ Ｐゴシック" charset="0"/>
                <a:cs typeface="Arial" charset="0"/>
              </a:defRPr>
            </a:lvl6pPr>
            <a:lvl7pPr defTabSz="457200">
              <a:defRPr>
                <a:latin typeface="Tahoma" charset="0"/>
                <a:ea typeface="ＭＳ Ｐゴシック" charset="0"/>
                <a:cs typeface="Arial" charset="0"/>
              </a:defRPr>
            </a:lvl7pPr>
            <a:lvl8pPr defTabSz="457200">
              <a:defRPr>
                <a:latin typeface="Tahoma" charset="0"/>
                <a:ea typeface="ＭＳ Ｐゴシック" charset="0"/>
                <a:cs typeface="Arial" charset="0"/>
              </a:defRPr>
            </a:lvl8pPr>
            <a:lvl9pPr defTabSz="457200">
              <a:defRPr>
                <a:latin typeface="Tahoma" charset="0"/>
                <a:ea typeface="ＭＳ Ｐゴシック" charset="0"/>
                <a:cs typeface="Arial" charset="0"/>
              </a:defRPr>
            </a:lvl9pPr>
          </a:lstStyle>
          <a:p>
            <a:r>
              <a:rPr lang="en-US"/>
              <a:t>CS 1301</a:t>
            </a:r>
            <a:endParaRPr lang="en-US" dirty="0"/>
          </a:p>
        </p:txBody>
      </p:sp>
      <p:sp>
        <p:nvSpPr>
          <p:cNvPr id="6" name="Rectangle 5"/>
          <p:cNvSpPr/>
          <p:nvPr/>
        </p:nvSpPr>
        <p:spPr>
          <a:xfrm>
            <a:off x="4644008" y="3861048"/>
            <a:ext cx="4248472" cy="12241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4000" dirty="0">
                <a:solidFill>
                  <a:srgbClr val="00B0F0"/>
                </a:solidFill>
              </a:rPr>
              <a:t>switch </a:t>
            </a:r>
          </a:p>
        </p:txBody>
      </p:sp>
      <p:sp>
        <p:nvSpPr>
          <p:cNvPr id="2" name="Slide Number Placeholder 1"/>
          <p:cNvSpPr>
            <a:spLocks noGrp="1"/>
          </p:cNvSpPr>
          <p:nvPr>
            <p:ph type="sldNum" sz="quarter" idx="12"/>
          </p:nvPr>
        </p:nvSpPr>
        <p:spPr/>
        <p:txBody>
          <a:bodyPr/>
          <a:lstStyle/>
          <a:p>
            <a:fld id="{FCB24399-1A6F-41FB-A0B4-F38486D35EDD}" type="slidenum">
              <a:rPr lang="en-US" smtClean="0"/>
              <a:pPr/>
              <a:t>1</a:t>
            </a:fld>
            <a:endParaRPr lang="en-US"/>
          </a:p>
        </p:txBody>
      </p:sp>
    </p:spTree>
    <p:extLst>
      <p:ext uri="{BB962C8B-B14F-4D97-AF65-F5344CB8AC3E}">
        <p14:creationId xmlns:p14="http://schemas.microsoft.com/office/powerpoint/2010/main" val="632785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normAutofit/>
          </a:bodyPr>
          <a:lstStyle/>
          <a:p>
            <a:fld id="{125A1C68-F048-4C66-8544-2D3BD35A5879}" type="slidenum">
              <a:rPr lang="en-US" smtClean="0"/>
              <a:pPr/>
              <a:t>2</a:t>
            </a:fld>
            <a:endParaRPr lang="en-US"/>
          </a:p>
        </p:txBody>
      </p:sp>
      <p:cxnSp>
        <p:nvCxnSpPr>
          <p:cNvPr id="9" name="Straight Connector 8"/>
          <p:cNvCxnSpPr/>
          <p:nvPr/>
        </p:nvCxnSpPr>
        <p:spPr>
          <a:xfrm>
            <a:off x="0" y="90872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Rectangle 3" descr="Rectangle: Click to edit Master text styles&#10;Second level&#10;Third level&#10;Fourth level&#10;Fifth level"/>
          <p:cNvSpPr>
            <a:spLocks noGrp="1" noChangeArrowheads="1"/>
          </p:cNvSpPr>
          <p:nvPr>
            <p:ph idx="1"/>
          </p:nvPr>
        </p:nvSpPr>
        <p:spPr>
          <a:xfrm>
            <a:off x="612648" y="1110952"/>
            <a:ext cx="8153400" cy="5486400"/>
          </a:xfrm>
          <a:prstGeom prst="foldedCorner">
            <a:avLst>
              <a:gd name="adj" fmla="val 36304"/>
            </a:avLst>
          </a:prstGeom>
          <a:solidFill>
            <a:schemeClr val="accent1">
              <a:lumMod val="20000"/>
              <a:lumOff val="80000"/>
            </a:schemeClr>
          </a:solidFill>
          <a:ln>
            <a:solidFill>
              <a:schemeClr val="accent5">
                <a:lumMod val="75000"/>
              </a:schemeClr>
            </a:solidFill>
          </a:ln>
          <a:effectLst>
            <a:outerShdw blurRad="63500" sx="102000" sy="102000" algn="ctr" rotWithShape="0">
              <a:prstClr val="black">
                <a:alpha val="40000"/>
              </a:prstClr>
            </a:outerShdw>
          </a:effectLst>
        </p:spPr>
        <p:txBody>
          <a:bodyPr>
            <a:noAutofit/>
          </a:bodyPr>
          <a:lstStyle/>
          <a:p>
            <a:pPr marL="0" indent="0" eaLnBrk="1" hangingPunct="1">
              <a:lnSpc>
                <a:spcPct val="90000"/>
              </a:lnSpc>
              <a:spcBef>
                <a:spcPts val="1200"/>
              </a:spcBef>
              <a:spcAft>
                <a:spcPts val="600"/>
              </a:spcAft>
              <a:buNone/>
            </a:pPr>
            <a:r>
              <a:rPr lang="en-US" dirty="0">
                <a:latin typeface="Tahoma" charset="0"/>
                <a:cs typeface="Arial" charset="0"/>
              </a:rPr>
              <a:t>1. The </a:t>
            </a:r>
            <a:r>
              <a:rPr lang="en-US" dirty="0">
                <a:solidFill>
                  <a:srgbClr val="00B0F0"/>
                </a:solidFill>
                <a:latin typeface="Tahoma" charset="0"/>
                <a:cs typeface="Arial" charset="0"/>
              </a:rPr>
              <a:t>switch </a:t>
            </a:r>
            <a:r>
              <a:rPr lang="en-US" dirty="0">
                <a:latin typeface="Tahoma" charset="0"/>
                <a:cs typeface="Arial" charset="0"/>
              </a:rPr>
              <a:t>statement</a:t>
            </a:r>
          </a:p>
          <a:p>
            <a:pPr marL="0" indent="0" eaLnBrk="1" hangingPunct="1">
              <a:lnSpc>
                <a:spcPct val="90000"/>
              </a:lnSpc>
              <a:spcBef>
                <a:spcPts val="1200"/>
              </a:spcBef>
              <a:spcAft>
                <a:spcPts val="600"/>
              </a:spcAft>
              <a:buNone/>
            </a:pPr>
            <a:r>
              <a:rPr lang="en-US" dirty="0">
                <a:solidFill>
                  <a:srgbClr val="0000FF"/>
                </a:solidFill>
                <a:latin typeface="Tahoma" charset="0"/>
                <a:cs typeface="Arial" charset="0"/>
              </a:rPr>
              <a:t>	1.1 Without </a:t>
            </a:r>
            <a:r>
              <a:rPr lang="en-US" dirty="0">
                <a:solidFill>
                  <a:srgbClr val="00B0F0"/>
                </a:solidFill>
                <a:latin typeface="Tahoma" charset="0"/>
                <a:cs typeface="Arial" charset="0"/>
              </a:rPr>
              <a:t>default</a:t>
            </a:r>
            <a:endParaRPr lang="en-US" dirty="0">
              <a:solidFill>
                <a:srgbClr val="0000FF"/>
              </a:solidFill>
              <a:latin typeface="Tahoma" charset="0"/>
              <a:cs typeface="Arial" charset="0"/>
            </a:endParaRPr>
          </a:p>
          <a:p>
            <a:pPr marL="0" indent="0" eaLnBrk="1" hangingPunct="1">
              <a:lnSpc>
                <a:spcPct val="90000"/>
              </a:lnSpc>
              <a:spcBef>
                <a:spcPts val="1200"/>
              </a:spcBef>
              <a:spcAft>
                <a:spcPts val="600"/>
              </a:spcAft>
              <a:buNone/>
            </a:pPr>
            <a:r>
              <a:rPr lang="en-US" dirty="0">
                <a:solidFill>
                  <a:srgbClr val="0000FF"/>
                </a:solidFill>
                <a:latin typeface="Tahoma" charset="0"/>
                <a:cs typeface="Arial" charset="0"/>
              </a:rPr>
              <a:t>	1.2 Programming Hint</a:t>
            </a:r>
          </a:p>
          <a:p>
            <a:pPr marL="0" indent="0" eaLnBrk="1" hangingPunct="1">
              <a:lnSpc>
                <a:spcPct val="90000"/>
              </a:lnSpc>
              <a:spcBef>
                <a:spcPts val="1200"/>
              </a:spcBef>
              <a:spcAft>
                <a:spcPts val="600"/>
              </a:spcAft>
              <a:buNone/>
            </a:pPr>
            <a:r>
              <a:rPr lang="en-US" dirty="0">
                <a:solidFill>
                  <a:srgbClr val="0000FF"/>
                </a:solidFill>
                <a:latin typeface="Tahoma" charset="0"/>
                <a:cs typeface="Arial" charset="0"/>
              </a:rPr>
              <a:t>	1.3 Without </a:t>
            </a:r>
            <a:r>
              <a:rPr lang="en-US" dirty="0">
                <a:solidFill>
                  <a:srgbClr val="00B0F0"/>
                </a:solidFill>
                <a:latin typeface="Tahoma" charset="0"/>
                <a:cs typeface="Arial" charset="0"/>
              </a:rPr>
              <a:t>break</a:t>
            </a:r>
            <a:r>
              <a:rPr lang="en-US" dirty="0">
                <a:solidFill>
                  <a:srgbClr val="0000FF"/>
                </a:solidFill>
                <a:latin typeface="Tahoma" charset="0"/>
                <a:cs typeface="Arial" charset="0"/>
              </a:rPr>
              <a:t> statement</a:t>
            </a:r>
          </a:p>
          <a:p>
            <a:pPr marL="0" indent="0">
              <a:lnSpc>
                <a:spcPct val="90000"/>
              </a:lnSpc>
              <a:spcBef>
                <a:spcPts val="1200"/>
              </a:spcBef>
              <a:spcAft>
                <a:spcPts val="600"/>
              </a:spcAft>
              <a:buNone/>
            </a:pPr>
            <a:r>
              <a:rPr lang="en-US" dirty="0">
                <a:latin typeface="Tahoma" charset="0"/>
                <a:cs typeface="Arial" charset="0"/>
              </a:rPr>
              <a:t>2. The </a:t>
            </a:r>
            <a:r>
              <a:rPr lang="en-US" dirty="0">
                <a:solidFill>
                  <a:srgbClr val="00B0F0"/>
                </a:solidFill>
                <a:latin typeface="Tahoma" charset="0"/>
                <a:cs typeface="Arial" charset="0"/>
              </a:rPr>
              <a:t>switch </a:t>
            </a:r>
            <a:r>
              <a:rPr lang="en-US" dirty="0">
                <a:latin typeface="Tahoma" charset="0"/>
                <a:cs typeface="Arial" charset="0"/>
              </a:rPr>
              <a:t>statement vs. nested </a:t>
            </a:r>
            <a:r>
              <a:rPr lang="en-US" dirty="0">
                <a:solidFill>
                  <a:srgbClr val="00B0F0"/>
                </a:solidFill>
                <a:latin typeface="Tahoma" charset="0"/>
                <a:cs typeface="Arial" charset="0"/>
              </a:rPr>
              <a:t>if</a:t>
            </a:r>
          </a:p>
          <a:p>
            <a:pPr marL="0" indent="0" eaLnBrk="1" hangingPunct="1">
              <a:lnSpc>
                <a:spcPct val="90000"/>
              </a:lnSpc>
              <a:spcBef>
                <a:spcPts val="1200"/>
              </a:spcBef>
              <a:spcAft>
                <a:spcPts val="600"/>
              </a:spcAft>
              <a:buNone/>
            </a:pPr>
            <a:endParaRPr lang="en-US" dirty="0">
              <a:solidFill>
                <a:srgbClr val="0000FF"/>
              </a:solidFill>
              <a:latin typeface="Tahoma" charset="0"/>
              <a:cs typeface="Arial" charset="0"/>
            </a:endParaRPr>
          </a:p>
        </p:txBody>
      </p:sp>
      <p:sp>
        <p:nvSpPr>
          <p:cNvPr id="10" name="Rectangle 2"/>
          <p:cNvSpPr>
            <a:spLocks noGrp="1" noChangeArrowheads="1"/>
          </p:cNvSpPr>
          <p:nvPr>
            <p:ph type="title"/>
          </p:nvPr>
        </p:nvSpPr>
        <p:spPr>
          <a:xfrm>
            <a:off x="228600" y="152400"/>
            <a:ext cx="7772400" cy="598488"/>
          </a:xfrm>
        </p:spPr>
        <p:txBody>
          <a:bodyPr>
            <a:noAutofit/>
          </a:bodyPr>
          <a:lstStyle/>
          <a:p>
            <a:pPr eaLnBrk="1" hangingPunct="1"/>
            <a:r>
              <a:rPr lang="en-US" sz="4000" dirty="0">
                <a:solidFill>
                  <a:schemeClr val="accent2"/>
                </a:solidFill>
                <a:latin typeface="Tahoma" charset="0"/>
                <a:cs typeface="Arial" charset="0"/>
              </a:rPr>
              <a:t>Outline</a:t>
            </a:r>
          </a:p>
        </p:txBody>
      </p:sp>
    </p:spTree>
    <p:custDataLst>
      <p:tags r:id="rId1"/>
    </p:custDataLst>
    <p:extLst>
      <p:ext uri="{BB962C8B-B14F-4D97-AF65-F5344CB8AC3E}">
        <p14:creationId xmlns:p14="http://schemas.microsoft.com/office/powerpoint/2010/main" val="2495342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rmAutofit/>
          </a:bodyPr>
          <a:lstStyle/>
          <a:p>
            <a:fld id="{125A1C68-F048-4C66-8544-2D3BD35A5879}" type="slidenum">
              <a:rPr lang="en-US" smtClean="0"/>
              <a:pPr/>
              <a:t>3</a:t>
            </a:fld>
            <a:endParaRPr lang="en-US"/>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 The </a:t>
            </a:r>
            <a:r>
              <a:rPr lang="en-US" sz="4000" dirty="0">
                <a:solidFill>
                  <a:srgbClr val="00B0F0"/>
                </a:solidFill>
                <a:latin typeface="Tahoma" charset="0"/>
                <a:cs typeface="Arial" charset="0"/>
              </a:rPr>
              <a:t>switch </a:t>
            </a:r>
            <a:r>
              <a:rPr lang="en-US" sz="4000" dirty="0">
                <a:solidFill>
                  <a:schemeClr val="accent2"/>
                </a:solidFill>
                <a:latin typeface="Tahoma" charset="0"/>
                <a:cs typeface="Arial" charset="0"/>
              </a:rPr>
              <a:t>Statement</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1677111" y="980728"/>
            <a:ext cx="5832648" cy="4968552"/>
          </a:xfrm>
          <a:prstGeom prst="roundRect">
            <a:avLst>
              <a:gd name="adj" fmla="val 3415"/>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solidFill>
                  <a:srgbClr val="00B0F0"/>
                </a:solidFill>
              </a:rPr>
              <a:t>switch </a:t>
            </a:r>
            <a:r>
              <a:rPr lang="en-US" dirty="0">
                <a:solidFill>
                  <a:srgbClr val="0000FF"/>
                </a:solidFill>
              </a:rPr>
              <a:t>(identifier)</a:t>
            </a:r>
          </a:p>
          <a:p>
            <a:r>
              <a:rPr lang="en-US" dirty="0">
                <a:solidFill>
                  <a:srgbClr val="0000FF"/>
                </a:solidFill>
              </a:rPr>
              <a:t>   {</a:t>
            </a:r>
          </a:p>
          <a:p>
            <a:r>
              <a:rPr lang="en-US" dirty="0">
                <a:solidFill>
                  <a:srgbClr val="00B0F0"/>
                </a:solidFill>
              </a:rPr>
              <a:t>     case </a:t>
            </a:r>
            <a:r>
              <a:rPr lang="en-US" dirty="0">
                <a:solidFill>
                  <a:srgbClr val="0000FF"/>
                </a:solidFill>
              </a:rPr>
              <a:t>value 1:</a:t>
            </a:r>
          </a:p>
          <a:p>
            <a:r>
              <a:rPr lang="en-US" dirty="0">
                <a:solidFill>
                  <a:srgbClr val="0000FF"/>
                </a:solidFill>
              </a:rPr>
              <a:t>		statement(s) 1;</a:t>
            </a:r>
          </a:p>
          <a:p>
            <a:r>
              <a:rPr lang="en-US" dirty="0">
                <a:solidFill>
                  <a:srgbClr val="00B0F0"/>
                </a:solidFill>
              </a:rPr>
              <a:t>		break;   </a:t>
            </a:r>
          </a:p>
          <a:p>
            <a:r>
              <a:rPr lang="en-US" i="1" dirty="0">
                <a:solidFill>
                  <a:srgbClr val="00B0F0"/>
                </a:solidFill>
              </a:rPr>
              <a:t>     </a:t>
            </a:r>
            <a:r>
              <a:rPr lang="en-US" dirty="0">
                <a:solidFill>
                  <a:srgbClr val="00B0F0"/>
                </a:solidFill>
              </a:rPr>
              <a:t>case </a:t>
            </a:r>
            <a:r>
              <a:rPr lang="en-US" dirty="0">
                <a:solidFill>
                  <a:srgbClr val="0000FF"/>
                </a:solidFill>
              </a:rPr>
              <a:t>value 2:</a:t>
            </a:r>
          </a:p>
          <a:p>
            <a:r>
              <a:rPr lang="en-US" dirty="0">
                <a:solidFill>
                  <a:srgbClr val="0000FF"/>
                </a:solidFill>
              </a:rPr>
              <a:t>		statement(s) 2;</a:t>
            </a:r>
          </a:p>
          <a:p>
            <a:r>
              <a:rPr lang="en-US" dirty="0">
                <a:solidFill>
                  <a:srgbClr val="00B0F0"/>
                </a:solidFill>
              </a:rPr>
              <a:t>		break;</a:t>
            </a:r>
          </a:p>
          <a:p>
            <a:r>
              <a:rPr lang="en-US" dirty="0">
                <a:solidFill>
                  <a:srgbClr val="0000FF"/>
                </a:solidFill>
              </a:rPr>
              <a:t>     ---</a:t>
            </a:r>
          </a:p>
          <a:p>
            <a:r>
              <a:rPr lang="en-US" dirty="0">
                <a:solidFill>
                  <a:srgbClr val="0000FF"/>
                </a:solidFill>
              </a:rPr>
              <a:t>     ---</a:t>
            </a:r>
          </a:p>
          <a:p>
            <a:r>
              <a:rPr lang="en-US" dirty="0">
                <a:solidFill>
                  <a:srgbClr val="0000FF"/>
                </a:solidFill>
              </a:rPr>
              <a:t>     ---</a:t>
            </a:r>
          </a:p>
          <a:p>
            <a:r>
              <a:rPr lang="en-US" dirty="0">
                <a:solidFill>
                  <a:srgbClr val="00B0F0"/>
                </a:solidFill>
              </a:rPr>
              <a:t>     case </a:t>
            </a:r>
            <a:r>
              <a:rPr lang="en-US" dirty="0">
                <a:solidFill>
                  <a:srgbClr val="0000FF"/>
                </a:solidFill>
              </a:rPr>
              <a:t>value n:</a:t>
            </a:r>
          </a:p>
          <a:p>
            <a:r>
              <a:rPr lang="en-US" dirty="0">
                <a:solidFill>
                  <a:srgbClr val="0000FF"/>
                </a:solidFill>
              </a:rPr>
              <a:t>		statement(s) n;</a:t>
            </a:r>
          </a:p>
          <a:p>
            <a:r>
              <a:rPr lang="en-US" dirty="0">
                <a:solidFill>
                  <a:srgbClr val="00B0F0"/>
                </a:solidFill>
              </a:rPr>
              <a:t>		break;</a:t>
            </a:r>
          </a:p>
          <a:p>
            <a:r>
              <a:rPr lang="en-US" dirty="0">
                <a:solidFill>
                  <a:srgbClr val="00B0F0"/>
                </a:solidFill>
              </a:rPr>
              <a:t>     default:</a:t>
            </a:r>
          </a:p>
          <a:p>
            <a:r>
              <a:rPr lang="en-US" dirty="0">
                <a:solidFill>
                  <a:srgbClr val="00B0F0"/>
                </a:solidFill>
              </a:rPr>
              <a:t>		</a:t>
            </a:r>
            <a:r>
              <a:rPr lang="en-US" dirty="0">
                <a:solidFill>
                  <a:srgbClr val="0000FF"/>
                </a:solidFill>
              </a:rPr>
              <a:t>statement(s);</a:t>
            </a:r>
          </a:p>
          <a:p>
            <a:r>
              <a:rPr lang="en-US" dirty="0">
                <a:solidFill>
                  <a:srgbClr val="00B0F0"/>
                </a:solidFill>
              </a:rPr>
              <a:t>    </a:t>
            </a:r>
            <a:r>
              <a:rPr lang="en-US" dirty="0">
                <a:solidFill>
                  <a:srgbClr val="0000FF"/>
                </a:solidFill>
              </a:rPr>
              <a:t>} </a:t>
            </a:r>
            <a:r>
              <a:rPr lang="en-US" dirty="0">
                <a:solidFill>
                  <a:srgbClr val="00B050"/>
                </a:solidFill>
              </a:rPr>
              <a:t>//end switch</a:t>
            </a:r>
          </a:p>
        </p:txBody>
      </p:sp>
      <p:sp>
        <p:nvSpPr>
          <p:cNvPr id="12" name="Rounded Rectangle 11"/>
          <p:cNvSpPr/>
          <p:nvPr/>
        </p:nvSpPr>
        <p:spPr>
          <a:xfrm>
            <a:off x="236951" y="980728"/>
            <a:ext cx="1296144" cy="5040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SYNTAX</a:t>
            </a:r>
          </a:p>
        </p:txBody>
      </p:sp>
    </p:spTree>
    <p:custDataLst>
      <p:tags r:id="rId1"/>
    </p:custDataLst>
    <p:extLst>
      <p:ext uri="{BB962C8B-B14F-4D97-AF65-F5344CB8AC3E}">
        <p14:creationId xmlns:p14="http://schemas.microsoft.com/office/powerpoint/2010/main" val="40674506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500"/>
                                        <p:tgtEl>
                                          <p:spTgt spid="1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left)">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rmAutofit/>
          </a:bodyPr>
          <a:lstStyle/>
          <a:p>
            <a:fld id="{125A1C68-F048-4C66-8544-2D3BD35A5879}" type="slidenum">
              <a:rPr lang="en-US" smtClean="0"/>
              <a:pPr/>
              <a:t>4</a:t>
            </a:fld>
            <a:endParaRPr lang="en-US"/>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 The </a:t>
            </a:r>
            <a:r>
              <a:rPr lang="en-US" sz="4000" dirty="0">
                <a:solidFill>
                  <a:srgbClr val="00B0F0"/>
                </a:solidFill>
                <a:latin typeface="Tahoma" charset="0"/>
                <a:cs typeface="Arial" charset="0"/>
              </a:rPr>
              <a:t>switch </a:t>
            </a:r>
            <a:r>
              <a:rPr lang="en-US" sz="4000" dirty="0">
                <a:solidFill>
                  <a:schemeClr val="accent2"/>
                </a:solidFill>
                <a:latin typeface="Tahoma" charset="0"/>
                <a:cs typeface="Arial" charset="0"/>
              </a:rPr>
              <a:t>Statement</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3" name="Oval 2"/>
          <p:cNvSpPr/>
          <p:nvPr/>
        </p:nvSpPr>
        <p:spPr>
          <a:xfrm>
            <a:off x="1511660" y="908720"/>
            <a:ext cx="360040" cy="288032"/>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251520" y="1484784"/>
            <a:ext cx="2880320" cy="360040"/>
          </a:xfrm>
          <a:prstGeom prst="rect">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rPr>
              <a:t>identifier</a:t>
            </a:r>
          </a:p>
        </p:txBody>
      </p:sp>
      <p:sp>
        <p:nvSpPr>
          <p:cNvPr id="5" name="Flowchart: Decision 4"/>
          <p:cNvSpPr/>
          <p:nvPr/>
        </p:nvSpPr>
        <p:spPr>
          <a:xfrm>
            <a:off x="611560" y="2204864"/>
            <a:ext cx="2160240" cy="1008112"/>
          </a:xfrm>
          <a:prstGeom prst="flowChartDecision">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rPr>
              <a:t>case value = v1</a:t>
            </a:r>
          </a:p>
        </p:txBody>
      </p:sp>
      <p:sp>
        <p:nvSpPr>
          <p:cNvPr id="13" name="Rectangle 12"/>
          <p:cNvSpPr/>
          <p:nvPr/>
        </p:nvSpPr>
        <p:spPr>
          <a:xfrm>
            <a:off x="3126325" y="2528900"/>
            <a:ext cx="2165755" cy="360040"/>
          </a:xfrm>
          <a:prstGeom prst="rect">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rPr>
              <a:t>Statements 1</a:t>
            </a:r>
          </a:p>
        </p:txBody>
      </p:sp>
      <p:sp>
        <p:nvSpPr>
          <p:cNvPr id="14" name="Flowchart: Decision 13"/>
          <p:cNvSpPr/>
          <p:nvPr/>
        </p:nvSpPr>
        <p:spPr>
          <a:xfrm>
            <a:off x="611560" y="3429000"/>
            <a:ext cx="2160240" cy="1008112"/>
          </a:xfrm>
          <a:prstGeom prst="flowChartDecision">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rPr>
              <a:t>case value = v2</a:t>
            </a:r>
          </a:p>
        </p:txBody>
      </p:sp>
      <p:sp>
        <p:nvSpPr>
          <p:cNvPr id="15" name="Rectangle 14"/>
          <p:cNvSpPr/>
          <p:nvPr/>
        </p:nvSpPr>
        <p:spPr>
          <a:xfrm>
            <a:off x="3126325" y="3753036"/>
            <a:ext cx="2165755" cy="360040"/>
          </a:xfrm>
          <a:prstGeom prst="rect">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rPr>
              <a:t>Statements 2</a:t>
            </a:r>
          </a:p>
        </p:txBody>
      </p:sp>
      <p:sp>
        <p:nvSpPr>
          <p:cNvPr id="16" name="Flowchart: Decision 15"/>
          <p:cNvSpPr/>
          <p:nvPr/>
        </p:nvSpPr>
        <p:spPr>
          <a:xfrm>
            <a:off x="611560" y="5013176"/>
            <a:ext cx="2160240" cy="1008112"/>
          </a:xfrm>
          <a:prstGeom prst="flowChartDecision">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rPr>
              <a:t>default</a:t>
            </a:r>
          </a:p>
        </p:txBody>
      </p:sp>
      <p:sp>
        <p:nvSpPr>
          <p:cNvPr id="17" name="Rectangle 16"/>
          <p:cNvSpPr/>
          <p:nvPr/>
        </p:nvSpPr>
        <p:spPr>
          <a:xfrm>
            <a:off x="3126325" y="5337212"/>
            <a:ext cx="2165755" cy="360040"/>
          </a:xfrm>
          <a:prstGeom prst="rect">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rPr>
              <a:t>Statements </a:t>
            </a:r>
          </a:p>
        </p:txBody>
      </p:sp>
      <p:sp>
        <p:nvSpPr>
          <p:cNvPr id="18" name="Rectangle 17"/>
          <p:cNvSpPr/>
          <p:nvPr/>
        </p:nvSpPr>
        <p:spPr>
          <a:xfrm>
            <a:off x="5862629" y="2528900"/>
            <a:ext cx="1085635" cy="360040"/>
          </a:xfrm>
          <a:prstGeom prst="rect">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rPr>
              <a:t>break</a:t>
            </a:r>
          </a:p>
        </p:txBody>
      </p:sp>
      <p:sp>
        <p:nvSpPr>
          <p:cNvPr id="19" name="Rectangle 18"/>
          <p:cNvSpPr/>
          <p:nvPr/>
        </p:nvSpPr>
        <p:spPr>
          <a:xfrm>
            <a:off x="5862629" y="3753036"/>
            <a:ext cx="1085635" cy="360040"/>
          </a:xfrm>
          <a:prstGeom prst="rect">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00FF"/>
                </a:solidFill>
              </a:rPr>
              <a:t>break</a:t>
            </a:r>
          </a:p>
        </p:txBody>
      </p:sp>
      <p:cxnSp>
        <p:nvCxnSpPr>
          <p:cNvPr id="21" name="Straight Arrow Connector 20"/>
          <p:cNvCxnSpPr>
            <a:stCxn id="3" idx="4"/>
            <a:endCxn id="4" idx="0"/>
          </p:cNvCxnSpPr>
          <p:nvPr/>
        </p:nvCxnSpPr>
        <p:spPr>
          <a:xfrm>
            <a:off x="1691680" y="1196752"/>
            <a:ext cx="0" cy="288032"/>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4" idx="2"/>
            <a:endCxn id="5" idx="0"/>
          </p:cNvCxnSpPr>
          <p:nvPr/>
        </p:nvCxnSpPr>
        <p:spPr>
          <a:xfrm>
            <a:off x="1691680" y="1844824"/>
            <a:ext cx="0" cy="36004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a:stCxn id="5" idx="2"/>
            <a:endCxn id="14" idx="0"/>
          </p:cNvCxnSpPr>
          <p:nvPr/>
        </p:nvCxnSpPr>
        <p:spPr>
          <a:xfrm>
            <a:off x="1691680" y="3212976"/>
            <a:ext cx="0" cy="216024"/>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stCxn id="14" idx="2"/>
          </p:cNvCxnSpPr>
          <p:nvPr/>
        </p:nvCxnSpPr>
        <p:spPr>
          <a:xfrm>
            <a:off x="1691680" y="4437112"/>
            <a:ext cx="0" cy="288032"/>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a:endCxn id="16" idx="0"/>
          </p:cNvCxnSpPr>
          <p:nvPr/>
        </p:nvCxnSpPr>
        <p:spPr>
          <a:xfrm>
            <a:off x="1691680" y="4725144"/>
            <a:ext cx="0" cy="288032"/>
          </a:xfrm>
          <a:prstGeom prst="straightConnector1">
            <a:avLst/>
          </a:prstGeom>
          <a:ln w="28575">
            <a:solidFill>
              <a:srgbClr val="0000FF"/>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5" idx="3"/>
            <a:endCxn id="13" idx="1"/>
          </p:cNvCxnSpPr>
          <p:nvPr/>
        </p:nvCxnSpPr>
        <p:spPr>
          <a:xfrm>
            <a:off x="2771800" y="2708920"/>
            <a:ext cx="354525"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a:stCxn id="13" idx="3"/>
            <a:endCxn id="18" idx="1"/>
          </p:cNvCxnSpPr>
          <p:nvPr/>
        </p:nvCxnSpPr>
        <p:spPr>
          <a:xfrm>
            <a:off x="5292080" y="2708920"/>
            <a:ext cx="570549"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a:stCxn id="14" idx="3"/>
            <a:endCxn id="15" idx="1"/>
          </p:cNvCxnSpPr>
          <p:nvPr/>
        </p:nvCxnSpPr>
        <p:spPr>
          <a:xfrm>
            <a:off x="2771800" y="3933056"/>
            <a:ext cx="354525"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stCxn id="15" idx="3"/>
            <a:endCxn id="19" idx="1"/>
          </p:cNvCxnSpPr>
          <p:nvPr/>
        </p:nvCxnSpPr>
        <p:spPr>
          <a:xfrm>
            <a:off x="5292080" y="3933056"/>
            <a:ext cx="570549"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16" idx="3"/>
            <a:endCxn id="17" idx="1"/>
          </p:cNvCxnSpPr>
          <p:nvPr/>
        </p:nvCxnSpPr>
        <p:spPr>
          <a:xfrm>
            <a:off x="2771800" y="5517232"/>
            <a:ext cx="354525"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18" idx="3"/>
          </p:cNvCxnSpPr>
          <p:nvPr/>
        </p:nvCxnSpPr>
        <p:spPr>
          <a:xfrm>
            <a:off x="6948264" y="2708920"/>
            <a:ext cx="1224136"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19" idx="3"/>
          </p:cNvCxnSpPr>
          <p:nvPr/>
        </p:nvCxnSpPr>
        <p:spPr>
          <a:xfrm>
            <a:off x="6948264" y="3933056"/>
            <a:ext cx="1224136"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a:stCxn id="17" idx="3"/>
          </p:cNvCxnSpPr>
          <p:nvPr/>
        </p:nvCxnSpPr>
        <p:spPr>
          <a:xfrm>
            <a:off x="5292080" y="5517232"/>
            <a:ext cx="2880320"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a:off x="8172400" y="2708920"/>
            <a:ext cx="0" cy="360040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H="1">
            <a:off x="5472100" y="6309320"/>
            <a:ext cx="2700300" cy="0"/>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5292080" y="6525344"/>
            <a:ext cx="360040" cy="288032"/>
          </a:xfrm>
          <a:prstGeom prst="ellips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3" name="Straight Arrow Connector 52"/>
          <p:cNvCxnSpPr>
            <a:endCxn id="51" idx="0"/>
          </p:cNvCxnSpPr>
          <p:nvPr/>
        </p:nvCxnSpPr>
        <p:spPr>
          <a:xfrm>
            <a:off x="5472100" y="6309320"/>
            <a:ext cx="0" cy="216024"/>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55" name="TextBox 54"/>
          <p:cNvSpPr txBox="1"/>
          <p:nvPr/>
        </p:nvSpPr>
        <p:spPr>
          <a:xfrm>
            <a:off x="2483768" y="2348880"/>
            <a:ext cx="720080" cy="338554"/>
          </a:xfrm>
          <a:prstGeom prst="rect">
            <a:avLst/>
          </a:prstGeom>
          <a:noFill/>
        </p:spPr>
        <p:txBody>
          <a:bodyPr wrap="square" rtlCol="0">
            <a:spAutoFit/>
          </a:bodyPr>
          <a:lstStyle/>
          <a:p>
            <a:r>
              <a:rPr lang="en-US" sz="1600" b="1" dirty="0">
                <a:solidFill>
                  <a:srgbClr val="00B050"/>
                </a:solidFill>
              </a:rPr>
              <a:t>True</a:t>
            </a:r>
          </a:p>
        </p:txBody>
      </p:sp>
      <p:sp>
        <p:nvSpPr>
          <p:cNvPr id="56" name="TextBox 55"/>
          <p:cNvSpPr txBox="1"/>
          <p:nvPr/>
        </p:nvSpPr>
        <p:spPr>
          <a:xfrm>
            <a:off x="2483768" y="3573016"/>
            <a:ext cx="720080" cy="338554"/>
          </a:xfrm>
          <a:prstGeom prst="rect">
            <a:avLst/>
          </a:prstGeom>
          <a:noFill/>
        </p:spPr>
        <p:txBody>
          <a:bodyPr wrap="square" rtlCol="0">
            <a:spAutoFit/>
          </a:bodyPr>
          <a:lstStyle/>
          <a:p>
            <a:r>
              <a:rPr lang="en-US" sz="1600" b="1" dirty="0">
                <a:solidFill>
                  <a:srgbClr val="00B050"/>
                </a:solidFill>
              </a:rPr>
              <a:t>True</a:t>
            </a:r>
          </a:p>
        </p:txBody>
      </p:sp>
      <p:sp>
        <p:nvSpPr>
          <p:cNvPr id="57" name="TextBox 56"/>
          <p:cNvSpPr txBox="1"/>
          <p:nvPr/>
        </p:nvSpPr>
        <p:spPr>
          <a:xfrm>
            <a:off x="971600" y="3140968"/>
            <a:ext cx="720080" cy="338554"/>
          </a:xfrm>
          <a:prstGeom prst="rect">
            <a:avLst/>
          </a:prstGeom>
          <a:noFill/>
        </p:spPr>
        <p:txBody>
          <a:bodyPr wrap="square" rtlCol="0">
            <a:spAutoFit/>
          </a:bodyPr>
          <a:lstStyle/>
          <a:p>
            <a:r>
              <a:rPr lang="en-US" sz="1600" b="1" dirty="0">
                <a:solidFill>
                  <a:srgbClr val="FF0000"/>
                </a:solidFill>
              </a:rPr>
              <a:t>False</a:t>
            </a:r>
          </a:p>
        </p:txBody>
      </p:sp>
      <p:sp>
        <p:nvSpPr>
          <p:cNvPr id="58" name="TextBox 57"/>
          <p:cNvSpPr txBox="1"/>
          <p:nvPr/>
        </p:nvSpPr>
        <p:spPr>
          <a:xfrm>
            <a:off x="971600" y="4458598"/>
            <a:ext cx="720080" cy="338554"/>
          </a:xfrm>
          <a:prstGeom prst="rect">
            <a:avLst/>
          </a:prstGeom>
          <a:noFill/>
        </p:spPr>
        <p:txBody>
          <a:bodyPr wrap="square" rtlCol="0">
            <a:spAutoFit/>
          </a:bodyPr>
          <a:lstStyle/>
          <a:p>
            <a:r>
              <a:rPr lang="en-US" sz="1600" b="1" dirty="0">
                <a:solidFill>
                  <a:srgbClr val="FF0000"/>
                </a:solidFill>
              </a:rPr>
              <a:t>False</a:t>
            </a:r>
          </a:p>
        </p:txBody>
      </p:sp>
    </p:spTree>
    <p:custDataLst>
      <p:tags r:id="rId1"/>
    </p:custDataLst>
    <p:extLst>
      <p:ext uri="{BB962C8B-B14F-4D97-AF65-F5344CB8AC3E}">
        <p14:creationId xmlns:p14="http://schemas.microsoft.com/office/powerpoint/2010/main" val="255326743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rmAutofit/>
          </a:bodyPr>
          <a:lstStyle/>
          <a:p>
            <a:fld id="{125A1C68-F048-4C66-8544-2D3BD35A5879}" type="slidenum">
              <a:rPr lang="en-US" smtClean="0"/>
              <a:pPr/>
              <a:t>5</a:t>
            </a:fld>
            <a:endParaRPr lang="en-US"/>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 The </a:t>
            </a:r>
            <a:r>
              <a:rPr lang="en-US" sz="4000" dirty="0">
                <a:solidFill>
                  <a:srgbClr val="00B0F0"/>
                </a:solidFill>
                <a:latin typeface="Tahoma" charset="0"/>
                <a:cs typeface="Arial" charset="0"/>
              </a:rPr>
              <a:t>switch </a:t>
            </a:r>
            <a:r>
              <a:rPr lang="en-US" sz="4000" dirty="0">
                <a:solidFill>
                  <a:schemeClr val="accent2"/>
                </a:solidFill>
                <a:latin typeface="Tahoma" charset="0"/>
                <a:cs typeface="Arial" charset="0"/>
              </a:rPr>
              <a:t>Statement</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54" name="Rectangle 53"/>
          <p:cNvSpPr/>
          <p:nvPr/>
        </p:nvSpPr>
        <p:spPr>
          <a:xfrm>
            <a:off x="107504" y="980728"/>
            <a:ext cx="8928992" cy="612068"/>
          </a:xfrm>
          <a:prstGeom prst="rect">
            <a:avLst/>
          </a:prstGeom>
          <a:solidFill>
            <a:schemeClr val="bg2"/>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0000FF"/>
                </a:solidFill>
              </a:rPr>
              <a:t>In a </a:t>
            </a:r>
            <a:r>
              <a:rPr lang="en-US" dirty="0">
                <a:solidFill>
                  <a:srgbClr val="00B0F0"/>
                </a:solidFill>
              </a:rPr>
              <a:t>switch </a:t>
            </a:r>
            <a:r>
              <a:rPr lang="en-US" dirty="0">
                <a:solidFill>
                  <a:srgbClr val="0000FF"/>
                </a:solidFill>
              </a:rPr>
              <a:t>statement, the identifier is called the </a:t>
            </a:r>
            <a:r>
              <a:rPr lang="en-US" dirty="0">
                <a:solidFill>
                  <a:srgbClr val="FF0000"/>
                </a:solidFill>
              </a:rPr>
              <a:t>selector</a:t>
            </a:r>
            <a:r>
              <a:rPr lang="en-US" dirty="0">
                <a:solidFill>
                  <a:srgbClr val="0000FF"/>
                </a:solidFill>
              </a:rPr>
              <a:t>. The </a:t>
            </a:r>
            <a:r>
              <a:rPr lang="en-US" dirty="0">
                <a:solidFill>
                  <a:srgbClr val="00B0F0"/>
                </a:solidFill>
              </a:rPr>
              <a:t>case </a:t>
            </a:r>
            <a:r>
              <a:rPr lang="en-US" dirty="0">
                <a:solidFill>
                  <a:srgbClr val="0000FF"/>
                </a:solidFill>
              </a:rPr>
              <a:t>value is called a </a:t>
            </a:r>
            <a:r>
              <a:rPr lang="en-US" dirty="0">
                <a:solidFill>
                  <a:srgbClr val="FF0000"/>
                </a:solidFill>
              </a:rPr>
              <a:t>label</a:t>
            </a:r>
            <a:r>
              <a:rPr lang="en-US" dirty="0">
                <a:solidFill>
                  <a:srgbClr val="0000FF"/>
                </a:solidFill>
              </a:rPr>
              <a:t>.</a:t>
            </a:r>
          </a:p>
        </p:txBody>
      </p:sp>
      <p:sp>
        <p:nvSpPr>
          <p:cNvPr id="62" name="Rectangle 61"/>
          <p:cNvSpPr/>
          <p:nvPr/>
        </p:nvSpPr>
        <p:spPr>
          <a:xfrm>
            <a:off x="107504" y="1700808"/>
            <a:ext cx="8928992" cy="684076"/>
          </a:xfrm>
          <a:prstGeom prst="rect">
            <a:avLst/>
          </a:prstGeom>
          <a:solidFill>
            <a:schemeClr val="bg2"/>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0000FF"/>
                </a:solidFill>
              </a:rPr>
              <a:t>The selector’s value is checked against the first label. If they are equal, the corresponding statement(s) is/are executed.</a:t>
            </a:r>
          </a:p>
        </p:txBody>
      </p:sp>
      <p:sp>
        <p:nvSpPr>
          <p:cNvPr id="63" name="Rectangle 62"/>
          <p:cNvSpPr/>
          <p:nvPr/>
        </p:nvSpPr>
        <p:spPr>
          <a:xfrm>
            <a:off x="107504" y="2492896"/>
            <a:ext cx="8928992" cy="468052"/>
          </a:xfrm>
          <a:prstGeom prst="rect">
            <a:avLst/>
          </a:prstGeom>
          <a:solidFill>
            <a:schemeClr val="bg2"/>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0000FF"/>
                </a:solidFill>
              </a:rPr>
              <a:t>If they are not equal, the second label is checked.</a:t>
            </a:r>
          </a:p>
        </p:txBody>
      </p:sp>
      <p:sp>
        <p:nvSpPr>
          <p:cNvPr id="64" name="Rectangle 63"/>
          <p:cNvSpPr/>
          <p:nvPr/>
        </p:nvSpPr>
        <p:spPr>
          <a:xfrm>
            <a:off x="107504" y="3068960"/>
            <a:ext cx="8928992" cy="684076"/>
          </a:xfrm>
          <a:prstGeom prst="rect">
            <a:avLst/>
          </a:prstGeom>
          <a:solidFill>
            <a:schemeClr val="bg2"/>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0000FF"/>
                </a:solidFill>
              </a:rPr>
              <a:t>If the selector does not  match any of the labels, the </a:t>
            </a:r>
            <a:r>
              <a:rPr lang="en-US" dirty="0">
                <a:solidFill>
                  <a:srgbClr val="00B0F0"/>
                </a:solidFill>
              </a:rPr>
              <a:t>default</a:t>
            </a:r>
            <a:r>
              <a:rPr lang="en-US" dirty="0">
                <a:solidFill>
                  <a:srgbClr val="0000FF"/>
                </a:solidFill>
              </a:rPr>
              <a:t> part is executed.</a:t>
            </a:r>
          </a:p>
        </p:txBody>
      </p:sp>
      <p:sp>
        <p:nvSpPr>
          <p:cNvPr id="65" name="Rectangle 64"/>
          <p:cNvSpPr/>
          <p:nvPr/>
        </p:nvSpPr>
        <p:spPr>
          <a:xfrm>
            <a:off x="107504" y="3861048"/>
            <a:ext cx="8928992" cy="684076"/>
          </a:xfrm>
          <a:prstGeom prst="rect">
            <a:avLst/>
          </a:prstGeom>
          <a:solidFill>
            <a:schemeClr val="bg2"/>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0000FF"/>
                </a:solidFill>
              </a:rPr>
              <a:t>The </a:t>
            </a:r>
            <a:r>
              <a:rPr lang="en-US" dirty="0">
                <a:solidFill>
                  <a:srgbClr val="00B0F0"/>
                </a:solidFill>
              </a:rPr>
              <a:t>break </a:t>
            </a:r>
            <a:r>
              <a:rPr lang="en-US" dirty="0">
                <a:solidFill>
                  <a:srgbClr val="0000FF"/>
                </a:solidFill>
              </a:rPr>
              <a:t>statement forces the control of execution to exit from the </a:t>
            </a:r>
            <a:r>
              <a:rPr lang="en-US" dirty="0">
                <a:solidFill>
                  <a:srgbClr val="00B0F0"/>
                </a:solidFill>
              </a:rPr>
              <a:t>switch </a:t>
            </a:r>
            <a:r>
              <a:rPr lang="en-US" dirty="0">
                <a:solidFill>
                  <a:srgbClr val="0000FF"/>
                </a:solidFill>
              </a:rPr>
              <a:t>statement.</a:t>
            </a:r>
          </a:p>
        </p:txBody>
      </p:sp>
      <p:sp>
        <p:nvSpPr>
          <p:cNvPr id="66" name="Rectangle 65"/>
          <p:cNvSpPr/>
          <p:nvPr/>
        </p:nvSpPr>
        <p:spPr>
          <a:xfrm>
            <a:off x="107504" y="4653136"/>
            <a:ext cx="8928992" cy="684076"/>
          </a:xfrm>
          <a:prstGeom prst="rect">
            <a:avLst/>
          </a:prstGeom>
          <a:solidFill>
            <a:schemeClr val="accent6">
              <a:lumMod val="20000"/>
              <a:lumOff val="80000"/>
            </a:schemeClr>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0000FF"/>
                </a:solidFill>
              </a:rPr>
              <a:t>The </a:t>
            </a:r>
            <a:r>
              <a:rPr lang="en-US" dirty="0">
                <a:solidFill>
                  <a:srgbClr val="00B0F0"/>
                </a:solidFill>
              </a:rPr>
              <a:t>switch </a:t>
            </a:r>
            <a:r>
              <a:rPr lang="en-US" dirty="0">
                <a:solidFill>
                  <a:srgbClr val="0000FF"/>
                </a:solidFill>
              </a:rPr>
              <a:t>statement </a:t>
            </a:r>
            <a:r>
              <a:rPr lang="en-US" dirty="0">
                <a:solidFill>
                  <a:srgbClr val="FF0000"/>
                </a:solidFill>
              </a:rPr>
              <a:t>CANNOT </a:t>
            </a:r>
            <a:r>
              <a:rPr lang="en-US" dirty="0">
                <a:solidFill>
                  <a:srgbClr val="0000FF"/>
                </a:solidFill>
              </a:rPr>
              <a:t>be used with </a:t>
            </a:r>
            <a:r>
              <a:rPr lang="en-US" dirty="0">
                <a:solidFill>
                  <a:srgbClr val="00B0F0"/>
                </a:solidFill>
              </a:rPr>
              <a:t>double </a:t>
            </a:r>
            <a:r>
              <a:rPr lang="en-US" dirty="0">
                <a:solidFill>
                  <a:srgbClr val="0000FF"/>
                </a:solidFill>
              </a:rPr>
              <a:t>and </a:t>
            </a:r>
            <a:r>
              <a:rPr lang="en-US" dirty="0">
                <a:solidFill>
                  <a:srgbClr val="00B0F0"/>
                </a:solidFill>
              </a:rPr>
              <a:t>float </a:t>
            </a:r>
            <a:r>
              <a:rPr lang="en-US" dirty="0">
                <a:solidFill>
                  <a:srgbClr val="0000FF"/>
                </a:solidFill>
              </a:rPr>
              <a:t>types. </a:t>
            </a:r>
          </a:p>
        </p:txBody>
      </p:sp>
    </p:spTree>
    <p:custDataLst>
      <p:tags r:id="rId1"/>
    </p:custDataLst>
    <p:extLst>
      <p:ext uri="{BB962C8B-B14F-4D97-AF65-F5344CB8AC3E}">
        <p14:creationId xmlns:p14="http://schemas.microsoft.com/office/powerpoint/2010/main" val="385491267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right)">
                                      <p:cBhvr>
                                        <p:cTn id="7" dur="500"/>
                                        <p:tgtEl>
                                          <p:spTgt spid="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wipe(left)">
                                      <p:cBhvr>
                                        <p:cTn id="12" dur="500"/>
                                        <p:tgtEl>
                                          <p:spTgt spid="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wipe(left)">
                                      <p:cBhvr>
                                        <p:cTn id="17" dur="500"/>
                                        <p:tgtEl>
                                          <p:spTgt spid="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wipe(left)">
                                      <p:cBhvr>
                                        <p:cTn id="22" dur="500"/>
                                        <p:tgtEl>
                                          <p:spTgt spid="6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5"/>
                                        </p:tgtEl>
                                        <p:attrNameLst>
                                          <p:attrName>style.visibility</p:attrName>
                                        </p:attrNameLst>
                                      </p:cBhvr>
                                      <p:to>
                                        <p:strVal val="visible"/>
                                      </p:to>
                                    </p:set>
                                    <p:animEffect transition="in" filter="wipe(left)">
                                      <p:cBhvr>
                                        <p:cTn id="27" dur="500"/>
                                        <p:tgtEl>
                                          <p:spTgt spid="6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6"/>
                                        </p:tgtEl>
                                        <p:attrNameLst>
                                          <p:attrName>style.visibility</p:attrName>
                                        </p:attrNameLst>
                                      </p:cBhvr>
                                      <p:to>
                                        <p:strVal val="visible"/>
                                      </p:to>
                                    </p:set>
                                    <p:animEffect transition="in" filter="wipe(left)">
                                      <p:cBhvr>
                                        <p:cTn id="32"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62" grpId="0" animBg="1"/>
      <p:bldP spid="63" grpId="0" animBg="1"/>
      <p:bldP spid="64" grpId="0" animBg="1"/>
      <p:bldP spid="65" grpId="0" animBg="1"/>
      <p:bldP spid="6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rmAutofit/>
          </a:bodyPr>
          <a:lstStyle/>
          <a:p>
            <a:fld id="{125A1C68-F048-4C66-8544-2D3BD35A5879}" type="slidenum">
              <a:rPr lang="en-US" smtClean="0"/>
              <a:pPr/>
              <a:t>6</a:t>
            </a:fld>
            <a:endParaRPr lang="en-US"/>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 The </a:t>
            </a:r>
            <a:r>
              <a:rPr lang="en-US" sz="4000" dirty="0">
                <a:solidFill>
                  <a:srgbClr val="00B0F0"/>
                </a:solidFill>
                <a:latin typeface="Tahoma" charset="0"/>
                <a:cs typeface="Arial" charset="0"/>
              </a:rPr>
              <a:t>switch </a:t>
            </a:r>
            <a:r>
              <a:rPr lang="en-US" sz="4000" dirty="0">
                <a:solidFill>
                  <a:schemeClr val="accent2"/>
                </a:solidFill>
                <a:latin typeface="Tahoma" charset="0"/>
                <a:cs typeface="Arial" charset="0"/>
              </a:rPr>
              <a:t>Statement</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1</a:t>
            </a: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179512" y="1412776"/>
            <a:ext cx="8784976" cy="4893647"/>
            <a:chOff x="323528" y="1236822"/>
            <a:chExt cx="7848872" cy="4734969"/>
          </a:xfrm>
        </p:grpSpPr>
        <p:sp>
          <p:nvSpPr>
            <p:cNvPr id="13" name="TextBox 12"/>
            <p:cNvSpPr txBox="1"/>
            <p:nvPr/>
          </p:nvSpPr>
          <p:spPr>
            <a:xfrm>
              <a:off x="971600" y="1236822"/>
              <a:ext cx="7200800" cy="4734969"/>
            </a:xfrm>
            <a:prstGeom prst="rect">
              <a:avLst/>
            </a:prstGeom>
            <a:solidFill>
              <a:schemeClr val="bg2"/>
            </a:solidFill>
            <a:ln w="28575" cap="rnd" cmpd="thickThin">
              <a:solidFill>
                <a:srgbClr val="0000FF"/>
              </a:solidFill>
            </a:ln>
          </p:spPr>
          <p:txBody>
            <a:bodyPr wrap="square" rtlCol="0">
              <a:spAutoFit/>
            </a:bodyPr>
            <a:lstStyle/>
            <a:p>
              <a:r>
                <a:rPr lang="en-US" sz="1200" dirty="0">
                  <a:solidFill>
                    <a:srgbClr val="00B0F0"/>
                  </a:solidFill>
                </a:rPr>
                <a:t>public static void </a:t>
              </a:r>
              <a:r>
                <a:rPr lang="en-US" sz="1200" dirty="0">
                  <a:solidFill>
                    <a:srgbClr val="0000FF"/>
                  </a:solidFill>
                </a:rPr>
                <a:t>main (String[] </a:t>
              </a:r>
              <a:r>
                <a:rPr lang="en-US" sz="1200" dirty="0" err="1">
                  <a:solidFill>
                    <a:srgbClr val="0000FF"/>
                  </a:solidFill>
                </a:rPr>
                <a:t>args</a:t>
              </a:r>
              <a:r>
                <a:rPr lang="en-US" sz="1200" dirty="0">
                  <a:solidFill>
                    <a:srgbClr val="0000FF"/>
                  </a:solidFill>
                </a:rPr>
                <a:t>)</a:t>
              </a:r>
            </a:p>
            <a:p>
              <a:r>
                <a:rPr lang="en-US" sz="1200" dirty="0">
                  <a:solidFill>
                    <a:srgbClr val="0000FF"/>
                  </a:solidFill>
                </a:rPr>
                <a:t>{</a:t>
              </a:r>
            </a:p>
            <a:p>
              <a:r>
                <a:rPr lang="en-US" sz="1200" dirty="0"/>
                <a:t>   //Declaration section</a:t>
              </a:r>
            </a:p>
            <a:p>
              <a:r>
                <a:rPr lang="en-US" sz="1200" dirty="0">
                  <a:solidFill>
                    <a:srgbClr val="0000FF"/>
                  </a:solidFill>
                </a:rPr>
                <a:t>   Scanner read = </a:t>
              </a:r>
              <a:r>
                <a:rPr lang="en-US" sz="1200" dirty="0">
                  <a:solidFill>
                    <a:srgbClr val="00B0F0"/>
                  </a:solidFill>
                </a:rPr>
                <a:t>new </a:t>
              </a:r>
              <a:r>
                <a:rPr lang="en-US" sz="1200" dirty="0">
                  <a:solidFill>
                    <a:srgbClr val="0000FF"/>
                  </a:solidFill>
                </a:rPr>
                <a:t>Scanner (System.in);</a:t>
              </a:r>
            </a:p>
            <a:p>
              <a:r>
                <a:rPr lang="en-US" sz="1200" dirty="0">
                  <a:solidFill>
                    <a:srgbClr val="0000FF"/>
                  </a:solidFill>
                </a:rPr>
                <a:t>   </a:t>
              </a:r>
              <a:r>
                <a:rPr lang="en-US" sz="1200" dirty="0">
                  <a:solidFill>
                    <a:srgbClr val="00B0F0"/>
                  </a:solidFill>
                </a:rPr>
                <a:t>char </a:t>
              </a:r>
              <a:r>
                <a:rPr lang="en-US" sz="1200" dirty="0">
                  <a:solidFill>
                    <a:srgbClr val="0000FF"/>
                  </a:solidFill>
                </a:rPr>
                <a:t>grade;</a:t>
              </a:r>
            </a:p>
            <a:p>
              <a:r>
                <a:rPr lang="en-US" sz="1200" dirty="0">
                  <a:solidFill>
                    <a:srgbClr val="0000FF"/>
                  </a:solidFill>
                </a:rPr>
                <a:t>   </a:t>
              </a:r>
              <a:r>
                <a:rPr lang="en-US" sz="1200" dirty="0">
                  <a:solidFill>
                    <a:srgbClr val="00B0F0"/>
                  </a:solidFill>
                </a:rPr>
                <a:t>String </a:t>
              </a:r>
              <a:r>
                <a:rPr lang="en-US" sz="1200" dirty="0">
                  <a:solidFill>
                    <a:srgbClr val="0000FF"/>
                  </a:solidFill>
                </a:rPr>
                <a:t>message;</a:t>
              </a:r>
            </a:p>
            <a:p>
              <a:r>
                <a:rPr lang="en-US" sz="1200" dirty="0"/>
                <a:t>   //input section</a:t>
              </a:r>
            </a:p>
            <a:p>
              <a:r>
                <a:rPr lang="en-US" sz="1200" dirty="0">
                  <a:solidFill>
                    <a:srgbClr val="0000FF"/>
                  </a:solidFill>
                </a:rPr>
                <a:t>   grade = </a:t>
              </a:r>
              <a:r>
                <a:rPr lang="en-US" sz="1200" dirty="0" err="1">
                  <a:solidFill>
                    <a:srgbClr val="0000FF"/>
                  </a:solidFill>
                </a:rPr>
                <a:t>read.</a:t>
              </a:r>
              <a:r>
                <a:rPr lang="en-US" sz="1200" dirty="0" err="1">
                  <a:solidFill>
                    <a:srgbClr val="00B050"/>
                  </a:solidFill>
                </a:rPr>
                <a:t>next</a:t>
              </a:r>
              <a:r>
                <a:rPr lang="en-US" sz="1200" dirty="0">
                  <a:solidFill>
                    <a:srgbClr val="00B050"/>
                  </a:solidFill>
                </a:rPr>
                <a:t>().</a:t>
              </a:r>
              <a:r>
                <a:rPr lang="en-US" sz="1200" dirty="0" err="1">
                  <a:solidFill>
                    <a:srgbClr val="00B050"/>
                  </a:solidFill>
                </a:rPr>
                <a:t>charAt</a:t>
              </a:r>
              <a:r>
                <a:rPr lang="en-US" sz="1200" dirty="0">
                  <a:solidFill>
                    <a:srgbClr val="00B050"/>
                  </a:solidFill>
                </a:rPr>
                <a:t>(0)</a:t>
              </a:r>
              <a:r>
                <a:rPr lang="en-US" sz="1200" dirty="0">
                  <a:solidFill>
                    <a:srgbClr val="0000FF"/>
                  </a:solidFill>
                </a:rPr>
                <a:t>;</a:t>
              </a:r>
            </a:p>
            <a:p>
              <a:r>
                <a:rPr lang="en-US" sz="1200" dirty="0"/>
                <a:t>   //processing section</a:t>
              </a:r>
            </a:p>
            <a:p>
              <a:r>
                <a:rPr lang="en-US" sz="1200" dirty="0">
                  <a:solidFill>
                    <a:srgbClr val="0000FF"/>
                  </a:solidFill>
                </a:rPr>
                <a:t>   </a:t>
              </a:r>
              <a:r>
                <a:rPr lang="en-US" sz="1200" dirty="0">
                  <a:solidFill>
                    <a:srgbClr val="00B0F0"/>
                  </a:solidFill>
                </a:rPr>
                <a:t>switch </a:t>
              </a:r>
              <a:r>
                <a:rPr lang="en-US" sz="1200" dirty="0">
                  <a:solidFill>
                    <a:srgbClr val="0000FF"/>
                  </a:solidFill>
                </a:rPr>
                <a:t>(grade)</a:t>
              </a:r>
            </a:p>
            <a:p>
              <a:r>
                <a:rPr lang="en-US" sz="1200" dirty="0">
                  <a:solidFill>
                    <a:srgbClr val="0000FF"/>
                  </a:solidFill>
                </a:rPr>
                <a:t>   {</a:t>
              </a:r>
            </a:p>
            <a:p>
              <a:r>
                <a:rPr lang="en-US" sz="1200" dirty="0">
                  <a:solidFill>
                    <a:srgbClr val="0000FF"/>
                  </a:solidFill>
                </a:rPr>
                <a:t>      </a:t>
              </a:r>
              <a:r>
                <a:rPr lang="en-US" sz="1200" dirty="0">
                  <a:solidFill>
                    <a:srgbClr val="00B0F0"/>
                  </a:solidFill>
                </a:rPr>
                <a:t>case </a:t>
              </a:r>
              <a:r>
                <a:rPr lang="en-US" sz="1200" dirty="0">
                  <a:solidFill>
                    <a:srgbClr val="0000FF"/>
                  </a:solidFill>
                </a:rPr>
                <a:t>‘A’: message = “Excellent”;</a:t>
              </a:r>
            </a:p>
            <a:p>
              <a:r>
                <a:rPr lang="en-US" sz="1200" dirty="0">
                  <a:solidFill>
                    <a:srgbClr val="0000FF"/>
                  </a:solidFill>
                </a:rPr>
                <a:t>  	    </a:t>
              </a:r>
              <a:r>
                <a:rPr lang="en-US" sz="1200" dirty="0">
                  <a:solidFill>
                    <a:srgbClr val="00B0F0"/>
                  </a:solidFill>
                </a:rPr>
                <a:t>break</a:t>
              </a:r>
              <a:r>
                <a:rPr lang="en-US" sz="1200" dirty="0">
                  <a:solidFill>
                    <a:srgbClr val="0000FF"/>
                  </a:solidFill>
                </a:rPr>
                <a:t>;</a:t>
              </a:r>
            </a:p>
            <a:p>
              <a:r>
                <a:rPr lang="en-US" sz="1200" dirty="0">
                  <a:solidFill>
                    <a:srgbClr val="0000FF"/>
                  </a:solidFill>
                </a:rPr>
                <a:t>      </a:t>
              </a:r>
              <a:r>
                <a:rPr lang="en-US" sz="1200" dirty="0">
                  <a:solidFill>
                    <a:srgbClr val="00B0F0"/>
                  </a:solidFill>
                </a:rPr>
                <a:t>case </a:t>
              </a:r>
              <a:r>
                <a:rPr lang="en-US" sz="1200" dirty="0">
                  <a:solidFill>
                    <a:srgbClr val="0000FF"/>
                  </a:solidFill>
                </a:rPr>
                <a:t>‘B’: message = “Very Good”;</a:t>
              </a:r>
            </a:p>
            <a:p>
              <a:r>
                <a:rPr lang="en-US" sz="1200" dirty="0">
                  <a:solidFill>
                    <a:srgbClr val="0000FF"/>
                  </a:solidFill>
                </a:rPr>
                <a:t>	   </a:t>
              </a:r>
              <a:r>
                <a:rPr lang="en-US" sz="1200" dirty="0">
                  <a:solidFill>
                    <a:srgbClr val="00B0F0"/>
                  </a:solidFill>
                </a:rPr>
                <a:t>break</a:t>
              </a:r>
              <a:r>
                <a:rPr lang="en-US" sz="1200" dirty="0">
                  <a:solidFill>
                    <a:srgbClr val="0000FF"/>
                  </a:solidFill>
                </a:rPr>
                <a:t>;</a:t>
              </a:r>
            </a:p>
            <a:p>
              <a:r>
                <a:rPr lang="en-US" sz="1200" dirty="0">
                  <a:solidFill>
                    <a:srgbClr val="0000FF"/>
                  </a:solidFill>
                </a:rPr>
                <a:t>      </a:t>
              </a:r>
              <a:r>
                <a:rPr lang="en-US" sz="1200" dirty="0">
                  <a:solidFill>
                    <a:srgbClr val="00B0F0"/>
                  </a:solidFill>
                </a:rPr>
                <a:t>case </a:t>
              </a:r>
              <a:r>
                <a:rPr lang="en-US" sz="1200" dirty="0">
                  <a:solidFill>
                    <a:srgbClr val="0000FF"/>
                  </a:solidFill>
                </a:rPr>
                <a:t>‘C’: message = “Good”;</a:t>
              </a:r>
            </a:p>
            <a:p>
              <a:r>
                <a:rPr lang="en-US" sz="1200" dirty="0">
                  <a:solidFill>
                    <a:srgbClr val="0000FF"/>
                  </a:solidFill>
                </a:rPr>
                <a:t>	   </a:t>
              </a:r>
              <a:r>
                <a:rPr lang="en-US" sz="1200" dirty="0">
                  <a:solidFill>
                    <a:srgbClr val="00B0F0"/>
                  </a:solidFill>
                </a:rPr>
                <a:t>break</a:t>
              </a:r>
              <a:r>
                <a:rPr lang="en-US" sz="1200" dirty="0">
                  <a:solidFill>
                    <a:srgbClr val="0000FF"/>
                  </a:solidFill>
                </a:rPr>
                <a:t>;</a:t>
              </a:r>
            </a:p>
            <a:p>
              <a:r>
                <a:rPr lang="en-US" sz="1200" dirty="0">
                  <a:solidFill>
                    <a:srgbClr val="0000FF"/>
                  </a:solidFill>
                </a:rPr>
                <a:t>      </a:t>
              </a:r>
              <a:r>
                <a:rPr lang="en-US" sz="1200" dirty="0">
                  <a:solidFill>
                    <a:srgbClr val="00B0F0"/>
                  </a:solidFill>
                </a:rPr>
                <a:t>case </a:t>
              </a:r>
              <a:r>
                <a:rPr lang="en-US" sz="1200" dirty="0">
                  <a:solidFill>
                    <a:srgbClr val="0000FF"/>
                  </a:solidFill>
                </a:rPr>
                <a:t>‘D’: message = “Fair”;</a:t>
              </a:r>
            </a:p>
            <a:p>
              <a:r>
                <a:rPr lang="en-US" sz="1200" dirty="0">
                  <a:solidFill>
                    <a:srgbClr val="0000FF"/>
                  </a:solidFill>
                </a:rPr>
                <a:t>	   </a:t>
              </a:r>
              <a:r>
                <a:rPr lang="en-US" sz="1200" dirty="0">
                  <a:solidFill>
                    <a:srgbClr val="00B0F0"/>
                  </a:solidFill>
                </a:rPr>
                <a:t>break</a:t>
              </a:r>
              <a:r>
                <a:rPr lang="en-US" sz="1200" dirty="0">
                  <a:solidFill>
                    <a:srgbClr val="0000FF"/>
                  </a:solidFill>
                </a:rPr>
                <a:t>;</a:t>
              </a:r>
            </a:p>
            <a:p>
              <a:r>
                <a:rPr lang="en-US" sz="1200" dirty="0">
                  <a:solidFill>
                    <a:srgbClr val="0000FF"/>
                  </a:solidFill>
                </a:rPr>
                <a:t>      </a:t>
              </a:r>
              <a:r>
                <a:rPr lang="en-US" sz="1200" dirty="0">
                  <a:solidFill>
                    <a:srgbClr val="00B0F0"/>
                  </a:solidFill>
                </a:rPr>
                <a:t>case </a:t>
              </a:r>
              <a:r>
                <a:rPr lang="en-US" sz="1200" dirty="0">
                  <a:solidFill>
                    <a:srgbClr val="0000FF"/>
                  </a:solidFill>
                </a:rPr>
                <a:t>‘F’: message = “Failed”;</a:t>
              </a:r>
            </a:p>
            <a:p>
              <a:r>
                <a:rPr lang="en-US" sz="1200" dirty="0">
                  <a:solidFill>
                    <a:srgbClr val="0000FF"/>
                  </a:solidFill>
                </a:rPr>
                <a:t>	   </a:t>
              </a:r>
              <a:r>
                <a:rPr lang="en-US" sz="1200" dirty="0">
                  <a:solidFill>
                    <a:srgbClr val="00B0F0"/>
                  </a:solidFill>
                </a:rPr>
                <a:t>break</a:t>
              </a:r>
              <a:r>
                <a:rPr lang="en-US" sz="1200" dirty="0">
                  <a:solidFill>
                    <a:srgbClr val="0000FF"/>
                  </a:solidFill>
                </a:rPr>
                <a:t>;</a:t>
              </a:r>
            </a:p>
            <a:p>
              <a:r>
                <a:rPr lang="en-US" sz="1200" dirty="0">
                  <a:solidFill>
                    <a:srgbClr val="0000FF"/>
                  </a:solidFill>
                </a:rPr>
                <a:t>      </a:t>
              </a:r>
              <a:r>
                <a:rPr lang="en-US" sz="1200" dirty="0">
                  <a:solidFill>
                    <a:srgbClr val="00B0F0"/>
                  </a:solidFill>
                </a:rPr>
                <a:t>default</a:t>
              </a:r>
              <a:r>
                <a:rPr lang="en-US" sz="1200" dirty="0">
                  <a:solidFill>
                    <a:srgbClr val="0000FF"/>
                  </a:solidFill>
                </a:rPr>
                <a:t>: message =“The grade is invalid”;</a:t>
              </a:r>
            </a:p>
            <a:p>
              <a:r>
                <a:rPr lang="en-US" sz="1200" dirty="0">
                  <a:solidFill>
                    <a:srgbClr val="0000FF"/>
                  </a:solidFill>
                </a:rPr>
                <a:t>   } </a:t>
              </a:r>
              <a:r>
                <a:rPr lang="en-US" sz="1200" dirty="0">
                  <a:solidFill>
                    <a:srgbClr val="00B050"/>
                  </a:solidFill>
                </a:rPr>
                <a:t>//end switch</a:t>
              </a:r>
            </a:p>
            <a:p>
              <a:r>
                <a:rPr lang="en-US" sz="1200" dirty="0"/>
                <a:t>   //output section</a:t>
              </a:r>
            </a:p>
            <a:p>
              <a:r>
                <a:rPr lang="en-US" sz="1200" dirty="0">
                  <a:solidFill>
                    <a:srgbClr val="0000FF"/>
                  </a:solidFill>
                </a:rPr>
                <a:t>   </a:t>
              </a:r>
              <a:r>
                <a:rPr lang="en-US" sz="1200" dirty="0" err="1">
                  <a:solidFill>
                    <a:srgbClr val="0000FF"/>
                  </a:solidFill>
                </a:rPr>
                <a:t>System.out.println</a:t>
              </a:r>
              <a:r>
                <a:rPr lang="en-US" sz="1200" dirty="0">
                  <a:solidFill>
                    <a:srgbClr val="0000FF"/>
                  </a:solidFill>
                </a:rPr>
                <a:t> (message);</a:t>
              </a:r>
            </a:p>
            <a:p>
              <a:r>
                <a:rPr lang="en-US" sz="1200" dirty="0">
                  <a:solidFill>
                    <a:srgbClr val="0000FF"/>
                  </a:solidFill>
                </a:rPr>
                <a:t>} </a:t>
              </a:r>
              <a:r>
                <a:rPr lang="en-US" sz="1200" dirty="0">
                  <a:solidFill>
                    <a:srgbClr val="00B050"/>
                  </a:solidFill>
                </a:rPr>
                <a:t>//end main</a:t>
              </a:r>
            </a:p>
          </p:txBody>
        </p:sp>
        <p:sp>
          <p:nvSpPr>
            <p:cNvPr id="14" name="TextBox 13"/>
            <p:cNvSpPr txBox="1"/>
            <p:nvPr/>
          </p:nvSpPr>
          <p:spPr>
            <a:xfrm>
              <a:off x="323528" y="1236822"/>
              <a:ext cx="576064" cy="4734969"/>
            </a:xfrm>
            <a:prstGeom prst="rect">
              <a:avLst/>
            </a:prstGeom>
            <a:noFill/>
          </p:spPr>
          <p:txBody>
            <a:bodyPr wrap="square" rtlCol="0">
              <a:spAutoFit/>
            </a:bodyPr>
            <a:lstStyle/>
            <a:p>
              <a:pPr algn="r"/>
              <a:r>
                <a:rPr lang="en-US" sz="1200" dirty="0">
                  <a:solidFill>
                    <a:srgbClr val="FF0000"/>
                  </a:solidFill>
                </a:rPr>
                <a:t>1</a:t>
              </a:r>
            </a:p>
            <a:p>
              <a:pPr algn="r"/>
              <a:r>
                <a:rPr lang="en-US" sz="1200" dirty="0">
                  <a:solidFill>
                    <a:srgbClr val="FF0000"/>
                  </a:solidFill>
                </a:rPr>
                <a:t>2</a:t>
              </a:r>
            </a:p>
            <a:p>
              <a:pPr algn="r"/>
              <a:r>
                <a:rPr lang="en-US" sz="1200" dirty="0">
                  <a:solidFill>
                    <a:srgbClr val="FF0000"/>
                  </a:solidFill>
                </a:rPr>
                <a:t>3</a:t>
              </a:r>
            </a:p>
            <a:p>
              <a:pPr algn="r"/>
              <a:r>
                <a:rPr lang="en-US" sz="1200" dirty="0">
                  <a:solidFill>
                    <a:srgbClr val="FF0000"/>
                  </a:solidFill>
                </a:rPr>
                <a:t>4</a:t>
              </a:r>
            </a:p>
            <a:p>
              <a:pPr algn="r"/>
              <a:r>
                <a:rPr lang="en-US" sz="1200" dirty="0">
                  <a:solidFill>
                    <a:srgbClr val="FF0000"/>
                  </a:solidFill>
                </a:rPr>
                <a:t>5</a:t>
              </a:r>
            </a:p>
            <a:p>
              <a:pPr algn="r"/>
              <a:r>
                <a:rPr lang="en-US" sz="1200" dirty="0">
                  <a:solidFill>
                    <a:srgbClr val="FF0000"/>
                  </a:solidFill>
                </a:rPr>
                <a:t>6</a:t>
              </a:r>
            </a:p>
            <a:p>
              <a:pPr algn="r"/>
              <a:r>
                <a:rPr lang="en-US" sz="1200" dirty="0">
                  <a:solidFill>
                    <a:srgbClr val="FF0000"/>
                  </a:solidFill>
                </a:rPr>
                <a:t>7</a:t>
              </a:r>
            </a:p>
            <a:p>
              <a:pPr algn="r"/>
              <a:r>
                <a:rPr lang="en-US" sz="1200" dirty="0">
                  <a:solidFill>
                    <a:srgbClr val="FF0000"/>
                  </a:solidFill>
                </a:rPr>
                <a:t>8</a:t>
              </a:r>
            </a:p>
            <a:p>
              <a:pPr algn="r"/>
              <a:r>
                <a:rPr lang="en-US" sz="1200" dirty="0">
                  <a:solidFill>
                    <a:srgbClr val="FF0000"/>
                  </a:solidFill>
                </a:rPr>
                <a:t>9</a:t>
              </a:r>
            </a:p>
            <a:p>
              <a:pPr algn="r"/>
              <a:r>
                <a:rPr lang="en-US" sz="1200" dirty="0">
                  <a:solidFill>
                    <a:srgbClr val="FF0000"/>
                  </a:solidFill>
                </a:rPr>
                <a:t>10</a:t>
              </a:r>
            </a:p>
            <a:p>
              <a:pPr algn="r"/>
              <a:r>
                <a:rPr lang="en-US" sz="1200" dirty="0">
                  <a:solidFill>
                    <a:srgbClr val="FF0000"/>
                  </a:solidFill>
                </a:rPr>
                <a:t>11</a:t>
              </a:r>
            </a:p>
            <a:p>
              <a:pPr algn="r"/>
              <a:r>
                <a:rPr lang="en-US" sz="1200" dirty="0">
                  <a:solidFill>
                    <a:srgbClr val="FF0000"/>
                  </a:solidFill>
                </a:rPr>
                <a:t>12</a:t>
              </a:r>
            </a:p>
            <a:p>
              <a:pPr algn="r"/>
              <a:r>
                <a:rPr lang="en-US" sz="1200" dirty="0">
                  <a:solidFill>
                    <a:srgbClr val="FF0000"/>
                  </a:solidFill>
                </a:rPr>
                <a:t>13</a:t>
              </a:r>
            </a:p>
            <a:p>
              <a:pPr algn="r"/>
              <a:r>
                <a:rPr lang="en-US" sz="1200" dirty="0">
                  <a:solidFill>
                    <a:srgbClr val="FF0000"/>
                  </a:solidFill>
                </a:rPr>
                <a:t>14</a:t>
              </a:r>
            </a:p>
            <a:p>
              <a:pPr algn="r"/>
              <a:r>
                <a:rPr lang="en-US" sz="1200" dirty="0">
                  <a:solidFill>
                    <a:srgbClr val="FF0000"/>
                  </a:solidFill>
                </a:rPr>
                <a:t>15</a:t>
              </a:r>
            </a:p>
            <a:p>
              <a:pPr algn="r"/>
              <a:r>
                <a:rPr lang="en-US" sz="1200" dirty="0">
                  <a:solidFill>
                    <a:srgbClr val="FF0000"/>
                  </a:solidFill>
                </a:rPr>
                <a:t>16</a:t>
              </a:r>
            </a:p>
            <a:p>
              <a:pPr algn="r"/>
              <a:r>
                <a:rPr lang="en-US" sz="1200" dirty="0">
                  <a:solidFill>
                    <a:srgbClr val="FF0000"/>
                  </a:solidFill>
                </a:rPr>
                <a:t>17</a:t>
              </a:r>
            </a:p>
            <a:p>
              <a:pPr algn="r"/>
              <a:r>
                <a:rPr lang="en-US" sz="1200" dirty="0">
                  <a:solidFill>
                    <a:srgbClr val="FF0000"/>
                  </a:solidFill>
                </a:rPr>
                <a:t>18</a:t>
              </a:r>
            </a:p>
            <a:p>
              <a:pPr algn="r"/>
              <a:r>
                <a:rPr lang="en-US" sz="1200" dirty="0">
                  <a:solidFill>
                    <a:srgbClr val="FF0000"/>
                  </a:solidFill>
                </a:rPr>
                <a:t>19</a:t>
              </a:r>
            </a:p>
            <a:p>
              <a:pPr algn="r"/>
              <a:r>
                <a:rPr lang="en-US" sz="1200" dirty="0">
                  <a:solidFill>
                    <a:srgbClr val="FF0000"/>
                  </a:solidFill>
                </a:rPr>
                <a:t>20</a:t>
              </a:r>
            </a:p>
            <a:p>
              <a:pPr algn="r"/>
              <a:r>
                <a:rPr lang="en-US" sz="1200" dirty="0">
                  <a:solidFill>
                    <a:srgbClr val="FF0000"/>
                  </a:solidFill>
                </a:rPr>
                <a:t>21</a:t>
              </a:r>
            </a:p>
            <a:p>
              <a:pPr algn="r"/>
              <a:r>
                <a:rPr lang="en-US" sz="1200" dirty="0">
                  <a:solidFill>
                    <a:srgbClr val="FF0000"/>
                  </a:solidFill>
                </a:rPr>
                <a:t>22</a:t>
              </a:r>
            </a:p>
            <a:p>
              <a:pPr algn="r"/>
              <a:r>
                <a:rPr lang="en-US" sz="1200" dirty="0">
                  <a:solidFill>
                    <a:srgbClr val="FF0000"/>
                  </a:solidFill>
                </a:rPr>
                <a:t>23</a:t>
              </a:r>
            </a:p>
            <a:p>
              <a:pPr algn="r"/>
              <a:r>
                <a:rPr lang="en-US" sz="1200" dirty="0">
                  <a:solidFill>
                    <a:srgbClr val="FF0000"/>
                  </a:solidFill>
                </a:rPr>
                <a:t>24</a:t>
              </a:r>
            </a:p>
            <a:p>
              <a:pPr algn="r"/>
              <a:r>
                <a:rPr lang="en-US" sz="1200" dirty="0">
                  <a:solidFill>
                    <a:srgbClr val="FF0000"/>
                  </a:solidFill>
                </a:rPr>
                <a:t>25</a:t>
              </a:r>
            </a:p>
            <a:p>
              <a:pPr algn="r"/>
              <a:r>
                <a:rPr lang="en-US" sz="1200" dirty="0">
                  <a:solidFill>
                    <a:srgbClr val="FF0000"/>
                  </a:solidFill>
                </a:rPr>
                <a:t>26</a:t>
              </a:r>
            </a:p>
          </p:txBody>
        </p:sp>
      </p:grpSp>
      <p:cxnSp>
        <p:nvCxnSpPr>
          <p:cNvPr id="4" name="Straight Connector 3"/>
          <p:cNvCxnSpPr/>
          <p:nvPr/>
        </p:nvCxnSpPr>
        <p:spPr>
          <a:xfrm>
            <a:off x="2699792" y="3717032"/>
            <a:ext cx="259228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5292080" y="3717032"/>
            <a:ext cx="0" cy="223224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a:off x="3419872" y="5949280"/>
            <a:ext cx="1872208" cy="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4067944" y="3356992"/>
            <a:ext cx="1224136" cy="288032"/>
          </a:xfrm>
          <a:prstGeom prst="rect">
            <a:avLst/>
          </a:prstGeom>
          <a:solidFill>
            <a:srgbClr val="FF0000">
              <a:alpha val="30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FF"/>
                </a:solidFill>
              </a:rPr>
              <a:t>grade = ‘A’</a:t>
            </a:r>
          </a:p>
        </p:txBody>
      </p:sp>
      <p:sp>
        <p:nvSpPr>
          <p:cNvPr id="21" name="Rectangle 20"/>
          <p:cNvSpPr/>
          <p:nvPr/>
        </p:nvSpPr>
        <p:spPr>
          <a:xfrm>
            <a:off x="1259632" y="3429000"/>
            <a:ext cx="2376264" cy="360040"/>
          </a:xfrm>
          <a:prstGeom prst="rect">
            <a:avLst/>
          </a:prstGeom>
          <a:solidFill>
            <a:srgbClr val="FF0000">
              <a:alpha val="1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p:cNvCxnSpPr/>
          <p:nvPr/>
        </p:nvCxnSpPr>
        <p:spPr>
          <a:xfrm>
            <a:off x="2699792" y="4797152"/>
            <a:ext cx="3528392"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6228184" y="4797152"/>
            <a:ext cx="0" cy="1152128"/>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3563888" y="5949280"/>
            <a:ext cx="2664296" cy="0"/>
          </a:xfrm>
          <a:prstGeom prst="straightConnector1">
            <a:avLst/>
          </a:prstGeom>
          <a:ln w="28575">
            <a:solidFill>
              <a:srgbClr val="00B0F0"/>
            </a:solidFill>
            <a:tailEnd type="arrow"/>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3923928" y="4437112"/>
            <a:ext cx="1224136" cy="288032"/>
          </a:xfrm>
          <a:prstGeom prst="rect">
            <a:avLst/>
          </a:prstGeom>
          <a:solidFill>
            <a:srgbClr val="00B0F0">
              <a:alpha val="16000"/>
            </a:srgbClr>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FF"/>
                </a:solidFill>
              </a:rPr>
              <a:t>grade = ‘D’</a:t>
            </a:r>
          </a:p>
        </p:txBody>
      </p:sp>
      <p:sp>
        <p:nvSpPr>
          <p:cNvPr id="26" name="Rectangle 25"/>
          <p:cNvSpPr/>
          <p:nvPr/>
        </p:nvSpPr>
        <p:spPr>
          <a:xfrm>
            <a:off x="1259632" y="4509120"/>
            <a:ext cx="2376264" cy="360040"/>
          </a:xfrm>
          <a:prstGeom prst="rect">
            <a:avLst/>
          </a:prstGeom>
          <a:solidFill>
            <a:srgbClr val="00B0F0">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1259632" y="5301208"/>
            <a:ext cx="3204356" cy="216024"/>
          </a:xfrm>
          <a:prstGeom prst="rect">
            <a:avLst/>
          </a:prstGeom>
          <a:solidFill>
            <a:srgbClr val="660066">
              <a:alpha val="1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p:cNvCxnSpPr/>
          <p:nvPr/>
        </p:nvCxnSpPr>
        <p:spPr>
          <a:xfrm>
            <a:off x="4499992" y="5445224"/>
            <a:ext cx="3528392" cy="0"/>
          </a:xfrm>
          <a:prstGeom prst="line">
            <a:avLst/>
          </a:prstGeom>
          <a:ln w="28575">
            <a:solidFill>
              <a:srgbClr val="990099"/>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a:off x="8028384" y="5445224"/>
            <a:ext cx="0" cy="504056"/>
          </a:xfrm>
          <a:prstGeom prst="line">
            <a:avLst/>
          </a:prstGeom>
          <a:ln w="28575">
            <a:solidFill>
              <a:srgbClr val="990099"/>
            </a:solidFill>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flipH="1">
            <a:off x="3779912" y="5949280"/>
            <a:ext cx="4248472" cy="0"/>
          </a:xfrm>
          <a:prstGeom prst="straightConnector1">
            <a:avLst/>
          </a:prstGeom>
          <a:ln w="28575">
            <a:solidFill>
              <a:srgbClr val="990099"/>
            </a:solidFill>
            <a:tailEnd type="arrow"/>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6372200" y="5085184"/>
            <a:ext cx="1224136" cy="288032"/>
          </a:xfrm>
          <a:prstGeom prst="rect">
            <a:avLst/>
          </a:prstGeom>
          <a:solidFill>
            <a:srgbClr val="660066">
              <a:alpha val="16000"/>
            </a:srgbClr>
          </a:solidFill>
          <a:ln>
            <a:solidFill>
              <a:srgbClr val="99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rgbClr val="0000FF"/>
                </a:solidFill>
              </a:rPr>
              <a:t>grade = ‘X’</a:t>
            </a:r>
          </a:p>
        </p:txBody>
      </p:sp>
    </p:spTree>
    <p:custDataLst>
      <p:tags r:id="rId1"/>
    </p:custDataLst>
    <p:extLst>
      <p:ext uri="{BB962C8B-B14F-4D97-AF65-F5344CB8AC3E}">
        <p14:creationId xmlns:p14="http://schemas.microsoft.com/office/powerpoint/2010/main" val="242488184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2"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right)">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down)">
                                      <p:cBhvr>
                                        <p:cTn id="15" dur="500"/>
                                        <p:tgtEl>
                                          <p:spTgt spid="16"/>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wipe(left)">
                                      <p:cBhvr>
                                        <p:cTn id="18" dur="500"/>
                                        <p:tgtEl>
                                          <p:spTgt spid="21"/>
                                        </p:tgtEl>
                                      </p:cBhvr>
                                    </p:animEffect>
                                  </p:childTnLst>
                                </p:cTn>
                              </p:par>
                            </p:childTnLst>
                          </p:cTn>
                        </p:par>
                        <p:par>
                          <p:cTn id="19" fill="hold">
                            <p:stCondLst>
                              <p:cond delay="500"/>
                            </p:stCondLst>
                            <p:childTnLst>
                              <p:par>
                                <p:cTn id="20" presetID="22" presetClass="entr" presetSubtype="8" fill="hold"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par>
                          <p:cTn id="23" fill="hold">
                            <p:stCondLst>
                              <p:cond delay="1000"/>
                            </p:stCondLst>
                            <p:childTnLst>
                              <p:par>
                                <p:cTn id="24" presetID="22" presetClass="entr" presetSubtype="1" fill="hold"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up)">
                                      <p:cBhvr>
                                        <p:cTn id="26" dur="500"/>
                                        <p:tgtEl>
                                          <p:spTgt spid="6"/>
                                        </p:tgtEl>
                                      </p:cBhvr>
                                    </p:animEffect>
                                  </p:childTnLst>
                                </p:cTn>
                              </p:par>
                            </p:childTnLst>
                          </p:cTn>
                        </p:par>
                        <p:par>
                          <p:cTn id="27" fill="hold">
                            <p:stCondLst>
                              <p:cond delay="1500"/>
                            </p:stCondLst>
                            <p:childTnLst>
                              <p:par>
                                <p:cTn id="28" presetID="22" presetClass="entr" presetSubtype="2" fill="hold" nodeType="after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wipe(right)">
                                      <p:cBhvr>
                                        <p:cTn id="30" dur="500"/>
                                        <p:tgtEl>
                                          <p:spTgt spid="1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down)">
                                      <p:cBhvr>
                                        <p:cTn id="35" dur="500"/>
                                        <p:tgtEl>
                                          <p:spTgt spid="25"/>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wipe(left)">
                                      <p:cBhvr>
                                        <p:cTn id="38" dur="500"/>
                                        <p:tgtEl>
                                          <p:spTgt spid="26"/>
                                        </p:tgtEl>
                                      </p:cBhvr>
                                    </p:animEffect>
                                  </p:childTnLst>
                                </p:cTn>
                              </p:par>
                            </p:childTnLst>
                          </p:cTn>
                        </p:par>
                        <p:par>
                          <p:cTn id="39" fill="hold">
                            <p:stCondLst>
                              <p:cond delay="500"/>
                            </p:stCondLst>
                            <p:childTnLst>
                              <p:par>
                                <p:cTn id="40" presetID="22" presetClass="entr" presetSubtype="8" fill="hold" nodeType="after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par>
                          <p:cTn id="43" fill="hold">
                            <p:stCondLst>
                              <p:cond delay="1000"/>
                            </p:stCondLst>
                            <p:childTnLst>
                              <p:par>
                                <p:cTn id="44" presetID="22" presetClass="entr" presetSubtype="1" fill="hold" nodeType="after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wipe(up)">
                                      <p:cBhvr>
                                        <p:cTn id="46" dur="500"/>
                                        <p:tgtEl>
                                          <p:spTgt spid="23"/>
                                        </p:tgtEl>
                                      </p:cBhvr>
                                    </p:animEffect>
                                  </p:childTnLst>
                                </p:cTn>
                              </p:par>
                            </p:childTnLst>
                          </p:cTn>
                        </p:par>
                        <p:par>
                          <p:cTn id="47" fill="hold">
                            <p:stCondLst>
                              <p:cond delay="1500"/>
                            </p:stCondLst>
                            <p:childTnLst>
                              <p:par>
                                <p:cTn id="48" presetID="22" presetClass="entr" presetSubtype="2" fill="hold" nodeType="after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wipe(right)">
                                      <p:cBhvr>
                                        <p:cTn id="50" dur="500"/>
                                        <p:tgtEl>
                                          <p:spTgt spid="24"/>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wipe(down)">
                                      <p:cBhvr>
                                        <p:cTn id="55" dur="500"/>
                                        <p:tgtEl>
                                          <p:spTgt spid="37"/>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wipe(left)">
                                      <p:cBhvr>
                                        <p:cTn id="58" dur="500"/>
                                        <p:tgtEl>
                                          <p:spTgt spid="30"/>
                                        </p:tgtEl>
                                      </p:cBhvr>
                                    </p:animEffect>
                                  </p:childTnLst>
                                </p:cTn>
                              </p:par>
                            </p:childTnLst>
                          </p:cTn>
                        </p:par>
                        <p:par>
                          <p:cTn id="59" fill="hold">
                            <p:stCondLst>
                              <p:cond delay="500"/>
                            </p:stCondLst>
                            <p:childTnLst>
                              <p:par>
                                <p:cTn id="60" presetID="22" presetClass="entr" presetSubtype="8" fill="hold" nodeType="after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wipe(left)">
                                      <p:cBhvr>
                                        <p:cTn id="62" dur="500"/>
                                        <p:tgtEl>
                                          <p:spTgt spid="31"/>
                                        </p:tgtEl>
                                      </p:cBhvr>
                                    </p:animEffect>
                                  </p:childTnLst>
                                </p:cTn>
                              </p:par>
                            </p:childTnLst>
                          </p:cTn>
                        </p:par>
                        <p:par>
                          <p:cTn id="63" fill="hold">
                            <p:stCondLst>
                              <p:cond delay="1000"/>
                            </p:stCondLst>
                            <p:childTnLst>
                              <p:par>
                                <p:cTn id="64" presetID="22" presetClass="entr" presetSubtype="1" fill="hold" nodeType="after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wipe(up)">
                                      <p:cBhvr>
                                        <p:cTn id="66" dur="500"/>
                                        <p:tgtEl>
                                          <p:spTgt spid="32"/>
                                        </p:tgtEl>
                                      </p:cBhvr>
                                    </p:animEffect>
                                  </p:childTnLst>
                                </p:cTn>
                              </p:par>
                            </p:childTnLst>
                          </p:cTn>
                        </p:par>
                        <p:par>
                          <p:cTn id="67" fill="hold">
                            <p:stCondLst>
                              <p:cond delay="1500"/>
                            </p:stCondLst>
                            <p:childTnLst>
                              <p:par>
                                <p:cTn id="68" presetID="22" presetClass="entr" presetSubtype="2" fill="hold" nodeType="after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wipe(right)">
                                      <p:cBhvr>
                                        <p:cTn id="7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 grpId="0" animBg="1"/>
      <p:bldP spid="21" grpId="0" animBg="1"/>
      <p:bldP spid="25" grpId="0" animBg="1"/>
      <p:bldP spid="26" grpId="0" animBg="1"/>
      <p:bldP spid="30" grpId="0" animBg="1"/>
      <p:bldP spid="3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rmAutofit/>
          </a:bodyPr>
          <a:lstStyle/>
          <a:p>
            <a:fld id="{125A1C68-F048-4C66-8544-2D3BD35A5879}" type="slidenum">
              <a:rPr lang="en-US" smtClean="0"/>
              <a:pPr/>
              <a:t>7</a:t>
            </a:fld>
            <a:endParaRPr lang="en-US"/>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 The </a:t>
            </a:r>
            <a:r>
              <a:rPr lang="en-US" sz="4000" dirty="0">
                <a:solidFill>
                  <a:srgbClr val="00B0F0"/>
                </a:solidFill>
                <a:latin typeface="Tahoma" charset="0"/>
                <a:cs typeface="Arial" charset="0"/>
              </a:rPr>
              <a:t>switch </a:t>
            </a:r>
            <a:r>
              <a:rPr lang="en-US" sz="4000" dirty="0">
                <a:solidFill>
                  <a:schemeClr val="accent2"/>
                </a:solidFill>
                <a:latin typeface="Tahoma" charset="0"/>
                <a:cs typeface="Arial" charset="0"/>
              </a:rPr>
              <a:t>Statement</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1 – with nested if</a:t>
            </a: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179512" y="1412776"/>
            <a:ext cx="8784976" cy="4893647"/>
            <a:chOff x="323528" y="1236822"/>
            <a:chExt cx="7848872" cy="4734969"/>
          </a:xfrm>
        </p:grpSpPr>
        <p:sp>
          <p:nvSpPr>
            <p:cNvPr id="13" name="TextBox 12"/>
            <p:cNvSpPr txBox="1"/>
            <p:nvPr/>
          </p:nvSpPr>
          <p:spPr>
            <a:xfrm>
              <a:off x="971600" y="1236822"/>
              <a:ext cx="7200800" cy="4734969"/>
            </a:xfrm>
            <a:prstGeom prst="rect">
              <a:avLst/>
            </a:prstGeom>
            <a:solidFill>
              <a:schemeClr val="bg2"/>
            </a:solidFill>
            <a:ln w="28575" cap="rnd" cmpd="thickThin">
              <a:solidFill>
                <a:srgbClr val="0000FF"/>
              </a:solidFill>
            </a:ln>
          </p:spPr>
          <p:txBody>
            <a:bodyPr wrap="square" rtlCol="0">
              <a:spAutoFit/>
            </a:bodyPr>
            <a:lstStyle/>
            <a:p>
              <a:r>
                <a:rPr lang="en-US" sz="1200" dirty="0">
                  <a:solidFill>
                    <a:srgbClr val="00B0F0"/>
                  </a:solidFill>
                </a:rPr>
                <a:t>public static void </a:t>
              </a:r>
              <a:r>
                <a:rPr lang="en-US" sz="1200" dirty="0">
                  <a:solidFill>
                    <a:srgbClr val="0000FF"/>
                  </a:solidFill>
                </a:rPr>
                <a:t>main (String[] </a:t>
              </a:r>
              <a:r>
                <a:rPr lang="en-US" sz="1200" dirty="0" err="1">
                  <a:solidFill>
                    <a:srgbClr val="0000FF"/>
                  </a:solidFill>
                </a:rPr>
                <a:t>args</a:t>
              </a:r>
              <a:r>
                <a:rPr lang="en-US" sz="1200" dirty="0">
                  <a:solidFill>
                    <a:srgbClr val="0000FF"/>
                  </a:solidFill>
                </a:rPr>
                <a:t>)</a:t>
              </a:r>
            </a:p>
            <a:p>
              <a:r>
                <a:rPr lang="en-US" sz="1200" dirty="0">
                  <a:solidFill>
                    <a:srgbClr val="0000FF"/>
                  </a:solidFill>
                </a:rPr>
                <a:t>{</a:t>
              </a:r>
            </a:p>
            <a:p>
              <a:r>
                <a:rPr lang="en-US" sz="1200" dirty="0"/>
                <a:t>   //Declaration section</a:t>
              </a:r>
            </a:p>
            <a:p>
              <a:r>
                <a:rPr lang="en-US" sz="1200" dirty="0">
                  <a:solidFill>
                    <a:srgbClr val="0000FF"/>
                  </a:solidFill>
                </a:rPr>
                <a:t>   Scanner read = </a:t>
              </a:r>
              <a:r>
                <a:rPr lang="en-US" sz="1200" dirty="0">
                  <a:solidFill>
                    <a:srgbClr val="00B0F0"/>
                  </a:solidFill>
                </a:rPr>
                <a:t>new </a:t>
              </a:r>
              <a:r>
                <a:rPr lang="en-US" sz="1200" dirty="0">
                  <a:solidFill>
                    <a:srgbClr val="0000FF"/>
                  </a:solidFill>
                </a:rPr>
                <a:t>Scanner (System.in);</a:t>
              </a:r>
            </a:p>
            <a:p>
              <a:r>
                <a:rPr lang="en-US" sz="1200" dirty="0">
                  <a:solidFill>
                    <a:srgbClr val="0000FF"/>
                  </a:solidFill>
                </a:rPr>
                <a:t>   </a:t>
              </a:r>
              <a:r>
                <a:rPr lang="en-US" sz="1200" dirty="0">
                  <a:solidFill>
                    <a:srgbClr val="00B0F0"/>
                  </a:solidFill>
                </a:rPr>
                <a:t>char </a:t>
              </a:r>
              <a:r>
                <a:rPr lang="en-US" sz="1200" dirty="0">
                  <a:solidFill>
                    <a:srgbClr val="0000FF"/>
                  </a:solidFill>
                </a:rPr>
                <a:t>grade;</a:t>
              </a:r>
            </a:p>
            <a:p>
              <a:r>
                <a:rPr lang="en-US" sz="1200" dirty="0">
                  <a:solidFill>
                    <a:srgbClr val="0000FF"/>
                  </a:solidFill>
                </a:rPr>
                <a:t>   </a:t>
              </a:r>
              <a:r>
                <a:rPr lang="en-US" sz="1200" dirty="0">
                  <a:solidFill>
                    <a:srgbClr val="00B0F0"/>
                  </a:solidFill>
                </a:rPr>
                <a:t>String </a:t>
              </a:r>
              <a:r>
                <a:rPr lang="en-US" sz="1200" dirty="0">
                  <a:solidFill>
                    <a:srgbClr val="0000FF"/>
                  </a:solidFill>
                </a:rPr>
                <a:t>message;</a:t>
              </a:r>
            </a:p>
            <a:p>
              <a:r>
                <a:rPr lang="en-US" sz="1200" dirty="0"/>
                <a:t>   //input section</a:t>
              </a:r>
            </a:p>
            <a:p>
              <a:r>
                <a:rPr lang="en-US" sz="1200" dirty="0">
                  <a:solidFill>
                    <a:srgbClr val="0000FF"/>
                  </a:solidFill>
                </a:rPr>
                <a:t>   grade = </a:t>
              </a:r>
              <a:r>
                <a:rPr lang="en-US" sz="1200" dirty="0" err="1">
                  <a:solidFill>
                    <a:srgbClr val="0000FF"/>
                  </a:solidFill>
                </a:rPr>
                <a:t>read.</a:t>
              </a:r>
              <a:r>
                <a:rPr lang="en-US" sz="1200" dirty="0" err="1">
                  <a:solidFill>
                    <a:srgbClr val="00B050"/>
                  </a:solidFill>
                </a:rPr>
                <a:t>next</a:t>
              </a:r>
              <a:r>
                <a:rPr lang="en-US" sz="1200" dirty="0">
                  <a:solidFill>
                    <a:srgbClr val="00B050"/>
                  </a:solidFill>
                </a:rPr>
                <a:t>().</a:t>
              </a:r>
              <a:r>
                <a:rPr lang="en-US" sz="1200" dirty="0" err="1">
                  <a:solidFill>
                    <a:srgbClr val="00B050"/>
                  </a:solidFill>
                </a:rPr>
                <a:t>charAt</a:t>
              </a:r>
              <a:r>
                <a:rPr lang="en-US" sz="1200" dirty="0">
                  <a:solidFill>
                    <a:srgbClr val="00B050"/>
                  </a:solidFill>
                </a:rPr>
                <a:t>(0)</a:t>
              </a:r>
              <a:r>
                <a:rPr lang="en-US" sz="1200" dirty="0">
                  <a:solidFill>
                    <a:srgbClr val="0000FF"/>
                  </a:solidFill>
                </a:rPr>
                <a:t>;</a:t>
              </a:r>
            </a:p>
            <a:p>
              <a:r>
                <a:rPr lang="en-US" sz="1200" dirty="0"/>
                <a:t>   //processing section</a:t>
              </a:r>
            </a:p>
            <a:p>
              <a:r>
                <a:rPr lang="en-US" sz="1200" dirty="0">
                  <a:solidFill>
                    <a:srgbClr val="0000FF"/>
                  </a:solidFill>
                </a:rPr>
                <a:t>   </a:t>
              </a:r>
              <a:r>
                <a:rPr lang="en-US" sz="1200" dirty="0">
                  <a:solidFill>
                    <a:srgbClr val="00B0F0"/>
                  </a:solidFill>
                </a:rPr>
                <a:t>switch </a:t>
              </a:r>
              <a:r>
                <a:rPr lang="en-US" sz="1200" dirty="0">
                  <a:solidFill>
                    <a:srgbClr val="0000FF"/>
                  </a:solidFill>
                </a:rPr>
                <a:t>(grade)</a:t>
              </a:r>
            </a:p>
            <a:p>
              <a:r>
                <a:rPr lang="en-US" sz="1200" dirty="0">
                  <a:solidFill>
                    <a:srgbClr val="0000FF"/>
                  </a:solidFill>
                </a:rPr>
                <a:t>   {</a:t>
              </a:r>
            </a:p>
            <a:p>
              <a:r>
                <a:rPr lang="en-US" sz="1200" dirty="0">
                  <a:solidFill>
                    <a:srgbClr val="0000FF"/>
                  </a:solidFill>
                </a:rPr>
                <a:t>      </a:t>
              </a:r>
              <a:r>
                <a:rPr lang="en-US" sz="1200" dirty="0">
                  <a:solidFill>
                    <a:srgbClr val="00B0F0"/>
                  </a:solidFill>
                </a:rPr>
                <a:t>case </a:t>
              </a:r>
              <a:r>
                <a:rPr lang="en-US" sz="1200" dirty="0">
                  <a:solidFill>
                    <a:srgbClr val="0000FF"/>
                  </a:solidFill>
                </a:rPr>
                <a:t>‘A’: message = “Excellent”;</a:t>
              </a:r>
            </a:p>
            <a:p>
              <a:r>
                <a:rPr lang="en-US" sz="1200" dirty="0">
                  <a:solidFill>
                    <a:srgbClr val="0000FF"/>
                  </a:solidFill>
                </a:rPr>
                <a:t>  	    </a:t>
              </a:r>
              <a:r>
                <a:rPr lang="en-US" sz="1200" dirty="0">
                  <a:solidFill>
                    <a:srgbClr val="00B0F0"/>
                  </a:solidFill>
                </a:rPr>
                <a:t>break</a:t>
              </a:r>
              <a:r>
                <a:rPr lang="en-US" sz="1200" dirty="0">
                  <a:solidFill>
                    <a:srgbClr val="0000FF"/>
                  </a:solidFill>
                </a:rPr>
                <a:t>;</a:t>
              </a:r>
            </a:p>
            <a:p>
              <a:r>
                <a:rPr lang="en-US" sz="1200" dirty="0">
                  <a:solidFill>
                    <a:srgbClr val="0000FF"/>
                  </a:solidFill>
                </a:rPr>
                <a:t>      </a:t>
              </a:r>
              <a:r>
                <a:rPr lang="en-US" sz="1200" dirty="0">
                  <a:solidFill>
                    <a:srgbClr val="00B0F0"/>
                  </a:solidFill>
                </a:rPr>
                <a:t>case </a:t>
              </a:r>
              <a:r>
                <a:rPr lang="en-US" sz="1200" dirty="0">
                  <a:solidFill>
                    <a:srgbClr val="0000FF"/>
                  </a:solidFill>
                </a:rPr>
                <a:t>‘B’: message = “Very Good”;</a:t>
              </a:r>
            </a:p>
            <a:p>
              <a:r>
                <a:rPr lang="en-US" sz="1200" dirty="0">
                  <a:solidFill>
                    <a:srgbClr val="0000FF"/>
                  </a:solidFill>
                </a:rPr>
                <a:t>	   </a:t>
              </a:r>
              <a:r>
                <a:rPr lang="en-US" sz="1200" dirty="0">
                  <a:solidFill>
                    <a:srgbClr val="00B0F0"/>
                  </a:solidFill>
                </a:rPr>
                <a:t>break</a:t>
              </a:r>
              <a:r>
                <a:rPr lang="en-US" sz="1200" dirty="0">
                  <a:solidFill>
                    <a:srgbClr val="0000FF"/>
                  </a:solidFill>
                </a:rPr>
                <a:t>;</a:t>
              </a:r>
            </a:p>
            <a:p>
              <a:r>
                <a:rPr lang="en-US" sz="1200" dirty="0">
                  <a:solidFill>
                    <a:srgbClr val="0000FF"/>
                  </a:solidFill>
                </a:rPr>
                <a:t>      </a:t>
              </a:r>
              <a:r>
                <a:rPr lang="en-US" sz="1200" dirty="0">
                  <a:solidFill>
                    <a:srgbClr val="00B0F0"/>
                  </a:solidFill>
                </a:rPr>
                <a:t>case </a:t>
              </a:r>
              <a:r>
                <a:rPr lang="en-US" sz="1200" dirty="0">
                  <a:solidFill>
                    <a:srgbClr val="0000FF"/>
                  </a:solidFill>
                </a:rPr>
                <a:t>‘C’: message = “Good”;</a:t>
              </a:r>
            </a:p>
            <a:p>
              <a:r>
                <a:rPr lang="en-US" sz="1200" dirty="0">
                  <a:solidFill>
                    <a:srgbClr val="0000FF"/>
                  </a:solidFill>
                </a:rPr>
                <a:t>	   </a:t>
              </a:r>
              <a:r>
                <a:rPr lang="en-US" sz="1200" dirty="0">
                  <a:solidFill>
                    <a:srgbClr val="00B0F0"/>
                  </a:solidFill>
                </a:rPr>
                <a:t>break</a:t>
              </a:r>
              <a:r>
                <a:rPr lang="en-US" sz="1200" dirty="0">
                  <a:solidFill>
                    <a:srgbClr val="0000FF"/>
                  </a:solidFill>
                </a:rPr>
                <a:t>;</a:t>
              </a:r>
            </a:p>
            <a:p>
              <a:r>
                <a:rPr lang="en-US" sz="1200" dirty="0">
                  <a:solidFill>
                    <a:srgbClr val="0000FF"/>
                  </a:solidFill>
                </a:rPr>
                <a:t>      </a:t>
              </a:r>
              <a:r>
                <a:rPr lang="en-US" sz="1200" dirty="0">
                  <a:solidFill>
                    <a:srgbClr val="00B0F0"/>
                  </a:solidFill>
                </a:rPr>
                <a:t>case </a:t>
              </a:r>
              <a:r>
                <a:rPr lang="en-US" sz="1200" dirty="0">
                  <a:solidFill>
                    <a:srgbClr val="0000FF"/>
                  </a:solidFill>
                </a:rPr>
                <a:t>‘D’: message = “Fair”;</a:t>
              </a:r>
            </a:p>
            <a:p>
              <a:r>
                <a:rPr lang="en-US" sz="1200" dirty="0">
                  <a:solidFill>
                    <a:srgbClr val="0000FF"/>
                  </a:solidFill>
                </a:rPr>
                <a:t>	   </a:t>
              </a:r>
              <a:r>
                <a:rPr lang="en-US" sz="1200" dirty="0">
                  <a:solidFill>
                    <a:srgbClr val="00B0F0"/>
                  </a:solidFill>
                </a:rPr>
                <a:t>break</a:t>
              </a:r>
              <a:r>
                <a:rPr lang="en-US" sz="1200" dirty="0">
                  <a:solidFill>
                    <a:srgbClr val="0000FF"/>
                  </a:solidFill>
                </a:rPr>
                <a:t>;</a:t>
              </a:r>
            </a:p>
            <a:p>
              <a:r>
                <a:rPr lang="en-US" sz="1200" dirty="0">
                  <a:solidFill>
                    <a:srgbClr val="0000FF"/>
                  </a:solidFill>
                </a:rPr>
                <a:t>      </a:t>
              </a:r>
              <a:r>
                <a:rPr lang="en-US" sz="1200" dirty="0">
                  <a:solidFill>
                    <a:srgbClr val="00B0F0"/>
                  </a:solidFill>
                </a:rPr>
                <a:t>case </a:t>
              </a:r>
              <a:r>
                <a:rPr lang="en-US" sz="1200" dirty="0">
                  <a:solidFill>
                    <a:srgbClr val="0000FF"/>
                  </a:solidFill>
                </a:rPr>
                <a:t>‘F’: message = “Failed”;</a:t>
              </a:r>
            </a:p>
            <a:p>
              <a:r>
                <a:rPr lang="en-US" sz="1200" dirty="0">
                  <a:solidFill>
                    <a:srgbClr val="0000FF"/>
                  </a:solidFill>
                </a:rPr>
                <a:t>	   </a:t>
              </a:r>
              <a:r>
                <a:rPr lang="en-US" sz="1200" dirty="0">
                  <a:solidFill>
                    <a:srgbClr val="00B0F0"/>
                  </a:solidFill>
                </a:rPr>
                <a:t>break</a:t>
              </a:r>
              <a:r>
                <a:rPr lang="en-US" sz="1200" dirty="0">
                  <a:solidFill>
                    <a:srgbClr val="0000FF"/>
                  </a:solidFill>
                </a:rPr>
                <a:t>;</a:t>
              </a:r>
            </a:p>
            <a:p>
              <a:r>
                <a:rPr lang="en-US" sz="1200" dirty="0">
                  <a:solidFill>
                    <a:srgbClr val="0000FF"/>
                  </a:solidFill>
                </a:rPr>
                <a:t>      </a:t>
              </a:r>
              <a:r>
                <a:rPr lang="en-US" sz="1200" dirty="0">
                  <a:solidFill>
                    <a:srgbClr val="00B0F0"/>
                  </a:solidFill>
                </a:rPr>
                <a:t>default</a:t>
              </a:r>
              <a:r>
                <a:rPr lang="en-US" sz="1200" dirty="0">
                  <a:solidFill>
                    <a:srgbClr val="0000FF"/>
                  </a:solidFill>
                </a:rPr>
                <a:t>: message =“The grade is invalid”;</a:t>
              </a:r>
            </a:p>
            <a:p>
              <a:r>
                <a:rPr lang="en-US" sz="1200" dirty="0">
                  <a:solidFill>
                    <a:srgbClr val="0000FF"/>
                  </a:solidFill>
                </a:rPr>
                <a:t>   } </a:t>
              </a:r>
              <a:r>
                <a:rPr lang="en-US" sz="1200" dirty="0">
                  <a:solidFill>
                    <a:srgbClr val="00B050"/>
                  </a:solidFill>
                </a:rPr>
                <a:t>//end switch</a:t>
              </a:r>
            </a:p>
            <a:p>
              <a:r>
                <a:rPr lang="en-US" sz="1200" dirty="0"/>
                <a:t>   //output section</a:t>
              </a:r>
            </a:p>
            <a:p>
              <a:r>
                <a:rPr lang="en-US" sz="1200" dirty="0">
                  <a:solidFill>
                    <a:srgbClr val="0000FF"/>
                  </a:solidFill>
                </a:rPr>
                <a:t>   </a:t>
              </a:r>
              <a:r>
                <a:rPr lang="en-US" sz="1200" dirty="0" err="1">
                  <a:solidFill>
                    <a:srgbClr val="0000FF"/>
                  </a:solidFill>
                </a:rPr>
                <a:t>System.out.println</a:t>
              </a:r>
              <a:r>
                <a:rPr lang="en-US" sz="1200" dirty="0">
                  <a:solidFill>
                    <a:srgbClr val="0000FF"/>
                  </a:solidFill>
                </a:rPr>
                <a:t> (message);</a:t>
              </a:r>
            </a:p>
            <a:p>
              <a:r>
                <a:rPr lang="en-US" sz="1200" dirty="0">
                  <a:solidFill>
                    <a:srgbClr val="0000FF"/>
                  </a:solidFill>
                </a:rPr>
                <a:t>} </a:t>
              </a:r>
              <a:r>
                <a:rPr lang="en-US" sz="1200" dirty="0">
                  <a:solidFill>
                    <a:srgbClr val="00B050"/>
                  </a:solidFill>
                </a:rPr>
                <a:t>//end main</a:t>
              </a:r>
            </a:p>
          </p:txBody>
        </p:sp>
        <p:sp>
          <p:nvSpPr>
            <p:cNvPr id="14" name="TextBox 13"/>
            <p:cNvSpPr txBox="1"/>
            <p:nvPr/>
          </p:nvSpPr>
          <p:spPr>
            <a:xfrm>
              <a:off x="323528" y="1236822"/>
              <a:ext cx="576064" cy="4734969"/>
            </a:xfrm>
            <a:prstGeom prst="rect">
              <a:avLst/>
            </a:prstGeom>
            <a:noFill/>
          </p:spPr>
          <p:txBody>
            <a:bodyPr wrap="square" rtlCol="0">
              <a:spAutoFit/>
            </a:bodyPr>
            <a:lstStyle/>
            <a:p>
              <a:pPr algn="r"/>
              <a:r>
                <a:rPr lang="en-US" sz="1200" dirty="0">
                  <a:solidFill>
                    <a:srgbClr val="FF0000"/>
                  </a:solidFill>
                </a:rPr>
                <a:t>1</a:t>
              </a:r>
            </a:p>
            <a:p>
              <a:pPr algn="r"/>
              <a:r>
                <a:rPr lang="en-US" sz="1200" dirty="0">
                  <a:solidFill>
                    <a:srgbClr val="FF0000"/>
                  </a:solidFill>
                </a:rPr>
                <a:t>2</a:t>
              </a:r>
            </a:p>
            <a:p>
              <a:pPr algn="r"/>
              <a:r>
                <a:rPr lang="en-US" sz="1200" dirty="0">
                  <a:solidFill>
                    <a:srgbClr val="FF0000"/>
                  </a:solidFill>
                </a:rPr>
                <a:t>3</a:t>
              </a:r>
            </a:p>
            <a:p>
              <a:pPr algn="r"/>
              <a:r>
                <a:rPr lang="en-US" sz="1200" dirty="0">
                  <a:solidFill>
                    <a:srgbClr val="FF0000"/>
                  </a:solidFill>
                </a:rPr>
                <a:t>4</a:t>
              </a:r>
            </a:p>
            <a:p>
              <a:pPr algn="r"/>
              <a:r>
                <a:rPr lang="en-US" sz="1200" dirty="0">
                  <a:solidFill>
                    <a:srgbClr val="FF0000"/>
                  </a:solidFill>
                </a:rPr>
                <a:t>5</a:t>
              </a:r>
            </a:p>
            <a:p>
              <a:pPr algn="r"/>
              <a:r>
                <a:rPr lang="en-US" sz="1200" dirty="0">
                  <a:solidFill>
                    <a:srgbClr val="FF0000"/>
                  </a:solidFill>
                </a:rPr>
                <a:t>6</a:t>
              </a:r>
            </a:p>
            <a:p>
              <a:pPr algn="r"/>
              <a:r>
                <a:rPr lang="en-US" sz="1200" dirty="0">
                  <a:solidFill>
                    <a:srgbClr val="FF0000"/>
                  </a:solidFill>
                </a:rPr>
                <a:t>7</a:t>
              </a:r>
            </a:p>
            <a:p>
              <a:pPr algn="r"/>
              <a:r>
                <a:rPr lang="en-US" sz="1200" dirty="0">
                  <a:solidFill>
                    <a:srgbClr val="FF0000"/>
                  </a:solidFill>
                </a:rPr>
                <a:t>8</a:t>
              </a:r>
            </a:p>
            <a:p>
              <a:pPr algn="r"/>
              <a:r>
                <a:rPr lang="en-US" sz="1200" dirty="0">
                  <a:solidFill>
                    <a:srgbClr val="FF0000"/>
                  </a:solidFill>
                </a:rPr>
                <a:t>9</a:t>
              </a:r>
            </a:p>
            <a:p>
              <a:pPr algn="r"/>
              <a:r>
                <a:rPr lang="en-US" sz="1200" dirty="0">
                  <a:solidFill>
                    <a:srgbClr val="FF0000"/>
                  </a:solidFill>
                </a:rPr>
                <a:t>10</a:t>
              </a:r>
            </a:p>
            <a:p>
              <a:pPr algn="r"/>
              <a:r>
                <a:rPr lang="en-US" sz="1200" dirty="0">
                  <a:solidFill>
                    <a:srgbClr val="FF0000"/>
                  </a:solidFill>
                </a:rPr>
                <a:t>11</a:t>
              </a:r>
            </a:p>
            <a:p>
              <a:pPr algn="r"/>
              <a:r>
                <a:rPr lang="en-US" sz="1200" dirty="0">
                  <a:solidFill>
                    <a:srgbClr val="FF0000"/>
                  </a:solidFill>
                </a:rPr>
                <a:t>12</a:t>
              </a:r>
            </a:p>
            <a:p>
              <a:pPr algn="r"/>
              <a:r>
                <a:rPr lang="en-US" sz="1200" dirty="0">
                  <a:solidFill>
                    <a:srgbClr val="FF0000"/>
                  </a:solidFill>
                </a:rPr>
                <a:t>13</a:t>
              </a:r>
            </a:p>
            <a:p>
              <a:pPr algn="r"/>
              <a:r>
                <a:rPr lang="en-US" sz="1200" dirty="0">
                  <a:solidFill>
                    <a:srgbClr val="FF0000"/>
                  </a:solidFill>
                </a:rPr>
                <a:t>14</a:t>
              </a:r>
            </a:p>
            <a:p>
              <a:pPr algn="r"/>
              <a:r>
                <a:rPr lang="en-US" sz="1200" dirty="0">
                  <a:solidFill>
                    <a:srgbClr val="FF0000"/>
                  </a:solidFill>
                </a:rPr>
                <a:t>15</a:t>
              </a:r>
            </a:p>
            <a:p>
              <a:pPr algn="r"/>
              <a:r>
                <a:rPr lang="en-US" sz="1200" dirty="0">
                  <a:solidFill>
                    <a:srgbClr val="FF0000"/>
                  </a:solidFill>
                </a:rPr>
                <a:t>16</a:t>
              </a:r>
            </a:p>
            <a:p>
              <a:pPr algn="r"/>
              <a:r>
                <a:rPr lang="en-US" sz="1200" dirty="0">
                  <a:solidFill>
                    <a:srgbClr val="FF0000"/>
                  </a:solidFill>
                </a:rPr>
                <a:t>17</a:t>
              </a:r>
            </a:p>
            <a:p>
              <a:pPr algn="r"/>
              <a:r>
                <a:rPr lang="en-US" sz="1200" dirty="0">
                  <a:solidFill>
                    <a:srgbClr val="FF0000"/>
                  </a:solidFill>
                </a:rPr>
                <a:t>18</a:t>
              </a:r>
            </a:p>
            <a:p>
              <a:pPr algn="r"/>
              <a:r>
                <a:rPr lang="en-US" sz="1200" dirty="0">
                  <a:solidFill>
                    <a:srgbClr val="FF0000"/>
                  </a:solidFill>
                </a:rPr>
                <a:t>19</a:t>
              </a:r>
            </a:p>
            <a:p>
              <a:pPr algn="r"/>
              <a:r>
                <a:rPr lang="en-US" sz="1200" dirty="0">
                  <a:solidFill>
                    <a:srgbClr val="FF0000"/>
                  </a:solidFill>
                </a:rPr>
                <a:t>20</a:t>
              </a:r>
            </a:p>
            <a:p>
              <a:pPr algn="r"/>
              <a:r>
                <a:rPr lang="en-US" sz="1200" dirty="0">
                  <a:solidFill>
                    <a:srgbClr val="FF0000"/>
                  </a:solidFill>
                </a:rPr>
                <a:t>21</a:t>
              </a:r>
            </a:p>
            <a:p>
              <a:pPr algn="r"/>
              <a:r>
                <a:rPr lang="en-US" sz="1200" dirty="0">
                  <a:solidFill>
                    <a:srgbClr val="FF0000"/>
                  </a:solidFill>
                </a:rPr>
                <a:t>22</a:t>
              </a:r>
            </a:p>
            <a:p>
              <a:pPr algn="r"/>
              <a:r>
                <a:rPr lang="en-US" sz="1200" dirty="0">
                  <a:solidFill>
                    <a:srgbClr val="FF0000"/>
                  </a:solidFill>
                </a:rPr>
                <a:t>23</a:t>
              </a:r>
            </a:p>
            <a:p>
              <a:pPr algn="r"/>
              <a:r>
                <a:rPr lang="en-US" sz="1200" dirty="0">
                  <a:solidFill>
                    <a:srgbClr val="FF0000"/>
                  </a:solidFill>
                </a:rPr>
                <a:t>24</a:t>
              </a:r>
            </a:p>
            <a:p>
              <a:pPr algn="r"/>
              <a:r>
                <a:rPr lang="en-US" sz="1200" dirty="0">
                  <a:solidFill>
                    <a:srgbClr val="FF0000"/>
                  </a:solidFill>
                </a:rPr>
                <a:t>25</a:t>
              </a:r>
            </a:p>
            <a:p>
              <a:pPr algn="r"/>
              <a:r>
                <a:rPr lang="en-US" sz="1200" dirty="0">
                  <a:solidFill>
                    <a:srgbClr val="FF0000"/>
                  </a:solidFill>
                </a:rPr>
                <a:t>26</a:t>
              </a:r>
            </a:p>
          </p:txBody>
        </p:sp>
      </p:grpSp>
      <p:sp>
        <p:nvSpPr>
          <p:cNvPr id="3" name="Rectangle 2"/>
          <p:cNvSpPr/>
          <p:nvPr/>
        </p:nvSpPr>
        <p:spPr>
          <a:xfrm>
            <a:off x="4427984" y="2564904"/>
            <a:ext cx="4392488" cy="39604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t>if (grade == ‘A’)</a:t>
            </a:r>
          </a:p>
          <a:p>
            <a:r>
              <a:rPr lang="en-US" sz="1400" dirty="0"/>
              <a:t>   message = “Excellent”;</a:t>
            </a:r>
          </a:p>
          <a:p>
            <a:r>
              <a:rPr lang="en-US" sz="1400" dirty="0"/>
              <a:t>else</a:t>
            </a:r>
          </a:p>
          <a:p>
            <a:r>
              <a:rPr lang="en-US" sz="1400" dirty="0"/>
              <a:t>   if (grade == ‘B’)</a:t>
            </a:r>
          </a:p>
          <a:p>
            <a:r>
              <a:rPr lang="en-US" sz="1400" dirty="0"/>
              <a:t>      message = “Very Good”;</a:t>
            </a:r>
          </a:p>
          <a:p>
            <a:r>
              <a:rPr lang="en-US" sz="1400" dirty="0"/>
              <a:t>   else</a:t>
            </a:r>
          </a:p>
          <a:p>
            <a:r>
              <a:rPr lang="en-US" sz="1400" dirty="0"/>
              <a:t>       if (grade == ‘C’)</a:t>
            </a:r>
          </a:p>
          <a:p>
            <a:r>
              <a:rPr lang="en-US" sz="1400" dirty="0"/>
              <a:t>          message = “Good”;</a:t>
            </a:r>
          </a:p>
          <a:p>
            <a:r>
              <a:rPr lang="en-US" sz="1400" dirty="0"/>
              <a:t>       else</a:t>
            </a:r>
          </a:p>
          <a:p>
            <a:r>
              <a:rPr lang="en-US" sz="1400" dirty="0"/>
              <a:t>           if (grade == ‘D’)</a:t>
            </a:r>
          </a:p>
          <a:p>
            <a:r>
              <a:rPr lang="en-US" sz="1400" dirty="0"/>
              <a:t>              message = “Fair”;</a:t>
            </a:r>
          </a:p>
          <a:p>
            <a:r>
              <a:rPr lang="en-US" sz="1400" dirty="0"/>
              <a:t>           else</a:t>
            </a:r>
          </a:p>
          <a:p>
            <a:r>
              <a:rPr lang="en-US" sz="1400" dirty="0"/>
              <a:t>              if (grade == ‘F’)</a:t>
            </a:r>
          </a:p>
          <a:p>
            <a:r>
              <a:rPr lang="en-US" sz="1400" dirty="0"/>
              <a:t>                  message = “Fail”;</a:t>
            </a:r>
          </a:p>
          <a:p>
            <a:r>
              <a:rPr lang="en-US" sz="1400" dirty="0"/>
              <a:t>              else</a:t>
            </a:r>
          </a:p>
          <a:p>
            <a:r>
              <a:rPr lang="en-US" sz="1400" dirty="0"/>
              <a:t>                   message = “The grade is invalid”;</a:t>
            </a:r>
          </a:p>
          <a:p>
            <a:r>
              <a:rPr lang="en-US" sz="1400" dirty="0" err="1"/>
              <a:t>System.out.println</a:t>
            </a:r>
            <a:r>
              <a:rPr lang="en-US" sz="1400" dirty="0"/>
              <a:t> (message);</a:t>
            </a:r>
          </a:p>
        </p:txBody>
      </p:sp>
      <p:sp>
        <p:nvSpPr>
          <p:cNvPr id="5" name="Rectangle 4"/>
          <p:cNvSpPr/>
          <p:nvPr/>
        </p:nvSpPr>
        <p:spPr>
          <a:xfrm>
            <a:off x="4427984" y="2132856"/>
            <a:ext cx="4392488" cy="36004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accent1">
                    <a:lumMod val="75000"/>
                  </a:schemeClr>
                </a:solidFill>
              </a:rPr>
              <a:t>Example 1 is equivalent to:</a:t>
            </a:r>
          </a:p>
        </p:txBody>
      </p:sp>
    </p:spTree>
    <p:custDataLst>
      <p:tags r:id="rId1"/>
    </p:custDataLst>
    <p:extLst>
      <p:ext uri="{BB962C8B-B14F-4D97-AF65-F5344CB8AC3E}">
        <p14:creationId xmlns:p14="http://schemas.microsoft.com/office/powerpoint/2010/main" val="6446854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2"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right)">
                                      <p:cBhvr>
                                        <p:cTn id="10" dur="500"/>
                                        <p:tgtEl>
                                          <p:spTgt spid="12"/>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down)">
                                      <p:cBhvr>
                                        <p:cTn id="14" dur="500"/>
                                        <p:tgtEl>
                                          <p:spTgt spid="5"/>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up)">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animBg="1"/>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rmAutofit/>
          </a:bodyPr>
          <a:lstStyle/>
          <a:p>
            <a:fld id="{125A1C68-F048-4C66-8544-2D3BD35A5879}" type="slidenum">
              <a:rPr lang="en-US" smtClean="0"/>
              <a:pPr/>
              <a:t>8</a:t>
            </a:fld>
            <a:endParaRPr lang="en-US"/>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 The </a:t>
            </a:r>
            <a:r>
              <a:rPr lang="en-US" sz="4000" dirty="0">
                <a:solidFill>
                  <a:srgbClr val="00B0F0"/>
                </a:solidFill>
                <a:latin typeface="Tahoma" charset="0"/>
                <a:cs typeface="Arial" charset="0"/>
              </a:rPr>
              <a:t>switch </a:t>
            </a:r>
            <a:r>
              <a:rPr lang="en-US" sz="4000" dirty="0">
                <a:solidFill>
                  <a:schemeClr val="accent2"/>
                </a:solidFill>
                <a:latin typeface="Tahoma" charset="0"/>
                <a:cs typeface="Arial" charset="0"/>
              </a:rPr>
              <a:t>Statement</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2</a:t>
            </a: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11" name="Rounded Rectangle 10"/>
          <p:cNvSpPr/>
          <p:nvPr/>
        </p:nvSpPr>
        <p:spPr>
          <a:xfrm>
            <a:off x="251520" y="1412776"/>
            <a:ext cx="8712968" cy="2664296"/>
          </a:xfrm>
          <a:prstGeom prst="roundRect">
            <a:avLst>
              <a:gd name="adj" fmla="val 4976"/>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dirty="0"/>
              <a:t>Write a program that displays the following menu, then acts accordingly:</a:t>
            </a:r>
          </a:p>
          <a:p>
            <a:endParaRPr lang="en-US" i="1" dirty="0"/>
          </a:p>
          <a:p>
            <a:r>
              <a:rPr lang="en-US" b="1" i="1" dirty="0">
                <a:solidFill>
                  <a:srgbClr val="FFFF00"/>
                </a:solidFill>
              </a:rPr>
              <a:t>Enter your choice:</a:t>
            </a:r>
          </a:p>
          <a:p>
            <a:pPr marL="342900" indent="-342900">
              <a:buAutoNum type="arabicPeriod"/>
            </a:pPr>
            <a:r>
              <a:rPr lang="en-US" b="1" i="1" dirty="0">
                <a:solidFill>
                  <a:srgbClr val="FFFF00"/>
                </a:solidFill>
              </a:rPr>
              <a:t>Add two positive numbers</a:t>
            </a:r>
          </a:p>
          <a:p>
            <a:pPr marL="342900" indent="-342900">
              <a:buAutoNum type="arabicPeriod"/>
            </a:pPr>
            <a:r>
              <a:rPr lang="en-US" b="1" i="1" dirty="0">
                <a:solidFill>
                  <a:srgbClr val="FFFF00"/>
                </a:solidFill>
              </a:rPr>
              <a:t>Get the double of a positive number</a:t>
            </a:r>
          </a:p>
          <a:p>
            <a:pPr marL="342900" indent="-342900">
              <a:buAutoNum type="arabicPeriod"/>
            </a:pPr>
            <a:r>
              <a:rPr lang="en-US" b="1" i="1" dirty="0">
                <a:solidFill>
                  <a:srgbClr val="FFFF00"/>
                </a:solidFill>
              </a:rPr>
              <a:t>Get the square of a number</a:t>
            </a:r>
          </a:p>
          <a:p>
            <a:endParaRPr lang="en-US" i="1" dirty="0"/>
          </a:p>
          <a:p>
            <a:r>
              <a:rPr lang="en-US" dirty="0"/>
              <a:t>The program should give an error message for invalid inputs.</a:t>
            </a:r>
          </a:p>
        </p:txBody>
      </p:sp>
    </p:spTree>
    <p:custDataLst>
      <p:tags r:id="rId1"/>
    </p:custDataLst>
    <p:extLst>
      <p:ext uri="{BB962C8B-B14F-4D97-AF65-F5344CB8AC3E}">
        <p14:creationId xmlns:p14="http://schemas.microsoft.com/office/powerpoint/2010/main" val="54434979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right)">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rmAutofit/>
          </a:bodyPr>
          <a:lstStyle/>
          <a:p>
            <a:fld id="{125A1C68-F048-4C66-8544-2D3BD35A5879}" type="slidenum">
              <a:rPr lang="en-US" smtClean="0"/>
              <a:pPr/>
              <a:t>9</a:t>
            </a:fld>
            <a:endParaRPr lang="en-US"/>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 The </a:t>
            </a:r>
            <a:r>
              <a:rPr lang="en-US" sz="4000" dirty="0">
                <a:solidFill>
                  <a:srgbClr val="00B0F0"/>
                </a:solidFill>
                <a:latin typeface="Tahoma" charset="0"/>
                <a:cs typeface="Arial" charset="0"/>
              </a:rPr>
              <a:t>switch </a:t>
            </a:r>
            <a:r>
              <a:rPr lang="en-US" sz="4000" dirty="0">
                <a:solidFill>
                  <a:schemeClr val="accent2"/>
                </a:solidFill>
                <a:latin typeface="Tahoma" charset="0"/>
                <a:cs typeface="Arial" charset="0"/>
              </a:rPr>
              <a:t>Statement</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2</a:t>
            </a: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179512" y="1400577"/>
            <a:ext cx="8784976" cy="3108543"/>
            <a:chOff x="323528" y="1236822"/>
            <a:chExt cx="7848872" cy="3007747"/>
          </a:xfrm>
        </p:grpSpPr>
        <p:sp>
          <p:nvSpPr>
            <p:cNvPr id="13" name="TextBox 12"/>
            <p:cNvSpPr txBox="1"/>
            <p:nvPr/>
          </p:nvSpPr>
          <p:spPr>
            <a:xfrm>
              <a:off x="971600" y="1236822"/>
              <a:ext cx="7200800" cy="3007746"/>
            </a:xfrm>
            <a:prstGeom prst="rect">
              <a:avLst/>
            </a:prstGeom>
            <a:solidFill>
              <a:schemeClr val="bg2"/>
            </a:solidFill>
            <a:ln w="28575" cap="rnd" cmpd="thickThin">
              <a:solidFill>
                <a:srgbClr val="0000FF"/>
              </a:solidFill>
            </a:ln>
          </p:spPr>
          <p:txBody>
            <a:bodyPr wrap="square" rtlCol="0">
              <a:spAutoFit/>
            </a:bodyPr>
            <a:lstStyle/>
            <a:p>
              <a:r>
                <a:rPr lang="en-US" sz="1400" dirty="0">
                  <a:solidFill>
                    <a:srgbClr val="00B0F0"/>
                  </a:solidFill>
                </a:rPr>
                <a:t>public static void </a:t>
              </a:r>
              <a:r>
                <a:rPr lang="en-US" sz="1400" dirty="0">
                  <a:solidFill>
                    <a:srgbClr val="0000FF"/>
                  </a:solidFill>
                </a:rPr>
                <a:t>main (String[] </a:t>
              </a:r>
              <a:r>
                <a:rPr lang="en-US" sz="1400" dirty="0" err="1">
                  <a:solidFill>
                    <a:srgbClr val="0000FF"/>
                  </a:solidFill>
                </a:rPr>
                <a:t>args</a:t>
              </a:r>
              <a:r>
                <a:rPr lang="en-US" sz="1400" dirty="0">
                  <a:solidFill>
                    <a:srgbClr val="0000FF"/>
                  </a:solidFill>
                </a:rPr>
                <a:t>)</a:t>
              </a:r>
            </a:p>
            <a:p>
              <a:r>
                <a:rPr lang="en-US" sz="1400" dirty="0">
                  <a:solidFill>
                    <a:srgbClr val="0000FF"/>
                  </a:solidFill>
                </a:rPr>
                <a:t>{</a:t>
              </a:r>
            </a:p>
            <a:p>
              <a:r>
                <a:rPr lang="en-US" sz="1400" dirty="0"/>
                <a:t>   //Declaration section</a:t>
              </a:r>
            </a:p>
            <a:p>
              <a:r>
                <a:rPr lang="en-US" sz="1400" dirty="0">
                  <a:solidFill>
                    <a:srgbClr val="0000FF"/>
                  </a:solidFill>
                </a:rPr>
                <a:t>   Scanner read = </a:t>
              </a:r>
              <a:r>
                <a:rPr lang="en-US" sz="1400" dirty="0">
                  <a:solidFill>
                    <a:srgbClr val="00B0F0"/>
                  </a:solidFill>
                </a:rPr>
                <a:t>new </a:t>
              </a:r>
              <a:r>
                <a:rPr lang="en-US" sz="1400" dirty="0">
                  <a:solidFill>
                    <a:srgbClr val="0000FF"/>
                  </a:solidFill>
                </a:rPr>
                <a:t>Scanner (System.in);</a:t>
              </a:r>
            </a:p>
            <a:p>
              <a:r>
                <a:rPr lang="en-US" sz="1400" dirty="0">
                  <a:solidFill>
                    <a:srgbClr val="0000FF"/>
                  </a:solidFill>
                </a:rPr>
                <a:t>   </a:t>
              </a:r>
              <a:r>
                <a:rPr lang="en-US" sz="1400" dirty="0" err="1">
                  <a:solidFill>
                    <a:srgbClr val="00B0F0"/>
                  </a:solidFill>
                </a:rPr>
                <a:t>int</a:t>
              </a:r>
              <a:r>
                <a:rPr lang="en-US" sz="1400" dirty="0">
                  <a:solidFill>
                    <a:srgbClr val="00B0F0"/>
                  </a:solidFill>
                </a:rPr>
                <a:t> </a:t>
              </a:r>
              <a:r>
                <a:rPr lang="en-US" sz="1400" dirty="0">
                  <a:solidFill>
                    <a:srgbClr val="0000FF"/>
                  </a:solidFill>
                </a:rPr>
                <a:t>choice, num1, num2, result = -1;</a:t>
              </a:r>
            </a:p>
            <a:p>
              <a:r>
                <a:rPr lang="en-US" sz="1400" dirty="0">
                  <a:solidFill>
                    <a:srgbClr val="0000FF"/>
                  </a:solidFill>
                </a:rPr>
                <a:t>   </a:t>
              </a:r>
              <a:r>
                <a:rPr lang="en-US" sz="1400" dirty="0">
                  <a:solidFill>
                    <a:srgbClr val="00B0F0"/>
                  </a:solidFill>
                </a:rPr>
                <a:t>String</a:t>
              </a:r>
              <a:r>
                <a:rPr lang="en-US" sz="1400" dirty="0">
                  <a:solidFill>
                    <a:srgbClr val="0000FF"/>
                  </a:solidFill>
                </a:rPr>
                <a:t> message = “Invalid input”;</a:t>
              </a:r>
            </a:p>
            <a:p>
              <a:r>
                <a:rPr lang="en-US" sz="1400" dirty="0"/>
                <a:t>   //input section</a:t>
              </a:r>
            </a:p>
            <a:p>
              <a:r>
                <a:rPr lang="en-US" sz="1400" dirty="0"/>
                <a:t>      //Display menu</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(“Enter your choice:”);</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(“1. Add two positive numbers”);</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(“2. Get the double of a positive number”);</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(“3. Get the square of a number”);</a:t>
              </a:r>
            </a:p>
            <a:p>
              <a:r>
                <a:rPr lang="en-US" sz="1400" dirty="0">
                  <a:solidFill>
                    <a:srgbClr val="0000FF"/>
                  </a:solidFill>
                </a:rPr>
                <a:t>   choice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t>   //processing section</a:t>
              </a:r>
            </a:p>
          </p:txBody>
        </p:sp>
        <p:sp>
          <p:nvSpPr>
            <p:cNvPr id="14" name="TextBox 13"/>
            <p:cNvSpPr txBox="1"/>
            <p:nvPr/>
          </p:nvSpPr>
          <p:spPr>
            <a:xfrm>
              <a:off x="323528" y="1236822"/>
              <a:ext cx="576064" cy="3007747"/>
            </a:xfrm>
            <a:prstGeom prst="rect">
              <a:avLst/>
            </a:prstGeom>
            <a:noFill/>
          </p:spPr>
          <p:txBody>
            <a:bodyPr wrap="square" rtlCol="0">
              <a:spAutoFit/>
            </a:bodyPr>
            <a:lstStyle/>
            <a:p>
              <a:pPr algn="r"/>
              <a:r>
                <a:rPr lang="en-US" sz="1400" dirty="0">
                  <a:solidFill>
                    <a:srgbClr val="FF0000"/>
                  </a:solidFill>
                </a:rPr>
                <a:t>1</a:t>
              </a:r>
            </a:p>
            <a:p>
              <a:pPr algn="r"/>
              <a:r>
                <a:rPr lang="en-US" sz="1400" dirty="0">
                  <a:solidFill>
                    <a:srgbClr val="FF0000"/>
                  </a:solidFill>
                </a:rPr>
                <a:t>2</a:t>
              </a:r>
            </a:p>
            <a:p>
              <a:pPr algn="r"/>
              <a:r>
                <a:rPr lang="en-US" sz="1400" dirty="0">
                  <a:solidFill>
                    <a:srgbClr val="FF0000"/>
                  </a:solidFill>
                </a:rPr>
                <a:t>3</a:t>
              </a:r>
            </a:p>
            <a:p>
              <a:pPr algn="r"/>
              <a:r>
                <a:rPr lang="en-US" sz="1400" dirty="0">
                  <a:solidFill>
                    <a:srgbClr val="FF0000"/>
                  </a:solidFill>
                </a:rPr>
                <a:t>4</a:t>
              </a:r>
            </a:p>
            <a:p>
              <a:pPr algn="r"/>
              <a:r>
                <a:rPr lang="en-US" sz="1400" dirty="0">
                  <a:solidFill>
                    <a:srgbClr val="FF0000"/>
                  </a:solidFill>
                </a:rPr>
                <a:t>5</a:t>
              </a:r>
            </a:p>
            <a:p>
              <a:pPr algn="r"/>
              <a:r>
                <a:rPr lang="en-US" sz="1400" dirty="0">
                  <a:solidFill>
                    <a:srgbClr val="FF0000"/>
                  </a:solidFill>
                </a:rPr>
                <a:t>6</a:t>
              </a:r>
            </a:p>
            <a:p>
              <a:pPr algn="r"/>
              <a:r>
                <a:rPr lang="en-US" sz="1400" dirty="0">
                  <a:solidFill>
                    <a:srgbClr val="FF0000"/>
                  </a:solidFill>
                </a:rPr>
                <a:t>7</a:t>
              </a:r>
            </a:p>
            <a:p>
              <a:pPr algn="r"/>
              <a:r>
                <a:rPr lang="en-US" sz="1400" dirty="0">
                  <a:solidFill>
                    <a:srgbClr val="FF0000"/>
                  </a:solidFill>
                </a:rPr>
                <a:t>8</a:t>
              </a:r>
            </a:p>
            <a:p>
              <a:pPr algn="r"/>
              <a:r>
                <a:rPr lang="en-US" sz="1400" dirty="0">
                  <a:solidFill>
                    <a:srgbClr val="FF0000"/>
                  </a:solidFill>
                </a:rPr>
                <a:t>9</a:t>
              </a:r>
            </a:p>
            <a:p>
              <a:pPr algn="r"/>
              <a:r>
                <a:rPr lang="en-US" sz="1400" dirty="0">
                  <a:solidFill>
                    <a:srgbClr val="FF0000"/>
                  </a:solidFill>
                </a:rPr>
                <a:t>10</a:t>
              </a:r>
            </a:p>
            <a:p>
              <a:pPr algn="r"/>
              <a:r>
                <a:rPr lang="en-US" sz="1400" dirty="0">
                  <a:solidFill>
                    <a:srgbClr val="FF0000"/>
                  </a:solidFill>
                </a:rPr>
                <a:t>11</a:t>
              </a:r>
            </a:p>
            <a:p>
              <a:pPr algn="r"/>
              <a:r>
                <a:rPr lang="en-US" sz="1400" dirty="0">
                  <a:solidFill>
                    <a:srgbClr val="FF0000"/>
                  </a:solidFill>
                </a:rPr>
                <a:t>12</a:t>
              </a:r>
            </a:p>
            <a:p>
              <a:pPr algn="r"/>
              <a:r>
                <a:rPr lang="en-US" sz="1400" dirty="0">
                  <a:solidFill>
                    <a:srgbClr val="FF0000"/>
                  </a:solidFill>
                </a:rPr>
                <a:t>13</a:t>
              </a:r>
            </a:p>
            <a:p>
              <a:pPr algn="r"/>
              <a:r>
                <a:rPr lang="en-US" sz="1400" dirty="0">
                  <a:solidFill>
                    <a:srgbClr val="FF0000"/>
                  </a:solidFill>
                </a:rPr>
                <a:t>14</a:t>
              </a:r>
            </a:p>
          </p:txBody>
        </p:sp>
      </p:grpSp>
      <p:sp>
        <p:nvSpPr>
          <p:cNvPr id="11" name="Rectangle 10"/>
          <p:cNvSpPr/>
          <p:nvPr/>
        </p:nvSpPr>
        <p:spPr>
          <a:xfrm>
            <a:off x="3275857" y="2276872"/>
            <a:ext cx="1008112" cy="216024"/>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1691680" y="2492896"/>
            <a:ext cx="2232248" cy="216024"/>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60026565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2"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right)">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par>
                          <p:cTn id="16" fill="hold">
                            <p:stCondLst>
                              <p:cond delay="500"/>
                            </p:stCondLst>
                            <p:childTnLst>
                              <p:par>
                                <p:cTn id="17" presetID="22" presetClass="entr" presetSubtype="8"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rmAutofit/>
          </a:bodyPr>
          <a:lstStyle/>
          <a:p>
            <a:fld id="{125A1C68-F048-4C66-8544-2D3BD35A5879}" type="slidenum">
              <a:rPr lang="en-US" smtClean="0"/>
              <a:pPr/>
              <a:t>10</a:t>
            </a:fld>
            <a:endParaRPr lang="en-US"/>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 The </a:t>
            </a:r>
            <a:r>
              <a:rPr lang="en-US" sz="4000" dirty="0">
                <a:solidFill>
                  <a:srgbClr val="00B0F0"/>
                </a:solidFill>
                <a:latin typeface="Tahoma" charset="0"/>
                <a:cs typeface="Arial" charset="0"/>
              </a:rPr>
              <a:t>switch </a:t>
            </a:r>
            <a:r>
              <a:rPr lang="en-US" sz="4000" dirty="0">
                <a:solidFill>
                  <a:schemeClr val="accent2"/>
                </a:solidFill>
                <a:latin typeface="Tahoma" charset="0"/>
                <a:cs typeface="Arial" charset="0"/>
              </a:rPr>
              <a:t>Statement</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2 (cont’d)</a:t>
            </a: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179512" y="1340768"/>
            <a:ext cx="8784976" cy="5262979"/>
            <a:chOff x="323528" y="1236822"/>
            <a:chExt cx="7848872" cy="5092323"/>
          </a:xfrm>
        </p:grpSpPr>
        <p:sp>
          <p:nvSpPr>
            <p:cNvPr id="13" name="TextBox 12"/>
            <p:cNvSpPr txBox="1"/>
            <p:nvPr/>
          </p:nvSpPr>
          <p:spPr>
            <a:xfrm>
              <a:off x="971600" y="1236822"/>
              <a:ext cx="7200800" cy="5092323"/>
            </a:xfrm>
            <a:prstGeom prst="rect">
              <a:avLst/>
            </a:prstGeom>
            <a:solidFill>
              <a:schemeClr val="bg2"/>
            </a:solidFill>
            <a:ln w="28575" cap="rnd" cmpd="thickThin">
              <a:solidFill>
                <a:srgbClr val="0000FF"/>
              </a:solidFill>
            </a:ln>
          </p:spPr>
          <p:txBody>
            <a:bodyPr wrap="square" rtlCol="0">
              <a:spAutoFit/>
            </a:bodyPr>
            <a:lstStyle/>
            <a:p>
              <a:r>
                <a:rPr lang="en-US" sz="1400" dirty="0"/>
                <a:t>//processing section</a:t>
              </a:r>
            </a:p>
            <a:p>
              <a:r>
                <a:rPr lang="en-US" sz="1400" dirty="0">
                  <a:solidFill>
                    <a:srgbClr val="0000FF"/>
                  </a:solidFill>
                </a:rPr>
                <a:t>   </a:t>
              </a:r>
              <a:r>
                <a:rPr lang="en-US" sz="1400" dirty="0">
                  <a:solidFill>
                    <a:srgbClr val="00B0F0"/>
                  </a:solidFill>
                </a:rPr>
                <a:t>switch </a:t>
              </a:r>
              <a:r>
                <a:rPr lang="en-US" sz="1400" dirty="0">
                  <a:solidFill>
                    <a:srgbClr val="0000FF"/>
                  </a:solidFill>
                </a:rPr>
                <a:t>(choice)</a:t>
              </a:r>
            </a:p>
            <a:p>
              <a:r>
                <a:rPr lang="en-US" sz="1400" dirty="0">
                  <a:solidFill>
                    <a:srgbClr val="0000FF"/>
                  </a:solidFill>
                </a:rPr>
                <a:t>   {</a:t>
              </a:r>
            </a:p>
            <a:p>
              <a:r>
                <a:rPr lang="en-US" sz="1400" dirty="0">
                  <a:solidFill>
                    <a:srgbClr val="0000FF"/>
                  </a:solidFill>
                </a:rPr>
                <a:t>      </a:t>
              </a:r>
              <a:r>
                <a:rPr lang="en-US" sz="1400" dirty="0">
                  <a:solidFill>
                    <a:srgbClr val="00B0F0"/>
                  </a:solidFill>
                </a:rPr>
                <a:t>case </a:t>
              </a:r>
              <a:r>
                <a:rPr lang="en-US" sz="1400" dirty="0">
                  <a:solidFill>
                    <a:srgbClr val="0000FF"/>
                  </a:solidFill>
                </a:rPr>
                <a:t>1: </a:t>
              </a:r>
              <a:r>
                <a:rPr lang="en-US" sz="1400" dirty="0" err="1">
                  <a:solidFill>
                    <a:srgbClr val="0000FF"/>
                  </a:solidFill>
                </a:rPr>
                <a:t>System.out.println</a:t>
              </a:r>
              <a:r>
                <a:rPr lang="en-US" sz="1400" dirty="0">
                  <a:solidFill>
                    <a:srgbClr val="0000FF"/>
                  </a:solidFill>
                </a:rPr>
                <a:t> (“Enter two positive integers”);	</a:t>
              </a:r>
              <a:r>
                <a:rPr lang="en-US" sz="1400" dirty="0">
                  <a:solidFill>
                    <a:srgbClr val="00B050"/>
                  </a:solidFill>
                </a:rPr>
                <a:t>//prompt</a:t>
              </a:r>
            </a:p>
            <a:p>
              <a:r>
                <a:rPr lang="en-US" sz="1400" dirty="0">
                  <a:solidFill>
                    <a:srgbClr val="0000FF"/>
                  </a:solidFill>
                </a:rPr>
                <a:t>	 num1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0000FF"/>
                  </a:solidFill>
                </a:rPr>
                <a:t>	 num2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0000FF"/>
                  </a:solidFill>
                </a:rPr>
                <a:t>	 result = num1 + num2;  </a:t>
              </a:r>
              <a:r>
                <a:rPr lang="en-US" sz="1400" dirty="0">
                  <a:solidFill>
                    <a:srgbClr val="00B050"/>
                  </a:solidFill>
                </a:rPr>
                <a:t>// the value of result is no more equal to  -1</a:t>
              </a:r>
            </a:p>
            <a:p>
              <a:r>
                <a:rPr lang="en-US" sz="1400" dirty="0">
                  <a:solidFill>
                    <a:srgbClr val="0000FF"/>
                  </a:solidFill>
                </a:rPr>
                <a:t>  	 </a:t>
              </a:r>
              <a:r>
                <a:rPr lang="en-US" sz="1400" dirty="0">
                  <a:solidFill>
                    <a:srgbClr val="00B0F0"/>
                  </a:solidFill>
                </a:rPr>
                <a:t>break</a:t>
              </a:r>
              <a:r>
                <a:rPr lang="en-US" sz="1400" dirty="0">
                  <a:solidFill>
                    <a:srgbClr val="0000FF"/>
                  </a:solidFill>
                </a:rPr>
                <a:t>;</a:t>
              </a:r>
            </a:p>
            <a:p>
              <a:r>
                <a:rPr lang="en-US" sz="1400" dirty="0">
                  <a:solidFill>
                    <a:srgbClr val="0000FF"/>
                  </a:solidFill>
                </a:rPr>
                <a:t>      </a:t>
              </a:r>
              <a:r>
                <a:rPr lang="en-US" sz="1400" dirty="0">
                  <a:solidFill>
                    <a:srgbClr val="00B0F0"/>
                  </a:solidFill>
                </a:rPr>
                <a:t>case </a:t>
              </a:r>
              <a:r>
                <a:rPr lang="en-US" sz="1400" dirty="0">
                  <a:solidFill>
                    <a:srgbClr val="0000FF"/>
                  </a:solidFill>
                </a:rPr>
                <a:t>2: </a:t>
              </a:r>
              <a:r>
                <a:rPr lang="en-US" sz="1400" dirty="0" err="1">
                  <a:solidFill>
                    <a:srgbClr val="0000FF"/>
                  </a:solidFill>
                </a:rPr>
                <a:t>System.out.println</a:t>
              </a:r>
              <a:r>
                <a:rPr lang="en-US" sz="1400" dirty="0">
                  <a:solidFill>
                    <a:srgbClr val="0000FF"/>
                  </a:solidFill>
                </a:rPr>
                <a:t> (“Enter a positive integer”);	</a:t>
              </a:r>
              <a:r>
                <a:rPr lang="en-US" sz="1400" dirty="0">
                  <a:solidFill>
                    <a:srgbClr val="00B050"/>
                  </a:solidFill>
                </a:rPr>
                <a:t>//prompt</a:t>
              </a:r>
            </a:p>
            <a:p>
              <a:r>
                <a:rPr lang="en-US" sz="1400" dirty="0">
                  <a:solidFill>
                    <a:srgbClr val="0000FF"/>
                  </a:solidFill>
                </a:rPr>
                <a:t>	  num1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0000FF"/>
                  </a:solidFill>
                </a:rPr>
                <a:t>	  result = num1 * 2;        </a:t>
              </a:r>
              <a:r>
                <a:rPr lang="en-US" sz="1400" dirty="0">
                  <a:solidFill>
                    <a:srgbClr val="00B050"/>
                  </a:solidFill>
                </a:rPr>
                <a:t>// the value of result is no more equal to  -1</a:t>
              </a:r>
              <a:endParaRPr lang="en-US" sz="1400" dirty="0">
                <a:solidFill>
                  <a:srgbClr val="0000FF"/>
                </a:solidFill>
              </a:endParaRPr>
            </a:p>
            <a:p>
              <a:r>
                <a:rPr lang="en-US" sz="1400" dirty="0">
                  <a:solidFill>
                    <a:srgbClr val="0000FF"/>
                  </a:solidFill>
                </a:rPr>
                <a:t>	  </a:t>
              </a:r>
              <a:r>
                <a:rPr lang="en-US" sz="1400" dirty="0">
                  <a:solidFill>
                    <a:srgbClr val="00B0F0"/>
                  </a:solidFill>
                </a:rPr>
                <a:t>break</a:t>
              </a:r>
              <a:r>
                <a:rPr lang="en-US" sz="1400" dirty="0">
                  <a:solidFill>
                    <a:srgbClr val="0000FF"/>
                  </a:solidFill>
                </a:rPr>
                <a:t>;</a:t>
              </a:r>
            </a:p>
            <a:p>
              <a:r>
                <a:rPr lang="en-US" sz="1400" dirty="0">
                  <a:solidFill>
                    <a:srgbClr val="0000FF"/>
                  </a:solidFill>
                </a:rPr>
                <a:t>      </a:t>
              </a:r>
              <a:r>
                <a:rPr lang="en-US" sz="1400" dirty="0">
                  <a:solidFill>
                    <a:srgbClr val="00B0F0"/>
                  </a:solidFill>
                </a:rPr>
                <a:t>case </a:t>
              </a:r>
              <a:r>
                <a:rPr lang="en-US" sz="1400" dirty="0">
                  <a:solidFill>
                    <a:srgbClr val="0000FF"/>
                  </a:solidFill>
                </a:rPr>
                <a:t>3:  </a:t>
              </a:r>
              <a:r>
                <a:rPr lang="en-US" sz="1400" dirty="0" err="1">
                  <a:solidFill>
                    <a:srgbClr val="0000FF"/>
                  </a:solidFill>
                </a:rPr>
                <a:t>System.out.println</a:t>
              </a:r>
              <a:r>
                <a:rPr lang="en-US" sz="1400" dirty="0">
                  <a:solidFill>
                    <a:srgbClr val="0000FF"/>
                  </a:solidFill>
                </a:rPr>
                <a:t> (“Enter an integer”);		</a:t>
              </a:r>
              <a:r>
                <a:rPr lang="en-US" sz="1400" dirty="0">
                  <a:solidFill>
                    <a:srgbClr val="00B050"/>
                  </a:solidFill>
                </a:rPr>
                <a:t>//prompt</a:t>
              </a:r>
              <a:endParaRPr lang="en-US" sz="1400" dirty="0">
                <a:solidFill>
                  <a:srgbClr val="0000FF"/>
                </a:solidFill>
              </a:endParaRPr>
            </a:p>
            <a:p>
              <a:r>
                <a:rPr lang="en-US" sz="1400" dirty="0">
                  <a:solidFill>
                    <a:srgbClr val="0000FF"/>
                  </a:solidFill>
                </a:rPr>
                <a:t>	  num1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0000FF"/>
                  </a:solidFill>
                </a:rPr>
                <a:t>	  result = num1 * num1;</a:t>
              </a:r>
              <a:r>
                <a:rPr lang="en-US" sz="1400" dirty="0">
                  <a:solidFill>
                    <a:srgbClr val="00B050"/>
                  </a:solidFill>
                </a:rPr>
                <a:t> // the value of result is no more equal to  -1</a:t>
              </a:r>
              <a:endParaRPr lang="en-US" sz="1400" dirty="0">
                <a:solidFill>
                  <a:srgbClr val="0000FF"/>
                </a:solidFill>
              </a:endParaRPr>
            </a:p>
            <a:p>
              <a:r>
                <a:rPr lang="en-US" sz="1400" dirty="0">
                  <a:solidFill>
                    <a:srgbClr val="0000FF"/>
                  </a:solidFill>
                </a:rPr>
                <a:t>	  </a:t>
              </a:r>
              <a:r>
                <a:rPr lang="en-US" sz="1400" dirty="0">
                  <a:solidFill>
                    <a:srgbClr val="00B0F0"/>
                  </a:solidFill>
                </a:rPr>
                <a:t>break</a:t>
              </a:r>
              <a:r>
                <a:rPr lang="en-US" sz="1400" dirty="0">
                  <a:solidFill>
                    <a:srgbClr val="0000FF"/>
                  </a:solidFill>
                </a:rPr>
                <a:t>;</a:t>
              </a:r>
            </a:p>
            <a:p>
              <a:r>
                <a:rPr lang="en-US" sz="1400" dirty="0">
                  <a:solidFill>
                    <a:srgbClr val="00B0F0"/>
                  </a:solidFill>
                </a:rPr>
                <a:t>      default</a:t>
              </a:r>
              <a:r>
                <a:rPr lang="en-US" sz="1400" dirty="0">
                  <a:solidFill>
                    <a:srgbClr val="0000FF"/>
                  </a:solidFill>
                </a:rPr>
                <a:t>: message =“Invalid value of choice”;   </a:t>
              </a:r>
              <a:r>
                <a:rPr lang="en-US" sz="1400" dirty="0">
                  <a:solidFill>
                    <a:srgbClr val="00B050"/>
                  </a:solidFill>
                </a:rPr>
                <a:t>//no change to  “result” </a:t>
              </a:r>
              <a:r>
                <a:rPr lang="en-US" sz="1400" dirty="0">
                  <a:solidFill>
                    <a:srgbClr val="00B050"/>
                  </a:solidFill>
                  <a:sym typeface="Wingdings" panose="05000000000000000000" pitchFamily="2" charset="2"/>
                </a:rPr>
                <a:t> result=-1</a:t>
              </a:r>
              <a:endParaRPr lang="en-US" sz="1400" dirty="0">
                <a:solidFill>
                  <a:srgbClr val="00B050"/>
                </a:solidFill>
              </a:endParaRPr>
            </a:p>
            <a:p>
              <a:r>
                <a:rPr lang="en-US" sz="1400" dirty="0">
                  <a:solidFill>
                    <a:srgbClr val="0000FF"/>
                  </a:solidFill>
                </a:rPr>
                <a:t>   } </a:t>
              </a:r>
              <a:r>
                <a:rPr lang="en-US" sz="1400" dirty="0">
                  <a:solidFill>
                    <a:srgbClr val="00B050"/>
                  </a:solidFill>
                </a:rPr>
                <a:t>//end switch</a:t>
              </a:r>
            </a:p>
            <a:p>
              <a:r>
                <a:rPr lang="en-US" sz="1400" dirty="0"/>
                <a:t>   //output section</a:t>
              </a:r>
            </a:p>
            <a:p>
              <a:r>
                <a:rPr lang="en-US" sz="1400" dirty="0">
                  <a:solidFill>
                    <a:srgbClr val="0000FF"/>
                  </a:solidFill>
                </a:rPr>
                <a:t>   if (result !=-1)</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(result);		</a:t>
              </a:r>
              <a:r>
                <a:rPr lang="en-US" sz="1400" dirty="0">
                  <a:solidFill>
                    <a:srgbClr val="00B050"/>
                  </a:solidFill>
                </a:rPr>
                <a:t>//result is modified (!= -1)</a:t>
              </a:r>
            </a:p>
            <a:p>
              <a:r>
                <a:rPr lang="en-US" sz="1400" dirty="0">
                  <a:solidFill>
                    <a:srgbClr val="0000FF"/>
                  </a:solidFill>
                </a:rPr>
                <a:t>   else</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(message);	</a:t>
              </a:r>
              <a:r>
                <a:rPr lang="en-US" sz="1400" dirty="0">
                  <a:solidFill>
                    <a:srgbClr val="00B050"/>
                  </a:solidFill>
                </a:rPr>
                <a:t>//result is not modified (equals -1)</a:t>
              </a:r>
            </a:p>
            <a:p>
              <a:r>
                <a:rPr lang="en-US" sz="1400" dirty="0">
                  <a:solidFill>
                    <a:srgbClr val="0000FF"/>
                  </a:solidFill>
                </a:rPr>
                <a:t>} </a:t>
              </a:r>
              <a:r>
                <a:rPr lang="en-US" sz="1400" dirty="0">
                  <a:solidFill>
                    <a:srgbClr val="00B050"/>
                  </a:solidFill>
                </a:rPr>
                <a:t>//end main</a:t>
              </a:r>
            </a:p>
          </p:txBody>
        </p:sp>
        <p:sp>
          <p:nvSpPr>
            <p:cNvPr id="14" name="TextBox 13"/>
            <p:cNvSpPr txBox="1"/>
            <p:nvPr/>
          </p:nvSpPr>
          <p:spPr>
            <a:xfrm>
              <a:off x="323528" y="1236822"/>
              <a:ext cx="576064" cy="5092323"/>
            </a:xfrm>
            <a:prstGeom prst="rect">
              <a:avLst/>
            </a:prstGeom>
            <a:noFill/>
          </p:spPr>
          <p:txBody>
            <a:bodyPr wrap="square" rtlCol="0">
              <a:spAutoFit/>
            </a:bodyPr>
            <a:lstStyle/>
            <a:p>
              <a:pPr algn="r"/>
              <a:r>
                <a:rPr lang="en-US" sz="1400" dirty="0">
                  <a:solidFill>
                    <a:srgbClr val="FF0000"/>
                  </a:solidFill>
                </a:rPr>
                <a:t>14</a:t>
              </a:r>
            </a:p>
            <a:p>
              <a:pPr algn="r"/>
              <a:r>
                <a:rPr lang="en-US" sz="1400" dirty="0">
                  <a:solidFill>
                    <a:srgbClr val="FF0000"/>
                  </a:solidFill>
                </a:rPr>
                <a:t>15</a:t>
              </a:r>
            </a:p>
            <a:p>
              <a:pPr algn="r"/>
              <a:r>
                <a:rPr lang="en-US" sz="1400" dirty="0">
                  <a:solidFill>
                    <a:srgbClr val="FF0000"/>
                  </a:solidFill>
                </a:rPr>
                <a:t>16</a:t>
              </a:r>
            </a:p>
            <a:p>
              <a:pPr algn="r"/>
              <a:r>
                <a:rPr lang="en-US" sz="1400" dirty="0">
                  <a:solidFill>
                    <a:srgbClr val="FF0000"/>
                  </a:solidFill>
                </a:rPr>
                <a:t>17</a:t>
              </a:r>
            </a:p>
            <a:p>
              <a:pPr algn="r"/>
              <a:r>
                <a:rPr lang="en-US" sz="1400" dirty="0">
                  <a:solidFill>
                    <a:srgbClr val="FF0000"/>
                  </a:solidFill>
                </a:rPr>
                <a:t>18</a:t>
              </a:r>
            </a:p>
            <a:p>
              <a:pPr algn="r"/>
              <a:r>
                <a:rPr lang="en-US" sz="1400" dirty="0">
                  <a:solidFill>
                    <a:srgbClr val="FF0000"/>
                  </a:solidFill>
                </a:rPr>
                <a:t>19</a:t>
              </a:r>
            </a:p>
            <a:p>
              <a:pPr algn="r"/>
              <a:r>
                <a:rPr lang="en-US" sz="1400" dirty="0">
                  <a:solidFill>
                    <a:srgbClr val="FF0000"/>
                  </a:solidFill>
                </a:rPr>
                <a:t>20</a:t>
              </a:r>
            </a:p>
            <a:p>
              <a:pPr algn="r"/>
              <a:r>
                <a:rPr lang="en-US" sz="1400" dirty="0">
                  <a:solidFill>
                    <a:srgbClr val="FF0000"/>
                  </a:solidFill>
                </a:rPr>
                <a:t>21</a:t>
              </a:r>
            </a:p>
            <a:p>
              <a:pPr algn="r"/>
              <a:r>
                <a:rPr lang="en-US" sz="1400" dirty="0">
                  <a:solidFill>
                    <a:srgbClr val="FF0000"/>
                  </a:solidFill>
                </a:rPr>
                <a:t>22</a:t>
              </a:r>
            </a:p>
            <a:p>
              <a:pPr algn="r"/>
              <a:r>
                <a:rPr lang="en-US" sz="1400" dirty="0">
                  <a:solidFill>
                    <a:srgbClr val="FF0000"/>
                  </a:solidFill>
                </a:rPr>
                <a:t>23</a:t>
              </a:r>
            </a:p>
            <a:p>
              <a:pPr algn="r"/>
              <a:r>
                <a:rPr lang="en-US" sz="1400" dirty="0">
                  <a:solidFill>
                    <a:srgbClr val="FF0000"/>
                  </a:solidFill>
                </a:rPr>
                <a:t>24</a:t>
              </a:r>
            </a:p>
            <a:p>
              <a:pPr algn="r"/>
              <a:r>
                <a:rPr lang="en-US" sz="1400" dirty="0">
                  <a:solidFill>
                    <a:srgbClr val="FF0000"/>
                  </a:solidFill>
                </a:rPr>
                <a:t>25</a:t>
              </a:r>
            </a:p>
            <a:p>
              <a:pPr algn="r"/>
              <a:r>
                <a:rPr lang="en-US" sz="1400" dirty="0">
                  <a:solidFill>
                    <a:srgbClr val="FF0000"/>
                  </a:solidFill>
                </a:rPr>
                <a:t>26</a:t>
              </a:r>
            </a:p>
            <a:p>
              <a:pPr algn="r"/>
              <a:r>
                <a:rPr lang="en-US" sz="1400" dirty="0">
                  <a:solidFill>
                    <a:srgbClr val="FF0000"/>
                  </a:solidFill>
                </a:rPr>
                <a:t>27</a:t>
              </a:r>
            </a:p>
            <a:p>
              <a:pPr algn="r"/>
              <a:r>
                <a:rPr lang="en-US" sz="1400" dirty="0">
                  <a:solidFill>
                    <a:srgbClr val="FF0000"/>
                  </a:solidFill>
                </a:rPr>
                <a:t>28</a:t>
              </a:r>
            </a:p>
            <a:p>
              <a:pPr algn="r"/>
              <a:r>
                <a:rPr lang="en-US" sz="1400" dirty="0">
                  <a:solidFill>
                    <a:srgbClr val="FF0000"/>
                  </a:solidFill>
                </a:rPr>
                <a:t>29</a:t>
              </a:r>
            </a:p>
            <a:p>
              <a:pPr algn="r"/>
              <a:r>
                <a:rPr lang="en-US" sz="1400" dirty="0">
                  <a:solidFill>
                    <a:srgbClr val="FF0000"/>
                  </a:solidFill>
                </a:rPr>
                <a:t>30</a:t>
              </a:r>
            </a:p>
            <a:p>
              <a:pPr algn="r"/>
              <a:r>
                <a:rPr lang="en-US" sz="1400" dirty="0">
                  <a:solidFill>
                    <a:srgbClr val="FF0000"/>
                  </a:solidFill>
                </a:rPr>
                <a:t>31</a:t>
              </a:r>
            </a:p>
            <a:p>
              <a:pPr algn="r"/>
              <a:r>
                <a:rPr lang="en-US" sz="1400" dirty="0">
                  <a:solidFill>
                    <a:srgbClr val="FF0000"/>
                  </a:solidFill>
                </a:rPr>
                <a:t>32</a:t>
              </a:r>
            </a:p>
            <a:p>
              <a:pPr algn="r"/>
              <a:r>
                <a:rPr lang="en-US" sz="1400" dirty="0">
                  <a:solidFill>
                    <a:srgbClr val="FF0000"/>
                  </a:solidFill>
                </a:rPr>
                <a:t>33</a:t>
              </a:r>
            </a:p>
            <a:p>
              <a:pPr algn="r"/>
              <a:r>
                <a:rPr lang="en-US" sz="1400" dirty="0">
                  <a:solidFill>
                    <a:srgbClr val="FF0000"/>
                  </a:solidFill>
                </a:rPr>
                <a:t>34</a:t>
              </a:r>
            </a:p>
            <a:p>
              <a:pPr algn="r"/>
              <a:r>
                <a:rPr lang="en-US" sz="1400" dirty="0">
                  <a:solidFill>
                    <a:srgbClr val="FF0000"/>
                  </a:solidFill>
                </a:rPr>
                <a:t>35</a:t>
              </a:r>
            </a:p>
            <a:p>
              <a:pPr algn="r"/>
              <a:r>
                <a:rPr lang="en-US" sz="1400" dirty="0">
                  <a:solidFill>
                    <a:srgbClr val="FF0000"/>
                  </a:solidFill>
                </a:rPr>
                <a:t>36</a:t>
              </a:r>
            </a:p>
            <a:p>
              <a:pPr algn="r"/>
              <a:r>
                <a:rPr lang="en-US" sz="1400" dirty="0">
                  <a:solidFill>
                    <a:srgbClr val="FF0000"/>
                  </a:solidFill>
                </a:rPr>
                <a:t>37</a:t>
              </a:r>
            </a:p>
          </p:txBody>
        </p:sp>
      </p:grpSp>
      <p:sp>
        <p:nvSpPr>
          <p:cNvPr id="11" name="Rectangle 10"/>
          <p:cNvSpPr/>
          <p:nvPr/>
        </p:nvSpPr>
        <p:spPr>
          <a:xfrm>
            <a:off x="1403648" y="5445224"/>
            <a:ext cx="1008112" cy="216024"/>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4512880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2"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right)">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rmAutofit/>
          </a:bodyPr>
          <a:lstStyle/>
          <a:p>
            <a:fld id="{125A1C68-F048-4C66-8544-2D3BD35A5879}" type="slidenum">
              <a:rPr lang="en-US" smtClean="0"/>
              <a:pPr/>
              <a:t>11</a:t>
            </a:fld>
            <a:endParaRPr lang="en-US"/>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1.1 Without </a:t>
            </a:r>
            <a:r>
              <a:rPr lang="en-US" sz="4000" dirty="0">
                <a:solidFill>
                  <a:srgbClr val="00B0F0"/>
                </a:solidFill>
                <a:latin typeface="Tahoma" charset="0"/>
                <a:cs typeface="Arial" charset="0"/>
              </a:rPr>
              <a:t>default </a:t>
            </a:r>
            <a:r>
              <a:rPr lang="en-US" sz="4000" dirty="0">
                <a:solidFill>
                  <a:schemeClr val="accent2"/>
                </a:solidFill>
                <a:latin typeface="Tahoma" charset="0"/>
                <a:cs typeface="Arial" charset="0"/>
              </a:rPr>
              <a:t>Statement</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2</a:t>
            </a:r>
            <a:endParaRPr lang="en-US" b="1" dirty="0">
              <a:solidFill>
                <a:srgbClr val="0000FF"/>
              </a:solidFill>
            </a:endParaRP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15" name="Content Placeholder 4"/>
          <p:cNvSpPr txBox="1">
            <a:spLocks/>
          </p:cNvSpPr>
          <p:nvPr/>
        </p:nvSpPr>
        <p:spPr>
          <a:xfrm>
            <a:off x="251520" y="1340768"/>
            <a:ext cx="8640960" cy="648072"/>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342900" indent="-342900" algn="just">
              <a:lnSpc>
                <a:spcPct val="90000"/>
              </a:lnSpc>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In fact, line 30 in slide 10 adds nothing to the program. Note that the variable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message </a:t>
            </a:r>
            <a:r>
              <a:rPr lang="en-US" sz="2000" dirty="0">
                <a:latin typeface="Tahoma" panose="020B0604030504040204" pitchFamily="34" charset="0"/>
                <a:ea typeface="Tahoma" panose="020B0604030504040204" pitchFamily="34" charset="0"/>
                <a:cs typeface="Tahoma" panose="020B0604030504040204" pitchFamily="34" charset="0"/>
              </a:rPr>
              <a:t>is already initialized to </a:t>
            </a:r>
            <a:r>
              <a:rPr lang="en-US" sz="2000" dirty="0">
                <a:solidFill>
                  <a:srgbClr val="FF3399"/>
                </a:solidFill>
                <a:latin typeface="Tahoma" panose="020B0604030504040204" pitchFamily="34" charset="0"/>
                <a:ea typeface="Tahoma" panose="020B0604030504040204" pitchFamily="34" charset="0"/>
                <a:cs typeface="Tahoma" panose="020B0604030504040204" pitchFamily="34" charset="0"/>
              </a:rPr>
              <a:t>“Invalid input”</a:t>
            </a:r>
            <a:r>
              <a:rPr lang="en-US" sz="2000" dirty="0">
                <a:latin typeface="Tahoma" panose="020B0604030504040204" pitchFamily="34" charset="0"/>
                <a:ea typeface="Tahoma" panose="020B0604030504040204" pitchFamily="34" charset="0"/>
                <a:cs typeface="Tahoma" panose="020B0604030504040204" pitchFamily="34" charset="0"/>
              </a:rPr>
              <a:t> in line 6. </a:t>
            </a:r>
            <a:endParaRPr lang="en-US" sz="1800" dirty="0">
              <a:solidFill>
                <a:srgbClr val="FF3399"/>
              </a:solidFill>
              <a:latin typeface="Tahoma" panose="020B0604030504040204" pitchFamily="34" charset="0"/>
              <a:ea typeface="Tahoma" panose="020B0604030504040204" pitchFamily="34" charset="0"/>
              <a:cs typeface="Tahoma" panose="020B0604030504040204" pitchFamily="34" charset="0"/>
            </a:endParaRPr>
          </a:p>
        </p:txBody>
      </p:sp>
      <p:sp>
        <p:nvSpPr>
          <p:cNvPr id="16" name="Content Placeholder 4"/>
          <p:cNvSpPr txBox="1">
            <a:spLocks/>
          </p:cNvSpPr>
          <p:nvPr/>
        </p:nvSpPr>
        <p:spPr>
          <a:xfrm>
            <a:off x="251520" y="2060848"/>
            <a:ext cx="8640960" cy="936104"/>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342900" indent="-342900" algn="just">
              <a:lnSpc>
                <a:spcPct val="90000"/>
              </a:lnSpc>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In addition, the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default</a:t>
            </a:r>
            <a:r>
              <a:rPr lang="en-US" sz="2000" dirty="0">
                <a:latin typeface="Tahoma" panose="020B0604030504040204" pitchFamily="34" charset="0"/>
                <a:ea typeface="Tahoma" panose="020B0604030504040204" pitchFamily="34" charset="0"/>
                <a:cs typeface="Tahoma" panose="020B0604030504040204" pitchFamily="34" charset="0"/>
              </a:rPr>
              <a:t> is optional in the switch statement. In other words, it may be omitted from the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switch </a:t>
            </a:r>
            <a:r>
              <a:rPr lang="en-US" sz="2000" dirty="0">
                <a:latin typeface="Tahoma" panose="020B0604030504040204" pitchFamily="34" charset="0"/>
                <a:ea typeface="Tahoma" panose="020B0604030504040204" pitchFamily="34" charset="0"/>
                <a:cs typeface="Tahoma" panose="020B0604030504040204" pitchFamily="34" charset="0"/>
              </a:rPr>
              <a:t>statement if it is useless </a:t>
            </a:r>
            <a:r>
              <a:rPr lang="en-US" sz="2000" dirty="0">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 </a:t>
            </a:r>
            <a:r>
              <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sym typeface="Wingdings" panose="05000000000000000000" pitchFamily="2" charset="2"/>
              </a:rPr>
              <a:t>Therefore, line 30 may be omitted.</a:t>
            </a:r>
            <a:endParaRPr lang="en-US" sz="18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
        <p:nvSpPr>
          <p:cNvPr id="29" name="Content Placeholder 4"/>
          <p:cNvSpPr txBox="1">
            <a:spLocks/>
          </p:cNvSpPr>
          <p:nvPr/>
        </p:nvSpPr>
        <p:spPr>
          <a:xfrm>
            <a:off x="251520" y="2996952"/>
            <a:ext cx="8640960" cy="936104"/>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342900" indent="-342900" algn="just">
              <a:lnSpc>
                <a:spcPct val="90000"/>
              </a:lnSpc>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The modified “Processing section” of the program is shown in the next slide:</a:t>
            </a:r>
            <a:endParaRPr lang="en-US" sz="18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custDataLst>
      <p:tags r:id="rId1"/>
    </p:custDataLst>
    <p:extLst>
      <p:ext uri="{BB962C8B-B14F-4D97-AF65-F5344CB8AC3E}">
        <p14:creationId xmlns:p14="http://schemas.microsoft.com/office/powerpoint/2010/main" val="368523239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wipe(left)">
                                      <p:cBhvr>
                                        <p:cTn id="12" dur="500"/>
                                        <p:tgtEl>
                                          <p:spTgt spid="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xEl>
                                              <p:pRg st="0" end="0"/>
                                            </p:txEl>
                                          </p:spTgt>
                                        </p:tgtEl>
                                        <p:attrNameLst>
                                          <p:attrName>style.visibility</p:attrName>
                                        </p:attrNameLst>
                                      </p:cBhvr>
                                      <p:to>
                                        <p:strVal val="visible"/>
                                      </p:to>
                                    </p:set>
                                    <p:animEffect transition="in" filter="wipe(left)">
                                      <p:cBhvr>
                                        <p:cTn id="17" dur="500"/>
                                        <p:tgtEl>
                                          <p:spTgt spid="1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
                                            <p:txEl>
                                              <p:pRg st="0" end="0"/>
                                            </p:txEl>
                                          </p:spTgt>
                                        </p:tgtEl>
                                        <p:attrNameLst>
                                          <p:attrName>style.visibility</p:attrName>
                                        </p:attrNameLst>
                                      </p:cBhvr>
                                      <p:to>
                                        <p:strVal val="visible"/>
                                      </p:to>
                                    </p:set>
                                    <p:animEffect transition="in" filter="wipe(left)">
                                      <p:cBhvr>
                                        <p:cTn id="22" dur="500"/>
                                        <p:tgtEl>
                                          <p:spTgt spid="2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5" grpId="0" build="p"/>
      <p:bldP spid="16" grpId="0" build="p"/>
      <p:bldP spid="2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rmAutofit/>
          </a:bodyPr>
          <a:lstStyle/>
          <a:p>
            <a:fld id="{125A1C68-F048-4C66-8544-2D3BD35A5879}" type="slidenum">
              <a:rPr lang="en-US" smtClean="0"/>
              <a:pPr/>
              <a:t>12</a:t>
            </a:fld>
            <a:endParaRPr lang="en-US"/>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1.1 Without </a:t>
            </a:r>
            <a:r>
              <a:rPr lang="en-US" sz="4000" dirty="0">
                <a:solidFill>
                  <a:srgbClr val="00B0F0"/>
                </a:solidFill>
                <a:latin typeface="Tahoma" charset="0"/>
                <a:cs typeface="Arial" charset="0"/>
              </a:rPr>
              <a:t>default </a:t>
            </a:r>
            <a:r>
              <a:rPr lang="en-US" sz="4000" dirty="0">
                <a:solidFill>
                  <a:schemeClr val="accent2"/>
                </a:solidFill>
                <a:latin typeface="Tahoma" charset="0"/>
                <a:cs typeface="Arial" charset="0"/>
              </a:rPr>
              <a:t>Statement</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2</a:t>
            </a:r>
            <a:endParaRPr lang="en-US" b="1" dirty="0">
              <a:solidFill>
                <a:srgbClr val="0000FF"/>
              </a:solidFill>
            </a:endParaRP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p:nvGrpSpPr>
        <p:grpSpPr>
          <a:xfrm>
            <a:off x="179512" y="1412776"/>
            <a:ext cx="8784976" cy="5047536"/>
            <a:chOff x="323528" y="1236822"/>
            <a:chExt cx="7848872" cy="4883866"/>
          </a:xfrm>
        </p:grpSpPr>
        <p:sp>
          <p:nvSpPr>
            <p:cNvPr id="27" name="TextBox 26"/>
            <p:cNvSpPr txBox="1"/>
            <p:nvPr/>
          </p:nvSpPr>
          <p:spPr>
            <a:xfrm>
              <a:off x="971600" y="1236822"/>
              <a:ext cx="7200800" cy="4883866"/>
            </a:xfrm>
            <a:prstGeom prst="rect">
              <a:avLst/>
            </a:prstGeom>
            <a:solidFill>
              <a:schemeClr val="bg2"/>
            </a:solidFill>
            <a:ln w="28575" cap="rnd" cmpd="thickThin">
              <a:solidFill>
                <a:srgbClr val="0000FF"/>
              </a:solidFill>
            </a:ln>
          </p:spPr>
          <p:txBody>
            <a:bodyPr wrap="square" rtlCol="0">
              <a:spAutoFit/>
            </a:bodyPr>
            <a:lstStyle/>
            <a:p>
              <a:r>
                <a:rPr lang="en-US" sz="1400" dirty="0"/>
                <a:t>//processing section</a:t>
              </a:r>
            </a:p>
            <a:p>
              <a:r>
                <a:rPr lang="en-US" sz="1400" dirty="0">
                  <a:solidFill>
                    <a:srgbClr val="0000FF"/>
                  </a:solidFill>
                </a:rPr>
                <a:t>   </a:t>
              </a:r>
              <a:r>
                <a:rPr lang="en-US" sz="1400" dirty="0">
                  <a:solidFill>
                    <a:srgbClr val="00B0F0"/>
                  </a:solidFill>
                </a:rPr>
                <a:t>switch </a:t>
              </a:r>
              <a:r>
                <a:rPr lang="en-US" sz="1400" dirty="0">
                  <a:solidFill>
                    <a:srgbClr val="0000FF"/>
                  </a:solidFill>
                </a:rPr>
                <a:t>(choice)</a:t>
              </a:r>
            </a:p>
            <a:p>
              <a:r>
                <a:rPr lang="en-US" sz="1400" dirty="0">
                  <a:solidFill>
                    <a:srgbClr val="0000FF"/>
                  </a:solidFill>
                </a:rPr>
                <a:t>   {</a:t>
              </a:r>
            </a:p>
            <a:p>
              <a:r>
                <a:rPr lang="en-US" sz="1400" dirty="0">
                  <a:solidFill>
                    <a:srgbClr val="0000FF"/>
                  </a:solidFill>
                </a:rPr>
                <a:t>      </a:t>
              </a:r>
              <a:r>
                <a:rPr lang="en-US" sz="1400" dirty="0">
                  <a:solidFill>
                    <a:srgbClr val="00B0F0"/>
                  </a:solidFill>
                </a:rPr>
                <a:t>case </a:t>
              </a:r>
              <a:r>
                <a:rPr lang="en-US" sz="1400" dirty="0">
                  <a:solidFill>
                    <a:srgbClr val="0000FF"/>
                  </a:solidFill>
                </a:rPr>
                <a:t>1: </a:t>
              </a:r>
              <a:r>
                <a:rPr lang="en-US" sz="1400" dirty="0" err="1">
                  <a:solidFill>
                    <a:srgbClr val="0000FF"/>
                  </a:solidFill>
                </a:rPr>
                <a:t>System.out.println</a:t>
              </a:r>
              <a:r>
                <a:rPr lang="en-US" sz="1400" dirty="0">
                  <a:solidFill>
                    <a:srgbClr val="0000FF"/>
                  </a:solidFill>
                </a:rPr>
                <a:t> (“Enter two positive integers”);	</a:t>
              </a:r>
              <a:r>
                <a:rPr lang="en-US" sz="1400" dirty="0">
                  <a:solidFill>
                    <a:srgbClr val="00B050"/>
                  </a:solidFill>
                </a:rPr>
                <a:t>//prompt</a:t>
              </a:r>
            </a:p>
            <a:p>
              <a:r>
                <a:rPr lang="en-US" sz="1400" dirty="0">
                  <a:solidFill>
                    <a:srgbClr val="0000FF"/>
                  </a:solidFill>
                </a:rPr>
                <a:t>	 num1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0000FF"/>
                  </a:solidFill>
                </a:rPr>
                <a:t>	 num2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0000FF"/>
                  </a:solidFill>
                </a:rPr>
                <a:t>	 result = num1 + num2;  </a:t>
              </a:r>
              <a:r>
                <a:rPr lang="en-US" sz="1400" dirty="0">
                  <a:solidFill>
                    <a:srgbClr val="00B050"/>
                  </a:solidFill>
                </a:rPr>
                <a:t>// the value of result is no more equal to  -1</a:t>
              </a:r>
            </a:p>
            <a:p>
              <a:r>
                <a:rPr lang="en-US" sz="1400" dirty="0">
                  <a:solidFill>
                    <a:srgbClr val="0000FF"/>
                  </a:solidFill>
                </a:rPr>
                <a:t>  	 </a:t>
              </a:r>
              <a:r>
                <a:rPr lang="en-US" sz="1400" dirty="0">
                  <a:solidFill>
                    <a:srgbClr val="00B0F0"/>
                  </a:solidFill>
                </a:rPr>
                <a:t>break</a:t>
              </a:r>
              <a:r>
                <a:rPr lang="en-US" sz="1400" dirty="0">
                  <a:solidFill>
                    <a:srgbClr val="0000FF"/>
                  </a:solidFill>
                </a:rPr>
                <a:t>;</a:t>
              </a:r>
            </a:p>
            <a:p>
              <a:r>
                <a:rPr lang="en-US" sz="1400" dirty="0">
                  <a:solidFill>
                    <a:srgbClr val="0000FF"/>
                  </a:solidFill>
                </a:rPr>
                <a:t>      </a:t>
              </a:r>
              <a:r>
                <a:rPr lang="en-US" sz="1400" dirty="0">
                  <a:solidFill>
                    <a:srgbClr val="00B0F0"/>
                  </a:solidFill>
                </a:rPr>
                <a:t>case </a:t>
              </a:r>
              <a:r>
                <a:rPr lang="en-US" sz="1400" dirty="0">
                  <a:solidFill>
                    <a:srgbClr val="0000FF"/>
                  </a:solidFill>
                </a:rPr>
                <a:t>2: </a:t>
              </a:r>
              <a:r>
                <a:rPr lang="en-US" sz="1400" dirty="0" err="1">
                  <a:solidFill>
                    <a:srgbClr val="0000FF"/>
                  </a:solidFill>
                </a:rPr>
                <a:t>System.out.println</a:t>
              </a:r>
              <a:r>
                <a:rPr lang="en-US" sz="1400" dirty="0">
                  <a:solidFill>
                    <a:srgbClr val="0000FF"/>
                  </a:solidFill>
                </a:rPr>
                <a:t> (“Enter a positive integer”);	</a:t>
              </a:r>
              <a:r>
                <a:rPr lang="en-US" sz="1400" dirty="0">
                  <a:solidFill>
                    <a:srgbClr val="00B050"/>
                  </a:solidFill>
                </a:rPr>
                <a:t>//prompt</a:t>
              </a:r>
            </a:p>
            <a:p>
              <a:r>
                <a:rPr lang="en-US" sz="1400" dirty="0">
                  <a:solidFill>
                    <a:srgbClr val="0000FF"/>
                  </a:solidFill>
                </a:rPr>
                <a:t>	  num1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0000FF"/>
                  </a:solidFill>
                </a:rPr>
                <a:t>	  result = num1 * 2;        </a:t>
              </a:r>
              <a:r>
                <a:rPr lang="en-US" sz="1400" dirty="0">
                  <a:solidFill>
                    <a:srgbClr val="00B050"/>
                  </a:solidFill>
                </a:rPr>
                <a:t>// the value of result is no more equal to  -1</a:t>
              </a:r>
              <a:endParaRPr lang="en-US" sz="1400" dirty="0">
                <a:solidFill>
                  <a:srgbClr val="0000FF"/>
                </a:solidFill>
              </a:endParaRPr>
            </a:p>
            <a:p>
              <a:r>
                <a:rPr lang="en-US" sz="1400" dirty="0">
                  <a:solidFill>
                    <a:srgbClr val="0000FF"/>
                  </a:solidFill>
                </a:rPr>
                <a:t>	  </a:t>
              </a:r>
              <a:r>
                <a:rPr lang="en-US" sz="1400" dirty="0">
                  <a:solidFill>
                    <a:srgbClr val="00B0F0"/>
                  </a:solidFill>
                </a:rPr>
                <a:t>break</a:t>
              </a:r>
              <a:r>
                <a:rPr lang="en-US" sz="1400" dirty="0">
                  <a:solidFill>
                    <a:srgbClr val="0000FF"/>
                  </a:solidFill>
                </a:rPr>
                <a:t>;</a:t>
              </a:r>
            </a:p>
            <a:p>
              <a:r>
                <a:rPr lang="en-US" sz="1400" dirty="0">
                  <a:solidFill>
                    <a:srgbClr val="0000FF"/>
                  </a:solidFill>
                </a:rPr>
                <a:t>      </a:t>
              </a:r>
              <a:r>
                <a:rPr lang="en-US" sz="1400" dirty="0">
                  <a:solidFill>
                    <a:srgbClr val="00B0F0"/>
                  </a:solidFill>
                </a:rPr>
                <a:t>case </a:t>
              </a:r>
              <a:r>
                <a:rPr lang="en-US" sz="1400" dirty="0">
                  <a:solidFill>
                    <a:srgbClr val="0000FF"/>
                  </a:solidFill>
                </a:rPr>
                <a:t>3:  </a:t>
              </a:r>
              <a:r>
                <a:rPr lang="en-US" sz="1400" dirty="0" err="1">
                  <a:solidFill>
                    <a:srgbClr val="0000FF"/>
                  </a:solidFill>
                </a:rPr>
                <a:t>System.out.println</a:t>
              </a:r>
              <a:r>
                <a:rPr lang="en-US" sz="1400" dirty="0">
                  <a:solidFill>
                    <a:srgbClr val="0000FF"/>
                  </a:solidFill>
                </a:rPr>
                <a:t> (“Enter an integer”);		</a:t>
              </a:r>
              <a:r>
                <a:rPr lang="en-US" sz="1400" dirty="0">
                  <a:solidFill>
                    <a:srgbClr val="00B050"/>
                  </a:solidFill>
                </a:rPr>
                <a:t>//prompt</a:t>
              </a:r>
              <a:endParaRPr lang="en-US" sz="1400" dirty="0">
                <a:solidFill>
                  <a:srgbClr val="0000FF"/>
                </a:solidFill>
              </a:endParaRPr>
            </a:p>
            <a:p>
              <a:r>
                <a:rPr lang="en-US" sz="1400" dirty="0">
                  <a:solidFill>
                    <a:srgbClr val="0000FF"/>
                  </a:solidFill>
                </a:rPr>
                <a:t>	  num1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0000FF"/>
                  </a:solidFill>
                </a:rPr>
                <a:t>	  result = num1 * num1;</a:t>
              </a:r>
              <a:r>
                <a:rPr lang="en-US" sz="1400" dirty="0">
                  <a:solidFill>
                    <a:srgbClr val="00B050"/>
                  </a:solidFill>
                </a:rPr>
                <a:t> // the value of result is no more equal to  -1</a:t>
              </a:r>
              <a:endParaRPr lang="en-US" sz="1400" dirty="0">
                <a:solidFill>
                  <a:srgbClr val="0000FF"/>
                </a:solidFill>
              </a:endParaRPr>
            </a:p>
            <a:p>
              <a:r>
                <a:rPr lang="en-US" sz="1400" dirty="0">
                  <a:solidFill>
                    <a:srgbClr val="0000FF"/>
                  </a:solidFill>
                </a:rPr>
                <a:t>	  </a:t>
              </a:r>
              <a:r>
                <a:rPr lang="en-US" sz="1400" dirty="0">
                  <a:solidFill>
                    <a:srgbClr val="00B0F0"/>
                  </a:solidFill>
                </a:rPr>
                <a:t>break</a:t>
              </a:r>
              <a:r>
                <a:rPr lang="en-US" sz="1400" dirty="0">
                  <a:solidFill>
                    <a:srgbClr val="0000FF"/>
                  </a:solidFill>
                </a:rPr>
                <a:t>;</a:t>
              </a:r>
            </a:p>
            <a:p>
              <a:r>
                <a:rPr lang="en-US" sz="1400" dirty="0">
                  <a:solidFill>
                    <a:srgbClr val="0000FF"/>
                  </a:solidFill>
                </a:rPr>
                <a:t>} </a:t>
              </a:r>
              <a:r>
                <a:rPr lang="en-US" sz="1400" dirty="0">
                  <a:solidFill>
                    <a:srgbClr val="00B050"/>
                  </a:solidFill>
                </a:rPr>
                <a:t>//end switch</a:t>
              </a:r>
            </a:p>
            <a:p>
              <a:r>
                <a:rPr lang="en-US" sz="1400" dirty="0"/>
                <a:t>   //output section</a:t>
              </a:r>
            </a:p>
            <a:p>
              <a:r>
                <a:rPr lang="en-US" sz="1400" dirty="0">
                  <a:solidFill>
                    <a:srgbClr val="0000FF"/>
                  </a:solidFill>
                </a:rPr>
                <a:t>   if (result !=-1)</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(result);</a:t>
              </a:r>
            </a:p>
            <a:p>
              <a:r>
                <a:rPr lang="en-US" sz="1400" dirty="0">
                  <a:solidFill>
                    <a:srgbClr val="0000FF"/>
                  </a:solidFill>
                </a:rPr>
                <a:t>   else</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(message);</a:t>
              </a:r>
            </a:p>
            <a:p>
              <a:r>
                <a:rPr lang="en-US" sz="1400" dirty="0">
                  <a:solidFill>
                    <a:srgbClr val="0000FF"/>
                  </a:solidFill>
                </a:rPr>
                <a:t>} </a:t>
              </a:r>
              <a:r>
                <a:rPr lang="en-US" sz="1400" dirty="0">
                  <a:solidFill>
                    <a:srgbClr val="00B050"/>
                  </a:solidFill>
                </a:rPr>
                <a:t>//end main</a:t>
              </a:r>
            </a:p>
          </p:txBody>
        </p:sp>
        <p:sp>
          <p:nvSpPr>
            <p:cNvPr id="28" name="TextBox 27"/>
            <p:cNvSpPr txBox="1"/>
            <p:nvPr/>
          </p:nvSpPr>
          <p:spPr>
            <a:xfrm>
              <a:off x="323528" y="1236822"/>
              <a:ext cx="576064" cy="4883866"/>
            </a:xfrm>
            <a:prstGeom prst="rect">
              <a:avLst/>
            </a:prstGeom>
            <a:noFill/>
          </p:spPr>
          <p:txBody>
            <a:bodyPr wrap="square" rtlCol="0">
              <a:spAutoFit/>
            </a:bodyPr>
            <a:lstStyle/>
            <a:p>
              <a:pPr algn="r"/>
              <a:r>
                <a:rPr lang="en-US" sz="1400" dirty="0">
                  <a:solidFill>
                    <a:srgbClr val="FF0000"/>
                  </a:solidFill>
                </a:rPr>
                <a:t>14</a:t>
              </a:r>
            </a:p>
            <a:p>
              <a:pPr algn="r"/>
              <a:r>
                <a:rPr lang="en-US" sz="1400" dirty="0">
                  <a:solidFill>
                    <a:srgbClr val="FF0000"/>
                  </a:solidFill>
                </a:rPr>
                <a:t>15</a:t>
              </a:r>
            </a:p>
            <a:p>
              <a:pPr algn="r"/>
              <a:r>
                <a:rPr lang="en-US" sz="1400" dirty="0">
                  <a:solidFill>
                    <a:srgbClr val="FF0000"/>
                  </a:solidFill>
                </a:rPr>
                <a:t>16</a:t>
              </a:r>
            </a:p>
            <a:p>
              <a:pPr algn="r"/>
              <a:r>
                <a:rPr lang="en-US" sz="1400" dirty="0">
                  <a:solidFill>
                    <a:srgbClr val="FF0000"/>
                  </a:solidFill>
                </a:rPr>
                <a:t>17</a:t>
              </a:r>
            </a:p>
            <a:p>
              <a:pPr algn="r"/>
              <a:r>
                <a:rPr lang="en-US" sz="1400" dirty="0">
                  <a:solidFill>
                    <a:srgbClr val="FF0000"/>
                  </a:solidFill>
                </a:rPr>
                <a:t>18</a:t>
              </a:r>
            </a:p>
            <a:p>
              <a:pPr algn="r"/>
              <a:r>
                <a:rPr lang="en-US" sz="1400" dirty="0">
                  <a:solidFill>
                    <a:srgbClr val="FF0000"/>
                  </a:solidFill>
                </a:rPr>
                <a:t>19</a:t>
              </a:r>
            </a:p>
            <a:p>
              <a:pPr algn="r"/>
              <a:r>
                <a:rPr lang="en-US" sz="1400" dirty="0">
                  <a:solidFill>
                    <a:srgbClr val="FF0000"/>
                  </a:solidFill>
                </a:rPr>
                <a:t>20</a:t>
              </a:r>
            </a:p>
            <a:p>
              <a:pPr algn="r"/>
              <a:r>
                <a:rPr lang="en-US" sz="1400" dirty="0">
                  <a:solidFill>
                    <a:srgbClr val="FF0000"/>
                  </a:solidFill>
                </a:rPr>
                <a:t>21</a:t>
              </a:r>
            </a:p>
            <a:p>
              <a:pPr algn="r"/>
              <a:r>
                <a:rPr lang="en-US" sz="1400" dirty="0">
                  <a:solidFill>
                    <a:srgbClr val="FF0000"/>
                  </a:solidFill>
                </a:rPr>
                <a:t>22</a:t>
              </a:r>
            </a:p>
            <a:p>
              <a:pPr algn="r"/>
              <a:r>
                <a:rPr lang="en-US" sz="1400" dirty="0">
                  <a:solidFill>
                    <a:srgbClr val="FF0000"/>
                  </a:solidFill>
                </a:rPr>
                <a:t>23</a:t>
              </a:r>
            </a:p>
            <a:p>
              <a:pPr algn="r"/>
              <a:r>
                <a:rPr lang="en-US" sz="1400" dirty="0">
                  <a:solidFill>
                    <a:srgbClr val="FF0000"/>
                  </a:solidFill>
                </a:rPr>
                <a:t>24</a:t>
              </a:r>
            </a:p>
            <a:p>
              <a:pPr algn="r"/>
              <a:r>
                <a:rPr lang="en-US" sz="1400" dirty="0">
                  <a:solidFill>
                    <a:srgbClr val="FF0000"/>
                  </a:solidFill>
                </a:rPr>
                <a:t>25</a:t>
              </a:r>
            </a:p>
            <a:p>
              <a:pPr algn="r"/>
              <a:r>
                <a:rPr lang="en-US" sz="1400" dirty="0">
                  <a:solidFill>
                    <a:srgbClr val="FF0000"/>
                  </a:solidFill>
                </a:rPr>
                <a:t>26</a:t>
              </a:r>
            </a:p>
            <a:p>
              <a:pPr algn="r"/>
              <a:r>
                <a:rPr lang="en-US" sz="1400" dirty="0">
                  <a:solidFill>
                    <a:srgbClr val="FF0000"/>
                  </a:solidFill>
                </a:rPr>
                <a:t>27</a:t>
              </a:r>
            </a:p>
            <a:p>
              <a:pPr algn="r"/>
              <a:r>
                <a:rPr lang="en-US" sz="1400" dirty="0">
                  <a:solidFill>
                    <a:srgbClr val="FF0000"/>
                  </a:solidFill>
                </a:rPr>
                <a:t>28</a:t>
              </a:r>
            </a:p>
            <a:p>
              <a:pPr algn="r"/>
              <a:r>
                <a:rPr lang="en-US" sz="1400" dirty="0">
                  <a:solidFill>
                    <a:srgbClr val="FF0000"/>
                  </a:solidFill>
                </a:rPr>
                <a:t>29</a:t>
              </a:r>
            </a:p>
            <a:p>
              <a:pPr algn="r"/>
              <a:r>
                <a:rPr lang="en-US" sz="1400" dirty="0">
                  <a:solidFill>
                    <a:srgbClr val="FF0000"/>
                  </a:solidFill>
                </a:rPr>
                <a:t>30</a:t>
              </a:r>
            </a:p>
            <a:p>
              <a:pPr algn="r"/>
              <a:r>
                <a:rPr lang="en-US" sz="1400" dirty="0">
                  <a:solidFill>
                    <a:srgbClr val="FF0000"/>
                  </a:solidFill>
                </a:rPr>
                <a:t>31</a:t>
              </a:r>
            </a:p>
            <a:p>
              <a:pPr algn="r"/>
              <a:r>
                <a:rPr lang="en-US" sz="1400" dirty="0">
                  <a:solidFill>
                    <a:srgbClr val="FF0000"/>
                  </a:solidFill>
                </a:rPr>
                <a:t>32</a:t>
              </a:r>
            </a:p>
            <a:p>
              <a:pPr algn="r"/>
              <a:r>
                <a:rPr lang="en-US" sz="1400" dirty="0">
                  <a:solidFill>
                    <a:srgbClr val="FF0000"/>
                  </a:solidFill>
                </a:rPr>
                <a:t>33</a:t>
              </a:r>
            </a:p>
            <a:p>
              <a:pPr algn="r"/>
              <a:r>
                <a:rPr lang="en-US" sz="1400" dirty="0">
                  <a:solidFill>
                    <a:srgbClr val="FF0000"/>
                  </a:solidFill>
                </a:rPr>
                <a:t>34</a:t>
              </a:r>
            </a:p>
            <a:p>
              <a:pPr algn="r"/>
              <a:r>
                <a:rPr lang="en-US" sz="1400" dirty="0">
                  <a:solidFill>
                    <a:srgbClr val="FF0000"/>
                  </a:solidFill>
                </a:rPr>
                <a:t>35</a:t>
              </a:r>
            </a:p>
            <a:p>
              <a:pPr algn="r"/>
              <a:r>
                <a:rPr lang="en-US" sz="1400" dirty="0">
                  <a:solidFill>
                    <a:srgbClr val="FF0000"/>
                  </a:solidFill>
                </a:rPr>
                <a:t>36</a:t>
              </a:r>
            </a:p>
          </p:txBody>
        </p:sp>
      </p:grpSp>
    </p:spTree>
    <p:custDataLst>
      <p:tags r:id="rId1"/>
    </p:custDataLst>
    <p:extLst>
      <p:ext uri="{BB962C8B-B14F-4D97-AF65-F5344CB8AC3E}">
        <p14:creationId xmlns:p14="http://schemas.microsoft.com/office/powerpoint/2010/main" val="23080336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2"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right)">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2 – </a:t>
            </a:r>
            <a:r>
              <a:rPr lang="en-US" b="1" dirty="0">
                <a:solidFill>
                  <a:srgbClr val="0000FF"/>
                </a:solidFill>
              </a:rPr>
              <a:t>Validating user input</a:t>
            </a: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179512" y="1406381"/>
            <a:ext cx="8784976" cy="5262979"/>
            <a:chOff x="323528" y="1236822"/>
            <a:chExt cx="7848872" cy="5292582"/>
          </a:xfrm>
        </p:grpSpPr>
        <p:sp>
          <p:nvSpPr>
            <p:cNvPr id="13" name="TextBox 12"/>
            <p:cNvSpPr txBox="1"/>
            <p:nvPr/>
          </p:nvSpPr>
          <p:spPr>
            <a:xfrm>
              <a:off x="971600" y="1236822"/>
              <a:ext cx="7200800" cy="5292582"/>
            </a:xfrm>
            <a:prstGeom prst="rect">
              <a:avLst/>
            </a:prstGeom>
            <a:solidFill>
              <a:schemeClr val="bg2"/>
            </a:solidFill>
            <a:ln w="28575" cap="rnd" cmpd="thickThin">
              <a:solidFill>
                <a:srgbClr val="0000FF"/>
              </a:solidFill>
            </a:ln>
          </p:spPr>
          <p:txBody>
            <a:bodyPr wrap="square" rtlCol="0">
              <a:spAutoFit/>
            </a:bodyPr>
            <a:lstStyle/>
            <a:p>
              <a:r>
                <a:rPr lang="en-US" sz="1400" dirty="0"/>
                <a:t>//processing section</a:t>
              </a:r>
            </a:p>
            <a:p>
              <a:r>
                <a:rPr lang="en-US" sz="1400" dirty="0">
                  <a:solidFill>
                    <a:srgbClr val="0000FF"/>
                  </a:solidFill>
                </a:rPr>
                <a:t>   </a:t>
              </a:r>
              <a:r>
                <a:rPr lang="en-US" sz="1400" dirty="0">
                  <a:solidFill>
                    <a:srgbClr val="00B0F0"/>
                  </a:solidFill>
                </a:rPr>
                <a:t>switch </a:t>
              </a:r>
              <a:r>
                <a:rPr lang="en-US" sz="1400" dirty="0">
                  <a:solidFill>
                    <a:srgbClr val="0000FF"/>
                  </a:solidFill>
                </a:rPr>
                <a:t>(choice)</a:t>
              </a:r>
            </a:p>
            <a:p>
              <a:r>
                <a:rPr lang="en-US" sz="1400" dirty="0">
                  <a:solidFill>
                    <a:srgbClr val="0000FF"/>
                  </a:solidFill>
                </a:rPr>
                <a:t>   {</a:t>
              </a:r>
            </a:p>
            <a:p>
              <a:r>
                <a:rPr lang="en-US" sz="1400" dirty="0">
                  <a:solidFill>
                    <a:srgbClr val="0000FF"/>
                  </a:solidFill>
                </a:rPr>
                <a:t>      </a:t>
              </a:r>
              <a:r>
                <a:rPr lang="en-US" sz="1400" dirty="0">
                  <a:solidFill>
                    <a:srgbClr val="00B0F0"/>
                  </a:solidFill>
                </a:rPr>
                <a:t>case </a:t>
              </a:r>
              <a:r>
                <a:rPr lang="en-US" sz="1400" dirty="0">
                  <a:solidFill>
                    <a:srgbClr val="0000FF"/>
                  </a:solidFill>
                </a:rPr>
                <a:t>1: </a:t>
              </a:r>
              <a:r>
                <a:rPr lang="en-US" sz="1400" dirty="0" err="1">
                  <a:solidFill>
                    <a:srgbClr val="0000FF"/>
                  </a:solidFill>
                </a:rPr>
                <a:t>System.out.println</a:t>
              </a:r>
              <a:r>
                <a:rPr lang="en-US" sz="1400" dirty="0">
                  <a:solidFill>
                    <a:srgbClr val="0000FF"/>
                  </a:solidFill>
                </a:rPr>
                <a:t> (“Enter two </a:t>
              </a:r>
              <a:r>
                <a:rPr lang="en-US" sz="1400" dirty="0">
                  <a:solidFill>
                    <a:srgbClr val="FF0000"/>
                  </a:solidFill>
                </a:rPr>
                <a:t>positive</a:t>
              </a:r>
              <a:r>
                <a:rPr lang="en-US" sz="1400" dirty="0">
                  <a:solidFill>
                    <a:srgbClr val="0000FF"/>
                  </a:solidFill>
                </a:rPr>
                <a:t> integers”);	</a:t>
              </a:r>
              <a:r>
                <a:rPr lang="en-US" sz="1400" dirty="0">
                  <a:solidFill>
                    <a:srgbClr val="00B050"/>
                  </a:solidFill>
                </a:rPr>
                <a:t>//prompt</a:t>
              </a:r>
            </a:p>
            <a:p>
              <a:r>
                <a:rPr lang="en-US" sz="1400" dirty="0">
                  <a:solidFill>
                    <a:srgbClr val="0000FF"/>
                  </a:solidFill>
                </a:rPr>
                <a:t>	 num1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0000FF"/>
                  </a:solidFill>
                </a:rPr>
                <a:t>	 num2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FF0000"/>
                  </a:solidFill>
                </a:rPr>
                <a:t>	 if ((num1 &lt; 0) || (num2 &lt; 0))  </a:t>
              </a:r>
              <a:r>
                <a:rPr lang="en-US" sz="1400" dirty="0">
                  <a:solidFill>
                    <a:srgbClr val="00B050"/>
                  </a:solidFill>
                </a:rPr>
                <a:t>//should be made after reading num1 &amp; num2</a:t>
              </a:r>
            </a:p>
            <a:p>
              <a:r>
                <a:rPr lang="en-US" sz="1400" dirty="0">
                  <a:solidFill>
                    <a:srgbClr val="FF0000"/>
                  </a:solidFill>
                </a:rPr>
                <a:t>	     result = -1;</a:t>
              </a:r>
            </a:p>
            <a:p>
              <a:r>
                <a:rPr lang="en-US" sz="1400" dirty="0">
                  <a:solidFill>
                    <a:srgbClr val="FF0000"/>
                  </a:solidFill>
                </a:rPr>
                <a:t>	 else</a:t>
              </a:r>
            </a:p>
            <a:p>
              <a:r>
                <a:rPr lang="en-US" sz="1400" dirty="0">
                  <a:solidFill>
                    <a:srgbClr val="0000FF"/>
                  </a:solidFill>
                </a:rPr>
                <a:t>	     result = num1 + num2;  </a:t>
              </a:r>
              <a:r>
                <a:rPr lang="en-US" sz="1400" dirty="0">
                  <a:solidFill>
                    <a:srgbClr val="00B050"/>
                  </a:solidFill>
                </a:rPr>
                <a:t>// the value of result is no more equal to  -1</a:t>
              </a:r>
            </a:p>
            <a:p>
              <a:r>
                <a:rPr lang="en-US" sz="1400" dirty="0">
                  <a:solidFill>
                    <a:srgbClr val="0000FF"/>
                  </a:solidFill>
                </a:rPr>
                <a:t>  	 </a:t>
              </a:r>
              <a:r>
                <a:rPr lang="en-US" sz="1400" dirty="0">
                  <a:solidFill>
                    <a:srgbClr val="00B0F0"/>
                  </a:solidFill>
                </a:rPr>
                <a:t>break</a:t>
              </a:r>
              <a:r>
                <a:rPr lang="en-US" sz="1400" dirty="0">
                  <a:solidFill>
                    <a:srgbClr val="0000FF"/>
                  </a:solidFill>
                </a:rPr>
                <a:t>;</a:t>
              </a:r>
            </a:p>
            <a:p>
              <a:r>
                <a:rPr lang="en-US" sz="1400" dirty="0">
                  <a:solidFill>
                    <a:srgbClr val="0000FF"/>
                  </a:solidFill>
                </a:rPr>
                <a:t>      </a:t>
              </a:r>
              <a:r>
                <a:rPr lang="en-US" sz="1400" dirty="0">
                  <a:solidFill>
                    <a:srgbClr val="00B0F0"/>
                  </a:solidFill>
                </a:rPr>
                <a:t>case </a:t>
              </a:r>
              <a:r>
                <a:rPr lang="en-US" sz="1400" dirty="0">
                  <a:solidFill>
                    <a:srgbClr val="0000FF"/>
                  </a:solidFill>
                </a:rPr>
                <a:t>2: </a:t>
              </a:r>
              <a:r>
                <a:rPr lang="en-US" sz="1400" dirty="0" err="1">
                  <a:solidFill>
                    <a:srgbClr val="0000FF"/>
                  </a:solidFill>
                </a:rPr>
                <a:t>System.out.println</a:t>
              </a:r>
              <a:r>
                <a:rPr lang="en-US" sz="1400" dirty="0">
                  <a:solidFill>
                    <a:srgbClr val="0000FF"/>
                  </a:solidFill>
                </a:rPr>
                <a:t> (“Enter a </a:t>
              </a:r>
              <a:r>
                <a:rPr lang="en-US" sz="1400" dirty="0">
                  <a:solidFill>
                    <a:srgbClr val="FF0000"/>
                  </a:solidFill>
                </a:rPr>
                <a:t>positive</a:t>
              </a:r>
              <a:r>
                <a:rPr lang="en-US" sz="1400" dirty="0">
                  <a:solidFill>
                    <a:srgbClr val="0000FF"/>
                  </a:solidFill>
                </a:rPr>
                <a:t> integer”);	</a:t>
              </a:r>
              <a:r>
                <a:rPr lang="en-US" sz="1400" dirty="0">
                  <a:solidFill>
                    <a:srgbClr val="00B050"/>
                  </a:solidFill>
                </a:rPr>
                <a:t>//prompt</a:t>
              </a:r>
            </a:p>
            <a:p>
              <a:r>
                <a:rPr lang="en-US" sz="1400" dirty="0">
                  <a:solidFill>
                    <a:srgbClr val="0000FF"/>
                  </a:solidFill>
                </a:rPr>
                <a:t>	  num1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FF0000"/>
                  </a:solidFill>
                </a:rPr>
                <a:t>	  if (num1 &lt; 0) </a:t>
              </a:r>
              <a:r>
                <a:rPr lang="en-US" sz="1400" dirty="0">
                  <a:solidFill>
                    <a:srgbClr val="00B050"/>
                  </a:solidFill>
                </a:rPr>
                <a:t>//this should be made after reading </a:t>
              </a:r>
              <a:r>
                <a:rPr lang="en-US" sz="1400" dirty="0" err="1">
                  <a:solidFill>
                    <a:srgbClr val="00B050"/>
                  </a:solidFill>
                </a:rPr>
                <a:t>num</a:t>
              </a:r>
              <a:endParaRPr lang="en-US" sz="1400" dirty="0">
                <a:solidFill>
                  <a:srgbClr val="FF0000"/>
                </a:solidFill>
              </a:endParaRPr>
            </a:p>
            <a:p>
              <a:r>
                <a:rPr lang="en-US" sz="1400" dirty="0">
                  <a:solidFill>
                    <a:srgbClr val="FF0000"/>
                  </a:solidFill>
                </a:rPr>
                <a:t>	     result = -1;</a:t>
              </a:r>
            </a:p>
            <a:p>
              <a:r>
                <a:rPr lang="en-US" sz="1400" dirty="0">
                  <a:solidFill>
                    <a:srgbClr val="FF0000"/>
                  </a:solidFill>
                </a:rPr>
                <a:t>	  else</a:t>
              </a:r>
            </a:p>
            <a:p>
              <a:r>
                <a:rPr lang="en-US" sz="1400" dirty="0">
                  <a:solidFill>
                    <a:srgbClr val="0000FF"/>
                  </a:solidFill>
                </a:rPr>
                <a:t>	     result = num1 * 2;        </a:t>
              </a:r>
              <a:r>
                <a:rPr lang="en-US" sz="1400" dirty="0">
                  <a:solidFill>
                    <a:srgbClr val="00B050"/>
                  </a:solidFill>
                </a:rPr>
                <a:t>// the value of result is no more equal to  -1</a:t>
              </a:r>
              <a:endParaRPr lang="en-US" sz="1400" dirty="0">
                <a:solidFill>
                  <a:srgbClr val="0000FF"/>
                </a:solidFill>
              </a:endParaRPr>
            </a:p>
            <a:p>
              <a:r>
                <a:rPr lang="en-US" sz="1400" dirty="0">
                  <a:solidFill>
                    <a:srgbClr val="0000FF"/>
                  </a:solidFill>
                </a:rPr>
                <a:t>	  </a:t>
              </a:r>
              <a:r>
                <a:rPr lang="en-US" sz="1400" dirty="0">
                  <a:solidFill>
                    <a:srgbClr val="00B0F0"/>
                  </a:solidFill>
                </a:rPr>
                <a:t>break</a:t>
              </a:r>
              <a:r>
                <a:rPr lang="en-US" sz="1400" dirty="0">
                  <a:solidFill>
                    <a:srgbClr val="0000FF"/>
                  </a:solidFill>
                </a:rPr>
                <a:t>;</a:t>
              </a:r>
            </a:p>
            <a:p>
              <a:r>
                <a:rPr lang="en-US" sz="1400" dirty="0">
                  <a:solidFill>
                    <a:srgbClr val="0000FF"/>
                  </a:solidFill>
                </a:rPr>
                <a:t>      </a:t>
              </a:r>
              <a:r>
                <a:rPr lang="en-US" sz="1400" dirty="0">
                  <a:solidFill>
                    <a:srgbClr val="00B0F0"/>
                  </a:solidFill>
                </a:rPr>
                <a:t>case </a:t>
              </a:r>
              <a:r>
                <a:rPr lang="en-US" sz="1400" dirty="0">
                  <a:solidFill>
                    <a:srgbClr val="0000FF"/>
                  </a:solidFill>
                </a:rPr>
                <a:t>3:  </a:t>
              </a:r>
              <a:r>
                <a:rPr lang="en-US" sz="1400" dirty="0" err="1">
                  <a:solidFill>
                    <a:srgbClr val="0000FF"/>
                  </a:solidFill>
                </a:rPr>
                <a:t>System.out.println</a:t>
              </a:r>
              <a:r>
                <a:rPr lang="en-US" sz="1400" dirty="0">
                  <a:solidFill>
                    <a:srgbClr val="0000FF"/>
                  </a:solidFill>
                </a:rPr>
                <a:t> (“Enter an integer”);		</a:t>
              </a:r>
              <a:r>
                <a:rPr lang="en-US" sz="1400" dirty="0">
                  <a:solidFill>
                    <a:srgbClr val="00B050"/>
                  </a:solidFill>
                </a:rPr>
                <a:t>//prompt</a:t>
              </a:r>
              <a:endParaRPr lang="en-US" sz="1400" dirty="0">
                <a:solidFill>
                  <a:srgbClr val="0000FF"/>
                </a:solidFill>
              </a:endParaRPr>
            </a:p>
            <a:p>
              <a:r>
                <a:rPr lang="en-US" sz="1400" dirty="0">
                  <a:solidFill>
                    <a:srgbClr val="0000FF"/>
                  </a:solidFill>
                </a:rPr>
                <a:t>	  num1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0000FF"/>
                  </a:solidFill>
                </a:rPr>
                <a:t>	  result = num1 * num1;</a:t>
              </a:r>
              <a:r>
                <a:rPr lang="en-US" sz="1400" dirty="0">
                  <a:solidFill>
                    <a:srgbClr val="00B050"/>
                  </a:solidFill>
                </a:rPr>
                <a:t> // the value of result is always positive</a:t>
              </a:r>
              <a:endParaRPr lang="en-US" sz="1400" dirty="0">
                <a:solidFill>
                  <a:srgbClr val="0000FF"/>
                </a:solidFill>
              </a:endParaRPr>
            </a:p>
            <a:p>
              <a:r>
                <a:rPr lang="en-US" sz="1400" dirty="0">
                  <a:solidFill>
                    <a:srgbClr val="0000FF"/>
                  </a:solidFill>
                </a:rPr>
                <a:t>	  </a:t>
              </a:r>
              <a:r>
                <a:rPr lang="en-US" sz="1400" dirty="0">
                  <a:solidFill>
                    <a:srgbClr val="00B0F0"/>
                  </a:solidFill>
                </a:rPr>
                <a:t>break</a:t>
              </a:r>
              <a:r>
                <a:rPr lang="en-US" sz="1400" dirty="0">
                  <a:solidFill>
                    <a:srgbClr val="0000FF"/>
                  </a:solidFill>
                </a:rPr>
                <a:t>;</a:t>
              </a:r>
            </a:p>
            <a:p>
              <a:r>
                <a:rPr lang="en-US" sz="1400" dirty="0">
                  <a:solidFill>
                    <a:srgbClr val="0000FF"/>
                  </a:solidFill>
                </a:rPr>
                <a:t>} </a:t>
              </a:r>
              <a:r>
                <a:rPr lang="en-US" sz="1400" dirty="0">
                  <a:solidFill>
                    <a:srgbClr val="00B050"/>
                  </a:solidFill>
                </a:rPr>
                <a:t>//end switch</a:t>
              </a:r>
            </a:p>
            <a:p>
              <a:r>
                <a:rPr lang="en-US" sz="1400" dirty="0"/>
                <a:t>   //output section</a:t>
              </a:r>
            </a:p>
          </p:txBody>
        </p:sp>
        <p:sp>
          <p:nvSpPr>
            <p:cNvPr id="14" name="TextBox 13"/>
            <p:cNvSpPr txBox="1"/>
            <p:nvPr/>
          </p:nvSpPr>
          <p:spPr>
            <a:xfrm>
              <a:off x="323528" y="1236822"/>
              <a:ext cx="576064" cy="5292582"/>
            </a:xfrm>
            <a:prstGeom prst="rect">
              <a:avLst/>
            </a:prstGeom>
            <a:noFill/>
          </p:spPr>
          <p:txBody>
            <a:bodyPr wrap="square" rtlCol="0">
              <a:spAutoFit/>
            </a:bodyPr>
            <a:lstStyle/>
            <a:p>
              <a:pPr algn="r"/>
              <a:r>
                <a:rPr lang="en-US" sz="1400" dirty="0">
                  <a:solidFill>
                    <a:srgbClr val="FF0000"/>
                  </a:solidFill>
                </a:rPr>
                <a:t>14</a:t>
              </a:r>
            </a:p>
            <a:p>
              <a:pPr algn="r"/>
              <a:r>
                <a:rPr lang="en-US" sz="1400" dirty="0">
                  <a:solidFill>
                    <a:srgbClr val="FF0000"/>
                  </a:solidFill>
                </a:rPr>
                <a:t>15</a:t>
              </a:r>
            </a:p>
            <a:p>
              <a:pPr algn="r"/>
              <a:r>
                <a:rPr lang="en-US" sz="1400" dirty="0">
                  <a:solidFill>
                    <a:srgbClr val="FF0000"/>
                  </a:solidFill>
                </a:rPr>
                <a:t>16</a:t>
              </a:r>
            </a:p>
            <a:p>
              <a:pPr algn="r"/>
              <a:r>
                <a:rPr lang="en-US" sz="1400" dirty="0">
                  <a:solidFill>
                    <a:srgbClr val="FF0000"/>
                  </a:solidFill>
                </a:rPr>
                <a:t>17</a:t>
              </a:r>
            </a:p>
            <a:p>
              <a:pPr algn="r"/>
              <a:r>
                <a:rPr lang="en-US" sz="1400" dirty="0">
                  <a:solidFill>
                    <a:srgbClr val="FF0000"/>
                  </a:solidFill>
                </a:rPr>
                <a:t>18</a:t>
              </a:r>
            </a:p>
            <a:p>
              <a:pPr algn="r"/>
              <a:r>
                <a:rPr lang="en-US" sz="1400" dirty="0">
                  <a:solidFill>
                    <a:srgbClr val="FF0000"/>
                  </a:solidFill>
                </a:rPr>
                <a:t>19</a:t>
              </a:r>
            </a:p>
            <a:p>
              <a:pPr algn="r"/>
              <a:r>
                <a:rPr lang="en-US" sz="1400" dirty="0">
                  <a:solidFill>
                    <a:srgbClr val="FF0000"/>
                  </a:solidFill>
                </a:rPr>
                <a:t>20</a:t>
              </a:r>
            </a:p>
            <a:p>
              <a:pPr algn="r"/>
              <a:r>
                <a:rPr lang="en-US" sz="1400" dirty="0">
                  <a:solidFill>
                    <a:srgbClr val="FF0000"/>
                  </a:solidFill>
                </a:rPr>
                <a:t>21</a:t>
              </a:r>
            </a:p>
            <a:p>
              <a:pPr algn="r"/>
              <a:r>
                <a:rPr lang="en-US" sz="1400" dirty="0">
                  <a:solidFill>
                    <a:srgbClr val="FF0000"/>
                  </a:solidFill>
                </a:rPr>
                <a:t>22</a:t>
              </a:r>
            </a:p>
            <a:p>
              <a:pPr algn="r"/>
              <a:r>
                <a:rPr lang="en-US" sz="1400" dirty="0">
                  <a:solidFill>
                    <a:srgbClr val="FF0000"/>
                  </a:solidFill>
                </a:rPr>
                <a:t>23</a:t>
              </a:r>
            </a:p>
            <a:p>
              <a:pPr algn="r"/>
              <a:r>
                <a:rPr lang="en-US" sz="1400" dirty="0">
                  <a:solidFill>
                    <a:srgbClr val="FF0000"/>
                  </a:solidFill>
                </a:rPr>
                <a:t>24</a:t>
              </a:r>
            </a:p>
            <a:p>
              <a:pPr algn="r"/>
              <a:r>
                <a:rPr lang="en-US" sz="1400" dirty="0">
                  <a:solidFill>
                    <a:srgbClr val="FF0000"/>
                  </a:solidFill>
                </a:rPr>
                <a:t>25</a:t>
              </a:r>
            </a:p>
            <a:p>
              <a:pPr algn="r"/>
              <a:r>
                <a:rPr lang="en-US" sz="1400" dirty="0">
                  <a:solidFill>
                    <a:srgbClr val="FF0000"/>
                  </a:solidFill>
                </a:rPr>
                <a:t>26</a:t>
              </a:r>
            </a:p>
            <a:p>
              <a:pPr algn="r"/>
              <a:r>
                <a:rPr lang="en-US" sz="1400" dirty="0">
                  <a:solidFill>
                    <a:srgbClr val="FF0000"/>
                  </a:solidFill>
                </a:rPr>
                <a:t>27</a:t>
              </a:r>
            </a:p>
            <a:p>
              <a:pPr algn="r"/>
              <a:r>
                <a:rPr lang="en-US" sz="1400" dirty="0">
                  <a:solidFill>
                    <a:srgbClr val="FF0000"/>
                  </a:solidFill>
                </a:rPr>
                <a:t>28</a:t>
              </a:r>
            </a:p>
            <a:p>
              <a:pPr algn="r"/>
              <a:r>
                <a:rPr lang="en-US" sz="1400" dirty="0">
                  <a:solidFill>
                    <a:srgbClr val="FF0000"/>
                  </a:solidFill>
                </a:rPr>
                <a:t>29</a:t>
              </a:r>
            </a:p>
            <a:p>
              <a:pPr algn="r"/>
              <a:r>
                <a:rPr lang="en-US" sz="1400" dirty="0">
                  <a:solidFill>
                    <a:srgbClr val="FF0000"/>
                  </a:solidFill>
                </a:rPr>
                <a:t>30</a:t>
              </a:r>
            </a:p>
            <a:p>
              <a:pPr algn="r"/>
              <a:r>
                <a:rPr lang="en-US" sz="1400" dirty="0">
                  <a:solidFill>
                    <a:srgbClr val="FF0000"/>
                  </a:solidFill>
                </a:rPr>
                <a:t>31</a:t>
              </a:r>
            </a:p>
            <a:p>
              <a:pPr algn="r"/>
              <a:r>
                <a:rPr lang="en-US" sz="1400" dirty="0">
                  <a:solidFill>
                    <a:srgbClr val="FF0000"/>
                  </a:solidFill>
                </a:rPr>
                <a:t>32</a:t>
              </a:r>
            </a:p>
            <a:p>
              <a:pPr algn="r"/>
              <a:r>
                <a:rPr lang="en-US" sz="1400" dirty="0">
                  <a:solidFill>
                    <a:srgbClr val="FF0000"/>
                  </a:solidFill>
                </a:rPr>
                <a:t>33</a:t>
              </a:r>
            </a:p>
            <a:p>
              <a:pPr algn="r"/>
              <a:r>
                <a:rPr lang="en-US" sz="1400" dirty="0">
                  <a:solidFill>
                    <a:srgbClr val="FF0000"/>
                  </a:solidFill>
                </a:rPr>
                <a:t>34</a:t>
              </a:r>
            </a:p>
            <a:p>
              <a:pPr algn="r"/>
              <a:r>
                <a:rPr lang="en-US" sz="1400" dirty="0">
                  <a:solidFill>
                    <a:srgbClr val="FF0000"/>
                  </a:solidFill>
                </a:rPr>
                <a:t>35</a:t>
              </a:r>
            </a:p>
            <a:p>
              <a:pPr algn="r"/>
              <a:r>
                <a:rPr lang="en-US" sz="1400" dirty="0">
                  <a:solidFill>
                    <a:srgbClr val="FF0000"/>
                  </a:solidFill>
                </a:rPr>
                <a:t>36</a:t>
              </a:r>
            </a:p>
            <a:p>
              <a:pPr algn="r"/>
              <a:r>
                <a:rPr lang="en-US" sz="1400" dirty="0">
                  <a:solidFill>
                    <a:srgbClr val="FF0000"/>
                  </a:solidFill>
                </a:rPr>
                <a:t>37</a:t>
              </a:r>
            </a:p>
          </p:txBody>
        </p:sp>
      </p:grpSp>
      <p:sp>
        <p:nvSpPr>
          <p:cNvPr id="7" name="Slide Number Placeholder 6"/>
          <p:cNvSpPr>
            <a:spLocks noGrp="1"/>
          </p:cNvSpPr>
          <p:nvPr>
            <p:ph type="sldNum" sz="quarter" idx="12"/>
          </p:nvPr>
        </p:nvSpPr>
        <p:spPr>
          <a:xfrm>
            <a:off x="8604448" y="6309320"/>
            <a:ext cx="365760" cy="365125"/>
          </a:xfrm>
        </p:spPr>
        <p:txBody>
          <a:bodyPr>
            <a:normAutofit/>
          </a:bodyPr>
          <a:lstStyle/>
          <a:p>
            <a:fld id="{125A1C68-F048-4C66-8544-2D3BD35A5879}" type="slidenum">
              <a:rPr lang="en-US" smtClean="0"/>
              <a:pPr/>
              <a:t>13</a:t>
            </a:fld>
            <a:endParaRPr lang="en-US" dirty="0"/>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1.2 Programming Hint (1)</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96244680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2"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right)">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rmAutofit/>
          </a:bodyPr>
          <a:lstStyle/>
          <a:p>
            <a:fld id="{125A1C68-F048-4C66-8544-2D3BD35A5879}" type="slidenum">
              <a:rPr lang="en-US" smtClean="0"/>
              <a:pPr/>
              <a:t>14</a:t>
            </a:fld>
            <a:endParaRPr lang="en-US"/>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1.2 Programming Hint (1)</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2 – </a:t>
            </a:r>
            <a:r>
              <a:rPr lang="en-US" b="1" dirty="0">
                <a:solidFill>
                  <a:srgbClr val="0000FF"/>
                </a:solidFill>
              </a:rPr>
              <a:t>Validating user input (cont’d)</a:t>
            </a: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179512" y="1476648"/>
            <a:ext cx="8784976" cy="1384995"/>
            <a:chOff x="323528" y="1236822"/>
            <a:chExt cx="7848872" cy="1340087"/>
          </a:xfrm>
        </p:grpSpPr>
        <p:sp>
          <p:nvSpPr>
            <p:cNvPr id="13" name="TextBox 12"/>
            <p:cNvSpPr txBox="1"/>
            <p:nvPr/>
          </p:nvSpPr>
          <p:spPr>
            <a:xfrm>
              <a:off x="971600" y="1236822"/>
              <a:ext cx="7200800" cy="1340085"/>
            </a:xfrm>
            <a:prstGeom prst="rect">
              <a:avLst/>
            </a:prstGeom>
            <a:solidFill>
              <a:schemeClr val="bg2"/>
            </a:solidFill>
            <a:ln w="28575" cap="rnd" cmpd="thickThin">
              <a:solidFill>
                <a:srgbClr val="0000FF"/>
              </a:solidFill>
            </a:ln>
          </p:spPr>
          <p:txBody>
            <a:bodyPr wrap="square" rtlCol="0">
              <a:spAutoFit/>
            </a:bodyPr>
            <a:lstStyle/>
            <a:p>
              <a:r>
                <a:rPr lang="en-US" sz="1400" dirty="0"/>
                <a:t>//output section</a:t>
              </a:r>
            </a:p>
            <a:p>
              <a:r>
                <a:rPr lang="en-US" sz="1400" dirty="0">
                  <a:solidFill>
                    <a:srgbClr val="0000FF"/>
                  </a:solidFill>
                </a:rPr>
                <a:t>   if (result !=-1)</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(result);</a:t>
              </a:r>
            </a:p>
            <a:p>
              <a:r>
                <a:rPr lang="en-US" sz="1400" dirty="0">
                  <a:solidFill>
                    <a:srgbClr val="0000FF"/>
                  </a:solidFill>
                </a:rPr>
                <a:t>   else</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(message);</a:t>
              </a:r>
            </a:p>
            <a:p>
              <a:r>
                <a:rPr lang="en-US" sz="1400" dirty="0">
                  <a:solidFill>
                    <a:srgbClr val="0000FF"/>
                  </a:solidFill>
                </a:rPr>
                <a:t>} </a:t>
              </a:r>
              <a:r>
                <a:rPr lang="en-US" sz="1400" dirty="0">
                  <a:solidFill>
                    <a:srgbClr val="00B050"/>
                  </a:solidFill>
                </a:rPr>
                <a:t>//end main</a:t>
              </a:r>
            </a:p>
          </p:txBody>
        </p:sp>
        <p:sp>
          <p:nvSpPr>
            <p:cNvPr id="14" name="TextBox 13"/>
            <p:cNvSpPr txBox="1"/>
            <p:nvPr/>
          </p:nvSpPr>
          <p:spPr>
            <a:xfrm>
              <a:off x="323528" y="1236822"/>
              <a:ext cx="576064" cy="1340087"/>
            </a:xfrm>
            <a:prstGeom prst="rect">
              <a:avLst/>
            </a:prstGeom>
            <a:noFill/>
          </p:spPr>
          <p:txBody>
            <a:bodyPr wrap="square" rtlCol="0">
              <a:spAutoFit/>
            </a:bodyPr>
            <a:lstStyle/>
            <a:p>
              <a:pPr algn="r"/>
              <a:r>
                <a:rPr lang="en-US" sz="1400" dirty="0">
                  <a:solidFill>
                    <a:srgbClr val="FF0000"/>
                  </a:solidFill>
                </a:rPr>
                <a:t>37</a:t>
              </a:r>
            </a:p>
            <a:p>
              <a:pPr algn="r"/>
              <a:r>
                <a:rPr lang="en-US" sz="1400" dirty="0">
                  <a:solidFill>
                    <a:srgbClr val="FF0000"/>
                  </a:solidFill>
                </a:rPr>
                <a:t>38</a:t>
              </a:r>
            </a:p>
            <a:p>
              <a:pPr algn="r"/>
              <a:r>
                <a:rPr lang="en-US" sz="1400" dirty="0">
                  <a:solidFill>
                    <a:srgbClr val="FF0000"/>
                  </a:solidFill>
                </a:rPr>
                <a:t>39</a:t>
              </a:r>
            </a:p>
            <a:p>
              <a:pPr algn="r"/>
              <a:r>
                <a:rPr lang="en-US" sz="1400" dirty="0">
                  <a:solidFill>
                    <a:srgbClr val="FF0000"/>
                  </a:solidFill>
                </a:rPr>
                <a:t>40</a:t>
              </a:r>
            </a:p>
            <a:p>
              <a:pPr algn="r"/>
              <a:r>
                <a:rPr lang="en-US" sz="1400" dirty="0">
                  <a:solidFill>
                    <a:srgbClr val="FF0000"/>
                  </a:solidFill>
                </a:rPr>
                <a:t>41</a:t>
              </a:r>
            </a:p>
            <a:p>
              <a:pPr algn="r"/>
              <a:r>
                <a:rPr lang="en-US" sz="1400" dirty="0">
                  <a:solidFill>
                    <a:srgbClr val="FF0000"/>
                  </a:solidFill>
                </a:rPr>
                <a:t>42</a:t>
              </a:r>
            </a:p>
          </p:txBody>
        </p:sp>
      </p:grpSp>
      <p:sp>
        <p:nvSpPr>
          <p:cNvPr id="11" name="Content Placeholder 4"/>
          <p:cNvSpPr txBox="1">
            <a:spLocks/>
          </p:cNvSpPr>
          <p:nvPr/>
        </p:nvSpPr>
        <p:spPr>
          <a:xfrm>
            <a:off x="251520" y="4005064"/>
            <a:ext cx="8640960" cy="936104"/>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342900" indent="-342900" algn="just">
              <a:lnSpc>
                <a:spcPct val="90000"/>
              </a:lnSpc>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In the example above,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result </a:t>
            </a:r>
            <a:r>
              <a:rPr lang="en-US" sz="2000" dirty="0">
                <a:latin typeface="Tahoma" panose="020B0604030504040204" pitchFamily="34" charset="0"/>
                <a:ea typeface="Tahoma" panose="020B0604030504040204" pitchFamily="34" charset="0"/>
                <a:cs typeface="Tahoma" panose="020B0604030504040204" pitchFamily="34" charset="0"/>
              </a:rPr>
              <a:t>is used to store the result of the arithmetic operation. It is also used to denote an invalid input. The sources of invalid inputs may be either the variable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choice</a:t>
            </a:r>
            <a:r>
              <a:rPr lang="en-US" sz="2000" dirty="0">
                <a:latin typeface="Tahoma" panose="020B0604030504040204" pitchFamily="34" charset="0"/>
                <a:ea typeface="Tahoma" panose="020B0604030504040204" pitchFamily="34" charset="0"/>
                <a:cs typeface="Tahoma" panose="020B0604030504040204" pitchFamily="34" charset="0"/>
              </a:rPr>
              <a:t>,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num1 </a:t>
            </a:r>
            <a:r>
              <a:rPr lang="en-US" sz="2000" dirty="0">
                <a:latin typeface="Tahoma" panose="020B0604030504040204" pitchFamily="34" charset="0"/>
                <a:ea typeface="Tahoma" panose="020B0604030504040204" pitchFamily="34" charset="0"/>
                <a:cs typeface="Tahoma" panose="020B0604030504040204" pitchFamily="34" charset="0"/>
              </a:rPr>
              <a:t>or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num2</a:t>
            </a:r>
            <a:r>
              <a:rPr lang="en-US" sz="2000" dirty="0">
                <a:latin typeface="Tahoma" panose="020B0604030504040204" pitchFamily="34" charset="0"/>
                <a:ea typeface="Tahoma" panose="020B0604030504040204" pitchFamily="34" charset="0"/>
                <a:cs typeface="Tahoma" panose="020B0604030504040204" pitchFamily="34" charset="0"/>
              </a:rPr>
              <a:t>. </a:t>
            </a:r>
            <a:endParaRPr lang="en-US" sz="1800" dirty="0">
              <a:solidFill>
                <a:srgbClr val="FF3399"/>
              </a:solidFill>
              <a:latin typeface="Tahoma" panose="020B0604030504040204" pitchFamily="34" charset="0"/>
              <a:ea typeface="Tahoma" panose="020B0604030504040204" pitchFamily="34" charset="0"/>
              <a:cs typeface="Tahoma" panose="020B0604030504040204" pitchFamily="34" charset="0"/>
            </a:endParaRPr>
          </a:p>
        </p:txBody>
      </p:sp>
      <p:sp>
        <p:nvSpPr>
          <p:cNvPr id="15" name="Content Placeholder 4"/>
          <p:cNvSpPr txBox="1">
            <a:spLocks/>
          </p:cNvSpPr>
          <p:nvPr/>
        </p:nvSpPr>
        <p:spPr>
          <a:xfrm>
            <a:off x="251520" y="5013176"/>
            <a:ext cx="8640960" cy="720080"/>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342900" indent="-342900" algn="just">
              <a:lnSpc>
                <a:spcPct val="90000"/>
              </a:lnSpc>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Initially,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result </a:t>
            </a:r>
            <a:r>
              <a:rPr lang="en-US" sz="2000" dirty="0">
                <a:latin typeface="Tahoma" panose="020B0604030504040204" pitchFamily="34" charset="0"/>
                <a:ea typeface="Tahoma" panose="020B0604030504040204" pitchFamily="34" charset="0"/>
                <a:cs typeface="Tahoma" panose="020B0604030504040204" pitchFamily="34" charset="0"/>
              </a:rPr>
              <a:t>is initialized to -1 (line 5). This is useful in case the user entered an invalid value for the variable </a:t>
            </a:r>
            <a:r>
              <a:rPr lang="en-US" sz="2000" dirty="0">
                <a:solidFill>
                  <a:srgbClr val="0000FF"/>
                </a:solidFill>
                <a:latin typeface="Tahoma" panose="020B0604030504040204" pitchFamily="34" charset="0"/>
                <a:ea typeface="Tahoma" panose="020B0604030504040204" pitchFamily="34" charset="0"/>
                <a:cs typeface="Tahoma" panose="020B0604030504040204" pitchFamily="34" charset="0"/>
              </a:rPr>
              <a:t>choice</a:t>
            </a:r>
            <a:r>
              <a:rPr lang="en-US" sz="2000" dirty="0">
                <a:latin typeface="Tahoma" panose="020B0604030504040204" pitchFamily="34" charset="0"/>
                <a:ea typeface="Tahoma" panose="020B0604030504040204" pitchFamily="34" charset="0"/>
                <a:cs typeface="Tahoma" panose="020B0604030504040204" pitchFamily="34" charset="0"/>
              </a:rPr>
              <a:t>.</a:t>
            </a:r>
            <a:endParaRPr lang="en-US" sz="1800" dirty="0">
              <a:solidFill>
                <a:srgbClr val="FF3399"/>
              </a:solidFill>
              <a:latin typeface="Tahoma" panose="020B0604030504040204" pitchFamily="34" charset="0"/>
              <a:ea typeface="Tahoma" panose="020B0604030504040204" pitchFamily="34" charset="0"/>
              <a:cs typeface="Tahoma" panose="020B0604030504040204" pitchFamily="34" charset="0"/>
            </a:endParaRPr>
          </a:p>
        </p:txBody>
      </p:sp>
      <p:sp>
        <p:nvSpPr>
          <p:cNvPr id="16" name="Content Placeholder 4"/>
          <p:cNvSpPr txBox="1">
            <a:spLocks/>
          </p:cNvSpPr>
          <p:nvPr/>
        </p:nvSpPr>
        <p:spPr>
          <a:xfrm>
            <a:off x="251520" y="5733256"/>
            <a:ext cx="8640960" cy="720080"/>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342900" indent="-342900" algn="just">
              <a:lnSpc>
                <a:spcPct val="90000"/>
              </a:lnSpc>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Now, let us reconsider the conditions in lines 20 and 27. In fact, these may be re-written in a smarter way as follows: </a:t>
            </a:r>
            <a:endParaRPr lang="en-US" sz="1800" dirty="0">
              <a:solidFill>
                <a:srgbClr val="FF3399"/>
              </a:solidFill>
              <a:latin typeface="Tahoma" panose="020B0604030504040204" pitchFamily="34" charset="0"/>
              <a:ea typeface="Tahoma" panose="020B0604030504040204" pitchFamily="34" charset="0"/>
              <a:cs typeface="Tahoma" panose="020B0604030504040204" pitchFamily="34" charset="0"/>
            </a:endParaRPr>
          </a:p>
        </p:txBody>
      </p:sp>
      <p:sp>
        <p:nvSpPr>
          <p:cNvPr id="17" name="Content Placeholder 4"/>
          <p:cNvSpPr txBox="1">
            <a:spLocks/>
          </p:cNvSpPr>
          <p:nvPr/>
        </p:nvSpPr>
        <p:spPr>
          <a:xfrm>
            <a:off x="251520" y="2924944"/>
            <a:ext cx="8640960" cy="936104"/>
          </a:xfrm>
          <a:prstGeom prst="rect">
            <a:avLst/>
          </a:prstGeom>
        </p:spPr>
        <p:txBody>
          <a:bodyPr vert="horz" anchor="ctr">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342900" indent="-342900" algn="just">
              <a:lnSpc>
                <a:spcPct val="90000"/>
              </a:lnSpc>
              <a:buClr>
                <a:srgbClr val="FF0000"/>
              </a:buClr>
              <a:buFont typeface="Wingdings" panose="05000000000000000000" pitchFamily="2" charset="2"/>
              <a:buChar char="Ø"/>
            </a:pPr>
            <a:r>
              <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rPr>
              <a:t>Validating user input is a vital issue in programming. The programmer should take into consideration all possible values entered by the user.</a:t>
            </a:r>
            <a:endParaRPr lang="en-US" sz="1800" dirty="0">
              <a:solidFill>
                <a:srgbClr val="FF0000"/>
              </a:solidFill>
              <a:latin typeface="Tahoma" panose="020B0604030504040204" pitchFamily="34" charset="0"/>
              <a:ea typeface="Tahoma" panose="020B0604030504040204" pitchFamily="34" charset="0"/>
              <a:cs typeface="Tahoma" panose="020B0604030504040204" pitchFamily="34" charset="0"/>
            </a:endParaRPr>
          </a:p>
        </p:txBody>
      </p:sp>
    </p:spTree>
    <p:custDataLst>
      <p:tags r:id="rId1"/>
    </p:custDataLst>
    <p:extLst>
      <p:ext uri="{BB962C8B-B14F-4D97-AF65-F5344CB8AC3E}">
        <p14:creationId xmlns:p14="http://schemas.microsoft.com/office/powerpoint/2010/main" val="20650737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2"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right)">
                                      <p:cBhvr>
                                        <p:cTn id="10" dur="500"/>
                                        <p:tgtEl>
                                          <p:spTgt spid="12"/>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7">
                                            <p:txEl>
                                              <p:pRg st="0" end="0"/>
                                            </p:txEl>
                                          </p:spTgt>
                                        </p:tgtEl>
                                        <p:attrNameLst>
                                          <p:attrName>style.visibility</p:attrName>
                                        </p:attrNameLst>
                                      </p:cBhvr>
                                      <p:to>
                                        <p:strVal val="visible"/>
                                      </p:to>
                                    </p:set>
                                    <p:animEffect transition="in" filter="wipe(left)">
                                      <p:cBhvr>
                                        <p:cTn id="13" dur="500"/>
                                        <p:tgtEl>
                                          <p:spTgt spid="17">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
                                            <p:txEl>
                                              <p:pRg st="0" end="0"/>
                                            </p:txEl>
                                          </p:spTgt>
                                        </p:tgtEl>
                                        <p:attrNameLst>
                                          <p:attrName>style.visibility</p:attrName>
                                        </p:attrNameLst>
                                      </p:cBhvr>
                                      <p:to>
                                        <p:strVal val="visible"/>
                                      </p:to>
                                    </p:set>
                                    <p:animEffect transition="in" filter="wipe(left)">
                                      <p:cBhvr>
                                        <p:cTn id="18" dur="500"/>
                                        <p:tgtEl>
                                          <p:spTgt spid="11">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wipe(left)">
                                      <p:cBhvr>
                                        <p:cTn id="23" dur="500"/>
                                        <p:tgtEl>
                                          <p:spTgt spid="15">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6">
                                            <p:txEl>
                                              <p:pRg st="0" end="0"/>
                                            </p:txEl>
                                          </p:spTgt>
                                        </p:tgtEl>
                                        <p:attrNameLst>
                                          <p:attrName>style.visibility</p:attrName>
                                        </p:attrNameLst>
                                      </p:cBhvr>
                                      <p:to>
                                        <p:strVal val="visible"/>
                                      </p:to>
                                    </p:set>
                                    <p:animEffect transition="in" filter="wipe(left)">
                                      <p:cBhvr>
                                        <p:cTn id="28" dur="5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build="p"/>
      <p:bldP spid="15" grpId="0" build="p"/>
      <p:bldP spid="16" grpId="0" build="p"/>
      <p:bldP spid="1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rmAutofit/>
          </a:bodyPr>
          <a:lstStyle/>
          <a:p>
            <a:fld id="{125A1C68-F048-4C66-8544-2D3BD35A5879}" type="slidenum">
              <a:rPr lang="en-US" smtClean="0"/>
              <a:pPr/>
              <a:t>15</a:t>
            </a:fld>
            <a:endParaRPr lang="en-US"/>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1.2 Programming Hint (1)</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2 - </a:t>
            </a:r>
            <a:r>
              <a:rPr lang="en-US" b="1" dirty="0">
                <a:solidFill>
                  <a:srgbClr val="0000FF"/>
                </a:solidFill>
              </a:rPr>
              <a:t>Validating user input (cont’d) </a:t>
            </a: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a:off x="179512" y="1412776"/>
            <a:ext cx="8784976" cy="1384995"/>
            <a:chOff x="323528" y="1236822"/>
            <a:chExt cx="7848872" cy="1392785"/>
          </a:xfrm>
        </p:grpSpPr>
        <p:sp>
          <p:nvSpPr>
            <p:cNvPr id="19" name="TextBox 18"/>
            <p:cNvSpPr txBox="1"/>
            <p:nvPr/>
          </p:nvSpPr>
          <p:spPr>
            <a:xfrm>
              <a:off x="971600" y="1236822"/>
              <a:ext cx="7200800" cy="1392785"/>
            </a:xfrm>
            <a:prstGeom prst="rect">
              <a:avLst/>
            </a:prstGeom>
            <a:solidFill>
              <a:schemeClr val="bg2"/>
            </a:solidFill>
            <a:ln w="28575" cap="rnd" cmpd="thickThin">
              <a:solidFill>
                <a:srgbClr val="0000FF"/>
              </a:solidFill>
            </a:ln>
          </p:spPr>
          <p:txBody>
            <a:bodyPr wrap="square" rtlCol="0">
              <a:spAutoFit/>
            </a:bodyPr>
            <a:lstStyle/>
            <a:p>
              <a:r>
                <a:rPr lang="en-US" sz="1400" dirty="0">
                  <a:solidFill>
                    <a:srgbClr val="00B0F0"/>
                  </a:solidFill>
                </a:rPr>
                <a:t>case </a:t>
              </a:r>
              <a:r>
                <a:rPr lang="en-US" sz="1400" dirty="0">
                  <a:solidFill>
                    <a:srgbClr val="0000FF"/>
                  </a:solidFill>
                </a:rPr>
                <a:t>1: </a:t>
              </a:r>
              <a:r>
                <a:rPr lang="en-US" sz="1400" dirty="0" err="1">
                  <a:solidFill>
                    <a:srgbClr val="0000FF"/>
                  </a:solidFill>
                </a:rPr>
                <a:t>System.out.println</a:t>
              </a:r>
              <a:r>
                <a:rPr lang="en-US" sz="1400" dirty="0">
                  <a:solidFill>
                    <a:srgbClr val="0000FF"/>
                  </a:solidFill>
                </a:rPr>
                <a:t> (“Enter two </a:t>
              </a:r>
              <a:r>
                <a:rPr lang="en-US" sz="1400" dirty="0">
                  <a:solidFill>
                    <a:srgbClr val="FF0000"/>
                  </a:solidFill>
                </a:rPr>
                <a:t>positive</a:t>
              </a:r>
              <a:r>
                <a:rPr lang="en-US" sz="1400" dirty="0">
                  <a:solidFill>
                    <a:srgbClr val="0000FF"/>
                  </a:solidFill>
                </a:rPr>
                <a:t> integers”);	</a:t>
              </a:r>
              <a:r>
                <a:rPr lang="en-US" sz="1400" dirty="0">
                  <a:solidFill>
                    <a:srgbClr val="00B050"/>
                  </a:solidFill>
                </a:rPr>
                <a:t>//prompt</a:t>
              </a:r>
            </a:p>
            <a:p>
              <a:r>
                <a:rPr lang="en-US" sz="1400" dirty="0">
                  <a:solidFill>
                    <a:srgbClr val="0000FF"/>
                  </a:solidFill>
                </a:rPr>
                <a:t>	 num1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0000FF"/>
                  </a:solidFill>
                </a:rPr>
                <a:t>	 num2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FF0000"/>
                  </a:solidFill>
                </a:rPr>
                <a:t>	 if ((num1 &gt;= 0) &amp;&amp; (num2 &gt;= 0))</a:t>
              </a:r>
            </a:p>
            <a:p>
              <a:r>
                <a:rPr lang="en-US" sz="1400" dirty="0">
                  <a:solidFill>
                    <a:srgbClr val="0000FF"/>
                  </a:solidFill>
                </a:rPr>
                <a:t>	     result = num1 + num2;  </a:t>
              </a:r>
              <a:r>
                <a:rPr lang="en-US" sz="1400" dirty="0">
                  <a:solidFill>
                    <a:srgbClr val="00B050"/>
                  </a:solidFill>
                </a:rPr>
                <a:t>// the value of result is no more equal to  -1</a:t>
              </a:r>
            </a:p>
            <a:p>
              <a:r>
                <a:rPr lang="en-US" sz="1400" dirty="0">
                  <a:solidFill>
                    <a:srgbClr val="0000FF"/>
                  </a:solidFill>
                </a:rPr>
                <a:t>  	 </a:t>
              </a:r>
              <a:r>
                <a:rPr lang="en-US" sz="1400" dirty="0">
                  <a:solidFill>
                    <a:srgbClr val="00B0F0"/>
                  </a:solidFill>
                </a:rPr>
                <a:t>break</a:t>
              </a:r>
              <a:r>
                <a:rPr lang="en-US" sz="1400" dirty="0">
                  <a:solidFill>
                    <a:srgbClr val="0000FF"/>
                  </a:solidFill>
                </a:rPr>
                <a:t>;</a:t>
              </a:r>
            </a:p>
          </p:txBody>
        </p:sp>
        <p:sp>
          <p:nvSpPr>
            <p:cNvPr id="20" name="TextBox 19"/>
            <p:cNvSpPr txBox="1"/>
            <p:nvPr/>
          </p:nvSpPr>
          <p:spPr>
            <a:xfrm>
              <a:off x="323528" y="1236822"/>
              <a:ext cx="576064" cy="1392785"/>
            </a:xfrm>
            <a:prstGeom prst="rect">
              <a:avLst/>
            </a:prstGeom>
            <a:noFill/>
          </p:spPr>
          <p:txBody>
            <a:bodyPr wrap="square" rtlCol="0">
              <a:spAutoFit/>
            </a:bodyPr>
            <a:lstStyle/>
            <a:p>
              <a:pPr algn="r"/>
              <a:r>
                <a:rPr lang="en-US" sz="1400" dirty="0">
                  <a:solidFill>
                    <a:srgbClr val="FF0000"/>
                  </a:solidFill>
                </a:rPr>
                <a:t>17</a:t>
              </a:r>
            </a:p>
            <a:p>
              <a:pPr algn="r"/>
              <a:r>
                <a:rPr lang="en-US" sz="1400" dirty="0">
                  <a:solidFill>
                    <a:srgbClr val="FF0000"/>
                  </a:solidFill>
                </a:rPr>
                <a:t>18</a:t>
              </a:r>
            </a:p>
            <a:p>
              <a:pPr algn="r"/>
              <a:r>
                <a:rPr lang="en-US" sz="1400" dirty="0">
                  <a:solidFill>
                    <a:srgbClr val="FF0000"/>
                  </a:solidFill>
                </a:rPr>
                <a:t>19</a:t>
              </a:r>
            </a:p>
            <a:p>
              <a:pPr algn="r"/>
              <a:r>
                <a:rPr lang="en-US" sz="1400" dirty="0">
                  <a:solidFill>
                    <a:srgbClr val="FF0000"/>
                  </a:solidFill>
                </a:rPr>
                <a:t>20</a:t>
              </a:r>
            </a:p>
            <a:p>
              <a:pPr algn="r"/>
              <a:r>
                <a:rPr lang="en-US" sz="1400" dirty="0">
                  <a:solidFill>
                    <a:srgbClr val="FF0000"/>
                  </a:solidFill>
                </a:rPr>
                <a:t>21</a:t>
              </a:r>
            </a:p>
            <a:p>
              <a:pPr algn="r"/>
              <a:r>
                <a:rPr lang="en-US" sz="1400" dirty="0">
                  <a:solidFill>
                    <a:srgbClr val="FF0000"/>
                  </a:solidFill>
                </a:rPr>
                <a:t>22</a:t>
              </a:r>
            </a:p>
          </p:txBody>
        </p:sp>
      </p:grpSp>
      <p:grpSp>
        <p:nvGrpSpPr>
          <p:cNvPr id="23" name="Group 22"/>
          <p:cNvGrpSpPr/>
          <p:nvPr/>
        </p:nvGrpSpPr>
        <p:grpSpPr>
          <a:xfrm>
            <a:off x="179512" y="2890087"/>
            <a:ext cx="8784976" cy="1238684"/>
            <a:chOff x="323528" y="1236822"/>
            <a:chExt cx="7848872" cy="1245651"/>
          </a:xfrm>
        </p:grpSpPr>
        <p:sp>
          <p:nvSpPr>
            <p:cNvPr id="24" name="TextBox 23"/>
            <p:cNvSpPr txBox="1"/>
            <p:nvPr/>
          </p:nvSpPr>
          <p:spPr>
            <a:xfrm>
              <a:off x="971600" y="1306344"/>
              <a:ext cx="7200800" cy="1176129"/>
            </a:xfrm>
            <a:prstGeom prst="rect">
              <a:avLst/>
            </a:prstGeom>
            <a:solidFill>
              <a:schemeClr val="bg2"/>
            </a:solidFill>
            <a:ln w="28575" cap="rnd" cmpd="thickThin">
              <a:solidFill>
                <a:srgbClr val="0000FF"/>
              </a:solidFill>
            </a:ln>
          </p:spPr>
          <p:txBody>
            <a:bodyPr wrap="square" rtlCol="0">
              <a:spAutoFit/>
            </a:bodyPr>
            <a:lstStyle/>
            <a:p>
              <a:r>
                <a:rPr lang="en-US" sz="1400" dirty="0">
                  <a:solidFill>
                    <a:srgbClr val="00B0F0"/>
                  </a:solidFill>
                </a:rPr>
                <a:t>      case </a:t>
              </a:r>
              <a:r>
                <a:rPr lang="en-US" sz="1400" dirty="0">
                  <a:solidFill>
                    <a:srgbClr val="0000FF"/>
                  </a:solidFill>
                </a:rPr>
                <a:t>2: </a:t>
              </a:r>
              <a:r>
                <a:rPr lang="en-US" sz="1400" dirty="0" err="1">
                  <a:solidFill>
                    <a:srgbClr val="0000FF"/>
                  </a:solidFill>
                </a:rPr>
                <a:t>System.out.println</a:t>
              </a:r>
              <a:r>
                <a:rPr lang="en-US" sz="1400" dirty="0">
                  <a:solidFill>
                    <a:srgbClr val="0000FF"/>
                  </a:solidFill>
                </a:rPr>
                <a:t> (“Enter a </a:t>
              </a:r>
              <a:r>
                <a:rPr lang="en-US" sz="1400" dirty="0">
                  <a:solidFill>
                    <a:srgbClr val="FF0000"/>
                  </a:solidFill>
                </a:rPr>
                <a:t>positive</a:t>
              </a:r>
              <a:r>
                <a:rPr lang="en-US" sz="1400" dirty="0">
                  <a:solidFill>
                    <a:srgbClr val="0000FF"/>
                  </a:solidFill>
                </a:rPr>
                <a:t> integer”);	</a:t>
              </a:r>
              <a:r>
                <a:rPr lang="en-US" sz="1400" dirty="0">
                  <a:solidFill>
                    <a:srgbClr val="00B050"/>
                  </a:solidFill>
                </a:rPr>
                <a:t>//prompt</a:t>
              </a:r>
            </a:p>
            <a:p>
              <a:r>
                <a:rPr lang="en-US" sz="1400" dirty="0">
                  <a:solidFill>
                    <a:srgbClr val="0000FF"/>
                  </a:solidFill>
                </a:rPr>
                <a:t>	  num1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FF0000"/>
                  </a:solidFill>
                </a:rPr>
                <a:t>	  if (num1 &gt;=  0) </a:t>
              </a:r>
            </a:p>
            <a:p>
              <a:r>
                <a:rPr lang="en-US" sz="1400" dirty="0">
                  <a:solidFill>
                    <a:srgbClr val="0000FF"/>
                  </a:solidFill>
                </a:rPr>
                <a:t>	     result = num1 * 2;        </a:t>
              </a:r>
              <a:r>
                <a:rPr lang="en-US" sz="1400" dirty="0">
                  <a:solidFill>
                    <a:srgbClr val="00B050"/>
                  </a:solidFill>
                </a:rPr>
                <a:t>// the value of result is no more equal to  -1</a:t>
              </a:r>
              <a:endParaRPr lang="en-US" sz="1400" dirty="0">
                <a:solidFill>
                  <a:srgbClr val="0000FF"/>
                </a:solidFill>
              </a:endParaRPr>
            </a:p>
            <a:p>
              <a:r>
                <a:rPr lang="en-US" sz="1400" dirty="0">
                  <a:solidFill>
                    <a:srgbClr val="0000FF"/>
                  </a:solidFill>
                </a:rPr>
                <a:t>	  </a:t>
              </a:r>
              <a:r>
                <a:rPr lang="en-US" sz="1400" dirty="0">
                  <a:solidFill>
                    <a:srgbClr val="00B0F0"/>
                  </a:solidFill>
                </a:rPr>
                <a:t>break</a:t>
              </a:r>
              <a:r>
                <a:rPr lang="en-US" sz="1400" dirty="0">
                  <a:solidFill>
                    <a:srgbClr val="0000FF"/>
                  </a:solidFill>
                </a:rPr>
                <a:t>;</a:t>
              </a:r>
            </a:p>
          </p:txBody>
        </p:sp>
        <p:sp>
          <p:nvSpPr>
            <p:cNvPr id="25" name="TextBox 24"/>
            <p:cNvSpPr txBox="1"/>
            <p:nvPr/>
          </p:nvSpPr>
          <p:spPr>
            <a:xfrm>
              <a:off x="323528" y="1236822"/>
              <a:ext cx="576064" cy="1176129"/>
            </a:xfrm>
            <a:prstGeom prst="rect">
              <a:avLst/>
            </a:prstGeom>
            <a:noFill/>
          </p:spPr>
          <p:txBody>
            <a:bodyPr wrap="square" rtlCol="0">
              <a:spAutoFit/>
            </a:bodyPr>
            <a:lstStyle/>
            <a:p>
              <a:pPr algn="r"/>
              <a:r>
                <a:rPr lang="en-US" sz="1400" dirty="0">
                  <a:solidFill>
                    <a:srgbClr val="FF0000"/>
                  </a:solidFill>
                </a:rPr>
                <a:t>25</a:t>
              </a:r>
            </a:p>
            <a:p>
              <a:pPr algn="r"/>
              <a:r>
                <a:rPr lang="en-US" sz="1400" dirty="0">
                  <a:solidFill>
                    <a:srgbClr val="FF0000"/>
                  </a:solidFill>
                </a:rPr>
                <a:t>26</a:t>
              </a:r>
            </a:p>
            <a:p>
              <a:pPr algn="r"/>
              <a:r>
                <a:rPr lang="en-US" sz="1400" dirty="0">
                  <a:solidFill>
                    <a:srgbClr val="FF0000"/>
                  </a:solidFill>
                </a:rPr>
                <a:t>27</a:t>
              </a:r>
            </a:p>
            <a:p>
              <a:pPr algn="r"/>
              <a:r>
                <a:rPr lang="en-US" sz="1400" dirty="0">
                  <a:solidFill>
                    <a:srgbClr val="FF0000"/>
                  </a:solidFill>
                </a:rPr>
                <a:t>28</a:t>
              </a:r>
            </a:p>
            <a:p>
              <a:pPr algn="r"/>
              <a:r>
                <a:rPr lang="en-US" sz="1400" dirty="0">
                  <a:solidFill>
                    <a:srgbClr val="FF0000"/>
                  </a:solidFill>
                </a:rPr>
                <a:t>29</a:t>
              </a:r>
            </a:p>
          </p:txBody>
        </p:sp>
      </p:grpSp>
      <p:sp>
        <p:nvSpPr>
          <p:cNvPr id="26" name="Content Placeholder 4"/>
          <p:cNvSpPr txBox="1">
            <a:spLocks/>
          </p:cNvSpPr>
          <p:nvPr/>
        </p:nvSpPr>
        <p:spPr>
          <a:xfrm>
            <a:off x="323528" y="4221088"/>
            <a:ext cx="8640960" cy="1008112"/>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342900" indent="-342900" algn="just">
              <a:lnSpc>
                <a:spcPct val="90000"/>
              </a:lnSpc>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We were able to omit lines 21, 22 and lines 28, 29 in slide 13 since they add nothing to the logic. However, we had to modify the logical expressions as shown above.  </a:t>
            </a:r>
            <a:endParaRPr lang="en-US" sz="1800" dirty="0">
              <a:solidFill>
                <a:srgbClr val="FF3399"/>
              </a:solidFill>
              <a:latin typeface="Tahoma" panose="020B0604030504040204" pitchFamily="34" charset="0"/>
              <a:ea typeface="Tahoma" panose="020B0604030504040204" pitchFamily="34" charset="0"/>
              <a:cs typeface="Tahoma" panose="020B0604030504040204" pitchFamily="34" charset="0"/>
            </a:endParaRPr>
          </a:p>
        </p:txBody>
      </p:sp>
    </p:spTree>
    <p:custDataLst>
      <p:tags r:id="rId1"/>
    </p:custDataLst>
    <p:extLst>
      <p:ext uri="{BB962C8B-B14F-4D97-AF65-F5344CB8AC3E}">
        <p14:creationId xmlns:p14="http://schemas.microsoft.com/office/powerpoint/2010/main" val="26225511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2"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right)">
                                      <p:cBhvr>
                                        <p:cTn id="10" dur="500"/>
                                        <p:tgtEl>
                                          <p:spTgt spid="18"/>
                                        </p:tgtEl>
                                      </p:cBhvr>
                                    </p:animEffect>
                                  </p:childTnLst>
                                </p:cTn>
                              </p:par>
                              <p:par>
                                <p:cTn id="11" presetID="22" presetClass="entr" presetSubtype="2"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wipe(right)">
                                      <p:cBhvr>
                                        <p:cTn id="13" dur="5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6">
                                            <p:txEl>
                                              <p:pRg st="0" end="0"/>
                                            </p:txEl>
                                          </p:spTgt>
                                        </p:tgtEl>
                                        <p:attrNameLst>
                                          <p:attrName>style.visibility</p:attrName>
                                        </p:attrNameLst>
                                      </p:cBhvr>
                                      <p:to>
                                        <p:strVal val="visible"/>
                                      </p:to>
                                    </p:set>
                                    <p:animEffect transition="in" filter="wipe(left)">
                                      <p:cBhvr>
                                        <p:cTn id="18"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6"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2 – </a:t>
            </a:r>
            <a:r>
              <a:rPr lang="en-US" b="1" dirty="0">
                <a:solidFill>
                  <a:srgbClr val="0000FF"/>
                </a:solidFill>
              </a:rPr>
              <a:t>Reducing Redundancy</a:t>
            </a: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2" name="Group 11"/>
          <p:cNvGrpSpPr/>
          <p:nvPr/>
        </p:nvGrpSpPr>
        <p:grpSpPr>
          <a:xfrm>
            <a:off x="179512" y="1268760"/>
            <a:ext cx="8784976" cy="5478423"/>
            <a:chOff x="323528" y="1236822"/>
            <a:chExt cx="7848872" cy="5725893"/>
          </a:xfrm>
        </p:grpSpPr>
        <p:sp>
          <p:nvSpPr>
            <p:cNvPr id="13" name="TextBox 12"/>
            <p:cNvSpPr txBox="1"/>
            <p:nvPr/>
          </p:nvSpPr>
          <p:spPr>
            <a:xfrm>
              <a:off x="971600" y="1236822"/>
              <a:ext cx="7200800" cy="5725893"/>
            </a:xfrm>
            <a:prstGeom prst="rect">
              <a:avLst/>
            </a:prstGeom>
            <a:solidFill>
              <a:schemeClr val="bg2"/>
            </a:solidFill>
            <a:ln w="28575" cap="rnd" cmpd="thickThin">
              <a:solidFill>
                <a:srgbClr val="0000FF"/>
              </a:solidFill>
            </a:ln>
          </p:spPr>
          <p:txBody>
            <a:bodyPr wrap="square" rtlCol="0">
              <a:spAutoFit/>
            </a:bodyPr>
            <a:lstStyle/>
            <a:p>
              <a:r>
                <a:rPr lang="en-US" sz="1400" dirty="0" err="1">
                  <a:solidFill>
                    <a:srgbClr val="0000FF"/>
                  </a:solidFill>
                </a:rPr>
                <a:t>System.out.println</a:t>
              </a:r>
              <a:r>
                <a:rPr lang="en-US" sz="1400" dirty="0">
                  <a:solidFill>
                    <a:srgbClr val="0000FF"/>
                  </a:solidFill>
                </a:rPr>
                <a:t> (“Enter a positive integer”);</a:t>
              </a:r>
            </a:p>
            <a:p>
              <a:r>
                <a:rPr lang="en-US" sz="1400" dirty="0">
                  <a:solidFill>
                    <a:srgbClr val="0000FF"/>
                  </a:solidFill>
                </a:rPr>
                <a:t>num1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t>//processing section</a:t>
              </a:r>
            </a:p>
            <a:p>
              <a:r>
                <a:rPr lang="en-US" sz="1400" dirty="0">
                  <a:solidFill>
                    <a:srgbClr val="0000FF"/>
                  </a:solidFill>
                </a:rPr>
                <a:t>   </a:t>
              </a:r>
              <a:r>
                <a:rPr lang="en-US" sz="1400" dirty="0">
                  <a:solidFill>
                    <a:srgbClr val="00B0F0"/>
                  </a:solidFill>
                </a:rPr>
                <a:t>switch </a:t>
              </a:r>
              <a:r>
                <a:rPr lang="en-US" sz="1400" dirty="0">
                  <a:solidFill>
                    <a:srgbClr val="0000FF"/>
                  </a:solidFill>
                </a:rPr>
                <a:t>(choice)</a:t>
              </a:r>
            </a:p>
            <a:p>
              <a:r>
                <a:rPr lang="en-US" sz="1400" dirty="0">
                  <a:solidFill>
                    <a:srgbClr val="0000FF"/>
                  </a:solidFill>
                </a:rPr>
                <a:t>   {</a:t>
              </a:r>
            </a:p>
            <a:p>
              <a:r>
                <a:rPr lang="en-US" sz="1400" dirty="0">
                  <a:solidFill>
                    <a:srgbClr val="0000FF"/>
                  </a:solidFill>
                </a:rPr>
                <a:t>      </a:t>
              </a:r>
              <a:r>
                <a:rPr lang="en-US" sz="1400" dirty="0">
                  <a:solidFill>
                    <a:srgbClr val="00B0F0"/>
                  </a:solidFill>
                </a:rPr>
                <a:t>case </a:t>
              </a:r>
              <a:r>
                <a:rPr lang="en-US" sz="1400" dirty="0">
                  <a:solidFill>
                    <a:srgbClr val="0000FF"/>
                  </a:solidFill>
                </a:rPr>
                <a:t>1: </a:t>
              </a:r>
              <a:r>
                <a:rPr lang="en-US" sz="1400" dirty="0" err="1">
                  <a:solidFill>
                    <a:srgbClr val="0000FF"/>
                  </a:solidFill>
                </a:rPr>
                <a:t>System.out.println</a:t>
              </a:r>
              <a:r>
                <a:rPr lang="en-US" sz="1400" dirty="0">
                  <a:solidFill>
                    <a:srgbClr val="0000FF"/>
                  </a:solidFill>
                </a:rPr>
                <a:t> (“Enter a </a:t>
              </a:r>
              <a:r>
                <a:rPr lang="en-US" sz="1400" dirty="0">
                  <a:solidFill>
                    <a:srgbClr val="FF0000"/>
                  </a:solidFill>
                </a:rPr>
                <a:t>positive</a:t>
              </a:r>
              <a:r>
                <a:rPr lang="en-US" sz="1400" dirty="0">
                  <a:solidFill>
                    <a:srgbClr val="0000FF"/>
                  </a:solidFill>
                </a:rPr>
                <a:t> integer”);	</a:t>
              </a:r>
              <a:r>
                <a:rPr lang="en-US" sz="1400" dirty="0">
                  <a:solidFill>
                    <a:srgbClr val="00B050"/>
                  </a:solidFill>
                </a:rPr>
                <a:t>//prompt</a:t>
              </a:r>
            </a:p>
            <a:p>
              <a:r>
                <a:rPr lang="en-US" sz="1400" dirty="0">
                  <a:solidFill>
                    <a:srgbClr val="0000FF"/>
                  </a:solidFill>
                </a:rPr>
                <a:t>	 </a:t>
              </a:r>
              <a:r>
                <a:rPr lang="en-US" sz="1400" strike="sngStrike" dirty="0">
                  <a:solidFill>
                    <a:schemeClr val="bg1">
                      <a:lumMod val="50000"/>
                    </a:schemeClr>
                  </a:solidFill>
                </a:rPr>
                <a:t>num1 = </a:t>
              </a:r>
              <a:r>
                <a:rPr lang="en-US" sz="1400" strike="sngStrike" dirty="0" err="1">
                  <a:solidFill>
                    <a:schemeClr val="bg1">
                      <a:lumMod val="50000"/>
                    </a:schemeClr>
                  </a:solidFill>
                </a:rPr>
                <a:t>read.nextInt</a:t>
              </a:r>
              <a:r>
                <a:rPr lang="en-US" sz="1400" strike="sngStrike" dirty="0">
                  <a:solidFill>
                    <a:schemeClr val="bg1">
                      <a:lumMod val="50000"/>
                    </a:schemeClr>
                  </a:solidFill>
                </a:rPr>
                <a:t>();</a:t>
              </a:r>
            </a:p>
            <a:p>
              <a:r>
                <a:rPr lang="en-US" sz="1400" dirty="0">
                  <a:solidFill>
                    <a:srgbClr val="0000FF"/>
                  </a:solidFill>
                </a:rPr>
                <a:t>	 num2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FF0000"/>
                  </a:solidFill>
                </a:rPr>
                <a:t>	 if ((num1 &lt; 0) || (num2 &lt; 0))  </a:t>
              </a:r>
              <a:r>
                <a:rPr lang="en-US" sz="1400" dirty="0">
                  <a:solidFill>
                    <a:srgbClr val="00B050"/>
                  </a:solidFill>
                </a:rPr>
                <a:t>//should be made after reading num1 &amp; num2</a:t>
              </a:r>
            </a:p>
            <a:p>
              <a:r>
                <a:rPr lang="en-US" sz="1400" dirty="0">
                  <a:solidFill>
                    <a:srgbClr val="FF0000"/>
                  </a:solidFill>
                </a:rPr>
                <a:t>	     result = -1;</a:t>
              </a:r>
            </a:p>
            <a:p>
              <a:r>
                <a:rPr lang="en-US" sz="1400" dirty="0">
                  <a:solidFill>
                    <a:srgbClr val="FF0000"/>
                  </a:solidFill>
                </a:rPr>
                <a:t>	 else</a:t>
              </a:r>
            </a:p>
            <a:p>
              <a:r>
                <a:rPr lang="en-US" sz="1400" dirty="0">
                  <a:solidFill>
                    <a:srgbClr val="0000FF"/>
                  </a:solidFill>
                </a:rPr>
                <a:t>	     result = num1 + num2;  </a:t>
              </a:r>
              <a:r>
                <a:rPr lang="en-US" sz="1400" dirty="0">
                  <a:solidFill>
                    <a:srgbClr val="00B050"/>
                  </a:solidFill>
                </a:rPr>
                <a:t>// the value of result is no more equal to  -1</a:t>
              </a:r>
            </a:p>
            <a:p>
              <a:r>
                <a:rPr lang="en-US" sz="1400" dirty="0">
                  <a:solidFill>
                    <a:srgbClr val="0000FF"/>
                  </a:solidFill>
                </a:rPr>
                <a:t>  	 </a:t>
              </a:r>
              <a:r>
                <a:rPr lang="en-US" sz="1400" dirty="0">
                  <a:solidFill>
                    <a:srgbClr val="00B0F0"/>
                  </a:solidFill>
                </a:rPr>
                <a:t>break</a:t>
              </a:r>
              <a:r>
                <a:rPr lang="en-US" sz="1400" dirty="0">
                  <a:solidFill>
                    <a:srgbClr val="0000FF"/>
                  </a:solidFill>
                </a:rPr>
                <a:t>;</a:t>
              </a:r>
            </a:p>
            <a:p>
              <a:r>
                <a:rPr lang="en-US" sz="1400" dirty="0">
                  <a:solidFill>
                    <a:srgbClr val="0000FF"/>
                  </a:solidFill>
                </a:rPr>
                <a:t>      </a:t>
              </a:r>
              <a:r>
                <a:rPr lang="en-US" sz="1400" dirty="0">
                  <a:solidFill>
                    <a:srgbClr val="00B0F0"/>
                  </a:solidFill>
                </a:rPr>
                <a:t>case </a:t>
              </a:r>
              <a:r>
                <a:rPr lang="en-US" sz="1400" dirty="0">
                  <a:solidFill>
                    <a:srgbClr val="0000FF"/>
                  </a:solidFill>
                </a:rPr>
                <a:t>2: </a:t>
              </a:r>
              <a:r>
                <a:rPr lang="en-US" sz="1400" dirty="0" err="1">
                  <a:solidFill>
                    <a:srgbClr val="0000FF"/>
                  </a:solidFill>
                </a:rPr>
                <a:t>System.out.println</a:t>
              </a:r>
              <a:r>
                <a:rPr lang="en-US" sz="1400" dirty="0">
                  <a:solidFill>
                    <a:srgbClr val="0000FF"/>
                  </a:solidFill>
                </a:rPr>
                <a:t> (“Enter a </a:t>
              </a:r>
              <a:r>
                <a:rPr lang="en-US" sz="1400" dirty="0">
                  <a:solidFill>
                    <a:srgbClr val="FF0000"/>
                  </a:solidFill>
                </a:rPr>
                <a:t>positive</a:t>
              </a:r>
              <a:r>
                <a:rPr lang="en-US" sz="1400" dirty="0">
                  <a:solidFill>
                    <a:srgbClr val="0000FF"/>
                  </a:solidFill>
                </a:rPr>
                <a:t> integer”);	</a:t>
              </a:r>
              <a:r>
                <a:rPr lang="en-US" sz="1400" dirty="0">
                  <a:solidFill>
                    <a:srgbClr val="00B050"/>
                  </a:solidFill>
                </a:rPr>
                <a:t>//prompt</a:t>
              </a:r>
            </a:p>
            <a:p>
              <a:r>
                <a:rPr lang="en-US" sz="1400" dirty="0">
                  <a:solidFill>
                    <a:srgbClr val="0000FF"/>
                  </a:solidFill>
                </a:rPr>
                <a:t>	  </a:t>
              </a:r>
              <a:r>
                <a:rPr lang="en-US" sz="1400" strike="sngStrike" dirty="0">
                  <a:solidFill>
                    <a:schemeClr val="bg1">
                      <a:lumMod val="50000"/>
                    </a:schemeClr>
                  </a:solidFill>
                </a:rPr>
                <a:t>num1 = </a:t>
              </a:r>
              <a:r>
                <a:rPr lang="en-US" sz="1400" strike="sngStrike" dirty="0" err="1">
                  <a:solidFill>
                    <a:schemeClr val="bg1">
                      <a:lumMod val="50000"/>
                    </a:schemeClr>
                  </a:solidFill>
                </a:rPr>
                <a:t>read.nextInt</a:t>
              </a:r>
              <a:r>
                <a:rPr lang="en-US" sz="1400" strike="sngStrike" dirty="0">
                  <a:solidFill>
                    <a:schemeClr val="bg1">
                      <a:lumMod val="50000"/>
                    </a:schemeClr>
                  </a:solidFill>
                </a:rPr>
                <a:t>();</a:t>
              </a:r>
            </a:p>
            <a:p>
              <a:r>
                <a:rPr lang="en-US" sz="1400" dirty="0">
                  <a:solidFill>
                    <a:srgbClr val="FF0000"/>
                  </a:solidFill>
                </a:rPr>
                <a:t>	  if (num1 &lt; 0) </a:t>
              </a:r>
              <a:r>
                <a:rPr lang="en-US" sz="1400" dirty="0">
                  <a:solidFill>
                    <a:srgbClr val="00B050"/>
                  </a:solidFill>
                </a:rPr>
                <a:t>//this should be made after reading </a:t>
              </a:r>
              <a:r>
                <a:rPr lang="en-US" sz="1400" dirty="0" err="1">
                  <a:solidFill>
                    <a:srgbClr val="00B050"/>
                  </a:solidFill>
                </a:rPr>
                <a:t>num</a:t>
              </a:r>
              <a:endParaRPr lang="en-US" sz="1400" dirty="0">
                <a:solidFill>
                  <a:srgbClr val="FF0000"/>
                </a:solidFill>
              </a:endParaRPr>
            </a:p>
            <a:p>
              <a:r>
                <a:rPr lang="en-US" sz="1400" dirty="0">
                  <a:solidFill>
                    <a:srgbClr val="FF0000"/>
                  </a:solidFill>
                </a:rPr>
                <a:t>	     result = -1;</a:t>
              </a:r>
            </a:p>
            <a:p>
              <a:r>
                <a:rPr lang="en-US" sz="1400" dirty="0">
                  <a:solidFill>
                    <a:srgbClr val="FF0000"/>
                  </a:solidFill>
                </a:rPr>
                <a:t>	  else</a:t>
              </a:r>
            </a:p>
            <a:p>
              <a:r>
                <a:rPr lang="en-US" sz="1400" dirty="0">
                  <a:solidFill>
                    <a:srgbClr val="0000FF"/>
                  </a:solidFill>
                </a:rPr>
                <a:t>	     result = num1 * 2;        </a:t>
              </a:r>
              <a:r>
                <a:rPr lang="en-US" sz="1400" dirty="0">
                  <a:solidFill>
                    <a:srgbClr val="00B050"/>
                  </a:solidFill>
                </a:rPr>
                <a:t>// the value of result is no more equal to  -1</a:t>
              </a:r>
              <a:endParaRPr lang="en-US" sz="1400" dirty="0">
                <a:solidFill>
                  <a:srgbClr val="0000FF"/>
                </a:solidFill>
              </a:endParaRPr>
            </a:p>
            <a:p>
              <a:r>
                <a:rPr lang="en-US" sz="1400" dirty="0">
                  <a:solidFill>
                    <a:srgbClr val="0000FF"/>
                  </a:solidFill>
                </a:rPr>
                <a:t>	  </a:t>
              </a:r>
              <a:r>
                <a:rPr lang="en-US" sz="1400" dirty="0">
                  <a:solidFill>
                    <a:srgbClr val="00B0F0"/>
                  </a:solidFill>
                </a:rPr>
                <a:t>break</a:t>
              </a:r>
              <a:r>
                <a:rPr lang="en-US" sz="1400" dirty="0">
                  <a:solidFill>
                    <a:srgbClr val="0000FF"/>
                  </a:solidFill>
                </a:rPr>
                <a:t>;</a:t>
              </a:r>
            </a:p>
            <a:p>
              <a:r>
                <a:rPr lang="en-US" sz="1400" dirty="0">
                  <a:solidFill>
                    <a:srgbClr val="0000FF"/>
                  </a:solidFill>
                </a:rPr>
                <a:t>      </a:t>
              </a:r>
              <a:r>
                <a:rPr lang="en-US" sz="1400" dirty="0">
                  <a:solidFill>
                    <a:srgbClr val="00B0F0"/>
                  </a:solidFill>
                </a:rPr>
                <a:t>case </a:t>
              </a:r>
              <a:r>
                <a:rPr lang="en-US" sz="1400" dirty="0">
                  <a:solidFill>
                    <a:srgbClr val="0000FF"/>
                  </a:solidFill>
                </a:rPr>
                <a:t>3:  </a:t>
              </a:r>
              <a:r>
                <a:rPr lang="en-US" sz="1400" dirty="0" err="1">
                  <a:solidFill>
                    <a:srgbClr val="0000FF"/>
                  </a:solidFill>
                </a:rPr>
                <a:t>System.out.println</a:t>
              </a:r>
              <a:r>
                <a:rPr lang="en-US" sz="1400" dirty="0">
                  <a:solidFill>
                    <a:srgbClr val="0000FF"/>
                  </a:solidFill>
                </a:rPr>
                <a:t> (“Enter an integer”);		</a:t>
              </a:r>
              <a:r>
                <a:rPr lang="en-US" sz="1400" dirty="0">
                  <a:solidFill>
                    <a:srgbClr val="00B050"/>
                  </a:solidFill>
                </a:rPr>
                <a:t>//prompt</a:t>
              </a:r>
              <a:endParaRPr lang="en-US" sz="1400" dirty="0">
                <a:solidFill>
                  <a:srgbClr val="0000FF"/>
                </a:solidFill>
              </a:endParaRPr>
            </a:p>
            <a:p>
              <a:r>
                <a:rPr lang="en-US" sz="1400" dirty="0">
                  <a:solidFill>
                    <a:srgbClr val="0000FF"/>
                  </a:solidFill>
                </a:rPr>
                <a:t>	  </a:t>
              </a:r>
              <a:r>
                <a:rPr lang="en-US" sz="1400" strike="sngStrike" dirty="0">
                  <a:solidFill>
                    <a:schemeClr val="bg1">
                      <a:lumMod val="50000"/>
                    </a:schemeClr>
                  </a:solidFill>
                </a:rPr>
                <a:t>num1 = </a:t>
              </a:r>
              <a:r>
                <a:rPr lang="en-US" sz="1400" strike="sngStrike" dirty="0" err="1">
                  <a:solidFill>
                    <a:schemeClr val="bg1">
                      <a:lumMod val="50000"/>
                    </a:schemeClr>
                  </a:solidFill>
                </a:rPr>
                <a:t>read.nextInt</a:t>
              </a:r>
              <a:r>
                <a:rPr lang="en-US" sz="1400" strike="sngStrike" dirty="0">
                  <a:solidFill>
                    <a:schemeClr val="bg1">
                      <a:lumMod val="50000"/>
                    </a:schemeClr>
                  </a:solidFill>
                </a:rPr>
                <a:t>();</a:t>
              </a:r>
            </a:p>
            <a:p>
              <a:r>
                <a:rPr lang="en-US" sz="1400" dirty="0">
                  <a:solidFill>
                    <a:srgbClr val="0000FF"/>
                  </a:solidFill>
                </a:rPr>
                <a:t>	  result = num1 * num1;</a:t>
              </a:r>
              <a:r>
                <a:rPr lang="en-US" sz="1400" dirty="0">
                  <a:solidFill>
                    <a:srgbClr val="00B050"/>
                  </a:solidFill>
                </a:rPr>
                <a:t> // the value of result is always positive</a:t>
              </a:r>
              <a:endParaRPr lang="en-US" sz="1400" dirty="0">
                <a:solidFill>
                  <a:srgbClr val="0000FF"/>
                </a:solidFill>
              </a:endParaRPr>
            </a:p>
            <a:p>
              <a:r>
                <a:rPr lang="en-US" sz="1400" dirty="0">
                  <a:solidFill>
                    <a:srgbClr val="0000FF"/>
                  </a:solidFill>
                </a:rPr>
                <a:t>	  </a:t>
              </a:r>
              <a:r>
                <a:rPr lang="en-US" sz="1400" dirty="0">
                  <a:solidFill>
                    <a:srgbClr val="00B0F0"/>
                  </a:solidFill>
                </a:rPr>
                <a:t>break</a:t>
              </a:r>
              <a:r>
                <a:rPr lang="en-US" sz="1400" dirty="0">
                  <a:solidFill>
                    <a:srgbClr val="0000FF"/>
                  </a:solidFill>
                </a:rPr>
                <a:t>;</a:t>
              </a:r>
            </a:p>
            <a:p>
              <a:r>
                <a:rPr lang="en-US" sz="1400" dirty="0">
                  <a:solidFill>
                    <a:srgbClr val="0000FF"/>
                  </a:solidFill>
                </a:rPr>
                <a:t>} </a:t>
              </a:r>
              <a:r>
                <a:rPr lang="en-US" sz="1400" dirty="0">
                  <a:solidFill>
                    <a:srgbClr val="00B050"/>
                  </a:solidFill>
                </a:rPr>
                <a:t>//end switch</a:t>
              </a:r>
            </a:p>
          </p:txBody>
        </p:sp>
        <p:sp>
          <p:nvSpPr>
            <p:cNvPr id="14" name="TextBox 13"/>
            <p:cNvSpPr txBox="1"/>
            <p:nvPr/>
          </p:nvSpPr>
          <p:spPr>
            <a:xfrm>
              <a:off x="323528" y="1236822"/>
              <a:ext cx="576064" cy="5509238"/>
            </a:xfrm>
            <a:prstGeom prst="rect">
              <a:avLst/>
            </a:prstGeom>
            <a:noFill/>
          </p:spPr>
          <p:txBody>
            <a:bodyPr wrap="square" rtlCol="0">
              <a:spAutoFit/>
            </a:bodyPr>
            <a:lstStyle/>
            <a:p>
              <a:pPr algn="r"/>
              <a:r>
                <a:rPr lang="en-US" sz="1400" dirty="0">
                  <a:solidFill>
                    <a:srgbClr val="FF0000"/>
                  </a:solidFill>
                </a:rPr>
                <a:t>14</a:t>
              </a:r>
            </a:p>
            <a:p>
              <a:pPr algn="r"/>
              <a:r>
                <a:rPr lang="en-US" sz="1400" dirty="0">
                  <a:solidFill>
                    <a:srgbClr val="FF0000"/>
                  </a:solidFill>
                </a:rPr>
                <a:t>15</a:t>
              </a:r>
            </a:p>
            <a:p>
              <a:pPr algn="r"/>
              <a:r>
                <a:rPr lang="en-US" sz="1400" dirty="0">
                  <a:solidFill>
                    <a:srgbClr val="FF0000"/>
                  </a:solidFill>
                </a:rPr>
                <a:t>16</a:t>
              </a:r>
            </a:p>
            <a:p>
              <a:pPr algn="r"/>
              <a:r>
                <a:rPr lang="en-US" sz="1400" dirty="0">
                  <a:solidFill>
                    <a:srgbClr val="FF0000"/>
                  </a:solidFill>
                </a:rPr>
                <a:t>17</a:t>
              </a:r>
            </a:p>
            <a:p>
              <a:pPr algn="r"/>
              <a:r>
                <a:rPr lang="en-US" sz="1400" dirty="0">
                  <a:solidFill>
                    <a:srgbClr val="FF0000"/>
                  </a:solidFill>
                </a:rPr>
                <a:t>18</a:t>
              </a:r>
            </a:p>
            <a:p>
              <a:pPr algn="r"/>
              <a:r>
                <a:rPr lang="en-US" sz="1400" dirty="0">
                  <a:solidFill>
                    <a:srgbClr val="FF0000"/>
                  </a:solidFill>
                </a:rPr>
                <a:t>19</a:t>
              </a:r>
            </a:p>
            <a:p>
              <a:pPr algn="r"/>
              <a:r>
                <a:rPr lang="en-US" sz="1400" dirty="0">
                  <a:solidFill>
                    <a:srgbClr val="FF0000"/>
                  </a:solidFill>
                </a:rPr>
                <a:t>20</a:t>
              </a:r>
            </a:p>
            <a:p>
              <a:pPr algn="r"/>
              <a:r>
                <a:rPr lang="en-US" sz="1400" dirty="0">
                  <a:solidFill>
                    <a:srgbClr val="FF0000"/>
                  </a:solidFill>
                </a:rPr>
                <a:t>21</a:t>
              </a:r>
            </a:p>
            <a:p>
              <a:pPr algn="r"/>
              <a:r>
                <a:rPr lang="en-US" sz="1400" dirty="0">
                  <a:solidFill>
                    <a:srgbClr val="FF0000"/>
                  </a:solidFill>
                </a:rPr>
                <a:t>22</a:t>
              </a:r>
            </a:p>
            <a:p>
              <a:pPr algn="r"/>
              <a:r>
                <a:rPr lang="en-US" sz="1400" dirty="0">
                  <a:solidFill>
                    <a:srgbClr val="FF0000"/>
                  </a:solidFill>
                </a:rPr>
                <a:t>23</a:t>
              </a:r>
            </a:p>
            <a:p>
              <a:pPr algn="r"/>
              <a:r>
                <a:rPr lang="en-US" sz="1400" dirty="0">
                  <a:solidFill>
                    <a:srgbClr val="FF0000"/>
                  </a:solidFill>
                </a:rPr>
                <a:t>24</a:t>
              </a:r>
            </a:p>
            <a:p>
              <a:pPr algn="r"/>
              <a:r>
                <a:rPr lang="en-US" sz="1400" dirty="0">
                  <a:solidFill>
                    <a:srgbClr val="FF0000"/>
                  </a:solidFill>
                </a:rPr>
                <a:t>25</a:t>
              </a:r>
            </a:p>
            <a:p>
              <a:pPr algn="r"/>
              <a:r>
                <a:rPr lang="en-US" sz="1400" dirty="0">
                  <a:solidFill>
                    <a:srgbClr val="FF0000"/>
                  </a:solidFill>
                </a:rPr>
                <a:t>26</a:t>
              </a:r>
            </a:p>
            <a:p>
              <a:pPr algn="r"/>
              <a:r>
                <a:rPr lang="en-US" sz="1400" dirty="0">
                  <a:solidFill>
                    <a:srgbClr val="FF0000"/>
                  </a:solidFill>
                </a:rPr>
                <a:t>27</a:t>
              </a:r>
            </a:p>
            <a:p>
              <a:pPr algn="r"/>
              <a:r>
                <a:rPr lang="en-US" sz="1400" dirty="0">
                  <a:solidFill>
                    <a:srgbClr val="FF0000"/>
                  </a:solidFill>
                </a:rPr>
                <a:t>28</a:t>
              </a:r>
            </a:p>
            <a:p>
              <a:pPr algn="r"/>
              <a:r>
                <a:rPr lang="en-US" sz="1400" dirty="0">
                  <a:solidFill>
                    <a:srgbClr val="FF0000"/>
                  </a:solidFill>
                </a:rPr>
                <a:t>29</a:t>
              </a:r>
            </a:p>
            <a:p>
              <a:pPr algn="r"/>
              <a:r>
                <a:rPr lang="en-US" sz="1400" dirty="0">
                  <a:solidFill>
                    <a:srgbClr val="FF0000"/>
                  </a:solidFill>
                </a:rPr>
                <a:t>30</a:t>
              </a:r>
            </a:p>
            <a:p>
              <a:pPr algn="r"/>
              <a:r>
                <a:rPr lang="en-US" sz="1400" dirty="0">
                  <a:solidFill>
                    <a:srgbClr val="FF0000"/>
                  </a:solidFill>
                </a:rPr>
                <a:t>31</a:t>
              </a:r>
            </a:p>
            <a:p>
              <a:pPr algn="r"/>
              <a:r>
                <a:rPr lang="en-US" sz="1400" dirty="0">
                  <a:solidFill>
                    <a:srgbClr val="FF0000"/>
                  </a:solidFill>
                </a:rPr>
                <a:t>32</a:t>
              </a:r>
            </a:p>
            <a:p>
              <a:pPr algn="r"/>
              <a:r>
                <a:rPr lang="en-US" sz="1400" dirty="0">
                  <a:solidFill>
                    <a:srgbClr val="FF0000"/>
                  </a:solidFill>
                </a:rPr>
                <a:t>33</a:t>
              </a:r>
            </a:p>
            <a:p>
              <a:pPr algn="r"/>
              <a:r>
                <a:rPr lang="en-US" sz="1400" dirty="0">
                  <a:solidFill>
                    <a:srgbClr val="FF0000"/>
                  </a:solidFill>
                </a:rPr>
                <a:t>34</a:t>
              </a:r>
            </a:p>
            <a:p>
              <a:pPr algn="r"/>
              <a:r>
                <a:rPr lang="en-US" sz="1400" dirty="0">
                  <a:solidFill>
                    <a:srgbClr val="FF0000"/>
                  </a:solidFill>
                </a:rPr>
                <a:t>35</a:t>
              </a:r>
            </a:p>
            <a:p>
              <a:pPr algn="r"/>
              <a:r>
                <a:rPr lang="en-US" sz="1400" dirty="0">
                  <a:solidFill>
                    <a:srgbClr val="FF0000"/>
                  </a:solidFill>
                </a:rPr>
                <a:t>36</a:t>
              </a:r>
            </a:p>
            <a:p>
              <a:pPr algn="r"/>
              <a:r>
                <a:rPr lang="en-US" sz="1400" dirty="0">
                  <a:solidFill>
                    <a:srgbClr val="FF0000"/>
                  </a:solidFill>
                </a:rPr>
                <a:t>37</a:t>
              </a:r>
            </a:p>
            <a:p>
              <a:pPr algn="r"/>
              <a:r>
                <a:rPr lang="en-US" sz="1400" dirty="0">
                  <a:solidFill>
                    <a:srgbClr val="FF0000"/>
                  </a:solidFill>
                </a:rPr>
                <a:t>38</a:t>
              </a:r>
            </a:p>
          </p:txBody>
        </p:sp>
      </p:grpSp>
      <p:sp>
        <p:nvSpPr>
          <p:cNvPr id="7" name="Slide Number Placeholder 6"/>
          <p:cNvSpPr>
            <a:spLocks noGrp="1"/>
          </p:cNvSpPr>
          <p:nvPr>
            <p:ph type="sldNum" sz="quarter" idx="12"/>
          </p:nvPr>
        </p:nvSpPr>
        <p:spPr>
          <a:xfrm>
            <a:off x="8604448" y="6309320"/>
            <a:ext cx="365760" cy="365125"/>
          </a:xfrm>
        </p:spPr>
        <p:txBody>
          <a:bodyPr>
            <a:normAutofit/>
          </a:bodyPr>
          <a:lstStyle/>
          <a:p>
            <a:fld id="{125A1C68-F048-4C66-8544-2D3BD35A5879}" type="slidenum">
              <a:rPr lang="en-US" smtClean="0"/>
              <a:pPr/>
              <a:t>16</a:t>
            </a:fld>
            <a:endParaRPr lang="en-US" dirty="0"/>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1.2 Programming Hint (2)</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899592" y="2564904"/>
            <a:ext cx="8064896" cy="216024"/>
          </a:xfrm>
          <a:prstGeom prst="rect">
            <a:avLst/>
          </a:prstGeom>
          <a:solidFill>
            <a:schemeClr val="accent6">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899592" y="4293096"/>
            <a:ext cx="8064896" cy="216024"/>
          </a:xfrm>
          <a:prstGeom prst="rect">
            <a:avLst/>
          </a:prstGeom>
          <a:solidFill>
            <a:schemeClr val="accent6">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899592" y="5805264"/>
            <a:ext cx="8064896" cy="216024"/>
          </a:xfrm>
          <a:prstGeom prst="rect">
            <a:avLst/>
          </a:prstGeom>
          <a:solidFill>
            <a:schemeClr val="accent6">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899592" y="1268760"/>
            <a:ext cx="8064896" cy="216024"/>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899592" y="1484784"/>
            <a:ext cx="8064896" cy="216024"/>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979712" y="2348880"/>
            <a:ext cx="6984776" cy="216024"/>
          </a:xfrm>
          <a:prstGeom prst="rect">
            <a:avLst/>
          </a:prstGeom>
          <a:solidFill>
            <a:srgbClr val="00B0F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1979712" y="4077072"/>
            <a:ext cx="6984776" cy="216024"/>
          </a:xfrm>
          <a:prstGeom prst="rect">
            <a:avLst/>
          </a:prstGeom>
          <a:solidFill>
            <a:schemeClr val="accent6">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1979712" y="5589240"/>
            <a:ext cx="6984776" cy="216024"/>
          </a:xfrm>
          <a:prstGeom prst="rect">
            <a:avLst/>
          </a:prstGeom>
          <a:solidFill>
            <a:schemeClr val="accent6">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9307098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2"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wipe(right)">
                                      <p:cBhvr>
                                        <p:cTn id="10" dur="500"/>
                                        <p:tgtEl>
                                          <p:spTgt spid="12"/>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left)">
                                      <p:cBhvr>
                                        <p:cTn id="14" dur="500"/>
                                        <p:tgtEl>
                                          <p:spTgt spid="11"/>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wipe(left)">
                                      <p:cBhvr>
                                        <p:cTn id="18" dur="500"/>
                                        <p:tgtEl>
                                          <p:spTgt spid="15"/>
                                        </p:tgtEl>
                                      </p:cBhvr>
                                    </p:animEffect>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500"/>
                                        <p:tgtEl>
                                          <p:spTgt spid="17"/>
                                        </p:tgtEl>
                                      </p:cBhvr>
                                    </p:animEffect>
                                  </p:childTnLst>
                                </p:cTn>
                              </p:par>
                            </p:childTnLst>
                          </p:cTn>
                        </p:par>
                        <p:par>
                          <p:cTn id="27" fill="hold">
                            <p:stCondLst>
                              <p:cond delay="2500"/>
                            </p:stCondLst>
                            <p:childTnLst>
                              <p:par>
                                <p:cTn id="28" presetID="22" presetClass="entr" presetSubtype="8" fill="hold" grpId="0" nodeType="after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500"/>
                                        <p:tgtEl>
                                          <p:spTgt spid="18"/>
                                        </p:tgtEl>
                                      </p:cBhvr>
                                    </p:animEffect>
                                  </p:childTnLst>
                                </p:cTn>
                              </p:par>
                            </p:childTnLst>
                          </p:cTn>
                        </p:par>
                        <p:par>
                          <p:cTn id="31" fill="hold">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wipe(left)">
                                      <p:cBhvr>
                                        <p:cTn id="34" dur="500"/>
                                        <p:tgtEl>
                                          <p:spTgt spid="19"/>
                                        </p:tgtEl>
                                      </p:cBhvr>
                                    </p:animEffect>
                                  </p:childTnLst>
                                </p:cTn>
                              </p:par>
                            </p:childTnLst>
                          </p:cTn>
                        </p:par>
                        <p:par>
                          <p:cTn id="35" fill="hold">
                            <p:stCondLst>
                              <p:cond delay="3500"/>
                            </p:stCondLst>
                            <p:childTnLst>
                              <p:par>
                                <p:cTn id="36" presetID="22" presetClass="entr" presetSubtype="8" fill="hold" grpId="0" nodeType="after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wipe(left)">
                                      <p:cBhvr>
                                        <p:cTn id="38" dur="500"/>
                                        <p:tgtEl>
                                          <p:spTgt spid="21"/>
                                        </p:tgtEl>
                                      </p:cBhvr>
                                    </p:animEffect>
                                  </p:childTnLst>
                                </p:cTn>
                              </p:par>
                            </p:childTnLst>
                          </p:cTn>
                        </p:par>
                        <p:par>
                          <p:cTn id="39" fill="hold">
                            <p:stCondLst>
                              <p:cond delay="4000"/>
                            </p:stCondLst>
                            <p:childTnLst>
                              <p:par>
                                <p:cTn id="40" presetID="22" presetClass="entr" presetSubtype="8" fill="hold" grpId="0" nodeType="after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5" grpId="0" animBg="1"/>
      <p:bldP spid="16" grpId="0" animBg="1"/>
      <p:bldP spid="17" grpId="0" animBg="1"/>
      <p:bldP spid="18" grpId="0" animBg="1"/>
      <p:bldP spid="19" grpId="0" animBg="1"/>
      <p:bldP spid="21" grpId="0" animBg="1"/>
      <p:bldP spid="2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normAutofit/>
          </a:bodyPr>
          <a:lstStyle/>
          <a:p>
            <a:fld id="{125A1C68-F048-4C66-8544-2D3BD35A5879}" type="slidenum">
              <a:rPr lang="en-US" smtClean="0"/>
              <a:pPr/>
              <a:t>17</a:t>
            </a:fld>
            <a:endParaRPr lang="en-US"/>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1.2 Programming Hints</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2 – </a:t>
            </a:r>
            <a:r>
              <a:rPr lang="en-US" b="1" dirty="0">
                <a:solidFill>
                  <a:srgbClr val="0000FF"/>
                </a:solidFill>
              </a:rPr>
              <a:t>Final version</a:t>
            </a: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p:nvGrpSpPr>
        <p:grpSpPr>
          <a:xfrm>
            <a:off x="179512" y="1400577"/>
            <a:ext cx="8784976" cy="3539430"/>
            <a:chOff x="323528" y="1236822"/>
            <a:chExt cx="7848872" cy="3424662"/>
          </a:xfrm>
        </p:grpSpPr>
        <p:sp>
          <p:nvSpPr>
            <p:cNvPr id="27" name="TextBox 26"/>
            <p:cNvSpPr txBox="1"/>
            <p:nvPr/>
          </p:nvSpPr>
          <p:spPr>
            <a:xfrm>
              <a:off x="971600" y="1236822"/>
              <a:ext cx="7200800" cy="3424662"/>
            </a:xfrm>
            <a:prstGeom prst="rect">
              <a:avLst/>
            </a:prstGeom>
            <a:solidFill>
              <a:schemeClr val="bg2"/>
            </a:solidFill>
            <a:ln w="28575" cap="rnd" cmpd="thickThin">
              <a:solidFill>
                <a:srgbClr val="0000FF"/>
              </a:solidFill>
            </a:ln>
          </p:spPr>
          <p:txBody>
            <a:bodyPr wrap="square" rtlCol="0">
              <a:spAutoFit/>
            </a:bodyPr>
            <a:lstStyle/>
            <a:p>
              <a:r>
                <a:rPr lang="en-US" sz="1400" dirty="0">
                  <a:solidFill>
                    <a:srgbClr val="00B0F0"/>
                  </a:solidFill>
                </a:rPr>
                <a:t>public static void </a:t>
              </a:r>
              <a:r>
                <a:rPr lang="en-US" sz="1400" dirty="0">
                  <a:solidFill>
                    <a:srgbClr val="0000FF"/>
                  </a:solidFill>
                </a:rPr>
                <a:t>main (String[] </a:t>
              </a:r>
              <a:r>
                <a:rPr lang="en-US" sz="1400" dirty="0" err="1">
                  <a:solidFill>
                    <a:srgbClr val="0000FF"/>
                  </a:solidFill>
                </a:rPr>
                <a:t>args</a:t>
              </a:r>
              <a:r>
                <a:rPr lang="en-US" sz="1400" dirty="0">
                  <a:solidFill>
                    <a:srgbClr val="0000FF"/>
                  </a:solidFill>
                </a:rPr>
                <a:t>)</a:t>
              </a:r>
            </a:p>
            <a:p>
              <a:r>
                <a:rPr lang="en-US" sz="1400" dirty="0">
                  <a:solidFill>
                    <a:srgbClr val="0000FF"/>
                  </a:solidFill>
                </a:rPr>
                <a:t>{</a:t>
              </a:r>
            </a:p>
            <a:p>
              <a:r>
                <a:rPr lang="en-US" sz="1400" dirty="0"/>
                <a:t>   //Declaration section</a:t>
              </a:r>
            </a:p>
            <a:p>
              <a:r>
                <a:rPr lang="en-US" sz="1400" dirty="0">
                  <a:solidFill>
                    <a:srgbClr val="0000FF"/>
                  </a:solidFill>
                </a:rPr>
                <a:t>   Scanner read = </a:t>
              </a:r>
              <a:r>
                <a:rPr lang="en-US" sz="1400" dirty="0">
                  <a:solidFill>
                    <a:srgbClr val="00B0F0"/>
                  </a:solidFill>
                </a:rPr>
                <a:t>new </a:t>
              </a:r>
              <a:r>
                <a:rPr lang="en-US" sz="1400" dirty="0">
                  <a:solidFill>
                    <a:srgbClr val="0000FF"/>
                  </a:solidFill>
                </a:rPr>
                <a:t>Scanner (System.in);</a:t>
              </a:r>
            </a:p>
            <a:p>
              <a:r>
                <a:rPr lang="en-US" sz="1400" dirty="0">
                  <a:solidFill>
                    <a:srgbClr val="0000FF"/>
                  </a:solidFill>
                </a:rPr>
                <a:t>   </a:t>
              </a:r>
              <a:r>
                <a:rPr lang="en-US" sz="1400" dirty="0" err="1">
                  <a:solidFill>
                    <a:srgbClr val="00B0F0"/>
                  </a:solidFill>
                </a:rPr>
                <a:t>int</a:t>
              </a:r>
              <a:r>
                <a:rPr lang="en-US" sz="1400" dirty="0">
                  <a:solidFill>
                    <a:srgbClr val="00B0F0"/>
                  </a:solidFill>
                </a:rPr>
                <a:t> </a:t>
              </a:r>
              <a:r>
                <a:rPr lang="en-US" sz="1400" dirty="0">
                  <a:solidFill>
                    <a:srgbClr val="0000FF"/>
                  </a:solidFill>
                </a:rPr>
                <a:t>choice, num1, num2, </a:t>
              </a:r>
              <a:r>
                <a:rPr lang="en-US" sz="1400" dirty="0">
                  <a:solidFill>
                    <a:srgbClr val="FF0000"/>
                  </a:solidFill>
                </a:rPr>
                <a:t>result = -1</a:t>
              </a:r>
              <a:r>
                <a:rPr lang="en-US" sz="1400" dirty="0">
                  <a:solidFill>
                    <a:srgbClr val="0000FF"/>
                  </a:solidFill>
                </a:rPr>
                <a:t>;</a:t>
              </a:r>
            </a:p>
            <a:p>
              <a:r>
                <a:rPr lang="en-US" sz="1400" dirty="0">
                  <a:solidFill>
                    <a:srgbClr val="0000FF"/>
                  </a:solidFill>
                </a:rPr>
                <a:t>   </a:t>
              </a:r>
              <a:r>
                <a:rPr lang="en-US" sz="1400" dirty="0">
                  <a:solidFill>
                    <a:srgbClr val="00B0F0"/>
                  </a:solidFill>
                </a:rPr>
                <a:t>String</a:t>
              </a:r>
              <a:r>
                <a:rPr lang="en-US" sz="1400" dirty="0">
                  <a:solidFill>
                    <a:srgbClr val="0000FF"/>
                  </a:solidFill>
                </a:rPr>
                <a:t> </a:t>
              </a:r>
              <a:r>
                <a:rPr lang="en-US" sz="1400" dirty="0">
                  <a:solidFill>
                    <a:srgbClr val="FF0000"/>
                  </a:solidFill>
                </a:rPr>
                <a:t>message = “Invalid input”</a:t>
              </a:r>
              <a:r>
                <a:rPr lang="en-US" sz="1400" dirty="0">
                  <a:solidFill>
                    <a:srgbClr val="0000FF"/>
                  </a:solidFill>
                </a:rPr>
                <a:t>;   </a:t>
              </a:r>
              <a:r>
                <a:rPr lang="en-US" sz="1400" dirty="0">
                  <a:solidFill>
                    <a:srgbClr val="00B050"/>
                  </a:solidFill>
                </a:rPr>
                <a:t>//this may also be declared as a constant</a:t>
              </a:r>
            </a:p>
            <a:p>
              <a:r>
                <a:rPr lang="en-US" sz="1400" dirty="0"/>
                <a:t>   //input section</a:t>
              </a:r>
            </a:p>
            <a:p>
              <a:r>
                <a:rPr lang="en-US" sz="1400" dirty="0"/>
                <a:t>      //Display menu</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(“Enter your choice:”);</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(“1. Add two positive numbers”);</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(“2. Get the double of a positive number”);</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(“3. Get the square of a number”);</a:t>
              </a:r>
            </a:p>
            <a:p>
              <a:r>
                <a:rPr lang="en-US" sz="1400" dirty="0">
                  <a:solidFill>
                    <a:srgbClr val="0000FF"/>
                  </a:solidFill>
                </a:rPr>
                <a:t>   choice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(“Enter a positive integer”);</a:t>
              </a:r>
            </a:p>
            <a:p>
              <a:r>
                <a:rPr lang="en-US" sz="1400" dirty="0">
                  <a:solidFill>
                    <a:srgbClr val="0000FF"/>
                  </a:solidFill>
                </a:rPr>
                <a:t>   num1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t>   //processing section</a:t>
              </a:r>
            </a:p>
          </p:txBody>
        </p:sp>
        <p:sp>
          <p:nvSpPr>
            <p:cNvPr id="28" name="TextBox 27"/>
            <p:cNvSpPr txBox="1"/>
            <p:nvPr/>
          </p:nvSpPr>
          <p:spPr>
            <a:xfrm>
              <a:off x="323528" y="1236822"/>
              <a:ext cx="576064" cy="3424662"/>
            </a:xfrm>
            <a:prstGeom prst="rect">
              <a:avLst/>
            </a:prstGeom>
            <a:noFill/>
          </p:spPr>
          <p:txBody>
            <a:bodyPr wrap="square" rtlCol="0">
              <a:spAutoFit/>
            </a:bodyPr>
            <a:lstStyle/>
            <a:p>
              <a:pPr algn="r"/>
              <a:r>
                <a:rPr lang="en-US" sz="1400" dirty="0">
                  <a:solidFill>
                    <a:srgbClr val="FF0000"/>
                  </a:solidFill>
                </a:rPr>
                <a:t>1</a:t>
              </a:r>
            </a:p>
            <a:p>
              <a:pPr algn="r"/>
              <a:r>
                <a:rPr lang="en-US" sz="1400" dirty="0">
                  <a:solidFill>
                    <a:srgbClr val="FF0000"/>
                  </a:solidFill>
                </a:rPr>
                <a:t>2</a:t>
              </a:r>
            </a:p>
            <a:p>
              <a:pPr algn="r"/>
              <a:r>
                <a:rPr lang="en-US" sz="1400" dirty="0">
                  <a:solidFill>
                    <a:srgbClr val="FF0000"/>
                  </a:solidFill>
                </a:rPr>
                <a:t>3</a:t>
              </a:r>
            </a:p>
            <a:p>
              <a:pPr algn="r"/>
              <a:r>
                <a:rPr lang="en-US" sz="1400" dirty="0">
                  <a:solidFill>
                    <a:srgbClr val="FF0000"/>
                  </a:solidFill>
                </a:rPr>
                <a:t>4</a:t>
              </a:r>
            </a:p>
            <a:p>
              <a:pPr algn="r"/>
              <a:r>
                <a:rPr lang="en-US" sz="1400" dirty="0">
                  <a:solidFill>
                    <a:srgbClr val="FF0000"/>
                  </a:solidFill>
                </a:rPr>
                <a:t>5</a:t>
              </a:r>
            </a:p>
            <a:p>
              <a:pPr algn="r"/>
              <a:r>
                <a:rPr lang="en-US" sz="1400" dirty="0">
                  <a:solidFill>
                    <a:srgbClr val="FF0000"/>
                  </a:solidFill>
                </a:rPr>
                <a:t>6</a:t>
              </a:r>
            </a:p>
            <a:p>
              <a:pPr algn="r"/>
              <a:r>
                <a:rPr lang="en-US" sz="1400" dirty="0">
                  <a:solidFill>
                    <a:srgbClr val="FF0000"/>
                  </a:solidFill>
                </a:rPr>
                <a:t>7</a:t>
              </a:r>
            </a:p>
            <a:p>
              <a:pPr algn="r"/>
              <a:r>
                <a:rPr lang="en-US" sz="1400" dirty="0">
                  <a:solidFill>
                    <a:srgbClr val="FF0000"/>
                  </a:solidFill>
                </a:rPr>
                <a:t>8</a:t>
              </a:r>
            </a:p>
            <a:p>
              <a:pPr algn="r"/>
              <a:r>
                <a:rPr lang="en-US" sz="1400" dirty="0">
                  <a:solidFill>
                    <a:srgbClr val="FF0000"/>
                  </a:solidFill>
                </a:rPr>
                <a:t>9</a:t>
              </a:r>
            </a:p>
            <a:p>
              <a:pPr algn="r"/>
              <a:r>
                <a:rPr lang="en-US" sz="1400" dirty="0">
                  <a:solidFill>
                    <a:srgbClr val="FF0000"/>
                  </a:solidFill>
                </a:rPr>
                <a:t>10</a:t>
              </a:r>
            </a:p>
            <a:p>
              <a:pPr algn="r"/>
              <a:r>
                <a:rPr lang="en-US" sz="1400" dirty="0">
                  <a:solidFill>
                    <a:srgbClr val="FF0000"/>
                  </a:solidFill>
                </a:rPr>
                <a:t>11</a:t>
              </a:r>
            </a:p>
            <a:p>
              <a:pPr algn="r"/>
              <a:r>
                <a:rPr lang="en-US" sz="1400" dirty="0">
                  <a:solidFill>
                    <a:srgbClr val="FF0000"/>
                  </a:solidFill>
                </a:rPr>
                <a:t>12</a:t>
              </a:r>
            </a:p>
            <a:p>
              <a:pPr algn="r"/>
              <a:r>
                <a:rPr lang="en-US" sz="1400" dirty="0">
                  <a:solidFill>
                    <a:srgbClr val="FF0000"/>
                  </a:solidFill>
                </a:rPr>
                <a:t>13</a:t>
              </a:r>
            </a:p>
            <a:p>
              <a:pPr algn="r"/>
              <a:r>
                <a:rPr lang="en-US" sz="1400" dirty="0">
                  <a:solidFill>
                    <a:srgbClr val="FF0000"/>
                  </a:solidFill>
                </a:rPr>
                <a:t>14</a:t>
              </a:r>
            </a:p>
            <a:p>
              <a:pPr algn="r"/>
              <a:r>
                <a:rPr lang="en-US" sz="1400" dirty="0">
                  <a:solidFill>
                    <a:srgbClr val="FF0000"/>
                  </a:solidFill>
                </a:rPr>
                <a:t>15</a:t>
              </a:r>
            </a:p>
            <a:p>
              <a:pPr algn="r"/>
              <a:r>
                <a:rPr lang="en-US" sz="1400" dirty="0">
                  <a:solidFill>
                    <a:srgbClr val="FF0000"/>
                  </a:solidFill>
                </a:rPr>
                <a:t>16</a:t>
              </a:r>
            </a:p>
          </p:txBody>
        </p:sp>
      </p:grpSp>
    </p:spTree>
    <p:custDataLst>
      <p:tags r:id="rId1"/>
    </p:custDataLst>
    <p:extLst>
      <p:ext uri="{BB962C8B-B14F-4D97-AF65-F5344CB8AC3E}">
        <p14:creationId xmlns:p14="http://schemas.microsoft.com/office/powerpoint/2010/main" val="13769977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2"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right)">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1.2 Programming Hint</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2 – </a:t>
            </a:r>
            <a:r>
              <a:rPr lang="en-US" b="1" dirty="0">
                <a:solidFill>
                  <a:srgbClr val="0000FF"/>
                </a:solidFill>
              </a:rPr>
              <a:t>Final version (cont’d)</a:t>
            </a: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11" name="Group 10"/>
          <p:cNvGrpSpPr/>
          <p:nvPr/>
        </p:nvGrpSpPr>
        <p:grpSpPr>
          <a:xfrm>
            <a:off x="179512" y="1404059"/>
            <a:ext cx="8784976" cy="4401205"/>
            <a:chOff x="323528" y="1236822"/>
            <a:chExt cx="7848872" cy="4425960"/>
          </a:xfrm>
        </p:grpSpPr>
        <p:sp>
          <p:nvSpPr>
            <p:cNvPr id="12" name="TextBox 11"/>
            <p:cNvSpPr txBox="1"/>
            <p:nvPr/>
          </p:nvSpPr>
          <p:spPr>
            <a:xfrm>
              <a:off x="971600" y="1236822"/>
              <a:ext cx="7200800" cy="4425960"/>
            </a:xfrm>
            <a:prstGeom prst="rect">
              <a:avLst/>
            </a:prstGeom>
            <a:solidFill>
              <a:schemeClr val="bg2"/>
            </a:solidFill>
            <a:ln w="28575" cap="rnd" cmpd="thickThin">
              <a:solidFill>
                <a:srgbClr val="0000FF"/>
              </a:solidFill>
            </a:ln>
          </p:spPr>
          <p:txBody>
            <a:bodyPr wrap="square" rtlCol="0">
              <a:spAutoFit/>
            </a:bodyPr>
            <a:lstStyle/>
            <a:p>
              <a:r>
                <a:rPr lang="en-US" sz="1400" dirty="0"/>
                <a:t>//processing section</a:t>
              </a:r>
            </a:p>
            <a:p>
              <a:r>
                <a:rPr lang="en-US" sz="1400" dirty="0">
                  <a:solidFill>
                    <a:srgbClr val="0000FF"/>
                  </a:solidFill>
                </a:rPr>
                <a:t>   </a:t>
              </a:r>
              <a:r>
                <a:rPr lang="en-US" sz="1400" dirty="0">
                  <a:solidFill>
                    <a:srgbClr val="00B0F0"/>
                  </a:solidFill>
                </a:rPr>
                <a:t>switch </a:t>
              </a:r>
              <a:r>
                <a:rPr lang="en-US" sz="1400" dirty="0">
                  <a:solidFill>
                    <a:srgbClr val="0000FF"/>
                  </a:solidFill>
                </a:rPr>
                <a:t>(choice)</a:t>
              </a:r>
            </a:p>
            <a:p>
              <a:r>
                <a:rPr lang="en-US" sz="1400" dirty="0">
                  <a:solidFill>
                    <a:srgbClr val="0000FF"/>
                  </a:solidFill>
                </a:rPr>
                <a:t>   {</a:t>
              </a:r>
            </a:p>
            <a:p>
              <a:r>
                <a:rPr lang="en-US" sz="1400" dirty="0">
                  <a:solidFill>
                    <a:srgbClr val="0000FF"/>
                  </a:solidFill>
                </a:rPr>
                <a:t>      </a:t>
              </a:r>
              <a:r>
                <a:rPr lang="en-US" sz="1400" dirty="0">
                  <a:solidFill>
                    <a:srgbClr val="00B0F0"/>
                  </a:solidFill>
                </a:rPr>
                <a:t>case </a:t>
              </a:r>
              <a:r>
                <a:rPr lang="en-US" sz="1400" dirty="0">
                  <a:solidFill>
                    <a:srgbClr val="0000FF"/>
                  </a:solidFill>
                </a:rPr>
                <a:t>1:   </a:t>
              </a:r>
              <a:r>
                <a:rPr lang="en-US" sz="1400" dirty="0" err="1">
                  <a:solidFill>
                    <a:srgbClr val="0000FF"/>
                  </a:solidFill>
                </a:rPr>
                <a:t>System.out.println</a:t>
              </a:r>
              <a:r>
                <a:rPr lang="en-US" sz="1400" dirty="0">
                  <a:solidFill>
                    <a:srgbClr val="0000FF"/>
                  </a:solidFill>
                </a:rPr>
                <a:t> (“Enter a </a:t>
              </a:r>
              <a:r>
                <a:rPr lang="en-US" sz="1400" dirty="0">
                  <a:solidFill>
                    <a:srgbClr val="FF0000"/>
                  </a:solidFill>
                </a:rPr>
                <a:t>positive</a:t>
              </a:r>
              <a:r>
                <a:rPr lang="en-US" sz="1400" dirty="0">
                  <a:solidFill>
                    <a:srgbClr val="0000FF"/>
                  </a:solidFill>
                </a:rPr>
                <a:t> integer”);	</a:t>
              </a:r>
              <a:r>
                <a:rPr lang="en-US" sz="1400" dirty="0">
                  <a:solidFill>
                    <a:srgbClr val="00B050"/>
                  </a:solidFill>
                </a:rPr>
                <a:t>//prompt</a:t>
              </a:r>
            </a:p>
            <a:p>
              <a:r>
                <a:rPr lang="en-US" sz="1400" dirty="0">
                  <a:solidFill>
                    <a:srgbClr val="0000FF"/>
                  </a:solidFill>
                </a:rPr>
                <a:t>	 num2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solidFill>
                    <a:srgbClr val="FF0000"/>
                  </a:solidFill>
                </a:rPr>
                <a:t>	 if ((num1 &gt;= 0) &amp;&amp; (num2 &gt;= 0))</a:t>
              </a:r>
            </a:p>
            <a:p>
              <a:r>
                <a:rPr lang="en-US" sz="1400" dirty="0">
                  <a:solidFill>
                    <a:srgbClr val="0000FF"/>
                  </a:solidFill>
                </a:rPr>
                <a:t>	     result = num1 + num2;  </a:t>
              </a:r>
              <a:r>
                <a:rPr lang="en-US" sz="1400" dirty="0">
                  <a:solidFill>
                    <a:srgbClr val="00B050"/>
                  </a:solidFill>
                </a:rPr>
                <a:t>// the value of result is no more equal to  -1</a:t>
              </a:r>
            </a:p>
            <a:p>
              <a:r>
                <a:rPr lang="en-US" sz="1400" dirty="0">
                  <a:solidFill>
                    <a:srgbClr val="0000FF"/>
                  </a:solidFill>
                </a:rPr>
                <a:t>  	 </a:t>
              </a:r>
              <a:r>
                <a:rPr lang="en-US" sz="1400" dirty="0">
                  <a:solidFill>
                    <a:srgbClr val="00B0F0"/>
                  </a:solidFill>
                </a:rPr>
                <a:t>break</a:t>
              </a:r>
              <a:r>
                <a:rPr lang="en-US" sz="1400" dirty="0">
                  <a:solidFill>
                    <a:srgbClr val="0000FF"/>
                  </a:solidFill>
                </a:rPr>
                <a:t>;</a:t>
              </a:r>
            </a:p>
            <a:p>
              <a:r>
                <a:rPr lang="en-US" sz="1400" dirty="0">
                  <a:solidFill>
                    <a:srgbClr val="0000FF"/>
                  </a:solidFill>
                </a:rPr>
                <a:t>      </a:t>
              </a:r>
              <a:r>
                <a:rPr lang="en-US" sz="1400" dirty="0">
                  <a:solidFill>
                    <a:srgbClr val="00B0F0"/>
                  </a:solidFill>
                </a:rPr>
                <a:t>case </a:t>
              </a:r>
              <a:r>
                <a:rPr lang="en-US" sz="1400" dirty="0">
                  <a:solidFill>
                    <a:srgbClr val="0000FF"/>
                  </a:solidFill>
                </a:rPr>
                <a:t>2: </a:t>
              </a:r>
              <a:r>
                <a:rPr lang="en-US" sz="1400" dirty="0">
                  <a:solidFill>
                    <a:srgbClr val="FF0000"/>
                  </a:solidFill>
                </a:rPr>
                <a:t>if (num1 &gt;= 0) </a:t>
              </a:r>
              <a:r>
                <a:rPr lang="en-US" sz="1400" dirty="0">
                  <a:solidFill>
                    <a:srgbClr val="00B050"/>
                  </a:solidFill>
                </a:rPr>
                <a:t>//this should be made after reading </a:t>
              </a:r>
              <a:r>
                <a:rPr lang="en-US" sz="1400" dirty="0" err="1">
                  <a:solidFill>
                    <a:srgbClr val="00B050"/>
                  </a:solidFill>
                </a:rPr>
                <a:t>num</a:t>
              </a:r>
              <a:endParaRPr lang="en-US" sz="1400" dirty="0">
                <a:solidFill>
                  <a:srgbClr val="FF0000"/>
                </a:solidFill>
              </a:endParaRPr>
            </a:p>
            <a:p>
              <a:r>
                <a:rPr lang="en-US" sz="1400" dirty="0">
                  <a:solidFill>
                    <a:srgbClr val="0000FF"/>
                  </a:solidFill>
                </a:rPr>
                <a:t>	     result = num1 * 2;        </a:t>
              </a:r>
              <a:r>
                <a:rPr lang="en-US" sz="1400" dirty="0">
                  <a:solidFill>
                    <a:srgbClr val="00B050"/>
                  </a:solidFill>
                </a:rPr>
                <a:t>// the value of result is no more equal to  -1</a:t>
              </a:r>
              <a:endParaRPr lang="en-US" sz="1400" dirty="0">
                <a:solidFill>
                  <a:srgbClr val="0000FF"/>
                </a:solidFill>
              </a:endParaRPr>
            </a:p>
            <a:p>
              <a:r>
                <a:rPr lang="en-US" sz="1400" dirty="0">
                  <a:solidFill>
                    <a:srgbClr val="0000FF"/>
                  </a:solidFill>
                </a:rPr>
                <a:t>	  </a:t>
              </a:r>
              <a:r>
                <a:rPr lang="en-US" sz="1400" dirty="0">
                  <a:solidFill>
                    <a:srgbClr val="00B0F0"/>
                  </a:solidFill>
                </a:rPr>
                <a:t>break</a:t>
              </a:r>
              <a:r>
                <a:rPr lang="en-US" sz="1400" dirty="0">
                  <a:solidFill>
                    <a:srgbClr val="0000FF"/>
                  </a:solidFill>
                </a:rPr>
                <a:t>;</a:t>
              </a:r>
            </a:p>
            <a:p>
              <a:r>
                <a:rPr lang="en-US" sz="1400" dirty="0">
                  <a:solidFill>
                    <a:srgbClr val="0000FF"/>
                  </a:solidFill>
                </a:rPr>
                <a:t>      </a:t>
              </a:r>
              <a:r>
                <a:rPr lang="en-US" sz="1400" dirty="0">
                  <a:solidFill>
                    <a:srgbClr val="00B0F0"/>
                  </a:solidFill>
                </a:rPr>
                <a:t>case </a:t>
              </a:r>
              <a:r>
                <a:rPr lang="en-US" sz="1400" dirty="0">
                  <a:solidFill>
                    <a:srgbClr val="0000FF"/>
                  </a:solidFill>
                </a:rPr>
                <a:t>3: result = num1 * num1;</a:t>
              </a:r>
              <a:r>
                <a:rPr lang="en-US" sz="1400" dirty="0">
                  <a:solidFill>
                    <a:srgbClr val="00B050"/>
                  </a:solidFill>
                </a:rPr>
                <a:t> // the value of result is always positive</a:t>
              </a:r>
              <a:endParaRPr lang="en-US" sz="1400" dirty="0">
                <a:solidFill>
                  <a:srgbClr val="0000FF"/>
                </a:solidFill>
              </a:endParaRPr>
            </a:p>
            <a:p>
              <a:r>
                <a:rPr lang="en-US" sz="1400" dirty="0">
                  <a:solidFill>
                    <a:srgbClr val="0000FF"/>
                  </a:solidFill>
                </a:rPr>
                <a:t>	  </a:t>
              </a:r>
              <a:r>
                <a:rPr lang="en-US" sz="1400" dirty="0">
                  <a:solidFill>
                    <a:srgbClr val="00B0F0"/>
                  </a:solidFill>
                </a:rPr>
                <a:t>break</a:t>
              </a:r>
              <a:r>
                <a:rPr lang="en-US" sz="1400" dirty="0">
                  <a:solidFill>
                    <a:srgbClr val="0000FF"/>
                  </a:solidFill>
                </a:rPr>
                <a:t>;</a:t>
              </a:r>
            </a:p>
            <a:p>
              <a:r>
                <a:rPr lang="en-US" sz="1400" dirty="0">
                  <a:solidFill>
                    <a:srgbClr val="0000FF"/>
                  </a:solidFill>
                </a:rPr>
                <a:t>} </a:t>
              </a:r>
              <a:r>
                <a:rPr lang="en-US" sz="1400" dirty="0">
                  <a:solidFill>
                    <a:srgbClr val="00B050"/>
                  </a:solidFill>
                </a:rPr>
                <a:t>//end switch</a:t>
              </a:r>
            </a:p>
            <a:p>
              <a:r>
                <a:rPr lang="en-US" sz="1400" dirty="0"/>
                <a:t>   //output section</a:t>
              </a:r>
            </a:p>
            <a:p>
              <a:r>
                <a:rPr lang="en-US" sz="1400" dirty="0">
                  <a:solidFill>
                    <a:srgbClr val="0000FF"/>
                  </a:solidFill>
                </a:rPr>
                <a:t>   if (result != -1)</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(result);</a:t>
              </a:r>
            </a:p>
            <a:p>
              <a:r>
                <a:rPr lang="en-US" sz="1400" dirty="0">
                  <a:solidFill>
                    <a:srgbClr val="0000FF"/>
                  </a:solidFill>
                </a:rPr>
                <a:t>   else</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(message);</a:t>
              </a:r>
            </a:p>
            <a:p>
              <a:r>
                <a:rPr lang="en-US" sz="1400" dirty="0">
                  <a:solidFill>
                    <a:srgbClr val="0000FF"/>
                  </a:solidFill>
                </a:rPr>
                <a:t>} </a:t>
              </a:r>
              <a:r>
                <a:rPr lang="en-US" sz="1400" dirty="0">
                  <a:solidFill>
                    <a:srgbClr val="00B050"/>
                  </a:solidFill>
                </a:rPr>
                <a:t>//end main</a:t>
              </a:r>
            </a:p>
          </p:txBody>
        </p:sp>
        <p:sp>
          <p:nvSpPr>
            <p:cNvPr id="13" name="TextBox 12"/>
            <p:cNvSpPr txBox="1"/>
            <p:nvPr/>
          </p:nvSpPr>
          <p:spPr>
            <a:xfrm>
              <a:off x="323528" y="1236822"/>
              <a:ext cx="576064" cy="4425960"/>
            </a:xfrm>
            <a:prstGeom prst="rect">
              <a:avLst/>
            </a:prstGeom>
            <a:noFill/>
          </p:spPr>
          <p:txBody>
            <a:bodyPr wrap="square" rtlCol="0">
              <a:spAutoFit/>
            </a:bodyPr>
            <a:lstStyle/>
            <a:p>
              <a:pPr algn="r"/>
              <a:r>
                <a:rPr lang="en-US" sz="1400" dirty="0">
                  <a:solidFill>
                    <a:srgbClr val="FF0000"/>
                  </a:solidFill>
                </a:rPr>
                <a:t>16</a:t>
              </a:r>
            </a:p>
            <a:p>
              <a:pPr algn="r"/>
              <a:r>
                <a:rPr lang="en-US" sz="1400" dirty="0">
                  <a:solidFill>
                    <a:srgbClr val="FF0000"/>
                  </a:solidFill>
                </a:rPr>
                <a:t>17</a:t>
              </a:r>
            </a:p>
            <a:p>
              <a:pPr algn="r"/>
              <a:r>
                <a:rPr lang="en-US" sz="1400" dirty="0">
                  <a:solidFill>
                    <a:srgbClr val="FF0000"/>
                  </a:solidFill>
                </a:rPr>
                <a:t>18</a:t>
              </a:r>
            </a:p>
            <a:p>
              <a:pPr algn="r"/>
              <a:r>
                <a:rPr lang="en-US" sz="1400" dirty="0">
                  <a:solidFill>
                    <a:srgbClr val="FF0000"/>
                  </a:solidFill>
                </a:rPr>
                <a:t>19</a:t>
              </a:r>
            </a:p>
            <a:p>
              <a:pPr algn="r"/>
              <a:r>
                <a:rPr lang="en-US" sz="1400" dirty="0">
                  <a:solidFill>
                    <a:srgbClr val="FF0000"/>
                  </a:solidFill>
                </a:rPr>
                <a:t>20</a:t>
              </a:r>
            </a:p>
            <a:p>
              <a:pPr algn="r"/>
              <a:r>
                <a:rPr lang="en-US" sz="1400" dirty="0">
                  <a:solidFill>
                    <a:srgbClr val="FF0000"/>
                  </a:solidFill>
                </a:rPr>
                <a:t>21</a:t>
              </a:r>
            </a:p>
            <a:p>
              <a:pPr algn="r"/>
              <a:r>
                <a:rPr lang="en-US" sz="1400" dirty="0">
                  <a:solidFill>
                    <a:srgbClr val="FF0000"/>
                  </a:solidFill>
                </a:rPr>
                <a:t>22</a:t>
              </a:r>
            </a:p>
            <a:p>
              <a:pPr algn="r"/>
              <a:r>
                <a:rPr lang="en-US" sz="1400" dirty="0">
                  <a:solidFill>
                    <a:srgbClr val="FF0000"/>
                  </a:solidFill>
                </a:rPr>
                <a:t>23</a:t>
              </a:r>
            </a:p>
            <a:p>
              <a:pPr algn="r"/>
              <a:r>
                <a:rPr lang="en-US" sz="1400" dirty="0">
                  <a:solidFill>
                    <a:srgbClr val="FF0000"/>
                  </a:solidFill>
                </a:rPr>
                <a:t>24</a:t>
              </a:r>
            </a:p>
            <a:p>
              <a:pPr algn="r"/>
              <a:r>
                <a:rPr lang="en-US" sz="1400" dirty="0">
                  <a:solidFill>
                    <a:srgbClr val="FF0000"/>
                  </a:solidFill>
                </a:rPr>
                <a:t>25</a:t>
              </a:r>
            </a:p>
            <a:p>
              <a:pPr algn="r"/>
              <a:r>
                <a:rPr lang="en-US" sz="1400" dirty="0">
                  <a:solidFill>
                    <a:srgbClr val="FF0000"/>
                  </a:solidFill>
                </a:rPr>
                <a:t>26</a:t>
              </a:r>
            </a:p>
            <a:p>
              <a:pPr algn="r"/>
              <a:r>
                <a:rPr lang="en-US" sz="1400" dirty="0">
                  <a:solidFill>
                    <a:srgbClr val="FF0000"/>
                  </a:solidFill>
                </a:rPr>
                <a:t>27</a:t>
              </a:r>
            </a:p>
            <a:p>
              <a:pPr algn="r"/>
              <a:r>
                <a:rPr lang="en-US" sz="1400" dirty="0">
                  <a:solidFill>
                    <a:srgbClr val="FF0000"/>
                  </a:solidFill>
                </a:rPr>
                <a:t>28</a:t>
              </a:r>
            </a:p>
            <a:p>
              <a:pPr algn="r"/>
              <a:r>
                <a:rPr lang="en-US" sz="1400" dirty="0">
                  <a:solidFill>
                    <a:srgbClr val="FF0000"/>
                  </a:solidFill>
                </a:rPr>
                <a:t>29</a:t>
              </a:r>
            </a:p>
            <a:p>
              <a:pPr algn="r"/>
              <a:r>
                <a:rPr lang="en-US" sz="1400" dirty="0">
                  <a:solidFill>
                    <a:srgbClr val="FF0000"/>
                  </a:solidFill>
                </a:rPr>
                <a:t>30</a:t>
              </a:r>
            </a:p>
            <a:p>
              <a:pPr algn="r"/>
              <a:r>
                <a:rPr lang="en-US" sz="1400" dirty="0">
                  <a:solidFill>
                    <a:srgbClr val="FF0000"/>
                  </a:solidFill>
                </a:rPr>
                <a:t>31</a:t>
              </a:r>
            </a:p>
            <a:p>
              <a:pPr algn="r"/>
              <a:r>
                <a:rPr lang="en-US" sz="1400" dirty="0">
                  <a:solidFill>
                    <a:srgbClr val="FF0000"/>
                  </a:solidFill>
                </a:rPr>
                <a:t>32</a:t>
              </a:r>
            </a:p>
            <a:p>
              <a:pPr algn="r"/>
              <a:r>
                <a:rPr lang="en-US" sz="1400" dirty="0">
                  <a:solidFill>
                    <a:srgbClr val="FF0000"/>
                  </a:solidFill>
                </a:rPr>
                <a:t>33</a:t>
              </a:r>
            </a:p>
            <a:p>
              <a:pPr algn="r"/>
              <a:r>
                <a:rPr lang="en-US" sz="1400" dirty="0">
                  <a:solidFill>
                    <a:srgbClr val="FF0000"/>
                  </a:solidFill>
                </a:rPr>
                <a:t>34</a:t>
              </a:r>
            </a:p>
            <a:p>
              <a:pPr algn="r"/>
              <a:r>
                <a:rPr lang="en-US" sz="1400" dirty="0">
                  <a:solidFill>
                    <a:srgbClr val="FF0000"/>
                  </a:solidFill>
                </a:rPr>
                <a:t>35</a:t>
              </a:r>
            </a:p>
          </p:txBody>
        </p:sp>
      </p:grpSp>
      <p:sp>
        <p:nvSpPr>
          <p:cNvPr id="7" name="Slide Number Placeholder 6"/>
          <p:cNvSpPr>
            <a:spLocks noGrp="1"/>
          </p:cNvSpPr>
          <p:nvPr>
            <p:ph type="sldNum" sz="quarter" idx="12"/>
          </p:nvPr>
        </p:nvSpPr>
        <p:spPr/>
        <p:txBody>
          <a:bodyPr>
            <a:normAutofit/>
          </a:bodyPr>
          <a:lstStyle/>
          <a:p>
            <a:fld id="{125A1C68-F048-4C66-8544-2D3BD35A5879}" type="slidenum">
              <a:rPr lang="en-US" smtClean="0"/>
              <a:pPr/>
              <a:t>18</a:t>
            </a:fld>
            <a:endParaRPr lang="en-US" dirty="0"/>
          </a:p>
        </p:txBody>
      </p:sp>
    </p:spTree>
    <p:custDataLst>
      <p:tags r:id="rId1"/>
    </p:custDataLst>
    <p:extLst>
      <p:ext uri="{BB962C8B-B14F-4D97-AF65-F5344CB8AC3E}">
        <p14:creationId xmlns:p14="http://schemas.microsoft.com/office/powerpoint/2010/main" val="224255599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2"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wipe(right)">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a:off x="179512" y="2132856"/>
            <a:ext cx="8784976" cy="4524315"/>
            <a:chOff x="323528" y="1236822"/>
            <a:chExt cx="7848872" cy="4377611"/>
          </a:xfrm>
        </p:grpSpPr>
        <p:sp>
          <p:nvSpPr>
            <p:cNvPr id="16" name="TextBox 15"/>
            <p:cNvSpPr txBox="1"/>
            <p:nvPr/>
          </p:nvSpPr>
          <p:spPr>
            <a:xfrm>
              <a:off x="971600" y="1236822"/>
              <a:ext cx="7200800" cy="4377611"/>
            </a:xfrm>
            <a:prstGeom prst="rect">
              <a:avLst/>
            </a:prstGeom>
            <a:solidFill>
              <a:schemeClr val="bg2"/>
            </a:solidFill>
            <a:ln w="28575" cap="rnd" cmpd="thickThin">
              <a:solidFill>
                <a:srgbClr val="0000FF"/>
              </a:solidFill>
            </a:ln>
          </p:spPr>
          <p:txBody>
            <a:bodyPr wrap="square" rtlCol="0">
              <a:spAutoFit/>
            </a:bodyPr>
            <a:lstStyle/>
            <a:p>
              <a:r>
                <a:rPr lang="en-US" sz="1200" dirty="0">
                  <a:solidFill>
                    <a:srgbClr val="00B0F0"/>
                  </a:solidFill>
                </a:rPr>
                <a:t>public static void </a:t>
              </a:r>
              <a:r>
                <a:rPr lang="en-US" sz="1200" dirty="0">
                  <a:solidFill>
                    <a:srgbClr val="0000FF"/>
                  </a:solidFill>
                </a:rPr>
                <a:t>main (String[] </a:t>
              </a:r>
              <a:r>
                <a:rPr lang="en-US" sz="1200" dirty="0" err="1">
                  <a:solidFill>
                    <a:srgbClr val="0000FF"/>
                  </a:solidFill>
                </a:rPr>
                <a:t>args</a:t>
              </a:r>
              <a:r>
                <a:rPr lang="en-US" sz="1200" dirty="0">
                  <a:solidFill>
                    <a:srgbClr val="0000FF"/>
                  </a:solidFill>
                </a:rPr>
                <a:t>)</a:t>
              </a:r>
            </a:p>
            <a:p>
              <a:r>
                <a:rPr lang="en-US" sz="1200" dirty="0">
                  <a:solidFill>
                    <a:srgbClr val="0000FF"/>
                  </a:solidFill>
                </a:rPr>
                <a:t>{</a:t>
              </a:r>
            </a:p>
            <a:p>
              <a:r>
                <a:rPr lang="en-US" sz="1200" dirty="0"/>
                <a:t>   //Declaration section</a:t>
              </a:r>
            </a:p>
            <a:p>
              <a:r>
                <a:rPr lang="en-US" sz="1200" dirty="0">
                  <a:solidFill>
                    <a:srgbClr val="0000FF"/>
                  </a:solidFill>
                </a:rPr>
                <a:t>   Scanner read = </a:t>
              </a:r>
              <a:r>
                <a:rPr lang="en-US" sz="1200" dirty="0">
                  <a:solidFill>
                    <a:srgbClr val="00B0F0"/>
                  </a:solidFill>
                </a:rPr>
                <a:t>new </a:t>
              </a:r>
              <a:r>
                <a:rPr lang="en-US" sz="1200" dirty="0">
                  <a:solidFill>
                    <a:srgbClr val="0000FF"/>
                  </a:solidFill>
                </a:rPr>
                <a:t>Scanner (System.in);</a:t>
              </a:r>
            </a:p>
            <a:p>
              <a:r>
                <a:rPr lang="en-US" sz="1200" dirty="0">
                  <a:solidFill>
                    <a:srgbClr val="0000FF"/>
                  </a:solidFill>
                </a:rPr>
                <a:t>   </a:t>
              </a:r>
              <a:r>
                <a:rPr lang="en-US" sz="1200" dirty="0">
                  <a:solidFill>
                    <a:srgbClr val="00B0F0"/>
                  </a:solidFill>
                </a:rPr>
                <a:t>char </a:t>
              </a:r>
              <a:r>
                <a:rPr lang="en-US" sz="1200" dirty="0">
                  <a:solidFill>
                    <a:srgbClr val="0000FF"/>
                  </a:solidFill>
                </a:rPr>
                <a:t>letter;</a:t>
              </a:r>
            </a:p>
            <a:p>
              <a:r>
                <a:rPr lang="en-US" sz="1200" dirty="0">
                  <a:solidFill>
                    <a:srgbClr val="0000FF"/>
                  </a:solidFill>
                </a:rPr>
                <a:t>   </a:t>
              </a:r>
              <a:r>
                <a:rPr lang="en-US" sz="1200" dirty="0">
                  <a:solidFill>
                    <a:srgbClr val="00B0F0"/>
                  </a:solidFill>
                </a:rPr>
                <a:t>String </a:t>
              </a:r>
              <a:r>
                <a:rPr lang="en-US" sz="1200" dirty="0">
                  <a:solidFill>
                    <a:srgbClr val="0000FF"/>
                  </a:solidFill>
                </a:rPr>
                <a:t>vowel = “This is a vowel”;</a:t>
              </a:r>
            </a:p>
            <a:p>
              <a:r>
                <a:rPr lang="en-US" sz="1200" dirty="0"/>
                <a:t>   //input section</a:t>
              </a:r>
            </a:p>
            <a:p>
              <a:r>
                <a:rPr lang="en-US" sz="1200" dirty="0">
                  <a:solidFill>
                    <a:srgbClr val="0000FF"/>
                  </a:solidFill>
                </a:rPr>
                <a:t>   letter = </a:t>
              </a:r>
              <a:r>
                <a:rPr lang="en-US" sz="1200" dirty="0" err="1">
                  <a:solidFill>
                    <a:srgbClr val="0000FF"/>
                  </a:solidFill>
                </a:rPr>
                <a:t>read.</a:t>
              </a:r>
              <a:r>
                <a:rPr lang="en-US" sz="1200" dirty="0" err="1">
                  <a:solidFill>
                    <a:srgbClr val="00B050"/>
                  </a:solidFill>
                </a:rPr>
                <a:t>next</a:t>
              </a:r>
              <a:r>
                <a:rPr lang="en-US" sz="1200" dirty="0">
                  <a:solidFill>
                    <a:srgbClr val="00B050"/>
                  </a:solidFill>
                </a:rPr>
                <a:t>().</a:t>
              </a:r>
              <a:r>
                <a:rPr lang="en-US" sz="1200" dirty="0" err="1">
                  <a:solidFill>
                    <a:srgbClr val="00B050"/>
                  </a:solidFill>
                </a:rPr>
                <a:t>charAt</a:t>
              </a:r>
              <a:r>
                <a:rPr lang="en-US" sz="1200" dirty="0">
                  <a:solidFill>
                    <a:srgbClr val="00B050"/>
                  </a:solidFill>
                </a:rPr>
                <a:t>(0)</a:t>
              </a:r>
              <a:r>
                <a:rPr lang="en-US" sz="1200" dirty="0">
                  <a:solidFill>
                    <a:srgbClr val="0000FF"/>
                  </a:solidFill>
                </a:rPr>
                <a:t>;</a:t>
              </a:r>
            </a:p>
            <a:p>
              <a:r>
                <a:rPr lang="en-US" sz="1200" dirty="0"/>
                <a:t>   //processing section</a:t>
              </a:r>
            </a:p>
            <a:p>
              <a:r>
                <a:rPr lang="en-US" sz="1200" dirty="0">
                  <a:solidFill>
                    <a:srgbClr val="0000FF"/>
                  </a:solidFill>
                </a:rPr>
                <a:t>   </a:t>
              </a:r>
              <a:r>
                <a:rPr lang="en-US" sz="1200" dirty="0">
                  <a:solidFill>
                    <a:srgbClr val="00B0F0"/>
                  </a:solidFill>
                </a:rPr>
                <a:t>switch</a:t>
              </a:r>
              <a:r>
                <a:rPr lang="en-US" sz="1200" dirty="0">
                  <a:solidFill>
                    <a:srgbClr val="0000FF"/>
                  </a:solidFill>
                </a:rPr>
                <a:t> (letter)</a:t>
              </a:r>
            </a:p>
            <a:p>
              <a:r>
                <a:rPr lang="en-US" sz="1200" dirty="0">
                  <a:solidFill>
                    <a:srgbClr val="0000FF"/>
                  </a:solidFill>
                </a:rPr>
                <a:t>   {</a:t>
              </a:r>
            </a:p>
            <a:p>
              <a:r>
                <a:rPr lang="en-US" sz="1200" dirty="0">
                  <a:solidFill>
                    <a:srgbClr val="0000FF"/>
                  </a:solidFill>
                </a:rPr>
                <a:t>      </a:t>
              </a:r>
              <a:r>
                <a:rPr lang="en-US" sz="1200" dirty="0">
                  <a:solidFill>
                    <a:srgbClr val="00B0F0"/>
                  </a:solidFill>
                </a:rPr>
                <a:t>case</a:t>
              </a:r>
              <a:r>
                <a:rPr lang="en-US" sz="1200" dirty="0">
                  <a:solidFill>
                    <a:srgbClr val="0000FF"/>
                  </a:solidFill>
                </a:rPr>
                <a:t> ‘a’: </a:t>
              </a:r>
              <a:r>
                <a:rPr lang="en-US" sz="1200" dirty="0" err="1">
                  <a:solidFill>
                    <a:srgbClr val="0000FF"/>
                  </a:solidFill>
                </a:rPr>
                <a:t>System.out.println</a:t>
              </a:r>
              <a:r>
                <a:rPr lang="en-US" sz="1200" dirty="0">
                  <a:solidFill>
                    <a:srgbClr val="0000FF"/>
                  </a:solidFill>
                </a:rPr>
                <a:t> (vowel);</a:t>
              </a:r>
            </a:p>
            <a:p>
              <a:r>
                <a:rPr lang="en-US" sz="1200" dirty="0">
                  <a:solidFill>
                    <a:srgbClr val="0000FF"/>
                  </a:solidFill>
                </a:rPr>
                <a:t>	   </a:t>
              </a:r>
              <a:r>
                <a:rPr lang="en-US" sz="1200" dirty="0">
                  <a:solidFill>
                    <a:srgbClr val="00B0F0"/>
                  </a:solidFill>
                </a:rPr>
                <a:t>break</a:t>
              </a:r>
              <a:r>
                <a:rPr lang="en-US" sz="1200" dirty="0">
                  <a:solidFill>
                    <a:srgbClr val="0000FF"/>
                  </a:solidFill>
                </a:rPr>
                <a:t>;</a:t>
              </a:r>
            </a:p>
            <a:p>
              <a:r>
                <a:rPr lang="en-US" sz="1200" dirty="0">
                  <a:solidFill>
                    <a:srgbClr val="0000FF"/>
                  </a:solidFill>
                </a:rPr>
                <a:t>      </a:t>
              </a:r>
              <a:r>
                <a:rPr lang="en-US" sz="1200" dirty="0">
                  <a:solidFill>
                    <a:srgbClr val="00B0F0"/>
                  </a:solidFill>
                </a:rPr>
                <a:t>case</a:t>
              </a:r>
              <a:r>
                <a:rPr lang="en-US" sz="1200" dirty="0">
                  <a:solidFill>
                    <a:srgbClr val="0000FF"/>
                  </a:solidFill>
                </a:rPr>
                <a:t> ‘e’: </a:t>
              </a:r>
              <a:r>
                <a:rPr lang="en-US" sz="1200" dirty="0" err="1">
                  <a:solidFill>
                    <a:srgbClr val="0000FF"/>
                  </a:solidFill>
                </a:rPr>
                <a:t>System.out.println</a:t>
              </a:r>
              <a:r>
                <a:rPr lang="en-US" sz="1200" dirty="0">
                  <a:solidFill>
                    <a:srgbClr val="0000FF"/>
                  </a:solidFill>
                </a:rPr>
                <a:t> (vowel);</a:t>
              </a:r>
            </a:p>
            <a:p>
              <a:r>
                <a:rPr lang="en-US" sz="1200" dirty="0">
                  <a:solidFill>
                    <a:srgbClr val="0000FF"/>
                  </a:solidFill>
                </a:rPr>
                <a:t>	   </a:t>
              </a:r>
              <a:r>
                <a:rPr lang="en-US" sz="1200" dirty="0">
                  <a:solidFill>
                    <a:srgbClr val="00B0F0"/>
                  </a:solidFill>
                </a:rPr>
                <a:t>break</a:t>
              </a:r>
              <a:r>
                <a:rPr lang="en-US" sz="1200" dirty="0">
                  <a:solidFill>
                    <a:srgbClr val="0000FF"/>
                  </a:solidFill>
                </a:rPr>
                <a:t>;</a:t>
              </a:r>
            </a:p>
            <a:p>
              <a:r>
                <a:rPr lang="en-US" sz="1200" dirty="0">
                  <a:solidFill>
                    <a:srgbClr val="0000FF"/>
                  </a:solidFill>
                </a:rPr>
                <a:t>      </a:t>
              </a:r>
              <a:r>
                <a:rPr lang="en-US" sz="1200" dirty="0">
                  <a:solidFill>
                    <a:srgbClr val="00B0F0"/>
                  </a:solidFill>
                </a:rPr>
                <a:t>case</a:t>
              </a:r>
              <a:r>
                <a:rPr lang="en-US" sz="1200" dirty="0">
                  <a:solidFill>
                    <a:srgbClr val="0000FF"/>
                  </a:solidFill>
                </a:rPr>
                <a:t> ‘o’: </a:t>
              </a:r>
              <a:r>
                <a:rPr lang="en-US" sz="1200" dirty="0" err="1">
                  <a:solidFill>
                    <a:srgbClr val="0000FF"/>
                  </a:solidFill>
                </a:rPr>
                <a:t>System.out.println</a:t>
              </a:r>
              <a:r>
                <a:rPr lang="en-US" sz="1200" dirty="0">
                  <a:solidFill>
                    <a:srgbClr val="0000FF"/>
                  </a:solidFill>
                </a:rPr>
                <a:t> (vowel);</a:t>
              </a:r>
            </a:p>
            <a:p>
              <a:r>
                <a:rPr lang="en-US" sz="1200" dirty="0">
                  <a:solidFill>
                    <a:srgbClr val="0000FF"/>
                  </a:solidFill>
                </a:rPr>
                <a:t>                    </a:t>
              </a:r>
              <a:r>
                <a:rPr lang="en-US" sz="1200" dirty="0">
                  <a:solidFill>
                    <a:srgbClr val="00B0F0"/>
                  </a:solidFill>
                </a:rPr>
                <a:t>break</a:t>
              </a:r>
              <a:r>
                <a:rPr lang="en-US" sz="1200" dirty="0">
                  <a:solidFill>
                    <a:srgbClr val="0000FF"/>
                  </a:solidFill>
                </a:rPr>
                <a:t>;</a:t>
              </a:r>
            </a:p>
            <a:p>
              <a:r>
                <a:rPr lang="en-US" sz="1200" dirty="0">
                  <a:solidFill>
                    <a:srgbClr val="0000FF"/>
                  </a:solidFill>
                </a:rPr>
                <a:t>      </a:t>
              </a:r>
              <a:r>
                <a:rPr lang="en-US" sz="1200" dirty="0">
                  <a:solidFill>
                    <a:srgbClr val="00B0F0"/>
                  </a:solidFill>
                </a:rPr>
                <a:t>case</a:t>
              </a:r>
              <a:r>
                <a:rPr lang="en-US" sz="1200" dirty="0">
                  <a:solidFill>
                    <a:srgbClr val="0000FF"/>
                  </a:solidFill>
                </a:rPr>
                <a:t> ‘</a:t>
              </a:r>
              <a:r>
                <a:rPr lang="en-US" sz="1200" dirty="0" err="1">
                  <a:solidFill>
                    <a:srgbClr val="0000FF"/>
                  </a:solidFill>
                </a:rPr>
                <a:t>i</a:t>
              </a:r>
              <a:r>
                <a:rPr lang="en-US" sz="1200" dirty="0">
                  <a:solidFill>
                    <a:srgbClr val="0000FF"/>
                  </a:solidFill>
                </a:rPr>
                <a:t>’: </a:t>
              </a:r>
              <a:r>
                <a:rPr lang="en-US" sz="1200" dirty="0" err="1">
                  <a:solidFill>
                    <a:srgbClr val="0000FF"/>
                  </a:solidFill>
                </a:rPr>
                <a:t>System.out.println</a:t>
              </a:r>
              <a:r>
                <a:rPr lang="en-US" sz="1200" dirty="0">
                  <a:solidFill>
                    <a:srgbClr val="0000FF"/>
                  </a:solidFill>
                </a:rPr>
                <a:t> (vowel);</a:t>
              </a:r>
            </a:p>
            <a:p>
              <a:r>
                <a:rPr lang="en-US" sz="1200" dirty="0">
                  <a:solidFill>
                    <a:srgbClr val="0000FF"/>
                  </a:solidFill>
                </a:rPr>
                <a:t>	   </a:t>
              </a:r>
              <a:r>
                <a:rPr lang="en-US" sz="1200" dirty="0">
                  <a:solidFill>
                    <a:srgbClr val="00B0F0"/>
                  </a:solidFill>
                </a:rPr>
                <a:t>break</a:t>
              </a:r>
              <a:r>
                <a:rPr lang="en-US" sz="1200" dirty="0">
                  <a:solidFill>
                    <a:srgbClr val="0000FF"/>
                  </a:solidFill>
                </a:rPr>
                <a:t>;</a:t>
              </a:r>
            </a:p>
            <a:p>
              <a:r>
                <a:rPr lang="en-US" sz="1200" dirty="0">
                  <a:solidFill>
                    <a:srgbClr val="0000FF"/>
                  </a:solidFill>
                </a:rPr>
                <a:t>      </a:t>
              </a:r>
              <a:r>
                <a:rPr lang="en-US" sz="1200" dirty="0">
                  <a:solidFill>
                    <a:srgbClr val="00B0F0"/>
                  </a:solidFill>
                </a:rPr>
                <a:t>case</a:t>
              </a:r>
              <a:r>
                <a:rPr lang="en-US" sz="1200" dirty="0">
                  <a:solidFill>
                    <a:srgbClr val="0000FF"/>
                  </a:solidFill>
                </a:rPr>
                <a:t> ‘u’: </a:t>
              </a:r>
              <a:r>
                <a:rPr lang="en-US" sz="1200" dirty="0" err="1">
                  <a:solidFill>
                    <a:srgbClr val="0000FF"/>
                  </a:solidFill>
                </a:rPr>
                <a:t>System.out.println</a:t>
              </a:r>
              <a:r>
                <a:rPr lang="en-US" sz="1200" dirty="0">
                  <a:solidFill>
                    <a:srgbClr val="0000FF"/>
                  </a:solidFill>
                </a:rPr>
                <a:t> (vowel);</a:t>
              </a:r>
            </a:p>
            <a:p>
              <a:r>
                <a:rPr lang="en-US" sz="1200" dirty="0">
                  <a:solidFill>
                    <a:srgbClr val="0000FF"/>
                  </a:solidFill>
                </a:rPr>
                <a:t>	    </a:t>
              </a:r>
              <a:r>
                <a:rPr lang="en-US" sz="1200" dirty="0">
                  <a:solidFill>
                    <a:srgbClr val="00B0F0"/>
                  </a:solidFill>
                </a:rPr>
                <a:t>break</a:t>
              </a:r>
              <a:r>
                <a:rPr lang="en-US" sz="1200" dirty="0">
                  <a:solidFill>
                    <a:srgbClr val="0000FF"/>
                  </a:solidFill>
                </a:rPr>
                <a:t>;</a:t>
              </a:r>
            </a:p>
            <a:p>
              <a:r>
                <a:rPr lang="en-US" sz="1200" dirty="0">
                  <a:solidFill>
                    <a:srgbClr val="0000FF"/>
                  </a:solidFill>
                </a:rPr>
                <a:t>     </a:t>
              </a:r>
              <a:r>
                <a:rPr lang="en-US" sz="1200" dirty="0">
                  <a:solidFill>
                    <a:srgbClr val="00B0F0"/>
                  </a:solidFill>
                </a:rPr>
                <a:t>default</a:t>
              </a:r>
              <a:r>
                <a:rPr lang="en-US" sz="1200" dirty="0">
                  <a:solidFill>
                    <a:srgbClr val="0000FF"/>
                  </a:solidFill>
                </a:rPr>
                <a:t>: </a:t>
              </a:r>
              <a:r>
                <a:rPr lang="en-US" sz="1200" dirty="0" err="1">
                  <a:solidFill>
                    <a:srgbClr val="0000FF"/>
                  </a:solidFill>
                </a:rPr>
                <a:t>System.out.println</a:t>
              </a:r>
              <a:r>
                <a:rPr lang="en-US" sz="1200" dirty="0">
                  <a:solidFill>
                    <a:srgbClr val="0000FF"/>
                  </a:solidFill>
                </a:rPr>
                <a:t> (“This is not a vowel”);</a:t>
              </a:r>
            </a:p>
            <a:p>
              <a:r>
                <a:rPr lang="en-US" sz="1200" dirty="0">
                  <a:solidFill>
                    <a:srgbClr val="0000FF"/>
                  </a:solidFill>
                </a:rPr>
                <a:t>    } </a:t>
              </a:r>
              <a:r>
                <a:rPr lang="en-US" sz="1200" dirty="0">
                  <a:solidFill>
                    <a:srgbClr val="00B050"/>
                  </a:solidFill>
                </a:rPr>
                <a:t>//end switch</a:t>
              </a:r>
            </a:p>
            <a:p>
              <a:r>
                <a:rPr lang="en-US" sz="1200" dirty="0">
                  <a:solidFill>
                    <a:srgbClr val="0000FF"/>
                  </a:solidFill>
                </a:rPr>
                <a:t>} </a:t>
              </a:r>
              <a:r>
                <a:rPr lang="en-US" sz="1200" dirty="0">
                  <a:solidFill>
                    <a:srgbClr val="00B050"/>
                  </a:solidFill>
                </a:rPr>
                <a:t>//end main</a:t>
              </a:r>
            </a:p>
          </p:txBody>
        </p:sp>
        <p:sp>
          <p:nvSpPr>
            <p:cNvPr id="17" name="TextBox 16"/>
            <p:cNvSpPr txBox="1"/>
            <p:nvPr/>
          </p:nvSpPr>
          <p:spPr>
            <a:xfrm>
              <a:off x="323528" y="1236822"/>
              <a:ext cx="576064" cy="4377611"/>
            </a:xfrm>
            <a:prstGeom prst="rect">
              <a:avLst/>
            </a:prstGeom>
            <a:noFill/>
          </p:spPr>
          <p:txBody>
            <a:bodyPr wrap="square" rtlCol="0">
              <a:spAutoFit/>
            </a:bodyPr>
            <a:lstStyle/>
            <a:p>
              <a:pPr algn="r"/>
              <a:r>
                <a:rPr lang="en-US" sz="1200" dirty="0">
                  <a:solidFill>
                    <a:srgbClr val="FF0000"/>
                  </a:solidFill>
                </a:rPr>
                <a:t>1</a:t>
              </a:r>
            </a:p>
            <a:p>
              <a:pPr algn="r"/>
              <a:r>
                <a:rPr lang="en-US" sz="1200" dirty="0">
                  <a:solidFill>
                    <a:srgbClr val="FF0000"/>
                  </a:solidFill>
                </a:rPr>
                <a:t>2</a:t>
              </a:r>
            </a:p>
            <a:p>
              <a:pPr algn="r"/>
              <a:r>
                <a:rPr lang="en-US" sz="1200" dirty="0">
                  <a:solidFill>
                    <a:srgbClr val="FF0000"/>
                  </a:solidFill>
                </a:rPr>
                <a:t>3</a:t>
              </a:r>
            </a:p>
            <a:p>
              <a:pPr algn="r"/>
              <a:r>
                <a:rPr lang="en-US" sz="1200" dirty="0">
                  <a:solidFill>
                    <a:srgbClr val="FF0000"/>
                  </a:solidFill>
                </a:rPr>
                <a:t>4</a:t>
              </a:r>
            </a:p>
            <a:p>
              <a:pPr algn="r"/>
              <a:r>
                <a:rPr lang="en-US" sz="1200" dirty="0">
                  <a:solidFill>
                    <a:srgbClr val="FF0000"/>
                  </a:solidFill>
                </a:rPr>
                <a:t>5</a:t>
              </a:r>
            </a:p>
            <a:p>
              <a:pPr algn="r"/>
              <a:r>
                <a:rPr lang="en-US" sz="1200" dirty="0">
                  <a:solidFill>
                    <a:srgbClr val="FF0000"/>
                  </a:solidFill>
                </a:rPr>
                <a:t>6</a:t>
              </a:r>
            </a:p>
            <a:p>
              <a:pPr algn="r"/>
              <a:r>
                <a:rPr lang="en-US" sz="1200" dirty="0">
                  <a:solidFill>
                    <a:srgbClr val="FF0000"/>
                  </a:solidFill>
                </a:rPr>
                <a:t>7</a:t>
              </a:r>
            </a:p>
            <a:p>
              <a:pPr algn="r"/>
              <a:r>
                <a:rPr lang="en-US" sz="1200" dirty="0">
                  <a:solidFill>
                    <a:srgbClr val="FF0000"/>
                  </a:solidFill>
                </a:rPr>
                <a:t>8</a:t>
              </a:r>
            </a:p>
            <a:p>
              <a:pPr algn="r"/>
              <a:r>
                <a:rPr lang="en-US" sz="1200" dirty="0">
                  <a:solidFill>
                    <a:srgbClr val="FF0000"/>
                  </a:solidFill>
                </a:rPr>
                <a:t>9</a:t>
              </a:r>
            </a:p>
            <a:p>
              <a:pPr algn="r"/>
              <a:r>
                <a:rPr lang="en-US" sz="1200" dirty="0">
                  <a:solidFill>
                    <a:srgbClr val="FF0000"/>
                  </a:solidFill>
                </a:rPr>
                <a:t>10</a:t>
              </a:r>
            </a:p>
            <a:p>
              <a:pPr algn="r"/>
              <a:r>
                <a:rPr lang="en-US" sz="1200" dirty="0">
                  <a:solidFill>
                    <a:srgbClr val="FF0000"/>
                  </a:solidFill>
                </a:rPr>
                <a:t>11</a:t>
              </a:r>
            </a:p>
            <a:p>
              <a:pPr algn="r"/>
              <a:r>
                <a:rPr lang="en-US" sz="1200" dirty="0">
                  <a:solidFill>
                    <a:srgbClr val="FF0000"/>
                  </a:solidFill>
                </a:rPr>
                <a:t>12</a:t>
              </a:r>
            </a:p>
            <a:p>
              <a:pPr algn="r"/>
              <a:r>
                <a:rPr lang="en-US" sz="1200" dirty="0">
                  <a:solidFill>
                    <a:srgbClr val="FF0000"/>
                  </a:solidFill>
                </a:rPr>
                <a:t>13</a:t>
              </a:r>
            </a:p>
            <a:p>
              <a:pPr algn="r"/>
              <a:r>
                <a:rPr lang="en-US" sz="1200" dirty="0">
                  <a:solidFill>
                    <a:srgbClr val="FF0000"/>
                  </a:solidFill>
                </a:rPr>
                <a:t>14</a:t>
              </a:r>
            </a:p>
            <a:p>
              <a:pPr algn="r"/>
              <a:r>
                <a:rPr lang="en-US" sz="1200" dirty="0">
                  <a:solidFill>
                    <a:srgbClr val="FF0000"/>
                  </a:solidFill>
                </a:rPr>
                <a:t>15</a:t>
              </a:r>
            </a:p>
            <a:p>
              <a:pPr algn="r"/>
              <a:r>
                <a:rPr lang="en-US" sz="1200" dirty="0">
                  <a:solidFill>
                    <a:srgbClr val="FF0000"/>
                  </a:solidFill>
                </a:rPr>
                <a:t>16</a:t>
              </a:r>
            </a:p>
            <a:p>
              <a:pPr algn="r"/>
              <a:r>
                <a:rPr lang="en-US" sz="1200" dirty="0">
                  <a:solidFill>
                    <a:srgbClr val="FF0000"/>
                  </a:solidFill>
                </a:rPr>
                <a:t>17</a:t>
              </a:r>
            </a:p>
            <a:p>
              <a:pPr algn="r"/>
              <a:r>
                <a:rPr lang="en-US" sz="1200" dirty="0">
                  <a:solidFill>
                    <a:srgbClr val="FF0000"/>
                  </a:solidFill>
                </a:rPr>
                <a:t>18</a:t>
              </a:r>
            </a:p>
            <a:p>
              <a:pPr algn="r"/>
              <a:r>
                <a:rPr lang="en-US" sz="1200" dirty="0">
                  <a:solidFill>
                    <a:srgbClr val="FF0000"/>
                  </a:solidFill>
                </a:rPr>
                <a:t>19</a:t>
              </a:r>
            </a:p>
            <a:p>
              <a:pPr algn="r"/>
              <a:r>
                <a:rPr lang="en-US" sz="1200" dirty="0">
                  <a:solidFill>
                    <a:srgbClr val="FF0000"/>
                  </a:solidFill>
                </a:rPr>
                <a:t>20</a:t>
              </a:r>
            </a:p>
            <a:p>
              <a:pPr algn="r"/>
              <a:r>
                <a:rPr lang="en-US" sz="1200" dirty="0">
                  <a:solidFill>
                    <a:srgbClr val="FF0000"/>
                  </a:solidFill>
                </a:rPr>
                <a:t>21</a:t>
              </a:r>
            </a:p>
            <a:p>
              <a:pPr algn="r"/>
              <a:r>
                <a:rPr lang="en-US" sz="1200" dirty="0">
                  <a:solidFill>
                    <a:srgbClr val="FF0000"/>
                  </a:solidFill>
                </a:rPr>
                <a:t>22</a:t>
              </a:r>
            </a:p>
            <a:p>
              <a:pPr algn="r"/>
              <a:r>
                <a:rPr lang="en-US" sz="1200" dirty="0">
                  <a:solidFill>
                    <a:srgbClr val="FF0000"/>
                  </a:solidFill>
                </a:rPr>
                <a:t>23</a:t>
              </a:r>
            </a:p>
            <a:p>
              <a:pPr algn="r"/>
              <a:r>
                <a:rPr lang="en-US" sz="1200" dirty="0">
                  <a:solidFill>
                    <a:srgbClr val="FF0000"/>
                  </a:solidFill>
                </a:rPr>
                <a:t>24</a:t>
              </a:r>
            </a:p>
          </p:txBody>
        </p:sp>
      </p:grpSp>
      <p:sp>
        <p:nvSpPr>
          <p:cNvPr id="7" name="Slide Number Placeholder 6"/>
          <p:cNvSpPr>
            <a:spLocks noGrp="1"/>
          </p:cNvSpPr>
          <p:nvPr>
            <p:ph type="sldNum" sz="quarter" idx="12"/>
          </p:nvPr>
        </p:nvSpPr>
        <p:spPr>
          <a:xfrm>
            <a:off x="8647272" y="6309320"/>
            <a:ext cx="365760" cy="365125"/>
          </a:xfrm>
        </p:spPr>
        <p:txBody>
          <a:bodyPr>
            <a:normAutofit/>
          </a:bodyPr>
          <a:lstStyle/>
          <a:p>
            <a:fld id="{125A1C68-F048-4C66-8544-2D3BD35A5879}" type="slidenum">
              <a:rPr lang="en-US" smtClean="0"/>
              <a:pPr/>
              <a:t>19</a:t>
            </a:fld>
            <a:endParaRPr lang="en-US" dirty="0"/>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1.3 Without </a:t>
            </a:r>
            <a:r>
              <a:rPr lang="en-US" sz="4000" dirty="0">
                <a:solidFill>
                  <a:srgbClr val="00B0F0"/>
                </a:solidFill>
                <a:latin typeface="Tahoma" charset="0"/>
                <a:cs typeface="Arial" charset="0"/>
              </a:rPr>
              <a:t>break </a:t>
            </a:r>
            <a:r>
              <a:rPr lang="en-US" sz="4000" dirty="0">
                <a:solidFill>
                  <a:schemeClr val="accent2"/>
                </a:solidFill>
                <a:latin typeface="Tahoma" charset="0"/>
                <a:cs typeface="Arial" charset="0"/>
              </a:rPr>
              <a:t>Statement</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3</a:t>
            </a:r>
            <a:endParaRPr lang="en-US" b="1" dirty="0">
              <a:solidFill>
                <a:srgbClr val="0000FF"/>
              </a:solidFill>
            </a:endParaRP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251520" y="1340768"/>
            <a:ext cx="8712968" cy="720080"/>
          </a:xfrm>
          <a:prstGeom prst="roundRect">
            <a:avLst>
              <a:gd name="adj" fmla="val 4976"/>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t>Write a program that identifies vowels characters. </a:t>
            </a:r>
          </a:p>
          <a:p>
            <a:r>
              <a:rPr lang="en-US" dirty="0"/>
              <a:t>Vowels are ‘a’, ‘e’, ‘</a:t>
            </a:r>
            <a:r>
              <a:rPr lang="en-US" dirty="0" err="1"/>
              <a:t>i</a:t>
            </a:r>
            <a:r>
              <a:rPr lang="en-US" dirty="0"/>
              <a:t>’, ‘o’, ‘u’</a:t>
            </a:r>
          </a:p>
        </p:txBody>
      </p:sp>
      <p:sp>
        <p:nvSpPr>
          <p:cNvPr id="18" name="Rectangle 17"/>
          <p:cNvSpPr/>
          <p:nvPr/>
        </p:nvSpPr>
        <p:spPr>
          <a:xfrm>
            <a:off x="1907704" y="4149079"/>
            <a:ext cx="2016224" cy="245933"/>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907704" y="4551219"/>
            <a:ext cx="2016224" cy="245933"/>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1907704" y="4911259"/>
            <a:ext cx="2016224" cy="245933"/>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1907704" y="5271299"/>
            <a:ext cx="2016224" cy="245933"/>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1907704" y="5631339"/>
            <a:ext cx="2016224" cy="245933"/>
          </a:xfrm>
          <a:prstGeom prst="rect">
            <a:avLst/>
          </a:prstGeom>
          <a:solidFill>
            <a:srgbClr val="FF0000">
              <a:alpha val="2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24153336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right)">
                                      <p:cBhvr>
                                        <p:cTn id="10" dur="500"/>
                                        <p:tgtEl>
                                          <p:spTgt spid="14"/>
                                        </p:tgtEl>
                                      </p:cBhvr>
                                    </p:animEffect>
                                  </p:childTnLst>
                                </p:cTn>
                              </p:par>
                              <p:par>
                                <p:cTn id="11" presetID="22" presetClass="entr" presetSubtype="2"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right)">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left)">
                                      <p:cBhvr>
                                        <p:cTn id="18" dur="500"/>
                                        <p:tgtEl>
                                          <p:spTgt spid="18"/>
                                        </p:tgtEl>
                                      </p:cBhvr>
                                    </p:animEffect>
                                  </p:childTnLst>
                                </p:cTn>
                              </p:par>
                            </p:childTnLst>
                          </p:cTn>
                        </p:par>
                        <p:par>
                          <p:cTn id="19" fill="hold">
                            <p:stCondLst>
                              <p:cond delay="500"/>
                            </p:stCondLst>
                            <p:childTnLst>
                              <p:par>
                                <p:cTn id="20" presetID="22" presetClass="entr" presetSubtype="8" fill="hold" grpId="0" nodeType="after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childTnLst>
                          </p:cTn>
                        </p:par>
                        <p:par>
                          <p:cTn id="23" fill="hold">
                            <p:stCondLst>
                              <p:cond delay="1000"/>
                            </p:stCondLst>
                            <p:childTnLst>
                              <p:par>
                                <p:cTn id="24" presetID="22" presetClass="entr" presetSubtype="8" fill="hold" grpId="0" nodeType="after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left)">
                                      <p:cBhvr>
                                        <p:cTn id="26" dur="500"/>
                                        <p:tgtEl>
                                          <p:spTgt spid="20"/>
                                        </p:tgtEl>
                                      </p:cBhvr>
                                    </p:animEffect>
                                  </p:childTnLst>
                                </p:cTn>
                              </p:par>
                            </p:childTnLst>
                          </p:cTn>
                        </p:par>
                        <p:par>
                          <p:cTn id="27" fill="hold">
                            <p:stCondLst>
                              <p:cond delay="1500"/>
                            </p:stCondLst>
                            <p:childTnLst>
                              <p:par>
                                <p:cTn id="28" presetID="22" presetClass="entr" presetSubtype="8" fill="hold" grpId="0" nodeType="after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500"/>
                                        <p:tgtEl>
                                          <p:spTgt spid="21"/>
                                        </p:tgtEl>
                                      </p:cBhvr>
                                    </p:animEffect>
                                  </p:childTnLst>
                                </p:cTn>
                              </p:par>
                            </p:childTnLst>
                          </p:cTn>
                        </p:par>
                        <p:par>
                          <p:cTn id="31" fill="hold">
                            <p:stCondLst>
                              <p:cond delay="2000"/>
                            </p:stCondLst>
                            <p:childTnLst>
                              <p:par>
                                <p:cTn id="32" presetID="22" presetClass="entr" presetSubtype="8" fill="hold" grpId="0" nodeType="after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left)">
                                      <p:cBhvr>
                                        <p:cTn id="3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P spid="18" grpId="0" animBg="1"/>
      <p:bldP spid="19" grpId="0" animBg="1"/>
      <p:bldP spid="20" grpId="0" animBg="1"/>
      <p:bldP spid="21" grpId="0" animBg="1"/>
      <p:bldP spid="22"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p:cNvGrpSpPr/>
          <p:nvPr/>
        </p:nvGrpSpPr>
        <p:grpSpPr>
          <a:xfrm>
            <a:off x="179512" y="2132856"/>
            <a:ext cx="8784976" cy="4401205"/>
            <a:chOff x="323528" y="1236822"/>
            <a:chExt cx="7848872" cy="4258493"/>
          </a:xfrm>
        </p:grpSpPr>
        <p:sp>
          <p:nvSpPr>
            <p:cNvPr id="16" name="TextBox 15"/>
            <p:cNvSpPr txBox="1"/>
            <p:nvPr/>
          </p:nvSpPr>
          <p:spPr>
            <a:xfrm>
              <a:off x="971600" y="1236822"/>
              <a:ext cx="7200800" cy="4258493"/>
            </a:xfrm>
            <a:prstGeom prst="rect">
              <a:avLst/>
            </a:prstGeom>
            <a:solidFill>
              <a:schemeClr val="bg2"/>
            </a:solidFill>
            <a:ln w="28575" cap="rnd" cmpd="thickThin">
              <a:solidFill>
                <a:srgbClr val="0000FF"/>
              </a:solidFill>
            </a:ln>
          </p:spPr>
          <p:txBody>
            <a:bodyPr wrap="square" rtlCol="0">
              <a:spAutoFit/>
            </a:bodyPr>
            <a:lstStyle/>
            <a:p>
              <a:r>
                <a:rPr lang="en-US" sz="1400" dirty="0">
                  <a:solidFill>
                    <a:srgbClr val="00B0F0"/>
                  </a:solidFill>
                </a:rPr>
                <a:t>public static void </a:t>
              </a:r>
              <a:r>
                <a:rPr lang="en-US" sz="1400" dirty="0">
                  <a:solidFill>
                    <a:srgbClr val="0000FF"/>
                  </a:solidFill>
                </a:rPr>
                <a:t>main (String[] </a:t>
              </a:r>
              <a:r>
                <a:rPr lang="en-US" sz="1400" dirty="0" err="1">
                  <a:solidFill>
                    <a:srgbClr val="0000FF"/>
                  </a:solidFill>
                </a:rPr>
                <a:t>args</a:t>
              </a:r>
              <a:r>
                <a:rPr lang="en-US" sz="1400" dirty="0">
                  <a:solidFill>
                    <a:srgbClr val="0000FF"/>
                  </a:solidFill>
                </a:rPr>
                <a:t>)</a:t>
              </a:r>
            </a:p>
            <a:p>
              <a:r>
                <a:rPr lang="en-US" sz="1400" dirty="0">
                  <a:solidFill>
                    <a:srgbClr val="0000FF"/>
                  </a:solidFill>
                </a:rPr>
                <a:t>{</a:t>
              </a:r>
            </a:p>
            <a:p>
              <a:r>
                <a:rPr lang="en-US" sz="1400" dirty="0"/>
                <a:t>   //Declaration section</a:t>
              </a:r>
            </a:p>
            <a:p>
              <a:r>
                <a:rPr lang="en-US" sz="1400" dirty="0">
                  <a:solidFill>
                    <a:srgbClr val="0000FF"/>
                  </a:solidFill>
                </a:rPr>
                <a:t>   Scanner read = </a:t>
              </a:r>
              <a:r>
                <a:rPr lang="en-US" sz="1400" dirty="0">
                  <a:solidFill>
                    <a:srgbClr val="00B0F0"/>
                  </a:solidFill>
                </a:rPr>
                <a:t>new </a:t>
              </a:r>
              <a:r>
                <a:rPr lang="en-US" sz="1400" dirty="0">
                  <a:solidFill>
                    <a:srgbClr val="0000FF"/>
                  </a:solidFill>
                </a:rPr>
                <a:t>Scanner (System.in);</a:t>
              </a:r>
            </a:p>
            <a:p>
              <a:r>
                <a:rPr lang="en-US" sz="1400" dirty="0">
                  <a:solidFill>
                    <a:srgbClr val="0000FF"/>
                  </a:solidFill>
                </a:rPr>
                <a:t>   </a:t>
              </a:r>
              <a:r>
                <a:rPr lang="en-US" sz="1400" dirty="0">
                  <a:solidFill>
                    <a:srgbClr val="00B0F0"/>
                  </a:solidFill>
                </a:rPr>
                <a:t>char </a:t>
              </a:r>
              <a:r>
                <a:rPr lang="en-US" sz="1400" dirty="0">
                  <a:solidFill>
                    <a:srgbClr val="0000FF"/>
                  </a:solidFill>
                </a:rPr>
                <a:t>letter;</a:t>
              </a:r>
            </a:p>
            <a:p>
              <a:r>
                <a:rPr lang="en-US" sz="1400" dirty="0">
                  <a:solidFill>
                    <a:srgbClr val="0000FF"/>
                  </a:solidFill>
                </a:rPr>
                <a:t>   </a:t>
              </a:r>
              <a:r>
                <a:rPr lang="en-US" sz="1400" dirty="0">
                  <a:solidFill>
                    <a:srgbClr val="00B0F0"/>
                  </a:solidFill>
                </a:rPr>
                <a:t>String </a:t>
              </a:r>
              <a:r>
                <a:rPr lang="en-US" sz="1400" dirty="0">
                  <a:solidFill>
                    <a:srgbClr val="0000FF"/>
                  </a:solidFill>
                </a:rPr>
                <a:t>vowel = “This is a vowel”;</a:t>
              </a:r>
            </a:p>
            <a:p>
              <a:r>
                <a:rPr lang="en-US" sz="1400" dirty="0"/>
                <a:t>   //input section</a:t>
              </a:r>
            </a:p>
            <a:p>
              <a:r>
                <a:rPr lang="en-US" sz="1400" dirty="0">
                  <a:solidFill>
                    <a:srgbClr val="0000FF"/>
                  </a:solidFill>
                </a:rPr>
                <a:t>   letter = </a:t>
              </a:r>
              <a:r>
                <a:rPr lang="en-US" sz="1400" dirty="0" err="1">
                  <a:solidFill>
                    <a:srgbClr val="0000FF"/>
                  </a:solidFill>
                </a:rPr>
                <a:t>read.</a:t>
              </a:r>
              <a:r>
                <a:rPr lang="en-US" sz="1400" dirty="0" err="1">
                  <a:solidFill>
                    <a:srgbClr val="00B050"/>
                  </a:solidFill>
                </a:rPr>
                <a:t>next</a:t>
              </a:r>
              <a:r>
                <a:rPr lang="en-US" sz="1400" dirty="0">
                  <a:solidFill>
                    <a:srgbClr val="00B050"/>
                  </a:solidFill>
                </a:rPr>
                <a:t>().</a:t>
              </a:r>
              <a:r>
                <a:rPr lang="en-US" sz="1400" dirty="0" err="1">
                  <a:solidFill>
                    <a:srgbClr val="00B050"/>
                  </a:solidFill>
                </a:rPr>
                <a:t>charAt</a:t>
              </a:r>
              <a:r>
                <a:rPr lang="en-US" sz="1400" dirty="0">
                  <a:solidFill>
                    <a:srgbClr val="00B050"/>
                  </a:solidFill>
                </a:rPr>
                <a:t>(0)</a:t>
              </a:r>
              <a:r>
                <a:rPr lang="en-US" sz="1400" dirty="0">
                  <a:solidFill>
                    <a:srgbClr val="0000FF"/>
                  </a:solidFill>
                </a:rPr>
                <a:t>;</a:t>
              </a:r>
            </a:p>
            <a:p>
              <a:r>
                <a:rPr lang="en-US" sz="1400" dirty="0"/>
                <a:t>   //processing section</a:t>
              </a:r>
            </a:p>
            <a:p>
              <a:r>
                <a:rPr lang="en-US" sz="1400" dirty="0">
                  <a:solidFill>
                    <a:srgbClr val="0000FF"/>
                  </a:solidFill>
                </a:rPr>
                <a:t>   </a:t>
              </a:r>
              <a:r>
                <a:rPr lang="en-US" sz="1400" dirty="0">
                  <a:solidFill>
                    <a:srgbClr val="00B0F0"/>
                  </a:solidFill>
                </a:rPr>
                <a:t>switch</a:t>
              </a:r>
              <a:r>
                <a:rPr lang="en-US" sz="1400" dirty="0">
                  <a:solidFill>
                    <a:srgbClr val="0000FF"/>
                  </a:solidFill>
                </a:rPr>
                <a:t> (letter)</a:t>
              </a:r>
            </a:p>
            <a:p>
              <a:r>
                <a:rPr lang="en-US" sz="1400" dirty="0">
                  <a:solidFill>
                    <a:srgbClr val="0000FF"/>
                  </a:solidFill>
                </a:rPr>
                <a:t>   {</a:t>
              </a:r>
            </a:p>
            <a:p>
              <a:r>
                <a:rPr lang="en-US" sz="1400" dirty="0">
                  <a:solidFill>
                    <a:srgbClr val="0000FF"/>
                  </a:solidFill>
                </a:rPr>
                <a:t>      </a:t>
              </a:r>
              <a:r>
                <a:rPr lang="en-US" sz="1400" dirty="0">
                  <a:solidFill>
                    <a:srgbClr val="00B0F0"/>
                  </a:solidFill>
                </a:rPr>
                <a:t>case</a:t>
              </a:r>
              <a:r>
                <a:rPr lang="en-US" sz="1400" dirty="0">
                  <a:solidFill>
                    <a:srgbClr val="0000FF"/>
                  </a:solidFill>
                </a:rPr>
                <a:t> ‘a’: </a:t>
              </a:r>
            </a:p>
            <a:p>
              <a:r>
                <a:rPr lang="en-US" sz="1400" dirty="0">
                  <a:solidFill>
                    <a:srgbClr val="0000FF"/>
                  </a:solidFill>
                </a:rPr>
                <a:t>      </a:t>
              </a:r>
              <a:r>
                <a:rPr lang="en-US" sz="1400" dirty="0">
                  <a:solidFill>
                    <a:srgbClr val="00B0F0"/>
                  </a:solidFill>
                </a:rPr>
                <a:t>case</a:t>
              </a:r>
              <a:r>
                <a:rPr lang="en-US" sz="1400" dirty="0">
                  <a:solidFill>
                    <a:srgbClr val="0000FF"/>
                  </a:solidFill>
                </a:rPr>
                <a:t> ‘e’:</a:t>
              </a:r>
            </a:p>
            <a:p>
              <a:r>
                <a:rPr lang="en-US" sz="1400" dirty="0">
                  <a:solidFill>
                    <a:srgbClr val="0000FF"/>
                  </a:solidFill>
                </a:rPr>
                <a:t>      </a:t>
              </a:r>
              <a:r>
                <a:rPr lang="en-US" sz="1400" dirty="0">
                  <a:solidFill>
                    <a:srgbClr val="00B0F0"/>
                  </a:solidFill>
                </a:rPr>
                <a:t>case</a:t>
              </a:r>
              <a:r>
                <a:rPr lang="en-US" sz="1400" dirty="0">
                  <a:solidFill>
                    <a:srgbClr val="0000FF"/>
                  </a:solidFill>
                </a:rPr>
                <a:t> ‘o’:</a:t>
              </a:r>
            </a:p>
            <a:p>
              <a:r>
                <a:rPr lang="en-US" sz="1400" dirty="0">
                  <a:solidFill>
                    <a:srgbClr val="0000FF"/>
                  </a:solidFill>
                </a:rPr>
                <a:t>      </a:t>
              </a:r>
              <a:r>
                <a:rPr lang="en-US" sz="1400" dirty="0">
                  <a:solidFill>
                    <a:srgbClr val="00B0F0"/>
                  </a:solidFill>
                </a:rPr>
                <a:t>case</a:t>
              </a:r>
              <a:r>
                <a:rPr lang="en-US" sz="1400" dirty="0">
                  <a:solidFill>
                    <a:srgbClr val="0000FF"/>
                  </a:solidFill>
                </a:rPr>
                <a:t> ‘</a:t>
              </a:r>
              <a:r>
                <a:rPr lang="en-US" sz="1400" dirty="0" err="1">
                  <a:solidFill>
                    <a:srgbClr val="0000FF"/>
                  </a:solidFill>
                </a:rPr>
                <a:t>i</a:t>
              </a:r>
              <a:r>
                <a:rPr lang="en-US" sz="1400" dirty="0">
                  <a:solidFill>
                    <a:srgbClr val="0000FF"/>
                  </a:solidFill>
                </a:rPr>
                <a:t>’:</a:t>
              </a:r>
            </a:p>
            <a:p>
              <a:r>
                <a:rPr lang="en-US" sz="1400" dirty="0">
                  <a:solidFill>
                    <a:srgbClr val="0000FF"/>
                  </a:solidFill>
                </a:rPr>
                <a:t>      </a:t>
              </a:r>
              <a:r>
                <a:rPr lang="en-US" sz="1400" dirty="0">
                  <a:solidFill>
                    <a:srgbClr val="00B0F0"/>
                  </a:solidFill>
                </a:rPr>
                <a:t>case</a:t>
              </a:r>
              <a:r>
                <a:rPr lang="en-US" sz="1400" dirty="0">
                  <a:solidFill>
                    <a:srgbClr val="0000FF"/>
                  </a:solidFill>
                </a:rPr>
                <a:t> ‘u’: </a:t>
              </a:r>
              <a:r>
                <a:rPr lang="en-US" sz="1400" dirty="0" err="1">
                  <a:solidFill>
                    <a:srgbClr val="0000FF"/>
                  </a:solidFill>
                </a:rPr>
                <a:t>System.out.println</a:t>
              </a:r>
              <a:r>
                <a:rPr lang="en-US" sz="1400" dirty="0">
                  <a:solidFill>
                    <a:srgbClr val="0000FF"/>
                  </a:solidFill>
                </a:rPr>
                <a:t> (vowel);</a:t>
              </a:r>
            </a:p>
            <a:p>
              <a:r>
                <a:rPr lang="en-US" sz="1400" dirty="0">
                  <a:solidFill>
                    <a:srgbClr val="0000FF"/>
                  </a:solidFill>
                </a:rPr>
                <a:t>	    </a:t>
              </a:r>
              <a:r>
                <a:rPr lang="en-US" sz="1400" dirty="0">
                  <a:solidFill>
                    <a:srgbClr val="00B0F0"/>
                  </a:solidFill>
                </a:rPr>
                <a:t>break</a:t>
              </a:r>
              <a:r>
                <a:rPr lang="en-US" sz="1400" dirty="0">
                  <a:solidFill>
                    <a:srgbClr val="0000FF"/>
                  </a:solidFill>
                </a:rPr>
                <a:t>;</a:t>
              </a:r>
            </a:p>
            <a:p>
              <a:r>
                <a:rPr lang="en-US" sz="1400" dirty="0">
                  <a:solidFill>
                    <a:srgbClr val="0000FF"/>
                  </a:solidFill>
                </a:rPr>
                <a:t>     </a:t>
              </a:r>
              <a:r>
                <a:rPr lang="en-US" sz="1400" dirty="0">
                  <a:solidFill>
                    <a:srgbClr val="00B0F0"/>
                  </a:solidFill>
                </a:rPr>
                <a:t>default</a:t>
              </a:r>
              <a:r>
                <a:rPr lang="en-US" sz="1400" dirty="0">
                  <a:solidFill>
                    <a:srgbClr val="0000FF"/>
                  </a:solidFill>
                </a:rPr>
                <a:t>: </a:t>
              </a:r>
              <a:r>
                <a:rPr lang="en-US" sz="1400" dirty="0" err="1">
                  <a:solidFill>
                    <a:srgbClr val="0000FF"/>
                  </a:solidFill>
                </a:rPr>
                <a:t>System.out.println</a:t>
              </a:r>
              <a:r>
                <a:rPr lang="en-US" sz="1400" dirty="0">
                  <a:solidFill>
                    <a:srgbClr val="0000FF"/>
                  </a:solidFill>
                </a:rPr>
                <a:t> (“This is not a vowel”);</a:t>
              </a:r>
            </a:p>
            <a:p>
              <a:r>
                <a:rPr lang="en-US" sz="1400" dirty="0">
                  <a:solidFill>
                    <a:srgbClr val="0000FF"/>
                  </a:solidFill>
                </a:rPr>
                <a:t>    } </a:t>
              </a:r>
              <a:r>
                <a:rPr lang="en-US" sz="1400" dirty="0">
                  <a:solidFill>
                    <a:srgbClr val="00B050"/>
                  </a:solidFill>
                </a:rPr>
                <a:t>//end switch</a:t>
              </a:r>
            </a:p>
            <a:p>
              <a:r>
                <a:rPr lang="en-US" sz="1400" dirty="0">
                  <a:solidFill>
                    <a:srgbClr val="0000FF"/>
                  </a:solidFill>
                </a:rPr>
                <a:t>} </a:t>
              </a:r>
              <a:r>
                <a:rPr lang="en-US" sz="1400" dirty="0">
                  <a:solidFill>
                    <a:srgbClr val="00B050"/>
                  </a:solidFill>
                </a:rPr>
                <a:t>//end main</a:t>
              </a:r>
            </a:p>
          </p:txBody>
        </p:sp>
        <p:sp>
          <p:nvSpPr>
            <p:cNvPr id="17" name="TextBox 16"/>
            <p:cNvSpPr txBox="1"/>
            <p:nvPr/>
          </p:nvSpPr>
          <p:spPr>
            <a:xfrm>
              <a:off x="323528" y="1236822"/>
              <a:ext cx="576064" cy="4258493"/>
            </a:xfrm>
            <a:prstGeom prst="rect">
              <a:avLst/>
            </a:prstGeom>
            <a:noFill/>
          </p:spPr>
          <p:txBody>
            <a:bodyPr wrap="square" rtlCol="0">
              <a:spAutoFit/>
            </a:bodyPr>
            <a:lstStyle/>
            <a:p>
              <a:pPr algn="r"/>
              <a:r>
                <a:rPr lang="en-US" sz="1400" dirty="0">
                  <a:solidFill>
                    <a:srgbClr val="FF0000"/>
                  </a:solidFill>
                </a:rPr>
                <a:t>1</a:t>
              </a:r>
            </a:p>
            <a:p>
              <a:pPr algn="r"/>
              <a:r>
                <a:rPr lang="en-US" sz="1400" dirty="0">
                  <a:solidFill>
                    <a:srgbClr val="FF0000"/>
                  </a:solidFill>
                </a:rPr>
                <a:t>2</a:t>
              </a:r>
            </a:p>
            <a:p>
              <a:pPr algn="r"/>
              <a:r>
                <a:rPr lang="en-US" sz="1400" dirty="0">
                  <a:solidFill>
                    <a:srgbClr val="FF0000"/>
                  </a:solidFill>
                </a:rPr>
                <a:t>3</a:t>
              </a:r>
            </a:p>
            <a:p>
              <a:pPr algn="r"/>
              <a:r>
                <a:rPr lang="en-US" sz="1400" dirty="0">
                  <a:solidFill>
                    <a:srgbClr val="FF0000"/>
                  </a:solidFill>
                </a:rPr>
                <a:t>4</a:t>
              </a:r>
            </a:p>
            <a:p>
              <a:pPr algn="r"/>
              <a:r>
                <a:rPr lang="en-US" sz="1400" dirty="0">
                  <a:solidFill>
                    <a:srgbClr val="FF0000"/>
                  </a:solidFill>
                </a:rPr>
                <a:t>5</a:t>
              </a:r>
            </a:p>
            <a:p>
              <a:pPr algn="r"/>
              <a:r>
                <a:rPr lang="en-US" sz="1400" dirty="0">
                  <a:solidFill>
                    <a:srgbClr val="FF0000"/>
                  </a:solidFill>
                </a:rPr>
                <a:t>6</a:t>
              </a:r>
            </a:p>
            <a:p>
              <a:pPr algn="r"/>
              <a:r>
                <a:rPr lang="en-US" sz="1400" dirty="0">
                  <a:solidFill>
                    <a:srgbClr val="FF0000"/>
                  </a:solidFill>
                </a:rPr>
                <a:t>7</a:t>
              </a:r>
            </a:p>
            <a:p>
              <a:pPr algn="r"/>
              <a:r>
                <a:rPr lang="en-US" sz="1400" dirty="0">
                  <a:solidFill>
                    <a:srgbClr val="FF0000"/>
                  </a:solidFill>
                </a:rPr>
                <a:t>8</a:t>
              </a:r>
            </a:p>
            <a:p>
              <a:pPr algn="r"/>
              <a:r>
                <a:rPr lang="en-US" sz="1400" dirty="0">
                  <a:solidFill>
                    <a:srgbClr val="FF0000"/>
                  </a:solidFill>
                </a:rPr>
                <a:t>9</a:t>
              </a:r>
            </a:p>
            <a:p>
              <a:pPr algn="r"/>
              <a:r>
                <a:rPr lang="en-US" sz="1400" dirty="0">
                  <a:solidFill>
                    <a:srgbClr val="FF0000"/>
                  </a:solidFill>
                </a:rPr>
                <a:t>10</a:t>
              </a:r>
            </a:p>
            <a:p>
              <a:pPr algn="r"/>
              <a:r>
                <a:rPr lang="en-US" sz="1400" dirty="0">
                  <a:solidFill>
                    <a:srgbClr val="FF0000"/>
                  </a:solidFill>
                </a:rPr>
                <a:t>11</a:t>
              </a:r>
            </a:p>
            <a:p>
              <a:pPr algn="r"/>
              <a:r>
                <a:rPr lang="en-US" sz="1400" dirty="0">
                  <a:solidFill>
                    <a:srgbClr val="FF0000"/>
                  </a:solidFill>
                </a:rPr>
                <a:t>12</a:t>
              </a:r>
            </a:p>
            <a:p>
              <a:pPr algn="r"/>
              <a:r>
                <a:rPr lang="en-US" sz="1400" dirty="0">
                  <a:solidFill>
                    <a:srgbClr val="FF0000"/>
                  </a:solidFill>
                </a:rPr>
                <a:t>13</a:t>
              </a:r>
            </a:p>
            <a:p>
              <a:pPr algn="r"/>
              <a:r>
                <a:rPr lang="en-US" sz="1400" dirty="0">
                  <a:solidFill>
                    <a:srgbClr val="FF0000"/>
                  </a:solidFill>
                </a:rPr>
                <a:t>14</a:t>
              </a:r>
            </a:p>
            <a:p>
              <a:pPr algn="r"/>
              <a:r>
                <a:rPr lang="en-US" sz="1400" dirty="0">
                  <a:solidFill>
                    <a:srgbClr val="FF0000"/>
                  </a:solidFill>
                </a:rPr>
                <a:t>15</a:t>
              </a:r>
            </a:p>
            <a:p>
              <a:pPr algn="r"/>
              <a:r>
                <a:rPr lang="en-US" sz="1400" dirty="0">
                  <a:solidFill>
                    <a:srgbClr val="FF0000"/>
                  </a:solidFill>
                </a:rPr>
                <a:t>16</a:t>
              </a:r>
            </a:p>
            <a:p>
              <a:pPr algn="r"/>
              <a:r>
                <a:rPr lang="en-US" sz="1400" dirty="0">
                  <a:solidFill>
                    <a:srgbClr val="FF0000"/>
                  </a:solidFill>
                </a:rPr>
                <a:t>17</a:t>
              </a:r>
            </a:p>
            <a:p>
              <a:pPr algn="r"/>
              <a:r>
                <a:rPr lang="en-US" sz="1400" dirty="0">
                  <a:solidFill>
                    <a:srgbClr val="FF0000"/>
                  </a:solidFill>
                </a:rPr>
                <a:t>18</a:t>
              </a:r>
            </a:p>
            <a:p>
              <a:pPr algn="r"/>
              <a:r>
                <a:rPr lang="en-US" sz="1400" dirty="0">
                  <a:solidFill>
                    <a:srgbClr val="FF0000"/>
                  </a:solidFill>
                </a:rPr>
                <a:t>19</a:t>
              </a:r>
            </a:p>
            <a:p>
              <a:pPr algn="r"/>
              <a:r>
                <a:rPr lang="en-US" sz="1400" dirty="0">
                  <a:solidFill>
                    <a:srgbClr val="FF0000"/>
                  </a:solidFill>
                </a:rPr>
                <a:t>20</a:t>
              </a:r>
            </a:p>
          </p:txBody>
        </p:sp>
      </p:grpSp>
      <p:sp>
        <p:nvSpPr>
          <p:cNvPr id="7" name="Slide Number Placeholder 6"/>
          <p:cNvSpPr>
            <a:spLocks noGrp="1"/>
          </p:cNvSpPr>
          <p:nvPr>
            <p:ph type="sldNum" sz="quarter" idx="12"/>
          </p:nvPr>
        </p:nvSpPr>
        <p:spPr>
          <a:xfrm>
            <a:off x="8647272" y="6309320"/>
            <a:ext cx="365760" cy="365125"/>
          </a:xfrm>
        </p:spPr>
        <p:txBody>
          <a:bodyPr>
            <a:normAutofit/>
          </a:bodyPr>
          <a:lstStyle/>
          <a:p>
            <a:fld id="{125A1C68-F048-4C66-8544-2D3BD35A5879}" type="slidenum">
              <a:rPr lang="en-US" smtClean="0"/>
              <a:pPr/>
              <a:t>20</a:t>
            </a:fld>
            <a:endParaRPr lang="en-US" dirty="0"/>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1.3 Without </a:t>
            </a:r>
            <a:r>
              <a:rPr lang="en-US" sz="4000" dirty="0">
                <a:solidFill>
                  <a:srgbClr val="00B0F0"/>
                </a:solidFill>
                <a:latin typeface="Tahoma" charset="0"/>
                <a:cs typeface="Arial" charset="0"/>
              </a:rPr>
              <a:t>break </a:t>
            </a:r>
            <a:r>
              <a:rPr lang="en-US" sz="4000" dirty="0">
                <a:solidFill>
                  <a:schemeClr val="accent2"/>
                </a:solidFill>
                <a:latin typeface="Tahoma" charset="0"/>
                <a:cs typeface="Arial" charset="0"/>
              </a:rPr>
              <a:t>Statement</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3</a:t>
            </a:r>
            <a:endParaRPr lang="en-US" b="1" dirty="0">
              <a:solidFill>
                <a:srgbClr val="0000FF"/>
              </a:solidFill>
            </a:endParaRP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11" name="Content Placeholder 4"/>
          <p:cNvSpPr txBox="1">
            <a:spLocks/>
          </p:cNvSpPr>
          <p:nvPr/>
        </p:nvSpPr>
        <p:spPr>
          <a:xfrm>
            <a:off x="251520" y="1340768"/>
            <a:ext cx="8640960" cy="648072"/>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342900" indent="-342900" algn="just">
              <a:lnSpc>
                <a:spcPct val="90000"/>
              </a:lnSpc>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When the same action is to be taken for several case labels, then we may write the program as follows:</a:t>
            </a:r>
            <a:endParaRPr lang="en-US" sz="1800" dirty="0">
              <a:solidFill>
                <a:srgbClr val="FF3399"/>
              </a:solidFill>
              <a:latin typeface="Tahoma" panose="020B0604030504040204" pitchFamily="34" charset="0"/>
              <a:ea typeface="Tahoma" panose="020B0604030504040204" pitchFamily="34" charset="0"/>
              <a:cs typeface="Tahoma" panose="020B0604030504040204" pitchFamily="34" charset="0"/>
            </a:endParaRPr>
          </a:p>
        </p:txBody>
      </p:sp>
      <p:sp>
        <p:nvSpPr>
          <p:cNvPr id="3" name="Rounded Rectangle 2"/>
          <p:cNvSpPr/>
          <p:nvPr/>
        </p:nvSpPr>
        <p:spPr>
          <a:xfrm>
            <a:off x="4211960" y="3501008"/>
            <a:ext cx="4608512" cy="165618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This is equivalent to:</a:t>
            </a:r>
          </a:p>
          <a:p>
            <a:r>
              <a:rPr lang="en-US" b="1" dirty="0">
                <a:solidFill>
                  <a:srgbClr val="FFFF00"/>
                </a:solidFill>
              </a:rPr>
              <a:t>if (letter==‘a’) || (letter==‘e’) || (letter==‘o’) || (letter==‘</a:t>
            </a:r>
            <a:r>
              <a:rPr lang="en-US" b="1" dirty="0" err="1">
                <a:solidFill>
                  <a:srgbClr val="FFFF00"/>
                </a:solidFill>
              </a:rPr>
              <a:t>i</a:t>
            </a:r>
            <a:r>
              <a:rPr lang="en-US" b="1" dirty="0">
                <a:solidFill>
                  <a:srgbClr val="FFFF00"/>
                </a:solidFill>
              </a:rPr>
              <a:t>’) || (letter==‘u’)   </a:t>
            </a:r>
          </a:p>
          <a:p>
            <a:r>
              <a:rPr lang="en-US" b="1" dirty="0">
                <a:solidFill>
                  <a:srgbClr val="FFFF00"/>
                </a:solidFill>
              </a:rPr>
              <a:t>       </a:t>
            </a:r>
            <a:r>
              <a:rPr lang="en-US" b="1" dirty="0" err="1">
                <a:solidFill>
                  <a:srgbClr val="FFFF00"/>
                </a:solidFill>
              </a:rPr>
              <a:t>System.out.println</a:t>
            </a:r>
            <a:r>
              <a:rPr lang="en-US" b="1" dirty="0">
                <a:solidFill>
                  <a:srgbClr val="FFFF00"/>
                </a:solidFill>
              </a:rPr>
              <a:t> (vowel);</a:t>
            </a:r>
          </a:p>
        </p:txBody>
      </p:sp>
    </p:spTree>
    <p:custDataLst>
      <p:tags r:id="rId1"/>
    </p:custDataLst>
    <p:extLst>
      <p:ext uri="{BB962C8B-B14F-4D97-AF65-F5344CB8AC3E}">
        <p14:creationId xmlns:p14="http://schemas.microsoft.com/office/powerpoint/2010/main" val="9589530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wipe(left)">
                                      <p:cBhvr>
                                        <p:cTn id="10" dur="500"/>
                                        <p:tgtEl>
                                          <p:spTgt spid="11">
                                            <p:txEl>
                                              <p:pRg st="0" end="0"/>
                                            </p:txEl>
                                          </p:spTgt>
                                        </p:tgtEl>
                                      </p:cBhvr>
                                    </p:animEffect>
                                  </p:childTnLst>
                                </p:cTn>
                              </p:par>
                              <p:par>
                                <p:cTn id="11" presetID="22" presetClass="entr" presetSubtype="2"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right)">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53" presetClass="entr" presetSubtype="16"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500" fill="hold"/>
                                        <p:tgtEl>
                                          <p:spTgt spid="3"/>
                                        </p:tgtEl>
                                        <p:attrNameLst>
                                          <p:attrName>ppt_w</p:attrName>
                                        </p:attrNameLst>
                                      </p:cBhvr>
                                      <p:tavLst>
                                        <p:tav tm="0">
                                          <p:val>
                                            <p:fltVal val="0"/>
                                          </p:val>
                                        </p:tav>
                                        <p:tav tm="100000">
                                          <p:val>
                                            <p:strVal val="#ppt_w"/>
                                          </p:val>
                                        </p:tav>
                                      </p:tavLst>
                                    </p:anim>
                                    <p:anim calcmode="lin" valueType="num">
                                      <p:cBhvr>
                                        <p:cTn id="19" dur="500" fill="hold"/>
                                        <p:tgtEl>
                                          <p:spTgt spid="3"/>
                                        </p:tgtEl>
                                        <p:attrNameLst>
                                          <p:attrName>ppt_h</p:attrName>
                                        </p:attrNameLst>
                                      </p:cBhvr>
                                      <p:tavLst>
                                        <p:tav tm="0">
                                          <p:val>
                                            <p:fltVal val="0"/>
                                          </p:val>
                                        </p:tav>
                                        <p:tav tm="100000">
                                          <p:val>
                                            <p:strVal val="#ppt_h"/>
                                          </p:val>
                                        </p:tav>
                                      </p:tavLst>
                                    </p:anim>
                                    <p:animEffect transition="in" filter="fade">
                                      <p:cBhvr>
                                        <p:cTn id="2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build="p"/>
      <p:bldP spid="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a:xfrm>
            <a:off x="8647272" y="6309320"/>
            <a:ext cx="365760" cy="365125"/>
          </a:xfrm>
        </p:spPr>
        <p:txBody>
          <a:bodyPr>
            <a:normAutofit/>
          </a:bodyPr>
          <a:lstStyle/>
          <a:p>
            <a:fld id="{125A1C68-F048-4C66-8544-2D3BD35A5879}" type="slidenum">
              <a:rPr lang="en-US" smtClean="0"/>
              <a:pPr/>
              <a:t>21</a:t>
            </a:fld>
            <a:endParaRPr lang="en-US" dirty="0"/>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1.3 Without </a:t>
            </a:r>
            <a:r>
              <a:rPr lang="en-US" sz="4000" dirty="0">
                <a:solidFill>
                  <a:srgbClr val="00B0F0"/>
                </a:solidFill>
                <a:latin typeface="Tahoma" charset="0"/>
                <a:cs typeface="Arial" charset="0"/>
              </a:rPr>
              <a:t>break </a:t>
            </a:r>
            <a:r>
              <a:rPr lang="en-US" sz="4000" dirty="0">
                <a:solidFill>
                  <a:schemeClr val="accent2"/>
                </a:solidFill>
                <a:latin typeface="Tahoma" charset="0"/>
                <a:cs typeface="Arial" charset="0"/>
              </a:rPr>
              <a:t>Statement</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4</a:t>
            </a:r>
            <a:endParaRPr lang="en-US" b="1" dirty="0">
              <a:solidFill>
                <a:srgbClr val="0000FF"/>
              </a:solidFill>
            </a:endParaRP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251520" y="1340768"/>
            <a:ext cx="8712968" cy="1008112"/>
          </a:xfrm>
          <a:prstGeom prst="roundRect">
            <a:avLst>
              <a:gd name="adj" fmla="val 4976"/>
            </a:avLst>
          </a:prstGeom>
          <a:solidFill>
            <a:srgbClr val="0070C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dirty="0"/>
              <a:t>Using a switch statement, write a program that accepts an integer value from the user ranging between -2 and 2. The program then identifies if the number is negative, zero or positive. </a:t>
            </a:r>
          </a:p>
        </p:txBody>
      </p:sp>
    </p:spTree>
    <p:custDataLst>
      <p:tags r:id="rId1"/>
    </p:custDataLst>
    <p:extLst>
      <p:ext uri="{BB962C8B-B14F-4D97-AF65-F5344CB8AC3E}">
        <p14:creationId xmlns:p14="http://schemas.microsoft.com/office/powerpoint/2010/main" val="2684671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right)">
                                      <p:cBhvr>
                                        <p:cTn id="1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1.3 Without </a:t>
            </a:r>
            <a:r>
              <a:rPr lang="en-US" sz="4000" dirty="0">
                <a:solidFill>
                  <a:srgbClr val="00B0F0"/>
                </a:solidFill>
                <a:latin typeface="Tahoma" charset="0"/>
                <a:cs typeface="Arial" charset="0"/>
              </a:rPr>
              <a:t>break </a:t>
            </a:r>
            <a:r>
              <a:rPr lang="en-US" sz="4000" dirty="0">
                <a:solidFill>
                  <a:schemeClr val="accent2"/>
                </a:solidFill>
                <a:latin typeface="Tahoma" charset="0"/>
                <a:cs typeface="Arial" charset="0"/>
              </a:rPr>
              <a:t>Statement</a:t>
            </a:r>
            <a:endParaRPr lang="en-US" sz="2800" dirty="0">
              <a:solidFill>
                <a:schemeClr val="accent2"/>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0" y="908720"/>
            <a:ext cx="9144000" cy="360040"/>
          </a:xfrm>
          <a:prstGeom prst="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EXAMPLE 4 - SOLUTION</a:t>
            </a:r>
            <a:endParaRPr lang="en-US" b="1" dirty="0">
              <a:solidFill>
                <a:srgbClr val="0000FF"/>
              </a:solidFill>
            </a:endParaRPr>
          </a:p>
        </p:txBody>
      </p:sp>
      <p:cxnSp>
        <p:nvCxnSpPr>
          <p:cNvPr id="10" name="Straight Connector 9"/>
          <p:cNvCxnSpPr/>
          <p:nvPr/>
        </p:nvCxnSpPr>
        <p:spPr>
          <a:xfrm>
            <a:off x="0" y="126876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p:nvGrpSpPr>
        <p:grpSpPr>
          <a:xfrm>
            <a:off x="179512" y="1268760"/>
            <a:ext cx="8784976" cy="5478423"/>
            <a:chOff x="323528" y="1236822"/>
            <a:chExt cx="7848872" cy="5300781"/>
          </a:xfrm>
        </p:grpSpPr>
        <p:sp>
          <p:nvSpPr>
            <p:cNvPr id="24" name="TextBox 23"/>
            <p:cNvSpPr txBox="1"/>
            <p:nvPr/>
          </p:nvSpPr>
          <p:spPr>
            <a:xfrm>
              <a:off x="971600" y="1236822"/>
              <a:ext cx="7200800" cy="5300781"/>
            </a:xfrm>
            <a:prstGeom prst="rect">
              <a:avLst/>
            </a:prstGeom>
            <a:solidFill>
              <a:schemeClr val="bg2"/>
            </a:solidFill>
            <a:ln w="28575" cap="rnd" cmpd="thickThin">
              <a:solidFill>
                <a:srgbClr val="0000FF"/>
              </a:solidFill>
            </a:ln>
          </p:spPr>
          <p:txBody>
            <a:bodyPr wrap="square" rtlCol="0">
              <a:spAutoFit/>
            </a:bodyPr>
            <a:lstStyle/>
            <a:p>
              <a:r>
                <a:rPr lang="en-US" sz="1400" dirty="0">
                  <a:solidFill>
                    <a:srgbClr val="00B0F0"/>
                  </a:solidFill>
                </a:rPr>
                <a:t>public static void </a:t>
              </a:r>
              <a:r>
                <a:rPr lang="en-US" sz="1400" dirty="0">
                  <a:solidFill>
                    <a:srgbClr val="0000FF"/>
                  </a:solidFill>
                </a:rPr>
                <a:t>main (String[] </a:t>
              </a:r>
              <a:r>
                <a:rPr lang="en-US" sz="1400" dirty="0" err="1">
                  <a:solidFill>
                    <a:srgbClr val="0000FF"/>
                  </a:solidFill>
                </a:rPr>
                <a:t>args</a:t>
              </a:r>
              <a:r>
                <a:rPr lang="en-US" sz="1400" dirty="0">
                  <a:solidFill>
                    <a:srgbClr val="0000FF"/>
                  </a:solidFill>
                </a:rPr>
                <a:t>)</a:t>
              </a:r>
            </a:p>
            <a:p>
              <a:r>
                <a:rPr lang="en-US" sz="1400" dirty="0">
                  <a:solidFill>
                    <a:srgbClr val="0000FF"/>
                  </a:solidFill>
                </a:rPr>
                <a:t>{</a:t>
              </a:r>
            </a:p>
            <a:p>
              <a:r>
                <a:rPr lang="en-US" sz="1400" dirty="0"/>
                <a:t>   //Declaration section</a:t>
              </a:r>
            </a:p>
            <a:p>
              <a:r>
                <a:rPr lang="en-US" sz="1400" dirty="0">
                  <a:solidFill>
                    <a:srgbClr val="0000FF"/>
                  </a:solidFill>
                </a:rPr>
                <a:t>   Scanner read = </a:t>
              </a:r>
              <a:r>
                <a:rPr lang="en-US" sz="1400" dirty="0">
                  <a:solidFill>
                    <a:srgbClr val="00B0F0"/>
                  </a:solidFill>
                </a:rPr>
                <a:t>new </a:t>
              </a:r>
              <a:r>
                <a:rPr lang="en-US" sz="1400" dirty="0">
                  <a:solidFill>
                    <a:srgbClr val="0000FF"/>
                  </a:solidFill>
                </a:rPr>
                <a:t>Scanner (System.in);</a:t>
              </a:r>
            </a:p>
            <a:p>
              <a:r>
                <a:rPr lang="en-US" sz="1400" dirty="0">
                  <a:solidFill>
                    <a:srgbClr val="0000FF"/>
                  </a:solidFill>
                </a:rPr>
                <a:t>   </a:t>
              </a:r>
              <a:r>
                <a:rPr lang="en-US" sz="1400" dirty="0" err="1">
                  <a:solidFill>
                    <a:srgbClr val="00B0F0"/>
                  </a:solidFill>
                </a:rPr>
                <a:t>int</a:t>
              </a:r>
              <a:r>
                <a:rPr lang="en-US" sz="1400" dirty="0">
                  <a:solidFill>
                    <a:srgbClr val="00B0F0"/>
                  </a:solidFill>
                </a:rPr>
                <a:t> </a:t>
              </a:r>
              <a:r>
                <a:rPr lang="en-US" sz="1400" dirty="0" err="1">
                  <a:solidFill>
                    <a:srgbClr val="0000FF"/>
                  </a:solidFill>
                </a:rPr>
                <a:t>num</a:t>
              </a:r>
              <a:r>
                <a:rPr lang="en-US" sz="1400" dirty="0">
                  <a:solidFill>
                    <a:srgbClr val="0000FF"/>
                  </a:solidFill>
                </a:rPr>
                <a:t>;</a:t>
              </a:r>
            </a:p>
            <a:p>
              <a:r>
                <a:rPr lang="en-US" sz="1400" dirty="0"/>
                <a:t>   //input section</a:t>
              </a:r>
            </a:p>
            <a:p>
              <a:r>
                <a:rPr lang="en-US" sz="1400" dirty="0">
                  <a:solidFill>
                    <a:srgbClr val="0000FF"/>
                  </a:solidFill>
                </a:rPr>
                <a:t>   </a:t>
              </a:r>
              <a:r>
                <a:rPr lang="en-US" sz="1400" dirty="0" err="1">
                  <a:solidFill>
                    <a:srgbClr val="0000FF"/>
                  </a:solidFill>
                </a:rPr>
                <a:t>System.out.println</a:t>
              </a:r>
              <a:r>
                <a:rPr lang="en-US" sz="1400" dirty="0">
                  <a:solidFill>
                    <a:srgbClr val="0000FF"/>
                  </a:solidFill>
                </a:rPr>
                <a:t> (“Enter an integer between -2 and +2);   </a:t>
              </a:r>
              <a:r>
                <a:rPr lang="en-US" sz="1400" dirty="0">
                  <a:solidFill>
                    <a:srgbClr val="00B050"/>
                  </a:solidFill>
                </a:rPr>
                <a:t>//prompt</a:t>
              </a:r>
            </a:p>
            <a:p>
              <a:r>
                <a:rPr lang="en-US" sz="1400" dirty="0">
                  <a:solidFill>
                    <a:srgbClr val="0000FF"/>
                  </a:solidFill>
                </a:rPr>
                <a:t>   </a:t>
              </a:r>
              <a:r>
                <a:rPr lang="en-US" sz="1400" dirty="0" err="1">
                  <a:solidFill>
                    <a:srgbClr val="0000FF"/>
                  </a:solidFill>
                </a:rPr>
                <a:t>num</a:t>
              </a:r>
              <a:r>
                <a:rPr lang="en-US" sz="1400" dirty="0">
                  <a:solidFill>
                    <a:srgbClr val="0000FF"/>
                  </a:solidFill>
                </a:rPr>
                <a:t> = </a:t>
              </a:r>
              <a:r>
                <a:rPr lang="en-US" sz="1400" dirty="0" err="1">
                  <a:solidFill>
                    <a:srgbClr val="0000FF"/>
                  </a:solidFill>
                </a:rPr>
                <a:t>read.</a:t>
              </a:r>
              <a:r>
                <a:rPr lang="en-US" sz="1400" dirty="0" err="1">
                  <a:solidFill>
                    <a:srgbClr val="00B050"/>
                  </a:solidFill>
                </a:rPr>
                <a:t>nextInt</a:t>
              </a:r>
              <a:r>
                <a:rPr lang="en-US" sz="1400" dirty="0">
                  <a:solidFill>
                    <a:srgbClr val="00B050"/>
                  </a:solidFill>
                </a:rPr>
                <a:t>()</a:t>
              </a:r>
              <a:r>
                <a:rPr lang="en-US" sz="1400" dirty="0">
                  <a:solidFill>
                    <a:srgbClr val="0000FF"/>
                  </a:solidFill>
                </a:rPr>
                <a:t>;</a:t>
              </a:r>
            </a:p>
            <a:p>
              <a:r>
                <a:rPr lang="en-US" sz="1400" dirty="0"/>
                <a:t>  //processing section</a:t>
              </a:r>
            </a:p>
            <a:p>
              <a:r>
                <a:rPr lang="en-US" sz="1400" dirty="0">
                  <a:solidFill>
                    <a:srgbClr val="0000FF"/>
                  </a:solidFill>
                </a:rPr>
                <a:t>   </a:t>
              </a:r>
              <a:r>
                <a:rPr lang="en-US" sz="1400" dirty="0">
                  <a:solidFill>
                    <a:srgbClr val="00B0F0"/>
                  </a:solidFill>
                </a:rPr>
                <a:t>switch </a:t>
              </a:r>
              <a:r>
                <a:rPr lang="en-US" sz="1400" dirty="0">
                  <a:solidFill>
                    <a:srgbClr val="0000FF"/>
                  </a:solidFill>
                </a:rPr>
                <a:t>(</a:t>
              </a:r>
              <a:r>
                <a:rPr lang="en-US" sz="1400" dirty="0" err="1">
                  <a:solidFill>
                    <a:srgbClr val="0000FF"/>
                  </a:solidFill>
                </a:rPr>
                <a:t>num</a:t>
              </a:r>
              <a:r>
                <a:rPr lang="en-US" sz="1400" dirty="0">
                  <a:solidFill>
                    <a:srgbClr val="0000FF"/>
                  </a:solidFill>
                </a:rPr>
                <a:t>)</a:t>
              </a:r>
            </a:p>
            <a:p>
              <a:r>
                <a:rPr lang="en-US" sz="1400" dirty="0">
                  <a:solidFill>
                    <a:srgbClr val="0000FF"/>
                  </a:solidFill>
                </a:rPr>
                <a:t>   {</a:t>
              </a:r>
            </a:p>
            <a:p>
              <a:r>
                <a:rPr lang="en-US" sz="1400" dirty="0">
                  <a:solidFill>
                    <a:srgbClr val="0000FF"/>
                  </a:solidFill>
                </a:rPr>
                <a:t>      </a:t>
              </a:r>
              <a:r>
                <a:rPr lang="en-US" sz="1400" dirty="0">
                  <a:solidFill>
                    <a:srgbClr val="00B0F0"/>
                  </a:solidFill>
                </a:rPr>
                <a:t>case </a:t>
              </a:r>
              <a:r>
                <a:rPr lang="en-US" sz="1400" dirty="0">
                  <a:solidFill>
                    <a:srgbClr val="0000FF"/>
                  </a:solidFill>
                </a:rPr>
                <a:t>-2:</a:t>
              </a:r>
            </a:p>
            <a:p>
              <a:r>
                <a:rPr lang="en-US" sz="1400" dirty="0">
                  <a:solidFill>
                    <a:srgbClr val="0000FF"/>
                  </a:solidFill>
                </a:rPr>
                <a:t>      </a:t>
              </a:r>
              <a:r>
                <a:rPr lang="en-US" sz="1400" dirty="0">
                  <a:solidFill>
                    <a:srgbClr val="00B0F0"/>
                  </a:solidFill>
                </a:rPr>
                <a:t>case </a:t>
              </a:r>
              <a:r>
                <a:rPr lang="en-US" sz="1400" dirty="0">
                  <a:solidFill>
                    <a:srgbClr val="0000FF"/>
                  </a:solidFill>
                </a:rPr>
                <a:t>-1: </a:t>
              </a:r>
              <a:r>
                <a:rPr lang="en-US" sz="1400" dirty="0" err="1">
                  <a:solidFill>
                    <a:srgbClr val="0000FF"/>
                  </a:solidFill>
                </a:rPr>
                <a:t>System.out.println</a:t>
              </a:r>
              <a:r>
                <a:rPr lang="en-US" sz="1400" dirty="0">
                  <a:solidFill>
                    <a:srgbClr val="0000FF"/>
                  </a:solidFill>
                </a:rPr>
                <a:t> (“The number is negative”);</a:t>
              </a:r>
            </a:p>
            <a:p>
              <a:r>
                <a:rPr lang="en-US" sz="1400" dirty="0">
                  <a:solidFill>
                    <a:srgbClr val="0000FF"/>
                  </a:solidFill>
                </a:rPr>
                <a:t>	    </a:t>
              </a:r>
              <a:r>
                <a:rPr lang="en-US" sz="1400" dirty="0">
                  <a:solidFill>
                    <a:srgbClr val="00B0F0"/>
                  </a:solidFill>
                </a:rPr>
                <a:t>break</a:t>
              </a:r>
              <a:r>
                <a:rPr lang="en-US" sz="1400" dirty="0">
                  <a:solidFill>
                    <a:srgbClr val="0000FF"/>
                  </a:solidFill>
                </a:rPr>
                <a:t>;</a:t>
              </a:r>
            </a:p>
            <a:p>
              <a:endParaRPr lang="en-US" sz="1400" dirty="0">
                <a:solidFill>
                  <a:srgbClr val="0000FF"/>
                </a:solidFill>
              </a:endParaRPr>
            </a:p>
            <a:p>
              <a:r>
                <a:rPr lang="en-US" sz="1400" dirty="0">
                  <a:solidFill>
                    <a:srgbClr val="0000FF"/>
                  </a:solidFill>
                </a:rPr>
                <a:t>      </a:t>
              </a:r>
              <a:r>
                <a:rPr lang="en-US" sz="1400" dirty="0">
                  <a:solidFill>
                    <a:srgbClr val="00B0F0"/>
                  </a:solidFill>
                </a:rPr>
                <a:t>case </a:t>
              </a:r>
              <a:r>
                <a:rPr lang="en-US" sz="1400" dirty="0">
                  <a:solidFill>
                    <a:srgbClr val="0000FF"/>
                  </a:solidFill>
                </a:rPr>
                <a:t>0:   </a:t>
              </a:r>
              <a:r>
                <a:rPr lang="en-US" sz="1400" dirty="0" err="1">
                  <a:solidFill>
                    <a:srgbClr val="0000FF"/>
                  </a:solidFill>
                </a:rPr>
                <a:t>System.out.println</a:t>
              </a:r>
              <a:r>
                <a:rPr lang="en-US" sz="1400" dirty="0">
                  <a:solidFill>
                    <a:srgbClr val="0000FF"/>
                  </a:solidFill>
                </a:rPr>
                <a:t> (“The number is zero”);</a:t>
              </a:r>
            </a:p>
            <a:p>
              <a:r>
                <a:rPr lang="en-US" sz="1400" dirty="0">
                  <a:solidFill>
                    <a:srgbClr val="0000FF"/>
                  </a:solidFill>
                </a:rPr>
                <a:t>	    </a:t>
              </a:r>
              <a:r>
                <a:rPr lang="en-US" sz="1400" dirty="0">
                  <a:solidFill>
                    <a:srgbClr val="00B0F0"/>
                  </a:solidFill>
                </a:rPr>
                <a:t>break</a:t>
              </a:r>
              <a:r>
                <a:rPr lang="en-US" sz="1400" dirty="0">
                  <a:solidFill>
                    <a:srgbClr val="0000FF"/>
                  </a:solidFill>
                </a:rPr>
                <a:t>;</a:t>
              </a:r>
            </a:p>
            <a:p>
              <a:endParaRPr lang="en-US" sz="1400" dirty="0">
                <a:solidFill>
                  <a:srgbClr val="0000FF"/>
                </a:solidFill>
              </a:endParaRPr>
            </a:p>
            <a:p>
              <a:r>
                <a:rPr lang="en-US" sz="1400" dirty="0">
                  <a:solidFill>
                    <a:srgbClr val="0000FF"/>
                  </a:solidFill>
                </a:rPr>
                <a:t>      </a:t>
              </a:r>
              <a:r>
                <a:rPr lang="en-US" sz="1400" dirty="0">
                  <a:solidFill>
                    <a:srgbClr val="00B0F0"/>
                  </a:solidFill>
                </a:rPr>
                <a:t>case </a:t>
              </a:r>
              <a:r>
                <a:rPr lang="en-US" sz="1400" dirty="0">
                  <a:solidFill>
                    <a:srgbClr val="0000FF"/>
                  </a:solidFill>
                </a:rPr>
                <a:t>1:</a:t>
              </a:r>
            </a:p>
            <a:p>
              <a:r>
                <a:rPr lang="en-US" sz="1400" dirty="0">
                  <a:solidFill>
                    <a:srgbClr val="0000FF"/>
                  </a:solidFill>
                </a:rPr>
                <a:t>      </a:t>
              </a:r>
              <a:r>
                <a:rPr lang="en-US" sz="1400" dirty="0">
                  <a:solidFill>
                    <a:srgbClr val="00B0F0"/>
                  </a:solidFill>
                </a:rPr>
                <a:t>case </a:t>
              </a:r>
              <a:r>
                <a:rPr lang="en-US" sz="1400" dirty="0">
                  <a:solidFill>
                    <a:srgbClr val="0000FF"/>
                  </a:solidFill>
                </a:rPr>
                <a:t>2: </a:t>
              </a:r>
              <a:r>
                <a:rPr lang="en-US" sz="1400" dirty="0" err="1">
                  <a:solidFill>
                    <a:srgbClr val="0000FF"/>
                  </a:solidFill>
                </a:rPr>
                <a:t>System.out.println</a:t>
              </a:r>
              <a:r>
                <a:rPr lang="en-US" sz="1400" dirty="0">
                  <a:solidFill>
                    <a:srgbClr val="0000FF"/>
                  </a:solidFill>
                </a:rPr>
                <a:t> (“The number is positive”);</a:t>
              </a:r>
            </a:p>
            <a:p>
              <a:r>
                <a:rPr lang="en-US" sz="1400" dirty="0">
                  <a:solidFill>
                    <a:srgbClr val="0000FF"/>
                  </a:solidFill>
                </a:rPr>
                <a:t>	  </a:t>
              </a:r>
              <a:r>
                <a:rPr lang="en-US" sz="1400" dirty="0">
                  <a:solidFill>
                    <a:srgbClr val="00B0F0"/>
                  </a:solidFill>
                </a:rPr>
                <a:t>break</a:t>
              </a:r>
              <a:r>
                <a:rPr lang="en-US" sz="1400" dirty="0">
                  <a:solidFill>
                    <a:srgbClr val="0000FF"/>
                  </a:solidFill>
                </a:rPr>
                <a:t>;</a:t>
              </a:r>
            </a:p>
            <a:p>
              <a:endParaRPr lang="en-US" sz="1400" dirty="0">
                <a:solidFill>
                  <a:srgbClr val="0000FF"/>
                </a:solidFill>
              </a:endParaRPr>
            </a:p>
            <a:p>
              <a:r>
                <a:rPr lang="en-US" sz="1400" dirty="0">
                  <a:solidFill>
                    <a:srgbClr val="0000FF"/>
                  </a:solidFill>
                </a:rPr>
                <a:t>      </a:t>
              </a:r>
              <a:r>
                <a:rPr lang="en-US" sz="1400" dirty="0">
                  <a:solidFill>
                    <a:srgbClr val="00B0F0"/>
                  </a:solidFill>
                </a:rPr>
                <a:t>default</a:t>
              </a:r>
              <a:r>
                <a:rPr lang="en-US" sz="1400" dirty="0">
                  <a:solidFill>
                    <a:srgbClr val="0000FF"/>
                  </a:solidFill>
                </a:rPr>
                <a:t>: </a:t>
              </a:r>
              <a:r>
                <a:rPr lang="en-US" sz="1400" dirty="0" err="1">
                  <a:solidFill>
                    <a:srgbClr val="0000FF"/>
                  </a:solidFill>
                </a:rPr>
                <a:t>System.out.println</a:t>
              </a:r>
              <a:r>
                <a:rPr lang="en-US" sz="1400" dirty="0">
                  <a:solidFill>
                    <a:srgbClr val="0000FF"/>
                  </a:solidFill>
                </a:rPr>
                <a:t> (“Invalid input”);</a:t>
              </a:r>
            </a:p>
            <a:p>
              <a:r>
                <a:rPr lang="en-US" sz="1400" dirty="0">
                  <a:solidFill>
                    <a:srgbClr val="0000FF"/>
                  </a:solidFill>
                </a:rPr>
                <a:t>   } </a:t>
              </a:r>
              <a:r>
                <a:rPr lang="en-US" sz="1400" dirty="0">
                  <a:solidFill>
                    <a:srgbClr val="00B050"/>
                  </a:solidFill>
                </a:rPr>
                <a:t>//end switch</a:t>
              </a:r>
            </a:p>
            <a:p>
              <a:r>
                <a:rPr lang="en-US" sz="1400" dirty="0">
                  <a:solidFill>
                    <a:srgbClr val="0000FF"/>
                  </a:solidFill>
                </a:rPr>
                <a:t>} </a:t>
              </a:r>
              <a:r>
                <a:rPr lang="en-US" sz="1400" dirty="0">
                  <a:solidFill>
                    <a:srgbClr val="00B050"/>
                  </a:solidFill>
                </a:rPr>
                <a:t>//end main</a:t>
              </a:r>
            </a:p>
          </p:txBody>
        </p:sp>
        <p:sp>
          <p:nvSpPr>
            <p:cNvPr id="25" name="TextBox 24"/>
            <p:cNvSpPr txBox="1"/>
            <p:nvPr/>
          </p:nvSpPr>
          <p:spPr>
            <a:xfrm>
              <a:off x="323528" y="1236822"/>
              <a:ext cx="576064" cy="5300781"/>
            </a:xfrm>
            <a:prstGeom prst="rect">
              <a:avLst/>
            </a:prstGeom>
            <a:noFill/>
          </p:spPr>
          <p:txBody>
            <a:bodyPr wrap="square" rtlCol="0">
              <a:spAutoFit/>
            </a:bodyPr>
            <a:lstStyle/>
            <a:p>
              <a:pPr algn="r"/>
              <a:r>
                <a:rPr lang="en-US" sz="1400" dirty="0">
                  <a:solidFill>
                    <a:srgbClr val="FF0000"/>
                  </a:solidFill>
                </a:rPr>
                <a:t>1</a:t>
              </a:r>
            </a:p>
            <a:p>
              <a:pPr algn="r"/>
              <a:r>
                <a:rPr lang="en-US" sz="1400" dirty="0">
                  <a:solidFill>
                    <a:srgbClr val="FF0000"/>
                  </a:solidFill>
                </a:rPr>
                <a:t>2</a:t>
              </a:r>
            </a:p>
            <a:p>
              <a:pPr algn="r"/>
              <a:r>
                <a:rPr lang="en-US" sz="1400" dirty="0">
                  <a:solidFill>
                    <a:srgbClr val="FF0000"/>
                  </a:solidFill>
                </a:rPr>
                <a:t>3</a:t>
              </a:r>
            </a:p>
            <a:p>
              <a:pPr algn="r"/>
              <a:r>
                <a:rPr lang="en-US" sz="1400" dirty="0">
                  <a:solidFill>
                    <a:srgbClr val="FF0000"/>
                  </a:solidFill>
                </a:rPr>
                <a:t>4</a:t>
              </a:r>
            </a:p>
            <a:p>
              <a:pPr algn="r"/>
              <a:r>
                <a:rPr lang="en-US" sz="1400" dirty="0">
                  <a:solidFill>
                    <a:srgbClr val="FF0000"/>
                  </a:solidFill>
                </a:rPr>
                <a:t>5</a:t>
              </a:r>
            </a:p>
            <a:p>
              <a:pPr algn="r"/>
              <a:r>
                <a:rPr lang="en-US" sz="1400" dirty="0">
                  <a:solidFill>
                    <a:srgbClr val="FF0000"/>
                  </a:solidFill>
                </a:rPr>
                <a:t>6</a:t>
              </a:r>
            </a:p>
            <a:p>
              <a:pPr algn="r"/>
              <a:r>
                <a:rPr lang="en-US" sz="1400" dirty="0">
                  <a:solidFill>
                    <a:srgbClr val="FF0000"/>
                  </a:solidFill>
                </a:rPr>
                <a:t>7</a:t>
              </a:r>
            </a:p>
            <a:p>
              <a:pPr algn="r"/>
              <a:r>
                <a:rPr lang="en-US" sz="1400" dirty="0">
                  <a:solidFill>
                    <a:srgbClr val="FF0000"/>
                  </a:solidFill>
                </a:rPr>
                <a:t>8</a:t>
              </a:r>
            </a:p>
            <a:p>
              <a:pPr algn="r"/>
              <a:r>
                <a:rPr lang="en-US" sz="1400" dirty="0">
                  <a:solidFill>
                    <a:srgbClr val="FF0000"/>
                  </a:solidFill>
                </a:rPr>
                <a:t>9</a:t>
              </a:r>
            </a:p>
            <a:p>
              <a:pPr algn="r"/>
              <a:r>
                <a:rPr lang="en-US" sz="1400" dirty="0">
                  <a:solidFill>
                    <a:srgbClr val="FF0000"/>
                  </a:solidFill>
                </a:rPr>
                <a:t>10</a:t>
              </a:r>
            </a:p>
            <a:p>
              <a:pPr algn="r"/>
              <a:r>
                <a:rPr lang="en-US" sz="1400" dirty="0">
                  <a:solidFill>
                    <a:srgbClr val="FF0000"/>
                  </a:solidFill>
                </a:rPr>
                <a:t>11</a:t>
              </a:r>
            </a:p>
            <a:p>
              <a:pPr algn="r"/>
              <a:r>
                <a:rPr lang="en-US" sz="1400" dirty="0">
                  <a:solidFill>
                    <a:srgbClr val="FF0000"/>
                  </a:solidFill>
                </a:rPr>
                <a:t>12</a:t>
              </a:r>
            </a:p>
            <a:p>
              <a:pPr algn="r"/>
              <a:r>
                <a:rPr lang="en-US" sz="1400" dirty="0">
                  <a:solidFill>
                    <a:srgbClr val="FF0000"/>
                  </a:solidFill>
                </a:rPr>
                <a:t>13</a:t>
              </a:r>
            </a:p>
            <a:p>
              <a:pPr algn="r"/>
              <a:r>
                <a:rPr lang="en-US" sz="1400" dirty="0">
                  <a:solidFill>
                    <a:srgbClr val="FF0000"/>
                  </a:solidFill>
                </a:rPr>
                <a:t>14</a:t>
              </a:r>
            </a:p>
            <a:p>
              <a:pPr algn="r"/>
              <a:r>
                <a:rPr lang="en-US" sz="1400" dirty="0">
                  <a:solidFill>
                    <a:srgbClr val="FF0000"/>
                  </a:solidFill>
                </a:rPr>
                <a:t>15</a:t>
              </a:r>
            </a:p>
            <a:p>
              <a:pPr algn="r"/>
              <a:r>
                <a:rPr lang="en-US" sz="1400" dirty="0">
                  <a:solidFill>
                    <a:srgbClr val="FF0000"/>
                  </a:solidFill>
                </a:rPr>
                <a:t>16</a:t>
              </a:r>
            </a:p>
            <a:p>
              <a:pPr algn="r"/>
              <a:r>
                <a:rPr lang="en-US" sz="1400" dirty="0">
                  <a:solidFill>
                    <a:srgbClr val="FF0000"/>
                  </a:solidFill>
                </a:rPr>
                <a:t>17</a:t>
              </a:r>
            </a:p>
            <a:p>
              <a:pPr algn="r"/>
              <a:r>
                <a:rPr lang="en-US" sz="1400" dirty="0">
                  <a:solidFill>
                    <a:srgbClr val="FF0000"/>
                  </a:solidFill>
                </a:rPr>
                <a:t>18</a:t>
              </a:r>
            </a:p>
            <a:p>
              <a:pPr algn="r"/>
              <a:r>
                <a:rPr lang="en-US" sz="1400" dirty="0">
                  <a:solidFill>
                    <a:srgbClr val="FF0000"/>
                  </a:solidFill>
                </a:rPr>
                <a:t>19</a:t>
              </a:r>
            </a:p>
            <a:p>
              <a:pPr algn="r"/>
              <a:r>
                <a:rPr lang="en-US" sz="1400" dirty="0">
                  <a:solidFill>
                    <a:srgbClr val="FF0000"/>
                  </a:solidFill>
                </a:rPr>
                <a:t>20</a:t>
              </a:r>
            </a:p>
            <a:p>
              <a:pPr algn="r"/>
              <a:r>
                <a:rPr lang="en-US" sz="1400" dirty="0">
                  <a:solidFill>
                    <a:srgbClr val="FF0000"/>
                  </a:solidFill>
                </a:rPr>
                <a:t>21</a:t>
              </a:r>
            </a:p>
            <a:p>
              <a:pPr algn="r"/>
              <a:r>
                <a:rPr lang="en-US" sz="1400" dirty="0">
                  <a:solidFill>
                    <a:srgbClr val="FF0000"/>
                  </a:solidFill>
                </a:rPr>
                <a:t>22</a:t>
              </a:r>
            </a:p>
            <a:p>
              <a:pPr algn="r"/>
              <a:r>
                <a:rPr lang="en-US" sz="1400" dirty="0">
                  <a:solidFill>
                    <a:srgbClr val="FF0000"/>
                  </a:solidFill>
                </a:rPr>
                <a:t>23</a:t>
              </a:r>
            </a:p>
            <a:p>
              <a:pPr algn="r"/>
              <a:r>
                <a:rPr lang="en-US" sz="1400" dirty="0">
                  <a:solidFill>
                    <a:srgbClr val="FF0000"/>
                  </a:solidFill>
                </a:rPr>
                <a:t>24</a:t>
              </a:r>
            </a:p>
            <a:p>
              <a:pPr algn="r"/>
              <a:r>
                <a:rPr lang="en-US" sz="1400" dirty="0">
                  <a:solidFill>
                    <a:srgbClr val="FF0000"/>
                  </a:solidFill>
                </a:rPr>
                <a:t>25</a:t>
              </a:r>
            </a:p>
          </p:txBody>
        </p:sp>
      </p:grpSp>
      <p:sp>
        <p:nvSpPr>
          <p:cNvPr id="7" name="Slide Number Placeholder 6"/>
          <p:cNvSpPr>
            <a:spLocks noGrp="1"/>
          </p:cNvSpPr>
          <p:nvPr>
            <p:ph type="sldNum" sz="quarter" idx="12"/>
          </p:nvPr>
        </p:nvSpPr>
        <p:spPr>
          <a:xfrm>
            <a:off x="8647272" y="6309320"/>
            <a:ext cx="365760" cy="365125"/>
          </a:xfrm>
        </p:spPr>
        <p:txBody>
          <a:bodyPr>
            <a:normAutofit/>
          </a:bodyPr>
          <a:lstStyle/>
          <a:p>
            <a:fld id="{125A1C68-F048-4C66-8544-2D3BD35A5879}" type="slidenum">
              <a:rPr lang="en-US" smtClean="0"/>
              <a:pPr/>
              <a:t>22</a:t>
            </a:fld>
            <a:endParaRPr lang="en-US" dirty="0"/>
          </a:p>
        </p:txBody>
      </p:sp>
    </p:spTree>
    <p:custDataLst>
      <p:tags r:id="rId1"/>
    </p:custDataLst>
    <p:extLst>
      <p:ext uri="{BB962C8B-B14F-4D97-AF65-F5344CB8AC3E}">
        <p14:creationId xmlns:p14="http://schemas.microsoft.com/office/powerpoint/2010/main" val="17923903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par>
                                <p:cTn id="8" presetID="22" presetClass="entr" presetSubtype="2" fill="hold"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right)">
                                      <p:cBhvr>
                                        <p:cTn id="1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a:xfrm>
            <a:off x="8647272" y="6309320"/>
            <a:ext cx="365760" cy="365125"/>
          </a:xfrm>
        </p:spPr>
        <p:txBody>
          <a:bodyPr>
            <a:normAutofit/>
          </a:bodyPr>
          <a:lstStyle/>
          <a:p>
            <a:fld id="{125A1C68-F048-4C66-8544-2D3BD35A5879}" type="slidenum">
              <a:rPr lang="en-US" smtClean="0"/>
              <a:pPr/>
              <a:t>23</a:t>
            </a:fld>
            <a:endParaRPr lang="en-US" dirty="0"/>
          </a:p>
        </p:txBody>
      </p:sp>
      <p:sp>
        <p:nvSpPr>
          <p:cNvPr id="2" name="Title 1"/>
          <p:cNvSpPr>
            <a:spLocks noGrp="1"/>
          </p:cNvSpPr>
          <p:nvPr>
            <p:ph type="title"/>
          </p:nvPr>
        </p:nvSpPr>
        <p:spPr>
          <a:xfrm>
            <a:off x="251520" y="116632"/>
            <a:ext cx="8153400" cy="774576"/>
          </a:xfrm>
        </p:spPr>
        <p:txBody>
          <a:bodyPr vert="horz" rtlCol="0" anchor="ctr">
            <a:no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2. </a:t>
            </a:r>
            <a:r>
              <a:rPr lang="en-US" sz="4000" dirty="0">
                <a:solidFill>
                  <a:srgbClr val="00B0F0"/>
                </a:solidFill>
                <a:latin typeface="Tahoma" charset="0"/>
                <a:cs typeface="Arial" charset="0"/>
              </a:rPr>
              <a:t>switch </a:t>
            </a:r>
            <a:r>
              <a:rPr lang="en-US" sz="4000" dirty="0">
                <a:solidFill>
                  <a:schemeClr val="accent2"/>
                </a:solidFill>
                <a:latin typeface="Tahoma" charset="0"/>
                <a:cs typeface="Arial" charset="0"/>
              </a:rPr>
              <a:t>vs. nested </a:t>
            </a:r>
            <a:r>
              <a:rPr lang="en-US" sz="4000" dirty="0">
                <a:solidFill>
                  <a:srgbClr val="00B0F0"/>
                </a:solidFill>
                <a:latin typeface="Tahoma" charset="0"/>
                <a:cs typeface="Arial" charset="0"/>
              </a:rPr>
              <a:t>if</a:t>
            </a:r>
            <a:endParaRPr lang="en-US" sz="2800" dirty="0">
              <a:solidFill>
                <a:srgbClr val="00B0F0"/>
              </a:solidFill>
              <a:latin typeface="Tahoma" charset="0"/>
              <a:cs typeface="Arial" charset="0"/>
            </a:endParaRPr>
          </a:p>
        </p:txBody>
      </p:sp>
      <p:cxnSp>
        <p:nvCxnSpPr>
          <p:cNvPr id="8" name="Straight Connector 7"/>
          <p:cNvCxnSpPr/>
          <p:nvPr/>
        </p:nvCxnSpPr>
        <p:spPr>
          <a:xfrm>
            <a:off x="0" y="836712"/>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11" name="Content Placeholder 4"/>
          <p:cNvSpPr txBox="1">
            <a:spLocks/>
          </p:cNvSpPr>
          <p:nvPr/>
        </p:nvSpPr>
        <p:spPr>
          <a:xfrm>
            <a:off x="251520" y="908720"/>
            <a:ext cx="8640960" cy="648072"/>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342900" indent="-342900" algn="just">
              <a:lnSpc>
                <a:spcPct val="90000"/>
              </a:lnSpc>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The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switch </a:t>
            </a:r>
            <a:r>
              <a:rPr lang="en-US" sz="2000" dirty="0">
                <a:latin typeface="Tahoma" panose="020B0604030504040204" pitchFamily="34" charset="0"/>
                <a:ea typeface="Tahoma" panose="020B0604030504040204" pitchFamily="34" charset="0"/>
                <a:cs typeface="Tahoma" panose="020B0604030504040204" pitchFamily="34" charset="0"/>
              </a:rPr>
              <a:t>statement is an elegant way to apply multiple selections. It is less confusing.</a:t>
            </a:r>
            <a:endParaRPr lang="en-US" sz="1800" dirty="0">
              <a:solidFill>
                <a:srgbClr val="FF3399"/>
              </a:solidFill>
              <a:latin typeface="Tahoma" panose="020B0604030504040204" pitchFamily="34" charset="0"/>
              <a:ea typeface="Tahoma" panose="020B0604030504040204" pitchFamily="34" charset="0"/>
              <a:cs typeface="Tahoma" panose="020B0604030504040204" pitchFamily="34" charset="0"/>
            </a:endParaRPr>
          </a:p>
        </p:txBody>
      </p:sp>
      <p:sp>
        <p:nvSpPr>
          <p:cNvPr id="12" name="Content Placeholder 4"/>
          <p:cNvSpPr txBox="1">
            <a:spLocks/>
          </p:cNvSpPr>
          <p:nvPr/>
        </p:nvSpPr>
        <p:spPr>
          <a:xfrm>
            <a:off x="251520" y="1556792"/>
            <a:ext cx="8640960" cy="648072"/>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342900" indent="-342900" algn="just">
              <a:lnSpc>
                <a:spcPct val="90000"/>
              </a:lnSpc>
              <a:buClr>
                <a:srgbClr val="FF0000"/>
              </a:buClr>
              <a:buFont typeface="Wingdings" panose="05000000000000000000" pitchFamily="2" charset="2"/>
              <a:buChar char="Ø"/>
            </a:pPr>
            <a:r>
              <a:rPr lang="en-US" sz="2000" dirty="0">
                <a:latin typeface="Tahoma" panose="020B0604030504040204" pitchFamily="34" charset="0"/>
                <a:ea typeface="Tahoma" panose="020B0604030504040204" pitchFamily="34" charset="0"/>
                <a:cs typeface="Tahoma" panose="020B0604030504040204" pitchFamily="34" charset="0"/>
              </a:rPr>
              <a:t>However, the programmer is forced sometimes to use the nested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if</a:t>
            </a:r>
            <a:r>
              <a:rPr lang="en-US" sz="2000" dirty="0">
                <a:latin typeface="Tahoma" panose="020B0604030504040204" pitchFamily="34" charset="0"/>
                <a:ea typeface="Tahoma" panose="020B0604030504040204" pitchFamily="34" charset="0"/>
                <a:cs typeface="Tahoma" panose="020B0604030504040204" pitchFamily="34" charset="0"/>
              </a:rPr>
              <a:t>. Examples of such cases include:</a:t>
            </a:r>
            <a:endParaRPr lang="en-US" sz="1800" dirty="0">
              <a:solidFill>
                <a:srgbClr val="FF3399"/>
              </a:solidFill>
              <a:latin typeface="Tahoma" panose="020B0604030504040204" pitchFamily="34" charset="0"/>
              <a:ea typeface="Tahoma" panose="020B0604030504040204" pitchFamily="34" charset="0"/>
              <a:cs typeface="Tahoma" panose="020B0604030504040204" pitchFamily="34" charset="0"/>
            </a:endParaRPr>
          </a:p>
        </p:txBody>
      </p:sp>
      <p:sp>
        <p:nvSpPr>
          <p:cNvPr id="13" name="Content Placeholder 4"/>
          <p:cNvSpPr txBox="1">
            <a:spLocks/>
          </p:cNvSpPr>
          <p:nvPr/>
        </p:nvSpPr>
        <p:spPr>
          <a:xfrm>
            <a:off x="251520" y="2204864"/>
            <a:ext cx="8640960" cy="864096"/>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598932" lvl="1" indent="-342900" algn="just">
              <a:lnSpc>
                <a:spcPct val="90000"/>
              </a:lnSpc>
              <a:buClr>
                <a:srgbClr val="FF0000"/>
              </a:buClr>
              <a:buFont typeface="Courier New" panose="02070309020205020404" pitchFamily="49" charset="0"/>
              <a:buChar char="o"/>
            </a:pPr>
            <a:r>
              <a:rPr lang="en-US" sz="2000" dirty="0">
                <a:latin typeface="Tahoma" panose="020B0604030504040204" pitchFamily="34" charset="0"/>
                <a:ea typeface="Tahoma" panose="020B0604030504040204" pitchFamily="34" charset="0"/>
                <a:cs typeface="Tahoma" panose="020B0604030504040204" pitchFamily="34" charset="0"/>
              </a:rPr>
              <a:t>If the selection involves a </a:t>
            </a:r>
            <a:r>
              <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rPr>
              <a:t>range of values</a:t>
            </a:r>
            <a:r>
              <a:rPr lang="en-US" sz="2000" dirty="0">
                <a:latin typeface="Tahoma" panose="020B0604030504040204" pitchFamily="34" charset="0"/>
                <a:ea typeface="Tahoma" panose="020B0604030504040204" pitchFamily="34" charset="0"/>
                <a:cs typeface="Tahoma" panose="020B0604030504040204" pitchFamily="34" charset="0"/>
              </a:rPr>
              <a:t>.</a:t>
            </a:r>
          </a:p>
          <a:p>
            <a:pPr marL="836676" lvl="2" indent="-342900" algn="just">
              <a:lnSpc>
                <a:spcPct val="90000"/>
              </a:lnSpc>
              <a:buClr>
                <a:srgbClr val="FF0000"/>
              </a:buClr>
              <a:buFont typeface="Wingdings" panose="05000000000000000000" pitchFamily="2" charset="2"/>
              <a:buChar char="§"/>
            </a:pPr>
            <a:r>
              <a:rPr lang="en-US" sz="1600" dirty="0">
                <a:solidFill>
                  <a:srgbClr val="0070C0"/>
                </a:solidFill>
                <a:latin typeface="Tahoma" panose="020B0604030504040204" pitchFamily="34" charset="0"/>
                <a:ea typeface="Tahoma" panose="020B0604030504040204" pitchFamily="34" charset="0"/>
                <a:cs typeface="Tahoma" panose="020B0604030504040204" pitchFamily="34" charset="0"/>
              </a:rPr>
              <a:t>Example: if (score &gt;= 60) &amp;&amp; (score &lt; 70)</a:t>
            </a:r>
          </a:p>
        </p:txBody>
      </p:sp>
      <p:sp>
        <p:nvSpPr>
          <p:cNvPr id="14" name="Content Placeholder 4"/>
          <p:cNvSpPr txBox="1">
            <a:spLocks/>
          </p:cNvSpPr>
          <p:nvPr/>
        </p:nvSpPr>
        <p:spPr>
          <a:xfrm>
            <a:off x="251520" y="2924944"/>
            <a:ext cx="8640960" cy="1224136"/>
          </a:xfrm>
          <a:prstGeom prst="rect">
            <a:avLst/>
          </a:prstGeom>
        </p:spPr>
        <p:txBody>
          <a:bodyPr vert="horz">
            <a:norm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598932" lvl="1" indent="-342900" algn="just">
              <a:lnSpc>
                <a:spcPct val="90000"/>
              </a:lnSpc>
              <a:buClr>
                <a:srgbClr val="FF0000"/>
              </a:buClr>
              <a:buFont typeface="Courier New" panose="02070309020205020404" pitchFamily="49" charset="0"/>
              <a:buChar char="o"/>
            </a:pPr>
            <a:r>
              <a:rPr lang="en-US" sz="2000" dirty="0">
                <a:latin typeface="Tahoma" panose="020B0604030504040204" pitchFamily="34" charset="0"/>
                <a:ea typeface="Tahoma" panose="020B0604030504040204" pitchFamily="34" charset="0"/>
                <a:cs typeface="Tahoma" panose="020B0604030504040204" pitchFamily="34" charset="0"/>
              </a:rPr>
              <a:t>If the selector’s type is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double</a:t>
            </a:r>
            <a:r>
              <a:rPr lang="en-US" sz="2000" dirty="0">
                <a:latin typeface="Tahoma" panose="020B0604030504040204" pitchFamily="34" charset="0"/>
                <a:ea typeface="Tahoma" panose="020B0604030504040204" pitchFamily="34" charset="0"/>
                <a:cs typeface="Tahoma" panose="020B0604030504040204" pitchFamily="34" charset="0"/>
              </a:rPr>
              <a:t> or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float</a:t>
            </a:r>
            <a:r>
              <a:rPr lang="en-US" sz="2000" dirty="0">
                <a:latin typeface="Tahoma" panose="020B0604030504040204" pitchFamily="34" charset="0"/>
                <a:ea typeface="Tahoma" panose="020B0604030504040204" pitchFamily="34" charset="0"/>
                <a:cs typeface="Tahoma" panose="020B0604030504040204" pitchFamily="34" charset="0"/>
              </a:rPr>
              <a:t>.</a:t>
            </a:r>
          </a:p>
          <a:p>
            <a:pPr marL="836676" lvl="2" indent="-342900" algn="just">
              <a:lnSpc>
                <a:spcPct val="90000"/>
              </a:lnSpc>
              <a:buClr>
                <a:srgbClr val="FF0000"/>
              </a:buClr>
              <a:buFont typeface="Wingdings" panose="05000000000000000000" pitchFamily="2" charset="2"/>
              <a:buChar char="§"/>
            </a:pPr>
            <a:r>
              <a:rPr lang="en-US" sz="1600" dirty="0">
                <a:solidFill>
                  <a:srgbClr val="0070C0"/>
                </a:solidFill>
                <a:latin typeface="Tahoma" panose="020B0604030504040204" pitchFamily="34" charset="0"/>
                <a:ea typeface="Tahoma" panose="020B0604030504040204" pitchFamily="34" charset="0"/>
                <a:cs typeface="Tahoma" panose="020B0604030504040204" pitchFamily="34" charset="0"/>
              </a:rPr>
              <a:t>Example: if (salary == 5000.0)</a:t>
            </a:r>
          </a:p>
        </p:txBody>
      </p:sp>
    </p:spTree>
    <p:custDataLst>
      <p:tags r:id="rId1"/>
    </p:custDataLst>
    <p:extLst>
      <p:ext uri="{BB962C8B-B14F-4D97-AF65-F5344CB8AC3E}">
        <p14:creationId xmlns:p14="http://schemas.microsoft.com/office/powerpoint/2010/main" val="120579297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wipe(left)">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wipe(left)">
                                      <p:cBhvr>
                                        <p:cTn id="17" dur="500"/>
                                        <p:tgtEl>
                                          <p:spTgt spid="13">
                                            <p:txEl>
                                              <p:pRg st="0" end="0"/>
                                            </p:txEl>
                                          </p:spTgt>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13">
                                            <p:txEl>
                                              <p:pRg st="1" end="1"/>
                                            </p:txEl>
                                          </p:spTgt>
                                        </p:tgtEl>
                                        <p:attrNameLst>
                                          <p:attrName>style.visibility</p:attrName>
                                        </p:attrNameLst>
                                      </p:cBhvr>
                                      <p:to>
                                        <p:strVal val="visible"/>
                                      </p:to>
                                    </p:set>
                                    <p:animEffect transition="in" filter="wipe(left)">
                                      <p:cBhvr>
                                        <p:cTn id="20" dur="500"/>
                                        <p:tgtEl>
                                          <p:spTgt spid="13">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4">
                                            <p:txEl>
                                              <p:pRg st="0" end="0"/>
                                            </p:txEl>
                                          </p:spTgt>
                                        </p:tgtEl>
                                        <p:attrNameLst>
                                          <p:attrName>style.visibility</p:attrName>
                                        </p:attrNameLst>
                                      </p:cBhvr>
                                      <p:to>
                                        <p:strVal val="visible"/>
                                      </p:to>
                                    </p:set>
                                    <p:animEffect transition="in" filter="wipe(left)">
                                      <p:cBhvr>
                                        <p:cTn id="25" dur="500"/>
                                        <p:tgtEl>
                                          <p:spTgt spid="14">
                                            <p:txEl>
                                              <p:pRg st="0" end="0"/>
                                            </p:txEl>
                                          </p:spTgt>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14">
                                            <p:txEl>
                                              <p:pRg st="1" end="1"/>
                                            </p:txEl>
                                          </p:spTgt>
                                        </p:tgtEl>
                                        <p:attrNameLst>
                                          <p:attrName>style.visibility</p:attrName>
                                        </p:attrNameLst>
                                      </p:cBhvr>
                                      <p:to>
                                        <p:strVal val="visible"/>
                                      </p:to>
                                    </p:set>
                                    <p:animEffect transition="in" filter="wipe(left)">
                                      <p:cBhvr>
                                        <p:cTn id="28"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P spid="12" grpId="0" build="p"/>
      <p:bldP spid="13" grpId="0" uiExpand="1" build="p"/>
      <p:bldP spid="14"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0" y="1"/>
            <a:ext cx="9144000" cy="6858000"/>
          </a:xfrm>
          <a:prstGeom prst="rect">
            <a:avLst/>
          </a:prstGeom>
        </p:spPr>
      </p:pic>
      <p:sp>
        <p:nvSpPr>
          <p:cNvPr id="2" name="Content Placeholder 1"/>
          <p:cNvSpPr>
            <a:spLocks noGrp="1"/>
          </p:cNvSpPr>
          <p:nvPr>
            <p:ph idx="1"/>
          </p:nvPr>
        </p:nvSpPr>
        <p:spPr>
          <a:xfrm>
            <a:off x="457200" y="1052737"/>
            <a:ext cx="8229600" cy="432047"/>
          </a:xfrm>
        </p:spPr>
        <p:txBody>
          <a:bodyPr>
            <a:normAutofit/>
          </a:bodyPr>
          <a:lstStyle/>
          <a:p>
            <a:pPr algn="just">
              <a:buClr>
                <a:srgbClr val="FF0000"/>
              </a:buClr>
            </a:pPr>
            <a:r>
              <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rPr>
              <a:t>Solve the following program using the </a:t>
            </a:r>
            <a:r>
              <a:rPr lang="en-US" sz="2000" dirty="0">
                <a:solidFill>
                  <a:srgbClr val="00B0F0"/>
                </a:solidFill>
                <a:latin typeface="Tahoma" panose="020B0604030504040204" pitchFamily="34" charset="0"/>
                <a:ea typeface="Tahoma" panose="020B0604030504040204" pitchFamily="34" charset="0"/>
                <a:cs typeface="Tahoma" panose="020B0604030504040204" pitchFamily="34" charset="0"/>
              </a:rPr>
              <a:t>switch </a:t>
            </a:r>
            <a:r>
              <a:rPr lang="en-US" sz="2000" dirty="0">
                <a:solidFill>
                  <a:srgbClr val="FF0000"/>
                </a:solidFill>
                <a:latin typeface="Tahoma" panose="020B0604030504040204" pitchFamily="34" charset="0"/>
                <a:ea typeface="Tahoma" panose="020B0604030504040204" pitchFamily="34" charset="0"/>
                <a:cs typeface="Tahoma" panose="020B0604030504040204" pitchFamily="34" charset="0"/>
              </a:rPr>
              <a:t>statement:</a:t>
            </a:r>
          </a:p>
        </p:txBody>
      </p:sp>
      <p:sp>
        <p:nvSpPr>
          <p:cNvPr id="3" name="Slide Number Placeholder 2"/>
          <p:cNvSpPr>
            <a:spLocks noGrp="1"/>
          </p:cNvSpPr>
          <p:nvPr>
            <p:ph type="sldNum" sz="quarter" idx="12"/>
          </p:nvPr>
        </p:nvSpPr>
        <p:spPr/>
        <p:txBody>
          <a:bodyPr/>
          <a:lstStyle/>
          <a:p>
            <a:r>
              <a:rPr lang="en-US"/>
              <a:t> </a:t>
            </a:r>
            <a:fld id="{D8D24581-BA14-4640-B752-9AB0FD1B9A37}" type="slidenum">
              <a:rPr lang="en-US" smtClean="0"/>
              <a:pPr/>
              <a:t>24</a:t>
            </a:fld>
            <a:endParaRPr lang="en-US" dirty="0"/>
          </a:p>
        </p:txBody>
      </p:sp>
      <p:sp>
        <p:nvSpPr>
          <p:cNvPr id="4" name="Title 3"/>
          <p:cNvSpPr>
            <a:spLocks noGrp="1"/>
          </p:cNvSpPr>
          <p:nvPr>
            <p:ph type="title"/>
          </p:nvPr>
        </p:nvSpPr>
        <p:spPr>
          <a:xfrm>
            <a:off x="457200" y="116558"/>
            <a:ext cx="8229600" cy="792162"/>
          </a:xfrm>
        </p:spPr>
        <p:txBody>
          <a:bodyPr vert="horz" rtlCol="0" anchor="ctr">
            <a:norm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Self-Check Exercises (1)</a:t>
            </a:r>
          </a:p>
        </p:txBody>
      </p:sp>
      <p:cxnSp>
        <p:nvCxnSpPr>
          <p:cNvPr id="5" name="Straight Connector 4"/>
          <p:cNvCxnSpPr/>
          <p:nvPr/>
        </p:nvCxnSpPr>
        <p:spPr>
          <a:xfrm>
            <a:off x="0" y="90872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1406" y="6496070"/>
            <a:ext cx="4000528" cy="276999"/>
          </a:xfrm>
          <a:prstGeom prst="rect">
            <a:avLst/>
          </a:prstGeom>
          <a:noFill/>
        </p:spPr>
        <p:txBody>
          <a:bodyPr wrap="square" rtlCol="0">
            <a:spAutoFit/>
          </a:bodyPr>
          <a:lstStyle/>
          <a:p>
            <a:r>
              <a:rPr lang="en-US" sz="1200"/>
              <a:t>W5.3 </a:t>
            </a:r>
            <a:r>
              <a:rPr lang="en-US" sz="1200" dirty="0"/>
              <a:t>Switch</a:t>
            </a:r>
          </a:p>
        </p:txBody>
      </p:sp>
      <p:sp>
        <p:nvSpPr>
          <p:cNvPr id="12" name="Content Placeholder 5"/>
          <p:cNvSpPr txBox="1">
            <a:spLocks/>
          </p:cNvSpPr>
          <p:nvPr/>
        </p:nvSpPr>
        <p:spPr>
          <a:xfrm>
            <a:off x="457200" y="1484785"/>
            <a:ext cx="8229600" cy="2736303"/>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gn="just" hangingPunct="0">
              <a:buFont typeface="Wingdings 3"/>
              <a:buNone/>
            </a:pPr>
            <a:r>
              <a:rPr lang="en-US" sz="1800">
                <a:latin typeface="Tahoma" panose="020B0604030504040204" pitchFamily="34" charset="0"/>
                <a:ea typeface="Tahoma" panose="020B0604030504040204" pitchFamily="34" charset="0"/>
                <a:cs typeface="Tahoma" panose="020B0604030504040204" pitchFamily="34" charset="0"/>
              </a:rPr>
              <a:t>   Write a complete program that calculates and prints the bill for Riyadh’s power consumption. The rates vary depending on whether the user is residential, commercial, or industrial. A code of R corresponds to a Residential, C corresponds to a Commercial, and I to Industrial. Any other code should be treated as an error.</a:t>
            </a:r>
          </a:p>
          <a:p>
            <a:pPr marL="109728" indent="0" algn="just" hangingPunct="0">
              <a:buFont typeface="Wingdings 3"/>
              <a:buNone/>
            </a:pPr>
            <a:r>
              <a:rPr lang="en-US" sz="1800">
                <a:latin typeface="Tahoma" panose="020B0604030504040204" pitchFamily="34" charset="0"/>
                <a:ea typeface="Tahoma" panose="020B0604030504040204" pitchFamily="34" charset="0"/>
                <a:cs typeface="Tahoma" panose="020B0604030504040204" pitchFamily="34" charset="0"/>
              </a:rPr>
              <a:t>   The program should read the power consumption rate in KWH (Kilowatt per Hour); then it calculates the due amount according to the following:</a:t>
            </a:r>
          </a:p>
          <a:p>
            <a:pPr marL="109728" indent="0" algn="just">
              <a:buFont typeface="Wingdings 3"/>
              <a:buNone/>
            </a:pPr>
            <a:r>
              <a:rPr lang="en-US" sz="1800">
                <a:latin typeface="Tahoma" panose="020B0604030504040204" pitchFamily="34" charset="0"/>
                <a:ea typeface="Tahoma" panose="020B0604030504040204" pitchFamily="34" charset="0"/>
                <a:cs typeface="Tahoma" panose="020B0604030504040204" pitchFamily="34" charset="0"/>
              </a:rPr>
              <a:t>   The rate is SAR 5 per KWH for Residential, SAR 10 per KWH for Commercial and SAR 20 per KWH for Industrial.</a:t>
            </a:r>
            <a:endParaRPr lang="en-US" sz="18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5617680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0" y="1"/>
            <a:ext cx="9144000" cy="6858000"/>
          </a:xfrm>
          <a:prstGeom prst="rect">
            <a:avLst/>
          </a:prstGeom>
        </p:spPr>
      </p:pic>
      <p:sp>
        <p:nvSpPr>
          <p:cNvPr id="3" name="Slide Number Placeholder 2"/>
          <p:cNvSpPr>
            <a:spLocks noGrp="1"/>
          </p:cNvSpPr>
          <p:nvPr>
            <p:ph type="sldNum" sz="quarter" idx="12"/>
          </p:nvPr>
        </p:nvSpPr>
        <p:spPr/>
        <p:txBody>
          <a:bodyPr/>
          <a:lstStyle/>
          <a:p>
            <a:r>
              <a:rPr lang="en-US"/>
              <a:t> </a:t>
            </a:r>
            <a:fld id="{D8D24581-BA14-4640-B752-9AB0FD1B9A37}" type="slidenum">
              <a:rPr lang="en-US" smtClean="0"/>
              <a:pPr/>
              <a:t>25</a:t>
            </a:fld>
            <a:endParaRPr lang="en-US" dirty="0"/>
          </a:p>
        </p:txBody>
      </p:sp>
      <p:sp>
        <p:nvSpPr>
          <p:cNvPr id="4" name="Title 3"/>
          <p:cNvSpPr>
            <a:spLocks noGrp="1"/>
          </p:cNvSpPr>
          <p:nvPr>
            <p:ph type="title"/>
          </p:nvPr>
        </p:nvSpPr>
        <p:spPr>
          <a:xfrm>
            <a:off x="457200" y="116558"/>
            <a:ext cx="8229600" cy="792162"/>
          </a:xfrm>
        </p:spPr>
        <p:txBody>
          <a:bodyPr vert="horz" rtlCol="0" anchor="ctr">
            <a:normAutofit/>
            <a:scene3d>
              <a:camera prst="orthographicFront"/>
              <a:lightRig rig="soft" dir="t"/>
            </a:scene3d>
            <a:sp3d prstMaterial="softEdge">
              <a:bevelT w="25400" h="25400"/>
            </a:sp3d>
          </a:bodyPr>
          <a:lstStyle/>
          <a:p>
            <a:r>
              <a:rPr lang="en-US" sz="4000" dirty="0">
                <a:solidFill>
                  <a:schemeClr val="accent2"/>
                </a:solidFill>
                <a:latin typeface="Tahoma" charset="0"/>
                <a:cs typeface="Arial" charset="0"/>
              </a:rPr>
              <a:t>Self-Check Exercises (2)</a:t>
            </a:r>
          </a:p>
        </p:txBody>
      </p:sp>
      <p:cxnSp>
        <p:nvCxnSpPr>
          <p:cNvPr id="5" name="Straight Connector 4"/>
          <p:cNvCxnSpPr/>
          <p:nvPr/>
        </p:nvCxnSpPr>
        <p:spPr>
          <a:xfrm>
            <a:off x="0" y="908720"/>
            <a:ext cx="9144000" cy="0"/>
          </a:xfrm>
          <a:prstGeom prst="line">
            <a:avLst/>
          </a:prstGeom>
          <a:ln w="76200">
            <a:solidFill>
              <a:srgbClr val="FFC000"/>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71406" y="6496070"/>
            <a:ext cx="4000528" cy="276999"/>
          </a:xfrm>
          <a:prstGeom prst="rect">
            <a:avLst/>
          </a:prstGeom>
          <a:noFill/>
        </p:spPr>
        <p:txBody>
          <a:bodyPr wrap="square" rtlCol="0">
            <a:spAutoFit/>
          </a:bodyPr>
          <a:lstStyle/>
          <a:p>
            <a:r>
              <a:rPr lang="en-US" sz="1200" dirty="0"/>
              <a:t>W5.3 Switch</a:t>
            </a:r>
          </a:p>
        </p:txBody>
      </p:sp>
      <p:sp>
        <p:nvSpPr>
          <p:cNvPr id="12" name="Content Placeholder 5"/>
          <p:cNvSpPr txBox="1">
            <a:spLocks/>
          </p:cNvSpPr>
          <p:nvPr/>
        </p:nvSpPr>
        <p:spPr>
          <a:xfrm>
            <a:off x="457200" y="1052736"/>
            <a:ext cx="8229600" cy="5443334"/>
          </a:xfrm>
          <a:prstGeom prst="rect">
            <a:avLst/>
          </a:prstGeom>
        </p:spPr>
        <p:txBody>
          <a:bodyPr vert="horz">
            <a:noAutofit/>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109728" indent="0" algn="just" hangingPunct="0">
              <a:buFont typeface="Wingdings 3"/>
              <a:buNone/>
            </a:pPr>
            <a:r>
              <a:rPr lang="en-US" sz="1800" dirty="0">
                <a:latin typeface="Tahoma" panose="020B0604030504040204" pitchFamily="34" charset="0"/>
                <a:ea typeface="Tahoma" panose="020B0604030504040204" pitchFamily="34" charset="0"/>
                <a:cs typeface="Tahoma" panose="020B0604030504040204" pitchFamily="34" charset="0"/>
              </a:rPr>
              <a:t>   Write a complete program that calculates and prints the bill for a cellular telephone company. The company offers two types of service: regular and premium. The regular service is coded as ‘r’ or ‘R’; the premium service is coded as ‘p’ or ‘P’. Any other character should be treated as an error. </a:t>
            </a:r>
          </a:p>
          <a:p>
            <a:pPr marL="109728" indent="0" algn="just" hangingPunct="0">
              <a:buFont typeface="Wingdings 3"/>
              <a:buNone/>
            </a:pPr>
            <a:r>
              <a:rPr lang="en-US" sz="1800" dirty="0">
                <a:latin typeface="Tahoma" panose="020B0604030504040204" pitchFamily="34" charset="0"/>
                <a:ea typeface="Tahoma" panose="020B0604030504040204" pitchFamily="34" charset="0"/>
                <a:cs typeface="Tahoma" panose="020B0604030504040204" pitchFamily="34" charset="0"/>
              </a:rPr>
              <a:t>Rates vary based on the type of service and computed as follows:</a:t>
            </a:r>
          </a:p>
          <a:p>
            <a:pPr marL="109728" indent="0" algn="just" hangingPunct="0">
              <a:buFont typeface="Wingdings 3"/>
              <a:buNone/>
            </a:pPr>
            <a:r>
              <a:rPr lang="en-US" sz="1800" dirty="0">
                <a:solidFill>
                  <a:srgbClr val="FF0000"/>
                </a:solidFill>
                <a:latin typeface="Tahoma" panose="020B0604030504040204" pitchFamily="34" charset="0"/>
                <a:ea typeface="Tahoma" panose="020B0604030504040204" pitchFamily="34" charset="0"/>
                <a:cs typeface="Tahoma" panose="020B0604030504040204" pitchFamily="34" charset="0"/>
              </a:rPr>
              <a:t>Regular service</a:t>
            </a:r>
            <a:r>
              <a:rPr lang="en-US" sz="1800" dirty="0">
                <a:latin typeface="Tahoma" panose="020B0604030504040204" pitchFamily="34" charset="0"/>
                <a:ea typeface="Tahoma" panose="020B0604030504040204" pitchFamily="34" charset="0"/>
                <a:cs typeface="Tahoma" panose="020B0604030504040204" pitchFamily="34" charset="0"/>
              </a:rPr>
              <a:t>: $10.00 plus first 50 minutes are given free. Charges for over 50 minutes are $0.20 per minute.</a:t>
            </a:r>
          </a:p>
          <a:p>
            <a:pPr marL="109728" indent="0" algn="just" hangingPunct="0">
              <a:buFont typeface="Wingdings 3"/>
              <a:buNone/>
            </a:pPr>
            <a:r>
              <a:rPr lang="en-US" sz="1800" dirty="0">
                <a:solidFill>
                  <a:srgbClr val="FF0000"/>
                </a:solidFill>
                <a:latin typeface="Tahoma" panose="020B0604030504040204" pitchFamily="34" charset="0"/>
                <a:ea typeface="Tahoma" panose="020B0604030504040204" pitchFamily="34" charset="0"/>
                <a:cs typeface="Tahoma" panose="020B0604030504040204" pitchFamily="34" charset="0"/>
              </a:rPr>
              <a:t>Premium service</a:t>
            </a:r>
            <a:r>
              <a:rPr lang="en-US" sz="1800" dirty="0">
                <a:latin typeface="Tahoma" panose="020B0604030504040204" pitchFamily="34" charset="0"/>
                <a:ea typeface="Tahoma" panose="020B0604030504040204" pitchFamily="34" charset="0"/>
                <a:cs typeface="Tahoma" panose="020B0604030504040204" pitchFamily="34" charset="0"/>
              </a:rPr>
              <a:t>: $25.00 plus:</a:t>
            </a:r>
          </a:p>
          <a:p>
            <a:pPr marL="651510" lvl="1" indent="-285750" algn="just" hangingPunct="0">
              <a:buFont typeface="Wingdings" panose="05000000000000000000" pitchFamily="2" charset="2"/>
              <a:buChar char="§"/>
            </a:pPr>
            <a:r>
              <a:rPr lang="en-US" sz="1800" dirty="0">
                <a:latin typeface="Tahoma" panose="020B0604030504040204" pitchFamily="34" charset="0"/>
                <a:ea typeface="Tahoma" panose="020B0604030504040204" pitchFamily="34" charset="0"/>
                <a:cs typeface="Tahoma" panose="020B0604030504040204" pitchFamily="34" charset="0"/>
              </a:rPr>
              <a:t>For calls made from 6:00 am and 6:00 pm, the first 75 minutes are free; charges for over 75 minutes are $0.10 per minute.</a:t>
            </a:r>
          </a:p>
          <a:p>
            <a:pPr marL="651510" lvl="1" indent="-285750" algn="just" hangingPunct="0">
              <a:buFont typeface="Wingdings" panose="05000000000000000000" pitchFamily="2" charset="2"/>
              <a:buChar char="§"/>
            </a:pPr>
            <a:r>
              <a:rPr lang="en-US" sz="1800" dirty="0">
                <a:latin typeface="Tahoma" panose="020B0604030504040204" pitchFamily="34" charset="0"/>
                <a:ea typeface="Tahoma" panose="020B0604030504040204" pitchFamily="34" charset="0"/>
                <a:cs typeface="Tahoma" panose="020B0604030504040204" pitchFamily="34" charset="0"/>
              </a:rPr>
              <a:t>For calls made from 6.00 pm and 6:00 am, the first 100 minutes are free; charges for over 100 minutes are $0.05 per minute.</a:t>
            </a:r>
          </a:p>
          <a:p>
            <a:pPr marL="109728" indent="0" algn="just" hangingPunct="0">
              <a:buNone/>
            </a:pPr>
            <a:r>
              <a:rPr lang="en-US" sz="1800" dirty="0">
                <a:latin typeface="Tahoma" panose="020B0604030504040204" pitchFamily="34" charset="0"/>
                <a:ea typeface="Tahoma" panose="020B0604030504040204" pitchFamily="34" charset="0"/>
                <a:cs typeface="Tahoma" panose="020B0604030504040204" pitchFamily="34" charset="0"/>
              </a:rPr>
              <a:t>   </a:t>
            </a:r>
          </a:p>
        </p:txBody>
      </p:sp>
      <p:sp>
        <p:nvSpPr>
          <p:cNvPr id="13" name="Explosion 1 12"/>
          <p:cNvSpPr/>
          <p:nvPr/>
        </p:nvSpPr>
        <p:spPr>
          <a:xfrm>
            <a:off x="6987894" y="5301208"/>
            <a:ext cx="1872208" cy="1435224"/>
          </a:xfrm>
          <a:prstGeom prst="irregularSeal1">
            <a:avLst/>
          </a:prstGeom>
          <a:solidFill>
            <a:srgbClr val="FFFF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rgbClr val="FF0000"/>
                </a:solidFill>
              </a:rPr>
              <a:t>IMPORTANT</a:t>
            </a:r>
          </a:p>
        </p:txBody>
      </p:sp>
    </p:spTree>
    <p:extLst>
      <p:ext uri="{BB962C8B-B14F-4D97-AF65-F5344CB8AC3E}">
        <p14:creationId xmlns:p14="http://schemas.microsoft.com/office/powerpoint/2010/main" val="321871708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GUID" val="20542bfc-dd8b-421d-868b-1ab188d50257"/>
  <p:tag name="ARTICULATE_SLIDE_NAV" val="2"/>
</p:tagLst>
</file>

<file path=ppt/tags/tag2.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3.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4.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5.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6.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7.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8.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9.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10.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11.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12.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13.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14.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15.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16.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17.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18.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19.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20.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21.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22.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23.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24.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25.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26.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27.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28.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29.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30.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31.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32.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33.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34.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35.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36.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37.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38.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39.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40.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41.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42.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ags/tag43.xml><?xml version="1.0" encoding="utf-8"?>
<p:tagLst xmlns:a="http://schemas.openxmlformats.org/drawingml/2006/main" xmlns:r="http://schemas.openxmlformats.org/officeDocument/2006/relationships" xmlns:p="http://schemas.openxmlformats.org/presentationml/2006/main">
  <p:tag name="ARTICULATE_SLIDE_GUID" val="c2d528bc-8d32-45af-8136-36371a4446cb"/>
  <p:tag name="ARTICULATE_SLIDE_NAV" val="3"/>
</p:tagLst>
</file>

<file path=ppt/tags/tag44.xml><?xml version="1.0" encoding="utf-8"?>
<p:tagLst xmlns:a="http://schemas.openxmlformats.org/drawingml/2006/main" xmlns:r="http://schemas.openxmlformats.org/officeDocument/2006/relationships" xmlns:p="http://schemas.openxmlformats.org/presentationml/2006/main">
  <p:tag name="BULLET_1" val="8226"/>
  <p:tag name="MARGIN_1" val="0"/>
  <p:tag name="MARGIN_2" val="36"/>
  <p:tag name="MARGIN_3" val="72"/>
  <p:tag name="MARGIN_4" val="108"/>
  <p:tag name="MARGIN_5" val="144"/>
  <p:tag name="FONT_SIZE" val="12"/>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1323</TotalTime>
  <Words>3996</Words>
  <Application>Microsoft Macintosh PowerPoint</Application>
  <PresentationFormat>On-screen Show (4:3)</PresentationFormat>
  <Paragraphs>765</Paragraphs>
  <Slides>25</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Calibri</vt:lpstr>
      <vt:lpstr>Courier New</vt:lpstr>
      <vt:lpstr>Lucida Sans Unicode</vt:lpstr>
      <vt:lpstr>Tahoma</vt:lpstr>
      <vt:lpstr>Verdana</vt:lpstr>
      <vt:lpstr>Wingdings</vt:lpstr>
      <vt:lpstr>Wingdings 2</vt:lpstr>
      <vt:lpstr>Wingdings 3</vt:lpstr>
      <vt:lpstr>Concourse</vt:lpstr>
      <vt:lpstr>  SELECTION STATEMENTS (3)</vt:lpstr>
      <vt:lpstr>Outline</vt:lpstr>
      <vt:lpstr>1. The switch Statement</vt:lpstr>
      <vt:lpstr>1. The switch Statement</vt:lpstr>
      <vt:lpstr>1. The switch Statement</vt:lpstr>
      <vt:lpstr>1. The switch Statement</vt:lpstr>
      <vt:lpstr>1. The switch Statement</vt:lpstr>
      <vt:lpstr>1. The switch Statement</vt:lpstr>
      <vt:lpstr>1. The switch Statement</vt:lpstr>
      <vt:lpstr>1. The switch Statement</vt:lpstr>
      <vt:lpstr>1.1 Without default Statement</vt:lpstr>
      <vt:lpstr>1.1 Without default Statement</vt:lpstr>
      <vt:lpstr>1.2 Programming Hint (1)</vt:lpstr>
      <vt:lpstr>1.2 Programming Hint (1)</vt:lpstr>
      <vt:lpstr>1.2 Programming Hint (1)</vt:lpstr>
      <vt:lpstr>1.2 Programming Hint (2)</vt:lpstr>
      <vt:lpstr>1.2 Programming Hints</vt:lpstr>
      <vt:lpstr>1.2 Programming Hint</vt:lpstr>
      <vt:lpstr>1.3 Without break Statement</vt:lpstr>
      <vt:lpstr>1.3 Without break Statement</vt:lpstr>
      <vt:lpstr>1.3 Without break Statement</vt:lpstr>
      <vt:lpstr>1.3 Without break Statement</vt:lpstr>
      <vt:lpstr>2. switch vs. nested if</vt:lpstr>
      <vt:lpstr>Self-Check Exercises (1)</vt:lpstr>
      <vt:lpstr>Self-Check Exercises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SELECTION STATEMENTS (3)</dc:title>
  <dc:creator>Soha S.Zaghloul</dc:creator>
  <cp:lastModifiedBy>عبدالعزيز محمد دخيل الحميضي</cp:lastModifiedBy>
  <cp:revision>54</cp:revision>
  <dcterms:created xsi:type="dcterms:W3CDTF">2015-02-21T11:42:44Z</dcterms:created>
  <dcterms:modified xsi:type="dcterms:W3CDTF">2024-03-12T10:33:36Z</dcterms:modified>
</cp:coreProperties>
</file>