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62"/>
    <p:restoredTop sz="94719"/>
  </p:normalViewPr>
  <p:slideViewPr>
    <p:cSldViewPr>
      <p:cViewPr>
        <p:scale>
          <a:sx n="150" d="100"/>
          <a:sy n="150" d="100"/>
        </p:scale>
        <p:origin x="2392" y="1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9B5CBB2-FC55-4D08-A514-ACFB85E8E87A}" type="datetimeFigureOut">
              <a:rPr lang="en-US" smtClean="0"/>
              <a:pPr/>
              <a:t>2/14/24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397ED8E3-A241-4AEE-A336-37556A5BB0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5CBB2-FC55-4D08-A514-ACFB85E8E87A}" type="datetimeFigureOut">
              <a:rPr lang="en-US" smtClean="0"/>
              <a:pPr/>
              <a:t>2/14/24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ED8E3-A241-4AEE-A336-37556A5BB0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5CBB2-FC55-4D08-A514-ACFB85E8E87A}" type="datetimeFigureOut">
              <a:rPr lang="en-US" smtClean="0"/>
              <a:pPr/>
              <a:t>2/14/24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ED8E3-A241-4AEE-A336-37556A5BB0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5CBB2-FC55-4D08-A514-ACFB85E8E87A}" type="datetimeFigureOut">
              <a:rPr lang="en-US" smtClean="0"/>
              <a:pPr/>
              <a:t>2/14/24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ED8E3-A241-4AEE-A336-37556A5BB0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5CBB2-FC55-4D08-A514-ACFB85E8E87A}" type="datetimeFigureOut">
              <a:rPr lang="en-US" smtClean="0"/>
              <a:pPr/>
              <a:t>2/14/24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ED8E3-A241-4AEE-A336-37556A5BB0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5CBB2-FC55-4D08-A514-ACFB85E8E87A}" type="datetimeFigureOut">
              <a:rPr lang="en-US" smtClean="0"/>
              <a:pPr/>
              <a:t>2/14/24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ED8E3-A241-4AEE-A336-37556A5BB0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5CBB2-FC55-4D08-A514-ACFB85E8E87A}" type="datetimeFigureOut">
              <a:rPr lang="en-US" smtClean="0"/>
              <a:pPr/>
              <a:t>2/14/24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ED8E3-A241-4AEE-A336-37556A5BB0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19B5CBB2-FC55-4D08-A514-ACFB85E8E87A}" type="datetimeFigureOut">
              <a:rPr lang="en-US" smtClean="0"/>
              <a:pPr/>
              <a:t>2/14/24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ED8E3-A241-4AEE-A336-37556A5BB0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9B5CBB2-FC55-4D08-A514-ACFB85E8E87A}" type="datetimeFigureOut">
              <a:rPr lang="en-US" smtClean="0"/>
              <a:pPr/>
              <a:t>2/14/24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397ED8E3-A241-4AEE-A336-37556A5BB0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5CBB2-FC55-4D08-A514-ACFB85E8E87A}" type="datetimeFigureOut">
              <a:rPr lang="en-US" smtClean="0"/>
              <a:pPr/>
              <a:t>2/14/24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ED8E3-A241-4AEE-A336-37556A5BB0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5CBB2-FC55-4D08-A514-ACFB85E8E87A}" type="datetimeFigureOut">
              <a:rPr lang="en-US" smtClean="0"/>
              <a:pPr/>
              <a:t>2/14/24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ED8E3-A241-4AEE-A336-37556A5BB0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19B5CBB2-FC55-4D08-A514-ACFB85E8E87A}" type="datetimeFigureOut">
              <a:rPr lang="en-US" smtClean="0"/>
              <a:pPr/>
              <a:t>2/14/24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397ED8E3-A241-4AEE-A336-37556A5BB06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/>
          </p:cNvSpPr>
          <p:nvPr>
            <p:ph type="ctrTitle"/>
          </p:nvPr>
        </p:nvSpPr>
        <p:spPr>
          <a:xfrm>
            <a:off x="1019543" y="2348880"/>
            <a:ext cx="7872937" cy="1800200"/>
          </a:xfrm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anchor="b">
            <a:normAutofit fontScale="9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br>
              <a:rPr lang="en-US" sz="5400" dirty="0">
                <a:solidFill>
                  <a:srgbClr val="C00000"/>
                </a:solidFill>
              </a:rPr>
            </a:br>
            <a:br>
              <a:rPr lang="en-US" sz="5400" dirty="0">
                <a:solidFill>
                  <a:srgbClr val="C00000"/>
                </a:solidFill>
              </a:rPr>
            </a:br>
            <a:r>
              <a:rPr lang="en-US" sz="5400">
                <a:solidFill>
                  <a:srgbClr val="C00000"/>
                </a:solidFill>
              </a:rPr>
              <a:t>INPUT STATEMENTS</a:t>
            </a:r>
            <a:endParaRPr lang="en-US" sz="5400" dirty="0">
              <a:solidFill>
                <a:srgbClr val="C00000"/>
              </a:solidFill>
            </a:endParaRPr>
          </a:p>
        </p:txBody>
      </p:sp>
      <p:sp>
        <p:nvSpPr>
          <p:cNvPr id="5" name="PPTShape_0"/>
          <p:cNvSpPr txBox="1">
            <a:spLocks/>
          </p:cNvSpPr>
          <p:nvPr/>
        </p:nvSpPr>
        <p:spPr>
          <a:xfrm>
            <a:off x="72008" y="5949280"/>
            <a:ext cx="1869423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>
            <a:defPPr>
              <a:defRPr lang="en-US"/>
            </a:defPPr>
            <a:lvl1pPr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Tahoma" charset="0"/>
                <a:ea typeface="ＭＳ Ｐゴシック" charset="0"/>
                <a:cs typeface="Arial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5pPr>
            <a:lvl6pPr defTabSz="457200">
              <a:defRPr>
                <a:latin typeface="Tahoma" charset="0"/>
                <a:ea typeface="ＭＳ Ｐゴシック" charset="0"/>
                <a:cs typeface="Arial" charset="0"/>
              </a:defRPr>
            </a:lvl6pPr>
            <a:lvl7pPr defTabSz="457200">
              <a:defRPr>
                <a:latin typeface="Tahoma" charset="0"/>
                <a:ea typeface="ＭＳ Ｐゴシック" charset="0"/>
                <a:cs typeface="Arial" charset="0"/>
              </a:defRPr>
            </a:lvl7pPr>
            <a:lvl8pPr defTabSz="457200">
              <a:defRPr>
                <a:latin typeface="Tahoma" charset="0"/>
                <a:ea typeface="ＭＳ Ｐゴシック" charset="0"/>
                <a:cs typeface="Arial" charset="0"/>
              </a:defRPr>
            </a:lvl8pPr>
            <a:lvl9pPr defTabSz="457200">
              <a:defRPr>
                <a:latin typeface="Tahoma" charset="0"/>
                <a:ea typeface="ＭＳ Ｐゴシック" charset="0"/>
                <a:cs typeface="Arial" charset="0"/>
              </a:defRPr>
            </a:lvl9pPr>
          </a:lstStyle>
          <a:p>
            <a:r>
              <a:rPr lang="en-US"/>
              <a:t>CS 1301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577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612648" y="1110952"/>
            <a:ext cx="8153400" cy="5486400"/>
          </a:xfrm>
          <a:prstGeom prst="foldedCorner">
            <a:avLst>
              <a:gd name="adj" fmla="val 36304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marL="0" indent="0"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>
                <a:latin typeface="Tahoma" charset="0"/>
                <a:cs typeface="Arial" charset="0"/>
              </a:rPr>
              <a:t>1. </a:t>
            </a:r>
            <a:r>
              <a:rPr lang="en-US" dirty="0">
                <a:latin typeface="Tahoma" charset="0"/>
                <a:cs typeface="Arial" charset="0"/>
              </a:rPr>
              <a:t>Giving values to variables</a:t>
            </a:r>
          </a:p>
          <a:p>
            <a:pPr marL="0" indent="0"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dirty="0">
                <a:latin typeface="Tahoma" charset="0"/>
                <a:cs typeface="Arial" charset="0"/>
              </a:rPr>
              <a:t>2. Reading from the keyboard</a:t>
            </a:r>
          </a:p>
          <a:p>
            <a:pPr marL="0" indent="0"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dirty="0">
                <a:latin typeface="Tahoma" charset="0"/>
                <a:cs typeface="Arial" charset="0"/>
              </a:rPr>
              <a:t>3. Summary</a:t>
            </a:r>
          </a:p>
          <a:p>
            <a:pPr marL="0" indent="0"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dirty="0">
                <a:latin typeface="Tahoma" charset="0"/>
                <a:cs typeface="Arial" charset="0"/>
              </a:rPr>
              <a:t>	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777240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Outline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469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971600" y="908720"/>
            <a:ext cx="0" cy="504056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07504" y="152400"/>
            <a:ext cx="8928992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1. GIVING VALUES TO VARIABLES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971600" y="1412776"/>
            <a:ext cx="2880320" cy="720080"/>
            <a:chOff x="971600" y="1628800"/>
            <a:chExt cx="2880320" cy="720080"/>
          </a:xfrm>
        </p:grpSpPr>
        <p:cxnSp>
          <p:nvCxnSpPr>
            <p:cNvPr id="9" name="Straight Connector 8"/>
            <p:cNvCxnSpPr/>
            <p:nvPr/>
          </p:nvCxnSpPr>
          <p:spPr>
            <a:xfrm>
              <a:off x="971600" y="1988840"/>
              <a:ext cx="72008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ounded Rectangle 9"/>
            <p:cNvSpPr/>
            <p:nvPr/>
          </p:nvSpPr>
          <p:spPr>
            <a:xfrm>
              <a:off x="1691680" y="1628800"/>
              <a:ext cx="2160240" cy="72008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Initialization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3851920" y="1052736"/>
            <a:ext cx="4320480" cy="1440160"/>
            <a:chOff x="971600" y="1538790"/>
            <a:chExt cx="2880320" cy="900100"/>
          </a:xfrm>
        </p:grpSpPr>
        <p:cxnSp>
          <p:nvCxnSpPr>
            <p:cNvPr id="13" name="Straight Connector 12"/>
            <p:cNvCxnSpPr/>
            <p:nvPr/>
          </p:nvCxnSpPr>
          <p:spPr>
            <a:xfrm>
              <a:off x="971600" y="1988840"/>
              <a:ext cx="720080" cy="0"/>
            </a:xfrm>
            <a:prstGeom prst="line">
              <a:avLst/>
            </a:prstGeom>
            <a:ln w="3810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ounded Rectangle 13"/>
            <p:cNvSpPr/>
            <p:nvPr/>
          </p:nvSpPr>
          <p:spPr>
            <a:xfrm>
              <a:off x="1691680" y="1538790"/>
              <a:ext cx="2160240" cy="9001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 err="1">
                  <a:solidFill>
                    <a:srgbClr val="00B0F0"/>
                  </a:solidFill>
                </a:rPr>
                <a:t>int</a:t>
              </a:r>
              <a:r>
                <a:rPr lang="en-US" dirty="0">
                  <a:solidFill>
                    <a:schemeClr val="tx1"/>
                  </a:solidFill>
                </a:rPr>
                <a:t> x = 10;</a:t>
              </a:r>
            </a:p>
            <a:p>
              <a:r>
                <a:rPr lang="en-US" dirty="0">
                  <a:solidFill>
                    <a:srgbClr val="00B0F0"/>
                  </a:solidFill>
                </a:rPr>
                <a:t>float</a:t>
              </a:r>
              <a:r>
                <a:rPr lang="en-US" dirty="0">
                  <a:solidFill>
                    <a:schemeClr val="tx1"/>
                  </a:solidFill>
                </a:rPr>
                <a:t> y = 12.5</a:t>
              </a:r>
              <a:r>
                <a:rPr lang="en-US" b="1" dirty="0">
                  <a:solidFill>
                    <a:srgbClr val="FF0000"/>
                  </a:solidFill>
                </a:rPr>
                <a:t>f</a:t>
              </a:r>
              <a:r>
                <a:rPr lang="en-US" dirty="0">
                  <a:solidFill>
                    <a:schemeClr val="tx1"/>
                  </a:solidFill>
                </a:rPr>
                <a:t>;</a:t>
              </a:r>
            </a:p>
            <a:p>
              <a:r>
                <a:rPr lang="en-US" dirty="0">
                  <a:solidFill>
                    <a:srgbClr val="00B0F0"/>
                  </a:solidFill>
                </a:rPr>
                <a:t>double</a:t>
              </a:r>
              <a:r>
                <a:rPr lang="en-US" dirty="0">
                  <a:solidFill>
                    <a:schemeClr val="tx1"/>
                  </a:solidFill>
                </a:rPr>
                <a:t> z = 12.5;</a:t>
              </a:r>
            </a:p>
            <a:p>
              <a:r>
                <a:rPr lang="en-US" dirty="0" err="1">
                  <a:solidFill>
                    <a:srgbClr val="00B0F0"/>
                  </a:solidFill>
                </a:rPr>
                <a:t>boolean</a:t>
              </a:r>
              <a:r>
                <a:rPr lang="en-US" dirty="0">
                  <a:solidFill>
                    <a:srgbClr val="00B0F0"/>
                  </a:solidFill>
                </a:rPr>
                <a:t> </a:t>
              </a:r>
              <a:r>
                <a:rPr lang="en-US" dirty="0">
                  <a:solidFill>
                    <a:schemeClr val="tx1"/>
                  </a:solidFill>
                </a:rPr>
                <a:t>fail = </a:t>
              </a:r>
              <a:r>
                <a:rPr lang="en-US" dirty="0">
                  <a:solidFill>
                    <a:srgbClr val="00B0F0"/>
                  </a:solidFill>
                </a:rPr>
                <a:t>false</a:t>
              </a:r>
              <a:r>
                <a:rPr lang="en-US" dirty="0">
                  <a:solidFill>
                    <a:schemeClr val="tx1"/>
                  </a:solidFill>
                </a:rPr>
                <a:t>;</a:t>
              </a:r>
            </a:p>
            <a:p>
              <a:r>
                <a:rPr lang="en-US" dirty="0">
                  <a:solidFill>
                    <a:srgbClr val="00B0F0"/>
                  </a:solidFill>
                </a:rPr>
                <a:t>char</a:t>
              </a:r>
              <a:r>
                <a:rPr lang="en-US" dirty="0">
                  <a:solidFill>
                    <a:schemeClr val="tx1"/>
                  </a:solidFill>
                </a:rPr>
                <a:t> </a:t>
              </a:r>
              <a:r>
                <a:rPr lang="en-US" dirty="0" err="1">
                  <a:solidFill>
                    <a:schemeClr val="tx1"/>
                  </a:solidFill>
                </a:rPr>
                <a:t>ch</a:t>
              </a:r>
              <a:r>
                <a:rPr lang="en-US" dirty="0">
                  <a:solidFill>
                    <a:schemeClr val="tx1"/>
                  </a:solidFill>
                </a:rPr>
                <a:t> = ‘x’;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971600" y="3212976"/>
            <a:ext cx="2880320" cy="720080"/>
            <a:chOff x="971600" y="1628800"/>
            <a:chExt cx="2880320" cy="720080"/>
          </a:xfrm>
        </p:grpSpPr>
        <p:cxnSp>
          <p:nvCxnSpPr>
            <p:cNvPr id="16" name="Straight Connector 15"/>
            <p:cNvCxnSpPr/>
            <p:nvPr/>
          </p:nvCxnSpPr>
          <p:spPr>
            <a:xfrm>
              <a:off x="971600" y="1988840"/>
              <a:ext cx="72008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ounded Rectangle 16"/>
            <p:cNvSpPr/>
            <p:nvPr/>
          </p:nvSpPr>
          <p:spPr>
            <a:xfrm>
              <a:off x="1691680" y="1628800"/>
              <a:ext cx="2160240" cy="72008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Calculation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3851920" y="2780928"/>
            <a:ext cx="4320480" cy="1584176"/>
            <a:chOff x="971600" y="1412776"/>
            <a:chExt cx="2880320" cy="1224136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71600" y="2024844"/>
              <a:ext cx="720080" cy="0"/>
            </a:xfrm>
            <a:prstGeom prst="line">
              <a:avLst/>
            </a:prstGeom>
            <a:ln w="3810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ounded Rectangle 19"/>
            <p:cNvSpPr/>
            <p:nvPr/>
          </p:nvSpPr>
          <p:spPr>
            <a:xfrm>
              <a:off x="1691680" y="1412776"/>
              <a:ext cx="2160240" cy="1224136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>
                  <a:solidFill>
                    <a:schemeClr val="tx1"/>
                  </a:solidFill>
                </a:rPr>
                <a:t>counter++;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product *= x;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a = b % c;</a:t>
              </a:r>
            </a:p>
            <a:p>
              <a:r>
                <a:rPr lang="en-US" dirty="0" err="1">
                  <a:solidFill>
                    <a:schemeClr val="tx1"/>
                  </a:solidFill>
                </a:rPr>
                <a:t>netSalary</a:t>
              </a:r>
              <a:r>
                <a:rPr lang="en-US" dirty="0">
                  <a:solidFill>
                    <a:schemeClr val="tx1"/>
                  </a:solidFill>
                </a:rPr>
                <a:t> = salary – tax;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fail = (grade &lt; 60);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971600" y="5013176"/>
            <a:ext cx="2880320" cy="720080"/>
            <a:chOff x="971600" y="1628800"/>
            <a:chExt cx="2880320" cy="720080"/>
          </a:xfrm>
        </p:grpSpPr>
        <p:cxnSp>
          <p:nvCxnSpPr>
            <p:cNvPr id="22" name="Straight Connector 21"/>
            <p:cNvCxnSpPr/>
            <p:nvPr/>
          </p:nvCxnSpPr>
          <p:spPr>
            <a:xfrm>
              <a:off x="971600" y="1988840"/>
              <a:ext cx="72008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ounded Rectangle 22"/>
            <p:cNvSpPr/>
            <p:nvPr/>
          </p:nvSpPr>
          <p:spPr>
            <a:xfrm>
              <a:off x="1691680" y="1628800"/>
              <a:ext cx="2160240" cy="72008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Read from keyboard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50606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PROGRAM 1 – ACCEPTING INTEGERS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/>
          <p:cNvGrpSpPr/>
          <p:nvPr/>
        </p:nvGrpSpPr>
        <p:grpSpPr>
          <a:xfrm>
            <a:off x="179512" y="836712"/>
            <a:ext cx="8784976" cy="6186309"/>
            <a:chOff x="323528" y="1236822"/>
            <a:chExt cx="7848872" cy="5817134"/>
          </a:xfrm>
        </p:grpSpPr>
        <p:sp>
          <p:nvSpPr>
            <p:cNvPr id="21" name="TextBox 20"/>
            <p:cNvSpPr txBox="1"/>
            <p:nvPr/>
          </p:nvSpPr>
          <p:spPr>
            <a:xfrm>
              <a:off x="971600" y="1236822"/>
              <a:ext cx="7200800" cy="5817134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// import necessary classes or packages “libraries”</a:t>
              </a:r>
            </a:p>
            <a:p>
              <a:r>
                <a:rPr lang="en-US" dirty="0">
                  <a:solidFill>
                    <a:srgbClr val="00B0F0"/>
                  </a:solidFill>
                </a:rPr>
                <a:t>import</a:t>
              </a:r>
              <a:r>
                <a:rPr lang="en-US" dirty="0">
                  <a:solidFill>
                    <a:srgbClr val="0000FF"/>
                  </a:solidFill>
                </a:rPr>
                <a:t> </a:t>
              </a:r>
              <a:r>
                <a:rPr lang="en-US" dirty="0" err="1">
                  <a:solidFill>
                    <a:srgbClr val="0000FF"/>
                  </a:solidFill>
                </a:rPr>
                <a:t>java.util.Scanner</a:t>
              </a:r>
              <a:r>
                <a:rPr lang="en-US" dirty="0">
                  <a:solidFill>
                    <a:srgbClr val="0000FF"/>
                  </a:solidFill>
                </a:rPr>
                <a:t>;		</a:t>
              </a:r>
              <a:r>
                <a:rPr lang="en-US" dirty="0">
                  <a:solidFill>
                    <a:srgbClr val="00B050"/>
                  </a:solidFill>
                </a:rPr>
                <a:t>//program uses class Scanner</a:t>
              </a:r>
            </a:p>
            <a:p>
              <a:r>
                <a:rPr lang="en-US" dirty="0">
                  <a:solidFill>
                    <a:srgbClr val="00B0F0"/>
                  </a:solidFill>
                </a:rPr>
                <a:t>public class</a:t>
              </a:r>
              <a:r>
                <a:rPr lang="en-US" dirty="0">
                  <a:solidFill>
                    <a:srgbClr val="0000FF"/>
                  </a:solidFill>
                </a:rPr>
                <a:t> UserInput1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{</a:t>
              </a:r>
            </a:p>
            <a:p>
              <a:r>
                <a:rPr lang="en-US" dirty="0">
                  <a:solidFill>
                    <a:srgbClr val="00B0F0"/>
                  </a:solidFill>
                </a:rPr>
                <a:t>public static void</a:t>
              </a:r>
              <a:r>
                <a:rPr lang="en-US" dirty="0">
                  <a:solidFill>
                    <a:srgbClr val="0000FF"/>
                  </a:solidFill>
                </a:rPr>
                <a:t> main (String[] </a:t>
              </a:r>
              <a:r>
                <a:rPr lang="en-US" dirty="0" err="1">
                  <a:solidFill>
                    <a:srgbClr val="0000FF"/>
                  </a:solidFill>
                </a:rPr>
                <a:t>args</a:t>
              </a:r>
              <a:r>
                <a:rPr lang="en-US" dirty="0">
                  <a:solidFill>
                    <a:srgbClr val="0000FF"/>
                  </a:solidFill>
                </a:rPr>
                <a:t>)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     {</a:t>
              </a:r>
            </a:p>
            <a:p>
              <a:r>
                <a:rPr lang="en-US" dirty="0">
                  <a:solidFill>
                    <a:srgbClr val="00B050"/>
                  </a:solidFill>
                </a:rPr>
                <a:t>         // instantiate the object console from the class Scanner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        Scanner console = </a:t>
              </a:r>
              <a:r>
                <a:rPr lang="en-US" dirty="0">
                  <a:solidFill>
                    <a:srgbClr val="00B0F0"/>
                  </a:solidFill>
                </a:rPr>
                <a:t>new</a:t>
              </a:r>
              <a:r>
                <a:rPr lang="en-US" dirty="0">
                  <a:solidFill>
                    <a:srgbClr val="0000FF"/>
                  </a:solidFill>
                </a:rPr>
                <a:t> Scanner (</a:t>
              </a:r>
              <a:r>
                <a:rPr lang="en-US" dirty="0" err="1">
                  <a:solidFill>
                    <a:srgbClr val="0000FF"/>
                  </a:solidFill>
                </a:rPr>
                <a:t>System.in</a:t>
              </a:r>
              <a:r>
                <a:rPr lang="en-US" dirty="0">
                  <a:solidFill>
                    <a:srgbClr val="0000FF"/>
                  </a:solidFill>
                </a:rPr>
                <a:t>);</a:t>
              </a:r>
            </a:p>
            <a:p>
              <a:endParaRPr lang="en-US" dirty="0">
                <a:solidFill>
                  <a:srgbClr val="0000FF"/>
                </a:solidFill>
              </a:endParaRPr>
            </a:p>
            <a:p>
              <a:r>
                <a:rPr lang="en-US" dirty="0">
                  <a:solidFill>
                    <a:srgbClr val="0000FF"/>
                  </a:solidFill>
                </a:rPr>
                <a:t>         </a:t>
              </a:r>
              <a:r>
                <a:rPr lang="en-US" dirty="0"/>
                <a:t>// Declaration section: to declare needed variables</a:t>
              </a:r>
            </a:p>
            <a:p>
              <a:r>
                <a:rPr lang="en-US" dirty="0"/>
                <a:t>	</a:t>
              </a:r>
              <a:r>
                <a:rPr lang="en-US" dirty="0" err="1">
                  <a:solidFill>
                    <a:srgbClr val="00B0F0"/>
                  </a:solidFill>
                </a:rPr>
                <a:t>int</a:t>
              </a:r>
              <a:r>
                <a:rPr lang="en-US" dirty="0">
                  <a:solidFill>
                    <a:srgbClr val="0000FF"/>
                  </a:solidFill>
                </a:rPr>
                <a:t> feet;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	</a:t>
              </a:r>
              <a:r>
                <a:rPr lang="en-US" dirty="0" err="1">
                  <a:solidFill>
                    <a:srgbClr val="00B0F0"/>
                  </a:solidFill>
                </a:rPr>
                <a:t>int</a:t>
              </a:r>
              <a:r>
                <a:rPr lang="en-US" dirty="0">
                  <a:solidFill>
                    <a:srgbClr val="0000FF"/>
                  </a:solidFill>
                </a:rPr>
                <a:t> inches;</a:t>
              </a:r>
            </a:p>
            <a:p>
              <a:r>
                <a:rPr lang="en-US" dirty="0"/>
                <a:t>         // Input section: to enter values of used variables</a:t>
              </a:r>
            </a:p>
            <a:p>
              <a:r>
                <a:rPr lang="en-US" dirty="0"/>
                <a:t>	</a:t>
              </a:r>
              <a:r>
                <a:rPr lang="en-US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dirty="0">
                  <a:solidFill>
                    <a:srgbClr val="0000FF"/>
                  </a:solidFill>
                </a:rPr>
                <a:t> (“Enter two integers separated by spaces”);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	feet = </a:t>
              </a:r>
              <a:r>
                <a:rPr lang="en-US" dirty="0" err="1">
                  <a:solidFill>
                    <a:srgbClr val="0000FF"/>
                  </a:solidFill>
                </a:rPr>
                <a:t>console.nextInt</a:t>
              </a:r>
              <a:r>
                <a:rPr lang="en-US" dirty="0">
                  <a:solidFill>
                    <a:srgbClr val="0000FF"/>
                  </a:solidFill>
                </a:rPr>
                <a:t>();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	inches = </a:t>
              </a:r>
              <a:r>
                <a:rPr lang="en-US" dirty="0" err="1">
                  <a:solidFill>
                    <a:srgbClr val="0000FF"/>
                  </a:solidFill>
                </a:rPr>
                <a:t>console.nextInt</a:t>
              </a:r>
              <a:r>
                <a:rPr lang="en-US" dirty="0">
                  <a:solidFill>
                    <a:srgbClr val="0000FF"/>
                  </a:solidFill>
                </a:rPr>
                <a:t>();</a:t>
              </a:r>
            </a:p>
            <a:p>
              <a:r>
                <a:rPr lang="en-US" dirty="0"/>
                <a:t>         // Processing section: processing statements</a:t>
              </a:r>
            </a:p>
            <a:p>
              <a:r>
                <a:rPr lang="en-US" dirty="0"/>
                <a:t>         // Output section: display program output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	</a:t>
              </a:r>
              <a:r>
                <a:rPr lang="en-US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dirty="0">
                  <a:solidFill>
                    <a:srgbClr val="0000FF"/>
                  </a:solidFill>
                </a:rPr>
                <a:t> (“feet = “ + feet);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	</a:t>
              </a:r>
              <a:r>
                <a:rPr lang="en-US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dirty="0">
                  <a:solidFill>
                    <a:srgbClr val="0000FF"/>
                  </a:solidFill>
                </a:rPr>
                <a:t> (“inches = “ + inches);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     } </a:t>
              </a:r>
              <a:r>
                <a:rPr lang="en-US" dirty="0"/>
                <a:t>// end main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} </a:t>
              </a:r>
              <a:r>
                <a:rPr lang="en-US" dirty="0"/>
                <a:t>// end class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23528" y="1236822"/>
              <a:ext cx="576064" cy="58171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15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16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17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18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19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20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21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22</a:t>
              </a:r>
            </a:p>
          </p:txBody>
        </p:sp>
      </p:grpSp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2. READING FROM KEYBOARD</a:t>
            </a: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2569096" y="2831976"/>
            <a:ext cx="936104" cy="216024"/>
          </a:xfrm>
          <a:prstGeom prst="rect">
            <a:avLst/>
          </a:prstGeom>
          <a:noFill/>
          <a:ln w="28575"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667000" y="4725144"/>
            <a:ext cx="936104" cy="216024"/>
          </a:xfrm>
          <a:prstGeom prst="rect">
            <a:avLst/>
          </a:prstGeom>
          <a:noFill/>
          <a:ln w="28575"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904877" y="1190211"/>
            <a:ext cx="8064896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899592" y="2831976"/>
            <a:ext cx="8064896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899592" y="4038600"/>
            <a:ext cx="8064896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899592" y="4736976"/>
            <a:ext cx="8064896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895600" y="5029200"/>
            <a:ext cx="936104" cy="216024"/>
          </a:xfrm>
          <a:prstGeom prst="rect">
            <a:avLst/>
          </a:prstGeom>
          <a:noFill/>
          <a:ln w="28575"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914400" y="5041776"/>
            <a:ext cx="8064896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336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4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8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2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6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" grpId="0" animBg="1"/>
      <p:bldP spid="12" grpId="0" animBg="1"/>
      <p:bldP spid="3" grpId="0" animBg="1"/>
      <p:bldP spid="14" grpId="0" animBg="1"/>
      <p:bldP spid="18" grpId="0" animBg="1"/>
      <p:bldP spid="19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2. READING FROM KEYBOARD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PROGRAM 1 – ACCEPTING INTEGERS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5</a:t>
            </a:fld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>
            <a:off x="179512" y="3387768"/>
            <a:ext cx="8784976" cy="646332"/>
            <a:chOff x="323528" y="1536604"/>
            <a:chExt cx="7848872" cy="607761"/>
          </a:xfrm>
        </p:grpSpPr>
        <p:sp>
          <p:nvSpPr>
            <p:cNvPr id="7" name="TextBox 6"/>
            <p:cNvSpPr txBox="1"/>
            <p:nvPr/>
          </p:nvSpPr>
          <p:spPr>
            <a:xfrm>
              <a:off x="971600" y="1536604"/>
              <a:ext cx="7200800" cy="607760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F0"/>
                  </a:solidFill>
                </a:rPr>
                <a:t> </a:t>
              </a:r>
              <a:r>
                <a:rPr lang="en-US" dirty="0">
                  <a:solidFill>
                    <a:srgbClr val="00B050"/>
                  </a:solidFill>
                </a:rPr>
                <a:t>// instantiate the object console from the class Scanner</a:t>
              </a:r>
            </a:p>
            <a:p>
              <a:r>
                <a:rPr lang="en-US" dirty="0">
                  <a:solidFill>
                    <a:srgbClr val="00B0F0"/>
                  </a:solidFill>
                </a:rPr>
                <a:t> </a:t>
              </a:r>
              <a:r>
                <a:rPr lang="en-US" dirty="0">
                  <a:solidFill>
                    <a:srgbClr val="0000FF"/>
                  </a:solidFill>
                </a:rPr>
                <a:t>Scanner console = </a:t>
              </a:r>
              <a:r>
                <a:rPr lang="en-US" dirty="0">
                  <a:solidFill>
                    <a:srgbClr val="00B0F0"/>
                  </a:solidFill>
                </a:rPr>
                <a:t>new</a:t>
              </a:r>
              <a:r>
                <a:rPr lang="en-US" dirty="0">
                  <a:solidFill>
                    <a:srgbClr val="0000FF"/>
                  </a:solidFill>
                </a:rPr>
                <a:t> Scanner (System.in);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23528" y="1536605"/>
              <a:ext cx="576064" cy="6077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8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323528" y="4005064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Scanner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a Java class defined in the previously imported package </a:t>
            </a:r>
            <a:r>
              <a:rPr lang="en-US" sz="2000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java.util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3528" y="5013758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console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the </a:t>
            </a:r>
            <a:r>
              <a:rPr lang="en-US" sz="20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object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associated with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(of type)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Scanner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528" y="5746614"/>
            <a:ext cx="8640960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After this statement, any variable entered through the input device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(System.in)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uses the object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console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179512" y="980728"/>
            <a:ext cx="8784976" cy="648073"/>
            <a:chOff x="323528" y="1236822"/>
            <a:chExt cx="7848872" cy="609398"/>
          </a:xfrm>
        </p:grpSpPr>
        <p:sp>
          <p:nvSpPr>
            <p:cNvPr id="21" name="TextBox 20"/>
            <p:cNvSpPr txBox="1"/>
            <p:nvPr/>
          </p:nvSpPr>
          <p:spPr>
            <a:xfrm>
              <a:off x="971600" y="1498928"/>
              <a:ext cx="7200800" cy="347292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F0"/>
                  </a:solidFill>
                </a:rPr>
                <a:t>   </a:t>
              </a:r>
              <a:r>
                <a:rPr lang="en-US" dirty="0">
                  <a:solidFill>
                    <a:srgbClr val="0000FF"/>
                  </a:solidFill>
                </a:rPr>
                <a:t>import </a:t>
              </a:r>
              <a:r>
                <a:rPr lang="en-US" dirty="0" err="1">
                  <a:solidFill>
                    <a:srgbClr val="0000FF"/>
                  </a:solidFill>
                </a:rPr>
                <a:t>java.util.Scanner</a:t>
              </a:r>
              <a:r>
                <a:rPr lang="en-US" dirty="0">
                  <a:solidFill>
                    <a:srgbClr val="0000FF"/>
                  </a:solidFill>
                </a:rPr>
                <a:t>;		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23528" y="1236822"/>
              <a:ext cx="576064" cy="6077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endParaRPr lang="en-US" dirty="0">
                <a:solidFill>
                  <a:srgbClr val="FF0000"/>
                </a:solidFill>
              </a:endParaRP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2</a:t>
              </a: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323528" y="1628800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000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java.util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the name of the package (or library) that contains the class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Scanner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(used in line 5).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3528" y="2649106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package should be “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import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ed” in order to use the pre-defined class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Scanner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3528" y="2292841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</a:t>
            </a:r>
            <a:r>
              <a:rPr lang="en-US" sz="20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package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a collection of related classes stored in a file.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3528" y="4647330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</a:t>
            </a:r>
            <a:r>
              <a:rPr lang="en-US" sz="20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class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a non-primitive data type (</a:t>
            </a:r>
            <a:r>
              <a:rPr lang="en-US" sz="2000" dirty="0" err="1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000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double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etc… are primitive).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3528" y="5380186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say that the object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console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an </a:t>
            </a:r>
            <a:r>
              <a:rPr lang="en-US" sz="2000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instantiation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 the class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Scanner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18080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0" grpId="0"/>
      <p:bldP spid="11" grpId="0"/>
      <p:bldP spid="12" grpId="0" animBg="1"/>
      <p:bldP spid="23" grpId="0"/>
      <p:bldP spid="24" grpId="0"/>
      <p:bldP spid="25" grpId="0"/>
      <p:bldP spid="26" grpId="0"/>
      <p:bldP spid="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2. READING FROM KEYBOARD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PROGRAM 1 – ACCEPTING INTEGERS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6</a:t>
            </a:fld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>
            <a:off x="179512" y="2821152"/>
            <a:ext cx="8784976" cy="369335"/>
            <a:chOff x="323528" y="1536603"/>
            <a:chExt cx="7848872" cy="347294"/>
          </a:xfrm>
        </p:grpSpPr>
        <p:sp>
          <p:nvSpPr>
            <p:cNvPr id="7" name="TextBox 6"/>
            <p:cNvSpPr txBox="1"/>
            <p:nvPr/>
          </p:nvSpPr>
          <p:spPr>
            <a:xfrm>
              <a:off x="971600" y="1536603"/>
              <a:ext cx="7200800" cy="347292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</a:rPr>
                <a:t>feet = </a:t>
              </a:r>
              <a:r>
                <a:rPr lang="en-US" dirty="0" err="1">
                  <a:solidFill>
                    <a:srgbClr val="0000FF"/>
                  </a:solidFill>
                </a:rPr>
                <a:t>console.nextInt</a:t>
              </a:r>
              <a:r>
                <a:rPr lang="en-US" dirty="0">
                  <a:solidFill>
                    <a:srgbClr val="0000FF"/>
                  </a:solidFill>
                </a:rPr>
                <a:t>();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23528" y="1536606"/>
              <a:ext cx="576064" cy="3472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FF0000"/>
                  </a:solidFill>
                </a:rPr>
                <a:t>15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323528" y="3190486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statement causes the computer to get the input (the value entered by the user) from the keyboard; and stores it in the variable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feet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179512" y="980728"/>
            <a:ext cx="8784976" cy="648073"/>
            <a:chOff x="323528" y="1236822"/>
            <a:chExt cx="7848872" cy="609398"/>
          </a:xfrm>
        </p:grpSpPr>
        <p:sp>
          <p:nvSpPr>
            <p:cNvPr id="21" name="TextBox 20"/>
            <p:cNvSpPr txBox="1"/>
            <p:nvPr/>
          </p:nvSpPr>
          <p:spPr>
            <a:xfrm>
              <a:off x="971600" y="1498928"/>
              <a:ext cx="7200800" cy="347292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F0"/>
                  </a:solidFill>
                </a:rPr>
                <a:t>   </a:t>
              </a:r>
              <a:r>
                <a:rPr lang="en-US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dirty="0">
                  <a:solidFill>
                    <a:srgbClr val="0000FF"/>
                  </a:solidFill>
                </a:rPr>
                <a:t> (“Enter two integers separated by spaces”);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23528" y="1236822"/>
              <a:ext cx="576064" cy="6077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endParaRPr lang="en-US" dirty="0">
                <a:solidFill>
                  <a:srgbClr val="FF0000"/>
                </a:solidFill>
              </a:endParaRP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14</a:t>
              </a: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323528" y="1628800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“Enter two integers separated by spaces”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displayed to the user.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3528" y="4365104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the next input cannot be interpreted as an integer, then the program terminates with a run-time error message indicating an input mismatch.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3528" y="1968805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previous string instructs the user with the program requirement.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3528" y="4980764"/>
            <a:ext cx="8640960" cy="248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Examples of invalid integers include 24w5 or 12.50.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179512" y="5507939"/>
            <a:ext cx="8784976" cy="369333"/>
            <a:chOff x="323528" y="1236822"/>
            <a:chExt cx="7848872" cy="347292"/>
          </a:xfrm>
        </p:grpSpPr>
        <p:sp>
          <p:nvSpPr>
            <p:cNvPr id="31" name="TextBox 30"/>
            <p:cNvSpPr txBox="1"/>
            <p:nvPr/>
          </p:nvSpPr>
          <p:spPr>
            <a:xfrm>
              <a:off x="971600" y="1236822"/>
              <a:ext cx="7200800" cy="347292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</a:rPr>
                <a:t>inches = </a:t>
              </a:r>
              <a:r>
                <a:rPr lang="en-US" dirty="0" err="1">
                  <a:solidFill>
                    <a:srgbClr val="0000FF"/>
                  </a:solidFill>
                </a:rPr>
                <a:t>console.nextInt</a:t>
              </a:r>
              <a:r>
                <a:rPr lang="en-US" dirty="0">
                  <a:solidFill>
                    <a:srgbClr val="0000FF"/>
                  </a:solidFill>
                </a:rPr>
                <a:t>();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323528" y="1236822"/>
              <a:ext cx="576064" cy="3472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FF0000"/>
                  </a:solidFill>
                </a:rPr>
                <a:t>16</a:t>
              </a: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323528" y="5889466"/>
            <a:ext cx="8640960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Same as the statement in line 14. However, the variable used is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inches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instead of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feet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3528" y="3789040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000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console.nextInt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()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a method associated with the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Scanner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class. It accepts </a:t>
            </a:r>
            <a:r>
              <a:rPr lang="en-US" sz="2000" dirty="0" err="1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values.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3528" y="2308810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is known as a </a:t>
            </a:r>
            <a:r>
              <a:rPr lang="en-US" sz="20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prompt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1778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0" grpId="0"/>
      <p:bldP spid="23" grpId="0"/>
      <p:bldP spid="26" grpId="0"/>
      <p:bldP spid="28" grpId="0"/>
      <p:bldP spid="29" grpId="0"/>
      <p:bldP spid="33" grpId="0" animBg="1"/>
      <p:bldP spid="34" grpId="0"/>
      <p:bldP spid="3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2. READING FROM KEYBOARD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PROGRAM 1 – ACCEPTING INTEGERS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323528" y="1268760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output of Program 1 is shown below. 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467544" y="2474893"/>
            <a:ext cx="7488832" cy="954107"/>
            <a:chOff x="683568" y="1236822"/>
            <a:chExt cx="7488832" cy="954107"/>
          </a:xfrm>
        </p:grpSpPr>
        <p:sp>
          <p:nvSpPr>
            <p:cNvPr id="25" name="TextBox 24"/>
            <p:cNvSpPr txBox="1"/>
            <p:nvPr/>
          </p:nvSpPr>
          <p:spPr>
            <a:xfrm>
              <a:off x="971600" y="1236822"/>
              <a:ext cx="7200800" cy="954107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Enter two integers separated by spaces</a:t>
              </a:r>
            </a:p>
            <a:p>
              <a:r>
                <a:rPr lang="en-US" sz="1400" dirty="0">
                  <a:solidFill>
                    <a:srgbClr val="FFC000"/>
                  </a:solidFill>
                </a:rPr>
                <a:t>23   7</a:t>
              </a:r>
            </a:p>
            <a:p>
              <a:r>
                <a:rPr lang="en-US" sz="1400" dirty="0">
                  <a:solidFill>
                    <a:schemeClr val="bg1"/>
                  </a:solidFill>
                </a:rPr>
                <a:t>feet = 23</a:t>
              </a:r>
            </a:p>
            <a:p>
              <a:r>
                <a:rPr lang="en-US" sz="1400" dirty="0">
                  <a:solidFill>
                    <a:schemeClr val="bg1"/>
                  </a:solidFill>
                </a:rPr>
                <a:t>inches = 7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83568" y="1236822"/>
              <a:ext cx="216024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3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4</a:t>
              </a:r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323528" y="3513202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Line 1 prompts the user with the program requirement.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3528" y="3841304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Line 2 of the above figure represents the user input.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528" y="4161274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method </a:t>
            </a:r>
            <a:r>
              <a:rPr lang="en-US" sz="2000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nextInt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()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ignores space characters. Therefore, the user may enter any number of spaces between the two integers (23 &amp; 7).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3528" y="1588730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numbers in yellow are entered by the user while running the program.</a:t>
            </a:r>
          </a:p>
        </p:txBody>
      </p:sp>
    </p:spTree>
    <p:extLst>
      <p:ext uri="{BB962C8B-B14F-4D97-AF65-F5344CB8AC3E}">
        <p14:creationId xmlns:p14="http://schemas.microsoft.com/office/powerpoint/2010/main" val="96213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3" grpId="0"/>
      <p:bldP spid="35" grpId="0"/>
      <p:bldP spid="36" grpId="0"/>
      <p:bldP spid="13" grpId="0"/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2. READING FROM KEYBOARD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PROGRAM  2 – ACCEPTING DOUBLE NUMBERS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8</a:t>
            </a:fld>
            <a:endParaRPr lang="en-US"/>
          </a:p>
        </p:txBody>
      </p:sp>
      <p:grpSp>
        <p:nvGrpSpPr>
          <p:cNvPr id="20" name="Group 19"/>
          <p:cNvGrpSpPr/>
          <p:nvPr/>
        </p:nvGrpSpPr>
        <p:grpSpPr>
          <a:xfrm>
            <a:off x="179512" y="1412776"/>
            <a:ext cx="8784976" cy="4524316"/>
            <a:chOff x="323528" y="1236822"/>
            <a:chExt cx="7848872" cy="4254321"/>
          </a:xfrm>
        </p:grpSpPr>
        <p:sp>
          <p:nvSpPr>
            <p:cNvPr id="21" name="TextBox 20"/>
            <p:cNvSpPr txBox="1"/>
            <p:nvPr/>
          </p:nvSpPr>
          <p:spPr>
            <a:xfrm>
              <a:off x="971600" y="1236822"/>
              <a:ext cx="7200800" cy="4254321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F0"/>
                  </a:solidFill>
                </a:rPr>
                <a:t>import</a:t>
              </a:r>
              <a:r>
                <a:rPr lang="en-US" dirty="0">
                  <a:solidFill>
                    <a:srgbClr val="0000FF"/>
                  </a:solidFill>
                </a:rPr>
                <a:t> </a:t>
              </a:r>
              <a:r>
                <a:rPr lang="en-US" dirty="0" err="1">
                  <a:solidFill>
                    <a:srgbClr val="0000FF"/>
                  </a:solidFill>
                </a:rPr>
                <a:t>java.util.Scanner</a:t>
              </a:r>
              <a:r>
                <a:rPr lang="en-US" dirty="0">
                  <a:solidFill>
                    <a:srgbClr val="0000FF"/>
                  </a:solidFill>
                </a:rPr>
                <a:t>;	</a:t>
              </a:r>
              <a:endParaRPr lang="en-US" dirty="0">
                <a:solidFill>
                  <a:srgbClr val="00B050"/>
                </a:solidFill>
              </a:endParaRPr>
            </a:p>
            <a:p>
              <a:r>
                <a:rPr lang="en-US" dirty="0">
                  <a:solidFill>
                    <a:srgbClr val="00B0F0"/>
                  </a:solidFill>
                </a:rPr>
                <a:t>public class</a:t>
              </a:r>
              <a:r>
                <a:rPr lang="en-US" dirty="0">
                  <a:solidFill>
                    <a:srgbClr val="0000FF"/>
                  </a:solidFill>
                </a:rPr>
                <a:t> UserInput2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{</a:t>
              </a:r>
            </a:p>
            <a:p>
              <a:r>
                <a:rPr lang="en-US" dirty="0">
                  <a:solidFill>
                    <a:srgbClr val="00B0F0"/>
                  </a:solidFill>
                </a:rPr>
                <a:t>public static void</a:t>
              </a:r>
              <a:r>
                <a:rPr lang="en-US" dirty="0">
                  <a:solidFill>
                    <a:srgbClr val="0000FF"/>
                  </a:solidFill>
                </a:rPr>
                <a:t> main (String[] </a:t>
              </a:r>
              <a:r>
                <a:rPr lang="en-US" dirty="0" err="1">
                  <a:solidFill>
                    <a:srgbClr val="0000FF"/>
                  </a:solidFill>
                </a:rPr>
                <a:t>args</a:t>
              </a:r>
              <a:r>
                <a:rPr lang="en-US" dirty="0">
                  <a:solidFill>
                    <a:srgbClr val="0000FF"/>
                  </a:solidFill>
                </a:rPr>
                <a:t>)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     {  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        Scanner input = </a:t>
              </a:r>
              <a:r>
                <a:rPr lang="en-US" dirty="0">
                  <a:solidFill>
                    <a:srgbClr val="00B0F0"/>
                  </a:solidFill>
                </a:rPr>
                <a:t>new</a:t>
              </a:r>
              <a:r>
                <a:rPr lang="en-US" dirty="0">
                  <a:solidFill>
                    <a:srgbClr val="0000FF"/>
                  </a:solidFill>
                </a:rPr>
                <a:t> Scanner (</a:t>
              </a:r>
              <a:r>
                <a:rPr lang="en-US" dirty="0" err="1">
                  <a:solidFill>
                    <a:srgbClr val="0000FF"/>
                  </a:solidFill>
                </a:rPr>
                <a:t>System.in</a:t>
              </a:r>
              <a:r>
                <a:rPr lang="en-US" dirty="0">
                  <a:solidFill>
                    <a:srgbClr val="0000FF"/>
                  </a:solidFill>
                </a:rPr>
                <a:t>);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        </a:t>
              </a:r>
              <a:r>
                <a:rPr lang="en-US" dirty="0"/>
                <a:t>// Declaration section: to declare needed variables</a:t>
              </a:r>
            </a:p>
            <a:p>
              <a:r>
                <a:rPr lang="en-US" dirty="0"/>
                <a:t>	</a:t>
              </a:r>
              <a:r>
                <a:rPr lang="en-US" dirty="0">
                  <a:solidFill>
                    <a:srgbClr val="00B0F0"/>
                  </a:solidFill>
                </a:rPr>
                <a:t>double</a:t>
              </a:r>
              <a:r>
                <a:rPr lang="en-US" dirty="0">
                  <a:solidFill>
                    <a:srgbClr val="0000FF"/>
                  </a:solidFill>
                </a:rPr>
                <a:t> weight;</a:t>
              </a:r>
            </a:p>
            <a:p>
              <a:r>
                <a:rPr lang="en-US" dirty="0"/>
                <a:t>         // Input section: to enter values of used variables</a:t>
              </a:r>
            </a:p>
            <a:p>
              <a:r>
                <a:rPr lang="en-US" dirty="0"/>
                <a:t>	</a:t>
              </a:r>
              <a:r>
                <a:rPr lang="en-US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dirty="0">
                  <a:solidFill>
                    <a:srgbClr val="0000FF"/>
                  </a:solidFill>
                </a:rPr>
                <a:t> (“Enter weight&gt;”);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	weight = </a:t>
              </a:r>
              <a:r>
                <a:rPr lang="en-US" dirty="0" err="1">
                  <a:solidFill>
                    <a:srgbClr val="0000FF"/>
                  </a:solidFill>
                </a:rPr>
                <a:t>input.nextDouble</a:t>
              </a:r>
              <a:r>
                <a:rPr lang="en-US" dirty="0">
                  <a:solidFill>
                    <a:srgbClr val="0000FF"/>
                  </a:solidFill>
                </a:rPr>
                <a:t>();</a:t>
              </a:r>
            </a:p>
            <a:p>
              <a:r>
                <a:rPr lang="en-US" dirty="0"/>
                <a:t>         // Processing section: processing statements</a:t>
              </a:r>
            </a:p>
            <a:p>
              <a:r>
                <a:rPr lang="en-US" dirty="0"/>
                <a:t>         // Output section: display program output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	</a:t>
              </a:r>
              <a:r>
                <a:rPr lang="en-US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dirty="0">
                  <a:solidFill>
                    <a:srgbClr val="0000FF"/>
                  </a:solidFill>
                </a:rPr>
                <a:t> (“Weight = “ + weight);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     } </a:t>
              </a:r>
              <a:r>
                <a:rPr lang="en-US" dirty="0"/>
                <a:t>// end main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} </a:t>
              </a:r>
              <a:r>
                <a:rPr lang="en-US" dirty="0"/>
                <a:t>// end class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23528" y="1236822"/>
              <a:ext cx="576064" cy="425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15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91738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2. READING FROM KEYBOARD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PROGRAM 2 – ACCEPTING DOUBLE NUMBERS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9</a:t>
            </a:fld>
            <a:endParaRPr lang="en-US"/>
          </a:p>
        </p:txBody>
      </p:sp>
      <p:grpSp>
        <p:nvGrpSpPr>
          <p:cNvPr id="28" name="Group 27"/>
          <p:cNvGrpSpPr/>
          <p:nvPr/>
        </p:nvGrpSpPr>
        <p:grpSpPr>
          <a:xfrm>
            <a:off x="179512" y="1447800"/>
            <a:ext cx="8784976" cy="369334"/>
            <a:chOff x="323528" y="1236821"/>
            <a:chExt cx="7848872" cy="347293"/>
          </a:xfrm>
        </p:grpSpPr>
        <p:sp>
          <p:nvSpPr>
            <p:cNvPr id="29" name="TextBox 28"/>
            <p:cNvSpPr txBox="1"/>
            <p:nvPr/>
          </p:nvSpPr>
          <p:spPr>
            <a:xfrm>
              <a:off x="971600" y="1236822"/>
              <a:ext cx="7200800" cy="347292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F0"/>
                  </a:solidFill>
                </a:rPr>
                <a:t>   </a:t>
              </a:r>
              <a:r>
                <a:rPr lang="en-US" dirty="0">
                  <a:solidFill>
                    <a:srgbClr val="0000FF"/>
                  </a:solidFill>
                </a:rPr>
                <a:t>weight = </a:t>
              </a:r>
              <a:r>
                <a:rPr lang="en-US" dirty="0" err="1">
                  <a:solidFill>
                    <a:srgbClr val="0000FF"/>
                  </a:solidFill>
                </a:rPr>
                <a:t>input.nextDouble</a:t>
              </a:r>
              <a:r>
                <a:rPr lang="en-US" dirty="0">
                  <a:solidFill>
                    <a:srgbClr val="0000FF"/>
                  </a:solidFill>
                </a:rPr>
                <a:t>();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23528" y="1236821"/>
              <a:ext cx="576064" cy="3472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FF0000"/>
                  </a:solidFill>
                </a:rPr>
                <a:t>11</a:t>
              </a:r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323528" y="1817134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000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nextDouble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()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a method associated with the class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Scanner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It accepts values that can be interpreted as a </a:t>
            </a:r>
            <a:r>
              <a:rPr lang="en-US" sz="2000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double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type.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3528" y="2458624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Integers may be interpreted as a </a:t>
            </a:r>
            <a:r>
              <a:rPr lang="en-US" sz="2000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double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type. A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.0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added to the integer.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3528" y="3119858"/>
            <a:ext cx="8640960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the next input cannot be interpreted as a </a:t>
            </a:r>
            <a:r>
              <a:rPr lang="en-US" sz="2000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double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then the program terminates with a run-time error message indicating an input mismatch.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3528" y="3781093"/>
            <a:ext cx="864096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Examples of invalid </a:t>
            </a:r>
            <a:r>
              <a:rPr lang="en-US" sz="2000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double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include 24w5 or 2e10.</a:t>
            </a:r>
          </a:p>
        </p:txBody>
      </p:sp>
    </p:spTree>
    <p:extLst>
      <p:ext uri="{BB962C8B-B14F-4D97-AF65-F5344CB8AC3E}">
        <p14:creationId xmlns:p14="http://schemas.microsoft.com/office/powerpoint/2010/main" val="2770745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31" grpId="0"/>
      <p:bldP spid="32" grpId="0"/>
      <p:bldP spid="33" grpId="0" animBg="1"/>
      <p:bldP spid="3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2. READING FROM KEYBOARD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PROGRAM 2 – ACCEPTING DOUBLE NUMBERS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323528" y="1268760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output of Program 2 is as follows: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467544" y="1772816"/>
            <a:ext cx="7488832" cy="738664"/>
            <a:chOff x="683568" y="1236822"/>
            <a:chExt cx="7488832" cy="738664"/>
          </a:xfrm>
        </p:grpSpPr>
        <p:sp>
          <p:nvSpPr>
            <p:cNvPr id="25" name="TextBox 24"/>
            <p:cNvSpPr txBox="1"/>
            <p:nvPr/>
          </p:nvSpPr>
          <p:spPr>
            <a:xfrm>
              <a:off x="971600" y="1236822"/>
              <a:ext cx="7200800" cy="738664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Enter weight &gt;</a:t>
              </a:r>
            </a:p>
            <a:p>
              <a:r>
                <a:rPr lang="en-US" sz="1400" dirty="0">
                  <a:solidFill>
                    <a:srgbClr val="FFC000"/>
                  </a:solidFill>
                </a:rPr>
                <a:t>113.6</a:t>
              </a:r>
            </a:p>
            <a:p>
              <a:r>
                <a:rPr lang="en-US" sz="1400" dirty="0">
                  <a:solidFill>
                    <a:schemeClr val="bg1"/>
                  </a:solidFill>
                </a:rPr>
                <a:t>Weight = 113.6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83568" y="1236822"/>
              <a:ext cx="21602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3</a:t>
              </a:r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323528" y="2996952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Line 2 of the above figure represents the user input.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528" y="2636912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Line 1 prompts the user with the program requirement.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528" y="3482424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is another sample run of Program 2: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67544" y="3986480"/>
            <a:ext cx="7488832" cy="738664"/>
            <a:chOff x="683568" y="1236822"/>
            <a:chExt cx="7488832" cy="738664"/>
          </a:xfrm>
        </p:grpSpPr>
        <p:sp>
          <p:nvSpPr>
            <p:cNvPr id="18" name="TextBox 17"/>
            <p:cNvSpPr txBox="1"/>
            <p:nvPr/>
          </p:nvSpPr>
          <p:spPr>
            <a:xfrm>
              <a:off x="971600" y="1236822"/>
              <a:ext cx="7200800" cy="738664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Enter weight &gt;</a:t>
              </a:r>
            </a:p>
            <a:p>
              <a:r>
                <a:rPr lang="en-US" sz="1400" dirty="0">
                  <a:solidFill>
                    <a:srgbClr val="FFC000"/>
                  </a:solidFill>
                </a:rPr>
                <a:t>113</a:t>
              </a:r>
            </a:p>
            <a:p>
              <a:r>
                <a:rPr lang="en-US" sz="1400" dirty="0">
                  <a:solidFill>
                    <a:schemeClr val="bg1"/>
                  </a:solidFill>
                </a:rPr>
                <a:t>Weight = 113.0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83568" y="1236822"/>
              <a:ext cx="21602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3</a:t>
              </a: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323528" y="4829090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Note that the user entered an integer number (without decimal point).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3528" y="5189130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However, </a:t>
            </a:r>
            <a:r>
              <a:rPr lang="en-US" sz="2000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nextDouble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()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interpreted it as a </a:t>
            </a:r>
            <a:r>
              <a:rPr lang="en-US" sz="2000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double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number.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3528" y="5549170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Therefore, a </a:t>
            </a:r>
            <a:r>
              <a:rPr lang="en-US" sz="2000" dirty="0">
                <a:solidFill>
                  <a:srgbClr val="FF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.0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added to the number.</a:t>
            </a:r>
          </a:p>
        </p:txBody>
      </p:sp>
    </p:spTree>
    <p:extLst>
      <p:ext uri="{BB962C8B-B14F-4D97-AF65-F5344CB8AC3E}">
        <p14:creationId xmlns:p14="http://schemas.microsoft.com/office/powerpoint/2010/main" val="267055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3" grpId="0"/>
      <p:bldP spid="35" grpId="0"/>
      <p:bldP spid="12" grpId="0"/>
      <p:bldP spid="13" grpId="0"/>
      <p:bldP spid="20" grpId="0"/>
      <p:bldP spid="21" grpId="0"/>
      <p:bldP spid="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179512" y="1412776"/>
            <a:ext cx="8784976" cy="5078313"/>
            <a:chOff x="323528" y="1236822"/>
            <a:chExt cx="7848872" cy="4775258"/>
          </a:xfrm>
        </p:grpSpPr>
        <p:sp>
          <p:nvSpPr>
            <p:cNvPr id="21" name="TextBox 20"/>
            <p:cNvSpPr txBox="1"/>
            <p:nvPr/>
          </p:nvSpPr>
          <p:spPr>
            <a:xfrm>
              <a:off x="971600" y="1236822"/>
              <a:ext cx="7200800" cy="4514789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F0"/>
                  </a:solidFill>
                </a:rPr>
                <a:t>import</a:t>
              </a:r>
              <a:r>
                <a:rPr lang="en-US" dirty="0">
                  <a:solidFill>
                    <a:srgbClr val="0000FF"/>
                  </a:solidFill>
                </a:rPr>
                <a:t> </a:t>
              </a:r>
              <a:r>
                <a:rPr lang="en-US" dirty="0" err="1">
                  <a:solidFill>
                    <a:srgbClr val="0000FF"/>
                  </a:solidFill>
                </a:rPr>
                <a:t>java.util.Scanner</a:t>
              </a:r>
              <a:r>
                <a:rPr lang="en-US" dirty="0">
                  <a:solidFill>
                    <a:srgbClr val="0000FF"/>
                  </a:solidFill>
                </a:rPr>
                <a:t>;	</a:t>
              </a:r>
            </a:p>
            <a:p>
              <a:r>
                <a:rPr lang="en-US" dirty="0">
                  <a:solidFill>
                    <a:srgbClr val="00B0F0"/>
                  </a:solidFill>
                </a:rPr>
                <a:t>public class</a:t>
              </a:r>
              <a:r>
                <a:rPr lang="en-US" dirty="0">
                  <a:solidFill>
                    <a:srgbClr val="0000FF"/>
                  </a:solidFill>
                </a:rPr>
                <a:t> UserInput3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{</a:t>
              </a:r>
            </a:p>
            <a:p>
              <a:r>
                <a:rPr lang="en-US" dirty="0">
                  <a:solidFill>
                    <a:srgbClr val="00B0F0"/>
                  </a:solidFill>
                </a:rPr>
                <a:t>      public static void</a:t>
              </a:r>
              <a:r>
                <a:rPr lang="en-US" dirty="0">
                  <a:solidFill>
                    <a:srgbClr val="0000FF"/>
                  </a:solidFill>
                </a:rPr>
                <a:t> main (String[] </a:t>
              </a:r>
              <a:r>
                <a:rPr lang="en-US" dirty="0" err="1">
                  <a:solidFill>
                    <a:srgbClr val="0000FF"/>
                  </a:solidFill>
                </a:rPr>
                <a:t>args</a:t>
              </a:r>
              <a:r>
                <a:rPr lang="en-US" dirty="0">
                  <a:solidFill>
                    <a:srgbClr val="0000FF"/>
                  </a:solidFill>
                </a:rPr>
                <a:t>)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     {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         Scanner read  = </a:t>
              </a:r>
              <a:r>
                <a:rPr lang="en-US" dirty="0">
                  <a:solidFill>
                    <a:srgbClr val="00B0F0"/>
                  </a:solidFill>
                </a:rPr>
                <a:t>new</a:t>
              </a:r>
              <a:r>
                <a:rPr lang="en-US" dirty="0">
                  <a:solidFill>
                    <a:srgbClr val="0000FF"/>
                  </a:solidFill>
                </a:rPr>
                <a:t> Scanner (</a:t>
              </a:r>
              <a:r>
                <a:rPr lang="en-US" dirty="0" err="1">
                  <a:solidFill>
                    <a:srgbClr val="0000FF"/>
                  </a:solidFill>
                </a:rPr>
                <a:t>System.in</a:t>
              </a:r>
              <a:r>
                <a:rPr lang="en-US" dirty="0">
                  <a:solidFill>
                    <a:srgbClr val="0000FF"/>
                  </a:solidFill>
                </a:rPr>
                <a:t>);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        </a:t>
              </a:r>
              <a:r>
                <a:rPr lang="en-US" dirty="0"/>
                <a:t>// Declaration section: to declare needed variables</a:t>
              </a:r>
            </a:p>
            <a:p>
              <a:r>
                <a:rPr lang="en-US" dirty="0"/>
                <a:t>	</a:t>
              </a:r>
              <a:r>
                <a:rPr lang="en-US" dirty="0">
                  <a:solidFill>
                    <a:srgbClr val="00B0F0"/>
                  </a:solidFill>
                </a:rPr>
                <a:t>String </a:t>
              </a:r>
              <a:r>
                <a:rPr lang="en-US" dirty="0" err="1">
                  <a:solidFill>
                    <a:srgbClr val="0000FF"/>
                  </a:solidFill>
                </a:rPr>
                <a:t>firstName</a:t>
              </a:r>
              <a:r>
                <a:rPr lang="en-US" dirty="0">
                  <a:solidFill>
                    <a:srgbClr val="0000FF"/>
                  </a:solidFill>
                </a:rPr>
                <a:t>, </a:t>
              </a:r>
              <a:r>
                <a:rPr lang="en-US" dirty="0" err="1">
                  <a:solidFill>
                    <a:srgbClr val="0000FF"/>
                  </a:solidFill>
                </a:rPr>
                <a:t>lastName</a:t>
              </a:r>
              <a:r>
                <a:rPr lang="en-US" dirty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dirty="0"/>
                <a:t>         // Input section: to enter values of used variables</a:t>
              </a:r>
            </a:p>
            <a:p>
              <a:r>
                <a:rPr lang="en-US" dirty="0"/>
                <a:t>	</a:t>
              </a:r>
              <a:r>
                <a:rPr lang="en-US" sz="16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600" dirty="0">
                  <a:solidFill>
                    <a:srgbClr val="0000FF"/>
                  </a:solidFill>
                </a:rPr>
                <a:t> (“Enter first &amp; last names separated by spaces”);</a:t>
              </a:r>
              <a:endParaRPr lang="en-US" dirty="0">
                <a:solidFill>
                  <a:srgbClr val="0000FF"/>
                </a:solidFill>
              </a:endParaRPr>
            </a:p>
            <a:p>
              <a:r>
                <a:rPr lang="en-US" dirty="0">
                  <a:solidFill>
                    <a:srgbClr val="0000FF"/>
                  </a:solidFill>
                </a:rPr>
                <a:t>	</a:t>
              </a:r>
              <a:r>
                <a:rPr lang="en-US" dirty="0" err="1">
                  <a:solidFill>
                    <a:srgbClr val="0000FF"/>
                  </a:solidFill>
                </a:rPr>
                <a:t>firstName</a:t>
              </a:r>
              <a:r>
                <a:rPr lang="en-US" dirty="0">
                  <a:solidFill>
                    <a:srgbClr val="0000FF"/>
                  </a:solidFill>
                </a:rPr>
                <a:t> =  </a:t>
              </a:r>
              <a:r>
                <a:rPr lang="en-US" dirty="0" err="1">
                  <a:solidFill>
                    <a:srgbClr val="0000FF"/>
                  </a:solidFill>
                </a:rPr>
                <a:t>read.next</a:t>
              </a:r>
              <a:r>
                <a:rPr lang="en-US" dirty="0">
                  <a:solidFill>
                    <a:srgbClr val="0000FF"/>
                  </a:solidFill>
                </a:rPr>
                <a:t>();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	</a:t>
              </a:r>
              <a:r>
                <a:rPr lang="en-US" dirty="0" err="1">
                  <a:solidFill>
                    <a:srgbClr val="0000FF"/>
                  </a:solidFill>
                </a:rPr>
                <a:t>lastName</a:t>
              </a:r>
              <a:r>
                <a:rPr lang="en-US" dirty="0">
                  <a:solidFill>
                    <a:srgbClr val="0000FF"/>
                  </a:solidFill>
                </a:rPr>
                <a:t> =  </a:t>
              </a:r>
              <a:r>
                <a:rPr lang="en-US" dirty="0" err="1">
                  <a:solidFill>
                    <a:srgbClr val="0000FF"/>
                  </a:solidFill>
                </a:rPr>
                <a:t>read.next</a:t>
              </a:r>
              <a:r>
                <a:rPr lang="en-US" dirty="0">
                  <a:solidFill>
                    <a:srgbClr val="0000FF"/>
                  </a:solidFill>
                </a:rPr>
                <a:t>();</a:t>
              </a:r>
            </a:p>
            <a:p>
              <a:r>
                <a:rPr lang="en-US" dirty="0"/>
                <a:t>         // Processing section: processing statements</a:t>
              </a:r>
            </a:p>
            <a:p>
              <a:r>
                <a:rPr lang="en-US" dirty="0"/>
                <a:t>         // Output section: display program output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	</a:t>
              </a:r>
              <a:r>
                <a:rPr lang="en-US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dirty="0">
                  <a:solidFill>
                    <a:srgbClr val="0000FF"/>
                  </a:solidFill>
                </a:rPr>
                <a:t> (“Name = “ + </a:t>
              </a:r>
              <a:r>
                <a:rPr lang="en-US" dirty="0" err="1">
                  <a:solidFill>
                    <a:srgbClr val="0000FF"/>
                  </a:solidFill>
                </a:rPr>
                <a:t>firstName</a:t>
              </a:r>
              <a:r>
                <a:rPr lang="en-US" dirty="0">
                  <a:solidFill>
                    <a:srgbClr val="0000FF"/>
                  </a:solidFill>
                </a:rPr>
                <a:t> + “ “ + </a:t>
              </a:r>
              <a:r>
                <a:rPr lang="en-US" dirty="0" err="1">
                  <a:solidFill>
                    <a:srgbClr val="0000FF"/>
                  </a:solidFill>
                </a:rPr>
                <a:t>lastName</a:t>
              </a:r>
              <a:r>
                <a:rPr lang="en-US" dirty="0">
                  <a:solidFill>
                    <a:srgbClr val="0000FF"/>
                  </a:solidFill>
                </a:rPr>
                <a:t>);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     } </a:t>
              </a:r>
              <a:r>
                <a:rPr lang="en-US" dirty="0"/>
                <a:t>// end main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} </a:t>
              </a:r>
              <a:r>
                <a:rPr lang="en-US" dirty="0"/>
                <a:t>// end class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23528" y="1236822"/>
              <a:ext cx="576064" cy="47752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15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16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17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18</a:t>
              </a:r>
            </a:p>
          </p:txBody>
        </p:sp>
      </p:grpSp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2. READING FROM KEYBOARD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PROGRAM  3 – ACCEPTING STRINGS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505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2. READING FROM KEYBOARD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PROGRAM 3 – ACCEPTING STRINGS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12</a:t>
            </a:fld>
            <a:endParaRPr lang="en-US"/>
          </a:p>
        </p:txBody>
      </p:sp>
      <p:grpSp>
        <p:nvGrpSpPr>
          <p:cNvPr id="28" name="Group 27"/>
          <p:cNvGrpSpPr/>
          <p:nvPr/>
        </p:nvGrpSpPr>
        <p:grpSpPr>
          <a:xfrm>
            <a:off x="179512" y="1352160"/>
            <a:ext cx="8784976" cy="952945"/>
            <a:chOff x="323528" y="1236822"/>
            <a:chExt cx="7848872" cy="814615"/>
          </a:xfrm>
        </p:grpSpPr>
        <p:sp>
          <p:nvSpPr>
            <p:cNvPr id="29" name="TextBox 28"/>
            <p:cNvSpPr txBox="1"/>
            <p:nvPr/>
          </p:nvSpPr>
          <p:spPr>
            <a:xfrm>
              <a:off x="971600" y="1498928"/>
              <a:ext cx="7200800" cy="552509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F0"/>
                  </a:solidFill>
                </a:rPr>
                <a:t>   </a:t>
              </a:r>
              <a:r>
                <a:rPr lang="en-US" dirty="0" err="1">
                  <a:solidFill>
                    <a:srgbClr val="0000FF"/>
                  </a:solidFill>
                </a:rPr>
                <a:t>firstName</a:t>
              </a:r>
              <a:r>
                <a:rPr lang="en-US" dirty="0">
                  <a:solidFill>
                    <a:srgbClr val="0000FF"/>
                  </a:solidFill>
                </a:rPr>
                <a:t> = </a:t>
              </a:r>
              <a:r>
                <a:rPr lang="en-US" dirty="0" err="1">
                  <a:solidFill>
                    <a:srgbClr val="0000FF"/>
                  </a:solidFill>
                </a:rPr>
                <a:t>read.next</a:t>
              </a:r>
              <a:r>
                <a:rPr lang="en-US" dirty="0">
                  <a:solidFill>
                    <a:srgbClr val="0000FF"/>
                  </a:solidFill>
                </a:rPr>
                <a:t>();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  </a:t>
              </a:r>
              <a:r>
                <a:rPr lang="en-US" dirty="0" err="1">
                  <a:solidFill>
                    <a:srgbClr val="0000FF"/>
                  </a:solidFill>
                </a:rPr>
                <a:t>lastName</a:t>
              </a:r>
              <a:r>
                <a:rPr lang="en-US" dirty="0">
                  <a:solidFill>
                    <a:srgbClr val="0000FF"/>
                  </a:solidFill>
                </a:rPr>
                <a:t> = </a:t>
              </a:r>
              <a:r>
                <a:rPr lang="en-US" dirty="0" err="1">
                  <a:solidFill>
                    <a:srgbClr val="0000FF"/>
                  </a:solidFill>
                </a:rPr>
                <a:t>read.next</a:t>
              </a:r>
              <a:r>
                <a:rPr lang="en-US" dirty="0">
                  <a:solidFill>
                    <a:srgbClr val="0000FF"/>
                  </a:solidFill>
                </a:rPr>
                <a:t>();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23528" y="1236822"/>
              <a:ext cx="576064" cy="7892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endParaRPr lang="en-US" dirty="0">
                <a:solidFill>
                  <a:srgbClr val="FF0000"/>
                </a:solidFill>
              </a:endParaRP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12</a:t>
              </a:r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323528" y="2437274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next()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a method associated with the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Scanner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class. It accepts values that can be interpreted as a </a:t>
            </a:r>
            <a:r>
              <a:rPr lang="en-US" sz="2000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String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type.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3528" y="3105090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Numbers are accepted but interpreted as </a:t>
            </a:r>
            <a:r>
              <a:rPr lang="en-US" sz="2000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String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type.</a:t>
            </a:r>
          </a:p>
        </p:txBody>
      </p:sp>
    </p:spTree>
    <p:extLst>
      <p:ext uri="{BB962C8B-B14F-4D97-AF65-F5344CB8AC3E}">
        <p14:creationId xmlns:p14="http://schemas.microsoft.com/office/powerpoint/2010/main" val="631668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31" grpId="0"/>
      <p:bldP spid="3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2. READING FROM KEYBOARD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PROGRAM 3 – ACCEPTING STRINGS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323528" y="1268760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output of Program 3 is as follows: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467544" y="1772816"/>
            <a:ext cx="7488832" cy="738664"/>
            <a:chOff x="683568" y="1236822"/>
            <a:chExt cx="7488832" cy="738664"/>
          </a:xfrm>
        </p:grpSpPr>
        <p:sp>
          <p:nvSpPr>
            <p:cNvPr id="25" name="TextBox 24"/>
            <p:cNvSpPr txBox="1"/>
            <p:nvPr/>
          </p:nvSpPr>
          <p:spPr>
            <a:xfrm>
              <a:off x="971600" y="1236822"/>
              <a:ext cx="7200800" cy="738664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Enter first &amp; last names separated by spaces</a:t>
              </a:r>
            </a:p>
            <a:p>
              <a:r>
                <a:rPr lang="en-US" sz="1400" dirty="0">
                  <a:solidFill>
                    <a:srgbClr val="FFC000"/>
                  </a:solidFill>
                </a:rPr>
                <a:t>Mohammad     Ahmed</a:t>
              </a:r>
            </a:p>
            <a:p>
              <a:r>
                <a:rPr lang="en-US" sz="1400" dirty="0">
                  <a:solidFill>
                    <a:schemeClr val="bg1"/>
                  </a:solidFill>
                </a:rPr>
                <a:t>Name = Mohammad Ahmed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83568" y="1236822"/>
              <a:ext cx="21602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3</a:t>
              </a:r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323528" y="2996952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Line 2 of the above figure represents the user input.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528" y="2636912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Line 1 prompts the user with the program requirement.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528" y="3717032"/>
            <a:ext cx="864096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Note that the first and last names are separated by 5 spaces in the user input. However, they are separated by a single space in the output. This is because </a:t>
            </a:r>
            <a:r>
              <a:rPr lang="en-US" sz="2000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read.next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()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ignores spaces entered by the user. However, line 3 of the output obeys the format of the output statement in line 17 of the program.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3528" y="3356992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value of the </a:t>
            </a:r>
            <a:r>
              <a:rPr lang="en-US" sz="2000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String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ends whenever </a:t>
            </a:r>
            <a:r>
              <a:rPr lang="en-US" sz="2000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read.next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()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encounters a space.</a:t>
            </a:r>
          </a:p>
        </p:txBody>
      </p:sp>
    </p:spTree>
    <p:extLst>
      <p:ext uri="{BB962C8B-B14F-4D97-AF65-F5344CB8AC3E}">
        <p14:creationId xmlns:p14="http://schemas.microsoft.com/office/powerpoint/2010/main" val="820530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3" grpId="0"/>
      <p:bldP spid="35" grpId="0"/>
      <p:bldP spid="12" grpId="0"/>
      <p:bldP spid="13" grpId="0"/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2. READING FROM KEYBOARD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PROGRAM  4 – ACCEPTING LINES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14</a:t>
            </a:fld>
            <a:endParaRPr lang="en-US"/>
          </a:p>
        </p:txBody>
      </p:sp>
      <p:grpSp>
        <p:nvGrpSpPr>
          <p:cNvPr id="20" name="Group 19"/>
          <p:cNvGrpSpPr/>
          <p:nvPr/>
        </p:nvGrpSpPr>
        <p:grpSpPr>
          <a:xfrm>
            <a:off x="179512" y="1412776"/>
            <a:ext cx="8784976" cy="4555094"/>
            <a:chOff x="323528" y="1236822"/>
            <a:chExt cx="7848872" cy="4283263"/>
          </a:xfrm>
        </p:grpSpPr>
        <p:sp>
          <p:nvSpPr>
            <p:cNvPr id="21" name="TextBox 20"/>
            <p:cNvSpPr txBox="1"/>
            <p:nvPr/>
          </p:nvSpPr>
          <p:spPr>
            <a:xfrm>
              <a:off x="971600" y="1236822"/>
              <a:ext cx="7200800" cy="4283263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F0"/>
                  </a:solidFill>
                </a:rPr>
                <a:t>import</a:t>
              </a:r>
              <a:r>
                <a:rPr lang="en-US" dirty="0">
                  <a:solidFill>
                    <a:srgbClr val="0000FF"/>
                  </a:solidFill>
                </a:rPr>
                <a:t> </a:t>
              </a:r>
              <a:r>
                <a:rPr lang="en-US" dirty="0" err="1">
                  <a:solidFill>
                    <a:srgbClr val="0000FF"/>
                  </a:solidFill>
                </a:rPr>
                <a:t>java.util.Scanner</a:t>
              </a:r>
              <a:r>
                <a:rPr lang="en-US" dirty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</a:t>
              </a:r>
              <a:r>
                <a:rPr lang="en-US" dirty="0">
                  <a:solidFill>
                    <a:srgbClr val="00B0F0"/>
                  </a:solidFill>
                </a:rPr>
                <a:t>public class</a:t>
              </a:r>
              <a:r>
                <a:rPr lang="en-US" dirty="0">
                  <a:solidFill>
                    <a:srgbClr val="0000FF"/>
                  </a:solidFill>
                </a:rPr>
                <a:t> UserInput4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{</a:t>
              </a:r>
            </a:p>
            <a:p>
              <a:r>
                <a:rPr lang="en-US" dirty="0">
                  <a:solidFill>
                    <a:srgbClr val="00B0F0"/>
                  </a:solidFill>
                </a:rPr>
                <a:t>     public static void</a:t>
              </a:r>
              <a:r>
                <a:rPr lang="en-US" dirty="0">
                  <a:solidFill>
                    <a:srgbClr val="0000FF"/>
                  </a:solidFill>
                </a:rPr>
                <a:t> main (String[] </a:t>
              </a:r>
              <a:r>
                <a:rPr lang="en-US" dirty="0" err="1">
                  <a:solidFill>
                    <a:srgbClr val="0000FF"/>
                  </a:solidFill>
                </a:rPr>
                <a:t>args</a:t>
              </a:r>
              <a:r>
                <a:rPr lang="en-US" dirty="0">
                  <a:solidFill>
                    <a:srgbClr val="0000FF"/>
                  </a:solidFill>
                </a:rPr>
                <a:t>)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     {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       Scanner  line  = </a:t>
              </a:r>
              <a:r>
                <a:rPr lang="en-US" dirty="0">
                  <a:solidFill>
                    <a:srgbClr val="00B0F0"/>
                  </a:solidFill>
                </a:rPr>
                <a:t>new</a:t>
              </a:r>
              <a:r>
                <a:rPr lang="en-US" dirty="0">
                  <a:solidFill>
                    <a:srgbClr val="0000FF"/>
                  </a:solidFill>
                </a:rPr>
                <a:t> Scanner (</a:t>
              </a:r>
              <a:r>
                <a:rPr lang="en-US" dirty="0" err="1">
                  <a:solidFill>
                    <a:srgbClr val="0000FF"/>
                  </a:solidFill>
                </a:rPr>
                <a:t>System.in</a:t>
              </a:r>
              <a:r>
                <a:rPr lang="en-US" dirty="0">
                  <a:solidFill>
                    <a:srgbClr val="0000FF"/>
                  </a:solidFill>
                </a:rPr>
                <a:t>);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        </a:t>
              </a:r>
              <a:r>
                <a:rPr lang="en-US" dirty="0"/>
                <a:t>// Declaration section: to declare needed variables</a:t>
              </a:r>
            </a:p>
            <a:p>
              <a:r>
                <a:rPr lang="en-US" dirty="0"/>
                <a:t>	</a:t>
              </a:r>
              <a:r>
                <a:rPr lang="en-US" dirty="0">
                  <a:solidFill>
                    <a:srgbClr val="00B0F0"/>
                  </a:solidFill>
                </a:rPr>
                <a:t>String </a:t>
              </a:r>
              <a:r>
                <a:rPr lang="en-US" dirty="0">
                  <a:solidFill>
                    <a:srgbClr val="0000FF"/>
                  </a:solidFill>
                </a:rPr>
                <a:t>message;</a:t>
              </a:r>
            </a:p>
            <a:p>
              <a:r>
                <a:rPr lang="en-US" dirty="0"/>
                <a:t>         // Input section: to enter values of used variables</a:t>
              </a:r>
            </a:p>
            <a:p>
              <a:r>
                <a:rPr lang="en-US" sz="2000" dirty="0"/>
                <a:t>	</a:t>
              </a:r>
              <a:r>
                <a:rPr lang="en-US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dirty="0">
                  <a:solidFill>
                    <a:srgbClr val="0000FF"/>
                  </a:solidFill>
                </a:rPr>
                <a:t> (“Enter a message”);</a:t>
              </a:r>
              <a:endParaRPr lang="en-US" sz="2000" dirty="0">
                <a:solidFill>
                  <a:srgbClr val="0000FF"/>
                </a:solidFill>
              </a:endParaRPr>
            </a:p>
            <a:p>
              <a:r>
                <a:rPr lang="en-US" dirty="0">
                  <a:solidFill>
                    <a:srgbClr val="0000FF"/>
                  </a:solidFill>
                </a:rPr>
                <a:t>	message =   </a:t>
              </a:r>
              <a:r>
                <a:rPr lang="en-US" dirty="0" err="1">
                  <a:solidFill>
                    <a:srgbClr val="0000FF"/>
                  </a:solidFill>
                </a:rPr>
                <a:t>line.nextLine</a:t>
              </a:r>
              <a:r>
                <a:rPr lang="en-US" dirty="0">
                  <a:solidFill>
                    <a:srgbClr val="0000FF"/>
                  </a:solidFill>
                </a:rPr>
                <a:t>();</a:t>
              </a:r>
            </a:p>
            <a:p>
              <a:r>
                <a:rPr lang="en-US" dirty="0"/>
                <a:t>         // Processing section: processing statements</a:t>
              </a:r>
            </a:p>
            <a:p>
              <a:r>
                <a:rPr lang="en-US" dirty="0"/>
                <a:t>         // Output section: display program output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	</a:t>
              </a:r>
              <a:r>
                <a:rPr lang="en-US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dirty="0">
                  <a:solidFill>
                    <a:srgbClr val="0000FF"/>
                  </a:solidFill>
                </a:rPr>
                <a:t> (“Message = “ + message);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     } </a:t>
              </a:r>
              <a:r>
                <a:rPr lang="en-US" dirty="0"/>
                <a:t>// end main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} </a:t>
              </a:r>
              <a:r>
                <a:rPr lang="en-US" dirty="0"/>
                <a:t>// end class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23528" y="1236822"/>
              <a:ext cx="576064" cy="42543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15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11274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2. READING FROM KEYBOARD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PROGRAM 4 – ACCEPTING LINES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15</a:t>
            </a:fld>
            <a:endParaRPr lang="en-US"/>
          </a:p>
        </p:txBody>
      </p:sp>
      <p:grpSp>
        <p:nvGrpSpPr>
          <p:cNvPr id="28" name="Group 27"/>
          <p:cNvGrpSpPr/>
          <p:nvPr/>
        </p:nvGrpSpPr>
        <p:grpSpPr>
          <a:xfrm>
            <a:off x="179512" y="1143000"/>
            <a:ext cx="8784976" cy="675947"/>
            <a:chOff x="323528" y="1236822"/>
            <a:chExt cx="7848872" cy="577826"/>
          </a:xfrm>
        </p:grpSpPr>
        <p:sp>
          <p:nvSpPr>
            <p:cNvPr id="29" name="TextBox 28"/>
            <p:cNvSpPr txBox="1"/>
            <p:nvPr/>
          </p:nvSpPr>
          <p:spPr>
            <a:xfrm>
              <a:off x="971600" y="1498928"/>
              <a:ext cx="7200800" cy="315720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F0"/>
                  </a:solidFill>
                </a:rPr>
                <a:t>   </a:t>
              </a:r>
              <a:r>
                <a:rPr lang="en-US" dirty="0">
                  <a:solidFill>
                    <a:srgbClr val="0000FF"/>
                  </a:solidFill>
                </a:rPr>
                <a:t>message = </a:t>
              </a:r>
              <a:r>
                <a:rPr lang="en-US" dirty="0" err="1">
                  <a:solidFill>
                    <a:srgbClr val="0000FF"/>
                  </a:solidFill>
                </a:rPr>
                <a:t>line.nextLine</a:t>
              </a:r>
              <a:r>
                <a:rPr lang="en-US" dirty="0">
                  <a:solidFill>
                    <a:srgbClr val="0000FF"/>
                  </a:solidFill>
                </a:rPr>
                <a:t>();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23528" y="1236822"/>
              <a:ext cx="576064" cy="5525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endParaRPr lang="en-US" dirty="0">
                <a:solidFill>
                  <a:srgbClr val="FF0000"/>
                </a:solidFill>
              </a:endParaRP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11</a:t>
              </a:r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323528" y="1855879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000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nextLine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()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a method associated with the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Scanner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class. It receives the next input as a </a:t>
            </a:r>
            <a:r>
              <a:rPr lang="en-US" sz="2000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String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until the end of the line.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3528" y="2463881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000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nextLine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()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reads the newline character (Enter), but does not store it as part of the string.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3528" y="3092209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000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nextLine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()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used when the input data includes spaces. In contrast, 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next()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ignores space characters.</a:t>
            </a:r>
          </a:p>
        </p:txBody>
      </p:sp>
    </p:spTree>
    <p:extLst>
      <p:ext uri="{BB962C8B-B14F-4D97-AF65-F5344CB8AC3E}">
        <p14:creationId xmlns:p14="http://schemas.microsoft.com/office/powerpoint/2010/main" val="1069582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31" grpId="0"/>
      <p:bldP spid="24" grpId="0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2. READING FROM KEYBOARD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PROGRAM 4 – ACCEPTING LINES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323528" y="1268760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output of Program 4 is as follows: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467544" y="1772816"/>
            <a:ext cx="7488832" cy="738664"/>
            <a:chOff x="683568" y="1236822"/>
            <a:chExt cx="7488832" cy="738664"/>
          </a:xfrm>
        </p:grpSpPr>
        <p:sp>
          <p:nvSpPr>
            <p:cNvPr id="25" name="TextBox 24"/>
            <p:cNvSpPr txBox="1"/>
            <p:nvPr/>
          </p:nvSpPr>
          <p:spPr>
            <a:xfrm>
              <a:off x="971600" y="1236822"/>
              <a:ext cx="7200800" cy="738664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Enter a message</a:t>
              </a:r>
            </a:p>
            <a:p>
              <a:r>
                <a:rPr lang="en-US" sz="1400" dirty="0">
                  <a:solidFill>
                    <a:srgbClr val="FFC000"/>
                  </a:solidFill>
                </a:rPr>
                <a:t>Please follow the instructions written below</a:t>
              </a:r>
            </a:p>
            <a:p>
              <a:r>
                <a:rPr lang="en-US" sz="1400" dirty="0">
                  <a:solidFill>
                    <a:schemeClr val="bg1"/>
                  </a:solidFill>
                </a:rPr>
                <a:t>Message = Please follow the instructions written below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83568" y="1236822"/>
              <a:ext cx="21602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3</a:t>
              </a:r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323528" y="2866002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Line 2 of the above figure represents the user input.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528" y="2492896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Line 1 prompts the user with the program requirement.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3528" y="3239108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000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line.nextLine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()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stores all line 2 shown in the above figure in the variable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message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3528" y="3861048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Remember that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message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of type </a:t>
            </a:r>
            <a:r>
              <a:rPr lang="en-US" sz="2000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String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4469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3" grpId="0"/>
      <p:bldP spid="35" grpId="0"/>
      <p:bldP spid="12" grpId="0"/>
      <p:bldP spid="14" grpId="0"/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2. READING FROM KEYBOARD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IN SUMMARY…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17</a:t>
            </a:fld>
            <a:endParaRPr lang="en-US"/>
          </a:p>
        </p:txBody>
      </p:sp>
      <p:grpSp>
        <p:nvGrpSpPr>
          <p:cNvPr id="18" name="Group 17"/>
          <p:cNvGrpSpPr/>
          <p:nvPr/>
        </p:nvGrpSpPr>
        <p:grpSpPr>
          <a:xfrm>
            <a:off x="179512" y="1628800"/>
            <a:ext cx="8784976" cy="1846659"/>
            <a:chOff x="323528" y="1236822"/>
            <a:chExt cx="7848872" cy="1736458"/>
          </a:xfrm>
        </p:grpSpPr>
        <p:sp>
          <p:nvSpPr>
            <p:cNvPr id="19" name="TextBox 18"/>
            <p:cNvSpPr txBox="1"/>
            <p:nvPr/>
          </p:nvSpPr>
          <p:spPr>
            <a:xfrm>
              <a:off x="971600" y="1498928"/>
              <a:ext cx="7200800" cy="1244462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00B0F0"/>
                  </a:solidFill>
                </a:rPr>
                <a:t>import</a:t>
              </a:r>
              <a:r>
                <a:rPr lang="en-US" sz="1600" dirty="0">
                  <a:solidFill>
                    <a:srgbClr val="0000FF"/>
                  </a:solidFill>
                </a:rPr>
                <a:t> </a:t>
              </a:r>
              <a:r>
                <a:rPr lang="en-US" sz="1600" dirty="0" err="1">
                  <a:solidFill>
                    <a:srgbClr val="0000FF"/>
                  </a:solidFill>
                </a:rPr>
                <a:t>java.util.Scanner</a:t>
              </a:r>
              <a:r>
                <a:rPr lang="en-US" sz="1600" dirty="0">
                  <a:solidFill>
                    <a:srgbClr val="0000FF"/>
                  </a:solidFill>
                </a:rPr>
                <a:t>;	</a:t>
              </a:r>
              <a:r>
                <a:rPr lang="en-US" sz="1600" dirty="0">
                  <a:solidFill>
                    <a:srgbClr val="00B050"/>
                  </a:solidFill>
                </a:rPr>
                <a:t>//the first line of the program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Scanner </a:t>
              </a:r>
              <a:r>
                <a:rPr lang="en-US" sz="1600" dirty="0">
                  <a:solidFill>
                    <a:srgbClr val="FF00FF"/>
                  </a:solidFill>
                </a:rPr>
                <a:t>input</a:t>
              </a:r>
              <a:r>
                <a:rPr lang="en-US" sz="1600" dirty="0">
                  <a:solidFill>
                    <a:srgbClr val="0000FF"/>
                  </a:solidFill>
                </a:rPr>
                <a:t> = </a:t>
              </a:r>
              <a:r>
                <a:rPr lang="en-US" sz="1600" dirty="0">
                  <a:solidFill>
                    <a:srgbClr val="00B0F0"/>
                  </a:solidFill>
                </a:rPr>
                <a:t>new </a:t>
              </a:r>
              <a:r>
                <a:rPr lang="en-US" sz="1600" dirty="0">
                  <a:solidFill>
                    <a:srgbClr val="0000FF"/>
                  </a:solidFill>
                </a:rPr>
                <a:t>Scanner (System.in); </a:t>
              </a:r>
            </a:p>
            <a:p>
              <a:r>
                <a:rPr lang="en-US" sz="1600" dirty="0" err="1">
                  <a:solidFill>
                    <a:srgbClr val="00B0F0"/>
                  </a:solidFill>
                </a:rPr>
                <a:t>nt</a:t>
              </a:r>
              <a:r>
                <a:rPr lang="en-US" sz="1600" dirty="0">
                  <a:solidFill>
                    <a:srgbClr val="0000FF"/>
                  </a:solidFill>
                </a:rPr>
                <a:t> x;			</a:t>
              </a:r>
              <a:r>
                <a:rPr lang="en-US" sz="1600" dirty="0">
                  <a:solidFill>
                    <a:srgbClr val="00B050"/>
                  </a:solidFill>
                </a:rPr>
                <a:t>//in the declaration section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x = </a:t>
              </a:r>
              <a:r>
                <a:rPr lang="en-US" sz="1600" dirty="0" err="1">
                  <a:solidFill>
                    <a:srgbClr val="FF00FF"/>
                  </a:solidFill>
                </a:rPr>
                <a:t>input</a:t>
              </a:r>
              <a:r>
                <a:rPr lang="en-US" sz="1600" dirty="0" err="1">
                  <a:solidFill>
                    <a:srgbClr val="0000FF"/>
                  </a:solidFill>
                </a:rPr>
                <a:t>.nextInt</a:t>
              </a:r>
              <a:r>
                <a:rPr lang="en-US" sz="1600" dirty="0">
                  <a:solidFill>
                    <a:srgbClr val="0000FF"/>
                  </a:solidFill>
                </a:rPr>
                <a:t>();	</a:t>
              </a:r>
              <a:r>
                <a:rPr lang="en-US" sz="1600" dirty="0">
                  <a:solidFill>
                    <a:srgbClr val="00B050"/>
                  </a:solidFill>
                </a:rPr>
                <a:t>//in the input section. </a:t>
              </a:r>
            </a:p>
            <a:p>
              <a:r>
                <a:rPr lang="en-US" sz="1600" dirty="0">
                  <a:solidFill>
                    <a:srgbClr val="00B050"/>
                  </a:solidFill>
                </a:rPr>
                <a:t>			//The method depends on the data type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23528" y="1236822"/>
              <a:ext cx="576064" cy="17364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endParaRPr lang="en-US" sz="1600" dirty="0">
                <a:solidFill>
                  <a:srgbClr val="FF0000"/>
                </a:solidFill>
              </a:endParaRP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6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323528" y="1196752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read an input from the keyboard, the following steps are to be performed in the program: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3528" y="3748970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Other methods used include: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5208773"/>
              </p:ext>
            </p:extLst>
          </p:nvPr>
        </p:nvGraphicFramePr>
        <p:xfrm>
          <a:off x="899592" y="4149080"/>
          <a:ext cx="4896544" cy="259588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24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METHOD</a:t>
                      </a:r>
                      <a:r>
                        <a:rPr lang="en-US" baseline="0" dirty="0">
                          <a:solidFill>
                            <a:srgbClr val="FF0000"/>
                          </a:solidFill>
                        </a:rPr>
                        <a:t> NAME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Scanner </a:t>
                      </a:r>
                      <a:r>
                        <a:rPr lang="en-US" dirty="0">
                          <a:solidFill>
                            <a:srgbClr val="FF00FF"/>
                          </a:solidFill>
                        </a:rPr>
                        <a:t>input</a:t>
                      </a: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 = </a:t>
                      </a:r>
                      <a:r>
                        <a:rPr lang="en-US" dirty="0">
                          <a:solidFill>
                            <a:srgbClr val="00B0F0"/>
                          </a:solidFill>
                        </a:rPr>
                        <a:t>new</a:t>
                      </a: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 Scanner (System.in);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byte b;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= </a:t>
                      </a:r>
                      <a:r>
                        <a:rPr lang="en-US" dirty="0" err="1">
                          <a:solidFill>
                            <a:srgbClr val="FF00FF"/>
                          </a:solidFill>
                        </a:rPr>
                        <a:t>input</a:t>
                      </a:r>
                      <a:r>
                        <a:rPr lang="en-US" dirty="0" err="1"/>
                        <a:t>.nextByte</a:t>
                      </a:r>
                      <a:r>
                        <a:rPr lang="en-US" dirty="0"/>
                        <a:t>();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short </a:t>
                      </a:r>
                      <a:r>
                        <a:rPr lang="en-US" dirty="0" err="1"/>
                        <a:t>sh</a:t>
                      </a:r>
                      <a:r>
                        <a:rPr lang="en-US" dirty="0"/>
                        <a:t>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sh</a:t>
                      </a:r>
                      <a:r>
                        <a:rPr lang="en-US" dirty="0"/>
                        <a:t> = </a:t>
                      </a:r>
                      <a:r>
                        <a:rPr lang="en-US" dirty="0" err="1">
                          <a:solidFill>
                            <a:srgbClr val="FF00FF"/>
                          </a:solidFill>
                        </a:rPr>
                        <a:t>input</a:t>
                      </a:r>
                      <a:r>
                        <a:rPr lang="en-US" dirty="0" err="1"/>
                        <a:t>.nextShort</a:t>
                      </a:r>
                      <a:r>
                        <a:rPr lang="en-US" dirty="0"/>
                        <a:t>();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long </a:t>
                      </a:r>
                      <a:r>
                        <a:rPr lang="en-US" dirty="0" err="1"/>
                        <a:t>lg</a:t>
                      </a:r>
                      <a:r>
                        <a:rPr lang="en-US" dirty="0"/>
                        <a:t>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lg</a:t>
                      </a:r>
                      <a:r>
                        <a:rPr lang="en-US" dirty="0"/>
                        <a:t> = </a:t>
                      </a:r>
                      <a:r>
                        <a:rPr lang="en-US" dirty="0" err="1">
                          <a:solidFill>
                            <a:srgbClr val="FF00FF"/>
                          </a:solidFill>
                        </a:rPr>
                        <a:t>input</a:t>
                      </a:r>
                      <a:r>
                        <a:rPr lang="en-US" dirty="0" err="1"/>
                        <a:t>.nextLong</a:t>
                      </a:r>
                      <a:r>
                        <a:rPr lang="en-US" dirty="0"/>
                        <a:t>();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float </a:t>
                      </a:r>
                      <a:r>
                        <a:rPr lang="en-US" dirty="0" err="1"/>
                        <a:t>flt</a:t>
                      </a:r>
                      <a:r>
                        <a:rPr lang="en-US" dirty="0"/>
                        <a:t>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flt</a:t>
                      </a:r>
                      <a:r>
                        <a:rPr lang="en-US" dirty="0"/>
                        <a:t> = </a:t>
                      </a:r>
                      <a:r>
                        <a:rPr lang="en-US" dirty="0" err="1">
                          <a:solidFill>
                            <a:srgbClr val="FF00FF"/>
                          </a:solidFill>
                        </a:rPr>
                        <a:t>input</a:t>
                      </a:r>
                      <a:r>
                        <a:rPr lang="en-US" dirty="0" err="1"/>
                        <a:t>.nextFloat</a:t>
                      </a:r>
                      <a:r>
                        <a:rPr lang="en-US" dirty="0"/>
                        <a:t>();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char </a:t>
                      </a:r>
                      <a:r>
                        <a:rPr lang="en-US" dirty="0" err="1"/>
                        <a:t>ch</a:t>
                      </a:r>
                      <a:r>
                        <a:rPr lang="en-US" dirty="0"/>
                        <a:t>;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ch</a:t>
                      </a:r>
                      <a:r>
                        <a:rPr lang="en-US" dirty="0"/>
                        <a:t> = </a:t>
                      </a:r>
                      <a:r>
                        <a:rPr lang="en-US" dirty="0" err="1">
                          <a:solidFill>
                            <a:srgbClr val="FF00FF"/>
                          </a:solidFill>
                        </a:rPr>
                        <a:t>input</a:t>
                      </a:r>
                      <a:r>
                        <a:rPr lang="en-US" dirty="0" err="1"/>
                        <a:t>.next</a:t>
                      </a:r>
                      <a:r>
                        <a:rPr lang="en-US" dirty="0"/>
                        <a:t>()</a:t>
                      </a:r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.</a:t>
                      </a:r>
                      <a:r>
                        <a:rPr lang="en-US" dirty="0" err="1">
                          <a:solidFill>
                            <a:srgbClr val="0000FF"/>
                          </a:solidFill>
                        </a:rPr>
                        <a:t>charAt</a:t>
                      </a:r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(0)</a:t>
                      </a:r>
                      <a:r>
                        <a:rPr lang="en-US" dirty="0"/>
                        <a:t>;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8613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1" grpId="0"/>
      <p:bldP spid="2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 </a:t>
            </a:r>
            <a:fld id="{D8D24581-BA14-4640-B752-9AB0FD1B9A37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16558"/>
            <a:ext cx="8229600" cy="792162"/>
          </a:xfr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Self-Check Exercises (1)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52737"/>
            <a:ext cx="8229600" cy="3528391"/>
          </a:xfrm>
        </p:spPr>
        <p:txBody>
          <a:bodyPr>
            <a:noAutofit/>
          </a:bodyPr>
          <a:lstStyle/>
          <a:p>
            <a:pPr algn="just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Write a program that gets an integer value and prints its double.</a:t>
            </a:r>
          </a:p>
          <a:p>
            <a:pPr algn="just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Write a program that gets a string and prints it concatenated with itself.</a:t>
            </a:r>
          </a:p>
          <a:p>
            <a:pPr algn="just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Write a program that gets a character value and prints it concatenated </a:t>
            </a:r>
            <a:r>
              <a:rPr lang="en-US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with itself.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 algn="just"/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1406" y="6496070"/>
            <a:ext cx="40005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W3.2 Input Statements</a:t>
            </a:r>
          </a:p>
        </p:txBody>
      </p:sp>
    </p:spTree>
    <p:extLst>
      <p:ext uri="{BB962C8B-B14F-4D97-AF65-F5344CB8AC3E}">
        <p14:creationId xmlns:p14="http://schemas.microsoft.com/office/powerpoint/2010/main" val="40666377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2382</TotalTime>
  <Words>1959</Words>
  <Application>Microsoft Macintosh PowerPoint</Application>
  <PresentationFormat>On-screen Show (4:3)</PresentationFormat>
  <Paragraphs>343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Lucida Sans Unicode</vt:lpstr>
      <vt:lpstr>Tahoma</vt:lpstr>
      <vt:lpstr>Verdana</vt:lpstr>
      <vt:lpstr>Wingdings</vt:lpstr>
      <vt:lpstr>Wingdings 2</vt:lpstr>
      <vt:lpstr>Wingdings 3</vt:lpstr>
      <vt:lpstr>Concourse</vt:lpstr>
      <vt:lpstr>  INPUT STATEMENTS</vt:lpstr>
      <vt:lpstr>Outline</vt:lpstr>
      <vt:lpstr>1. GIVING VALUES TO VARIABLES</vt:lpstr>
      <vt:lpstr>2. READING FROM KEYBOARD</vt:lpstr>
      <vt:lpstr>2. READING FROM KEYBOARD</vt:lpstr>
      <vt:lpstr>2. READING FROM KEYBOARD</vt:lpstr>
      <vt:lpstr>2. READING FROM KEYBOARD</vt:lpstr>
      <vt:lpstr>2. READING FROM KEYBOARD</vt:lpstr>
      <vt:lpstr>2. READING FROM KEYBOARD</vt:lpstr>
      <vt:lpstr>2. READING FROM KEYBOARD</vt:lpstr>
      <vt:lpstr>2. READING FROM KEYBOARD</vt:lpstr>
      <vt:lpstr>2. READING FROM KEYBOARD</vt:lpstr>
      <vt:lpstr>2. READING FROM KEYBOARD</vt:lpstr>
      <vt:lpstr>2. READING FROM KEYBOARD</vt:lpstr>
      <vt:lpstr>2. READING FROM KEYBOARD</vt:lpstr>
      <vt:lpstr>2. READING FROM KEYBOARD</vt:lpstr>
      <vt:lpstr>2. READING FROM KEYBOARD</vt:lpstr>
      <vt:lpstr>Self-Check Exercises (1)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INPUT/OUTPUT OPERATIONS</dc:title>
  <dc:creator>Soha S.Zaghloul</dc:creator>
  <cp:lastModifiedBy>عبدالعزيز محمد دخيل الحميضي</cp:lastModifiedBy>
  <cp:revision>78</cp:revision>
  <dcterms:created xsi:type="dcterms:W3CDTF">2015-02-03T19:26:57Z</dcterms:created>
  <dcterms:modified xsi:type="dcterms:W3CDTF">2024-02-14T06:14:13Z</dcterms:modified>
</cp:coreProperties>
</file>