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8"/>
  </p:notesMasterIdLst>
  <p:sldIdLst>
    <p:sldId id="256" r:id="rId2"/>
    <p:sldId id="257" r:id="rId3"/>
    <p:sldId id="258" r:id="rId4"/>
    <p:sldId id="260" r:id="rId5"/>
    <p:sldId id="261" r:id="rId6"/>
    <p:sldId id="264" r:id="rId7"/>
    <p:sldId id="265" r:id="rId8"/>
    <p:sldId id="262" r:id="rId9"/>
    <p:sldId id="263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CC0099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55" d="100"/>
          <a:sy n="55" d="100"/>
        </p:scale>
        <p:origin x="-946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6FA11C-3AEF-4C19-A5E2-54C907124CA7}" type="datetimeFigureOut">
              <a:rPr lang="en-US" smtClean="0"/>
              <a:pPr/>
              <a:t>12/7/2016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46A248-46FA-405C-83CA-86B737D2C1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626569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4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1471883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5880AD73-377E-4ADF-879E-49F8412AAFDB}" type="datetimeFigureOut">
              <a:rPr lang="en-US" smtClean="0"/>
              <a:pPr/>
              <a:t>12/7/2016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9FC0943E-70F7-43F6-9BC7-16F7CA81DD3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880AD73-377E-4ADF-879E-49F8412AAFDB}" type="datetimeFigureOut">
              <a:rPr lang="en-US" smtClean="0"/>
              <a:pPr/>
              <a:t>12/7/2016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FC0943E-70F7-43F6-9BC7-16F7CA81DD3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880AD73-377E-4ADF-879E-49F8412AAFDB}" type="datetimeFigureOut">
              <a:rPr lang="en-US" smtClean="0"/>
              <a:pPr/>
              <a:t>12/7/2016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FC0943E-70F7-43F6-9BC7-16F7CA81DD3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880AD73-377E-4ADF-879E-49F8412AAFDB}" type="datetimeFigureOut">
              <a:rPr lang="en-US" smtClean="0"/>
              <a:pPr/>
              <a:t>12/7/2016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FC0943E-70F7-43F6-9BC7-16F7CA81DD3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880AD73-377E-4ADF-879E-49F8412AAFDB}" type="datetimeFigureOut">
              <a:rPr lang="en-US" smtClean="0"/>
              <a:pPr/>
              <a:t>12/7/2016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FC0943E-70F7-43F6-9BC7-16F7CA81DD3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880AD73-377E-4ADF-879E-49F8412AAFDB}" type="datetimeFigureOut">
              <a:rPr lang="en-US" smtClean="0"/>
              <a:pPr/>
              <a:t>12/7/2016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FC0943E-70F7-43F6-9BC7-16F7CA81DD3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880AD73-377E-4ADF-879E-49F8412AAFDB}" type="datetimeFigureOut">
              <a:rPr lang="en-US" smtClean="0"/>
              <a:pPr/>
              <a:t>12/7/2016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FC0943E-70F7-43F6-9BC7-16F7CA81DD3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5880AD73-377E-4ADF-879E-49F8412AAFDB}" type="datetimeFigureOut">
              <a:rPr lang="en-US" smtClean="0"/>
              <a:pPr/>
              <a:t>12/7/2016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FC0943E-70F7-43F6-9BC7-16F7CA81DD3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5880AD73-377E-4ADF-879E-49F8412AAFDB}" type="datetimeFigureOut">
              <a:rPr lang="en-US" smtClean="0"/>
              <a:pPr/>
              <a:t>12/7/2016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9FC0943E-70F7-43F6-9BC7-16F7CA81DD3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880AD73-377E-4ADF-879E-49F8412AAFDB}" type="datetimeFigureOut">
              <a:rPr lang="en-US" smtClean="0"/>
              <a:pPr/>
              <a:t>12/7/2016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FC0943E-70F7-43F6-9BC7-16F7CA81DD3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880AD73-377E-4ADF-879E-49F8412AAFDB}" type="datetimeFigureOut">
              <a:rPr lang="en-US" smtClean="0"/>
              <a:pPr/>
              <a:t>12/7/2016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FC0943E-70F7-43F6-9BC7-16F7CA81DD3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5880AD73-377E-4ADF-879E-49F8412AAFDB}" type="datetimeFigureOut">
              <a:rPr lang="en-US" smtClean="0"/>
              <a:pPr/>
              <a:t>12/7/2016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9FC0943E-70F7-43F6-9BC7-16F7CA81DD3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Grp="1"/>
          </p:cNvSpPr>
          <p:nvPr>
            <p:ph type="ctrTitle"/>
          </p:nvPr>
        </p:nvSpPr>
        <p:spPr>
          <a:xfrm>
            <a:off x="1019543" y="2276872"/>
            <a:ext cx="7872937" cy="1800200"/>
          </a:xfrm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anchor="b">
            <a:normAutofit fontScale="90000"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5400" dirty="0">
                <a:solidFill>
                  <a:srgbClr val="C00000"/>
                </a:solidFill>
              </a:rPr>
              <a:t/>
            </a:r>
            <a:br>
              <a:rPr lang="en-US" sz="5400" dirty="0">
                <a:solidFill>
                  <a:srgbClr val="C00000"/>
                </a:solidFill>
              </a:rPr>
            </a:br>
            <a:r>
              <a:rPr lang="en-US" sz="5400" dirty="0">
                <a:solidFill>
                  <a:srgbClr val="C00000"/>
                </a:solidFill>
              </a:rPr>
              <a:t/>
            </a:r>
            <a:br>
              <a:rPr lang="en-US" sz="5400" dirty="0">
                <a:solidFill>
                  <a:srgbClr val="C00000"/>
                </a:solidFill>
              </a:rPr>
            </a:br>
            <a:r>
              <a:rPr lang="en-US" sz="5400" dirty="0" smtClean="0">
                <a:solidFill>
                  <a:srgbClr val="C00000"/>
                </a:solidFill>
              </a:rPr>
              <a:t>METHODS</a:t>
            </a:r>
            <a:endParaRPr lang="en-US" sz="5400" dirty="0">
              <a:solidFill>
                <a:srgbClr val="C00000"/>
              </a:solidFill>
            </a:endParaRPr>
          </a:p>
        </p:txBody>
      </p:sp>
      <p:sp>
        <p:nvSpPr>
          <p:cNvPr id="6" name="PPTShape_0"/>
          <p:cNvSpPr txBox="1">
            <a:spLocks/>
          </p:cNvSpPr>
          <p:nvPr/>
        </p:nvSpPr>
        <p:spPr>
          <a:xfrm>
            <a:off x="72008" y="5949280"/>
            <a:ext cx="1869423" cy="646331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>
            <a:defPPr>
              <a:defRPr lang="en-US"/>
            </a:defPPr>
            <a:lvl1pPr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Tahoma" charset="0"/>
                <a:ea typeface="ＭＳ Ｐゴシック" charset="0"/>
                <a:cs typeface="Arial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latin typeface="Tahoma" charset="0"/>
                <a:ea typeface="ＭＳ Ｐゴシック" charset="0"/>
                <a:cs typeface="Arial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latin typeface="Tahoma" charset="0"/>
                <a:ea typeface="ＭＳ Ｐゴシック" charset="0"/>
                <a:cs typeface="Arial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latin typeface="Tahoma" charset="0"/>
                <a:ea typeface="ＭＳ Ｐゴシック" charset="0"/>
                <a:cs typeface="Arial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latin typeface="Tahoma" charset="0"/>
                <a:ea typeface="ＭＳ Ｐゴシック" charset="0"/>
                <a:cs typeface="Arial" charset="0"/>
              </a:defRPr>
            </a:lvl5pPr>
            <a:lvl6pPr defTabSz="457200">
              <a:defRPr>
                <a:latin typeface="Tahoma" charset="0"/>
                <a:ea typeface="ＭＳ Ｐゴシック" charset="0"/>
                <a:cs typeface="Arial" charset="0"/>
              </a:defRPr>
            </a:lvl6pPr>
            <a:lvl7pPr defTabSz="457200">
              <a:defRPr>
                <a:latin typeface="Tahoma" charset="0"/>
                <a:ea typeface="ＭＳ Ｐゴシック" charset="0"/>
                <a:cs typeface="Arial" charset="0"/>
              </a:defRPr>
            </a:lvl7pPr>
            <a:lvl8pPr defTabSz="457200">
              <a:defRPr>
                <a:latin typeface="Tahoma" charset="0"/>
                <a:ea typeface="ＭＳ Ｐゴシック" charset="0"/>
                <a:cs typeface="Arial" charset="0"/>
              </a:defRPr>
            </a:lvl8pPr>
            <a:lvl9pPr defTabSz="457200">
              <a:defRPr>
                <a:latin typeface="Tahoma" charset="0"/>
                <a:ea typeface="ＭＳ Ｐゴシック" charset="0"/>
                <a:cs typeface="Arial" charset="0"/>
              </a:defRPr>
            </a:lvl9pPr>
          </a:lstStyle>
          <a:p>
            <a:r>
              <a:rPr lang="en-US" dirty="0" smtClean="0"/>
              <a:t>CS 1301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3131840" y="3933056"/>
            <a:ext cx="5760640" cy="12241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4000" dirty="0" smtClean="0">
                <a:solidFill>
                  <a:srgbClr val="00B0F0"/>
                </a:solidFill>
              </a:rPr>
              <a:t>Pre-defined</a:t>
            </a:r>
            <a:endParaRPr lang="en-US" sz="40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706016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0872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612648" y="1052736"/>
            <a:ext cx="8153400" cy="5616624"/>
          </a:xfrm>
          <a:prstGeom prst="foldedCorner">
            <a:avLst>
              <a:gd name="adj" fmla="val 36304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pPr marL="0" indent="0">
              <a:lnSpc>
                <a:spcPct val="90000"/>
              </a:lnSpc>
              <a:spcBef>
                <a:spcPts val="1200"/>
              </a:spcBef>
              <a:buNone/>
            </a:pPr>
            <a:r>
              <a:rPr lang="en-US" sz="2000" dirty="0" smtClean="0">
                <a:latin typeface="Tahoma" charset="0"/>
                <a:cs typeface="Arial" charset="0"/>
              </a:rPr>
              <a:t>1. Introduction</a:t>
            </a:r>
          </a:p>
          <a:p>
            <a:pPr marL="0" indent="0">
              <a:lnSpc>
                <a:spcPct val="90000"/>
              </a:lnSpc>
              <a:spcBef>
                <a:spcPts val="1200"/>
              </a:spcBef>
              <a:buNone/>
            </a:pPr>
            <a:r>
              <a:rPr lang="en-US" sz="2000" dirty="0" smtClean="0">
                <a:latin typeface="Tahoma" charset="0"/>
                <a:cs typeface="Arial" charset="0"/>
              </a:rPr>
              <a:t>2. </a:t>
            </a:r>
            <a:r>
              <a:rPr lang="en-US" sz="2000" dirty="0" smtClean="0">
                <a:solidFill>
                  <a:srgbClr val="00B0F0"/>
                </a:solidFill>
                <a:latin typeface="Tahoma" charset="0"/>
                <a:cs typeface="Arial" charset="0"/>
              </a:rPr>
              <a:t>import static </a:t>
            </a:r>
            <a:r>
              <a:rPr lang="en-US" sz="2000" dirty="0" smtClean="0">
                <a:latin typeface="Tahoma" charset="0"/>
                <a:cs typeface="Arial" charset="0"/>
              </a:rPr>
              <a:t>Statements</a:t>
            </a:r>
          </a:p>
          <a:p>
            <a:pPr marL="0" indent="0">
              <a:lnSpc>
                <a:spcPct val="90000"/>
              </a:lnSpc>
              <a:spcBef>
                <a:spcPts val="1200"/>
              </a:spcBef>
              <a:buNone/>
            </a:pPr>
            <a:r>
              <a:rPr lang="en-US" sz="2000" dirty="0">
                <a:latin typeface="Tahoma" charset="0"/>
                <a:cs typeface="Arial" charset="0"/>
              </a:rPr>
              <a:t>3</a:t>
            </a:r>
            <a:r>
              <a:rPr lang="en-US" sz="2000" dirty="0" smtClean="0">
                <a:latin typeface="Tahoma" charset="0"/>
                <a:cs typeface="Arial" charset="0"/>
              </a:rPr>
              <a:t>. Mathematical Methods</a:t>
            </a:r>
          </a:p>
          <a:p>
            <a:pPr marL="0" indent="0">
              <a:lnSpc>
                <a:spcPct val="90000"/>
              </a:lnSpc>
              <a:spcBef>
                <a:spcPts val="1200"/>
              </a:spcBef>
              <a:buNone/>
            </a:pPr>
            <a:r>
              <a:rPr lang="en-US" sz="2000" dirty="0">
                <a:latin typeface="Tahoma" charset="0"/>
                <a:cs typeface="Arial" charset="0"/>
              </a:rPr>
              <a:t>	</a:t>
            </a:r>
            <a:r>
              <a:rPr lang="en-US" sz="2000" dirty="0" smtClean="0">
                <a:solidFill>
                  <a:srgbClr val="0000FF"/>
                </a:solidFill>
                <a:latin typeface="Tahoma" charset="0"/>
                <a:cs typeface="Arial" charset="0"/>
              </a:rPr>
              <a:t>3.1 Absolute value</a:t>
            </a:r>
          </a:p>
          <a:p>
            <a:pPr marL="0" indent="0">
              <a:lnSpc>
                <a:spcPct val="90000"/>
              </a:lnSpc>
              <a:spcBef>
                <a:spcPts val="1200"/>
              </a:spcBef>
              <a:buNone/>
            </a:pPr>
            <a:r>
              <a:rPr lang="en-US" sz="2000" dirty="0">
                <a:solidFill>
                  <a:srgbClr val="0000FF"/>
                </a:solidFill>
                <a:latin typeface="Tahoma" charset="0"/>
                <a:cs typeface="Arial" charset="0"/>
              </a:rPr>
              <a:t>	</a:t>
            </a:r>
            <a:r>
              <a:rPr lang="en-US" sz="2000" dirty="0" smtClean="0">
                <a:solidFill>
                  <a:srgbClr val="0000FF"/>
                </a:solidFill>
                <a:latin typeface="Tahoma" charset="0"/>
                <a:cs typeface="Arial" charset="0"/>
              </a:rPr>
              <a:t>3.2 Approximation methods</a:t>
            </a:r>
          </a:p>
          <a:p>
            <a:pPr marL="0" indent="0">
              <a:lnSpc>
                <a:spcPct val="90000"/>
              </a:lnSpc>
              <a:spcBef>
                <a:spcPts val="1200"/>
              </a:spcBef>
              <a:buNone/>
            </a:pPr>
            <a:r>
              <a:rPr lang="en-US" sz="2000" dirty="0">
                <a:solidFill>
                  <a:srgbClr val="0000FF"/>
                </a:solidFill>
                <a:latin typeface="Tahoma" charset="0"/>
                <a:cs typeface="Arial" charset="0"/>
              </a:rPr>
              <a:t>	</a:t>
            </a:r>
            <a:r>
              <a:rPr lang="en-US" sz="2000" dirty="0" smtClean="0">
                <a:solidFill>
                  <a:srgbClr val="0000FF"/>
                </a:solidFill>
                <a:latin typeface="Tahoma" charset="0"/>
                <a:cs typeface="Arial" charset="0"/>
              </a:rPr>
              <a:t>3.3 Power methods</a:t>
            </a:r>
          </a:p>
          <a:p>
            <a:pPr marL="0" indent="0">
              <a:lnSpc>
                <a:spcPct val="90000"/>
              </a:lnSpc>
              <a:spcBef>
                <a:spcPts val="1200"/>
              </a:spcBef>
              <a:buNone/>
            </a:pPr>
            <a:r>
              <a:rPr lang="en-US" sz="2000" dirty="0">
                <a:solidFill>
                  <a:srgbClr val="0000FF"/>
                </a:solidFill>
                <a:latin typeface="Tahoma" charset="0"/>
                <a:cs typeface="Arial" charset="0"/>
              </a:rPr>
              <a:t>	</a:t>
            </a:r>
            <a:r>
              <a:rPr lang="en-US" sz="2000" dirty="0" smtClean="0">
                <a:solidFill>
                  <a:srgbClr val="0000FF"/>
                </a:solidFill>
                <a:latin typeface="Tahoma" charset="0"/>
                <a:cs typeface="Arial" charset="0"/>
              </a:rPr>
              <a:t>3.4 Comparison methods</a:t>
            </a:r>
          </a:p>
          <a:p>
            <a:pPr marL="0" indent="0">
              <a:lnSpc>
                <a:spcPct val="90000"/>
              </a:lnSpc>
              <a:spcBef>
                <a:spcPts val="1200"/>
              </a:spcBef>
              <a:buNone/>
            </a:pPr>
            <a:r>
              <a:rPr lang="en-US" sz="2000" dirty="0">
                <a:solidFill>
                  <a:srgbClr val="0000FF"/>
                </a:solidFill>
                <a:latin typeface="Tahoma" charset="0"/>
                <a:cs typeface="Arial" charset="0"/>
              </a:rPr>
              <a:t>	</a:t>
            </a:r>
            <a:r>
              <a:rPr lang="en-US" sz="2000" dirty="0" smtClean="0">
                <a:solidFill>
                  <a:srgbClr val="0000FF"/>
                </a:solidFill>
                <a:latin typeface="Tahoma" charset="0"/>
                <a:cs typeface="Arial" charset="0"/>
              </a:rPr>
              <a:t>3.5 Trigonometric methods</a:t>
            </a:r>
          </a:p>
          <a:p>
            <a:pPr marL="0" indent="0">
              <a:lnSpc>
                <a:spcPct val="90000"/>
              </a:lnSpc>
              <a:spcBef>
                <a:spcPts val="1200"/>
              </a:spcBef>
              <a:buNone/>
            </a:pPr>
            <a:r>
              <a:rPr lang="en-US" sz="2000" dirty="0">
                <a:latin typeface="Tahoma" charset="0"/>
                <a:cs typeface="Arial" charset="0"/>
              </a:rPr>
              <a:t>4</a:t>
            </a:r>
            <a:r>
              <a:rPr lang="en-US" sz="2000" dirty="0" smtClean="0">
                <a:latin typeface="Tahoma" charset="0"/>
                <a:cs typeface="Arial" charset="0"/>
              </a:rPr>
              <a:t>. Character Manipulation Methods</a:t>
            </a:r>
          </a:p>
          <a:p>
            <a:pPr marL="0" indent="0">
              <a:lnSpc>
                <a:spcPct val="90000"/>
              </a:lnSpc>
              <a:spcBef>
                <a:spcPts val="1200"/>
              </a:spcBef>
              <a:buNone/>
            </a:pPr>
            <a:endParaRPr lang="en-US" sz="2000" dirty="0" smtClean="0">
              <a:latin typeface="Tahoma" charset="0"/>
              <a:cs typeface="Arial" charset="0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777240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Outline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604403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28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1. Reminder: slide 3 in Lecture W4.2</a:t>
            </a:r>
            <a:endParaRPr lang="en-US" sz="2800" dirty="0">
              <a:solidFill>
                <a:srgbClr val="00B0F0"/>
              </a:solidFill>
              <a:latin typeface="Tahoma" charset="0"/>
              <a:cs typeface="Arial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51520" y="992922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</a:t>
            </a: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predefined method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 a method whose statements are written (defined) by Java. The programmer uses it immediately.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51520" y="1785010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fact, we already used predefined methods in previous lectures such as </a:t>
            </a:r>
            <a:r>
              <a:rPr lang="en-US" sz="2000" dirty="0" err="1" smtClean="0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nextInt</a:t>
            </a:r>
            <a:r>
              <a:rPr lang="en-US" sz="2000" dirty="0" smtClean="0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()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2000" dirty="0" err="1" smtClean="0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nextDouble</a:t>
            </a:r>
            <a:r>
              <a:rPr lang="en-US" sz="2000" dirty="0" smtClean="0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()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etc…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34" name="Group 33"/>
          <p:cNvGrpSpPr/>
          <p:nvPr/>
        </p:nvGrpSpPr>
        <p:grpSpPr>
          <a:xfrm>
            <a:off x="179513" y="2708920"/>
            <a:ext cx="8784976" cy="1200329"/>
            <a:chOff x="323529" y="1236822"/>
            <a:chExt cx="7848872" cy="1128695"/>
          </a:xfrm>
        </p:grpSpPr>
        <p:sp>
          <p:nvSpPr>
            <p:cNvPr id="35" name="TextBox 34"/>
            <p:cNvSpPr txBox="1"/>
            <p:nvPr/>
          </p:nvSpPr>
          <p:spPr>
            <a:xfrm>
              <a:off x="773874" y="1236822"/>
              <a:ext cx="7398527" cy="1128695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rgbClr val="00B0F0"/>
                  </a:solidFill>
                </a:rPr>
                <a:t>import</a:t>
              </a:r>
              <a:r>
                <a:rPr lang="en-US" dirty="0" smtClean="0">
                  <a:solidFill>
                    <a:srgbClr val="0000FF"/>
                  </a:solidFill>
                </a:rPr>
                <a:t> </a:t>
              </a:r>
              <a:r>
                <a:rPr lang="en-US" dirty="0" err="1" smtClean="0">
                  <a:solidFill>
                    <a:srgbClr val="0000FF"/>
                  </a:solidFill>
                </a:rPr>
                <a:t>java.util</a:t>
              </a:r>
              <a:r>
                <a:rPr lang="en-US" dirty="0" smtClean="0">
                  <a:solidFill>
                    <a:srgbClr val="0000FF"/>
                  </a:solidFill>
                </a:rPr>
                <a:t>.*;	</a:t>
              </a:r>
              <a:r>
                <a:rPr lang="en-US" dirty="0" smtClean="0">
                  <a:solidFill>
                    <a:srgbClr val="00B050"/>
                  </a:solidFill>
                </a:rPr>
                <a:t>//contains the class Scanner</a:t>
              </a:r>
              <a:endParaRPr lang="en-US" dirty="0">
                <a:solidFill>
                  <a:srgbClr val="00B050"/>
                </a:solidFill>
              </a:endParaRPr>
            </a:p>
            <a:p>
              <a:r>
                <a:rPr lang="en-US" dirty="0" smtClean="0">
                  <a:solidFill>
                    <a:srgbClr val="00B0F0"/>
                  </a:solidFill>
                </a:rPr>
                <a:t>static</a:t>
              </a:r>
              <a:r>
                <a:rPr lang="en-US" dirty="0" smtClean="0">
                  <a:solidFill>
                    <a:srgbClr val="0000FF"/>
                  </a:solidFill>
                </a:rPr>
                <a:t> Scanner console = </a:t>
              </a:r>
              <a:r>
                <a:rPr lang="en-US" dirty="0" smtClean="0">
                  <a:solidFill>
                    <a:srgbClr val="00B0F0"/>
                  </a:solidFill>
                </a:rPr>
                <a:t>new </a:t>
              </a:r>
              <a:r>
                <a:rPr lang="en-US" dirty="0" smtClean="0">
                  <a:solidFill>
                    <a:srgbClr val="0000FF"/>
                  </a:solidFill>
                </a:rPr>
                <a:t>Scanner (System.in);</a:t>
              </a:r>
            </a:p>
            <a:p>
              <a:r>
                <a:rPr lang="en-US" dirty="0" err="1" smtClean="0">
                  <a:solidFill>
                    <a:srgbClr val="00B0F0"/>
                  </a:solidFill>
                </a:rPr>
                <a:t>int</a:t>
              </a:r>
              <a:r>
                <a:rPr lang="en-US" dirty="0" smtClean="0">
                  <a:solidFill>
                    <a:srgbClr val="0000FF"/>
                  </a:solidFill>
                </a:rPr>
                <a:t> input;</a:t>
              </a:r>
              <a:endParaRPr lang="en-US" dirty="0" smtClean="0">
                <a:solidFill>
                  <a:srgbClr val="00B050"/>
                </a:solidFill>
              </a:endParaRPr>
            </a:p>
            <a:p>
              <a:r>
                <a:rPr lang="en-US" dirty="0" smtClean="0">
                  <a:solidFill>
                    <a:srgbClr val="0000FF"/>
                  </a:solidFill>
                </a:rPr>
                <a:t>input = </a:t>
              </a:r>
              <a:r>
                <a:rPr lang="en-US" dirty="0" err="1" smtClean="0">
                  <a:solidFill>
                    <a:srgbClr val="0000FF"/>
                  </a:solidFill>
                </a:rPr>
                <a:t>console.</a:t>
              </a:r>
              <a:r>
                <a:rPr lang="en-US" dirty="0" err="1" smtClean="0">
                  <a:solidFill>
                    <a:srgbClr val="00B050"/>
                  </a:solidFill>
                </a:rPr>
                <a:t>nextInt</a:t>
              </a:r>
              <a:r>
                <a:rPr lang="en-US" dirty="0" smtClean="0">
                  <a:solidFill>
                    <a:srgbClr val="00B050"/>
                  </a:solidFill>
                </a:rPr>
                <a:t>()</a:t>
              </a:r>
              <a:r>
                <a:rPr lang="en-US" dirty="0" smtClean="0">
                  <a:solidFill>
                    <a:srgbClr val="0000FF"/>
                  </a:solidFill>
                </a:rPr>
                <a:t>;</a:t>
              </a:r>
              <a:r>
                <a:rPr lang="en-US" dirty="0" smtClean="0">
                  <a:solidFill>
                    <a:srgbClr val="00B050"/>
                  </a:solidFill>
                </a:rPr>
                <a:t>//</a:t>
              </a:r>
              <a:r>
                <a:rPr lang="en-US" dirty="0" err="1" smtClean="0">
                  <a:solidFill>
                    <a:srgbClr val="00B050"/>
                  </a:solidFill>
                </a:rPr>
                <a:t>nextInt</a:t>
              </a:r>
              <a:r>
                <a:rPr lang="en-US" dirty="0" smtClean="0">
                  <a:solidFill>
                    <a:srgbClr val="00B050"/>
                  </a:solidFill>
                </a:rPr>
                <a:t>() is a method predefined in Scanner    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23529" y="1236822"/>
              <a:ext cx="386010" cy="1128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4</a:t>
              </a:r>
              <a:endParaRPr lang="en-US" dirty="0" smtClean="0">
                <a:solidFill>
                  <a:srgbClr val="FF0000"/>
                </a:solidFill>
              </a:endParaRPr>
            </a:p>
          </p:txBody>
        </p:sp>
      </p:grpSp>
      <p:sp>
        <p:nvSpPr>
          <p:cNvPr id="37" name="Rounded Rectangle 36"/>
          <p:cNvSpPr/>
          <p:nvPr/>
        </p:nvSpPr>
        <p:spPr>
          <a:xfrm>
            <a:off x="7380312" y="476672"/>
            <a:ext cx="1512168" cy="504056"/>
          </a:xfrm>
          <a:prstGeom prst="roundRect">
            <a:avLst/>
          </a:prstGeom>
          <a:solidFill>
            <a:srgbClr val="0000FF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REMINDER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79512" y="6165304"/>
            <a:ext cx="8807896" cy="504056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In our course, predefined methods are written from now on in </a:t>
            </a:r>
            <a:r>
              <a:rPr lang="en-US" dirty="0" smtClean="0">
                <a:solidFill>
                  <a:srgbClr val="00B050"/>
                </a:solidFill>
              </a:rPr>
              <a:t>green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C0F99-418A-47AD-8EE9-8B4FF28C0C0C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985696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/>
          <p:cNvSpPr txBox="1"/>
          <p:nvPr/>
        </p:nvSpPr>
        <p:spPr>
          <a:xfrm>
            <a:off x="107504" y="5539298"/>
            <a:ext cx="8928992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you want to generate a random value of type </a:t>
            </a:r>
            <a:r>
              <a:rPr lang="en-US" dirty="0" err="1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that ranges between 0 (inclusive) and 1000 (exclusive), do the following:</a:t>
            </a:r>
          </a:p>
          <a:p>
            <a:pPr>
              <a:buClr>
                <a:srgbClr val="FF0000"/>
              </a:buClr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  <a:r>
              <a:rPr lang="en-US" dirty="0" err="1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num</a:t>
            </a:r>
            <a:r>
              <a:rPr lang="en-US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= (</a:t>
            </a:r>
            <a:r>
              <a:rPr lang="en-US" dirty="0" err="1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</a:t>
            </a:r>
            <a:r>
              <a:rPr lang="en-US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)(</a:t>
            </a:r>
            <a:r>
              <a:rPr lang="en-US" dirty="0" err="1" smtClean="0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Math.random</a:t>
            </a:r>
            <a:r>
              <a:rPr lang="en-US" dirty="0" smtClean="0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() </a:t>
            </a:r>
            <a:r>
              <a:rPr lang="en-US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* 1000) </a:t>
            </a:r>
            <a:r>
              <a:rPr lang="en-US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 </a:t>
            </a:r>
            <a:r>
              <a:rPr lang="en-US" dirty="0" smtClean="0">
                <a:solidFill>
                  <a:srgbClr val="CC00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((</a:t>
            </a:r>
            <a:r>
              <a:rPr lang="en-US" dirty="0" err="1" smtClean="0">
                <a:solidFill>
                  <a:srgbClr val="CC00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num</a:t>
            </a:r>
            <a:r>
              <a:rPr lang="en-US" dirty="0" smtClean="0">
                <a:solidFill>
                  <a:srgbClr val="CC00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 &gt;=0) &amp;&amp; (</a:t>
            </a:r>
            <a:r>
              <a:rPr lang="en-US" dirty="0" err="1" smtClean="0">
                <a:solidFill>
                  <a:srgbClr val="CC00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num</a:t>
            </a:r>
            <a:r>
              <a:rPr lang="en-US" dirty="0" smtClean="0">
                <a:solidFill>
                  <a:srgbClr val="CC00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 &lt; 1000))</a:t>
            </a:r>
          </a:p>
          <a:p>
            <a:pPr>
              <a:buClr>
                <a:srgbClr val="FF0000"/>
              </a:buClr>
            </a:pPr>
            <a:r>
              <a:rPr lang="en-US" dirty="0" smtClean="0">
                <a:solidFill>
                  <a:srgbClr val="CC00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and so on…</a:t>
            </a:r>
            <a:endParaRPr lang="en-US" dirty="0">
              <a:solidFill>
                <a:srgbClr val="CC0099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Random-Generated Numbers</a:t>
            </a:r>
            <a:endParaRPr lang="en-US" b="1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153400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28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Reminder: Slide 20 in Lecture W9.1-2</a:t>
            </a:r>
            <a:endParaRPr lang="en-US" sz="28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07504" y="1268760"/>
            <a:ext cx="8928992" cy="1008112"/>
          </a:xfrm>
          <a:prstGeom prst="roundRect">
            <a:avLst>
              <a:gd name="adj" fmla="val 4976"/>
            </a:avLst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en-US" sz="1600" dirty="0" smtClean="0"/>
              <a:t>Write a program that prompts the user to guess a number between 0 and 100; then displays an appropriate message with each guess. The guess is to be compared with a generated random number. The program also outputs the number of trials at the end.</a:t>
            </a:r>
          </a:p>
          <a:p>
            <a:endParaRPr lang="en-US" sz="1600" dirty="0" smtClean="0"/>
          </a:p>
        </p:txBody>
      </p:sp>
      <p:sp>
        <p:nvSpPr>
          <p:cNvPr id="20" name="TextBox 19"/>
          <p:cNvSpPr txBox="1"/>
          <p:nvPr/>
        </p:nvSpPr>
        <p:spPr>
          <a:xfrm>
            <a:off x="107504" y="2276872"/>
            <a:ext cx="8928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random number is generated using the pre-defined method </a:t>
            </a:r>
            <a:r>
              <a:rPr lang="en-US" dirty="0" smtClean="0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random()</a:t>
            </a: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7504" y="2564904"/>
            <a:ext cx="8928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random()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</a:t>
            </a: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elongs to the pre-defined class </a:t>
            </a:r>
            <a:r>
              <a:rPr lang="en-US" dirty="0" smtClean="0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Math</a:t>
            </a: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7504" y="2875970"/>
            <a:ext cx="8928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So, it is written as </a:t>
            </a:r>
            <a:r>
              <a:rPr lang="en-US" dirty="0" err="1" smtClean="0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Math.random</a:t>
            </a:r>
            <a:r>
              <a:rPr lang="en-US" dirty="0" smtClean="0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()</a:t>
            </a: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7504" y="3187036"/>
            <a:ext cx="8928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</a:t>
            </a:r>
            <a:r>
              <a:rPr lang="en-US" dirty="0" smtClean="0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Math </a:t>
            </a: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class belongs to the package </a:t>
            </a:r>
            <a:r>
              <a:rPr lang="en-US" dirty="0" err="1" smtClean="0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java.lang</a:t>
            </a:r>
            <a:r>
              <a:rPr lang="en-US" dirty="0" smtClean="0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.*</a:t>
            </a: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7504" y="3498102"/>
            <a:ext cx="89289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 err="1" smtClean="0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Math.random</a:t>
            </a:r>
            <a:r>
              <a:rPr lang="en-US" dirty="0" smtClean="0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() </a:t>
            </a: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returns a value of type </a:t>
            </a:r>
            <a:r>
              <a:rPr lang="en-US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double </a:t>
            </a: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greater than or equal to zero and less than 1.0. </a:t>
            </a:r>
            <a:r>
              <a:rPr lang="en-US" dirty="0" smtClean="0">
                <a:solidFill>
                  <a:srgbClr val="CC00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((</a:t>
            </a:r>
            <a:r>
              <a:rPr lang="en-US" dirty="0" err="1" smtClean="0">
                <a:solidFill>
                  <a:srgbClr val="CC00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Math.random</a:t>
            </a:r>
            <a:r>
              <a:rPr lang="en-US" dirty="0" smtClean="0">
                <a:solidFill>
                  <a:srgbClr val="CC00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() &gt;= 0.0) &amp;&amp; (</a:t>
            </a:r>
            <a:r>
              <a:rPr lang="en-US" dirty="0" err="1" smtClean="0">
                <a:solidFill>
                  <a:srgbClr val="CC00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Math.random</a:t>
            </a:r>
            <a:r>
              <a:rPr lang="en-US" dirty="0" smtClean="0">
                <a:solidFill>
                  <a:srgbClr val="CC00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() &lt; 1.0))</a:t>
            </a: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7504" y="4086167"/>
            <a:ext cx="89289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you want to generate a random value of type </a:t>
            </a:r>
            <a:r>
              <a:rPr lang="en-US" dirty="0" err="1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</a:t>
            </a: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use type casting as follows:</a:t>
            </a:r>
          </a:p>
          <a:p>
            <a:pPr>
              <a:buClr>
                <a:srgbClr val="FF0000"/>
              </a:buClr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  <a:r>
              <a:rPr lang="en-US" dirty="0" err="1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num</a:t>
            </a:r>
            <a:r>
              <a:rPr lang="en-US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= (</a:t>
            </a:r>
            <a:r>
              <a:rPr lang="en-US" dirty="0" err="1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</a:t>
            </a:r>
            <a:r>
              <a:rPr lang="en-US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)(</a:t>
            </a:r>
            <a:r>
              <a:rPr lang="en-US" dirty="0" err="1" smtClean="0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Math.random</a:t>
            </a:r>
            <a:r>
              <a:rPr lang="en-US" dirty="0" smtClean="0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()</a:t>
            </a:r>
            <a:r>
              <a:rPr lang="en-US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</a:t>
            </a:r>
            <a:r>
              <a:rPr lang="en-US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 </a:t>
            </a:r>
            <a:r>
              <a:rPr lang="en-US" dirty="0" smtClean="0">
                <a:solidFill>
                  <a:srgbClr val="CC00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((</a:t>
            </a:r>
            <a:r>
              <a:rPr lang="en-US" dirty="0" err="1" smtClean="0">
                <a:solidFill>
                  <a:srgbClr val="CC00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num</a:t>
            </a:r>
            <a:r>
              <a:rPr lang="en-US" dirty="0" smtClean="0">
                <a:solidFill>
                  <a:srgbClr val="CC00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 &gt;=0) &amp;&amp; (</a:t>
            </a:r>
            <a:r>
              <a:rPr lang="en-US" dirty="0" err="1" smtClean="0">
                <a:solidFill>
                  <a:srgbClr val="CC00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num</a:t>
            </a:r>
            <a:r>
              <a:rPr lang="en-US" dirty="0" smtClean="0">
                <a:solidFill>
                  <a:srgbClr val="CC00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 &lt; 1))</a:t>
            </a:r>
            <a:endParaRPr lang="en-US" dirty="0">
              <a:solidFill>
                <a:srgbClr val="CC0099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7504" y="4674232"/>
            <a:ext cx="89289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you want to generate a random value of type </a:t>
            </a:r>
            <a:r>
              <a:rPr lang="en-US" dirty="0" err="1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that ranges between 0 (inclusive) and 100 (exclusive), do the following:</a:t>
            </a:r>
          </a:p>
          <a:p>
            <a:pPr>
              <a:buClr>
                <a:srgbClr val="FF0000"/>
              </a:buClr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  <a:r>
              <a:rPr lang="en-US" dirty="0" err="1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num</a:t>
            </a:r>
            <a:r>
              <a:rPr lang="en-US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= (</a:t>
            </a:r>
            <a:r>
              <a:rPr lang="en-US" dirty="0" err="1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</a:t>
            </a:r>
            <a:r>
              <a:rPr lang="en-US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)(</a:t>
            </a:r>
            <a:r>
              <a:rPr lang="en-US" dirty="0" err="1" smtClean="0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Math.random</a:t>
            </a:r>
            <a:r>
              <a:rPr lang="en-US" dirty="0" smtClean="0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() </a:t>
            </a:r>
            <a:r>
              <a:rPr lang="en-US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* 100) </a:t>
            </a:r>
            <a:r>
              <a:rPr lang="en-US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 </a:t>
            </a:r>
            <a:r>
              <a:rPr lang="en-US" dirty="0" smtClean="0">
                <a:solidFill>
                  <a:srgbClr val="CC00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((</a:t>
            </a:r>
            <a:r>
              <a:rPr lang="en-US" dirty="0" err="1" smtClean="0">
                <a:solidFill>
                  <a:srgbClr val="CC00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num</a:t>
            </a:r>
            <a:r>
              <a:rPr lang="en-US" dirty="0" smtClean="0">
                <a:solidFill>
                  <a:srgbClr val="CC00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 &gt;=0) &amp;&amp; (</a:t>
            </a:r>
            <a:r>
              <a:rPr lang="en-US" dirty="0" err="1" smtClean="0">
                <a:solidFill>
                  <a:srgbClr val="CC00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num</a:t>
            </a:r>
            <a:r>
              <a:rPr lang="en-US" dirty="0" smtClean="0">
                <a:solidFill>
                  <a:srgbClr val="CC00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 &lt; 100))</a:t>
            </a:r>
            <a:endParaRPr lang="en-US" dirty="0">
              <a:solidFill>
                <a:srgbClr val="CC0099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236296" y="548680"/>
            <a:ext cx="1512168" cy="504056"/>
          </a:xfrm>
          <a:prstGeom prst="roundRect">
            <a:avLst/>
          </a:prstGeom>
          <a:solidFill>
            <a:srgbClr val="0000FF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REMINDER</a:t>
            </a:r>
          </a:p>
        </p:txBody>
      </p:sp>
    </p:spTree>
    <p:custDataLst>
      <p:tags r:id="rId1"/>
    </p:custDataLst>
    <p:extLst>
      <p:ext uri="{BB962C8B-B14F-4D97-AF65-F5344CB8AC3E}">
        <p14:creationId xmlns="" xmlns:p14="http://schemas.microsoft.com/office/powerpoint/2010/main" val="124678916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1</a:t>
            </a:r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. INTRODUCTION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323528" y="764704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this lecture more predefined methods are exposed.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23528" y="1195756"/>
            <a:ext cx="86409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exposed predefined methods may be categorized as follows:</a:t>
            </a:r>
          </a:p>
          <a:p>
            <a:pPr marL="800100" lvl="1" indent="-342900"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Mathematical Methods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belong to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class </a:t>
            </a:r>
            <a:r>
              <a:rPr lang="en-US" sz="2000" dirty="0" smtClean="0">
                <a:solidFill>
                  <a:srgbClr val="CC00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Math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marL="800100" lvl="1" indent="-342900"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Character Manipulation Methods: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belong to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class </a:t>
            </a:r>
            <a:r>
              <a:rPr lang="en-US" sz="2000" dirty="0" smtClean="0">
                <a:solidFill>
                  <a:srgbClr val="CC00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Character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23528" y="2242361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All methods in this lecture belong to the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package </a:t>
            </a:r>
            <a:r>
              <a:rPr lang="en-US" sz="2000" dirty="0" err="1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java.lang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3528" y="2673413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This package is automatically imported by Java. So, the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import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statement is not needed.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3528" y="3412241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Also, all these methods are defined as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public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static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3528" y="3843293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This means that they are called as follows:</a:t>
            </a:r>
          </a:p>
          <a:p>
            <a:pPr algn="ctr">
              <a:buClr>
                <a:srgbClr val="FF0000"/>
              </a:buClr>
            </a:pPr>
            <a:r>
              <a:rPr lang="en-US" sz="2000" dirty="0" err="1" smtClean="0">
                <a:solidFill>
                  <a:srgbClr val="CC00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className</a:t>
            </a:r>
            <a:r>
              <a:rPr lang="en-US" sz="20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r>
              <a:rPr lang="en-US" sz="2000" dirty="0" err="1" smtClean="0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methodName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parameters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3528" y="4582121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 example: </a:t>
            </a:r>
            <a:r>
              <a:rPr lang="en-US" sz="2000" dirty="0" err="1" smtClean="0">
                <a:solidFill>
                  <a:srgbClr val="CC00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Math</a:t>
            </a:r>
            <a:r>
              <a:rPr lang="en-US" sz="20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r>
              <a:rPr lang="en-US" sz="2000" dirty="0" err="1" smtClean="0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abs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returns the absolute value of 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528" y="5013176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err="1" smtClean="0">
                <a:solidFill>
                  <a:srgbClr val="CC00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Character</a:t>
            </a:r>
            <a:r>
              <a:rPr lang="en-US" sz="20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r>
              <a:rPr lang="en-US" sz="2000" dirty="0" err="1" smtClean="0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toLowerCase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2000" dirty="0" err="1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returns the lower case character of </a:t>
            </a:r>
            <a:r>
              <a:rPr lang="en-US" sz="2000" dirty="0" err="1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</a:t>
            </a:r>
            <a:r>
              <a:rPr lang="en-US" sz="20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20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763688" y="5447546"/>
            <a:ext cx="72008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1600" dirty="0" smtClean="0">
                <a:solidFill>
                  <a:srgbClr val="CC00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Math </a:t>
            </a:r>
            <a:r>
              <a:rPr lang="en-US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&amp;</a:t>
            </a:r>
            <a:r>
              <a:rPr lang="en-US" sz="1600" dirty="0" smtClean="0">
                <a:solidFill>
                  <a:srgbClr val="CC00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Character </a:t>
            </a:r>
            <a:r>
              <a:rPr lang="en-US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are class names.</a:t>
            </a:r>
          </a:p>
          <a:p>
            <a:pPr marL="342900" indent="-342900"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1600" dirty="0" smtClean="0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abs </a:t>
            </a:r>
            <a:r>
              <a:rPr lang="en-US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&amp;</a:t>
            </a:r>
            <a:r>
              <a:rPr lang="en-US" sz="1600" dirty="0" smtClean="0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dirty="0" err="1" smtClean="0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toLowerCase</a:t>
            </a:r>
            <a:r>
              <a:rPr lang="en-US" sz="1600" dirty="0" smtClean="0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are method names.</a:t>
            </a:r>
          </a:p>
          <a:p>
            <a:pPr marL="342900" indent="-342900"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16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 </a:t>
            </a:r>
            <a:r>
              <a:rPr lang="en-US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 </a:t>
            </a:r>
            <a:r>
              <a:rPr lang="en-US" sz="1600" dirty="0" err="1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</a:t>
            </a:r>
            <a:r>
              <a:rPr lang="en-US" sz="16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are formal parameters.</a:t>
            </a:r>
          </a:p>
        </p:txBody>
      </p:sp>
    </p:spTree>
    <p:extLst>
      <p:ext uri="{BB962C8B-B14F-4D97-AF65-F5344CB8AC3E}">
        <p14:creationId xmlns="" xmlns:p14="http://schemas.microsoft.com/office/powerpoint/2010/main" val="1790760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14" grpId="0"/>
      <p:bldP spid="26" grpId="0"/>
      <p:bldP spid="27" grpId="0"/>
      <p:bldP spid="28" grpId="0"/>
      <p:bldP spid="29" grpId="0"/>
      <p:bldP spid="30" grpId="0"/>
      <p:bldP spid="13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2</a:t>
            </a:r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. </a:t>
            </a:r>
            <a:r>
              <a:rPr lang="en-US" sz="4000" dirty="0" smtClean="0">
                <a:solidFill>
                  <a:srgbClr val="00B0F0"/>
                </a:solidFill>
                <a:latin typeface="Tahoma" charset="0"/>
                <a:cs typeface="Arial" charset="0"/>
              </a:rPr>
              <a:t>import static </a:t>
            </a:r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Statement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323528" y="764704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 simplification, Java 5.0 introduces the following import statement: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23528" y="1124744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FF0000"/>
              </a:buClr>
            </a:pP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import static </a:t>
            </a:r>
            <a:r>
              <a:rPr lang="en-US" sz="2000" dirty="0" err="1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packageName</a:t>
            </a:r>
            <a:r>
              <a:rPr lang="en-US" sz="20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r>
              <a:rPr lang="en-US" sz="2000" dirty="0" err="1" smtClean="0">
                <a:solidFill>
                  <a:srgbClr val="CC00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ClassName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.*;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23528" y="1835300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After you include this statement in the program, you can omit the name of the class and the dot operator when calling a method.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3528" y="2678374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Therefore, the </a:t>
            </a:r>
            <a:r>
              <a:rPr lang="en-US" sz="2000" dirty="0" smtClean="0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abs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method may be simply called as </a:t>
            </a:r>
            <a:r>
              <a:rPr lang="en-US" sz="2000" dirty="0" smtClean="0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abs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3528" y="3748970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the above examples, 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and </a:t>
            </a:r>
            <a:r>
              <a:rPr lang="en-US" sz="2000" dirty="0" err="1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are known as </a:t>
            </a: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formal parameters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528" y="3213672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</a:t>
            </a:r>
            <a:r>
              <a:rPr lang="en-US" sz="2000" dirty="0" err="1" smtClean="0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toLowerCase</a:t>
            </a:r>
            <a:r>
              <a:rPr lang="en-US" sz="2000" dirty="0" smtClean="0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may be also simply called as </a:t>
            </a:r>
            <a:r>
              <a:rPr lang="en-US" sz="2000" dirty="0" err="1" smtClean="0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toLowerCase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2000" dirty="0" err="1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).</a:t>
            </a:r>
          </a:p>
        </p:txBody>
      </p:sp>
    </p:spTree>
    <p:extLst>
      <p:ext uri="{BB962C8B-B14F-4D97-AF65-F5344CB8AC3E}">
        <p14:creationId xmlns="" xmlns:p14="http://schemas.microsoft.com/office/powerpoint/2010/main" val="2890522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14" grpId="0"/>
      <p:bldP spid="26" grpId="0"/>
      <p:bldP spid="27" grpId="0"/>
      <p:bldP spid="29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2</a:t>
            </a:r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. </a:t>
            </a:r>
            <a:r>
              <a:rPr lang="en-US" sz="4000" smtClean="0">
                <a:solidFill>
                  <a:srgbClr val="00B0F0"/>
                </a:solidFill>
                <a:latin typeface="Tahoma" charset="0"/>
                <a:cs typeface="Arial" charset="0"/>
              </a:rPr>
              <a:t>import static </a:t>
            </a:r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Statement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23528" y="1268760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Consider the following code segments: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Example</a:t>
            </a:r>
            <a:endParaRPr lang="en-US" b="1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/>
          <p:cNvGrpSpPr/>
          <p:nvPr/>
        </p:nvGrpSpPr>
        <p:grpSpPr>
          <a:xfrm>
            <a:off x="179513" y="1746682"/>
            <a:ext cx="8784976" cy="1200329"/>
            <a:chOff x="323529" y="1236822"/>
            <a:chExt cx="7848872" cy="1128695"/>
          </a:xfrm>
        </p:grpSpPr>
        <p:sp>
          <p:nvSpPr>
            <p:cNvPr id="16" name="TextBox 15"/>
            <p:cNvSpPr txBox="1"/>
            <p:nvPr/>
          </p:nvSpPr>
          <p:spPr>
            <a:xfrm>
              <a:off x="788528" y="1236822"/>
              <a:ext cx="7383873" cy="1128695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rgbClr val="00B0F0"/>
                  </a:solidFill>
                </a:rPr>
                <a:t>import </a:t>
              </a:r>
              <a:r>
                <a:rPr lang="en-US" dirty="0" err="1" smtClean="0">
                  <a:solidFill>
                    <a:srgbClr val="FF0000"/>
                  </a:solidFill>
                </a:rPr>
                <a:t>java.lang</a:t>
              </a:r>
              <a:r>
                <a:rPr lang="en-US" dirty="0" err="1" smtClean="0">
                  <a:solidFill>
                    <a:srgbClr val="CC0099"/>
                  </a:solidFill>
                </a:rPr>
                <a:t>.Math</a:t>
              </a:r>
              <a:r>
                <a:rPr lang="en-US" dirty="0" smtClean="0">
                  <a:solidFill>
                    <a:srgbClr val="FF0000"/>
                  </a:solidFill>
                </a:rPr>
                <a:t>.*</a:t>
              </a:r>
              <a:r>
                <a:rPr lang="en-US" dirty="0" smtClean="0">
                  <a:solidFill>
                    <a:srgbClr val="0000FF"/>
                  </a:solidFill>
                </a:rPr>
                <a:t>;	</a:t>
              </a:r>
              <a:r>
                <a:rPr lang="en-US" dirty="0" smtClean="0">
                  <a:solidFill>
                    <a:srgbClr val="00B050"/>
                  </a:solidFill>
                </a:rPr>
                <a:t>//</a:t>
              </a:r>
              <a:r>
                <a:rPr lang="en-US" dirty="0" err="1" smtClean="0">
                  <a:solidFill>
                    <a:srgbClr val="00B050"/>
                  </a:solidFill>
                </a:rPr>
                <a:t>java.lang</a:t>
              </a:r>
              <a:r>
                <a:rPr lang="en-US" dirty="0" smtClean="0">
                  <a:solidFill>
                    <a:srgbClr val="00B050"/>
                  </a:solidFill>
                </a:rPr>
                <a:t> is the package; Math is the class</a:t>
              </a:r>
            </a:p>
            <a:p>
              <a:r>
                <a:rPr lang="en-US" dirty="0" smtClean="0">
                  <a:solidFill>
                    <a:srgbClr val="00B0F0"/>
                  </a:solidFill>
                </a:rPr>
                <a:t>double</a:t>
              </a:r>
              <a:r>
                <a:rPr lang="en-US" dirty="0" smtClean="0">
                  <a:solidFill>
                    <a:srgbClr val="0000FF"/>
                  </a:solidFill>
                </a:rPr>
                <a:t> rand;</a:t>
              </a:r>
            </a:p>
            <a:p>
              <a:r>
                <a:rPr lang="en-US" dirty="0" smtClean="0">
                  <a:solidFill>
                    <a:srgbClr val="0000FF"/>
                  </a:solidFill>
                </a:rPr>
                <a:t>rand = </a:t>
              </a:r>
              <a:r>
                <a:rPr lang="en-US" dirty="0" err="1" smtClean="0">
                  <a:solidFill>
                    <a:srgbClr val="CC0099"/>
                  </a:solidFill>
                </a:rPr>
                <a:t>Math</a:t>
              </a:r>
              <a:r>
                <a:rPr lang="en-US" dirty="0" err="1" smtClean="0">
                  <a:solidFill>
                    <a:srgbClr val="00B050"/>
                  </a:solidFill>
                </a:rPr>
                <a:t>.random</a:t>
              </a:r>
              <a:r>
                <a:rPr lang="en-US" dirty="0" smtClean="0">
                  <a:solidFill>
                    <a:srgbClr val="00B050"/>
                  </a:solidFill>
                </a:rPr>
                <a:t>()</a:t>
              </a:r>
              <a:r>
                <a:rPr lang="en-US" dirty="0" smtClean="0">
                  <a:solidFill>
                    <a:srgbClr val="0000FF"/>
                  </a:solidFill>
                </a:rPr>
                <a:t>;	</a:t>
              </a:r>
              <a:r>
                <a:rPr lang="en-US" dirty="0" smtClean="0">
                  <a:solidFill>
                    <a:srgbClr val="00B050"/>
                  </a:solidFill>
                </a:rPr>
                <a:t>//method calling</a:t>
              </a:r>
            </a:p>
            <a:p>
              <a:r>
                <a:rPr lang="en-US" dirty="0" err="1" smtClean="0">
                  <a:solidFill>
                    <a:srgbClr val="0000FF"/>
                  </a:solidFill>
                </a:rPr>
                <a:t>System.out.printf</a:t>
              </a:r>
              <a:r>
                <a:rPr lang="en-US" dirty="0" smtClean="0">
                  <a:solidFill>
                    <a:srgbClr val="0000FF"/>
                  </a:solidFill>
                </a:rPr>
                <a:t> (“Random number = %f”, rand);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23529" y="1236822"/>
              <a:ext cx="386010" cy="1128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4</a:t>
              </a:r>
            </a:p>
          </p:txBody>
        </p:sp>
      </p:grpSp>
      <p:sp>
        <p:nvSpPr>
          <p:cNvPr id="21" name="Oval Callout 20"/>
          <p:cNvSpPr/>
          <p:nvPr/>
        </p:nvSpPr>
        <p:spPr>
          <a:xfrm>
            <a:off x="6660232" y="692696"/>
            <a:ext cx="2376264" cy="936104"/>
          </a:xfrm>
          <a:prstGeom prst="wedgeEllipseCallout">
            <a:avLst>
              <a:gd name="adj1" fmla="val -184662"/>
              <a:gd name="adj2" fmla="val 71613"/>
            </a:avLst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rgbClr val="0000FF"/>
                </a:solidFill>
              </a:rPr>
              <a:t>Automatically loaded by Java </a:t>
            </a:r>
            <a:r>
              <a:rPr lang="en-US" sz="1400" dirty="0" smtClean="0">
                <a:solidFill>
                  <a:srgbClr val="0000FF"/>
                </a:solidFill>
                <a:sym typeface="Wingdings" panose="05000000000000000000" pitchFamily="2" charset="2"/>
              </a:rPr>
              <a:t> may be omitted</a:t>
            </a:r>
            <a:endParaRPr lang="en-US" sz="1400" dirty="0">
              <a:solidFill>
                <a:srgbClr val="00B0F0"/>
              </a:solidFill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179512" y="5397023"/>
            <a:ext cx="8784976" cy="1200329"/>
            <a:chOff x="323529" y="1236822"/>
            <a:chExt cx="7848872" cy="1128695"/>
          </a:xfrm>
        </p:grpSpPr>
        <p:sp>
          <p:nvSpPr>
            <p:cNvPr id="23" name="TextBox 22"/>
            <p:cNvSpPr txBox="1"/>
            <p:nvPr/>
          </p:nvSpPr>
          <p:spPr>
            <a:xfrm>
              <a:off x="788528" y="1236822"/>
              <a:ext cx="7383873" cy="1128695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rgbClr val="00B0F0"/>
                  </a:solidFill>
                </a:rPr>
                <a:t>import static </a:t>
              </a:r>
              <a:r>
                <a:rPr lang="en-US" dirty="0" err="1" smtClean="0">
                  <a:solidFill>
                    <a:srgbClr val="FF0000"/>
                  </a:solidFill>
                </a:rPr>
                <a:t>java.lang</a:t>
              </a:r>
              <a:r>
                <a:rPr lang="en-US" dirty="0" err="1" smtClean="0">
                  <a:solidFill>
                    <a:srgbClr val="CC0099"/>
                  </a:solidFill>
                </a:rPr>
                <a:t>.Math</a:t>
              </a:r>
              <a:r>
                <a:rPr lang="en-US" dirty="0" smtClean="0">
                  <a:solidFill>
                    <a:srgbClr val="FF0000"/>
                  </a:solidFill>
                </a:rPr>
                <a:t>.*</a:t>
              </a:r>
              <a:r>
                <a:rPr lang="en-US" dirty="0" smtClean="0">
                  <a:solidFill>
                    <a:srgbClr val="0000FF"/>
                  </a:solidFill>
                </a:rPr>
                <a:t>;</a:t>
              </a:r>
              <a:r>
                <a:rPr lang="en-US" sz="1600" dirty="0" smtClean="0">
                  <a:solidFill>
                    <a:srgbClr val="00B050"/>
                  </a:solidFill>
                </a:rPr>
                <a:t>//</a:t>
              </a:r>
              <a:r>
                <a:rPr lang="en-US" sz="1600" dirty="0" err="1" smtClean="0">
                  <a:solidFill>
                    <a:srgbClr val="00B050"/>
                  </a:solidFill>
                </a:rPr>
                <a:t>java.lang</a:t>
              </a:r>
              <a:r>
                <a:rPr lang="en-US" sz="1600" dirty="0" smtClean="0">
                  <a:solidFill>
                    <a:srgbClr val="00B050"/>
                  </a:solidFill>
                </a:rPr>
                <a:t> is the package; Math is the class</a:t>
              </a:r>
              <a:endParaRPr lang="en-US" dirty="0" smtClean="0">
                <a:solidFill>
                  <a:srgbClr val="00B050"/>
                </a:solidFill>
              </a:endParaRPr>
            </a:p>
            <a:p>
              <a:r>
                <a:rPr lang="en-US" dirty="0" smtClean="0">
                  <a:solidFill>
                    <a:srgbClr val="00B0F0"/>
                  </a:solidFill>
                </a:rPr>
                <a:t>double</a:t>
              </a:r>
              <a:r>
                <a:rPr lang="en-US" dirty="0" smtClean="0">
                  <a:solidFill>
                    <a:srgbClr val="0000FF"/>
                  </a:solidFill>
                </a:rPr>
                <a:t> rand;</a:t>
              </a:r>
            </a:p>
            <a:p>
              <a:r>
                <a:rPr lang="en-US" dirty="0" smtClean="0">
                  <a:solidFill>
                    <a:srgbClr val="0000FF"/>
                  </a:solidFill>
                </a:rPr>
                <a:t>rand = </a:t>
              </a:r>
              <a:r>
                <a:rPr lang="en-US" dirty="0" smtClean="0">
                  <a:solidFill>
                    <a:srgbClr val="00B050"/>
                  </a:solidFill>
                </a:rPr>
                <a:t>random()</a:t>
              </a:r>
              <a:r>
                <a:rPr lang="en-US" dirty="0" smtClean="0">
                  <a:solidFill>
                    <a:srgbClr val="0000FF"/>
                  </a:solidFill>
                </a:rPr>
                <a:t>;	</a:t>
              </a:r>
              <a:r>
                <a:rPr lang="en-US" dirty="0" smtClean="0">
                  <a:solidFill>
                    <a:srgbClr val="00B050"/>
                  </a:solidFill>
                </a:rPr>
                <a:t>//method calling</a:t>
              </a:r>
            </a:p>
            <a:p>
              <a:r>
                <a:rPr lang="en-US" dirty="0" err="1" smtClean="0">
                  <a:solidFill>
                    <a:srgbClr val="0000FF"/>
                  </a:solidFill>
                </a:rPr>
                <a:t>System.out.printf</a:t>
              </a:r>
              <a:r>
                <a:rPr lang="en-US" dirty="0" smtClean="0">
                  <a:solidFill>
                    <a:srgbClr val="0000FF"/>
                  </a:solidFill>
                </a:rPr>
                <a:t> (“Random number = %f”, rand);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23529" y="1236822"/>
              <a:ext cx="386010" cy="1128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4</a:t>
              </a:r>
            </a:p>
          </p:txBody>
        </p:sp>
      </p:grpSp>
      <p:sp>
        <p:nvSpPr>
          <p:cNvPr id="25" name="Oval Callout 24"/>
          <p:cNvSpPr/>
          <p:nvPr/>
        </p:nvSpPr>
        <p:spPr>
          <a:xfrm>
            <a:off x="6516216" y="4149080"/>
            <a:ext cx="2528664" cy="1152128"/>
          </a:xfrm>
          <a:prstGeom prst="wedgeEllipseCallout">
            <a:avLst>
              <a:gd name="adj1" fmla="val -204397"/>
              <a:gd name="adj2" fmla="val 122026"/>
            </a:avLst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rgbClr val="0000FF"/>
                </a:solidFill>
              </a:rPr>
              <a:t>import static </a:t>
            </a:r>
            <a:r>
              <a:rPr lang="en-US" sz="1400" dirty="0" smtClean="0">
                <a:solidFill>
                  <a:srgbClr val="0000FF"/>
                </a:solidFill>
                <a:sym typeface="Wingdings" panose="05000000000000000000" pitchFamily="2" charset="2"/>
              </a:rPr>
              <a:t> may omit </a:t>
            </a:r>
            <a:r>
              <a:rPr lang="en-US" sz="1400" dirty="0" err="1" smtClean="0">
                <a:solidFill>
                  <a:srgbClr val="0000FF"/>
                </a:solidFill>
                <a:sym typeface="Wingdings" panose="05000000000000000000" pitchFamily="2" charset="2"/>
              </a:rPr>
              <a:t>className</a:t>
            </a:r>
            <a:r>
              <a:rPr lang="en-US" sz="1400" dirty="0" smtClean="0">
                <a:solidFill>
                  <a:srgbClr val="0000FF"/>
                </a:solidFill>
                <a:sym typeface="Wingdings" panose="05000000000000000000" pitchFamily="2" charset="2"/>
              </a:rPr>
              <a:t> and dot</a:t>
            </a:r>
            <a:endParaRPr lang="en-US" sz="1400" dirty="0">
              <a:solidFill>
                <a:srgbClr val="00B0F0"/>
              </a:solidFill>
            </a:endParaRPr>
          </a:p>
        </p:txBody>
      </p:sp>
      <p:grpSp>
        <p:nvGrpSpPr>
          <p:cNvPr id="28" name="Group 27"/>
          <p:cNvGrpSpPr/>
          <p:nvPr/>
        </p:nvGrpSpPr>
        <p:grpSpPr>
          <a:xfrm>
            <a:off x="179512" y="3020759"/>
            <a:ext cx="8784976" cy="923330"/>
            <a:chOff x="323529" y="1236822"/>
            <a:chExt cx="7848872" cy="868227"/>
          </a:xfrm>
        </p:grpSpPr>
        <p:sp>
          <p:nvSpPr>
            <p:cNvPr id="30" name="TextBox 29"/>
            <p:cNvSpPr txBox="1"/>
            <p:nvPr/>
          </p:nvSpPr>
          <p:spPr>
            <a:xfrm>
              <a:off x="788528" y="1236822"/>
              <a:ext cx="7383873" cy="868227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rgbClr val="00B0F0"/>
                  </a:solidFill>
                </a:rPr>
                <a:t>double</a:t>
              </a:r>
              <a:r>
                <a:rPr lang="en-US" dirty="0" smtClean="0">
                  <a:solidFill>
                    <a:srgbClr val="0000FF"/>
                  </a:solidFill>
                </a:rPr>
                <a:t> rand;</a:t>
              </a:r>
            </a:p>
            <a:p>
              <a:r>
                <a:rPr lang="en-US" dirty="0" smtClean="0">
                  <a:solidFill>
                    <a:srgbClr val="0000FF"/>
                  </a:solidFill>
                </a:rPr>
                <a:t>rand = </a:t>
              </a:r>
              <a:r>
                <a:rPr lang="en-US" dirty="0" err="1" smtClean="0">
                  <a:solidFill>
                    <a:srgbClr val="CC0099"/>
                  </a:solidFill>
                </a:rPr>
                <a:t>Math</a:t>
              </a:r>
              <a:r>
                <a:rPr lang="en-US" dirty="0" err="1" smtClean="0">
                  <a:solidFill>
                    <a:srgbClr val="00B050"/>
                  </a:solidFill>
                </a:rPr>
                <a:t>.random</a:t>
              </a:r>
              <a:r>
                <a:rPr lang="en-US" dirty="0" smtClean="0">
                  <a:solidFill>
                    <a:srgbClr val="00B050"/>
                  </a:solidFill>
                </a:rPr>
                <a:t>()</a:t>
              </a:r>
              <a:r>
                <a:rPr lang="en-US" dirty="0" smtClean="0">
                  <a:solidFill>
                    <a:srgbClr val="0000FF"/>
                  </a:solidFill>
                </a:rPr>
                <a:t>;	</a:t>
              </a:r>
              <a:r>
                <a:rPr lang="en-US" dirty="0" smtClean="0">
                  <a:solidFill>
                    <a:srgbClr val="00B050"/>
                  </a:solidFill>
                </a:rPr>
                <a:t>// method calling</a:t>
              </a:r>
            </a:p>
            <a:p>
              <a:r>
                <a:rPr lang="en-US" dirty="0" err="1" smtClean="0">
                  <a:solidFill>
                    <a:srgbClr val="0000FF"/>
                  </a:solidFill>
                </a:rPr>
                <a:t>System.out.printf</a:t>
              </a:r>
              <a:r>
                <a:rPr lang="en-US" dirty="0" smtClean="0">
                  <a:solidFill>
                    <a:srgbClr val="0000FF"/>
                  </a:solidFill>
                </a:rPr>
                <a:t> (“Random number = %f”, rand);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323529" y="1236822"/>
              <a:ext cx="386010" cy="8682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3</a:t>
              </a:r>
            </a:p>
          </p:txBody>
        </p:sp>
      </p:grpSp>
      <p:sp>
        <p:nvSpPr>
          <p:cNvPr id="20" name="Rectangle 19"/>
          <p:cNvSpPr/>
          <p:nvPr/>
        </p:nvSpPr>
        <p:spPr>
          <a:xfrm>
            <a:off x="683568" y="1772816"/>
            <a:ext cx="8280919" cy="288032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683568" y="2348880"/>
            <a:ext cx="8280919" cy="288032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683568" y="3356992"/>
            <a:ext cx="8280919" cy="288032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683567" y="5445224"/>
            <a:ext cx="8280919" cy="288032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683568" y="5949280"/>
            <a:ext cx="8280919" cy="288032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683568" y="4149080"/>
            <a:ext cx="7200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dirty="0" smtClean="0">
                <a:solidFill>
                  <a:srgbClr val="CC00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Math </a:t>
            </a: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 the class name.</a:t>
            </a:r>
          </a:p>
          <a:p>
            <a:pPr marL="342900" indent="-342900"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dirty="0" smtClean="0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random </a:t>
            </a: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 the method name.</a:t>
            </a:r>
          </a:p>
          <a:p>
            <a:pPr marL="342900" indent="-342900"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There are no parameters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 this method.</a:t>
            </a: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>
          <a:xfrm>
            <a:off x="8647272" y="6448251"/>
            <a:ext cx="365760" cy="365125"/>
          </a:xfrm>
        </p:spPr>
        <p:txBody>
          <a:bodyPr/>
          <a:lstStyle/>
          <a:p>
            <a:fld id="{DA934484-767D-4C48-AF0E-A1438A969E59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773785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11" grpId="0" animBg="1"/>
      <p:bldP spid="21" grpId="0" animBg="1"/>
      <p:bldP spid="25" grpId="0" animBg="1"/>
      <p:bldP spid="20" grpId="0" animBg="1"/>
      <p:bldP spid="26" grpId="0" animBg="1"/>
      <p:bldP spid="27" grpId="0" animBg="1"/>
      <p:bldP spid="29" grpId="0" animBg="1"/>
      <p:bldP spid="32" grpId="0" animBg="1"/>
      <p:bldP spid="3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3</a:t>
            </a:r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. MATHEMATICAL METHODS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323528" y="764704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Mathematical methods belong to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class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smtClean="0">
                <a:solidFill>
                  <a:srgbClr val="CC00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Math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23528" y="1268760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Mathematical methods may be categorized as follows: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771800" y="1916832"/>
            <a:ext cx="3600400" cy="6480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MATHEMATICAL METHODS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932040" y="2708920"/>
            <a:ext cx="3744416" cy="576064"/>
          </a:xfrm>
          <a:prstGeom prst="roundRect">
            <a:avLst/>
          </a:prstGeom>
          <a:solidFill>
            <a:srgbClr val="FFFFE5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3</a:t>
            </a:r>
            <a:r>
              <a:rPr lang="en-US" dirty="0" smtClean="0">
                <a:solidFill>
                  <a:srgbClr val="0000FF"/>
                </a:solidFill>
              </a:rPr>
              <a:t>.1 Absolute value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67544" y="3429000"/>
            <a:ext cx="3744416" cy="504056"/>
          </a:xfrm>
          <a:prstGeom prst="roundRect">
            <a:avLst/>
          </a:prstGeom>
          <a:solidFill>
            <a:srgbClr val="FFFFE5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3</a:t>
            </a:r>
            <a:r>
              <a:rPr lang="en-US" dirty="0" smtClean="0">
                <a:solidFill>
                  <a:srgbClr val="0000FF"/>
                </a:solidFill>
              </a:rPr>
              <a:t>.2 Approximation methods</a:t>
            </a:r>
            <a:endParaRPr lang="en-US" dirty="0">
              <a:solidFill>
                <a:srgbClr val="0000FF"/>
              </a:solidFill>
            </a:endParaRPr>
          </a:p>
        </p:txBody>
      </p:sp>
      <p:cxnSp>
        <p:nvCxnSpPr>
          <p:cNvPr id="22" name="Straight Connector 21"/>
          <p:cNvCxnSpPr/>
          <p:nvPr/>
        </p:nvCxnSpPr>
        <p:spPr>
          <a:xfrm>
            <a:off x="4572000" y="2564904"/>
            <a:ext cx="0" cy="352839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4572000" y="2996952"/>
            <a:ext cx="36004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H="1" flipV="1">
            <a:off x="4211960" y="3711031"/>
            <a:ext cx="360040" cy="12002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932040" y="4149080"/>
            <a:ext cx="3744416" cy="576064"/>
          </a:xfrm>
          <a:prstGeom prst="roundRect">
            <a:avLst/>
          </a:prstGeom>
          <a:solidFill>
            <a:srgbClr val="FFFFE5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3</a:t>
            </a:r>
            <a:r>
              <a:rPr lang="en-US" dirty="0" smtClean="0">
                <a:solidFill>
                  <a:srgbClr val="0000FF"/>
                </a:solidFill>
              </a:rPr>
              <a:t>.3 Power methods</a:t>
            </a:r>
            <a:endParaRPr lang="en-US" dirty="0">
              <a:solidFill>
                <a:srgbClr val="0000FF"/>
              </a:solidFill>
            </a:endParaRPr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4572000" y="4437112"/>
            <a:ext cx="36004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67544" y="4869160"/>
            <a:ext cx="3744416" cy="504056"/>
          </a:xfrm>
          <a:prstGeom prst="roundRect">
            <a:avLst/>
          </a:prstGeom>
          <a:solidFill>
            <a:srgbClr val="FFFFE5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3</a:t>
            </a:r>
            <a:r>
              <a:rPr lang="en-US" dirty="0" smtClean="0">
                <a:solidFill>
                  <a:srgbClr val="0000FF"/>
                </a:solidFill>
              </a:rPr>
              <a:t>.4 Comparison methods</a:t>
            </a:r>
            <a:endParaRPr lang="en-US" dirty="0">
              <a:solidFill>
                <a:srgbClr val="0000FF"/>
              </a:solidFill>
            </a:endParaRPr>
          </a:p>
        </p:txBody>
      </p:sp>
      <p:cxnSp>
        <p:nvCxnSpPr>
          <p:cNvPr id="26" name="Straight Arrow Connector 25"/>
          <p:cNvCxnSpPr/>
          <p:nvPr/>
        </p:nvCxnSpPr>
        <p:spPr>
          <a:xfrm flipH="1" flipV="1">
            <a:off x="4211960" y="5151191"/>
            <a:ext cx="360040" cy="12002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4932040" y="5589240"/>
            <a:ext cx="3744416" cy="576064"/>
          </a:xfrm>
          <a:prstGeom prst="roundRect">
            <a:avLst/>
          </a:prstGeom>
          <a:solidFill>
            <a:srgbClr val="FFFFE5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3</a:t>
            </a:r>
            <a:r>
              <a:rPr lang="en-US" dirty="0" smtClean="0">
                <a:solidFill>
                  <a:srgbClr val="0000FF"/>
                </a:solidFill>
              </a:rPr>
              <a:t>.5 Trigonometric methods</a:t>
            </a:r>
            <a:endParaRPr lang="en-US" dirty="0">
              <a:solidFill>
                <a:srgbClr val="0000FF"/>
              </a:solidFill>
            </a:endParaRPr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4572000" y="5877272"/>
            <a:ext cx="36004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2011650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000"/>
                            </p:stCondLst>
                            <p:childTnLst>
                              <p:par>
                                <p:cTn id="4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500"/>
                            </p:stCondLst>
                            <p:childTnLst>
                              <p:par>
                                <p:cTn id="5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5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14" grpId="0"/>
      <p:bldP spid="15" grpId="0" animBg="1"/>
      <p:bldP spid="16" grpId="0" animBg="1"/>
      <p:bldP spid="18" grpId="0" animBg="1"/>
      <p:bldP spid="20" grpId="0" animBg="1"/>
      <p:bldP spid="24" grpId="0" animBg="1"/>
      <p:bldP spid="2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3</a:t>
            </a:r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.1 ABSOLUTE VALUE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 smtClean="0"/>
              <a:t>int</a:t>
            </a:r>
            <a:r>
              <a:rPr lang="en-US" b="1" dirty="0" smtClean="0"/>
              <a:t>/long/double/float    abs(</a:t>
            </a:r>
            <a:r>
              <a:rPr lang="en-US" b="1" dirty="0" err="1" smtClean="0"/>
              <a:t>int</a:t>
            </a:r>
            <a:r>
              <a:rPr lang="en-US" b="1" dirty="0" smtClean="0"/>
              <a:t>/long/double/float    x)</a:t>
            </a:r>
            <a:endParaRPr lang="en-US" b="1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51520" y="1196752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Formal Parameter: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the value for which we want to calculate the absolute value. 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51520" y="2740858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Return Type: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returns the same type as the formal parameter 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if 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 </a:t>
            </a:r>
            <a:r>
              <a:rPr lang="en-US" sz="2000" dirty="0" err="1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it returns </a:t>
            </a:r>
            <a:r>
              <a:rPr lang="en-US" sz="2000" dirty="0" err="1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; if 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float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it </a:t>
            </a:r>
            <a:r>
              <a:rPr lang="en-US" sz="20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reutns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float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etc…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33" name="Group 32"/>
          <p:cNvGrpSpPr/>
          <p:nvPr/>
        </p:nvGrpSpPr>
        <p:grpSpPr>
          <a:xfrm>
            <a:off x="179513" y="3553852"/>
            <a:ext cx="8784976" cy="2031325"/>
            <a:chOff x="323529" y="1236822"/>
            <a:chExt cx="7848872" cy="1910098"/>
          </a:xfrm>
        </p:grpSpPr>
        <p:sp>
          <p:nvSpPr>
            <p:cNvPr id="34" name="TextBox 33"/>
            <p:cNvSpPr txBox="1"/>
            <p:nvPr/>
          </p:nvSpPr>
          <p:spPr>
            <a:xfrm>
              <a:off x="788528" y="1236822"/>
              <a:ext cx="7383873" cy="1910098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rgbClr val="00B0F0"/>
                  </a:solidFill>
                </a:rPr>
                <a:t>import static </a:t>
              </a:r>
              <a:r>
                <a:rPr lang="en-US" dirty="0" err="1" smtClean="0">
                  <a:solidFill>
                    <a:srgbClr val="FF0000"/>
                  </a:solidFill>
                </a:rPr>
                <a:t>java.lang</a:t>
              </a:r>
              <a:r>
                <a:rPr lang="en-US" dirty="0" err="1" smtClean="0">
                  <a:solidFill>
                    <a:srgbClr val="CC0099"/>
                  </a:solidFill>
                </a:rPr>
                <a:t>.Math</a:t>
              </a:r>
              <a:r>
                <a:rPr lang="en-US" dirty="0" smtClean="0">
                  <a:solidFill>
                    <a:srgbClr val="00B0F0"/>
                  </a:solidFill>
                </a:rPr>
                <a:t>.*</a:t>
              </a:r>
              <a:r>
                <a:rPr lang="en-US" dirty="0" smtClean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dirty="0" err="1" smtClean="0">
                  <a:solidFill>
                    <a:srgbClr val="00B0F0"/>
                  </a:solidFill>
                </a:rPr>
                <a:t>int</a:t>
              </a:r>
              <a:r>
                <a:rPr lang="en-US" dirty="0" smtClean="0">
                  <a:solidFill>
                    <a:srgbClr val="00B0F0"/>
                  </a:solidFill>
                </a:rPr>
                <a:t> </a:t>
              </a:r>
              <a:r>
                <a:rPr lang="en-US" dirty="0" smtClean="0">
                  <a:solidFill>
                    <a:srgbClr val="0000FF"/>
                  </a:solidFill>
                </a:rPr>
                <a:t>num1 = -10, absolute1;	</a:t>
              </a:r>
              <a:endParaRPr lang="en-US" dirty="0" smtClean="0">
                <a:solidFill>
                  <a:srgbClr val="00B050"/>
                </a:solidFill>
              </a:endParaRPr>
            </a:p>
            <a:p>
              <a:r>
                <a:rPr lang="en-US" dirty="0" smtClean="0">
                  <a:solidFill>
                    <a:srgbClr val="00B0F0"/>
                  </a:solidFill>
                </a:rPr>
                <a:t>double</a:t>
              </a:r>
              <a:r>
                <a:rPr lang="en-US" dirty="0" smtClean="0">
                  <a:solidFill>
                    <a:srgbClr val="0000FF"/>
                  </a:solidFill>
                </a:rPr>
                <a:t> num2 = 50.23, absolute2; </a:t>
              </a:r>
              <a:endParaRPr lang="en-US" dirty="0" smtClean="0">
                <a:solidFill>
                  <a:srgbClr val="00B050"/>
                </a:solidFill>
              </a:endParaRPr>
            </a:p>
            <a:p>
              <a:r>
                <a:rPr lang="en-US" dirty="0" smtClean="0">
                  <a:solidFill>
                    <a:srgbClr val="0000FF"/>
                  </a:solidFill>
                </a:rPr>
                <a:t>absolute1 = </a:t>
              </a:r>
              <a:r>
                <a:rPr lang="en-US" dirty="0" smtClean="0">
                  <a:solidFill>
                    <a:srgbClr val="00B050"/>
                  </a:solidFill>
                </a:rPr>
                <a:t>abs</a:t>
              </a:r>
              <a:r>
                <a:rPr lang="en-US" dirty="0" smtClean="0">
                  <a:solidFill>
                    <a:srgbClr val="0000FF"/>
                  </a:solidFill>
                </a:rPr>
                <a:t>(num1);  </a:t>
              </a:r>
              <a:r>
                <a:rPr lang="en-US" dirty="0" smtClean="0">
                  <a:solidFill>
                    <a:srgbClr val="00B050"/>
                  </a:solidFill>
                </a:rPr>
                <a:t>//num1 is the </a:t>
              </a:r>
              <a:r>
                <a:rPr lang="en-US" dirty="0" smtClean="0">
                  <a:solidFill>
                    <a:srgbClr val="FF0000"/>
                  </a:solidFill>
                </a:rPr>
                <a:t>actual parameter </a:t>
              </a:r>
              <a:r>
                <a:rPr lang="en-US" dirty="0" smtClean="0">
                  <a:solidFill>
                    <a:srgbClr val="00B050"/>
                  </a:solidFill>
                </a:rPr>
                <a:t>of abs</a:t>
              </a:r>
            </a:p>
            <a:p>
              <a:r>
                <a:rPr lang="en-US" dirty="0" smtClean="0">
                  <a:solidFill>
                    <a:srgbClr val="0000FF"/>
                  </a:solidFill>
                </a:rPr>
                <a:t>absolute2 = </a:t>
              </a:r>
              <a:r>
                <a:rPr lang="en-US" dirty="0" smtClean="0">
                  <a:solidFill>
                    <a:srgbClr val="00B050"/>
                  </a:solidFill>
                </a:rPr>
                <a:t>abs</a:t>
              </a:r>
              <a:r>
                <a:rPr lang="en-US" dirty="0" smtClean="0">
                  <a:solidFill>
                    <a:srgbClr val="0000FF"/>
                  </a:solidFill>
                </a:rPr>
                <a:t>(num2);  </a:t>
              </a:r>
              <a:r>
                <a:rPr lang="en-US" dirty="0" smtClean="0">
                  <a:solidFill>
                    <a:srgbClr val="00B050"/>
                  </a:solidFill>
                </a:rPr>
                <a:t>//num2 is the </a:t>
              </a:r>
              <a:r>
                <a:rPr lang="en-US" dirty="0" smtClean="0">
                  <a:solidFill>
                    <a:srgbClr val="FF0000"/>
                  </a:solidFill>
                </a:rPr>
                <a:t>actual parameter</a:t>
              </a:r>
              <a:r>
                <a:rPr lang="en-US" dirty="0" smtClean="0">
                  <a:solidFill>
                    <a:srgbClr val="00B050"/>
                  </a:solidFill>
                </a:rPr>
                <a:t> of abs</a:t>
              </a:r>
              <a:endParaRPr lang="en-US" dirty="0" smtClean="0">
                <a:solidFill>
                  <a:srgbClr val="0000FF"/>
                </a:solidFill>
              </a:endParaRPr>
            </a:p>
            <a:p>
              <a:r>
                <a:rPr lang="en-US" dirty="0" err="1" smtClean="0">
                  <a:solidFill>
                    <a:srgbClr val="0000FF"/>
                  </a:solidFill>
                </a:rPr>
                <a:t>System.out.printf</a:t>
              </a:r>
              <a:r>
                <a:rPr lang="en-US" dirty="0" smtClean="0">
                  <a:solidFill>
                    <a:srgbClr val="0000FF"/>
                  </a:solidFill>
                </a:rPr>
                <a:t> (“num1 = %d, absolute = %d”, num1, absolute1);</a:t>
              </a:r>
            </a:p>
            <a:p>
              <a:r>
                <a:rPr lang="en-US" dirty="0" err="1" smtClean="0">
                  <a:solidFill>
                    <a:srgbClr val="0000FF"/>
                  </a:solidFill>
                </a:rPr>
                <a:t>System.out.printf</a:t>
              </a:r>
              <a:r>
                <a:rPr lang="en-US" dirty="0" smtClean="0">
                  <a:solidFill>
                    <a:srgbClr val="0000FF"/>
                  </a:solidFill>
                </a:rPr>
                <a:t> (“num2 = %f, absolute = %.2f”, num2, absolute2);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23529" y="1236822"/>
              <a:ext cx="386010" cy="19100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7</a:t>
              </a:r>
              <a:endParaRPr lang="en-US" dirty="0" smtClean="0">
                <a:solidFill>
                  <a:srgbClr val="FF0000"/>
                </a:solidFill>
              </a:endParaRP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251520" y="5642084"/>
            <a:ext cx="8712967" cy="523220"/>
            <a:chOff x="683568" y="1236822"/>
            <a:chExt cx="7488831" cy="523220"/>
          </a:xfrm>
        </p:grpSpPr>
        <p:sp>
          <p:nvSpPr>
            <p:cNvPr id="37" name="TextBox 36"/>
            <p:cNvSpPr txBox="1"/>
            <p:nvPr/>
          </p:nvSpPr>
          <p:spPr>
            <a:xfrm>
              <a:off x="1069013" y="1236822"/>
              <a:ext cx="7103386" cy="523220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chemeClr val="bg1"/>
                  </a:solidFill>
                </a:rPr>
                <a:t>num1 = -10, absolute = 10</a:t>
              </a:r>
            </a:p>
            <a:p>
              <a:r>
                <a:rPr lang="en-US" sz="1400" dirty="0" smtClean="0">
                  <a:solidFill>
                    <a:schemeClr val="bg1"/>
                  </a:solidFill>
                </a:rPr>
                <a:t>num2 = 50.23</a:t>
              </a:r>
              <a:r>
                <a:rPr lang="en-US" sz="1400" smtClean="0">
                  <a:solidFill>
                    <a:schemeClr val="bg1"/>
                  </a:solidFill>
                </a:rPr>
                <a:t>, absolute = 50.23</a:t>
              </a:r>
              <a:endParaRPr lang="en-US" sz="1400" dirty="0" smtClean="0">
                <a:solidFill>
                  <a:schemeClr val="bg1"/>
                </a:solidFill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83568" y="1236822"/>
              <a:ext cx="2160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rgbClr val="FF0000"/>
                  </a:solidFill>
                </a:rPr>
                <a:t>1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2</a:t>
              </a:r>
              <a:endParaRPr lang="en-US" sz="1400" dirty="0" smtClean="0">
                <a:solidFill>
                  <a:srgbClr val="FF0000"/>
                </a:solidFill>
              </a:endParaRPr>
            </a:p>
          </p:txBody>
        </p:sp>
      </p:grpSp>
      <p:sp>
        <p:nvSpPr>
          <p:cNvPr id="43" name="Rectangle 42"/>
          <p:cNvSpPr/>
          <p:nvPr/>
        </p:nvSpPr>
        <p:spPr>
          <a:xfrm>
            <a:off x="683568" y="3645024"/>
            <a:ext cx="8280919" cy="21602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/>
          <p:cNvSpPr txBox="1"/>
          <p:nvPr/>
        </p:nvSpPr>
        <p:spPr>
          <a:xfrm>
            <a:off x="251520" y="2380818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Returns: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the absolute value of 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C0F99-418A-47AD-8EE9-8B4FF28C0C0C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683568" y="4437112"/>
            <a:ext cx="8280919" cy="504056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251520" y="1792560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Parameter Type: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The type of 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may be </a:t>
            </a:r>
            <a:r>
              <a:rPr lang="en-US" sz="2000" dirty="0" err="1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long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double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float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961540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/>
      <p:bldP spid="21" grpId="0"/>
      <p:bldP spid="43" grpId="0" animBg="1"/>
      <p:bldP spid="45" grpId="0"/>
      <p:bldP spid="22" grpId="0" animBg="1"/>
      <p:bldP spid="2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3.2 APPROXIMATION METHODS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323528" y="764704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These include the following: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771800" y="1268760"/>
            <a:ext cx="3600400" cy="6480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 APPROXIMATION METHODS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932040" y="2060848"/>
            <a:ext cx="3960440" cy="576064"/>
          </a:xfrm>
          <a:prstGeom prst="roundRect">
            <a:avLst/>
          </a:prstGeom>
          <a:solidFill>
            <a:srgbClr val="FFFFE5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FF"/>
                </a:solidFill>
              </a:rPr>
              <a:t>3.2.1 Rounding:</a:t>
            </a:r>
          </a:p>
          <a:p>
            <a:pPr algn="ctr"/>
            <a:r>
              <a:rPr lang="en-US" smtClean="0">
                <a:solidFill>
                  <a:srgbClr val="00B0F0"/>
                </a:solidFill>
              </a:rPr>
              <a:t>long </a:t>
            </a:r>
            <a:r>
              <a:rPr lang="en-US" smtClean="0">
                <a:solidFill>
                  <a:srgbClr val="0000FF"/>
                </a:solidFill>
              </a:rPr>
              <a:t>   </a:t>
            </a:r>
            <a:r>
              <a:rPr lang="en-US" dirty="0" smtClean="0">
                <a:solidFill>
                  <a:srgbClr val="00B050"/>
                </a:solidFill>
              </a:rPr>
              <a:t>round</a:t>
            </a:r>
            <a:r>
              <a:rPr lang="en-US" dirty="0" smtClean="0">
                <a:solidFill>
                  <a:srgbClr val="0000FF"/>
                </a:solidFill>
              </a:rPr>
              <a:t>(</a:t>
            </a:r>
            <a:r>
              <a:rPr lang="en-US" dirty="0" smtClean="0">
                <a:solidFill>
                  <a:srgbClr val="00B0F0"/>
                </a:solidFill>
              </a:rPr>
              <a:t>double</a:t>
            </a:r>
            <a:r>
              <a:rPr lang="en-US" dirty="0" smtClean="0">
                <a:solidFill>
                  <a:srgbClr val="0000FF"/>
                </a:solidFill>
              </a:rPr>
              <a:t> x)</a:t>
            </a:r>
            <a:endParaRPr lang="en-US" dirty="0">
              <a:solidFill>
                <a:srgbClr val="0000FF"/>
              </a:solidFill>
            </a:endParaRPr>
          </a:p>
        </p:txBody>
      </p:sp>
      <p:cxnSp>
        <p:nvCxnSpPr>
          <p:cNvPr id="22" name="Straight Connector 21"/>
          <p:cNvCxnSpPr/>
          <p:nvPr/>
        </p:nvCxnSpPr>
        <p:spPr>
          <a:xfrm>
            <a:off x="4572000" y="1916832"/>
            <a:ext cx="0" cy="352839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4572000" y="2348880"/>
            <a:ext cx="36004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932040" y="3501008"/>
            <a:ext cx="3960440" cy="576064"/>
          </a:xfrm>
          <a:prstGeom prst="roundRect">
            <a:avLst/>
          </a:prstGeom>
          <a:solidFill>
            <a:srgbClr val="FFFFE5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FF"/>
                </a:solidFill>
              </a:rPr>
              <a:t>3.2.2 Ceiling: </a:t>
            </a:r>
          </a:p>
          <a:p>
            <a:pPr algn="ctr"/>
            <a:r>
              <a:rPr lang="en-US" dirty="0" smtClean="0">
                <a:solidFill>
                  <a:srgbClr val="00B0F0"/>
                </a:solidFill>
              </a:rPr>
              <a:t>double</a:t>
            </a:r>
            <a:r>
              <a:rPr lang="en-US" dirty="0" smtClean="0">
                <a:solidFill>
                  <a:srgbClr val="0000FF"/>
                </a:solidFill>
              </a:rPr>
              <a:t>   </a:t>
            </a:r>
            <a:r>
              <a:rPr lang="en-US" dirty="0" smtClean="0">
                <a:solidFill>
                  <a:srgbClr val="00B050"/>
                </a:solidFill>
              </a:rPr>
              <a:t>ceil</a:t>
            </a:r>
            <a:r>
              <a:rPr lang="en-US" dirty="0" smtClean="0">
                <a:solidFill>
                  <a:srgbClr val="0000FF"/>
                </a:solidFill>
              </a:rPr>
              <a:t>(</a:t>
            </a:r>
            <a:r>
              <a:rPr lang="en-US" dirty="0" smtClean="0">
                <a:solidFill>
                  <a:srgbClr val="00B0F0"/>
                </a:solidFill>
              </a:rPr>
              <a:t>double </a:t>
            </a:r>
            <a:r>
              <a:rPr lang="en-US" dirty="0" smtClean="0">
                <a:solidFill>
                  <a:srgbClr val="0000FF"/>
                </a:solidFill>
              </a:rPr>
              <a:t>x)</a:t>
            </a:r>
            <a:endParaRPr lang="en-US" dirty="0">
              <a:solidFill>
                <a:srgbClr val="0000FF"/>
              </a:solidFill>
            </a:endParaRPr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4572000" y="3789040"/>
            <a:ext cx="36004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4932040" y="4941168"/>
            <a:ext cx="3960440" cy="576064"/>
          </a:xfrm>
          <a:prstGeom prst="roundRect">
            <a:avLst/>
          </a:prstGeom>
          <a:solidFill>
            <a:srgbClr val="FFFFE5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FF"/>
                </a:solidFill>
              </a:rPr>
              <a:t>3.2.3 Flooring: </a:t>
            </a:r>
          </a:p>
          <a:p>
            <a:pPr algn="ctr"/>
            <a:r>
              <a:rPr lang="en-US" dirty="0" smtClean="0">
                <a:solidFill>
                  <a:srgbClr val="00B0F0"/>
                </a:solidFill>
              </a:rPr>
              <a:t>double   </a:t>
            </a:r>
            <a:r>
              <a:rPr lang="en-US" dirty="0" smtClean="0">
                <a:solidFill>
                  <a:srgbClr val="00B050"/>
                </a:solidFill>
              </a:rPr>
              <a:t>floor</a:t>
            </a:r>
            <a:r>
              <a:rPr lang="en-US" dirty="0" smtClean="0">
                <a:solidFill>
                  <a:srgbClr val="0000FF"/>
                </a:solidFill>
              </a:rPr>
              <a:t>(</a:t>
            </a:r>
            <a:r>
              <a:rPr lang="en-US" dirty="0" smtClean="0">
                <a:solidFill>
                  <a:srgbClr val="00B0F0"/>
                </a:solidFill>
              </a:rPr>
              <a:t>double</a:t>
            </a:r>
            <a:r>
              <a:rPr lang="en-US" dirty="0" smtClean="0">
                <a:solidFill>
                  <a:srgbClr val="0000FF"/>
                </a:solidFill>
              </a:rPr>
              <a:t> x)</a:t>
            </a:r>
            <a:endParaRPr lang="en-US" dirty="0">
              <a:solidFill>
                <a:srgbClr val="0000FF"/>
              </a:solidFill>
            </a:endParaRPr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4572000" y="5229200"/>
            <a:ext cx="36004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831528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15" grpId="0" animBg="1"/>
      <p:bldP spid="16" grpId="0" animBg="1"/>
      <p:bldP spid="20" grpId="0" animBg="1"/>
      <p:bldP spid="2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3.2.1 ROUNDING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long   round (double   x)</a:t>
            </a:r>
            <a:endParaRPr lang="en-US" b="1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51520" y="1196752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Formal Parameter: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the value to be approximated (rounded).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51520" y="2492896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Return Type: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long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Should be converted to </a:t>
            </a:r>
            <a:r>
              <a:rPr lang="en-US" sz="2000" dirty="0" err="1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assign to </a:t>
            </a:r>
            <a:r>
              <a:rPr lang="en-US" sz="2000" dirty="0" err="1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variables.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33" name="Group 32"/>
          <p:cNvGrpSpPr/>
          <p:nvPr/>
        </p:nvGrpSpPr>
        <p:grpSpPr>
          <a:xfrm>
            <a:off x="179513" y="3068960"/>
            <a:ext cx="8784976" cy="2031325"/>
            <a:chOff x="323529" y="1236822"/>
            <a:chExt cx="7848872" cy="1910098"/>
          </a:xfrm>
        </p:grpSpPr>
        <p:sp>
          <p:nvSpPr>
            <p:cNvPr id="34" name="TextBox 33"/>
            <p:cNvSpPr txBox="1"/>
            <p:nvPr/>
          </p:nvSpPr>
          <p:spPr>
            <a:xfrm>
              <a:off x="788528" y="1236822"/>
              <a:ext cx="7383873" cy="1910098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rgbClr val="00B0F0"/>
                  </a:solidFill>
                </a:rPr>
                <a:t>import static </a:t>
              </a:r>
              <a:r>
                <a:rPr lang="en-US" dirty="0" err="1" smtClean="0">
                  <a:solidFill>
                    <a:srgbClr val="FF0000"/>
                  </a:solidFill>
                </a:rPr>
                <a:t>java.lang</a:t>
              </a:r>
              <a:r>
                <a:rPr lang="en-US" dirty="0" err="1" smtClean="0">
                  <a:solidFill>
                    <a:srgbClr val="CC0099"/>
                  </a:solidFill>
                </a:rPr>
                <a:t>.Math</a:t>
              </a:r>
              <a:r>
                <a:rPr lang="en-US" dirty="0" smtClean="0">
                  <a:solidFill>
                    <a:srgbClr val="00B0F0"/>
                  </a:solidFill>
                </a:rPr>
                <a:t>.*</a:t>
              </a:r>
              <a:r>
                <a:rPr lang="en-US" dirty="0" smtClean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dirty="0" err="1" smtClean="0">
                  <a:solidFill>
                    <a:srgbClr val="00B0F0"/>
                  </a:solidFill>
                </a:rPr>
                <a:t>int</a:t>
              </a:r>
              <a:r>
                <a:rPr lang="en-US" dirty="0" smtClean="0">
                  <a:solidFill>
                    <a:srgbClr val="00B0F0"/>
                  </a:solidFill>
                </a:rPr>
                <a:t> </a:t>
              </a:r>
              <a:r>
                <a:rPr lang="en-US" dirty="0" err="1" smtClean="0">
                  <a:solidFill>
                    <a:srgbClr val="0000FF"/>
                  </a:solidFill>
                </a:rPr>
                <a:t>appValue</a:t>
              </a:r>
              <a:r>
                <a:rPr lang="en-US" dirty="0" smtClean="0">
                  <a:solidFill>
                    <a:srgbClr val="0000FF"/>
                  </a:solidFill>
                </a:rPr>
                <a:t>;	</a:t>
              </a:r>
              <a:r>
                <a:rPr lang="en-US" dirty="0" smtClean="0">
                  <a:solidFill>
                    <a:srgbClr val="00B050"/>
                  </a:solidFill>
                </a:rPr>
                <a:t>//return value</a:t>
              </a:r>
            </a:p>
            <a:p>
              <a:r>
                <a:rPr lang="en-US" dirty="0" smtClean="0">
                  <a:solidFill>
                    <a:srgbClr val="00B0F0"/>
                  </a:solidFill>
                </a:rPr>
                <a:t>double</a:t>
              </a:r>
              <a:r>
                <a:rPr lang="en-US" dirty="0" smtClean="0">
                  <a:solidFill>
                    <a:srgbClr val="0000FF"/>
                  </a:solidFill>
                </a:rPr>
                <a:t> value1 = 50.23, value2 = 50.55; </a:t>
              </a:r>
              <a:endParaRPr lang="en-US" dirty="0" smtClean="0">
                <a:solidFill>
                  <a:srgbClr val="00B050"/>
                </a:solidFill>
              </a:endParaRPr>
            </a:p>
            <a:p>
              <a:r>
                <a:rPr lang="en-US" dirty="0" err="1" smtClean="0">
                  <a:solidFill>
                    <a:srgbClr val="0000FF"/>
                  </a:solidFill>
                </a:rPr>
                <a:t>appValue</a:t>
              </a:r>
              <a:r>
                <a:rPr lang="en-US" dirty="0" smtClean="0">
                  <a:solidFill>
                    <a:srgbClr val="0000FF"/>
                  </a:solidFill>
                </a:rPr>
                <a:t> = (</a:t>
              </a:r>
              <a:r>
                <a:rPr lang="en-US" dirty="0" err="1" smtClean="0">
                  <a:solidFill>
                    <a:srgbClr val="00B0F0"/>
                  </a:solidFill>
                </a:rPr>
                <a:t>int</a:t>
              </a:r>
              <a:r>
                <a:rPr lang="en-US" dirty="0" smtClean="0">
                  <a:solidFill>
                    <a:srgbClr val="0000FF"/>
                  </a:solidFill>
                </a:rPr>
                <a:t>)(</a:t>
              </a:r>
              <a:r>
                <a:rPr lang="en-US" dirty="0" smtClean="0">
                  <a:solidFill>
                    <a:srgbClr val="00B050"/>
                  </a:solidFill>
                </a:rPr>
                <a:t>round</a:t>
              </a:r>
              <a:r>
                <a:rPr lang="en-US" dirty="0" smtClean="0">
                  <a:solidFill>
                    <a:srgbClr val="0000FF"/>
                  </a:solidFill>
                </a:rPr>
                <a:t>(value1));  </a:t>
              </a:r>
              <a:r>
                <a:rPr lang="en-US" dirty="0" smtClean="0">
                  <a:solidFill>
                    <a:srgbClr val="00B050"/>
                  </a:solidFill>
                </a:rPr>
                <a:t>//value1 is the </a:t>
              </a:r>
              <a:r>
                <a:rPr lang="en-US" dirty="0" smtClean="0">
                  <a:solidFill>
                    <a:srgbClr val="FF0000"/>
                  </a:solidFill>
                </a:rPr>
                <a:t>actual parameter</a:t>
              </a:r>
            </a:p>
            <a:p>
              <a:r>
                <a:rPr lang="en-US" dirty="0" err="1" smtClean="0">
                  <a:solidFill>
                    <a:srgbClr val="0000FF"/>
                  </a:solidFill>
                </a:rPr>
                <a:t>System.out.printf</a:t>
              </a:r>
              <a:r>
                <a:rPr lang="en-US" dirty="0" smtClean="0">
                  <a:solidFill>
                    <a:srgbClr val="0000FF"/>
                  </a:solidFill>
                </a:rPr>
                <a:t> (“%f approximated to %d”, value1, </a:t>
              </a:r>
              <a:r>
                <a:rPr lang="en-US" dirty="0" err="1" smtClean="0">
                  <a:solidFill>
                    <a:srgbClr val="0000FF"/>
                  </a:solidFill>
                </a:rPr>
                <a:t>appValue</a:t>
              </a:r>
              <a:r>
                <a:rPr lang="en-US" dirty="0" smtClean="0">
                  <a:solidFill>
                    <a:srgbClr val="0000FF"/>
                  </a:solidFill>
                </a:rPr>
                <a:t>);</a:t>
              </a:r>
            </a:p>
            <a:p>
              <a:r>
                <a:rPr lang="en-US" dirty="0" err="1" smtClean="0">
                  <a:solidFill>
                    <a:srgbClr val="0000FF"/>
                  </a:solidFill>
                </a:rPr>
                <a:t>appValue</a:t>
              </a:r>
              <a:r>
                <a:rPr lang="en-US" dirty="0" smtClean="0">
                  <a:solidFill>
                    <a:srgbClr val="0000FF"/>
                  </a:solidFill>
                </a:rPr>
                <a:t> = (</a:t>
              </a:r>
              <a:r>
                <a:rPr lang="en-US" dirty="0" err="1" smtClean="0">
                  <a:solidFill>
                    <a:srgbClr val="00B0F0"/>
                  </a:solidFill>
                </a:rPr>
                <a:t>int</a:t>
              </a:r>
              <a:r>
                <a:rPr lang="en-US" dirty="0" smtClean="0">
                  <a:solidFill>
                    <a:srgbClr val="0000FF"/>
                  </a:solidFill>
                </a:rPr>
                <a:t>)(</a:t>
              </a:r>
              <a:r>
                <a:rPr lang="en-US" dirty="0" smtClean="0">
                  <a:solidFill>
                    <a:srgbClr val="00B050"/>
                  </a:solidFill>
                </a:rPr>
                <a:t>round</a:t>
              </a:r>
              <a:r>
                <a:rPr lang="en-US" dirty="0" smtClean="0">
                  <a:solidFill>
                    <a:srgbClr val="0000FF"/>
                  </a:solidFill>
                </a:rPr>
                <a:t>(value2)); </a:t>
              </a:r>
              <a:r>
                <a:rPr lang="en-US" dirty="0" smtClean="0">
                  <a:solidFill>
                    <a:srgbClr val="00B050"/>
                  </a:solidFill>
                </a:rPr>
                <a:t>//value2 is the </a:t>
              </a:r>
              <a:r>
                <a:rPr lang="en-US" dirty="0" smtClean="0">
                  <a:solidFill>
                    <a:srgbClr val="FF0000"/>
                  </a:solidFill>
                </a:rPr>
                <a:t>actual parameter</a:t>
              </a:r>
            </a:p>
            <a:p>
              <a:r>
                <a:rPr lang="en-US" dirty="0" err="1" smtClean="0">
                  <a:solidFill>
                    <a:srgbClr val="0000FF"/>
                  </a:solidFill>
                </a:rPr>
                <a:t>System.out.printf</a:t>
              </a:r>
              <a:r>
                <a:rPr lang="en-US" dirty="0" smtClean="0">
                  <a:solidFill>
                    <a:srgbClr val="0000FF"/>
                  </a:solidFill>
                </a:rPr>
                <a:t> (“%f approximated to %d”, value2, </a:t>
              </a:r>
              <a:r>
                <a:rPr lang="en-US" dirty="0" err="1" smtClean="0">
                  <a:solidFill>
                    <a:srgbClr val="0000FF"/>
                  </a:solidFill>
                </a:rPr>
                <a:t>appValue</a:t>
              </a:r>
              <a:r>
                <a:rPr lang="en-US" dirty="0" smtClean="0">
                  <a:solidFill>
                    <a:srgbClr val="0000FF"/>
                  </a:solidFill>
                </a:rPr>
                <a:t>);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23529" y="1236822"/>
              <a:ext cx="386010" cy="19100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7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251520" y="5157192"/>
            <a:ext cx="8712967" cy="523220"/>
            <a:chOff x="683568" y="1236822"/>
            <a:chExt cx="7488831" cy="523220"/>
          </a:xfrm>
        </p:grpSpPr>
        <p:sp>
          <p:nvSpPr>
            <p:cNvPr id="37" name="TextBox 36"/>
            <p:cNvSpPr txBox="1"/>
            <p:nvPr/>
          </p:nvSpPr>
          <p:spPr>
            <a:xfrm>
              <a:off x="1069013" y="1236822"/>
              <a:ext cx="7103386" cy="523220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chemeClr val="bg1"/>
                  </a:solidFill>
                </a:rPr>
                <a:t>50.23 approximated to 50 </a:t>
              </a:r>
            </a:p>
            <a:p>
              <a:r>
                <a:rPr lang="en-US" sz="1400" dirty="0" smtClean="0">
                  <a:solidFill>
                    <a:schemeClr val="bg1"/>
                  </a:solidFill>
                </a:rPr>
                <a:t>50.55 approximated to 51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83568" y="1236822"/>
              <a:ext cx="2160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rgbClr val="FF0000"/>
                  </a:solidFill>
                </a:rPr>
                <a:t>1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2</a:t>
              </a:r>
              <a:endParaRPr lang="en-US" sz="1400" dirty="0" smtClean="0">
                <a:solidFill>
                  <a:srgbClr val="FF0000"/>
                </a:solidFill>
              </a:endParaRPr>
            </a:p>
          </p:txBody>
        </p:sp>
      </p:grpSp>
      <p:sp>
        <p:nvSpPr>
          <p:cNvPr id="45" name="TextBox 44"/>
          <p:cNvSpPr txBox="1"/>
          <p:nvPr/>
        </p:nvSpPr>
        <p:spPr>
          <a:xfrm>
            <a:off x="251520" y="2132856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Returns: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the closest integer to 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C0F99-418A-47AD-8EE9-8B4FF28C0C0C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251520" y="1556792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Parameter Type: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The type of 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is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double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736613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/>
      <p:bldP spid="21" grpId="0"/>
      <p:bldP spid="45" grpId="0"/>
      <p:bldP spid="2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3.2.2 CEILING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double   ceil(double   x)</a:t>
            </a:r>
            <a:endParaRPr lang="en-US" b="1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51520" y="1196752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Formal Parameter: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the value to be ceiled.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51520" y="2492896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Return Type: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double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33" name="Group 32"/>
          <p:cNvGrpSpPr/>
          <p:nvPr/>
        </p:nvGrpSpPr>
        <p:grpSpPr>
          <a:xfrm>
            <a:off x="179513" y="3068960"/>
            <a:ext cx="8784976" cy="2308324"/>
            <a:chOff x="323529" y="1236822"/>
            <a:chExt cx="7848872" cy="2170566"/>
          </a:xfrm>
        </p:grpSpPr>
        <p:sp>
          <p:nvSpPr>
            <p:cNvPr id="34" name="TextBox 33"/>
            <p:cNvSpPr txBox="1"/>
            <p:nvPr/>
          </p:nvSpPr>
          <p:spPr>
            <a:xfrm>
              <a:off x="788528" y="1236822"/>
              <a:ext cx="7383873" cy="2170566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rgbClr val="00B0F0"/>
                  </a:solidFill>
                </a:rPr>
                <a:t>import static </a:t>
              </a:r>
              <a:r>
                <a:rPr lang="en-US" dirty="0" err="1" smtClean="0">
                  <a:solidFill>
                    <a:srgbClr val="FF0000"/>
                  </a:solidFill>
                </a:rPr>
                <a:t>java.lang</a:t>
              </a:r>
              <a:r>
                <a:rPr lang="en-US" dirty="0" err="1" smtClean="0">
                  <a:solidFill>
                    <a:srgbClr val="CC0099"/>
                  </a:solidFill>
                </a:rPr>
                <a:t>.Math</a:t>
              </a:r>
              <a:r>
                <a:rPr lang="en-US" dirty="0" smtClean="0">
                  <a:solidFill>
                    <a:srgbClr val="00B0F0"/>
                  </a:solidFill>
                </a:rPr>
                <a:t>.*</a:t>
              </a:r>
              <a:r>
                <a:rPr lang="en-US" dirty="0" smtClean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smtClean="0">
                  <a:solidFill>
                    <a:srgbClr val="00B0F0"/>
                  </a:solidFill>
                </a:rPr>
                <a:t>double </a:t>
              </a:r>
              <a:r>
                <a:rPr lang="en-US" smtClean="0">
                  <a:solidFill>
                    <a:srgbClr val="0000FF"/>
                  </a:solidFill>
                </a:rPr>
                <a:t>ceiledValue1, </a:t>
              </a:r>
              <a:r>
                <a:rPr lang="en-US" dirty="0" smtClean="0">
                  <a:solidFill>
                    <a:srgbClr val="0000FF"/>
                  </a:solidFill>
                </a:rPr>
                <a:t>ceiledValue2, ceiledValue3;	</a:t>
              </a:r>
              <a:r>
                <a:rPr lang="en-US" dirty="0" smtClean="0">
                  <a:solidFill>
                    <a:srgbClr val="00B050"/>
                  </a:solidFill>
                </a:rPr>
                <a:t>//return values</a:t>
              </a:r>
            </a:p>
            <a:p>
              <a:r>
                <a:rPr lang="en-US" dirty="0" smtClean="0">
                  <a:solidFill>
                    <a:srgbClr val="00B0F0"/>
                  </a:solidFill>
                </a:rPr>
                <a:t>double</a:t>
              </a:r>
              <a:r>
                <a:rPr lang="en-US" dirty="0" smtClean="0">
                  <a:solidFill>
                    <a:srgbClr val="0000FF"/>
                  </a:solidFill>
                </a:rPr>
                <a:t> value1= 50.23, value2= 50.55, value3= -3.5; </a:t>
              </a:r>
              <a:endParaRPr lang="en-US" dirty="0" smtClean="0">
                <a:solidFill>
                  <a:srgbClr val="00B050"/>
                </a:solidFill>
              </a:endParaRPr>
            </a:p>
            <a:p>
              <a:r>
                <a:rPr lang="en-US" dirty="0" smtClean="0">
                  <a:solidFill>
                    <a:srgbClr val="0000FF"/>
                  </a:solidFill>
                </a:rPr>
                <a:t>ceiledValue1 = </a:t>
              </a:r>
              <a:r>
                <a:rPr lang="en-US" dirty="0" smtClean="0">
                  <a:solidFill>
                    <a:srgbClr val="00B050"/>
                  </a:solidFill>
                </a:rPr>
                <a:t>ceil</a:t>
              </a:r>
              <a:r>
                <a:rPr lang="en-US" dirty="0" smtClean="0">
                  <a:solidFill>
                    <a:srgbClr val="0000FF"/>
                  </a:solidFill>
                </a:rPr>
                <a:t>(value1); </a:t>
              </a:r>
              <a:r>
                <a:rPr lang="en-US" dirty="0" smtClean="0">
                  <a:solidFill>
                    <a:srgbClr val="00B050"/>
                  </a:solidFill>
                </a:rPr>
                <a:t>//value1 is the </a:t>
              </a:r>
              <a:r>
                <a:rPr lang="en-US" dirty="0" smtClean="0">
                  <a:solidFill>
                    <a:srgbClr val="FF0000"/>
                  </a:solidFill>
                </a:rPr>
                <a:t>actual parameter</a:t>
              </a:r>
            </a:p>
            <a:p>
              <a:r>
                <a:rPr lang="en-US" dirty="0" smtClean="0">
                  <a:solidFill>
                    <a:srgbClr val="0000FF"/>
                  </a:solidFill>
                </a:rPr>
                <a:t>ceiledValue2 = </a:t>
              </a:r>
              <a:r>
                <a:rPr lang="en-US" dirty="0" smtClean="0">
                  <a:solidFill>
                    <a:srgbClr val="00B050"/>
                  </a:solidFill>
                </a:rPr>
                <a:t>ceil</a:t>
              </a:r>
              <a:r>
                <a:rPr lang="en-US" dirty="0" smtClean="0">
                  <a:solidFill>
                    <a:srgbClr val="0000FF"/>
                  </a:solidFill>
                </a:rPr>
                <a:t>(value2);</a:t>
              </a:r>
              <a:r>
                <a:rPr lang="en-US" dirty="0" smtClean="0">
                  <a:solidFill>
                    <a:srgbClr val="00B050"/>
                  </a:solidFill>
                </a:rPr>
                <a:t> //value2 is the </a:t>
              </a:r>
              <a:r>
                <a:rPr lang="en-US" dirty="0" smtClean="0">
                  <a:solidFill>
                    <a:srgbClr val="FF0000"/>
                  </a:solidFill>
                </a:rPr>
                <a:t>actual parameter</a:t>
              </a:r>
            </a:p>
            <a:p>
              <a:r>
                <a:rPr lang="en-US" dirty="0" smtClean="0">
                  <a:solidFill>
                    <a:srgbClr val="0000FF"/>
                  </a:solidFill>
                </a:rPr>
                <a:t>ceiledValue3 = </a:t>
              </a:r>
              <a:r>
                <a:rPr lang="en-US" dirty="0" smtClean="0">
                  <a:solidFill>
                    <a:srgbClr val="00B050"/>
                  </a:solidFill>
                </a:rPr>
                <a:t>ceil</a:t>
              </a:r>
              <a:r>
                <a:rPr lang="en-US" dirty="0" smtClean="0">
                  <a:solidFill>
                    <a:srgbClr val="0000FF"/>
                  </a:solidFill>
                </a:rPr>
                <a:t>(value3);</a:t>
              </a:r>
              <a:r>
                <a:rPr lang="en-US" dirty="0" smtClean="0">
                  <a:solidFill>
                    <a:srgbClr val="00B050"/>
                  </a:solidFill>
                </a:rPr>
                <a:t> //value3 is the </a:t>
              </a:r>
              <a:r>
                <a:rPr lang="en-US" dirty="0" smtClean="0">
                  <a:solidFill>
                    <a:srgbClr val="FF0000"/>
                  </a:solidFill>
                </a:rPr>
                <a:t>actual parameter</a:t>
              </a:r>
            </a:p>
            <a:p>
              <a:r>
                <a:rPr lang="en-US" dirty="0" err="1" smtClean="0">
                  <a:solidFill>
                    <a:srgbClr val="0000FF"/>
                  </a:solidFill>
                </a:rPr>
                <a:t>System.out.printf</a:t>
              </a:r>
              <a:r>
                <a:rPr lang="en-US" dirty="0" smtClean="0">
                  <a:solidFill>
                    <a:srgbClr val="0000FF"/>
                  </a:solidFill>
                </a:rPr>
                <a:t> (“%f ceiled to %f %n %f ceiled to %f %n %f ceiled to %f”, value1, ceiledValue1, value2, ceiledValue2, value3, ceiledValue3);</a:t>
              </a:r>
              <a:endParaRPr lang="en-US" dirty="0" smtClean="0">
                <a:solidFill>
                  <a:srgbClr val="00B050"/>
                </a:solidFill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23529" y="1236822"/>
              <a:ext cx="386010" cy="21705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8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251520" y="5445224"/>
            <a:ext cx="8712967" cy="738664"/>
            <a:chOff x="683568" y="1183978"/>
            <a:chExt cx="7488831" cy="738664"/>
          </a:xfrm>
        </p:grpSpPr>
        <p:sp>
          <p:nvSpPr>
            <p:cNvPr id="37" name="TextBox 36"/>
            <p:cNvSpPr txBox="1"/>
            <p:nvPr/>
          </p:nvSpPr>
          <p:spPr>
            <a:xfrm>
              <a:off x="1069013" y="1183978"/>
              <a:ext cx="7103386" cy="738664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chemeClr val="bg1"/>
                  </a:solidFill>
                </a:rPr>
                <a:t>50.23 ceiled to 51.0</a:t>
              </a:r>
            </a:p>
            <a:p>
              <a:r>
                <a:rPr lang="en-US" sz="1400" dirty="0" smtClean="0">
                  <a:solidFill>
                    <a:schemeClr val="bg1"/>
                  </a:solidFill>
                </a:rPr>
                <a:t>50.55 ceiled to 51.0</a:t>
              </a:r>
            </a:p>
            <a:p>
              <a:r>
                <a:rPr lang="en-US" sz="1400" dirty="0" smtClean="0">
                  <a:solidFill>
                    <a:schemeClr val="bg1"/>
                  </a:solidFill>
                </a:rPr>
                <a:t>-3.5 ceiled to -3.0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83568" y="1183978"/>
              <a:ext cx="21602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rgbClr val="FF0000"/>
                  </a:solidFill>
                </a:rPr>
                <a:t>1</a:t>
              </a:r>
            </a:p>
            <a:p>
              <a:r>
                <a:rPr lang="en-US" sz="1400" dirty="0" smtClean="0">
                  <a:solidFill>
                    <a:srgbClr val="FF0000"/>
                  </a:solidFill>
                </a:rPr>
                <a:t>2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3</a:t>
              </a:r>
              <a:endParaRPr lang="en-US" sz="1400" dirty="0" smtClean="0">
                <a:solidFill>
                  <a:srgbClr val="FF0000"/>
                </a:solidFill>
              </a:endParaRPr>
            </a:p>
          </p:txBody>
        </p:sp>
      </p:grpSp>
      <p:sp>
        <p:nvSpPr>
          <p:cNvPr id="45" name="TextBox 44"/>
          <p:cNvSpPr txBox="1"/>
          <p:nvPr/>
        </p:nvSpPr>
        <p:spPr>
          <a:xfrm>
            <a:off x="251520" y="2132856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Returns: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the smallest whole value that is not less than 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C0F99-418A-47AD-8EE9-8B4FF28C0C0C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251520" y="1556792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Parameter Type: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The type of 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is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double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884956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/>
      <p:bldP spid="21" grpId="0"/>
      <p:bldP spid="45" grpId="0"/>
      <p:bldP spid="2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3.2.3 FLOORING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double   floor(double   x)</a:t>
            </a:r>
            <a:endParaRPr lang="en-US" b="1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51520" y="1196752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Formal Parameter: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the value to be floored.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51520" y="2492896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Return Type: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double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33" name="Group 32"/>
          <p:cNvGrpSpPr/>
          <p:nvPr/>
        </p:nvGrpSpPr>
        <p:grpSpPr>
          <a:xfrm>
            <a:off x="179513" y="3068960"/>
            <a:ext cx="8784976" cy="2308324"/>
            <a:chOff x="323529" y="1236822"/>
            <a:chExt cx="7848872" cy="2170566"/>
          </a:xfrm>
        </p:grpSpPr>
        <p:sp>
          <p:nvSpPr>
            <p:cNvPr id="34" name="TextBox 33"/>
            <p:cNvSpPr txBox="1"/>
            <p:nvPr/>
          </p:nvSpPr>
          <p:spPr>
            <a:xfrm>
              <a:off x="788528" y="1236822"/>
              <a:ext cx="7383873" cy="2170566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rgbClr val="00B0F0"/>
                  </a:solidFill>
                </a:rPr>
                <a:t>import static </a:t>
              </a:r>
              <a:r>
                <a:rPr lang="en-US" dirty="0" err="1" smtClean="0">
                  <a:solidFill>
                    <a:srgbClr val="FF0000"/>
                  </a:solidFill>
                </a:rPr>
                <a:t>java.lang</a:t>
              </a:r>
              <a:r>
                <a:rPr lang="en-US" dirty="0" err="1" smtClean="0">
                  <a:solidFill>
                    <a:srgbClr val="CC0099"/>
                  </a:solidFill>
                </a:rPr>
                <a:t>.Math</a:t>
              </a:r>
              <a:r>
                <a:rPr lang="en-US" dirty="0" smtClean="0">
                  <a:solidFill>
                    <a:srgbClr val="00B0F0"/>
                  </a:solidFill>
                </a:rPr>
                <a:t>.*</a:t>
              </a:r>
              <a:r>
                <a:rPr lang="en-US" dirty="0" smtClean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dirty="0" smtClean="0">
                  <a:solidFill>
                    <a:srgbClr val="00B0F0"/>
                  </a:solidFill>
                </a:rPr>
                <a:t>double </a:t>
              </a:r>
              <a:r>
                <a:rPr lang="en-US" dirty="0" smtClean="0">
                  <a:solidFill>
                    <a:srgbClr val="0000FF"/>
                  </a:solidFill>
                </a:rPr>
                <a:t>floorValue1, floorValue2, floorValue3;	</a:t>
              </a:r>
              <a:r>
                <a:rPr lang="en-US" dirty="0" smtClean="0">
                  <a:solidFill>
                    <a:srgbClr val="00B050"/>
                  </a:solidFill>
                </a:rPr>
                <a:t>//return values</a:t>
              </a:r>
            </a:p>
            <a:p>
              <a:r>
                <a:rPr lang="en-US" dirty="0" smtClean="0">
                  <a:solidFill>
                    <a:srgbClr val="00B0F0"/>
                  </a:solidFill>
                </a:rPr>
                <a:t>double</a:t>
              </a:r>
              <a:r>
                <a:rPr lang="en-US" dirty="0" smtClean="0">
                  <a:solidFill>
                    <a:srgbClr val="0000FF"/>
                  </a:solidFill>
                </a:rPr>
                <a:t> value1= 50.23, value2= 50.55, value3= -3.5; </a:t>
              </a:r>
              <a:endParaRPr lang="en-US" dirty="0" smtClean="0">
                <a:solidFill>
                  <a:srgbClr val="00B050"/>
                </a:solidFill>
              </a:endParaRPr>
            </a:p>
            <a:p>
              <a:r>
                <a:rPr lang="en-US" dirty="0" smtClean="0">
                  <a:solidFill>
                    <a:srgbClr val="0000FF"/>
                  </a:solidFill>
                </a:rPr>
                <a:t>floorValue1 = </a:t>
              </a:r>
              <a:r>
                <a:rPr lang="en-US" dirty="0" smtClean="0">
                  <a:solidFill>
                    <a:srgbClr val="00B050"/>
                  </a:solidFill>
                </a:rPr>
                <a:t>floor</a:t>
              </a:r>
              <a:r>
                <a:rPr lang="en-US" dirty="0" smtClean="0">
                  <a:solidFill>
                    <a:srgbClr val="0000FF"/>
                  </a:solidFill>
                </a:rPr>
                <a:t>(value1); </a:t>
              </a:r>
              <a:r>
                <a:rPr lang="en-US" dirty="0" smtClean="0">
                  <a:solidFill>
                    <a:srgbClr val="00B050"/>
                  </a:solidFill>
                </a:rPr>
                <a:t>//value1 is the </a:t>
              </a:r>
              <a:r>
                <a:rPr lang="en-US" dirty="0" smtClean="0">
                  <a:solidFill>
                    <a:srgbClr val="FF0000"/>
                  </a:solidFill>
                </a:rPr>
                <a:t>actual parameter</a:t>
              </a:r>
            </a:p>
            <a:p>
              <a:r>
                <a:rPr lang="en-US" dirty="0" smtClean="0">
                  <a:solidFill>
                    <a:srgbClr val="0000FF"/>
                  </a:solidFill>
                </a:rPr>
                <a:t>floorValue2 = </a:t>
              </a:r>
              <a:r>
                <a:rPr lang="en-US" dirty="0" smtClean="0">
                  <a:solidFill>
                    <a:srgbClr val="00B050"/>
                  </a:solidFill>
                </a:rPr>
                <a:t>floor</a:t>
              </a:r>
              <a:r>
                <a:rPr lang="en-US" dirty="0" smtClean="0">
                  <a:solidFill>
                    <a:srgbClr val="0000FF"/>
                  </a:solidFill>
                </a:rPr>
                <a:t>(value2);</a:t>
              </a:r>
              <a:r>
                <a:rPr lang="en-US" dirty="0" smtClean="0">
                  <a:solidFill>
                    <a:srgbClr val="00B050"/>
                  </a:solidFill>
                </a:rPr>
                <a:t> //value2 is the </a:t>
              </a:r>
              <a:r>
                <a:rPr lang="en-US" dirty="0" smtClean="0">
                  <a:solidFill>
                    <a:srgbClr val="FF0000"/>
                  </a:solidFill>
                </a:rPr>
                <a:t>actual parameter</a:t>
              </a:r>
            </a:p>
            <a:p>
              <a:r>
                <a:rPr lang="en-US" dirty="0" smtClean="0">
                  <a:solidFill>
                    <a:srgbClr val="0000FF"/>
                  </a:solidFill>
                </a:rPr>
                <a:t>floorValue3 = </a:t>
              </a:r>
              <a:r>
                <a:rPr lang="en-US" dirty="0" smtClean="0">
                  <a:solidFill>
                    <a:srgbClr val="00B050"/>
                  </a:solidFill>
                </a:rPr>
                <a:t>floor</a:t>
              </a:r>
              <a:r>
                <a:rPr lang="en-US" dirty="0" smtClean="0">
                  <a:solidFill>
                    <a:srgbClr val="0000FF"/>
                  </a:solidFill>
                </a:rPr>
                <a:t>(value3);</a:t>
              </a:r>
              <a:r>
                <a:rPr lang="en-US" dirty="0" smtClean="0">
                  <a:solidFill>
                    <a:srgbClr val="00B050"/>
                  </a:solidFill>
                </a:rPr>
                <a:t> //value3 is the </a:t>
              </a:r>
              <a:r>
                <a:rPr lang="en-US" dirty="0" smtClean="0">
                  <a:solidFill>
                    <a:srgbClr val="FF0000"/>
                  </a:solidFill>
                </a:rPr>
                <a:t>actual parameter</a:t>
              </a:r>
            </a:p>
            <a:p>
              <a:r>
                <a:rPr lang="en-US" dirty="0" err="1" smtClean="0">
                  <a:solidFill>
                    <a:srgbClr val="0000FF"/>
                  </a:solidFill>
                </a:rPr>
                <a:t>System.out.printf</a:t>
              </a:r>
              <a:r>
                <a:rPr lang="en-US" dirty="0" smtClean="0">
                  <a:solidFill>
                    <a:srgbClr val="0000FF"/>
                  </a:solidFill>
                </a:rPr>
                <a:t> (“%f floored to %f %n %f floored to %f %n %f floored to %f”, value1, floorValue1, value2, floorValue2, value3, floorValue3);</a:t>
              </a:r>
              <a:endParaRPr lang="en-US" dirty="0" smtClean="0">
                <a:solidFill>
                  <a:srgbClr val="00B050"/>
                </a:solidFill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23529" y="1236822"/>
              <a:ext cx="386010" cy="21705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8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251520" y="5445224"/>
            <a:ext cx="8712967" cy="738664"/>
            <a:chOff x="683568" y="1183978"/>
            <a:chExt cx="7488831" cy="738664"/>
          </a:xfrm>
        </p:grpSpPr>
        <p:sp>
          <p:nvSpPr>
            <p:cNvPr id="37" name="TextBox 36"/>
            <p:cNvSpPr txBox="1"/>
            <p:nvPr/>
          </p:nvSpPr>
          <p:spPr>
            <a:xfrm>
              <a:off x="1069013" y="1183978"/>
              <a:ext cx="7103386" cy="738664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chemeClr val="bg1"/>
                  </a:solidFill>
                </a:rPr>
                <a:t>50.23 floored to 50.0</a:t>
              </a:r>
            </a:p>
            <a:p>
              <a:r>
                <a:rPr lang="en-US" sz="1400" dirty="0" smtClean="0">
                  <a:solidFill>
                    <a:schemeClr val="bg1"/>
                  </a:solidFill>
                </a:rPr>
                <a:t>50.55 floored to 50.0</a:t>
              </a:r>
            </a:p>
            <a:p>
              <a:r>
                <a:rPr lang="en-US" sz="1400" dirty="0" smtClean="0">
                  <a:solidFill>
                    <a:schemeClr val="bg1"/>
                  </a:solidFill>
                </a:rPr>
                <a:t>-3.5 floored to -4.0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83568" y="1183978"/>
              <a:ext cx="21602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rgbClr val="FF0000"/>
                  </a:solidFill>
                </a:rPr>
                <a:t>1</a:t>
              </a:r>
            </a:p>
            <a:p>
              <a:r>
                <a:rPr lang="en-US" sz="1400" dirty="0" smtClean="0">
                  <a:solidFill>
                    <a:srgbClr val="FF0000"/>
                  </a:solidFill>
                </a:rPr>
                <a:t>2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3</a:t>
              </a:r>
              <a:endParaRPr lang="en-US" sz="1400" dirty="0" smtClean="0">
                <a:solidFill>
                  <a:srgbClr val="FF0000"/>
                </a:solidFill>
              </a:endParaRPr>
            </a:p>
          </p:txBody>
        </p:sp>
      </p:grpSp>
      <p:sp>
        <p:nvSpPr>
          <p:cNvPr id="45" name="TextBox 44"/>
          <p:cNvSpPr txBox="1"/>
          <p:nvPr/>
        </p:nvSpPr>
        <p:spPr>
          <a:xfrm>
            <a:off x="251520" y="2132856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Returns: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the largest whole value that is less than 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C0F99-418A-47AD-8EE9-8B4FF28C0C0C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251520" y="1556792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Parameter Type: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The type of 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is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double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898222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/>
      <p:bldP spid="21" grpId="0"/>
      <p:bldP spid="45" grpId="0"/>
      <p:bldP spid="2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3.3 POWER METHODS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323528" y="764704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These include the following: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771800" y="1268760"/>
            <a:ext cx="3600400" cy="6480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POWER METHODS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491880" y="2060848"/>
            <a:ext cx="3960440" cy="576064"/>
          </a:xfrm>
          <a:prstGeom prst="roundRect">
            <a:avLst/>
          </a:prstGeom>
          <a:solidFill>
            <a:srgbClr val="FFFFE5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rgbClr val="0000FF"/>
                </a:solidFill>
              </a:rPr>
              <a:t>3.3.1 Exponential: </a:t>
            </a:r>
          </a:p>
          <a:p>
            <a:pPr algn="ctr"/>
            <a:r>
              <a:rPr lang="en-US" dirty="0" smtClean="0">
                <a:solidFill>
                  <a:srgbClr val="00B0F0"/>
                </a:solidFill>
              </a:rPr>
              <a:t>double</a:t>
            </a:r>
            <a:r>
              <a:rPr lang="en-US" dirty="0" smtClean="0">
                <a:solidFill>
                  <a:srgbClr val="0000FF"/>
                </a:solidFill>
              </a:rPr>
              <a:t>   </a:t>
            </a:r>
            <a:r>
              <a:rPr lang="en-US" dirty="0" err="1" smtClean="0">
                <a:solidFill>
                  <a:srgbClr val="00B050"/>
                </a:solidFill>
              </a:rPr>
              <a:t>exp</a:t>
            </a:r>
            <a:r>
              <a:rPr lang="en-US" dirty="0" smtClean="0">
                <a:solidFill>
                  <a:srgbClr val="0000FF"/>
                </a:solidFill>
              </a:rPr>
              <a:t>(</a:t>
            </a:r>
            <a:r>
              <a:rPr lang="en-US" dirty="0" smtClean="0">
                <a:solidFill>
                  <a:srgbClr val="00B0F0"/>
                </a:solidFill>
              </a:rPr>
              <a:t>double</a:t>
            </a:r>
            <a:r>
              <a:rPr lang="en-US" dirty="0" smtClean="0">
                <a:solidFill>
                  <a:srgbClr val="0000FF"/>
                </a:solidFill>
              </a:rPr>
              <a:t> x)</a:t>
            </a:r>
            <a:endParaRPr lang="en-US" dirty="0">
              <a:solidFill>
                <a:srgbClr val="0000FF"/>
              </a:solidFill>
            </a:endParaRPr>
          </a:p>
        </p:txBody>
      </p:sp>
      <p:cxnSp>
        <p:nvCxnSpPr>
          <p:cNvPr id="22" name="Straight Connector 21"/>
          <p:cNvCxnSpPr/>
          <p:nvPr/>
        </p:nvCxnSpPr>
        <p:spPr>
          <a:xfrm>
            <a:off x="3131840" y="1916832"/>
            <a:ext cx="0" cy="43924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3131840" y="2348880"/>
            <a:ext cx="36004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491880" y="2996952"/>
            <a:ext cx="3960440" cy="576064"/>
          </a:xfrm>
          <a:prstGeom prst="roundRect">
            <a:avLst/>
          </a:prstGeom>
          <a:solidFill>
            <a:srgbClr val="FFFFE5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rgbClr val="0000FF"/>
                </a:solidFill>
              </a:rPr>
              <a:t>3.3.2 Logarithm to base e: </a:t>
            </a:r>
          </a:p>
          <a:p>
            <a:pPr algn="ctr"/>
            <a:r>
              <a:rPr lang="en-US" dirty="0" smtClean="0">
                <a:solidFill>
                  <a:srgbClr val="00B0F0"/>
                </a:solidFill>
              </a:rPr>
              <a:t>double   </a:t>
            </a:r>
            <a:r>
              <a:rPr lang="en-US" dirty="0" smtClean="0">
                <a:solidFill>
                  <a:srgbClr val="00B050"/>
                </a:solidFill>
              </a:rPr>
              <a:t>log</a:t>
            </a:r>
            <a:r>
              <a:rPr lang="en-US" dirty="0" smtClean="0">
                <a:solidFill>
                  <a:srgbClr val="0000FF"/>
                </a:solidFill>
              </a:rPr>
              <a:t>(</a:t>
            </a:r>
            <a:r>
              <a:rPr lang="en-US" dirty="0" smtClean="0">
                <a:solidFill>
                  <a:srgbClr val="00B0F0"/>
                </a:solidFill>
              </a:rPr>
              <a:t>double </a:t>
            </a:r>
            <a:r>
              <a:rPr lang="en-US" dirty="0" smtClean="0">
                <a:solidFill>
                  <a:srgbClr val="0000FF"/>
                </a:solidFill>
              </a:rPr>
              <a:t>x)</a:t>
            </a:r>
            <a:endParaRPr lang="en-US" dirty="0">
              <a:solidFill>
                <a:srgbClr val="0000FF"/>
              </a:solidFill>
            </a:endParaRPr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3131840" y="3284984"/>
            <a:ext cx="36004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3491880" y="3861048"/>
            <a:ext cx="3960440" cy="576064"/>
          </a:xfrm>
          <a:prstGeom prst="roundRect">
            <a:avLst/>
          </a:prstGeom>
          <a:solidFill>
            <a:srgbClr val="FFFFE5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rgbClr val="0000FF"/>
                </a:solidFill>
              </a:rPr>
              <a:t>3.3.3 Logarithm to base 10: </a:t>
            </a:r>
          </a:p>
          <a:p>
            <a:pPr algn="ctr"/>
            <a:r>
              <a:rPr lang="en-US" dirty="0" smtClean="0">
                <a:solidFill>
                  <a:srgbClr val="00B0F0"/>
                </a:solidFill>
              </a:rPr>
              <a:t>double</a:t>
            </a:r>
            <a:r>
              <a:rPr lang="en-US" dirty="0" smtClean="0">
                <a:solidFill>
                  <a:srgbClr val="0000FF"/>
                </a:solidFill>
              </a:rPr>
              <a:t>   </a:t>
            </a:r>
            <a:r>
              <a:rPr lang="en-US" dirty="0" smtClean="0">
                <a:solidFill>
                  <a:srgbClr val="00B050"/>
                </a:solidFill>
              </a:rPr>
              <a:t>log10</a:t>
            </a:r>
            <a:r>
              <a:rPr lang="en-US" dirty="0" smtClean="0">
                <a:solidFill>
                  <a:srgbClr val="0000FF"/>
                </a:solidFill>
              </a:rPr>
              <a:t>(</a:t>
            </a:r>
            <a:r>
              <a:rPr lang="en-US" dirty="0" smtClean="0">
                <a:solidFill>
                  <a:srgbClr val="00B0F0"/>
                </a:solidFill>
              </a:rPr>
              <a:t>double</a:t>
            </a:r>
            <a:r>
              <a:rPr lang="en-US" dirty="0" smtClean="0">
                <a:solidFill>
                  <a:srgbClr val="0000FF"/>
                </a:solidFill>
              </a:rPr>
              <a:t> x)</a:t>
            </a:r>
            <a:endParaRPr lang="en-US" dirty="0">
              <a:solidFill>
                <a:srgbClr val="0000FF"/>
              </a:solidFill>
            </a:endParaRPr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3131840" y="4149080"/>
            <a:ext cx="36004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491880" y="5661248"/>
            <a:ext cx="3960440" cy="576064"/>
          </a:xfrm>
          <a:prstGeom prst="roundRect">
            <a:avLst/>
          </a:prstGeom>
          <a:solidFill>
            <a:srgbClr val="FFFFE5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rgbClr val="0000FF"/>
                </a:solidFill>
              </a:rPr>
              <a:t>3.3.5 Power: </a:t>
            </a:r>
          </a:p>
          <a:p>
            <a:pPr algn="ctr"/>
            <a:r>
              <a:rPr lang="en-US" dirty="0" smtClean="0">
                <a:solidFill>
                  <a:srgbClr val="00B0F0"/>
                </a:solidFill>
              </a:rPr>
              <a:t>double</a:t>
            </a:r>
            <a:r>
              <a:rPr lang="en-US" dirty="0" smtClean="0">
                <a:solidFill>
                  <a:srgbClr val="0000FF"/>
                </a:solidFill>
              </a:rPr>
              <a:t>   </a:t>
            </a:r>
            <a:r>
              <a:rPr lang="en-US" dirty="0" smtClean="0">
                <a:solidFill>
                  <a:srgbClr val="00B050"/>
                </a:solidFill>
              </a:rPr>
              <a:t>pow</a:t>
            </a:r>
            <a:r>
              <a:rPr lang="en-US" dirty="0" smtClean="0">
                <a:solidFill>
                  <a:srgbClr val="0000FF"/>
                </a:solidFill>
              </a:rPr>
              <a:t>(</a:t>
            </a:r>
            <a:r>
              <a:rPr lang="en-US" dirty="0" smtClean="0">
                <a:solidFill>
                  <a:srgbClr val="00B0F0"/>
                </a:solidFill>
              </a:rPr>
              <a:t>double</a:t>
            </a:r>
            <a:r>
              <a:rPr lang="en-US" dirty="0" smtClean="0">
                <a:solidFill>
                  <a:srgbClr val="0000FF"/>
                </a:solidFill>
              </a:rPr>
              <a:t> x, </a:t>
            </a:r>
            <a:r>
              <a:rPr lang="en-US" dirty="0" smtClean="0">
                <a:solidFill>
                  <a:srgbClr val="00B0F0"/>
                </a:solidFill>
              </a:rPr>
              <a:t>double</a:t>
            </a:r>
            <a:r>
              <a:rPr lang="en-US" dirty="0" smtClean="0">
                <a:solidFill>
                  <a:srgbClr val="0000FF"/>
                </a:solidFill>
              </a:rPr>
              <a:t> y)</a:t>
            </a:r>
            <a:endParaRPr lang="en-US" dirty="0">
              <a:solidFill>
                <a:srgbClr val="0000FF"/>
              </a:solidFill>
            </a:endParaRPr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3131840" y="5949280"/>
            <a:ext cx="36004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491880" y="4797152"/>
            <a:ext cx="3960440" cy="576064"/>
          </a:xfrm>
          <a:prstGeom prst="roundRect">
            <a:avLst/>
          </a:prstGeom>
          <a:solidFill>
            <a:srgbClr val="FFFFE5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rgbClr val="0000FF"/>
                </a:solidFill>
              </a:rPr>
              <a:t>3.3.4 Square root: </a:t>
            </a:r>
          </a:p>
          <a:p>
            <a:pPr algn="ctr"/>
            <a:r>
              <a:rPr lang="en-US" dirty="0" smtClean="0">
                <a:solidFill>
                  <a:srgbClr val="00B0F0"/>
                </a:solidFill>
              </a:rPr>
              <a:t>double</a:t>
            </a:r>
            <a:r>
              <a:rPr lang="en-US" dirty="0" smtClean="0">
                <a:solidFill>
                  <a:srgbClr val="0000FF"/>
                </a:solidFill>
              </a:rPr>
              <a:t>   </a:t>
            </a:r>
            <a:r>
              <a:rPr lang="en-US" dirty="0" err="1" smtClean="0">
                <a:solidFill>
                  <a:srgbClr val="00B050"/>
                </a:solidFill>
              </a:rPr>
              <a:t>sqrt</a:t>
            </a:r>
            <a:r>
              <a:rPr lang="en-US" dirty="0" smtClean="0">
                <a:solidFill>
                  <a:srgbClr val="0000FF"/>
                </a:solidFill>
              </a:rPr>
              <a:t>(</a:t>
            </a:r>
            <a:r>
              <a:rPr lang="en-US" dirty="0" smtClean="0">
                <a:solidFill>
                  <a:srgbClr val="00B0F0"/>
                </a:solidFill>
              </a:rPr>
              <a:t>double</a:t>
            </a:r>
            <a:r>
              <a:rPr lang="en-US" dirty="0" smtClean="0">
                <a:solidFill>
                  <a:srgbClr val="0000FF"/>
                </a:solidFill>
              </a:rPr>
              <a:t> x)</a:t>
            </a:r>
            <a:endParaRPr lang="en-US" dirty="0">
              <a:solidFill>
                <a:srgbClr val="0000FF"/>
              </a:solidFill>
            </a:endParaRPr>
          </a:p>
        </p:txBody>
      </p:sp>
      <p:cxnSp>
        <p:nvCxnSpPr>
          <p:cNvPr id="25" name="Straight Arrow Connector 24"/>
          <p:cNvCxnSpPr/>
          <p:nvPr/>
        </p:nvCxnSpPr>
        <p:spPr>
          <a:xfrm>
            <a:off x="3131840" y="5085184"/>
            <a:ext cx="36004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2464609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5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15" grpId="0" animBg="1"/>
      <p:bldP spid="16" grpId="0" animBg="1"/>
      <p:bldP spid="20" grpId="0" animBg="1"/>
      <p:bldP spid="27" grpId="0" animBg="1"/>
      <p:bldP spid="14" grpId="0" animBg="1"/>
      <p:bldP spid="2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3.3.1 EXPONENTIAL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double   </a:t>
            </a:r>
            <a:r>
              <a:rPr lang="en-US" b="1" dirty="0" err="1" smtClean="0"/>
              <a:t>exp</a:t>
            </a:r>
            <a:r>
              <a:rPr lang="en-US" b="1" dirty="0" smtClean="0"/>
              <a:t> (double   x)</a:t>
            </a:r>
            <a:endParaRPr lang="en-US" b="1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51520" y="1196752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Formal Parameter: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the power of 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lang="en-US" sz="2000" baseline="30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51520" y="2492896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Return Type: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double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33" name="Group 32"/>
          <p:cNvGrpSpPr/>
          <p:nvPr/>
        </p:nvGrpSpPr>
        <p:grpSpPr>
          <a:xfrm>
            <a:off x="179513" y="3068960"/>
            <a:ext cx="8784976" cy="1200329"/>
            <a:chOff x="323529" y="1236822"/>
            <a:chExt cx="7848872" cy="1128695"/>
          </a:xfrm>
        </p:grpSpPr>
        <p:sp>
          <p:nvSpPr>
            <p:cNvPr id="34" name="TextBox 33"/>
            <p:cNvSpPr txBox="1"/>
            <p:nvPr/>
          </p:nvSpPr>
          <p:spPr>
            <a:xfrm>
              <a:off x="788528" y="1236822"/>
              <a:ext cx="7383873" cy="1128695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rgbClr val="00B0F0"/>
                  </a:solidFill>
                </a:rPr>
                <a:t>import static </a:t>
              </a:r>
              <a:r>
                <a:rPr lang="en-US" dirty="0" err="1" smtClean="0">
                  <a:solidFill>
                    <a:srgbClr val="FF0000"/>
                  </a:solidFill>
                </a:rPr>
                <a:t>java.lang</a:t>
              </a:r>
              <a:r>
                <a:rPr lang="en-US" dirty="0" err="1" smtClean="0">
                  <a:solidFill>
                    <a:srgbClr val="CC0099"/>
                  </a:solidFill>
                </a:rPr>
                <a:t>.Math</a:t>
              </a:r>
              <a:r>
                <a:rPr lang="en-US" dirty="0" smtClean="0">
                  <a:solidFill>
                    <a:srgbClr val="00B0F0"/>
                  </a:solidFill>
                </a:rPr>
                <a:t>.*</a:t>
              </a:r>
              <a:r>
                <a:rPr lang="en-US" dirty="0" smtClean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dirty="0" smtClean="0">
                  <a:solidFill>
                    <a:srgbClr val="00B0F0"/>
                  </a:solidFill>
                </a:rPr>
                <a:t>double</a:t>
              </a:r>
              <a:r>
                <a:rPr lang="en-US" dirty="0" smtClean="0">
                  <a:solidFill>
                    <a:srgbClr val="0000FF"/>
                  </a:solidFill>
                </a:rPr>
                <a:t> </a:t>
              </a:r>
              <a:r>
                <a:rPr lang="en-US" dirty="0" err="1" smtClean="0">
                  <a:solidFill>
                    <a:srgbClr val="0000FF"/>
                  </a:solidFill>
                </a:rPr>
                <a:t>eValue</a:t>
              </a:r>
              <a:r>
                <a:rPr lang="en-US" dirty="0" smtClean="0">
                  <a:solidFill>
                    <a:srgbClr val="0000FF"/>
                  </a:solidFill>
                </a:rPr>
                <a:t>, value = 3.0; </a:t>
              </a:r>
              <a:endParaRPr lang="en-US" dirty="0" smtClean="0">
                <a:solidFill>
                  <a:srgbClr val="00B050"/>
                </a:solidFill>
              </a:endParaRPr>
            </a:p>
            <a:p>
              <a:r>
                <a:rPr lang="en-US" dirty="0" err="1" smtClean="0">
                  <a:solidFill>
                    <a:srgbClr val="0000FF"/>
                  </a:solidFill>
                </a:rPr>
                <a:t>eValue</a:t>
              </a:r>
              <a:r>
                <a:rPr lang="en-US" dirty="0" smtClean="0">
                  <a:solidFill>
                    <a:srgbClr val="0000FF"/>
                  </a:solidFill>
                </a:rPr>
                <a:t> = </a:t>
              </a:r>
              <a:r>
                <a:rPr lang="en-US" dirty="0" err="1" smtClean="0">
                  <a:solidFill>
                    <a:srgbClr val="00B050"/>
                  </a:solidFill>
                </a:rPr>
                <a:t>exp</a:t>
              </a:r>
              <a:r>
                <a:rPr lang="en-US" dirty="0" smtClean="0">
                  <a:solidFill>
                    <a:srgbClr val="0000FF"/>
                  </a:solidFill>
                </a:rPr>
                <a:t>(value); </a:t>
              </a:r>
              <a:r>
                <a:rPr lang="en-US" dirty="0" smtClean="0">
                  <a:solidFill>
                    <a:srgbClr val="00B050"/>
                  </a:solidFill>
                </a:rPr>
                <a:t>//value is the </a:t>
              </a:r>
              <a:r>
                <a:rPr lang="en-US" dirty="0" smtClean="0">
                  <a:solidFill>
                    <a:srgbClr val="FF0000"/>
                  </a:solidFill>
                </a:rPr>
                <a:t>actual parameter</a:t>
              </a:r>
            </a:p>
            <a:p>
              <a:r>
                <a:rPr lang="en-US" dirty="0" err="1" smtClean="0">
                  <a:solidFill>
                    <a:srgbClr val="0000FF"/>
                  </a:solidFill>
                </a:rPr>
                <a:t>System.out.printf</a:t>
              </a:r>
              <a:r>
                <a:rPr lang="en-US" dirty="0" smtClean="0">
                  <a:solidFill>
                    <a:srgbClr val="0000FF"/>
                  </a:solidFill>
                </a:rPr>
                <a:t> (“e to power %f = %.3f”, value, </a:t>
              </a:r>
              <a:r>
                <a:rPr lang="en-US" dirty="0" err="1" smtClean="0">
                  <a:solidFill>
                    <a:srgbClr val="0000FF"/>
                  </a:solidFill>
                </a:rPr>
                <a:t>eValue</a:t>
              </a:r>
              <a:r>
                <a:rPr lang="en-US" dirty="0" smtClean="0">
                  <a:solidFill>
                    <a:srgbClr val="0000FF"/>
                  </a:solidFill>
                </a:rPr>
                <a:t>);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23529" y="1236822"/>
              <a:ext cx="386010" cy="1128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4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251520" y="4365104"/>
            <a:ext cx="8712967" cy="307777"/>
            <a:chOff x="683568" y="1236822"/>
            <a:chExt cx="7488831" cy="307777"/>
          </a:xfrm>
        </p:grpSpPr>
        <p:sp>
          <p:nvSpPr>
            <p:cNvPr id="37" name="TextBox 36"/>
            <p:cNvSpPr txBox="1"/>
            <p:nvPr/>
          </p:nvSpPr>
          <p:spPr>
            <a:xfrm>
              <a:off x="1069013" y="1236822"/>
              <a:ext cx="7103386" cy="307777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chemeClr val="bg1"/>
                  </a:solidFill>
                </a:rPr>
                <a:t>e to power 3.0 = 20.086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83568" y="1236822"/>
              <a:ext cx="21602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rgbClr val="FF0000"/>
                  </a:solidFill>
                </a:rPr>
                <a:t>1</a:t>
              </a:r>
            </a:p>
          </p:txBody>
        </p:sp>
      </p:grpSp>
      <p:sp>
        <p:nvSpPr>
          <p:cNvPr id="45" name="TextBox 44"/>
          <p:cNvSpPr txBox="1"/>
          <p:nvPr/>
        </p:nvSpPr>
        <p:spPr>
          <a:xfrm>
            <a:off x="251520" y="2132856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Returns: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lang="en-US" sz="2000" baseline="30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; where 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is approximately 2.718.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C0F99-418A-47AD-8EE9-8B4FF28C0C0C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251520" y="1556792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Parameter Type: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The type of 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is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double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707569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/>
      <p:bldP spid="21" grpId="0"/>
      <p:bldP spid="45" grpId="0"/>
      <p:bldP spid="2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3.3.2 LOGARITHM TO BASE e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double   log (double   x)</a:t>
            </a:r>
            <a:endParaRPr lang="en-US" b="1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51520" y="1196752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Formal Parameter: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the value for which we want to calculate the natural log.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51520" y="2761183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Return Type: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double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33" name="Group 32"/>
          <p:cNvGrpSpPr/>
          <p:nvPr/>
        </p:nvGrpSpPr>
        <p:grpSpPr>
          <a:xfrm>
            <a:off x="179513" y="3481263"/>
            <a:ext cx="8784976" cy="1200329"/>
            <a:chOff x="323529" y="1236822"/>
            <a:chExt cx="7848872" cy="1128695"/>
          </a:xfrm>
        </p:grpSpPr>
        <p:sp>
          <p:nvSpPr>
            <p:cNvPr id="34" name="TextBox 33"/>
            <p:cNvSpPr txBox="1"/>
            <p:nvPr/>
          </p:nvSpPr>
          <p:spPr>
            <a:xfrm>
              <a:off x="788528" y="1236822"/>
              <a:ext cx="7383873" cy="1128695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rgbClr val="00B0F0"/>
                  </a:solidFill>
                </a:rPr>
                <a:t>import static </a:t>
              </a:r>
              <a:r>
                <a:rPr lang="en-US" dirty="0" err="1" smtClean="0">
                  <a:solidFill>
                    <a:srgbClr val="FF0000"/>
                  </a:solidFill>
                </a:rPr>
                <a:t>java.lang</a:t>
              </a:r>
              <a:r>
                <a:rPr lang="en-US" dirty="0" err="1" smtClean="0">
                  <a:solidFill>
                    <a:srgbClr val="CC0099"/>
                  </a:solidFill>
                </a:rPr>
                <a:t>.Math</a:t>
              </a:r>
              <a:r>
                <a:rPr lang="en-US" dirty="0" smtClean="0">
                  <a:solidFill>
                    <a:srgbClr val="00B0F0"/>
                  </a:solidFill>
                </a:rPr>
                <a:t>.*</a:t>
              </a:r>
              <a:r>
                <a:rPr lang="en-US" dirty="0" smtClean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dirty="0" smtClean="0">
                  <a:solidFill>
                    <a:srgbClr val="00B0F0"/>
                  </a:solidFill>
                </a:rPr>
                <a:t>double</a:t>
              </a:r>
              <a:r>
                <a:rPr lang="en-US" dirty="0" smtClean="0">
                  <a:solidFill>
                    <a:srgbClr val="0000FF"/>
                  </a:solidFill>
                </a:rPr>
                <a:t> </a:t>
              </a:r>
              <a:r>
                <a:rPr lang="en-US" dirty="0" err="1" smtClean="0">
                  <a:solidFill>
                    <a:srgbClr val="0000FF"/>
                  </a:solidFill>
                </a:rPr>
                <a:t>logValue</a:t>
              </a:r>
              <a:r>
                <a:rPr lang="en-US" dirty="0" smtClean="0">
                  <a:solidFill>
                    <a:srgbClr val="0000FF"/>
                  </a:solidFill>
                </a:rPr>
                <a:t>, value = 2.0; </a:t>
              </a:r>
              <a:endParaRPr lang="en-US" dirty="0" smtClean="0">
                <a:solidFill>
                  <a:srgbClr val="00B050"/>
                </a:solidFill>
              </a:endParaRPr>
            </a:p>
            <a:p>
              <a:r>
                <a:rPr lang="en-US" dirty="0" err="1" smtClean="0">
                  <a:solidFill>
                    <a:srgbClr val="0000FF"/>
                  </a:solidFill>
                </a:rPr>
                <a:t>logValue</a:t>
              </a:r>
              <a:r>
                <a:rPr lang="en-US" dirty="0" smtClean="0">
                  <a:solidFill>
                    <a:srgbClr val="0000FF"/>
                  </a:solidFill>
                </a:rPr>
                <a:t> = </a:t>
              </a:r>
              <a:r>
                <a:rPr lang="en-US" dirty="0" smtClean="0">
                  <a:solidFill>
                    <a:srgbClr val="00B050"/>
                  </a:solidFill>
                </a:rPr>
                <a:t>log</a:t>
              </a:r>
              <a:r>
                <a:rPr lang="en-US" dirty="0" smtClean="0">
                  <a:solidFill>
                    <a:srgbClr val="0000FF"/>
                  </a:solidFill>
                </a:rPr>
                <a:t>(value); </a:t>
              </a:r>
              <a:r>
                <a:rPr lang="en-US" dirty="0" smtClean="0">
                  <a:solidFill>
                    <a:srgbClr val="00B050"/>
                  </a:solidFill>
                </a:rPr>
                <a:t>//value is the </a:t>
              </a:r>
              <a:r>
                <a:rPr lang="en-US" dirty="0" smtClean="0">
                  <a:solidFill>
                    <a:srgbClr val="FF0000"/>
                  </a:solidFill>
                </a:rPr>
                <a:t>actual parameter</a:t>
              </a:r>
            </a:p>
            <a:p>
              <a:r>
                <a:rPr lang="en-US" dirty="0" err="1" smtClean="0">
                  <a:solidFill>
                    <a:srgbClr val="0000FF"/>
                  </a:solidFill>
                </a:rPr>
                <a:t>System.out.printf</a:t>
              </a:r>
              <a:r>
                <a:rPr lang="en-US" dirty="0" smtClean="0">
                  <a:solidFill>
                    <a:srgbClr val="0000FF"/>
                  </a:solidFill>
                </a:rPr>
                <a:t> (“Natural log of %f to base e= %.3f”, value, </a:t>
              </a:r>
              <a:r>
                <a:rPr lang="en-US" dirty="0" err="1" smtClean="0">
                  <a:solidFill>
                    <a:srgbClr val="0000FF"/>
                  </a:solidFill>
                </a:rPr>
                <a:t>logValue</a:t>
              </a:r>
              <a:r>
                <a:rPr lang="en-US" dirty="0" smtClean="0">
                  <a:solidFill>
                    <a:srgbClr val="0000FF"/>
                  </a:solidFill>
                </a:rPr>
                <a:t>);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23529" y="1236822"/>
              <a:ext cx="386010" cy="1128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4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251520" y="4777407"/>
            <a:ext cx="8712967" cy="307777"/>
            <a:chOff x="683568" y="1236822"/>
            <a:chExt cx="7488831" cy="307777"/>
          </a:xfrm>
        </p:grpSpPr>
        <p:sp>
          <p:nvSpPr>
            <p:cNvPr id="37" name="TextBox 36"/>
            <p:cNvSpPr txBox="1"/>
            <p:nvPr/>
          </p:nvSpPr>
          <p:spPr>
            <a:xfrm>
              <a:off x="1069013" y="1236822"/>
              <a:ext cx="7103386" cy="307777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chemeClr val="bg1"/>
                  </a:solidFill>
                </a:rPr>
                <a:t>Natural log of 2.0 to base e= 0.693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83568" y="1236822"/>
              <a:ext cx="21602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rgbClr val="FF0000"/>
                  </a:solidFill>
                </a:rPr>
                <a:t>1</a:t>
              </a:r>
            </a:p>
          </p:txBody>
        </p:sp>
      </p:grpSp>
      <p:sp>
        <p:nvSpPr>
          <p:cNvPr id="45" name="TextBox 44"/>
          <p:cNvSpPr txBox="1"/>
          <p:nvPr/>
        </p:nvSpPr>
        <p:spPr>
          <a:xfrm>
            <a:off x="251520" y="2401143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Returns: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The natural log of 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(log to base 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C0F99-418A-47AD-8EE9-8B4FF28C0C0C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251520" y="1772816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Parameter Type: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The type of 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is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double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75617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/>
      <p:bldP spid="21" grpId="0"/>
      <p:bldP spid="45" grpId="0"/>
      <p:bldP spid="2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3.3.3 LOGARITHM TO BASE 10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smtClean="0"/>
              <a:t>double   log10 </a:t>
            </a:r>
            <a:r>
              <a:rPr lang="en-US" b="1" dirty="0" smtClean="0"/>
              <a:t>(double   x)</a:t>
            </a:r>
            <a:endParaRPr lang="en-US" b="1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51520" y="1196752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Formal Parameter: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the value for which we want to calculate the common logarithm (log to base 10).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51520" y="2668850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Return Type: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double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33" name="Group 32"/>
          <p:cNvGrpSpPr/>
          <p:nvPr/>
        </p:nvGrpSpPr>
        <p:grpSpPr>
          <a:xfrm>
            <a:off x="179513" y="3265239"/>
            <a:ext cx="8784976" cy="1200329"/>
            <a:chOff x="323529" y="1236822"/>
            <a:chExt cx="7848872" cy="1128695"/>
          </a:xfrm>
        </p:grpSpPr>
        <p:sp>
          <p:nvSpPr>
            <p:cNvPr id="34" name="TextBox 33"/>
            <p:cNvSpPr txBox="1"/>
            <p:nvPr/>
          </p:nvSpPr>
          <p:spPr>
            <a:xfrm>
              <a:off x="788528" y="1236822"/>
              <a:ext cx="7383873" cy="1128695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rgbClr val="00B0F0"/>
                  </a:solidFill>
                </a:rPr>
                <a:t>import static </a:t>
              </a:r>
              <a:r>
                <a:rPr lang="en-US" dirty="0" err="1" smtClean="0">
                  <a:solidFill>
                    <a:srgbClr val="FF0000"/>
                  </a:solidFill>
                </a:rPr>
                <a:t>java.lang</a:t>
              </a:r>
              <a:r>
                <a:rPr lang="en-US" dirty="0" err="1" smtClean="0">
                  <a:solidFill>
                    <a:srgbClr val="CC0099"/>
                  </a:solidFill>
                </a:rPr>
                <a:t>.Math</a:t>
              </a:r>
              <a:r>
                <a:rPr lang="en-US" dirty="0" smtClean="0">
                  <a:solidFill>
                    <a:srgbClr val="00B0F0"/>
                  </a:solidFill>
                </a:rPr>
                <a:t>.*</a:t>
              </a:r>
              <a:r>
                <a:rPr lang="en-US" dirty="0" smtClean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dirty="0" smtClean="0">
                  <a:solidFill>
                    <a:srgbClr val="00B0F0"/>
                  </a:solidFill>
                </a:rPr>
                <a:t>double</a:t>
              </a:r>
              <a:r>
                <a:rPr lang="en-US" dirty="0" smtClean="0">
                  <a:solidFill>
                    <a:srgbClr val="0000FF"/>
                  </a:solidFill>
                </a:rPr>
                <a:t> log10Value, value = 1000.0; </a:t>
              </a:r>
              <a:endParaRPr lang="en-US" dirty="0" smtClean="0">
                <a:solidFill>
                  <a:srgbClr val="00B050"/>
                </a:solidFill>
              </a:endParaRPr>
            </a:p>
            <a:p>
              <a:r>
                <a:rPr lang="en-US" dirty="0" smtClean="0">
                  <a:solidFill>
                    <a:srgbClr val="0000FF"/>
                  </a:solidFill>
                </a:rPr>
                <a:t>log10Value = </a:t>
              </a:r>
              <a:r>
                <a:rPr lang="en-US" dirty="0" smtClean="0">
                  <a:solidFill>
                    <a:srgbClr val="00B050"/>
                  </a:solidFill>
                </a:rPr>
                <a:t>log10</a:t>
              </a:r>
              <a:r>
                <a:rPr lang="en-US" dirty="0" smtClean="0">
                  <a:solidFill>
                    <a:srgbClr val="0000FF"/>
                  </a:solidFill>
                </a:rPr>
                <a:t>(value); </a:t>
              </a:r>
              <a:r>
                <a:rPr lang="en-US" dirty="0" smtClean="0">
                  <a:solidFill>
                    <a:srgbClr val="00B050"/>
                  </a:solidFill>
                </a:rPr>
                <a:t>//value is the </a:t>
              </a:r>
              <a:r>
                <a:rPr lang="en-US" dirty="0" smtClean="0">
                  <a:solidFill>
                    <a:srgbClr val="FF0000"/>
                  </a:solidFill>
                </a:rPr>
                <a:t>actual parameter</a:t>
              </a:r>
            </a:p>
            <a:p>
              <a:r>
                <a:rPr lang="en-US" dirty="0" err="1" smtClean="0">
                  <a:solidFill>
                    <a:srgbClr val="0000FF"/>
                  </a:solidFill>
                </a:rPr>
                <a:t>System.out.printf</a:t>
              </a:r>
              <a:r>
                <a:rPr lang="en-US" dirty="0" smtClean="0">
                  <a:solidFill>
                    <a:srgbClr val="0000FF"/>
                  </a:solidFill>
                </a:rPr>
                <a:t> (“Common log of %f = %f”, value, log10Value);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23529" y="1236822"/>
              <a:ext cx="386010" cy="1128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4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251520" y="4561383"/>
            <a:ext cx="8712967" cy="307777"/>
            <a:chOff x="683568" y="1236822"/>
            <a:chExt cx="7488831" cy="307777"/>
          </a:xfrm>
        </p:grpSpPr>
        <p:sp>
          <p:nvSpPr>
            <p:cNvPr id="37" name="TextBox 36"/>
            <p:cNvSpPr txBox="1"/>
            <p:nvPr/>
          </p:nvSpPr>
          <p:spPr>
            <a:xfrm>
              <a:off x="1069013" y="1236822"/>
              <a:ext cx="7103386" cy="307777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chemeClr val="bg1"/>
                  </a:solidFill>
                </a:rPr>
                <a:t>Common log of 1000.0 = 3.0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83568" y="1236822"/>
              <a:ext cx="21602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rgbClr val="FF0000"/>
                  </a:solidFill>
                </a:rPr>
                <a:t>1</a:t>
              </a:r>
            </a:p>
          </p:txBody>
        </p:sp>
      </p:grpSp>
      <p:sp>
        <p:nvSpPr>
          <p:cNvPr id="45" name="TextBox 44"/>
          <p:cNvSpPr txBox="1"/>
          <p:nvPr/>
        </p:nvSpPr>
        <p:spPr>
          <a:xfrm>
            <a:off x="251520" y="2308810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Returns: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The common logarithm of 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(log to base 10).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C0F99-418A-47AD-8EE9-8B4FF28C0C0C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251520" y="1804754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Parameter Type: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The type of 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is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double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218787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/>
      <p:bldP spid="21" grpId="0"/>
      <p:bldP spid="45" grpId="0"/>
      <p:bldP spid="2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3.3.4 SQUARE ROOT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double   </a:t>
            </a:r>
            <a:r>
              <a:rPr lang="en-US" b="1" dirty="0" err="1" smtClean="0"/>
              <a:t>sqrt</a:t>
            </a:r>
            <a:r>
              <a:rPr lang="en-US" b="1" dirty="0" smtClean="0"/>
              <a:t>(double   x)</a:t>
            </a:r>
            <a:endParaRPr lang="en-US" b="1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51520" y="1196752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Formal Parameter: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the value for which we want to calculate the square root.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51520" y="2740858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Return Type: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double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33" name="Group 32"/>
          <p:cNvGrpSpPr/>
          <p:nvPr/>
        </p:nvGrpSpPr>
        <p:grpSpPr>
          <a:xfrm>
            <a:off x="179513" y="3481263"/>
            <a:ext cx="8784976" cy="1200329"/>
            <a:chOff x="323529" y="1236822"/>
            <a:chExt cx="7848872" cy="1128695"/>
          </a:xfrm>
        </p:grpSpPr>
        <p:sp>
          <p:nvSpPr>
            <p:cNvPr id="34" name="TextBox 33"/>
            <p:cNvSpPr txBox="1"/>
            <p:nvPr/>
          </p:nvSpPr>
          <p:spPr>
            <a:xfrm>
              <a:off x="788528" y="1236822"/>
              <a:ext cx="7383873" cy="1128695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rgbClr val="00B0F0"/>
                  </a:solidFill>
                </a:rPr>
                <a:t>import static </a:t>
              </a:r>
              <a:r>
                <a:rPr lang="en-US" dirty="0" err="1" smtClean="0">
                  <a:solidFill>
                    <a:srgbClr val="FF0000"/>
                  </a:solidFill>
                </a:rPr>
                <a:t>java.lang</a:t>
              </a:r>
              <a:r>
                <a:rPr lang="en-US" dirty="0" err="1" smtClean="0">
                  <a:solidFill>
                    <a:srgbClr val="CC0099"/>
                  </a:solidFill>
                </a:rPr>
                <a:t>.Math</a:t>
              </a:r>
              <a:r>
                <a:rPr lang="en-US" dirty="0" smtClean="0">
                  <a:solidFill>
                    <a:srgbClr val="00B0F0"/>
                  </a:solidFill>
                </a:rPr>
                <a:t>.*</a:t>
              </a:r>
              <a:r>
                <a:rPr lang="en-US" dirty="0" smtClean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dirty="0" smtClean="0">
                  <a:solidFill>
                    <a:srgbClr val="00B0F0"/>
                  </a:solidFill>
                </a:rPr>
                <a:t>double</a:t>
              </a:r>
              <a:r>
                <a:rPr lang="en-US" dirty="0" smtClean="0">
                  <a:solidFill>
                    <a:srgbClr val="0000FF"/>
                  </a:solidFill>
                </a:rPr>
                <a:t> </a:t>
              </a:r>
              <a:r>
                <a:rPr lang="en-US" dirty="0" err="1" smtClean="0">
                  <a:solidFill>
                    <a:srgbClr val="0000FF"/>
                  </a:solidFill>
                </a:rPr>
                <a:t>squareRoot</a:t>
              </a:r>
              <a:r>
                <a:rPr lang="en-US" dirty="0" smtClean="0">
                  <a:solidFill>
                    <a:srgbClr val="0000FF"/>
                  </a:solidFill>
                </a:rPr>
                <a:t>, value = 25.0; </a:t>
              </a:r>
              <a:endParaRPr lang="en-US" dirty="0" smtClean="0">
                <a:solidFill>
                  <a:srgbClr val="00B050"/>
                </a:solidFill>
              </a:endParaRPr>
            </a:p>
            <a:p>
              <a:r>
                <a:rPr lang="en-US" dirty="0" err="1" smtClean="0">
                  <a:solidFill>
                    <a:srgbClr val="0000FF"/>
                  </a:solidFill>
                </a:rPr>
                <a:t>squareRoot</a:t>
              </a:r>
              <a:r>
                <a:rPr lang="en-US" dirty="0" smtClean="0">
                  <a:solidFill>
                    <a:srgbClr val="0000FF"/>
                  </a:solidFill>
                </a:rPr>
                <a:t> = </a:t>
              </a:r>
              <a:r>
                <a:rPr lang="en-US" dirty="0" err="1" smtClean="0">
                  <a:solidFill>
                    <a:srgbClr val="00B050"/>
                  </a:solidFill>
                </a:rPr>
                <a:t>sqrt</a:t>
              </a:r>
              <a:r>
                <a:rPr lang="en-US" dirty="0" smtClean="0">
                  <a:solidFill>
                    <a:srgbClr val="0000FF"/>
                  </a:solidFill>
                </a:rPr>
                <a:t>(value); </a:t>
              </a:r>
              <a:r>
                <a:rPr lang="en-US" dirty="0" smtClean="0">
                  <a:solidFill>
                    <a:srgbClr val="00B050"/>
                  </a:solidFill>
                </a:rPr>
                <a:t>//value is the </a:t>
              </a:r>
              <a:r>
                <a:rPr lang="en-US" dirty="0" smtClean="0">
                  <a:solidFill>
                    <a:srgbClr val="FF0000"/>
                  </a:solidFill>
                </a:rPr>
                <a:t>actual parameter</a:t>
              </a:r>
            </a:p>
            <a:p>
              <a:r>
                <a:rPr lang="en-US" dirty="0" err="1" smtClean="0">
                  <a:solidFill>
                    <a:srgbClr val="0000FF"/>
                  </a:solidFill>
                </a:rPr>
                <a:t>System.out.printf</a:t>
              </a:r>
              <a:r>
                <a:rPr lang="en-US" dirty="0" smtClean="0">
                  <a:solidFill>
                    <a:srgbClr val="0000FF"/>
                  </a:solidFill>
                </a:rPr>
                <a:t> (“Square root of %f = %f”, value, </a:t>
              </a:r>
              <a:r>
                <a:rPr lang="en-US" dirty="0" err="1" smtClean="0">
                  <a:solidFill>
                    <a:srgbClr val="0000FF"/>
                  </a:solidFill>
                </a:rPr>
                <a:t>squareRoot</a:t>
              </a:r>
              <a:r>
                <a:rPr lang="en-US" dirty="0" smtClean="0">
                  <a:solidFill>
                    <a:srgbClr val="0000FF"/>
                  </a:solidFill>
                </a:rPr>
                <a:t>);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23529" y="1236822"/>
              <a:ext cx="386010" cy="1128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4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251520" y="4777407"/>
            <a:ext cx="8712967" cy="307777"/>
            <a:chOff x="683568" y="1236822"/>
            <a:chExt cx="7488831" cy="307777"/>
          </a:xfrm>
        </p:grpSpPr>
        <p:sp>
          <p:nvSpPr>
            <p:cNvPr id="37" name="TextBox 36"/>
            <p:cNvSpPr txBox="1"/>
            <p:nvPr/>
          </p:nvSpPr>
          <p:spPr>
            <a:xfrm>
              <a:off x="1069013" y="1236822"/>
              <a:ext cx="7103386" cy="307777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chemeClr val="bg1"/>
                  </a:solidFill>
                </a:rPr>
                <a:t>Square root of 25.0 = 5.0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83568" y="1236822"/>
              <a:ext cx="21602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rgbClr val="FF0000"/>
                  </a:solidFill>
                </a:rPr>
                <a:t>1</a:t>
              </a:r>
            </a:p>
          </p:txBody>
        </p:sp>
      </p:grpSp>
      <p:sp>
        <p:nvSpPr>
          <p:cNvPr id="45" name="TextBox 44"/>
          <p:cNvSpPr txBox="1"/>
          <p:nvPr/>
        </p:nvSpPr>
        <p:spPr>
          <a:xfrm>
            <a:off x="251520" y="2380818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Returns: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The square root of 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C0F99-418A-47AD-8EE9-8B4FF28C0C0C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251520" y="1804754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Parameter Type: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The type of 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is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double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234095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/>
      <p:bldP spid="21" grpId="0"/>
      <p:bldP spid="45" grpId="0"/>
      <p:bldP spid="2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3.3.5 POWER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double   pow(double   x, double   y)</a:t>
            </a:r>
            <a:endParaRPr lang="en-US" b="1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51520" y="1196752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Formal Parameters: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the base; (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the exponent.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51520" y="2564904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Return Type: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double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33" name="Group 32"/>
          <p:cNvGrpSpPr/>
          <p:nvPr/>
        </p:nvGrpSpPr>
        <p:grpSpPr>
          <a:xfrm>
            <a:off x="179513" y="3140968"/>
            <a:ext cx="8784976" cy="1477328"/>
            <a:chOff x="323529" y="1236822"/>
            <a:chExt cx="7848872" cy="1389163"/>
          </a:xfrm>
        </p:grpSpPr>
        <p:sp>
          <p:nvSpPr>
            <p:cNvPr id="34" name="TextBox 33"/>
            <p:cNvSpPr txBox="1"/>
            <p:nvPr/>
          </p:nvSpPr>
          <p:spPr>
            <a:xfrm>
              <a:off x="788528" y="1236822"/>
              <a:ext cx="7383873" cy="1389163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rgbClr val="00B0F0"/>
                  </a:solidFill>
                </a:rPr>
                <a:t>import static </a:t>
              </a:r>
              <a:r>
                <a:rPr lang="en-US" dirty="0" err="1" smtClean="0">
                  <a:solidFill>
                    <a:srgbClr val="FF0000"/>
                  </a:solidFill>
                </a:rPr>
                <a:t>java.lang</a:t>
              </a:r>
              <a:r>
                <a:rPr lang="en-US" dirty="0" err="1" smtClean="0">
                  <a:solidFill>
                    <a:srgbClr val="CC0099"/>
                  </a:solidFill>
                </a:rPr>
                <a:t>.Math</a:t>
              </a:r>
              <a:r>
                <a:rPr lang="en-US" dirty="0" smtClean="0">
                  <a:solidFill>
                    <a:srgbClr val="00B0F0"/>
                  </a:solidFill>
                </a:rPr>
                <a:t>.*</a:t>
              </a:r>
              <a:r>
                <a:rPr lang="en-US" dirty="0" smtClean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dirty="0" smtClean="0">
                  <a:solidFill>
                    <a:srgbClr val="00B0F0"/>
                  </a:solidFill>
                </a:rPr>
                <a:t>double</a:t>
              </a:r>
              <a:r>
                <a:rPr lang="en-US" dirty="0" smtClean="0">
                  <a:solidFill>
                    <a:srgbClr val="0000FF"/>
                  </a:solidFill>
                </a:rPr>
                <a:t> base = 3.0, exponent = 2.0; </a:t>
              </a:r>
              <a:endParaRPr lang="en-US" dirty="0" smtClean="0">
                <a:solidFill>
                  <a:srgbClr val="00B050"/>
                </a:solidFill>
              </a:endParaRPr>
            </a:p>
            <a:p>
              <a:r>
                <a:rPr lang="en-US" dirty="0" smtClean="0">
                  <a:solidFill>
                    <a:srgbClr val="00B0F0"/>
                  </a:solidFill>
                </a:rPr>
                <a:t>double</a:t>
              </a:r>
              <a:r>
                <a:rPr lang="en-US" dirty="0" smtClean="0">
                  <a:solidFill>
                    <a:srgbClr val="0000FF"/>
                  </a:solidFill>
                </a:rPr>
                <a:t> result;</a:t>
              </a:r>
            </a:p>
            <a:p>
              <a:r>
                <a:rPr lang="en-US" dirty="0" smtClean="0">
                  <a:solidFill>
                    <a:srgbClr val="0000FF"/>
                  </a:solidFill>
                </a:rPr>
                <a:t>result = </a:t>
              </a:r>
              <a:r>
                <a:rPr lang="en-US" dirty="0" smtClean="0">
                  <a:solidFill>
                    <a:srgbClr val="00B050"/>
                  </a:solidFill>
                </a:rPr>
                <a:t>pow</a:t>
              </a:r>
              <a:r>
                <a:rPr lang="en-US" dirty="0" smtClean="0">
                  <a:solidFill>
                    <a:srgbClr val="0000FF"/>
                  </a:solidFill>
                </a:rPr>
                <a:t>(base, exponent);</a:t>
              </a:r>
              <a:r>
                <a:rPr lang="en-US" dirty="0" smtClean="0">
                  <a:solidFill>
                    <a:srgbClr val="00B050"/>
                  </a:solidFill>
                </a:rPr>
                <a:t>//base &amp; exponent are </a:t>
              </a:r>
              <a:r>
                <a:rPr lang="en-US" dirty="0" smtClean="0">
                  <a:solidFill>
                    <a:srgbClr val="FF0000"/>
                  </a:solidFill>
                </a:rPr>
                <a:t>actual parameters</a:t>
              </a:r>
            </a:p>
            <a:p>
              <a:r>
                <a:rPr lang="en-US" dirty="0" err="1" smtClean="0">
                  <a:solidFill>
                    <a:srgbClr val="0000FF"/>
                  </a:solidFill>
                </a:rPr>
                <a:t>System.out.printf</a:t>
              </a:r>
              <a:r>
                <a:rPr lang="en-US" dirty="0" smtClean="0">
                  <a:solidFill>
                    <a:srgbClr val="0000FF"/>
                  </a:solidFill>
                </a:rPr>
                <a:t> (“%f to power %f = %f”, base, exponent, result);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23529" y="1236822"/>
              <a:ext cx="386010" cy="13891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5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251520" y="4653136"/>
            <a:ext cx="8712967" cy="307777"/>
            <a:chOff x="683568" y="1236822"/>
            <a:chExt cx="7488831" cy="307777"/>
          </a:xfrm>
        </p:grpSpPr>
        <p:sp>
          <p:nvSpPr>
            <p:cNvPr id="37" name="TextBox 36"/>
            <p:cNvSpPr txBox="1"/>
            <p:nvPr/>
          </p:nvSpPr>
          <p:spPr>
            <a:xfrm>
              <a:off x="1069013" y="1236822"/>
              <a:ext cx="7103386" cy="307777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chemeClr val="bg1"/>
                  </a:solidFill>
                </a:rPr>
                <a:t>3.0 to power 2.0 = 9.0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83568" y="1236822"/>
              <a:ext cx="21602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rgbClr val="FF0000"/>
                  </a:solidFill>
                </a:rPr>
                <a:t>1</a:t>
              </a:r>
            </a:p>
          </p:txBody>
        </p:sp>
      </p:grpSp>
      <p:sp>
        <p:nvSpPr>
          <p:cNvPr id="45" name="TextBox 44"/>
          <p:cNvSpPr txBox="1"/>
          <p:nvPr/>
        </p:nvSpPr>
        <p:spPr>
          <a:xfrm>
            <a:off x="251520" y="2204864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Returns: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</a:t>
            </a:r>
            <a:r>
              <a:rPr lang="en-US" sz="2000" baseline="30000" dirty="0" err="1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C0F99-418A-47AD-8EE9-8B4FF28C0C0C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251520" y="1556792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Parameters Types: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 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are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double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824793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/>
      <p:bldP spid="21" grpId="0"/>
      <p:bldP spid="45" grpId="0"/>
      <p:bldP spid="2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3.4 COMPARISON METHODS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323528" y="764704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These include the following: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771800" y="1268760"/>
            <a:ext cx="3600400" cy="6480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COMPARISON METHODS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491880" y="2492896"/>
            <a:ext cx="5400600" cy="1440160"/>
          </a:xfrm>
          <a:prstGeom prst="roundRect">
            <a:avLst/>
          </a:prstGeom>
          <a:solidFill>
            <a:srgbClr val="FFFFE5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rgbClr val="0000FF"/>
                </a:solidFill>
              </a:rPr>
              <a:t>3.4.1 Minimum: </a:t>
            </a:r>
          </a:p>
          <a:p>
            <a:pPr algn="ctr"/>
            <a:r>
              <a:rPr lang="en-US" dirty="0" err="1" smtClean="0">
                <a:solidFill>
                  <a:srgbClr val="00B0F0"/>
                </a:solidFill>
              </a:rPr>
              <a:t>int</a:t>
            </a:r>
            <a:r>
              <a:rPr lang="en-US" dirty="0" smtClean="0">
                <a:solidFill>
                  <a:srgbClr val="00B0F0"/>
                </a:solidFill>
              </a:rPr>
              <a:t>/long/double/float</a:t>
            </a:r>
            <a:r>
              <a:rPr lang="en-US" dirty="0" smtClean="0">
                <a:solidFill>
                  <a:srgbClr val="0000FF"/>
                </a:solidFill>
              </a:rPr>
              <a:t>   </a:t>
            </a:r>
          </a:p>
          <a:p>
            <a:pPr algn="ctr"/>
            <a:r>
              <a:rPr lang="en-US" dirty="0" smtClean="0">
                <a:solidFill>
                  <a:srgbClr val="00B050"/>
                </a:solidFill>
              </a:rPr>
              <a:t>min</a:t>
            </a:r>
            <a:r>
              <a:rPr lang="en-US" dirty="0" smtClean="0">
                <a:solidFill>
                  <a:srgbClr val="0000FF"/>
                </a:solidFill>
              </a:rPr>
              <a:t>(</a:t>
            </a:r>
            <a:r>
              <a:rPr lang="en-US" dirty="0" err="1" smtClean="0">
                <a:solidFill>
                  <a:srgbClr val="00B0F0"/>
                </a:solidFill>
              </a:rPr>
              <a:t>int</a:t>
            </a:r>
            <a:r>
              <a:rPr lang="en-US" dirty="0" smtClean="0">
                <a:solidFill>
                  <a:srgbClr val="00B0F0"/>
                </a:solidFill>
              </a:rPr>
              <a:t>/long/double/float</a:t>
            </a:r>
            <a:r>
              <a:rPr lang="en-US" dirty="0" smtClean="0">
                <a:solidFill>
                  <a:srgbClr val="0000FF"/>
                </a:solidFill>
              </a:rPr>
              <a:t> x,</a:t>
            </a:r>
          </a:p>
          <a:p>
            <a:pPr algn="ctr"/>
            <a:r>
              <a:rPr lang="en-US" dirty="0" err="1" smtClean="0">
                <a:solidFill>
                  <a:srgbClr val="00B0F0"/>
                </a:solidFill>
              </a:rPr>
              <a:t>int</a:t>
            </a:r>
            <a:r>
              <a:rPr lang="en-US" dirty="0" smtClean="0">
                <a:solidFill>
                  <a:srgbClr val="00B0F0"/>
                </a:solidFill>
              </a:rPr>
              <a:t>/long/double/float</a:t>
            </a:r>
            <a:r>
              <a:rPr lang="en-US" dirty="0" smtClean="0">
                <a:solidFill>
                  <a:srgbClr val="0000FF"/>
                </a:solidFill>
              </a:rPr>
              <a:t> y)</a:t>
            </a:r>
            <a:endParaRPr lang="en-US" dirty="0">
              <a:solidFill>
                <a:srgbClr val="0000FF"/>
              </a:solidFill>
            </a:endParaRPr>
          </a:p>
        </p:txBody>
      </p:sp>
      <p:cxnSp>
        <p:nvCxnSpPr>
          <p:cNvPr id="22" name="Straight Connector 21"/>
          <p:cNvCxnSpPr/>
          <p:nvPr/>
        </p:nvCxnSpPr>
        <p:spPr>
          <a:xfrm>
            <a:off x="3131840" y="1916832"/>
            <a:ext cx="0" cy="396044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3131840" y="3212976"/>
            <a:ext cx="36004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3131840" y="5157192"/>
            <a:ext cx="36004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3491880" y="4437112"/>
            <a:ext cx="5400600" cy="1440160"/>
          </a:xfrm>
          <a:prstGeom prst="roundRect">
            <a:avLst/>
          </a:prstGeom>
          <a:solidFill>
            <a:srgbClr val="FFFFE5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rgbClr val="0000FF"/>
                </a:solidFill>
              </a:rPr>
              <a:t>3.4.2 Maximum: </a:t>
            </a:r>
          </a:p>
          <a:p>
            <a:pPr algn="ctr"/>
            <a:r>
              <a:rPr lang="en-US" dirty="0" err="1" smtClean="0">
                <a:solidFill>
                  <a:srgbClr val="00B0F0"/>
                </a:solidFill>
              </a:rPr>
              <a:t>int</a:t>
            </a:r>
            <a:r>
              <a:rPr lang="en-US" dirty="0" smtClean="0">
                <a:solidFill>
                  <a:srgbClr val="00B0F0"/>
                </a:solidFill>
              </a:rPr>
              <a:t>/long/double/float</a:t>
            </a:r>
            <a:r>
              <a:rPr lang="en-US" dirty="0" smtClean="0">
                <a:solidFill>
                  <a:srgbClr val="0000FF"/>
                </a:solidFill>
              </a:rPr>
              <a:t>   </a:t>
            </a:r>
          </a:p>
          <a:p>
            <a:pPr algn="ctr"/>
            <a:r>
              <a:rPr lang="en-US" dirty="0" smtClean="0">
                <a:solidFill>
                  <a:srgbClr val="00B050"/>
                </a:solidFill>
              </a:rPr>
              <a:t>max</a:t>
            </a:r>
            <a:r>
              <a:rPr lang="en-US" dirty="0" smtClean="0">
                <a:solidFill>
                  <a:srgbClr val="0000FF"/>
                </a:solidFill>
              </a:rPr>
              <a:t>(</a:t>
            </a:r>
            <a:r>
              <a:rPr lang="en-US" dirty="0" err="1" smtClean="0">
                <a:solidFill>
                  <a:srgbClr val="00B0F0"/>
                </a:solidFill>
              </a:rPr>
              <a:t>int</a:t>
            </a:r>
            <a:r>
              <a:rPr lang="en-US" dirty="0" smtClean="0">
                <a:solidFill>
                  <a:srgbClr val="00B0F0"/>
                </a:solidFill>
              </a:rPr>
              <a:t>/long/double/float</a:t>
            </a:r>
            <a:r>
              <a:rPr lang="en-US" dirty="0" smtClean="0">
                <a:solidFill>
                  <a:srgbClr val="0000FF"/>
                </a:solidFill>
              </a:rPr>
              <a:t> x,</a:t>
            </a:r>
          </a:p>
          <a:p>
            <a:pPr algn="ctr"/>
            <a:r>
              <a:rPr lang="en-US" dirty="0" err="1" smtClean="0">
                <a:solidFill>
                  <a:srgbClr val="00B0F0"/>
                </a:solidFill>
              </a:rPr>
              <a:t>int</a:t>
            </a:r>
            <a:r>
              <a:rPr lang="en-US" dirty="0" smtClean="0">
                <a:solidFill>
                  <a:srgbClr val="00B0F0"/>
                </a:solidFill>
              </a:rPr>
              <a:t>/long/double/float</a:t>
            </a:r>
            <a:r>
              <a:rPr lang="en-US" dirty="0" smtClean="0">
                <a:solidFill>
                  <a:srgbClr val="0000FF"/>
                </a:solidFill>
              </a:rPr>
              <a:t> y)</a:t>
            </a:r>
            <a:endParaRPr lang="en-US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4079494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15" grpId="0" animBg="1"/>
      <p:bldP spid="16" grpId="0" animBg="1"/>
      <p:bldP spid="2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3.4.1 MINIMUM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 smtClean="0"/>
              <a:t>int</a:t>
            </a:r>
            <a:r>
              <a:rPr lang="en-US" b="1" dirty="0" smtClean="0"/>
              <a:t>/long/double/float    min(</a:t>
            </a:r>
            <a:r>
              <a:rPr lang="en-US" b="1" dirty="0" err="1" smtClean="0"/>
              <a:t>int</a:t>
            </a:r>
            <a:r>
              <a:rPr lang="en-US" b="1" dirty="0" smtClean="0"/>
              <a:t>/long/double/float   x, </a:t>
            </a:r>
            <a:r>
              <a:rPr lang="en-US" b="1" dirty="0" err="1" smtClean="0"/>
              <a:t>int</a:t>
            </a:r>
            <a:r>
              <a:rPr lang="en-US" b="1" dirty="0" smtClean="0"/>
              <a:t>/long/double/float   y)</a:t>
            </a:r>
            <a:endParaRPr lang="en-US" b="1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51520" y="1196752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Formal Parameters: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the value to be compared with (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). 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51520" y="2636912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Return Type: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returns the same type as 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 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33" name="Group 32"/>
          <p:cNvGrpSpPr/>
          <p:nvPr/>
        </p:nvGrpSpPr>
        <p:grpSpPr>
          <a:xfrm>
            <a:off x="179513" y="3140968"/>
            <a:ext cx="8784976" cy="1754326"/>
            <a:chOff x="323529" y="1236822"/>
            <a:chExt cx="7848872" cy="1649630"/>
          </a:xfrm>
        </p:grpSpPr>
        <p:sp>
          <p:nvSpPr>
            <p:cNvPr id="34" name="TextBox 33"/>
            <p:cNvSpPr txBox="1"/>
            <p:nvPr/>
          </p:nvSpPr>
          <p:spPr>
            <a:xfrm>
              <a:off x="788528" y="1236822"/>
              <a:ext cx="7383873" cy="1649630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F0"/>
                  </a:solidFill>
                </a:rPr>
                <a:t>import static </a:t>
              </a:r>
              <a:r>
                <a:rPr lang="en-US" dirty="0" err="1" smtClean="0">
                  <a:solidFill>
                    <a:srgbClr val="FF0000"/>
                  </a:solidFill>
                </a:rPr>
                <a:t>java.lang</a:t>
              </a:r>
              <a:r>
                <a:rPr lang="en-US" dirty="0" err="1" smtClean="0">
                  <a:solidFill>
                    <a:srgbClr val="CC0099"/>
                  </a:solidFill>
                </a:rPr>
                <a:t>.Math</a:t>
              </a:r>
              <a:r>
                <a:rPr lang="en-US" dirty="0" smtClean="0">
                  <a:solidFill>
                    <a:srgbClr val="00B0F0"/>
                  </a:solidFill>
                </a:rPr>
                <a:t>.*</a:t>
              </a:r>
              <a:r>
                <a:rPr lang="en-US" dirty="0" smtClean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dirty="0" err="1" smtClean="0">
                  <a:solidFill>
                    <a:srgbClr val="00B0F0"/>
                  </a:solidFill>
                </a:rPr>
                <a:t>int</a:t>
              </a:r>
              <a:r>
                <a:rPr lang="en-US" dirty="0" smtClean="0">
                  <a:solidFill>
                    <a:srgbClr val="00B0F0"/>
                  </a:solidFill>
                </a:rPr>
                <a:t> </a:t>
              </a:r>
              <a:r>
                <a:rPr lang="en-US" dirty="0" smtClean="0">
                  <a:solidFill>
                    <a:srgbClr val="0000FF"/>
                  </a:solidFill>
                </a:rPr>
                <a:t>value1 = -10, value2 = 40;	</a:t>
              </a:r>
              <a:endParaRPr lang="en-US" dirty="0" smtClean="0">
                <a:solidFill>
                  <a:srgbClr val="00B050"/>
                </a:solidFill>
              </a:endParaRPr>
            </a:p>
            <a:p>
              <a:r>
                <a:rPr lang="en-US" dirty="0" err="1" smtClean="0">
                  <a:solidFill>
                    <a:srgbClr val="00B0F0"/>
                  </a:solidFill>
                </a:rPr>
                <a:t>int</a:t>
              </a:r>
              <a:r>
                <a:rPr lang="en-US" dirty="0" smtClean="0">
                  <a:solidFill>
                    <a:srgbClr val="0000FF"/>
                  </a:solidFill>
                </a:rPr>
                <a:t> minimum;</a:t>
              </a:r>
              <a:endParaRPr lang="en-US" dirty="0" smtClean="0">
                <a:solidFill>
                  <a:srgbClr val="00B050"/>
                </a:solidFill>
              </a:endParaRPr>
            </a:p>
            <a:p>
              <a:r>
                <a:rPr lang="en-US" dirty="0" smtClean="0">
                  <a:solidFill>
                    <a:srgbClr val="0000FF"/>
                  </a:solidFill>
                </a:rPr>
                <a:t>minimum = </a:t>
              </a:r>
              <a:r>
                <a:rPr lang="en-US" dirty="0" smtClean="0">
                  <a:solidFill>
                    <a:srgbClr val="00B050"/>
                  </a:solidFill>
                </a:rPr>
                <a:t>min</a:t>
              </a:r>
              <a:r>
                <a:rPr lang="en-US" dirty="0" smtClean="0">
                  <a:solidFill>
                    <a:srgbClr val="0000FF"/>
                  </a:solidFill>
                </a:rPr>
                <a:t>(value1, value2);  </a:t>
              </a:r>
              <a:r>
                <a:rPr lang="en-US" sz="1400" dirty="0" smtClean="0">
                  <a:solidFill>
                    <a:srgbClr val="00B050"/>
                  </a:solidFill>
                </a:rPr>
                <a:t>//value1 &amp; value2 are the </a:t>
              </a:r>
              <a:r>
                <a:rPr lang="en-US" sz="1400" dirty="0" smtClean="0">
                  <a:solidFill>
                    <a:srgbClr val="FF0000"/>
                  </a:solidFill>
                </a:rPr>
                <a:t>actual parameters</a:t>
              </a:r>
              <a:endParaRPr lang="en-US" dirty="0" smtClean="0">
                <a:solidFill>
                  <a:srgbClr val="FF0000"/>
                </a:solidFill>
              </a:endParaRPr>
            </a:p>
            <a:p>
              <a:r>
                <a:rPr lang="en-US" dirty="0" err="1" smtClean="0">
                  <a:solidFill>
                    <a:srgbClr val="0000FF"/>
                  </a:solidFill>
                </a:rPr>
                <a:t>System.out.printf</a:t>
              </a:r>
              <a:r>
                <a:rPr lang="en-US" dirty="0" smtClean="0">
                  <a:solidFill>
                    <a:srgbClr val="0000FF"/>
                  </a:solidFill>
                </a:rPr>
                <a:t> (“The minimum of %d and %d = %d”, value1, value2, minimum);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23529" y="1236822"/>
              <a:ext cx="386010" cy="16496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6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251520" y="4941168"/>
            <a:ext cx="8712967" cy="307777"/>
            <a:chOff x="683568" y="1236822"/>
            <a:chExt cx="7488831" cy="307777"/>
          </a:xfrm>
        </p:grpSpPr>
        <p:sp>
          <p:nvSpPr>
            <p:cNvPr id="37" name="TextBox 36"/>
            <p:cNvSpPr txBox="1"/>
            <p:nvPr/>
          </p:nvSpPr>
          <p:spPr>
            <a:xfrm>
              <a:off x="1069013" y="1236822"/>
              <a:ext cx="7103386" cy="307777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chemeClr val="bg1"/>
                  </a:solidFill>
                </a:rPr>
                <a:t>The minimum of -10 and 40 = -10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83568" y="1236822"/>
              <a:ext cx="21602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rgbClr val="FF0000"/>
                  </a:solidFill>
                </a:rPr>
                <a:t>1</a:t>
              </a:r>
            </a:p>
          </p:txBody>
        </p:sp>
      </p:grpSp>
      <p:sp>
        <p:nvSpPr>
          <p:cNvPr id="45" name="TextBox 44"/>
          <p:cNvSpPr txBox="1"/>
          <p:nvPr/>
        </p:nvSpPr>
        <p:spPr>
          <a:xfrm>
            <a:off x="251520" y="2276872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Returns: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the smaller of 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 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C0F99-418A-47AD-8EE9-8B4FF28C0C0C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251520" y="1588730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Parameters Types: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and 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may be </a:t>
            </a:r>
            <a:r>
              <a:rPr lang="en-US" sz="2000" dirty="0" err="1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long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double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float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833198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/>
      <p:bldP spid="21" grpId="0"/>
      <p:bldP spid="45" grpId="0"/>
      <p:bldP spid="2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3.4.2 MAXIMUM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 smtClean="0"/>
              <a:t>int</a:t>
            </a:r>
            <a:r>
              <a:rPr lang="en-US" b="1" dirty="0" smtClean="0"/>
              <a:t>/long/double/float   max(</a:t>
            </a:r>
            <a:r>
              <a:rPr lang="en-US" b="1" dirty="0" err="1" smtClean="0"/>
              <a:t>int</a:t>
            </a:r>
            <a:r>
              <a:rPr lang="en-US" b="1" dirty="0" smtClean="0"/>
              <a:t>/long/double/float   x, </a:t>
            </a:r>
            <a:r>
              <a:rPr lang="en-US" b="1" dirty="0" err="1" smtClean="0"/>
              <a:t>int</a:t>
            </a:r>
            <a:r>
              <a:rPr lang="en-US" b="1" dirty="0" smtClean="0"/>
              <a:t>/long/double/float   y)</a:t>
            </a:r>
            <a:endParaRPr lang="en-US" b="1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51520" y="1196752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Formal Parameters: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the value to be compared with (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). 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51520" y="2636912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Return Type: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returns the same type as 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 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33" name="Group 32"/>
          <p:cNvGrpSpPr/>
          <p:nvPr/>
        </p:nvGrpSpPr>
        <p:grpSpPr>
          <a:xfrm>
            <a:off x="179513" y="3140968"/>
            <a:ext cx="8784976" cy="1754326"/>
            <a:chOff x="323529" y="1236822"/>
            <a:chExt cx="7848872" cy="1649630"/>
          </a:xfrm>
        </p:grpSpPr>
        <p:sp>
          <p:nvSpPr>
            <p:cNvPr id="34" name="TextBox 33"/>
            <p:cNvSpPr txBox="1"/>
            <p:nvPr/>
          </p:nvSpPr>
          <p:spPr>
            <a:xfrm>
              <a:off x="788528" y="1236822"/>
              <a:ext cx="7383873" cy="1649630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F0"/>
                  </a:solidFill>
                </a:rPr>
                <a:t>import static </a:t>
              </a:r>
              <a:r>
                <a:rPr lang="en-US" dirty="0" err="1" smtClean="0">
                  <a:solidFill>
                    <a:srgbClr val="FF0000"/>
                  </a:solidFill>
                </a:rPr>
                <a:t>java.lang</a:t>
              </a:r>
              <a:r>
                <a:rPr lang="en-US" dirty="0" err="1" smtClean="0">
                  <a:solidFill>
                    <a:srgbClr val="CC0099"/>
                  </a:solidFill>
                </a:rPr>
                <a:t>.Math</a:t>
              </a:r>
              <a:r>
                <a:rPr lang="en-US" dirty="0" smtClean="0">
                  <a:solidFill>
                    <a:srgbClr val="00B0F0"/>
                  </a:solidFill>
                </a:rPr>
                <a:t>.*</a:t>
              </a:r>
              <a:r>
                <a:rPr lang="en-US" dirty="0" smtClean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dirty="0" err="1" smtClean="0">
                  <a:solidFill>
                    <a:srgbClr val="00B0F0"/>
                  </a:solidFill>
                </a:rPr>
                <a:t>int</a:t>
              </a:r>
              <a:r>
                <a:rPr lang="en-US" dirty="0" smtClean="0">
                  <a:solidFill>
                    <a:srgbClr val="00B0F0"/>
                  </a:solidFill>
                </a:rPr>
                <a:t> </a:t>
              </a:r>
              <a:r>
                <a:rPr lang="en-US" dirty="0" smtClean="0">
                  <a:solidFill>
                    <a:srgbClr val="0000FF"/>
                  </a:solidFill>
                </a:rPr>
                <a:t>value1 = -10, value2 = 40;	</a:t>
              </a:r>
              <a:endParaRPr lang="en-US" dirty="0" smtClean="0">
                <a:solidFill>
                  <a:srgbClr val="00B050"/>
                </a:solidFill>
              </a:endParaRPr>
            </a:p>
            <a:p>
              <a:r>
                <a:rPr lang="en-US" dirty="0" err="1" smtClean="0">
                  <a:solidFill>
                    <a:srgbClr val="00B0F0"/>
                  </a:solidFill>
                </a:rPr>
                <a:t>int</a:t>
              </a:r>
              <a:r>
                <a:rPr lang="en-US" dirty="0" smtClean="0">
                  <a:solidFill>
                    <a:srgbClr val="0000FF"/>
                  </a:solidFill>
                </a:rPr>
                <a:t> maximum;</a:t>
              </a:r>
              <a:endParaRPr lang="en-US" dirty="0" smtClean="0">
                <a:solidFill>
                  <a:srgbClr val="00B050"/>
                </a:solidFill>
              </a:endParaRPr>
            </a:p>
            <a:p>
              <a:r>
                <a:rPr lang="en-US" dirty="0" smtClean="0">
                  <a:solidFill>
                    <a:srgbClr val="0000FF"/>
                  </a:solidFill>
                </a:rPr>
                <a:t>maximum = </a:t>
              </a:r>
              <a:r>
                <a:rPr lang="en-US" dirty="0" smtClean="0">
                  <a:solidFill>
                    <a:srgbClr val="00B050"/>
                  </a:solidFill>
                </a:rPr>
                <a:t>max</a:t>
              </a:r>
              <a:r>
                <a:rPr lang="en-US" dirty="0" smtClean="0">
                  <a:solidFill>
                    <a:srgbClr val="0000FF"/>
                  </a:solidFill>
                </a:rPr>
                <a:t>(value1, value2);  </a:t>
              </a:r>
              <a:r>
                <a:rPr lang="en-US" sz="1400" dirty="0" smtClean="0">
                  <a:solidFill>
                    <a:srgbClr val="00B050"/>
                  </a:solidFill>
                </a:rPr>
                <a:t>//value1 &amp; value2 are the </a:t>
              </a:r>
              <a:r>
                <a:rPr lang="en-US" sz="1400" dirty="0" smtClean="0">
                  <a:solidFill>
                    <a:srgbClr val="FF0000"/>
                  </a:solidFill>
                </a:rPr>
                <a:t>actual parameters</a:t>
              </a:r>
              <a:endParaRPr lang="en-US" dirty="0" smtClean="0">
                <a:solidFill>
                  <a:srgbClr val="FF0000"/>
                </a:solidFill>
              </a:endParaRPr>
            </a:p>
            <a:p>
              <a:r>
                <a:rPr lang="en-US" dirty="0" err="1" smtClean="0">
                  <a:solidFill>
                    <a:srgbClr val="0000FF"/>
                  </a:solidFill>
                </a:rPr>
                <a:t>System.out.printf</a:t>
              </a:r>
              <a:r>
                <a:rPr lang="en-US" dirty="0" smtClean="0">
                  <a:solidFill>
                    <a:srgbClr val="0000FF"/>
                  </a:solidFill>
                </a:rPr>
                <a:t> (“The maximum of %d and %d = %d”, value1, value2, maximum);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23529" y="1236822"/>
              <a:ext cx="386010" cy="16496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6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251520" y="4941168"/>
            <a:ext cx="8712967" cy="307777"/>
            <a:chOff x="683568" y="1236822"/>
            <a:chExt cx="7488831" cy="307777"/>
          </a:xfrm>
        </p:grpSpPr>
        <p:sp>
          <p:nvSpPr>
            <p:cNvPr id="37" name="TextBox 36"/>
            <p:cNvSpPr txBox="1"/>
            <p:nvPr/>
          </p:nvSpPr>
          <p:spPr>
            <a:xfrm>
              <a:off x="1069013" y="1236822"/>
              <a:ext cx="7103386" cy="307777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chemeClr val="bg1"/>
                  </a:solidFill>
                </a:rPr>
                <a:t>The maximum of -10 and 40 = 40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83568" y="1236822"/>
              <a:ext cx="21602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rgbClr val="FF0000"/>
                  </a:solidFill>
                </a:rPr>
                <a:t>1</a:t>
              </a:r>
            </a:p>
          </p:txBody>
        </p:sp>
      </p:grpSp>
      <p:sp>
        <p:nvSpPr>
          <p:cNvPr id="45" name="TextBox 44"/>
          <p:cNvSpPr txBox="1"/>
          <p:nvPr/>
        </p:nvSpPr>
        <p:spPr>
          <a:xfrm>
            <a:off x="251520" y="2276872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Returns: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the larger of 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 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C0F99-418A-47AD-8EE9-8B4FF28C0C0C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251520" y="1588730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Parameters Types: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and 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may be </a:t>
            </a:r>
            <a:r>
              <a:rPr lang="en-US" sz="2000" dirty="0" err="1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long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double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float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215574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/>
      <p:bldP spid="21" grpId="0"/>
      <p:bldP spid="45" grpId="0"/>
      <p:bldP spid="2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3.5 TRIGONOMETRIC METHODS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323528" y="764704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These include the following: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771800" y="1268760"/>
            <a:ext cx="3600400" cy="6480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TRIGONOMETRIC METHODS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491880" y="2492896"/>
            <a:ext cx="5400600" cy="720080"/>
          </a:xfrm>
          <a:prstGeom prst="roundRect">
            <a:avLst/>
          </a:prstGeom>
          <a:solidFill>
            <a:srgbClr val="FFFFE5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rgbClr val="0000FF"/>
                </a:solidFill>
              </a:rPr>
              <a:t>3.4.1 Sine: </a:t>
            </a:r>
          </a:p>
          <a:p>
            <a:pPr algn="ctr"/>
            <a:r>
              <a:rPr lang="en-US" dirty="0" smtClean="0">
                <a:solidFill>
                  <a:srgbClr val="00B0F0"/>
                </a:solidFill>
              </a:rPr>
              <a:t>double </a:t>
            </a:r>
            <a:r>
              <a:rPr lang="en-US" dirty="0" smtClean="0">
                <a:solidFill>
                  <a:srgbClr val="00B050"/>
                </a:solidFill>
              </a:rPr>
              <a:t>sin</a:t>
            </a:r>
            <a:r>
              <a:rPr lang="en-US" dirty="0" smtClean="0">
                <a:solidFill>
                  <a:srgbClr val="0000FF"/>
                </a:solidFill>
              </a:rPr>
              <a:t>(</a:t>
            </a:r>
            <a:r>
              <a:rPr lang="en-US" dirty="0" smtClean="0">
                <a:solidFill>
                  <a:srgbClr val="00B0F0"/>
                </a:solidFill>
              </a:rPr>
              <a:t>double </a:t>
            </a:r>
            <a:r>
              <a:rPr lang="en-US" dirty="0" smtClean="0">
                <a:solidFill>
                  <a:srgbClr val="0000FF"/>
                </a:solidFill>
              </a:rPr>
              <a:t>x)</a:t>
            </a:r>
            <a:endParaRPr lang="en-US" dirty="0">
              <a:solidFill>
                <a:srgbClr val="0000FF"/>
              </a:solidFill>
            </a:endParaRPr>
          </a:p>
        </p:txBody>
      </p:sp>
      <p:cxnSp>
        <p:nvCxnSpPr>
          <p:cNvPr id="22" name="Straight Connector 21"/>
          <p:cNvCxnSpPr/>
          <p:nvPr/>
        </p:nvCxnSpPr>
        <p:spPr>
          <a:xfrm>
            <a:off x="3131840" y="1916832"/>
            <a:ext cx="0" cy="396044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3131840" y="2852936"/>
            <a:ext cx="36004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3131840" y="4145807"/>
            <a:ext cx="36004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491880" y="3785767"/>
            <a:ext cx="5400600" cy="720080"/>
          </a:xfrm>
          <a:prstGeom prst="roundRect">
            <a:avLst/>
          </a:prstGeom>
          <a:solidFill>
            <a:srgbClr val="FFFFE5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rgbClr val="0000FF"/>
                </a:solidFill>
              </a:rPr>
              <a:t>3.4.2 Cosine: </a:t>
            </a:r>
          </a:p>
          <a:p>
            <a:pPr algn="ctr"/>
            <a:r>
              <a:rPr lang="en-US" dirty="0" smtClean="0">
                <a:solidFill>
                  <a:srgbClr val="00B0F0"/>
                </a:solidFill>
              </a:rPr>
              <a:t>double </a:t>
            </a:r>
            <a:r>
              <a:rPr lang="en-US" dirty="0" smtClean="0">
                <a:solidFill>
                  <a:srgbClr val="00B050"/>
                </a:solidFill>
              </a:rPr>
              <a:t>cos</a:t>
            </a:r>
            <a:r>
              <a:rPr lang="en-US" dirty="0" smtClean="0">
                <a:solidFill>
                  <a:srgbClr val="0000FF"/>
                </a:solidFill>
              </a:rPr>
              <a:t>(</a:t>
            </a:r>
            <a:r>
              <a:rPr lang="en-US" dirty="0" smtClean="0">
                <a:solidFill>
                  <a:srgbClr val="00B0F0"/>
                </a:solidFill>
              </a:rPr>
              <a:t>double </a:t>
            </a:r>
            <a:r>
              <a:rPr lang="en-US" dirty="0" smtClean="0">
                <a:solidFill>
                  <a:srgbClr val="0000FF"/>
                </a:solidFill>
              </a:rPr>
              <a:t>x)</a:t>
            </a:r>
            <a:endParaRPr lang="en-US" dirty="0">
              <a:solidFill>
                <a:srgbClr val="0000FF"/>
              </a:solidFill>
            </a:endParaRP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3131840" y="5405947"/>
            <a:ext cx="36004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491880" y="5078638"/>
            <a:ext cx="5400600" cy="654618"/>
          </a:xfrm>
          <a:prstGeom prst="roundRect">
            <a:avLst/>
          </a:prstGeom>
          <a:solidFill>
            <a:srgbClr val="FFFFE5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rgbClr val="0000FF"/>
                </a:solidFill>
              </a:rPr>
              <a:t>3.4.3 Tangent: </a:t>
            </a:r>
          </a:p>
          <a:p>
            <a:pPr algn="ctr"/>
            <a:r>
              <a:rPr lang="en-US" dirty="0" smtClean="0">
                <a:solidFill>
                  <a:srgbClr val="00B0F0"/>
                </a:solidFill>
              </a:rPr>
              <a:t>double </a:t>
            </a:r>
            <a:r>
              <a:rPr lang="en-US" dirty="0" smtClean="0">
                <a:solidFill>
                  <a:srgbClr val="00B050"/>
                </a:solidFill>
              </a:rPr>
              <a:t>tan</a:t>
            </a:r>
            <a:r>
              <a:rPr lang="en-US" dirty="0" smtClean="0">
                <a:solidFill>
                  <a:srgbClr val="0000FF"/>
                </a:solidFill>
              </a:rPr>
              <a:t>(</a:t>
            </a:r>
            <a:r>
              <a:rPr lang="en-US" dirty="0" smtClean="0">
                <a:solidFill>
                  <a:srgbClr val="00B0F0"/>
                </a:solidFill>
              </a:rPr>
              <a:t>double </a:t>
            </a:r>
            <a:r>
              <a:rPr lang="en-US" dirty="0" smtClean="0">
                <a:solidFill>
                  <a:srgbClr val="0000FF"/>
                </a:solidFill>
              </a:rPr>
              <a:t>x)</a:t>
            </a:r>
            <a:endParaRPr lang="en-US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865516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15" grpId="0" animBg="1"/>
      <p:bldP spid="16" grpId="0" animBg="1"/>
      <p:bldP spid="12" grpId="0" animBg="1"/>
      <p:bldP spid="1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3.5.1 SINE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double   sin(double   x)</a:t>
            </a:r>
            <a:endParaRPr lang="en-US" b="1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51520" y="1208946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Formal Parameter: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the value for which we want to calculate the sine value.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51520" y="2812866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Return Type: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double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33" name="Group 32"/>
          <p:cNvGrpSpPr/>
          <p:nvPr/>
        </p:nvGrpSpPr>
        <p:grpSpPr>
          <a:xfrm>
            <a:off x="179513" y="3481263"/>
            <a:ext cx="8784976" cy="1200329"/>
            <a:chOff x="323529" y="1236822"/>
            <a:chExt cx="7848872" cy="1128695"/>
          </a:xfrm>
        </p:grpSpPr>
        <p:sp>
          <p:nvSpPr>
            <p:cNvPr id="34" name="TextBox 33"/>
            <p:cNvSpPr txBox="1"/>
            <p:nvPr/>
          </p:nvSpPr>
          <p:spPr>
            <a:xfrm>
              <a:off x="788528" y="1236822"/>
              <a:ext cx="7383873" cy="1128695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F0"/>
                  </a:solidFill>
                </a:rPr>
                <a:t>import static </a:t>
              </a:r>
              <a:r>
                <a:rPr lang="en-US" dirty="0" err="1" smtClean="0">
                  <a:solidFill>
                    <a:srgbClr val="FF0000"/>
                  </a:solidFill>
                </a:rPr>
                <a:t>java.lang</a:t>
              </a:r>
              <a:r>
                <a:rPr lang="en-US" dirty="0" err="1" smtClean="0">
                  <a:solidFill>
                    <a:srgbClr val="CC0099"/>
                  </a:solidFill>
                </a:rPr>
                <a:t>.Math</a:t>
              </a:r>
              <a:r>
                <a:rPr lang="en-US" dirty="0" smtClean="0">
                  <a:solidFill>
                    <a:srgbClr val="00B0F0"/>
                  </a:solidFill>
                </a:rPr>
                <a:t>.*</a:t>
              </a:r>
              <a:r>
                <a:rPr lang="en-US" dirty="0" smtClean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dirty="0" smtClean="0">
                  <a:solidFill>
                    <a:srgbClr val="00B0F0"/>
                  </a:solidFill>
                </a:rPr>
                <a:t>double</a:t>
              </a:r>
              <a:r>
                <a:rPr lang="en-US" dirty="0" smtClean="0">
                  <a:solidFill>
                    <a:srgbClr val="0000FF"/>
                  </a:solidFill>
                </a:rPr>
                <a:t> sine, value = 0.0; </a:t>
              </a:r>
              <a:endParaRPr lang="en-US" dirty="0" smtClean="0">
                <a:solidFill>
                  <a:srgbClr val="00B050"/>
                </a:solidFill>
              </a:endParaRPr>
            </a:p>
            <a:p>
              <a:r>
                <a:rPr lang="en-US" dirty="0" smtClean="0">
                  <a:solidFill>
                    <a:srgbClr val="0000FF"/>
                  </a:solidFill>
                </a:rPr>
                <a:t>sine = </a:t>
              </a:r>
              <a:r>
                <a:rPr lang="en-US" dirty="0" smtClean="0">
                  <a:solidFill>
                    <a:srgbClr val="00B050"/>
                  </a:solidFill>
                </a:rPr>
                <a:t>sin</a:t>
              </a:r>
              <a:r>
                <a:rPr lang="en-US" dirty="0" smtClean="0">
                  <a:solidFill>
                    <a:srgbClr val="0000FF"/>
                  </a:solidFill>
                </a:rPr>
                <a:t>(value); </a:t>
              </a:r>
              <a:r>
                <a:rPr lang="en-US" dirty="0" smtClean="0">
                  <a:solidFill>
                    <a:srgbClr val="00B050"/>
                  </a:solidFill>
                </a:rPr>
                <a:t>//value is the </a:t>
              </a:r>
              <a:r>
                <a:rPr lang="en-US" dirty="0" smtClean="0">
                  <a:solidFill>
                    <a:srgbClr val="FF0000"/>
                  </a:solidFill>
                </a:rPr>
                <a:t>actual parameter</a:t>
              </a:r>
            </a:p>
            <a:p>
              <a:r>
                <a:rPr lang="en-US" dirty="0" err="1" smtClean="0">
                  <a:solidFill>
                    <a:srgbClr val="0000FF"/>
                  </a:solidFill>
                </a:rPr>
                <a:t>System.out.printf</a:t>
              </a:r>
              <a:r>
                <a:rPr lang="en-US" dirty="0" smtClean="0">
                  <a:solidFill>
                    <a:srgbClr val="0000FF"/>
                  </a:solidFill>
                </a:rPr>
                <a:t> (“Sine of %f = %f”, value, sine);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23529" y="1236822"/>
              <a:ext cx="386010" cy="1128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4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251520" y="4777407"/>
            <a:ext cx="8712967" cy="307777"/>
            <a:chOff x="683568" y="1236822"/>
            <a:chExt cx="7488831" cy="307777"/>
          </a:xfrm>
        </p:grpSpPr>
        <p:sp>
          <p:nvSpPr>
            <p:cNvPr id="37" name="TextBox 36"/>
            <p:cNvSpPr txBox="1"/>
            <p:nvPr/>
          </p:nvSpPr>
          <p:spPr>
            <a:xfrm>
              <a:off x="1069013" y="1236822"/>
              <a:ext cx="7103386" cy="307777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chemeClr val="bg1"/>
                  </a:solidFill>
                </a:rPr>
                <a:t>Sine of 0.0 = 0.0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83568" y="1236822"/>
              <a:ext cx="21602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rgbClr val="FF0000"/>
                  </a:solidFill>
                </a:rPr>
                <a:t>1</a:t>
              </a:r>
            </a:p>
          </p:txBody>
        </p:sp>
      </p:grpSp>
      <p:sp>
        <p:nvSpPr>
          <p:cNvPr id="45" name="TextBox 44"/>
          <p:cNvSpPr txBox="1"/>
          <p:nvPr/>
        </p:nvSpPr>
        <p:spPr>
          <a:xfrm>
            <a:off x="251520" y="2452826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Returns: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sin(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C0F99-418A-47AD-8EE9-8B4FF28C0C0C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251520" y="1804754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Parameter Type: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The type of 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is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double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It is measured in radians.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498514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/>
      <p:bldP spid="21" grpId="0"/>
      <p:bldP spid="45" grpId="0"/>
      <p:bldP spid="2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3.5.2 COSINE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double   cos(double   x)</a:t>
            </a:r>
            <a:endParaRPr lang="en-US" b="1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51520" y="1196752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Formal Parameter: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the value for which we want to calculate the cosine value.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51520" y="2812866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Return Type: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double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33" name="Group 32"/>
          <p:cNvGrpSpPr/>
          <p:nvPr/>
        </p:nvGrpSpPr>
        <p:grpSpPr>
          <a:xfrm>
            <a:off x="179513" y="3481263"/>
            <a:ext cx="8784976" cy="1200329"/>
            <a:chOff x="323529" y="1236822"/>
            <a:chExt cx="7848872" cy="1128695"/>
          </a:xfrm>
        </p:grpSpPr>
        <p:sp>
          <p:nvSpPr>
            <p:cNvPr id="34" name="TextBox 33"/>
            <p:cNvSpPr txBox="1"/>
            <p:nvPr/>
          </p:nvSpPr>
          <p:spPr>
            <a:xfrm>
              <a:off x="788528" y="1236822"/>
              <a:ext cx="7383873" cy="1128695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F0"/>
                  </a:solidFill>
                </a:rPr>
                <a:t>import static </a:t>
              </a:r>
              <a:r>
                <a:rPr lang="en-US" dirty="0" err="1" smtClean="0">
                  <a:solidFill>
                    <a:srgbClr val="FF0000"/>
                  </a:solidFill>
                </a:rPr>
                <a:t>java.lang</a:t>
              </a:r>
              <a:r>
                <a:rPr lang="en-US" dirty="0" err="1" smtClean="0">
                  <a:solidFill>
                    <a:srgbClr val="CC0099"/>
                  </a:solidFill>
                </a:rPr>
                <a:t>.Math</a:t>
              </a:r>
              <a:r>
                <a:rPr lang="en-US" dirty="0" smtClean="0">
                  <a:solidFill>
                    <a:srgbClr val="00B0F0"/>
                  </a:solidFill>
                </a:rPr>
                <a:t>.*</a:t>
              </a:r>
              <a:r>
                <a:rPr lang="en-US" dirty="0" smtClean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dirty="0" smtClean="0">
                  <a:solidFill>
                    <a:srgbClr val="00B0F0"/>
                  </a:solidFill>
                </a:rPr>
                <a:t>double</a:t>
              </a:r>
              <a:r>
                <a:rPr lang="en-US" dirty="0" smtClean="0">
                  <a:solidFill>
                    <a:srgbClr val="0000FF"/>
                  </a:solidFill>
                </a:rPr>
                <a:t> cosine, value = 0.0; </a:t>
              </a:r>
              <a:endParaRPr lang="en-US" dirty="0" smtClean="0">
                <a:solidFill>
                  <a:srgbClr val="00B050"/>
                </a:solidFill>
              </a:endParaRPr>
            </a:p>
            <a:p>
              <a:r>
                <a:rPr lang="en-US" dirty="0" smtClean="0">
                  <a:solidFill>
                    <a:srgbClr val="0000FF"/>
                  </a:solidFill>
                </a:rPr>
                <a:t>cosine = </a:t>
              </a:r>
              <a:r>
                <a:rPr lang="en-US" dirty="0" smtClean="0">
                  <a:solidFill>
                    <a:srgbClr val="00B050"/>
                  </a:solidFill>
                </a:rPr>
                <a:t>cos</a:t>
              </a:r>
              <a:r>
                <a:rPr lang="en-US" dirty="0" smtClean="0">
                  <a:solidFill>
                    <a:srgbClr val="0000FF"/>
                  </a:solidFill>
                </a:rPr>
                <a:t>(value); </a:t>
              </a:r>
              <a:r>
                <a:rPr lang="en-US" dirty="0" smtClean="0">
                  <a:solidFill>
                    <a:srgbClr val="00B050"/>
                  </a:solidFill>
                </a:rPr>
                <a:t>//value is the </a:t>
              </a:r>
              <a:r>
                <a:rPr lang="en-US" dirty="0" smtClean="0">
                  <a:solidFill>
                    <a:srgbClr val="FF0000"/>
                  </a:solidFill>
                </a:rPr>
                <a:t>actual parameter</a:t>
              </a:r>
            </a:p>
            <a:p>
              <a:r>
                <a:rPr lang="en-US" dirty="0" err="1" smtClean="0">
                  <a:solidFill>
                    <a:srgbClr val="0000FF"/>
                  </a:solidFill>
                </a:rPr>
                <a:t>System.out.printf</a:t>
              </a:r>
              <a:r>
                <a:rPr lang="en-US" dirty="0" smtClean="0">
                  <a:solidFill>
                    <a:srgbClr val="0000FF"/>
                  </a:solidFill>
                </a:rPr>
                <a:t> (“Cosine of %f = %f”, value, cosine);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23529" y="1236822"/>
              <a:ext cx="386010" cy="1128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4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251520" y="4777407"/>
            <a:ext cx="8712967" cy="307777"/>
            <a:chOff x="683568" y="1236822"/>
            <a:chExt cx="7488831" cy="307777"/>
          </a:xfrm>
        </p:grpSpPr>
        <p:sp>
          <p:nvSpPr>
            <p:cNvPr id="37" name="TextBox 36"/>
            <p:cNvSpPr txBox="1"/>
            <p:nvPr/>
          </p:nvSpPr>
          <p:spPr>
            <a:xfrm>
              <a:off x="1069013" y="1236822"/>
              <a:ext cx="7103386" cy="307777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chemeClr val="bg1"/>
                  </a:solidFill>
                </a:rPr>
                <a:t>Cosine of 0.0 = 1.0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83568" y="1236822"/>
              <a:ext cx="21602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rgbClr val="FF0000"/>
                  </a:solidFill>
                </a:rPr>
                <a:t>1</a:t>
              </a:r>
            </a:p>
          </p:txBody>
        </p:sp>
      </p:grpSp>
      <p:sp>
        <p:nvSpPr>
          <p:cNvPr id="45" name="TextBox 44"/>
          <p:cNvSpPr txBox="1"/>
          <p:nvPr/>
        </p:nvSpPr>
        <p:spPr>
          <a:xfrm>
            <a:off x="251520" y="2452826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Returns: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cos(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C0F99-418A-47AD-8EE9-8B4FF28C0C0C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251520" y="1804754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Parameter Type: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The type of 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is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double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It is measured in radians.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466576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/>
      <p:bldP spid="21" grpId="0"/>
      <p:bldP spid="45" grpId="0"/>
      <p:bldP spid="2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3.5.3 TANGENT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double   tan(double   x)</a:t>
            </a:r>
            <a:endParaRPr lang="en-US" b="1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51520" y="1196752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Formal Parameter: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the value for which we want to calculate the tangent value.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51520" y="2812866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Return Type: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double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33" name="Group 32"/>
          <p:cNvGrpSpPr/>
          <p:nvPr/>
        </p:nvGrpSpPr>
        <p:grpSpPr>
          <a:xfrm>
            <a:off x="179513" y="3481263"/>
            <a:ext cx="8784976" cy="1200329"/>
            <a:chOff x="323529" y="1236822"/>
            <a:chExt cx="7848872" cy="1128695"/>
          </a:xfrm>
        </p:grpSpPr>
        <p:sp>
          <p:nvSpPr>
            <p:cNvPr id="34" name="TextBox 33"/>
            <p:cNvSpPr txBox="1"/>
            <p:nvPr/>
          </p:nvSpPr>
          <p:spPr>
            <a:xfrm>
              <a:off x="788528" y="1236822"/>
              <a:ext cx="7383873" cy="1128695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F0"/>
                  </a:solidFill>
                </a:rPr>
                <a:t>import static </a:t>
              </a:r>
              <a:r>
                <a:rPr lang="en-US" dirty="0" err="1" smtClean="0">
                  <a:solidFill>
                    <a:srgbClr val="FF0000"/>
                  </a:solidFill>
                </a:rPr>
                <a:t>java.lang</a:t>
              </a:r>
              <a:r>
                <a:rPr lang="en-US" dirty="0" err="1" smtClean="0">
                  <a:solidFill>
                    <a:srgbClr val="CC0099"/>
                  </a:solidFill>
                </a:rPr>
                <a:t>.Math</a:t>
              </a:r>
              <a:r>
                <a:rPr lang="en-US" dirty="0" smtClean="0">
                  <a:solidFill>
                    <a:srgbClr val="00B0F0"/>
                  </a:solidFill>
                </a:rPr>
                <a:t>.*</a:t>
              </a:r>
              <a:r>
                <a:rPr lang="en-US" dirty="0" smtClean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dirty="0" smtClean="0">
                  <a:solidFill>
                    <a:srgbClr val="00B0F0"/>
                  </a:solidFill>
                </a:rPr>
                <a:t>double</a:t>
              </a:r>
              <a:r>
                <a:rPr lang="en-US" dirty="0" smtClean="0">
                  <a:solidFill>
                    <a:srgbClr val="0000FF"/>
                  </a:solidFill>
                </a:rPr>
                <a:t> tangent, value = 0.0; </a:t>
              </a:r>
              <a:endParaRPr lang="en-US" dirty="0" smtClean="0">
                <a:solidFill>
                  <a:srgbClr val="00B050"/>
                </a:solidFill>
              </a:endParaRPr>
            </a:p>
            <a:p>
              <a:r>
                <a:rPr lang="en-US" dirty="0" smtClean="0">
                  <a:solidFill>
                    <a:srgbClr val="0000FF"/>
                  </a:solidFill>
                </a:rPr>
                <a:t>tangent = </a:t>
              </a:r>
              <a:r>
                <a:rPr lang="en-US" dirty="0" smtClean="0">
                  <a:solidFill>
                    <a:srgbClr val="00B050"/>
                  </a:solidFill>
                </a:rPr>
                <a:t>tan</a:t>
              </a:r>
              <a:r>
                <a:rPr lang="en-US" dirty="0" smtClean="0">
                  <a:solidFill>
                    <a:srgbClr val="0000FF"/>
                  </a:solidFill>
                </a:rPr>
                <a:t>(value); </a:t>
              </a:r>
              <a:r>
                <a:rPr lang="en-US" dirty="0" smtClean="0">
                  <a:solidFill>
                    <a:srgbClr val="00B050"/>
                  </a:solidFill>
                </a:rPr>
                <a:t>//value is the </a:t>
              </a:r>
              <a:r>
                <a:rPr lang="en-US" dirty="0" smtClean="0">
                  <a:solidFill>
                    <a:srgbClr val="FF0000"/>
                  </a:solidFill>
                </a:rPr>
                <a:t>actual parameter</a:t>
              </a:r>
            </a:p>
            <a:p>
              <a:r>
                <a:rPr lang="en-US" dirty="0" err="1" smtClean="0">
                  <a:solidFill>
                    <a:srgbClr val="0000FF"/>
                  </a:solidFill>
                </a:rPr>
                <a:t>System.out.printf</a:t>
              </a:r>
              <a:r>
                <a:rPr lang="en-US" dirty="0" smtClean="0">
                  <a:solidFill>
                    <a:srgbClr val="0000FF"/>
                  </a:solidFill>
                </a:rPr>
                <a:t> (“Tangent of %f = %f”, value, tangent);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23529" y="1236822"/>
              <a:ext cx="386010" cy="1128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4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251520" y="4777407"/>
            <a:ext cx="8712967" cy="307777"/>
            <a:chOff x="683568" y="1236822"/>
            <a:chExt cx="7488831" cy="307777"/>
          </a:xfrm>
        </p:grpSpPr>
        <p:sp>
          <p:nvSpPr>
            <p:cNvPr id="37" name="TextBox 36"/>
            <p:cNvSpPr txBox="1"/>
            <p:nvPr/>
          </p:nvSpPr>
          <p:spPr>
            <a:xfrm>
              <a:off x="1069013" y="1236822"/>
              <a:ext cx="7103386" cy="307777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chemeClr val="bg1"/>
                  </a:solidFill>
                </a:rPr>
                <a:t>Tangent of 0.0 = 0.0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83568" y="1236822"/>
              <a:ext cx="21602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rgbClr val="FF0000"/>
                  </a:solidFill>
                </a:rPr>
                <a:t>1</a:t>
              </a:r>
            </a:p>
          </p:txBody>
        </p:sp>
      </p:grpSp>
      <p:sp>
        <p:nvSpPr>
          <p:cNvPr id="45" name="TextBox 44"/>
          <p:cNvSpPr txBox="1"/>
          <p:nvPr/>
        </p:nvSpPr>
        <p:spPr>
          <a:xfrm>
            <a:off x="251520" y="2452826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Returns: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tan(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C0F99-418A-47AD-8EE9-8B4FF28C0C0C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251520" y="1804754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Parameter Type: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The type of 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is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double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It is measured in radians.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865177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/>
      <p:bldP spid="21" grpId="0"/>
      <p:bldP spid="45" grpId="0"/>
      <p:bldP spid="2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4</a:t>
            </a:r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. CHARACTER METHODS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323528" y="764704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Character manipulation methods belong to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class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smtClean="0">
                <a:solidFill>
                  <a:srgbClr val="CC00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Character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23528" y="1268760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Character methods may be categorized as follows: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771800" y="1916832"/>
            <a:ext cx="3600400" cy="6480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CHARACTER METHODS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932040" y="3140968"/>
            <a:ext cx="3744416" cy="576064"/>
          </a:xfrm>
          <a:prstGeom prst="roundRect">
            <a:avLst/>
          </a:prstGeom>
          <a:solidFill>
            <a:srgbClr val="FFFFE5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FF"/>
                </a:solidFill>
              </a:rPr>
              <a:t>4.1Checking methods</a:t>
            </a:r>
            <a:endParaRPr lang="en-US" dirty="0">
              <a:solidFill>
                <a:srgbClr val="0000FF"/>
              </a:solidFill>
            </a:endParaRPr>
          </a:p>
        </p:txBody>
      </p:sp>
      <p:cxnSp>
        <p:nvCxnSpPr>
          <p:cNvPr id="22" name="Straight Connector 21"/>
          <p:cNvCxnSpPr/>
          <p:nvPr/>
        </p:nvCxnSpPr>
        <p:spPr>
          <a:xfrm>
            <a:off x="4572000" y="2564904"/>
            <a:ext cx="0" cy="25922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4572000" y="3429000"/>
            <a:ext cx="36004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932040" y="4581128"/>
            <a:ext cx="3744416" cy="576064"/>
          </a:xfrm>
          <a:prstGeom prst="roundRect">
            <a:avLst/>
          </a:prstGeom>
          <a:solidFill>
            <a:srgbClr val="FFFFE5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FF"/>
                </a:solidFill>
              </a:rPr>
              <a:t>4.2 Manipulation methods</a:t>
            </a:r>
            <a:endParaRPr lang="en-US" dirty="0">
              <a:solidFill>
                <a:srgbClr val="0000FF"/>
              </a:solidFill>
            </a:endParaRPr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4572000" y="4869160"/>
            <a:ext cx="36004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518534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14" grpId="0"/>
      <p:bldP spid="15" grpId="0" animBg="1"/>
      <p:bldP spid="16" grpId="0" animBg="1"/>
      <p:bldP spid="2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4.1 CHECKING METHODS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323528" y="764704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These include the following: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771800" y="1268760"/>
            <a:ext cx="3600400" cy="6480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CHECKING METHODS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491880" y="2060848"/>
            <a:ext cx="5400600" cy="720080"/>
          </a:xfrm>
          <a:prstGeom prst="roundRect">
            <a:avLst/>
          </a:prstGeom>
          <a:solidFill>
            <a:srgbClr val="FFFFE5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rgbClr val="0000FF"/>
                </a:solidFill>
              </a:rPr>
              <a:t>4.1.1 Digit?</a:t>
            </a:r>
          </a:p>
          <a:p>
            <a:pPr algn="ctr"/>
            <a:r>
              <a:rPr lang="en-US" dirty="0" err="1" smtClean="0">
                <a:solidFill>
                  <a:srgbClr val="00B0F0"/>
                </a:solidFill>
              </a:rPr>
              <a:t>boolean</a:t>
            </a:r>
            <a:r>
              <a:rPr lang="en-US" dirty="0" smtClean="0">
                <a:solidFill>
                  <a:srgbClr val="00B0F0"/>
                </a:solidFill>
              </a:rPr>
              <a:t> </a:t>
            </a:r>
            <a:r>
              <a:rPr lang="en-US" dirty="0" err="1" smtClean="0">
                <a:solidFill>
                  <a:srgbClr val="00B050"/>
                </a:solidFill>
              </a:rPr>
              <a:t>isDigit</a:t>
            </a:r>
            <a:r>
              <a:rPr lang="en-US" dirty="0" smtClean="0">
                <a:solidFill>
                  <a:srgbClr val="0000FF"/>
                </a:solidFill>
              </a:rPr>
              <a:t>(</a:t>
            </a:r>
            <a:r>
              <a:rPr lang="en-US" dirty="0" smtClean="0">
                <a:solidFill>
                  <a:srgbClr val="00B0F0"/>
                </a:solidFill>
              </a:rPr>
              <a:t>char </a:t>
            </a:r>
            <a:r>
              <a:rPr lang="en-US" dirty="0" err="1" smtClean="0">
                <a:solidFill>
                  <a:srgbClr val="0000FF"/>
                </a:solidFill>
              </a:rPr>
              <a:t>ch</a:t>
            </a:r>
            <a:r>
              <a:rPr lang="en-US" dirty="0" smtClean="0">
                <a:solidFill>
                  <a:srgbClr val="0000FF"/>
                </a:solidFill>
              </a:rPr>
              <a:t>)</a:t>
            </a:r>
            <a:endParaRPr lang="en-US" dirty="0">
              <a:solidFill>
                <a:srgbClr val="0000FF"/>
              </a:solidFill>
            </a:endParaRPr>
          </a:p>
        </p:txBody>
      </p:sp>
      <p:cxnSp>
        <p:nvCxnSpPr>
          <p:cNvPr id="22" name="Straight Connector 21"/>
          <p:cNvCxnSpPr/>
          <p:nvPr/>
        </p:nvCxnSpPr>
        <p:spPr>
          <a:xfrm>
            <a:off x="3131840" y="1916832"/>
            <a:ext cx="0" cy="453650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3131840" y="2420888"/>
            <a:ext cx="36004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3131840" y="3713759"/>
            <a:ext cx="36004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491880" y="3280620"/>
            <a:ext cx="5400600" cy="720080"/>
          </a:xfrm>
          <a:prstGeom prst="roundRect">
            <a:avLst/>
          </a:prstGeom>
          <a:solidFill>
            <a:srgbClr val="FFFFE5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rgbClr val="0000FF"/>
                </a:solidFill>
              </a:rPr>
              <a:t>4.1.2 Letter? </a:t>
            </a:r>
          </a:p>
          <a:p>
            <a:pPr algn="ctr"/>
            <a:r>
              <a:rPr lang="en-US" dirty="0" err="1" smtClean="0">
                <a:solidFill>
                  <a:srgbClr val="00B0F0"/>
                </a:solidFill>
              </a:rPr>
              <a:t>boolean</a:t>
            </a:r>
            <a:r>
              <a:rPr lang="en-US" dirty="0" smtClean="0">
                <a:solidFill>
                  <a:srgbClr val="00B0F0"/>
                </a:solidFill>
              </a:rPr>
              <a:t> </a:t>
            </a:r>
            <a:r>
              <a:rPr lang="en-US" dirty="0" err="1" smtClean="0">
                <a:solidFill>
                  <a:srgbClr val="00B050"/>
                </a:solidFill>
              </a:rPr>
              <a:t>isLetter</a:t>
            </a:r>
            <a:r>
              <a:rPr lang="en-US" dirty="0" smtClean="0">
                <a:solidFill>
                  <a:srgbClr val="0000FF"/>
                </a:solidFill>
              </a:rPr>
              <a:t>(</a:t>
            </a:r>
            <a:r>
              <a:rPr lang="en-US" dirty="0" smtClean="0">
                <a:solidFill>
                  <a:srgbClr val="00B0F0"/>
                </a:solidFill>
              </a:rPr>
              <a:t>char </a:t>
            </a:r>
            <a:r>
              <a:rPr lang="en-US" dirty="0" err="1" smtClean="0">
                <a:solidFill>
                  <a:srgbClr val="0000FF"/>
                </a:solidFill>
              </a:rPr>
              <a:t>ch</a:t>
            </a:r>
            <a:r>
              <a:rPr lang="en-US" dirty="0" smtClean="0">
                <a:solidFill>
                  <a:srgbClr val="0000FF"/>
                </a:solidFill>
              </a:rPr>
              <a:t>)</a:t>
            </a:r>
            <a:endParaRPr lang="en-US" dirty="0">
              <a:solidFill>
                <a:srgbClr val="0000FF"/>
              </a:solidFill>
            </a:endParaRP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3131840" y="4973899"/>
            <a:ext cx="36004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491880" y="4500392"/>
            <a:ext cx="5400600" cy="654618"/>
          </a:xfrm>
          <a:prstGeom prst="roundRect">
            <a:avLst/>
          </a:prstGeom>
          <a:solidFill>
            <a:srgbClr val="FFFFE5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rgbClr val="0000FF"/>
                </a:solidFill>
              </a:rPr>
              <a:t>4.1.3 Lower Case? </a:t>
            </a:r>
          </a:p>
          <a:p>
            <a:pPr algn="ctr"/>
            <a:r>
              <a:rPr lang="en-US" dirty="0" err="1" smtClean="0">
                <a:solidFill>
                  <a:srgbClr val="00B0F0"/>
                </a:solidFill>
              </a:rPr>
              <a:t>boolean</a:t>
            </a:r>
            <a:r>
              <a:rPr lang="en-US" dirty="0" smtClean="0">
                <a:solidFill>
                  <a:srgbClr val="00B0F0"/>
                </a:solidFill>
              </a:rPr>
              <a:t> </a:t>
            </a:r>
            <a:r>
              <a:rPr lang="en-US" dirty="0" err="1" smtClean="0">
                <a:solidFill>
                  <a:srgbClr val="00B050"/>
                </a:solidFill>
              </a:rPr>
              <a:t>isLowerCase</a:t>
            </a:r>
            <a:r>
              <a:rPr lang="en-US" dirty="0" smtClean="0">
                <a:solidFill>
                  <a:srgbClr val="0000FF"/>
                </a:solidFill>
              </a:rPr>
              <a:t>(</a:t>
            </a:r>
            <a:r>
              <a:rPr lang="en-US" dirty="0" smtClean="0">
                <a:solidFill>
                  <a:srgbClr val="00B0F0"/>
                </a:solidFill>
              </a:rPr>
              <a:t>char </a:t>
            </a:r>
            <a:r>
              <a:rPr lang="en-US" dirty="0" err="1" smtClean="0">
                <a:solidFill>
                  <a:srgbClr val="0000FF"/>
                </a:solidFill>
              </a:rPr>
              <a:t>ch</a:t>
            </a:r>
            <a:r>
              <a:rPr lang="en-US" dirty="0" smtClean="0">
                <a:solidFill>
                  <a:srgbClr val="0000FF"/>
                </a:solidFill>
              </a:rPr>
              <a:t>)</a:t>
            </a:r>
            <a:endParaRPr lang="en-US" dirty="0">
              <a:solidFill>
                <a:srgbClr val="0000FF"/>
              </a:solidFill>
            </a:endParaRPr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3131840" y="5982011"/>
            <a:ext cx="36004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491880" y="5654702"/>
            <a:ext cx="5400600" cy="654618"/>
          </a:xfrm>
          <a:prstGeom prst="roundRect">
            <a:avLst/>
          </a:prstGeom>
          <a:solidFill>
            <a:srgbClr val="FFFFE5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rgbClr val="0000FF"/>
                </a:solidFill>
              </a:rPr>
              <a:t>4.1.4 Upper Case? </a:t>
            </a:r>
          </a:p>
          <a:p>
            <a:pPr algn="ctr"/>
            <a:r>
              <a:rPr lang="en-US" dirty="0" err="1" smtClean="0">
                <a:solidFill>
                  <a:srgbClr val="00B0F0"/>
                </a:solidFill>
              </a:rPr>
              <a:t>boolean</a:t>
            </a:r>
            <a:r>
              <a:rPr lang="en-US" dirty="0" smtClean="0">
                <a:solidFill>
                  <a:srgbClr val="00B0F0"/>
                </a:solidFill>
              </a:rPr>
              <a:t> </a:t>
            </a:r>
            <a:r>
              <a:rPr lang="en-US" dirty="0" err="1" smtClean="0">
                <a:solidFill>
                  <a:srgbClr val="00B050"/>
                </a:solidFill>
              </a:rPr>
              <a:t>isUpperCase</a:t>
            </a:r>
            <a:r>
              <a:rPr lang="en-US" dirty="0" smtClean="0">
                <a:solidFill>
                  <a:srgbClr val="0000FF"/>
                </a:solidFill>
              </a:rPr>
              <a:t>(</a:t>
            </a:r>
            <a:r>
              <a:rPr lang="en-US" dirty="0" smtClean="0">
                <a:solidFill>
                  <a:srgbClr val="00B0F0"/>
                </a:solidFill>
              </a:rPr>
              <a:t>char </a:t>
            </a:r>
            <a:r>
              <a:rPr lang="en-US" dirty="0" err="1" smtClean="0">
                <a:solidFill>
                  <a:srgbClr val="0000FF"/>
                </a:solidFill>
              </a:rPr>
              <a:t>ch</a:t>
            </a:r>
            <a:r>
              <a:rPr lang="en-US" dirty="0" smtClean="0">
                <a:solidFill>
                  <a:srgbClr val="0000FF"/>
                </a:solidFill>
              </a:rPr>
              <a:t>)</a:t>
            </a:r>
            <a:endParaRPr lang="en-US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708717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15" grpId="0" animBg="1"/>
      <p:bldP spid="16" grpId="0" animBg="1"/>
      <p:bldP spid="12" grpId="0" animBg="1"/>
      <p:bldP spid="14" grpId="0" animBg="1"/>
      <p:bldP spid="2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4.1.1 DIGIT? 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 smtClean="0"/>
              <a:t>boolean</a:t>
            </a:r>
            <a:r>
              <a:rPr lang="en-US" b="1" dirty="0" smtClean="0"/>
              <a:t>   </a:t>
            </a:r>
            <a:r>
              <a:rPr lang="en-US" b="1" dirty="0" err="1" smtClean="0"/>
              <a:t>isDigit</a:t>
            </a:r>
            <a:r>
              <a:rPr lang="en-US" b="1" dirty="0" smtClean="0"/>
              <a:t>(char  </a:t>
            </a:r>
            <a:r>
              <a:rPr lang="en-US" b="1" dirty="0" err="1" smtClean="0"/>
              <a:t>ch</a:t>
            </a:r>
            <a:r>
              <a:rPr lang="en-US" b="1" dirty="0" smtClean="0"/>
              <a:t>)</a:t>
            </a:r>
            <a:endParaRPr lang="en-US" b="1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51520" y="1196752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Formal Parameter: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en-US" sz="2000" dirty="0" err="1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the character that we want to check if it is a digit (from 0 to 9) or not.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51520" y="2812866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Return Type: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boolean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33" name="Group 32"/>
          <p:cNvGrpSpPr/>
          <p:nvPr/>
        </p:nvGrpSpPr>
        <p:grpSpPr>
          <a:xfrm>
            <a:off x="179513" y="3481263"/>
            <a:ext cx="8784976" cy="2031325"/>
            <a:chOff x="323529" y="1236822"/>
            <a:chExt cx="7848872" cy="1910098"/>
          </a:xfrm>
        </p:grpSpPr>
        <p:sp>
          <p:nvSpPr>
            <p:cNvPr id="34" name="TextBox 33"/>
            <p:cNvSpPr txBox="1"/>
            <p:nvPr/>
          </p:nvSpPr>
          <p:spPr>
            <a:xfrm>
              <a:off x="788528" y="1236822"/>
              <a:ext cx="7383873" cy="1910098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F0"/>
                  </a:solidFill>
                </a:rPr>
                <a:t>import static </a:t>
              </a:r>
              <a:r>
                <a:rPr lang="en-US" dirty="0" err="1" smtClean="0">
                  <a:solidFill>
                    <a:srgbClr val="FF0000"/>
                  </a:solidFill>
                </a:rPr>
                <a:t>java.lang</a:t>
              </a:r>
              <a:r>
                <a:rPr lang="en-US" dirty="0" err="1" smtClean="0">
                  <a:solidFill>
                    <a:srgbClr val="CC0099"/>
                  </a:solidFill>
                </a:rPr>
                <a:t>.Character</a:t>
              </a:r>
              <a:r>
                <a:rPr lang="en-US" dirty="0" smtClean="0">
                  <a:solidFill>
                    <a:srgbClr val="00B0F0"/>
                  </a:solidFill>
                </a:rPr>
                <a:t>.*</a:t>
              </a:r>
              <a:r>
                <a:rPr lang="en-US" dirty="0" smtClean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dirty="0" smtClean="0">
                  <a:solidFill>
                    <a:srgbClr val="00B0F0"/>
                  </a:solidFill>
                </a:rPr>
                <a:t>char</a:t>
              </a:r>
              <a:r>
                <a:rPr lang="en-US" dirty="0" smtClean="0">
                  <a:solidFill>
                    <a:srgbClr val="0000FF"/>
                  </a:solidFill>
                </a:rPr>
                <a:t> ch1 = ‘8’, ch2 = ‘*’; </a:t>
              </a:r>
            </a:p>
            <a:p>
              <a:r>
                <a:rPr lang="en-US" dirty="0" err="1" smtClean="0">
                  <a:solidFill>
                    <a:srgbClr val="00B0F0"/>
                  </a:solidFill>
                </a:rPr>
                <a:t>boolean</a:t>
              </a:r>
              <a:r>
                <a:rPr lang="en-US" dirty="0" smtClean="0">
                  <a:solidFill>
                    <a:srgbClr val="0000FF"/>
                  </a:solidFill>
                </a:rPr>
                <a:t> digit1, digit2;</a:t>
              </a:r>
              <a:endParaRPr lang="en-US" dirty="0" smtClean="0">
                <a:solidFill>
                  <a:srgbClr val="00B050"/>
                </a:solidFill>
              </a:endParaRPr>
            </a:p>
            <a:p>
              <a:r>
                <a:rPr lang="en-US" dirty="0" smtClean="0">
                  <a:solidFill>
                    <a:srgbClr val="0000FF"/>
                  </a:solidFill>
                </a:rPr>
                <a:t>digit1= </a:t>
              </a:r>
              <a:r>
                <a:rPr lang="en-US" dirty="0" err="1" smtClean="0">
                  <a:solidFill>
                    <a:srgbClr val="00B050"/>
                  </a:solidFill>
                </a:rPr>
                <a:t>isDigit</a:t>
              </a:r>
              <a:r>
                <a:rPr lang="en-US" dirty="0" smtClean="0">
                  <a:solidFill>
                    <a:srgbClr val="0000FF"/>
                  </a:solidFill>
                </a:rPr>
                <a:t>(ch1); </a:t>
              </a:r>
              <a:r>
                <a:rPr lang="en-US" dirty="0" smtClean="0">
                  <a:solidFill>
                    <a:srgbClr val="00B050"/>
                  </a:solidFill>
                </a:rPr>
                <a:t>//returns </a:t>
              </a:r>
              <a:r>
                <a:rPr lang="en-US" dirty="0" smtClean="0">
                  <a:solidFill>
                    <a:srgbClr val="00B0F0"/>
                  </a:solidFill>
                </a:rPr>
                <a:t>true</a:t>
              </a:r>
            </a:p>
            <a:p>
              <a:r>
                <a:rPr lang="en-US" dirty="0" smtClean="0">
                  <a:solidFill>
                    <a:srgbClr val="0000FF"/>
                  </a:solidFill>
                </a:rPr>
                <a:t>digit2= </a:t>
              </a:r>
              <a:r>
                <a:rPr lang="en-US" dirty="0" err="1" smtClean="0">
                  <a:solidFill>
                    <a:srgbClr val="00B050"/>
                  </a:solidFill>
                </a:rPr>
                <a:t>isDigit</a:t>
              </a:r>
              <a:r>
                <a:rPr lang="en-US" dirty="0" smtClean="0">
                  <a:solidFill>
                    <a:srgbClr val="0000FF"/>
                  </a:solidFill>
                </a:rPr>
                <a:t>(ch2); </a:t>
              </a:r>
              <a:r>
                <a:rPr lang="en-US" dirty="0" smtClean="0">
                  <a:solidFill>
                    <a:srgbClr val="00B050"/>
                  </a:solidFill>
                </a:rPr>
                <a:t>//returns </a:t>
              </a:r>
              <a:r>
                <a:rPr lang="en-US" dirty="0" smtClean="0">
                  <a:solidFill>
                    <a:srgbClr val="00B0F0"/>
                  </a:solidFill>
                </a:rPr>
                <a:t>false</a:t>
              </a:r>
            </a:p>
            <a:p>
              <a:r>
                <a:rPr lang="en-US" dirty="0" err="1" smtClean="0">
                  <a:solidFill>
                    <a:srgbClr val="0000FF"/>
                  </a:solidFill>
                </a:rPr>
                <a:t>System.out.println</a:t>
              </a:r>
              <a:r>
                <a:rPr lang="en-US" dirty="0" smtClean="0">
                  <a:solidFill>
                    <a:srgbClr val="0000FF"/>
                  </a:solidFill>
                </a:rPr>
                <a:t> (ch1 + “ is digit? “ + digit1);</a:t>
              </a:r>
            </a:p>
            <a:p>
              <a:r>
                <a:rPr lang="en-US" dirty="0" err="1" smtClean="0">
                  <a:solidFill>
                    <a:srgbClr val="0000FF"/>
                  </a:solidFill>
                </a:rPr>
                <a:t>System.out.println</a:t>
              </a:r>
              <a:r>
                <a:rPr lang="en-US" dirty="0" smtClean="0">
                  <a:solidFill>
                    <a:srgbClr val="0000FF"/>
                  </a:solidFill>
                </a:rPr>
                <a:t> (ch2 + “ is digit?” + digit2);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23529" y="1236822"/>
              <a:ext cx="386010" cy="19100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7</a:t>
              </a:r>
              <a:endParaRPr lang="en-US" dirty="0" smtClean="0">
                <a:solidFill>
                  <a:srgbClr val="FF0000"/>
                </a:solidFill>
              </a:endParaRPr>
            </a:p>
          </p:txBody>
        </p:sp>
      </p:grpSp>
      <p:sp>
        <p:nvSpPr>
          <p:cNvPr id="45" name="TextBox 44"/>
          <p:cNvSpPr txBox="1"/>
          <p:nvPr/>
        </p:nvSpPr>
        <p:spPr>
          <a:xfrm>
            <a:off x="251520" y="2452826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Returns: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true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</a:t>
            </a:r>
            <a:r>
              <a:rPr lang="en-US" sz="2000" dirty="0" err="1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 a digit from 0 to 9; otherwise, returns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false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C0F99-418A-47AD-8EE9-8B4FF28C0C0C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251520" y="1876762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Parameter Type: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The type of </a:t>
            </a:r>
            <a:r>
              <a:rPr lang="en-US" sz="2000" dirty="0" err="1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is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char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251520" y="5589240"/>
            <a:ext cx="8712967" cy="523220"/>
            <a:chOff x="683568" y="1236822"/>
            <a:chExt cx="7488831" cy="523220"/>
          </a:xfrm>
        </p:grpSpPr>
        <p:sp>
          <p:nvSpPr>
            <p:cNvPr id="19" name="TextBox 18"/>
            <p:cNvSpPr txBox="1"/>
            <p:nvPr/>
          </p:nvSpPr>
          <p:spPr>
            <a:xfrm>
              <a:off x="1069013" y="1236822"/>
              <a:ext cx="7103386" cy="523220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8</a:t>
              </a:r>
              <a:r>
                <a:rPr lang="en-US" sz="1400" dirty="0" smtClean="0">
                  <a:solidFill>
                    <a:schemeClr val="bg1"/>
                  </a:solidFill>
                </a:rPr>
                <a:t> is digit? true</a:t>
              </a:r>
            </a:p>
            <a:p>
              <a:r>
                <a:rPr lang="en-US" sz="1400" dirty="0" smtClean="0">
                  <a:solidFill>
                    <a:schemeClr val="bg1"/>
                  </a:solidFill>
                </a:rPr>
                <a:t>* Is digit? false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83568" y="1236822"/>
              <a:ext cx="2160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rgbClr val="FF0000"/>
                  </a:solidFill>
                </a:rPr>
                <a:t>1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2</a:t>
              </a:r>
              <a:endParaRPr lang="en-US" sz="1400" dirty="0" smtClean="0">
                <a:solidFill>
                  <a:srgbClr val="FF0000"/>
                </a:solidFill>
              </a:endParaRPr>
            </a:p>
          </p:txBody>
        </p:sp>
      </p:grpSp>
      <p:sp>
        <p:nvSpPr>
          <p:cNvPr id="22" name="Rectangle 21"/>
          <p:cNvSpPr/>
          <p:nvPr/>
        </p:nvSpPr>
        <p:spPr>
          <a:xfrm>
            <a:off x="683568" y="3573016"/>
            <a:ext cx="8280919" cy="21602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65322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/>
      <p:bldP spid="21" grpId="0"/>
      <p:bldP spid="45" grpId="0"/>
      <p:bldP spid="23" grpId="0"/>
      <p:bldP spid="2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4.1.2 LETTER? 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 smtClean="0"/>
              <a:t>boolean</a:t>
            </a:r>
            <a:r>
              <a:rPr lang="en-US" b="1" dirty="0" smtClean="0"/>
              <a:t>   </a:t>
            </a:r>
            <a:r>
              <a:rPr lang="en-US" b="1" dirty="0" err="1" smtClean="0"/>
              <a:t>isLetter</a:t>
            </a:r>
            <a:r>
              <a:rPr lang="en-US" b="1" dirty="0" smtClean="0"/>
              <a:t>(char  </a:t>
            </a:r>
            <a:r>
              <a:rPr lang="en-US" b="1" dirty="0" err="1" smtClean="0"/>
              <a:t>ch</a:t>
            </a:r>
            <a:r>
              <a:rPr lang="en-US" b="1" dirty="0" smtClean="0"/>
              <a:t>)</a:t>
            </a:r>
            <a:endParaRPr lang="en-US" b="1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51520" y="1196752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Formal Parameter: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en-US" sz="2000" dirty="0" err="1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the character that we want to check if it is an alphabetic letter or not.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51520" y="3028890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Return Type: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boolean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33" name="Group 32"/>
          <p:cNvGrpSpPr/>
          <p:nvPr/>
        </p:nvGrpSpPr>
        <p:grpSpPr>
          <a:xfrm>
            <a:off x="179513" y="3678123"/>
            <a:ext cx="8784976" cy="2031325"/>
            <a:chOff x="323529" y="1236822"/>
            <a:chExt cx="7848872" cy="1910098"/>
          </a:xfrm>
        </p:grpSpPr>
        <p:sp>
          <p:nvSpPr>
            <p:cNvPr id="34" name="TextBox 33"/>
            <p:cNvSpPr txBox="1"/>
            <p:nvPr/>
          </p:nvSpPr>
          <p:spPr>
            <a:xfrm>
              <a:off x="788528" y="1236822"/>
              <a:ext cx="7383873" cy="1910098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F0"/>
                  </a:solidFill>
                </a:rPr>
                <a:t>import static </a:t>
              </a:r>
              <a:r>
                <a:rPr lang="en-US" dirty="0" err="1" smtClean="0">
                  <a:solidFill>
                    <a:srgbClr val="FF0000"/>
                  </a:solidFill>
                </a:rPr>
                <a:t>java.lang</a:t>
              </a:r>
              <a:r>
                <a:rPr lang="en-US" dirty="0" err="1" smtClean="0">
                  <a:solidFill>
                    <a:srgbClr val="CC0099"/>
                  </a:solidFill>
                </a:rPr>
                <a:t>.Character</a:t>
              </a:r>
              <a:r>
                <a:rPr lang="en-US" dirty="0" smtClean="0">
                  <a:solidFill>
                    <a:srgbClr val="00B0F0"/>
                  </a:solidFill>
                </a:rPr>
                <a:t>.*</a:t>
              </a:r>
              <a:r>
                <a:rPr lang="en-US" dirty="0" smtClean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dirty="0" smtClean="0">
                  <a:solidFill>
                    <a:srgbClr val="00B0F0"/>
                  </a:solidFill>
                </a:rPr>
                <a:t>char</a:t>
              </a:r>
              <a:r>
                <a:rPr lang="en-US" dirty="0" smtClean="0">
                  <a:solidFill>
                    <a:srgbClr val="0000FF"/>
                  </a:solidFill>
                </a:rPr>
                <a:t> ch1 = ‘a’, ch2 = ‘*’; </a:t>
              </a:r>
            </a:p>
            <a:p>
              <a:r>
                <a:rPr lang="en-US" dirty="0" err="1" smtClean="0">
                  <a:solidFill>
                    <a:srgbClr val="00B0F0"/>
                  </a:solidFill>
                </a:rPr>
                <a:t>boolean</a:t>
              </a:r>
              <a:r>
                <a:rPr lang="en-US" dirty="0" smtClean="0">
                  <a:solidFill>
                    <a:srgbClr val="0000FF"/>
                  </a:solidFill>
                </a:rPr>
                <a:t> letter1, letter2;</a:t>
              </a:r>
              <a:endParaRPr lang="en-US" dirty="0" smtClean="0">
                <a:solidFill>
                  <a:srgbClr val="00B050"/>
                </a:solidFill>
              </a:endParaRPr>
            </a:p>
            <a:p>
              <a:r>
                <a:rPr lang="en-US" dirty="0" smtClean="0">
                  <a:solidFill>
                    <a:srgbClr val="0000FF"/>
                  </a:solidFill>
                </a:rPr>
                <a:t>letter1= </a:t>
              </a:r>
              <a:r>
                <a:rPr lang="en-US" dirty="0" err="1" smtClean="0">
                  <a:solidFill>
                    <a:srgbClr val="00B050"/>
                  </a:solidFill>
                </a:rPr>
                <a:t>isLetter</a:t>
              </a:r>
              <a:r>
                <a:rPr lang="en-US" dirty="0" smtClean="0">
                  <a:solidFill>
                    <a:srgbClr val="0000FF"/>
                  </a:solidFill>
                </a:rPr>
                <a:t>(ch1); </a:t>
              </a:r>
              <a:r>
                <a:rPr lang="en-US" dirty="0" smtClean="0">
                  <a:solidFill>
                    <a:srgbClr val="00B050"/>
                  </a:solidFill>
                </a:rPr>
                <a:t>//returns </a:t>
              </a:r>
              <a:r>
                <a:rPr lang="en-US" dirty="0" smtClean="0">
                  <a:solidFill>
                    <a:srgbClr val="00B0F0"/>
                  </a:solidFill>
                </a:rPr>
                <a:t>true</a:t>
              </a:r>
            </a:p>
            <a:p>
              <a:r>
                <a:rPr lang="en-US" dirty="0" smtClean="0">
                  <a:solidFill>
                    <a:srgbClr val="0000FF"/>
                  </a:solidFill>
                </a:rPr>
                <a:t>letter2= </a:t>
              </a:r>
              <a:r>
                <a:rPr lang="en-US" dirty="0" err="1" smtClean="0">
                  <a:solidFill>
                    <a:srgbClr val="00B050"/>
                  </a:solidFill>
                </a:rPr>
                <a:t>isLetter</a:t>
              </a:r>
              <a:r>
                <a:rPr lang="en-US" dirty="0" smtClean="0">
                  <a:solidFill>
                    <a:srgbClr val="0000FF"/>
                  </a:solidFill>
                </a:rPr>
                <a:t>(ch2); </a:t>
              </a:r>
              <a:r>
                <a:rPr lang="en-US" dirty="0" smtClean="0">
                  <a:solidFill>
                    <a:srgbClr val="00B050"/>
                  </a:solidFill>
                </a:rPr>
                <a:t>//returns </a:t>
              </a:r>
              <a:r>
                <a:rPr lang="en-US" dirty="0" smtClean="0">
                  <a:solidFill>
                    <a:srgbClr val="00B0F0"/>
                  </a:solidFill>
                </a:rPr>
                <a:t>false</a:t>
              </a:r>
            </a:p>
            <a:p>
              <a:r>
                <a:rPr lang="en-US" dirty="0" err="1" smtClean="0">
                  <a:solidFill>
                    <a:srgbClr val="0000FF"/>
                  </a:solidFill>
                </a:rPr>
                <a:t>System.out.println</a:t>
              </a:r>
              <a:r>
                <a:rPr lang="en-US" dirty="0" smtClean="0">
                  <a:solidFill>
                    <a:srgbClr val="0000FF"/>
                  </a:solidFill>
                </a:rPr>
                <a:t> (ch1 + “ is letter? “ + letter1);</a:t>
              </a:r>
            </a:p>
            <a:p>
              <a:r>
                <a:rPr lang="en-US" dirty="0" err="1" smtClean="0">
                  <a:solidFill>
                    <a:srgbClr val="0000FF"/>
                  </a:solidFill>
                </a:rPr>
                <a:t>System.out.println</a:t>
              </a:r>
              <a:r>
                <a:rPr lang="en-US" dirty="0" smtClean="0">
                  <a:solidFill>
                    <a:srgbClr val="0000FF"/>
                  </a:solidFill>
                </a:rPr>
                <a:t> (ch2 + “</a:t>
              </a:r>
              <a:r>
                <a:rPr lang="en-US" dirty="0">
                  <a:solidFill>
                    <a:srgbClr val="0000FF"/>
                  </a:solidFill>
                </a:rPr>
                <a:t> </a:t>
              </a:r>
              <a:r>
                <a:rPr lang="en-US" dirty="0" smtClean="0">
                  <a:solidFill>
                    <a:srgbClr val="0000FF"/>
                  </a:solidFill>
                </a:rPr>
                <a:t>is letter? “ + letter2);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23529" y="1236822"/>
              <a:ext cx="386010" cy="19100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7</a:t>
              </a:r>
              <a:endParaRPr lang="en-US" dirty="0" smtClean="0">
                <a:solidFill>
                  <a:srgbClr val="FF0000"/>
                </a:solidFill>
              </a:endParaRPr>
            </a:p>
          </p:txBody>
        </p:sp>
      </p:grpSp>
      <p:sp>
        <p:nvSpPr>
          <p:cNvPr id="45" name="TextBox 44"/>
          <p:cNvSpPr txBox="1"/>
          <p:nvPr/>
        </p:nvSpPr>
        <p:spPr>
          <a:xfrm>
            <a:off x="251520" y="2433082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Returns: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true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</a:t>
            </a:r>
            <a:r>
              <a:rPr lang="en-US" sz="2000" dirty="0" err="1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 an alphabetic letter (a-z or A-Z); otherwise, returns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false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C0F99-418A-47AD-8EE9-8B4FF28C0C0C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251520" y="1876762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Parameter Type: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The type of </a:t>
            </a:r>
            <a:r>
              <a:rPr lang="en-US" sz="2000" dirty="0" err="1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is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char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251520" y="5786100"/>
            <a:ext cx="8712967" cy="523220"/>
            <a:chOff x="683568" y="1236822"/>
            <a:chExt cx="7488831" cy="523220"/>
          </a:xfrm>
        </p:grpSpPr>
        <p:sp>
          <p:nvSpPr>
            <p:cNvPr id="18" name="TextBox 17"/>
            <p:cNvSpPr txBox="1"/>
            <p:nvPr/>
          </p:nvSpPr>
          <p:spPr>
            <a:xfrm>
              <a:off x="1069013" y="1236822"/>
              <a:ext cx="7103386" cy="523220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chemeClr val="bg1"/>
                  </a:solidFill>
                </a:rPr>
                <a:t>a is letter? true</a:t>
              </a:r>
            </a:p>
            <a:p>
              <a:r>
                <a:rPr lang="en-US" sz="1400" dirty="0" smtClean="0">
                  <a:solidFill>
                    <a:schemeClr val="bg1"/>
                  </a:solidFill>
                </a:rPr>
                <a:t>* Is letter? false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83568" y="1236822"/>
              <a:ext cx="2160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rgbClr val="FF0000"/>
                  </a:solidFill>
                </a:rPr>
                <a:t>1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2</a:t>
              </a:r>
              <a:endParaRPr lang="en-US" sz="1400" dirty="0" smtClean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2708882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/>
      <p:bldP spid="21" grpId="0"/>
      <p:bldP spid="45" grpId="0"/>
      <p:bldP spid="2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4.1.3 LOWER CASE? 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 smtClean="0"/>
              <a:t>boolean</a:t>
            </a:r>
            <a:r>
              <a:rPr lang="en-US" b="1" dirty="0" smtClean="0"/>
              <a:t>   </a:t>
            </a:r>
            <a:r>
              <a:rPr lang="en-US" b="1" dirty="0" err="1" smtClean="0"/>
              <a:t>isLowerCase</a:t>
            </a:r>
            <a:r>
              <a:rPr lang="en-US" b="1" dirty="0" smtClean="0"/>
              <a:t>(char  </a:t>
            </a:r>
            <a:r>
              <a:rPr lang="en-US" b="1" dirty="0" err="1" smtClean="0"/>
              <a:t>ch</a:t>
            </a:r>
            <a:r>
              <a:rPr lang="en-US" b="1" dirty="0" smtClean="0"/>
              <a:t>)</a:t>
            </a:r>
            <a:endParaRPr lang="en-US" b="1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51520" y="1196752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Formal Parameter: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en-US" sz="2000" dirty="0" err="1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the character that we want to check if it is a lower case letter or not.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51520" y="2812866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Return Type: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boolean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33" name="Group 32"/>
          <p:cNvGrpSpPr/>
          <p:nvPr/>
        </p:nvGrpSpPr>
        <p:grpSpPr>
          <a:xfrm>
            <a:off x="179513" y="3481263"/>
            <a:ext cx="8784976" cy="2031325"/>
            <a:chOff x="323529" y="1236822"/>
            <a:chExt cx="7848872" cy="1910098"/>
          </a:xfrm>
        </p:grpSpPr>
        <p:sp>
          <p:nvSpPr>
            <p:cNvPr id="34" name="TextBox 33"/>
            <p:cNvSpPr txBox="1"/>
            <p:nvPr/>
          </p:nvSpPr>
          <p:spPr>
            <a:xfrm>
              <a:off x="788528" y="1236822"/>
              <a:ext cx="7383873" cy="1910098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F0"/>
                  </a:solidFill>
                </a:rPr>
                <a:t>import static </a:t>
              </a:r>
              <a:r>
                <a:rPr lang="en-US" dirty="0" err="1" smtClean="0">
                  <a:solidFill>
                    <a:srgbClr val="FF0000"/>
                  </a:solidFill>
                </a:rPr>
                <a:t>java.lang</a:t>
              </a:r>
              <a:r>
                <a:rPr lang="en-US" dirty="0" err="1" smtClean="0">
                  <a:solidFill>
                    <a:srgbClr val="CC0099"/>
                  </a:solidFill>
                </a:rPr>
                <a:t>.Character</a:t>
              </a:r>
              <a:r>
                <a:rPr lang="en-US" dirty="0" smtClean="0">
                  <a:solidFill>
                    <a:srgbClr val="00B0F0"/>
                  </a:solidFill>
                </a:rPr>
                <a:t>.*</a:t>
              </a:r>
              <a:r>
                <a:rPr lang="en-US" dirty="0" smtClean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dirty="0" smtClean="0">
                  <a:solidFill>
                    <a:srgbClr val="00B0F0"/>
                  </a:solidFill>
                </a:rPr>
                <a:t>char</a:t>
              </a:r>
              <a:r>
                <a:rPr lang="en-US" dirty="0" smtClean="0">
                  <a:solidFill>
                    <a:srgbClr val="0000FF"/>
                  </a:solidFill>
                </a:rPr>
                <a:t> ch1 = ‘a’, ch2 = ‘A’; </a:t>
              </a:r>
            </a:p>
            <a:p>
              <a:r>
                <a:rPr lang="en-US" dirty="0" err="1" smtClean="0">
                  <a:solidFill>
                    <a:srgbClr val="00B0F0"/>
                  </a:solidFill>
                </a:rPr>
                <a:t>boolean</a:t>
              </a:r>
              <a:r>
                <a:rPr lang="en-US" dirty="0" smtClean="0">
                  <a:solidFill>
                    <a:srgbClr val="0000FF"/>
                  </a:solidFill>
                </a:rPr>
                <a:t> lower1, lower2;</a:t>
              </a:r>
              <a:endParaRPr lang="en-US" dirty="0" smtClean="0">
                <a:solidFill>
                  <a:srgbClr val="00B050"/>
                </a:solidFill>
              </a:endParaRPr>
            </a:p>
            <a:p>
              <a:r>
                <a:rPr lang="en-US" dirty="0" smtClean="0">
                  <a:solidFill>
                    <a:srgbClr val="0000FF"/>
                  </a:solidFill>
                </a:rPr>
                <a:t>lower1= </a:t>
              </a:r>
              <a:r>
                <a:rPr lang="en-US" dirty="0" err="1" smtClean="0">
                  <a:solidFill>
                    <a:srgbClr val="00B050"/>
                  </a:solidFill>
                </a:rPr>
                <a:t>isLowerCase</a:t>
              </a:r>
              <a:r>
                <a:rPr lang="en-US" dirty="0" smtClean="0">
                  <a:solidFill>
                    <a:srgbClr val="0000FF"/>
                  </a:solidFill>
                </a:rPr>
                <a:t>(ch1); </a:t>
              </a:r>
              <a:r>
                <a:rPr lang="en-US" dirty="0" smtClean="0">
                  <a:solidFill>
                    <a:srgbClr val="00B050"/>
                  </a:solidFill>
                </a:rPr>
                <a:t>//returns </a:t>
              </a:r>
              <a:r>
                <a:rPr lang="en-US" dirty="0" smtClean="0">
                  <a:solidFill>
                    <a:srgbClr val="00B0F0"/>
                  </a:solidFill>
                </a:rPr>
                <a:t>true</a:t>
              </a:r>
            </a:p>
            <a:p>
              <a:r>
                <a:rPr lang="en-US" dirty="0" smtClean="0">
                  <a:solidFill>
                    <a:srgbClr val="0000FF"/>
                  </a:solidFill>
                </a:rPr>
                <a:t>lower2= </a:t>
              </a:r>
              <a:r>
                <a:rPr lang="en-US" dirty="0" err="1" smtClean="0">
                  <a:solidFill>
                    <a:srgbClr val="00B050"/>
                  </a:solidFill>
                </a:rPr>
                <a:t>isLowerCase</a:t>
              </a:r>
              <a:r>
                <a:rPr lang="en-US" dirty="0" smtClean="0">
                  <a:solidFill>
                    <a:srgbClr val="0000FF"/>
                  </a:solidFill>
                </a:rPr>
                <a:t>(ch2); </a:t>
              </a:r>
              <a:r>
                <a:rPr lang="en-US" dirty="0" smtClean="0">
                  <a:solidFill>
                    <a:srgbClr val="00B050"/>
                  </a:solidFill>
                </a:rPr>
                <a:t>//returns </a:t>
              </a:r>
              <a:r>
                <a:rPr lang="en-US" dirty="0" smtClean="0">
                  <a:solidFill>
                    <a:srgbClr val="00B0F0"/>
                  </a:solidFill>
                </a:rPr>
                <a:t>false</a:t>
              </a:r>
            </a:p>
            <a:p>
              <a:r>
                <a:rPr lang="en-US" dirty="0" err="1" smtClean="0">
                  <a:solidFill>
                    <a:srgbClr val="0000FF"/>
                  </a:solidFill>
                </a:rPr>
                <a:t>System.out.println</a:t>
              </a:r>
              <a:r>
                <a:rPr lang="en-US" dirty="0" smtClean="0">
                  <a:solidFill>
                    <a:srgbClr val="0000FF"/>
                  </a:solidFill>
                </a:rPr>
                <a:t> (ch1 + “ is lower case? “ + lower1);</a:t>
              </a:r>
            </a:p>
            <a:p>
              <a:r>
                <a:rPr lang="en-US" dirty="0" err="1" smtClean="0">
                  <a:solidFill>
                    <a:srgbClr val="0000FF"/>
                  </a:solidFill>
                </a:rPr>
                <a:t>System.out.println</a:t>
              </a:r>
              <a:r>
                <a:rPr lang="en-US" dirty="0" smtClean="0">
                  <a:solidFill>
                    <a:srgbClr val="0000FF"/>
                  </a:solidFill>
                </a:rPr>
                <a:t> (ch2 + “</a:t>
              </a:r>
              <a:r>
                <a:rPr lang="en-US" dirty="0">
                  <a:solidFill>
                    <a:srgbClr val="0000FF"/>
                  </a:solidFill>
                </a:rPr>
                <a:t> </a:t>
              </a:r>
              <a:r>
                <a:rPr lang="en-US" dirty="0" smtClean="0">
                  <a:solidFill>
                    <a:srgbClr val="0000FF"/>
                  </a:solidFill>
                </a:rPr>
                <a:t>is lower case? “ + lower2);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23529" y="1236822"/>
              <a:ext cx="386010" cy="19100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7</a:t>
              </a:r>
              <a:endParaRPr lang="en-US" dirty="0" smtClean="0">
                <a:solidFill>
                  <a:srgbClr val="FF0000"/>
                </a:solidFill>
              </a:endParaRPr>
            </a:p>
          </p:txBody>
        </p:sp>
      </p:grpSp>
      <p:sp>
        <p:nvSpPr>
          <p:cNvPr id="45" name="TextBox 44"/>
          <p:cNvSpPr txBox="1"/>
          <p:nvPr/>
        </p:nvSpPr>
        <p:spPr>
          <a:xfrm>
            <a:off x="251520" y="2452826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Returns: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true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</a:t>
            </a:r>
            <a:r>
              <a:rPr lang="en-US" sz="2000" dirty="0" err="1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 a lower case letter; otherwise, returns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false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C0F99-418A-47AD-8EE9-8B4FF28C0C0C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251520" y="1876762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Parameter Type: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The type of </a:t>
            </a:r>
            <a:r>
              <a:rPr lang="en-US" sz="2000" dirty="0" err="1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is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char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251520" y="5589240"/>
            <a:ext cx="8712967" cy="523220"/>
            <a:chOff x="683568" y="1236822"/>
            <a:chExt cx="7488831" cy="523220"/>
          </a:xfrm>
        </p:grpSpPr>
        <p:sp>
          <p:nvSpPr>
            <p:cNvPr id="18" name="TextBox 17"/>
            <p:cNvSpPr txBox="1"/>
            <p:nvPr/>
          </p:nvSpPr>
          <p:spPr>
            <a:xfrm>
              <a:off x="1069013" y="1236822"/>
              <a:ext cx="7103386" cy="523220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chemeClr val="bg1"/>
                  </a:solidFill>
                </a:rPr>
                <a:t>a is lower case? true</a:t>
              </a:r>
            </a:p>
            <a:p>
              <a:r>
                <a:rPr lang="en-US" sz="1400" dirty="0" smtClean="0">
                  <a:solidFill>
                    <a:schemeClr val="bg1"/>
                  </a:solidFill>
                </a:rPr>
                <a:t>A is lower case? false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83568" y="1236822"/>
              <a:ext cx="2160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rgbClr val="FF0000"/>
                  </a:solidFill>
                </a:rPr>
                <a:t>1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2</a:t>
              </a:r>
              <a:endParaRPr lang="en-US" sz="1400" dirty="0" smtClean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1950899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/>
      <p:bldP spid="21" grpId="0"/>
      <p:bldP spid="45" grpId="0"/>
      <p:bldP spid="2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4.1.4 UPPER CASE? 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 smtClean="0"/>
              <a:t>boolean</a:t>
            </a:r>
            <a:r>
              <a:rPr lang="en-US" b="1" dirty="0" smtClean="0"/>
              <a:t>   </a:t>
            </a:r>
            <a:r>
              <a:rPr lang="en-US" b="1" dirty="0" err="1" smtClean="0"/>
              <a:t>isUpperCase</a:t>
            </a:r>
            <a:r>
              <a:rPr lang="en-US" b="1" dirty="0" smtClean="0"/>
              <a:t>(char  </a:t>
            </a:r>
            <a:r>
              <a:rPr lang="en-US" b="1" dirty="0" err="1" smtClean="0"/>
              <a:t>ch</a:t>
            </a:r>
            <a:r>
              <a:rPr lang="en-US" b="1" dirty="0" smtClean="0"/>
              <a:t>)</a:t>
            </a:r>
            <a:endParaRPr lang="en-US" b="1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51520" y="1196752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Formal Parameter: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en-US" sz="2000" dirty="0" err="1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the character that we want to check if it is an upper case letter.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51520" y="2812866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Return Type: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boolean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33" name="Group 32"/>
          <p:cNvGrpSpPr/>
          <p:nvPr/>
        </p:nvGrpSpPr>
        <p:grpSpPr>
          <a:xfrm>
            <a:off x="179513" y="3481263"/>
            <a:ext cx="8784976" cy="2031325"/>
            <a:chOff x="323529" y="1236822"/>
            <a:chExt cx="7848872" cy="1910098"/>
          </a:xfrm>
        </p:grpSpPr>
        <p:sp>
          <p:nvSpPr>
            <p:cNvPr id="34" name="TextBox 33"/>
            <p:cNvSpPr txBox="1"/>
            <p:nvPr/>
          </p:nvSpPr>
          <p:spPr>
            <a:xfrm>
              <a:off x="788528" y="1236822"/>
              <a:ext cx="7383873" cy="1910098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F0"/>
                  </a:solidFill>
                </a:rPr>
                <a:t>import static </a:t>
              </a:r>
              <a:r>
                <a:rPr lang="en-US" dirty="0" err="1" smtClean="0">
                  <a:solidFill>
                    <a:srgbClr val="FF0000"/>
                  </a:solidFill>
                </a:rPr>
                <a:t>java.lang</a:t>
              </a:r>
              <a:r>
                <a:rPr lang="en-US" dirty="0" err="1" smtClean="0">
                  <a:solidFill>
                    <a:srgbClr val="CC0099"/>
                  </a:solidFill>
                </a:rPr>
                <a:t>.Character</a:t>
              </a:r>
              <a:r>
                <a:rPr lang="en-US" dirty="0" smtClean="0">
                  <a:solidFill>
                    <a:srgbClr val="00B0F0"/>
                  </a:solidFill>
                </a:rPr>
                <a:t>.*</a:t>
              </a:r>
              <a:r>
                <a:rPr lang="en-US" dirty="0" smtClean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dirty="0" smtClean="0">
                  <a:solidFill>
                    <a:srgbClr val="00B0F0"/>
                  </a:solidFill>
                </a:rPr>
                <a:t>char</a:t>
              </a:r>
              <a:r>
                <a:rPr lang="en-US" dirty="0" smtClean="0">
                  <a:solidFill>
                    <a:srgbClr val="0000FF"/>
                  </a:solidFill>
                </a:rPr>
                <a:t> ch1 = ‘a’, ch2 = ‘A’; </a:t>
              </a:r>
            </a:p>
            <a:p>
              <a:r>
                <a:rPr lang="en-US" dirty="0" err="1" smtClean="0">
                  <a:solidFill>
                    <a:srgbClr val="00B0F0"/>
                  </a:solidFill>
                </a:rPr>
                <a:t>boolean</a:t>
              </a:r>
              <a:r>
                <a:rPr lang="en-US" dirty="0" smtClean="0">
                  <a:solidFill>
                    <a:srgbClr val="0000FF"/>
                  </a:solidFill>
                </a:rPr>
                <a:t> upper1, upper2;</a:t>
              </a:r>
              <a:endParaRPr lang="en-US" dirty="0" smtClean="0">
                <a:solidFill>
                  <a:srgbClr val="00B050"/>
                </a:solidFill>
              </a:endParaRPr>
            </a:p>
            <a:p>
              <a:r>
                <a:rPr lang="en-US" dirty="0" smtClean="0">
                  <a:solidFill>
                    <a:srgbClr val="0000FF"/>
                  </a:solidFill>
                </a:rPr>
                <a:t>upper1= </a:t>
              </a:r>
              <a:r>
                <a:rPr lang="en-US" dirty="0" err="1" smtClean="0">
                  <a:solidFill>
                    <a:srgbClr val="00B050"/>
                  </a:solidFill>
                </a:rPr>
                <a:t>isUpperCase</a:t>
              </a:r>
              <a:r>
                <a:rPr lang="en-US" dirty="0" smtClean="0">
                  <a:solidFill>
                    <a:srgbClr val="0000FF"/>
                  </a:solidFill>
                </a:rPr>
                <a:t>(ch1); </a:t>
              </a:r>
              <a:r>
                <a:rPr lang="en-US" dirty="0" smtClean="0">
                  <a:solidFill>
                    <a:srgbClr val="00B050"/>
                  </a:solidFill>
                </a:rPr>
                <a:t>//returns </a:t>
              </a:r>
              <a:r>
                <a:rPr lang="en-US" dirty="0" smtClean="0">
                  <a:solidFill>
                    <a:srgbClr val="00B0F0"/>
                  </a:solidFill>
                </a:rPr>
                <a:t>false</a:t>
              </a:r>
            </a:p>
            <a:p>
              <a:r>
                <a:rPr lang="en-US" dirty="0" smtClean="0">
                  <a:solidFill>
                    <a:srgbClr val="0000FF"/>
                  </a:solidFill>
                </a:rPr>
                <a:t>upper2= </a:t>
              </a:r>
              <a:r>
                <a:rPr lang="en-US" dirty="0" err="1" smtClean="0">
                  <a:solidFill>
                    <a:srgbClr val="00B050"/>
                  </a:solidFill>
                </a:rPr>
                <a:t>isUpperCase</a:t>
              </a:r>
              <a:r>
                <a:rPr lang="en-US" dirty="0" smtClean="0">
                  <a:solidFill>
                    <a:srgbClr val="0000FF"/>
                  </a:solidFill>
                </a:rPr>
                <a:t>(ch2); </a:t>
              </a:r>
              <a:r>
                <a:rPr lang="en-US" dirty="0" smtClean="0">
                  <a:solidFill>
                    <a:srgbClr val="00B050"/>
                  </a:solidFill>
                </a:rPr>
                <a:t>//returns </a:t>
              </a:r>
              <a:r>
                <a:rPr lang="en-US" dirty="0" smtClean="0">
                  <a:solidFill>
                    <a:srgbClr val="00B0F0"/>
                  </a:solidFill>
                </a:rPr>
                <a:t>true</a:t>
              </a:r>
            </a:p>
            <a:p>
              <a:r>
                <a:rPr lang="en-US" dirty="0" err="1" smtClean="0">
                  <a:solidFill>
                    <a:srgbClr val="0000FF"/>
                  </a:solidFill>
                </a:rPr>
                <a:t>System.out.println</a:t>
              </a:r>
              <a:r>
                <a:rPr lang="en-US" dirty="0" smtClean="0">
                  <a:solidFill>
                    <a:srgbClr val="0000FF"/>
                  </a:solidFill>
                </a:rPr>
                <a:t> (ch1 + “ is upper case? “ + upper1);</a:t>
              </a:r>
            </a:p>
            <a:p>
              <a:r>
                <a:rPr lang="en-US" dirty="0" err="1" smtClean="0">
                  <a:solidFill>
                    <a:srgbClr val="0000FF"/>
                  </a:solidFill>
                </a:rPr>
                <a:t>System.out.println</a:t>
              </a:r>
              <a:r>
                <a:rPr lang="en-US" dirty="0" smtClean="0">
                  <a:solidFill>
                    <a:srgbClr val="0000FF"/>
                  </a:solidFill>
                </a:rPr>
                <a:t> (ch2 + “ is upper case? “ + upper2);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23529" y="1236822"/>
              <a:ext cx="386010" cy="19100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7</a:t>
              </a:r>
              <a:endParaRPr lang="en-US" dirty="0" smtClean="0">
                <a:solidFill>
                  <a:srgbClr val="FF0000"/>
                </a:solidFill>
              </a:endParaRPr>
            </a:p>
          </p:txBody>
        </p:sp>
      </p:grpSp>
      <p:sp>
        <p:nvSpPr>
          <p:cNvPr id="45" name="TextBox 44"/>
          <p:cNvSpPr txBox="1"/>
          <p:nvPr/>
        </p:nvSpPr>
        <p:spPr>
          <a:xfrm>
            <a:off x="251520" y="2452826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Returns: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true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</a:t>
            </a:r>
            <a:r>
              <a:rPr lang="en-US" sz="2000" dirty="0" err="1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 an upper case letter; otherwise, returns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false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C0F99-418A-47AD-8EE9-8B4FF28C0C0C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251520" y="1876762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Parameter Type: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The type of </a:t>
            </a:r>
            <a:r>
              <a:rPr lang="en-US" sz="2000" dirty="0" err="1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is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char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251520" y="5589240"/>
            <a:ext cx="8712967" cy="523220"/>
            <a:chOff x="683568" y="1236822"/>
            <a:chExt cx="7488831" cy="523220"/>
          </a:xfrm>
        </p:grpSpPr>
        <p:sp>
          <p:nvSpPr>
            <p:cNvPr id="18" name="TextBox 17"/>
            <p:cNvSpPr txBox="1"/>
            <p:nvPr/>
          </p:nvSpPr>
          <p:spPr>
            <a:xfrm>
              <a:off x="1069013" y="1236822"/>
              <a:ext cx="7103386" cy="523220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chemeClr val="bg1"/>
                  </a:solidFill>
                </a:rPr>
                <a:t>a is upper case? false</a:t>
              </a:r>
            </a:p>
            <a:p>
              <a:r>
                <a:rPr lang="en-US" sz="1400" dirty="0" smtClean="0">
                  <a:solidFill>
                    <a:schemeClr val="bg1"/>
                  </a:solidFill>
                </a:rPr>
                <a:t>A is upper case? true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83568" y="1236822"/>
              <a:ext cx="2160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rgbClr val="FF0000"/>
                  </a:solidFill>
                </a:rPr>
                <a:t>1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2</a:t>
              </a:r>
              <a:endParaRPr lang="en-US" sz="1400" dirty="0" smtClean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1751140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/>
      <p:bldP spid="21" grpId="0"/>
      <p:bldP spid="45" grpId="0"/>
      <p:bldP spid="2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4.2 MANIPULATION METHODS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323528" y="764704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These include the following: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771800" y="1268760"/>
            <a:ext cx="3600400" cy="6480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MANIPULATION METHODS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491880" y="2348880"/>
            <a:ext cx="5400600" cy="720080"/>
          </a:xfrm>
          <a:prstGeom prst="roundRect">
            <a:avLst/>
          </a:prstGeom>
          <a:solidFill>
            <a:srgbClr val="FFFFE5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rgbClr val="0000FF"/>
                </a:solidFill>
              </a:rPr>
              <a:t>4.2.1 Convert to lower case:</a:t>
            </a:r>
          </a:p>
          <a:p>
            <a:pPr algn="ctr"/>
            <a:r>
              <a:rPr lang="en-US" dirty="0" smtClean="0">
                <a:solidFill>
                  <a:srgbClr val="00B0F0"/>
                </a:solidFill>
              </a:rPr>
              <a:t>char </a:t>
            </a:r>
            <a:r>
              <a:rPr lang="en-US" dirty="0" err="1" smtClean="0">
                <a:solidFill>
                  <a:srgbClr val="00B050"/>
                </a:solidFill>
              </a:rPr>
              <a:t>toLowerCase</a:t>
            </a:r>
            <a:r>
              <a:rPr lang="en-US" dirty="0" smtClean="0">
                <a:solidFill>
                  <a:srgbClr val="0000FF"/>
                </a:solidFill>
              </a:rPr>
              <a:t>(</a:t>
            </a:r>
            <a:r>
              <a:rPr lang="en-US" dirty="0" smtClean="0">
                <a:solidFill>
                  <a:srgbClr val="00B0F0"/>
                </a:solidFill>
              </a:rPr>
              <a:t>char </a:t>
            </a:r>
            <a:r>
              <a:rPr lang="en-US" dirty="0" err="1" smtClean="0">
                <a:solidFill>
                  <a:srgbClr val="0000FF"/>
                </a:solidFill>
              </a:rPr>
              <a:t>ch</a:t>
            </a:r>
            <a:r>
              <a:rPr lang="en-US" dirty="0" smtClean="0">
                <a:solidFill>
                  <a:srgbClr val="0000FF"/>
                </a:solidFill>
              </a:rPr>
              <a:t>)</a:t>
            </a:r>
            <a:endParaRPr lang="en-US" dirty="0">
              <a:solidFill>
                <a:srgbClr val="0000FF"/>
              </a:solidFill>
            </a:endParaRPr>
          </a:p>
        </p:txBody>
      </p:sp>
      <p:cxnSp>
        <p:nvCxnSpPr>
          <p:cNvPr id="22" name="Straight Connector 21"/>
          <p:cNvCxnSpPr/>
          <p:nvPr/>
        </p:nvCxnSpPr>
        <p:spPr>
          <a:xfrm>
            <a:off x="3131840" y="1916832"/>
            <a:ext cx="0" cy="295232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3131840" y="2708920"/>
            <a:ext cx="36004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3131840" y="4582219"/>
            <a:ext cx="36004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491880" y="4149080"/>
            <a:ext cx="5400600" cy="720080"/>
          </a:xfrm>
          <a:prstGeom prst="roundRect">
            <a:avLst/>
          </a:prstGeom>
          <a:solidFill>
            <a:srgbClr val="FFFFE5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rgbClr val="0000FF"/>
                </a:solidFill>
              </a:rPr>
              <a:t>4.2.2 Convert to upper case: </a:t>
            </a:r>
          </a:p>
          <a:p>
            <a:pPr algn="ctr"/>
            <a:r>
              <a:rPr lang="en-US" dirty="0" smtClean="0">
                <a:solidFill>
                  <a:srgbClr val="00B0F0"/>
                </a:solidFill>
              </a:rPr>
              <a:t>char </a:t>
            </a:r>
            <a:r>
              <a:rPr lang="en-US" dirty="0" err="1" smtClean="0">
                <a:solidFill>
                  <a:srgbClr val="00B050"/>
                </a:solidFill>
              </a:rPr>
              <a:t>toUpperCase</a:t>
            </a:r>
            <a:r>
              <a:rPr lang="en-US" dirty="0" smtClean="0">
                <a:solidFill>
                  <a:srgbClr val="0000FF"/>
                </a:solidFill>
              </a:rPr>
              <a:t>(</a:t>
            </a:r>
            <a:r>
              <a:rPr lang="en-US" dirty="0" smtClean="0">
                <a:solidFill>
                  <a:srgbClr val="00B0F0"/>
                </a:solidFill>
              </a:rPr>
              <a:t>char </a:t>
            </a:r>
            <a:r>
              <a:rPr lang="en-US" dirty="0" err="1" smtClean="0">
                <a:solidFill>
                  <a:srgbClr val="0000FF"/>
                </a:solidFill>
              </a:rPr>
              <a:t>ch</a:t>
            </a:r>
            <a:r>
              <a:rPr lang="en-US" dirty="0" smtClean="0">
                <a:solidFill>
                  <a:srgbClr val="0000FF"/>
                </a:solidFill>
              </a:rPr>
              <a:t>)</a:t>
            </a:r>
            <a:endParaRPr lang="en-US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741082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15" grpId="0" animBg="1"/>
      <p:bldP spid="16" grpId="0" animBg="1"/>
      <p:bldP spid="1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4.2.1 CONVERT TO LOWER CASE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char   </a:t>
            </a:r>
            <a:r>
              <a:rPr lang="en-US" b="1" dirty="0" err="1" smtClean="0"/>
              <a:t>toLowerCase</a:t>
            </a:r>
            <a:r>
              <a:rPr lang="en-US" b="1" dirty="0" smtClean="0"/>
              <a:t>(char  </a:t>
            </a:r>
            <a:r>
              <a:rPr lang="en-US" b="1" dirty="0" err="1" smtClean="0"/>
              <a:t>ch</a:t>
            </a:r>
            <a:r>
              <a:rPr lang="en-US" b="1" dirty="0" smtClean="0"/>
              <a:t>)</a:t>
            </a:r>
            <a:endParaRPr lang="en-US" b="1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51520" y="1196752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Formal Parameter: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en-US" sz="2000" dirty="0" err="1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the character to be converted into lower case.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51520" y="2812866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Return Type: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char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33" name="Group 32"/>
          <p:cNvGrpSpPr/>
          <p:nvPr/>
        </p:nvGrpSpPr>
        <p:grpSpPr>
          <a:xfrm>
            <a:off x="179513" y="3481263"/>
            <a:ext cx="8784976" cy="2031325"/>
            <a:chOff x="323529" y="1236822"/>
            <a:chExt cx="7848872" cy="1910098"/>
          </a:xfrm>
        </p:grpSpPr>
        <p:sp>
          <p:nvSpPr>
            <p:cNvPr id="34" name="TextBox 33"/>
            <p:cNvSpPr txBox="1"/>
            <p:nvPr/>
          </p:nvSpPr>
          <p:spPr>
            <a:xfrm>
              <a:off x="788528" y="1236822"/>
              <a:ext cx="7383873" cy="1910098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F0"/>
                  </a:solidFill>
                </a:rPr>
                <a:t>import static </a:t>
              </a:r>
              <a:r>
                <a:rPr lang="en-US" dirty="0" err="1" smtClean="0">
                  <a:solidFill>
                    <a:srgbClr val="FF0000"/>
                  </a:solidFill>
                </a:rPr>
                <a:t>java.lang</a:t>
              </a:r>
              <a:r>
                <a:rPr lang="en-US" dirty="0" err="1" smtClean="0">
                  <a:solidFill>
                    <a:srgbClr val="CC0099"/>
                  </a:solidFill>
                </a:rPr>
                <a:t>.Character</a:t>
              </a:r>
              <a:r>
                <a:rPr lang="en-US" dirty="0" smtClean="0">
                  <a:solidFill>
                    <a:srgbClr val="00B0F0"/>
                  </a:solidFill>
                </a:rPr>
                <a:t>.*</a:t>
              </a:r>
              <a:r>
                <a:rPr lang="en-US" dirty="0" smtClean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dirty="0" smtClean="0">
                  <a:solidFill>
                    <a:srgbClr val="00B0F0"/>
                  </a:solidFill>
                </a:rPr>
                <a:t>char</a:t>
              </a:r>
              <a:r>
                <a:rPr lang="en-US" dirty="0" smtClean="0">
                  <a:solidFill>
                    <a:srgbClr val="0000FF"/>
                  </a:solidFill>
                </a:rPr>
                <a:t> ch1 = ‘A’, ch2 = ‘*’; </a:t>
              </a:r>
            </a:p>
            <a:p>
              <a:r>
                <a:rPr lang="en-US" dirty="0" smtClean="0">
                  <a:solidFill>
                    <a:srgbClr val="00B0F0"/>
                  </a:solidFill>
                </a:rPr>
                <a:t>char</a:t>
              </a:r>
              <a:r>
                <a:rPr lang="en-US" dirty="0" smtClean="0">
                  <a:solidFill>
                    <a:srgbClr val="0000FF"/>
                  </a:solidFill>
                </a:rPr>
                <a:t> lower1, lower2;</a:t>
              </a:r>
              <a:endParaRPr lang="en-US" dirty="0" smtClean="0">
                <a:solidFill>
                  <a:srgbClr val="00B050"/>
                </a:solidFill>
              </a:endParaRPr>
            </a:p>
            <a:p>
              <a:r>
                <a:rPr lang="en-US" dirty="0" smtClean="0">
                  <a:solidFill>
                    <a:srgbClr val="0000FF"/>
                  </a:solidFill>
                </a:rPr>
                <a:t>lower1= </a:t>
              </a:r>
              <a:r>
                <a:rPr lang="en-US" dirty="0" err="1" smtClean="0">
                  <a:solidFill>
                    <a:srgbClr val="00B050"/>
                  </a:solidFill>
                </a:rPr>
                <a:t>toLowerCase</a:t>
              </a:r>
              <a:r>
                <a:rPr lang="en-US" dirty="0" smtClean="0">
                  <a:solidFill>
                    <a:srgbClr val="0000FF"/>
                  </a:solidFill>
                </a:rPr>
                <a:t>(ch1); </a:t>
              </a:r>
              <a:endParaRPr lang="en-US" dirty="0" smtClean="0">
                <a:solidFill>
                  <a:srgbClr val="00B0F0"/>
                </a:solidFill>
              </a:endParaRPr>
            </a:p>
            <a:p>
              <a:r>
                <a:rPr lang="en-US" dirty="0" smtClean="0">
                  <a:solidFill>
                    <a:srgbClr val="0000FF"/>
                  </a:solidFill>
                </a:rPr>
                <a:t>lower2= </a:t>
              </a:r>
              <a:r>
                <a:rPr lang="en-US" dirty="0" err="1" smtClean="0">
                  <a:solidFill>
                    <a:srgbClr val="00B050"/>
                  </a:solidFill>
                </a:rPr>
                <a:t>isLowerCase</a:t>
              </a:r>
              <a:r>
                <a:rPr lang="en-US" dirty="0" smtClean="0">
                  <a:solidFill>
                    <a:srgbClr val="0000FF"/>
                  </a:solidFill>
                </a:rPr>
                <a:t>(ch2); </a:t>
              </a:r>
            </a:p>
            <a:p>
              <a:r>
                <a:rPr lang="en-US" dirty="0" err="1" smtClean="0">
                  <a:solidFill>
                    <a:srgbClr val="0000FF"/>
                  </a:solidFill>
                </a:rPr>
                <a:t>System.out.printf</a:t>
              </a:r>
              <a:r>
                <a:rPr lang="en-US" dirty="0" smtClean="0">
                  <a:solidFill>
                    <a:srgbClr val="0000FF"/>
                  </a:solidFill>
                </a:rPr>
                <a:t> (“lower of %c = %c %n lower of %c = %c”, ch1, lower1, ch2, lower2);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23529" y="1236822"/>
              <a:ext cx="386010" cy="19100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5</a:t>
              </a:r>
              <a:endParaRPr lang="en-US" dirty="0">
                <a:solidFill>
                  <a:srgbClr val="FF0000"/>
                </a:solidFill>
              </a:endParaRP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7</a:t>
              </a:r>
              <a:endParaRPr lang="en-US" dirty="0" smtClean="0">
                <a:solidFill>
                  <a:srgbClr val="FF0000"/>
                </a:solidFill>
              </a:endParaRPr>
            </a:p>
          </p:txBody>
        </p:sp>
      </p:grpSp>
      <p:sp>
        <p:nvSpPr>
          <p:cNvPr id="45" name="TextBox 44"/>
          <p:cNvSpPr txBox="1"/>
          <p:nvPr/>
        </p:nvSpPr>
        <p:spPr>
          <a:xfrm>
            <a:off x="251520" y="2204864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Returns: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The corresponding lower case letter.</a:t>
            </a:r>
          </a:p>
          <a:p>
            <a:pPr>
              <a:buClr>
                <a:srgbClr val="FF0000"/>
              </a:buClr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If </a:t>
            </a:r>
            <a:r>
              <a:rPr lang="en-US" sz="2000" dirty="0" err="1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 a special character or digit, it returns </a:t>
            </a:r>
            <a:r>
              <a:rPr lang="en-US" sz="2000" dirty="0" err="1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</a:t>
            </a:r>
            <a:r>
              <a:rPr lang="en-US" sz="20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C0F99-418A-47AD-8EE9-8B4FF28C0C0C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251520" y="1588730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Parameter Type: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is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char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251520" y="5589240"/>
            <a:ext cx="8712967" cy="523220"/>
            <a:chOff x="683568" y="1236822"/>
            <a:chExt cx="7488831" cy="523220"/>
          </a:xfrm>
        </p:grpSpPr>
        <p:sp>
          <p:nvSpPr>
            <p:cNvPr id="18" name="TextBox 17"/>
            <p:cNvSpPr txBox="1"/>
            <p:nvPr/>
          </p:nvSpPr>
          <p:spPr>
            <a:xfrm>
              <a:off x="1069013" y="1236822"/>
              <a:ext cx="7103386" cy="523220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chemeClr val="bg1"/>
                  </a:solidFill>
                </a:rPr>
                <a:t>lower of A = a</a:t>
              </a:r>
            </a:p>
            <a:p>
              <a:r>
                <a:rPr lang="en-US" sz="1400" dirty="0" smtClean="0">
                  <a:solidFill>
                    <a:schemeClr val="bg1"/>
                  </a:solidFill>
                </a:rPr>
                <a:t>lower of * = * 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83568" y="1236822"/>
              <a:ext cx="2160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rgbClr val="FF0000"/>
                  </a:solidFill>
                </a:rPr>
                <a:t>1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2</a:t>
              </a:r>
              <a:endParaRPr lang="en-US" sz="1400" dirty="0" smtClean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2674551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/>
      <p:bldP spid="21" grpId="0"/>
      <p:bldP spid="45" grpId="0"/>
      <p:bldP spid="2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4.2.2 CONVERT TO UPPER CASE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char   </a:t>
            </a:r>
            <a:r>
              <a:rPr lang="en-US" b="1" dirty="0" err="1" smtClean="0"/>
              <a:t>toUpperCase</a:t>
            </a:r>
            <a:r>
              <a:rPr lang="en-US" b="1" dirty="0" smtClean="0"/>
              <a:t>(char  </a:t>
            </a:r>
            <a:r>
              <a:rPr lang="en-US" b="1" dirty="0" err="1" smtClean="0"/>
              <a:t>ch</a:t>
            </a:r>
            <a:r>
              <a:rPr lang="en-US" b="1" dirty="0" smtClean="0"/>
              <a:t>)</a:t>
            </a:r>
            <a:endParaRPr lang="en-US" b="1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51520" y="1196752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Formal Parameter: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en-US" sz="2000" dirty="0" err="1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the character to be converted into upper case.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51520" y="2812866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Return Type: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char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33" name="Group 32"/>
          <p:cNvGrpSpPr/>
          <p:nvPr/>
        </p:nvGrpSpPr>
        <p:grpSpPr>
          <a:xfrm>
            <a:off x="179513" y="3481263"/>
            <a:ext cx="8784976" cy="2031325"/>
            <a:chOff x="323529" y="1236822"/>
            <a:chExt cx="7848872" cy="1910098"/>
          </a:xfrm>
        </p:grpSpPr>
        <p:sp>
          <p:nvSpPr>
            <p:cNvPr id="34" name="TextBox 33"/>
            <p:cNvSpPr txBox="1"/>
            <p:nvPr/>
          </p:nvSpPr>
          <p:spPr>
            <a:xfrm>
              <a:off x="788528" y="1236822"/>
              <a:ext cx="7383873" cy="1910098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F0"/>
                  </a:solidFill>
                </a:rPr>
                <a:t>import static </a:t>
              </a:r>
              <a:r>
                <a:rPr lang="en-US" dirty="0" err="1" smtClean="0">
                  <a:solidFill>
                    <a:srgbClr val="FF0000"/>
                  </a:solidFill>
                </a:rPr>
                <a:t>java.lang</a:t>
              </a:r>
              <a:r>
                <a:rPr lang="en-US" dirty="0" err="1" smtClean="0">
                  <a:solidFill>
                    <a:srgbClr val="CC0099"/>
                  </a:solidFill>
                </a:rPr>
                <a:t>.Character</a:t>
              </a:r>
              <a:r>
                <a:rPr lang="en-US" dirty="0" smtClean="0">
                  <a:solidFill>
                    <a:srgbClr val="00B0F0"/>
                  </a:solidFill>
                </a:rPr>
                <a:t>.*</a:t>
              </a:r>
              <a:r>
                <a:rPr lang="en-US" dirty="0" smtClean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dirty="0" smtClean="0">
                  <a:solidFill>
                    <a:srgbClr val="00B0F0"/>
                  </a:solidFill>
                </a:rPr>
                <a:t>char</a:t>
              </a:r>
              <a:r>
                <a:rPr lang="en-US" dirty="0" smtClean="0">
                  <a:solidFill>
                    <a:srgbClr val="0000FF"/>
                  </a:solidFill>
                </a:rPr>
                <a:t> ch1 = ‘s’, ch2 = ‘*’; </a:t>
              </a:r>
            </a:p>
            <a:p>
              <a:r>
                <a:rPr lang="en-US" dirty="0" smtClean="0">
                  <a:solidFill>
                    <a:srgbClr val="00B0F0"/>
                  </a:solidFill>
                </a:rPr>
                <a:t>char</a:t>
              </a:r>
              <a:r>
                <a:rPr lang="en-US" dirty="0" smtClean="0">
                  <a:solidFill>
                    <a:srgbClr val="0000FF"/>
                  </a:solidFill>
                </a:rPr>
                <a:t> upper1, upper2;</a:t>
              </a:r>
              <a:endParaRPr lang="en-US" dirty="0" smtClean="0">
                <a:solidFill>
                  <a:srgbClr val="00B050"/>
                </a:solidFill>
              </a:endParaRPr>
            </a:p>
            <a:p>
              <a:r>
                <a:rPr lang="en-US" dirty="0" smtClean="0">
                  <a:solidFill>
                    <a:srgbClr val="0000FF"/>
                  </a:solidFill>
                </a:rPr>
                <a:t>upper1= </a:t>
              </a:r>
              <a:r>
                <a:rPr lang="en-US" dirty="0" err="1" smtClean="0">
                  <a:solidFill>
                    <a:srgbClr val="00B050"/>
                  </a:solidFill>
                </a:rPr>
                <a:t>toUpperCase</a:t>
              </a:r>
              <a:r>
                <a:rPr lang="en-US" dirty="0" smtClean="0">
                  <a:solidFill>
                    <a:srgbClr val="0000FF"/>
                  </a:solidFill>
                </a:rPr>
                <a:t>(ch1); </a:t>
              </a:r>
              <a:endParaRPr lang="en-US" dirty="0" smtClean="0">
                <a:solidFill>
                  <a:srgbClr val="00B0F0"/>
                </a:solidFill>
              </a:endParaRPr>
            </a:p>
            <a:p>
              <a:r>
                <a:rPr lang="en-US" dirty="0" smtClean="0">
                  <a:solidFill>
                    <a:srgbClr val="0000FF"/>
                  </a:solidFill>
                </a:rPr>
                <a:t>upper2= </a:t>
              </a:r>
              <a:r>
                <a:rPr lang="en-US" dirty="0" err="1" smtClean="0">
                  <a:solidFill>
                    <a:srgbClr val="00B050"/>
                  </a:solidFill>
                </a:rPr>
                <a:t>toUpperCase</a:t>
              </a:r>
              <a:r>
                <a:rPr lang="en-US" dirty="0" smtClean="0">
                  <a:solidFill>
                    <a:srgbClr val="0000FF"/>
                  </a:solidFill>
                </a:rPr>
                <a:t>(ch2); </a:t>
              </a:r>
            </a:p>
            <a:p>
              <a:r>
                <a:rPr lang="en-US" dirty="0" err="1" smtClean="0">
                  <a:solidFill>
                    <a:srgbClr val="0000FF"/>
                  </a:solidFill>
                </a:rPr>
                <a:t>System.out.printf</a:t>
              </a:r>
              <a:r>
                <a:rPr lang="en-US" dirty="0" smtClean="0">
                  <a:solidFill>
                    <a:srgbClr val="0000FF"/>
                  </a:solidFill>
                </a:rPr>
                <a:t> (“upper of %c = %c %n upper of %c = %c”, ch1, upper1, ch2, upper2);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23529" y="1236822"/>
              <a:ext cx="386010" cy="19100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5</a:t>
              </a:r>
              <a:endParaRPr lang="en-US" dirty="0">
                <a:solidFill>
                  <a:srgbClr val="FF0000"/>
                </a:solidFill>
              </a:endParaRP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7</a:t>
              </a:r>
              <a:endParaRPr lang="en-US" dirty="0" smtClean="0">
                <a:solidFill>
                  <a:srgbClr val="FF0000"/>
                </a:solidFill>
              </a:endParaRPr>
            </a:p>
          </p:txBody>
        </p:sp>
      </p:grpSp>
      <p:sp>
        <p:nvSpPr>
          <p:cNvPr id="45" name="TextBox 44"/>
          <p:cNvSpPr txBox="1"/>
          <p:nvPr/>
        </p:nvSpPr>
        <p:spPr>
          <a:xfrm>
            <a:off x="251520" y="2204864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Returns: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The corresponding upper case letter.</a:t>
            </a:r>
          </a:p>
          <a:p>
            <a:pPr>
              <a:buClr>
                <a:srgbClr val="FF0000"/>
              </a:buClr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If </a:t>
            </a:r>
            <a:r>
              <a:rPr lang="en-US" sz="2000" dirty="0" err="1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 a special character or digit, it returns </a:t>
            </a:r>
            <a:r>
              <a:rPr lang="en-US" sz="2000" dirty="0" err="1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</a:t>
            </a:r>
            <a:r>
              <a:rPr lang="en-US" sz="20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C0F99-418A-47AD-8EE9-8B4FF28C0C0C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251520" y="1588730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Parameter Type: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is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char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251520" y="5589240"/>
            <a:ext cx="8712967" cy="523220"/>
            <a:chOff x="683568" y="1236822"/>
            <a:chExt cx="7488831" cy="523220"/>
          </a:xfrm>
        </p:grpSpPr>
        <p:sp>
          <p:nvSpPr>
            <p:cNvPr id="18" name="TextBox 17"/>
            <p:cNvSpPr txBox="1"/>
            <p:nvPr/>
          </p:nvSpPr>
          <p:spPr>
            <a:xfrm>
              <a:off x="1069013" y="1236822"/>
              <a:ext cx="7103386" cy="523220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chemeClr val="bg1"/>
                  </a:solidFill>
                </a:rPr>
                <a:t>upper of s = </a:t>
              </a:r>
              <a:r>
                <a:rPr lang="en-US" sz="1400" dirty="0">
                  <a:solidFill>
                    <a:schemeClr val="bg1"/>
                  </a:solidFill>
                </a:rPr>
                <a:t>S</a:t>
              </a:r>
              <a:endParaRPr lang="en-US" sz="1400" dirty="0" smtClean="0">
                <a:solidFill>
                  <a:schemeClr val="bg1"/>
                </a:solidFill>
              </a:endParaRPr>
            </a:p>
            <a:p>
              <a:r>
                <a:rPr lang="en-US" sz="1400" dirty="0" smtClean="0">
                  <a:solidFill>
                    <a:schemeClr val="bg1"/>
                  </a:solidFill>
                </a:rPr>
                <a:t>upper of * = * 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83568" y="1236822"/>
              <a:ext cx="2160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rgbClr val="FF0000"/>
                  </a:solidFill>
                </a:rPr>
                <a:t>1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2</a:t>
              </a:r>
              <a:endParaRPr lang="en-US" sz="1400" dirty="0" smtClean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11496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/>
      <p:bldP spid="21" grpId="0"/>
      <p:bldP spid="45" grpId="0"/>
      <p:bldP spid="2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9144000" cy="6858000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t> </a:t>
            </a:r>
            <a:fld id="{D8D24581-BA14-4640-B752-9AB0FD1B9A37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116558"/>
            <a:ext cx="8229600" cy="792162"/>
          </a:xfr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smtClean="0">
                <a:solidFill>
                  <a:schemeClr val="accent2"/>
                </a:solidFill>
                <a:latin typeface="Tahoma" charset="0"/>
                <a:cs typeface="Arial" charset="0"/>
              </a:rPr>
              <a:t>Self-Check Exercises  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90872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1406" y="6496070"/>
            <a:ext cx="40005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mtClean="0"/>
              <a:t>W8.3 </a:t>
            </a:r>
            <a:r>
              <a:rPr lang="en-US" sz="1200" dirty="0" smtClean="0"/>
              <a:t>Pre-defined methods</a:t>
            </a:r>
            <a:endParaRPr lang="en-US" sz="1200" dirty="0"/>
          </a:p>
        </p:txBody>
      </p:sp>
      <mc:AlternateContent xmlns:mc="http://schemas.openxmlformats.org/markup-compatibility/2006">
        <mc:Choice xmlns="" xmlns:a14="http://schemas.microsoft.com/office/drawing/2010/main" Requires="a14">
          <p:sp>
            <p:nvSpPr>
              <p:cNvPr id="11" name="Rounded Rectangle 10"/>
              <p:cNvSpPr/>
              <p:nvPr/>
            </p:nvSpPr>
            <p:spPr>
              <a:xfrm>
                <a:off x="107504" y="1556792"/>
                <a:ext cx="8856984" cy="2184925"/>
              </a:xfrm>
              <a:prstGeom prst="roundRect">
                <a:avLst/>
              </a:prstGeom>
              <a:noFill/>
            </p:spPr>
            <p:txBody>
              <a:bodyPr vert="horz" wrap="square" rtlCol="0">
                <a:spAutoFit/>
              </a:bodyPr>
              <a:lstStyle/>
              <a:p>
                <a:pPr marL="342900" indent="-342900" algn="just">
                  <a:spcBef>
                    <a:spcPts val="400"/>
                  </a:spcBef>
                  <a:buClr>
                    <a:srgbClr val="FF0000"/>
                  </a:buClr>
                  <a:buSzPct val="68000"/>
                  <a:buFont typeface="Wingdings" panose="05000000000000000000" pitchFamily="2" charset="2"/>
                  <a:buChar char="Ø"/>
                </a:pPr>
                <a:r>
                  <a:rPr lang="en-US" sz="2000" dirty="0" smtClean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Use </a:t>
                </a:r>
                <a:r>
                  <a:rPr lang="en-US" sz="20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the </a:t>
                </a:r>
                <a:r>
                  <a:rPr lang="en-US" sz="2000" dirty="0" smtClean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Java </a:t>
                </a:r>
                <a:r>
                  <a:rPr lang="en-US" sz="20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built-in </a:t>
                </a:r>
                <a:r>
                  <a:rPr lang="en-US" sz="2000" dirty="0" smtClean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methods </a:t>
                </a:r>
                <a:r>
                  <a:rPr lang="en-US" sz="20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to compute the roots of a quadratic equation in x of the form: ax</a:t>
                </a:r>
                <a:r>
                  <a:rPr lang="en-US" sz="2000" baseline="300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2</a:t>
                </a:r>
                <a:r>
                  <a:rPr lang="en-US" sz="20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+ </a:t>
                </a:r>
                <a:r>
                  <a:rPr lang="en-US" sz="2000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bx</a:t>
                </a:r>
                <a:r>
                  <a:rPr lang="en-US" sz="20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+ c = 0.</a:t>
                </a:r>
              </a:p>
              <a:p>
                <a:pPr algn="just">
                  <a:spcBef>
                    <a:spcPts val="400"/>
                  </a:spcBef>
                  <a:buClr>
                    <a:srgbClr val="FF0000"/>
                  </a:buClr>
                  <a:buSzPct val="68000"/>
                </a:pPr>
                <a:r>
                  <a:rPr lang="en-US" sz="20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The two roots are defined as:</a:t>
                </a:r>
              </a:p>
              <a:p>
                <a:pPr algn="just">
                  <a:spcBef>
                    <a:spcPts val="400"/>
                  </a:spcBef>
                  <a:buClr>
                    <a:srgbClr val="FF0000"/>
                  </a:buClr>
                  <a:buSzPct val="68000"/>
                </a:pPr>
                <a:r>
                  <a:rPr lang="en-US" sz="20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root1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</m:ctrlPr>
                      </m:fPr>
                      <m:num>
                        <m:r>
                          <a:rPr lang="en-US" sz="2000">
                            <a:solidFill>
                              <a:schemeClr val="tx1"/>
                            </a:solidFill>
                            <a:latin typeface="Cambria Math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−</m:t>
                        </m:r>
                        <m:r>
                          <a:rPr lang="en-US" sz="2000">
                            <a:solidFill>
                              <a:schemeClr val="tx1"/>
                            </a:solidFill>
                            <a:latin typeface="Cambria Math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𝑏</m:t>
                        </m:r>
                        <m:r>
                          <a:rPr lang="en-US" sz="2000">
                            <a:solidFill>
                              <a:schemeClr val="tx1"/>
                            </a:solidFill>
                            <a:latin typeface="Cambria Math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>
                                <a:solidFill>
                                  <a:schemeClr val="tx1"/>
                                </a:solidFill>
                                <a:latin typeface="Cambria Math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𝑏</m:t>
                            </m:r>
                            <m:r>
                              <a:rPr lang="en-US" sz="2000" baseline="30000">
                                <a:solidFill>
                                  <a:schemeClr val="tx1"/>
                                </a:solidFill>
                                <a:latin typeface="Cambria Math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2</m:t>
                            </m:r>
                            <m:r>
                              <a:rPr lang="en-US" sz="2000">
                                <a:solidFill>
                                  <a:schemeClr val="tx1"/>
                                </a:solidFill>
                                <a:latin typeface="Cambria Math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−</m:t>
                            </m:r>
                            <m:r>
                              <a:rPr lang="en-US" sz="2000">
                                <a:solidFill>
                                  <a:schemeClr val="tx1"/>
                                </a:solidFill>
                                <a:latin typeface="Cambria Math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4</m:t>
                            </m:r>
                            <m:r>
                              <a:rPr lang="en-US" sz="2000">
                                <a:solidFill>
                                  <a:schemeClr val="tx1"/>
                                </a:solidFill>
                                <a:latin typeface="Cambria Math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𝑎𝑐</m:t>
                            </m:r>
                          </m:e>
                        </m:rad>
                      </m:num>
                      <m:den>
                        <m:r>
                          <a:rPr lang="en-US" sz="2000">
                            <a:solidFill>
                              <a:schemeClr val="tx1"/>
                            </a:solidFill>
                            <a:latin typeface="Cambria Math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2</m:t>
                        </m:r>
                        <m:r>
                          <a:rPr lang="en-US" sz="2000">
                            <a:solidFill>
                              <a:schemeClr val="tx1"/>
                            </a:solidFill>
                            <a:latin typeface="Cambria Math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			root2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</m:ctrlPr>
                      </m:fPr>
                      <m:num>
                        <m:r>
                          <a:rPr lang="en-US" sz="2000">
                            <a:solidFill>
                              <a:schemeClr val="tx1"/>
                            </a:solidFill>
                            <a:latin typeface="Cambria Math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−</m:t>
                        </m:r>
                        <m:r>
                          <a:rPr lang="en-US" sz="2000">
                            <a:solidFill>
                              <a:schemeClr val="tx1"/>
                            </a:solidFill>
                            <a:latin typeface="Cambria Math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𝑏</m:t>
                        </m:r>
                        <m:r>
                          <a:rPr lang="en-US" sz="2000">
                            <a:solidFill>
                              <a:schemeClr val="tx1"/>
                            </a:solidFill>
                            <a:latin typeface="Cambria Math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>
                                <a:solidFill>
                                  <a:schemeClr val="tx1"/>
                                </a:solidFill>
                                <a:latin typeface="Cambria Math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𝑏</m:t>
                            </m:r>
                            <m:r>
                              <a:rPr lang="en-US" sz="2000" baseline="30000">
                                <a:solidFill>
                                  <a:schemeClr val="tx1"/>
                                </a:solidFill>
                                <a:latin typeface="Cambria Math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2</m:t>
                            </m:r>
                            <m:r>
                              <a:rPr lang="en-US" sz="2000">
                                <a:solidFill>
                                  <a:schemeClr val="tx1"/>
                                </a:solidFill>
                                <a:latin typeface="Cambria Math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−</m:t>
                            </m:r>
                            <m:r>
                              <a:rPr lang="en-US" sz="2000">
                                <a:solidFill>
                                  <a:schemeClr val="tx1"/>
                                </a:solidFill>
                                <a:latin typeface="Cambria Math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4</m:t>
                            </m:r>
                            <m:r>
                              <a:rPr lang="en-US" sz="2000">
                                <a:solidFill>
                                  <a:schemeClr val="tx1"/>
                                </a:solidFill>
                                <a:latin typeface="Cambria Math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𝑎𝑐</m:t>
                            </m:r>
                          </m:e>
                        </m:rad>
                      </m:num>
                      <m:den>
                        <m:r>
                          <a:rPr lang="en-US" sz="2000">
                            <a:solidFill>
                              <a:schemeClr val="tx1"/>
                            </a:solidFill>
                            <a:latin typeface="Cambria Math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2</m:t>
                        </m:r>
                        <m:r>
                          <a:rPr lang="en-US" sz="2000">
                            <a:solidFill>
                              <a:schemeClr val="tx1"/>
                            </a:solidFill>
                            <a:latin typeface="Cambria Math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𝑎</m:t>
                        </m:r>
                      </m:den>
                    </m:f>
                  </m:oMath>
                </a14:m>
                <a:endParaRPr lang="en-US" sz="20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342900" indent="-342900" algn="just">
                  <a:spcBef>
                    <a:spcPts val="400"/>
                  </a:spcBef>
                  <a:buClr>
                    <a:srgbClr val="FF0000"/>
                  </a:buClr>
                  <a:buSzPct val="68000"/>
                  <a:buFont typeface="Wingdings" panose="05000000000000000000" pitchFamily="2" charset="2"/>
                  <a:buChar char="Ø"/>
                </a:pPr>
                <a:endParaRPr lang="en-US" sz="20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>
          <p:sp>
            <p:nvSpPr>
              <p:cNvPr id="11" name="Rounded 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1556792"/>
                <a:ext cx="8856984" cy="2184925"/>
              </a:xfrm>
              <a:prstGeom prst="round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="" xmlns:a14="http://schemas.microsoft.com/office/drawing/2010/main" Requires="a14">
          <p:sp>
            <p:nvSpPr>
              <p:cNvPr id="14" name="Rounded Rectangle 13"/>
              <p:cNvSpPr/>
              <p:nvPr/>
            </p:nvSpPr>
            <p:spPr>
              <a:xfrm>
                <a:off x="107504" y="4149080"/>
                <a:ext cx="8856984" cy="1577737"/>
              </a:xfrm>
              <a:prstGeom prst="roundRect">
                <a:avLst/>
              </a:prstGeom>
              <a:noFill/>
            </p:spPr>
            <p:txBody>
              <a:bodyPr vert="horz" wrap="square" rtlCol="0">
                <a:spAutoFit/>
              </a:bodyPr>
              <a:lstStyle/>
              <a:p>
                <a:pPr marL="342900" indent="-342900" algn="just">
                  <a:spcBef>
                    <a:spcPts val="400"/>
                  </a:spcBef>
                  <a:buClr>
                    <a:srgbClr val="FF0000"/>
                  </a:buClr>
                  <a:buSzPct val="68000"/>
                  <a:buFont typeface="Wingdings" panose="05000000000000000000" pitchFamily="2" charset="2"/>
                  <a:buChar char="Ø"/>
                </a:pPr>
                <a:r>
                  <a:rPr lang="en-US" sz="20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Write a complete program that computes the length of a side of a triangle using the following formula: </a:t>
                </a:r>
                <a14:m>
                  <m:oMath xmlns:m="http://schemas.openxmlformats.org/officeDocument/2006/math">
                    <m:r>
                      <a:rPr lang="en-US" sz="2000">
                        <a:solidFill>
                          <a:schemeClr val="tx1"/>
                        </a:solidFill>
                        <a:latin typeface="Cambria Math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𝑎</m:t>
                    </m:r>
                    <m:r>
                      <a:rPr lang="en-US" sz="2000" baseline="30000">
                        <a:solidFill>
                          <a:schemeClr val="tx1"/>
                        </a:solidFill>
                        <a:latin typeface="Cambria Math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2</m:t>
                    </m:r>
                    <m:r>
                      <a:rPr lang="en-US" sz="2000">
                        <a:solidFill>
                          <a:schemeClr val="tx1"/>
                        </a:solidFill>
                        <a:latin typeface="Cambria Math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=</m:t>
                    </m:r>
                    <m:r>
                      <a:rPr lang="en-US" sz="2000">
                        <a:solidFill>
                          <a:schemeClr val="tx1"/>
                        </a:solidFill>
                        <a:latin typeface="Cambria Math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𝑏</m:t>
                    </m:r>
                    <m:r>
                      <a:rPr lang="en-US" sz="2000" baseline="30000">
                        <a:solidFill>
                          <a:schemeClr val="tx1"/>
                        </a:solidFill>
                        <a:latin typeface="Cambria Math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2</m:t>
                    </m:r>
                    <m:r>
                      <a:rPr lang="en-US" sz="2000">
                        <a:solidFill>
                          <a:schemeClr val="tx1"/>
                        </a:solidFill>
                        <a:latin typeface="Cambria Math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+</m:t>
                    </m:r>
                    <m:r>
                      <a:rPr lang="en-US" sz="2000">
                        <a:solidFill>
                          <a:schemeClr val="tx1"/>
                        </a:solidFill>
                        <a:latin typeface="Cambria Math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𝑐</m:t>
                    </m:r>
                    <m:r>
                      <a:rPr lang="en-US" sz="2000" baseline="30000">
                        <a:solidFill>
                          <a:schemeClr val="tx1"/>
                        </a:solidFill>
                        <a:latin typeface="Cambria Math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2</m:t>
                    </m:r>
                    <m:r>
                      <a:rPr lang="en-US" sz="2000">
                        <a:solidFill>
                          <a:schemeClr val="tx1"/>
                        </a:solidFill>
                        <a:latin typeface="Cambria Math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−</m:t>
                    </m:r>
                    <m:r>
                      <a:rPr lang="en-US" sz="2000">
                        <a:solidFill>
                          <a:schemeClr val="tx1"/>
                        </a:solidFill>
                        <a:latin typeface="Cambria Math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2</m:t>
                    </m:r>
                    <m:r>
                      <a:rPr lang="en-US" sz="2000">
                        <a:solidFill>
                          <a:schemeClr val="tx1"/>
                        </a:solidFill>
                        <a:latin typeface="Cambria Math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𝑏𝑐</m:t>
                    </m:r>
                    <m:r>
                      <a:rPr lang="en-US" sz="2000">
                        <a:solidFill>
                          <a:schemeClr val="tx1"/>
                        </a:solidFill>
                        <a:latin typeface="Cambria Math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 </m:t>
                    </m:r>
                    <m:r>
                      <a:rPr lang="en-US" sz="2000">
                        <a:solidFill>
                          <a:schemeClr val="tx1"/>
                        </a:solidFill>
                        <a:latin typeface="Cambria Math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𝑐𝑜𝑠</m:t>
                    </m:r>
                    <m:r>
                      <a:rPr lang="en-US" sz="2000">
                        <a:solidFill>
                          <a:schemeClr val="tx1"/>
                        </a:solidFill>
                        <a:latin typeface="Cambria Math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∝</m:t>
                    </m:r>
                  </m:oMath>
                </a14:m>
                <a:endParaRPr lang="en-US" sz="20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algn="just">
                  <a:spcBef>
                    <a:spcPts val="400"/>
                  </a:spcBef>
                  <a:buClr>
                    <a:srgbClr val="FF0000"/>
                  </a:buClr>
                  <a:buSzPct val="68000"/>
                </a:pPr>
                <a:r>
                  <a:rPr lang="en-US" sz="20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The lengths of the sides b and c are </a:t>
                </a:r>
                <a:r>
                  <a:rPr lang="en-US" sz="2000" dirty="0" smtClean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given</a:t>
                </a:r>
                <a:r>
                  <a:rPr lang="en-US" sz="2000" dirty="0" smtClean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14:m>
                  <m:oMath xmlns:m="http://schemas.openxmlformats.org/officeDocument/2006/math">
                    <m:r>
                      <a:rPr lang="en-US" sz="2000">
                        <a:solidFill>
                          <a:schemeClr val="tx1"/>
                        </a:solidFill>
                        <a:latin typeface="Cambria Math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∝</m:t>
                    </m:r>
                    <m:r>
                      <m:rPr>
                        <m:sty m:val="p"/>
                      </m:rPr>
                      <a:rPr lang="en-US" sz="2000">
                        <a:solidFill>
                          <a:schemeClr val="tx1"/>
                        </a:solidFill>
                        <a:latin typeface="Cambria Math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is</m:t>
                    </m:r>
                    <m:r>
                      <a:rPr lang="en-US" sz="2000">
                        <a:solidFill>
                          <a:schemeClr val="tx1"/>
                        </a:solidFill>
                        <a:latin typeface="Cambria Math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>
                        <a:solidFill>
                          <a:schemeClr val="tx1"/>
                        </a:solidFill>
                        <a:latin typeface="Cambria Math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given</m:t>
                    </m:r>
                    <m:r>
                      <a:rPr lang="en-US" sz="2000">
                        <a:solidFill>
                          <a:schemeClr val="tx1"/>
                        </a:solidFill>
                        <a:latin typeface="Cambria Math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>
                        <a:solidFill>
                          <a:schemeClr val="tx1"/>
                        </a:solidFill>
                        <a:latin typeface="Cambria Math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in</m:t>
                    </m:r>
                    <m:r>
                      <a:rPr lang="en-US" sz="2000">
                        <a:solidFill>
                          <a:schemeClr val="tx1"/>
                        </a:solidFill>
                        <a:latin typeface="Cambria Math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>
                        <a:solidFill>
                          <a:schemeClr val="tx1"/>
                        </a:solidFill>
                        <a:latin typeface="Cambria Math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degrees</m:t>
                    </m:r>
                    <m:r>
                      <a:rPr lang="en-US" sz="2000">
                        <a:solidFill>
                          <a:schemeClr val="tx1"/>
                        </a:solidFill>
                        <a:latin typeface="Cambria Math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.</m:t>
                    </m:r>
                  </m:oMath>
                </a14:m>
                <a:endParaRPr lang="en-US" sz="20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342900" indent="-342900" algn="just">
                  <a:spcBef>
                    <a:spcPts val="400"/>
                  </a:spcBef>
                  <a:buClr>
                    <a:srgbClr val="FF0000"/>
                  </a:buClr>
                  <a:buSzPct val="68000"/>
                  <a:buFont typeface="Wingdings" panose="05000000000000000000" pitchFamily="2" charset="2"/>
                  <a:buChar char="Ø"/>
                </a:pPr>
                <a:endParaRPr lang="en-US" sz="20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>
          <p:sp>
            <p:nvSpPr>
              <p:cNvPr id="14" name="Rounded 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4149080"/>
                <a:ext cx="8856984" cy="1577737"/>
              </a:xfrm>
              <a:prstGeom prst="round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="" xmlns:p14="http://schemas.microsoft.com/office/powerpoint/2010/main" val="1995787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2d528bc-8d32-45af-8136-36371a4446cb"/>
  <p:tag name="ARTICULATE_SLIDE_NAV" val="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607</TotalTime>
  <Words>3040</Words>
  <Application>Microsoft Office PowerPoint</Application>
  <PresentationFormat>On-screen Show (4:3)</PresentationFormat>
  <Paragraphs>623</Paragraphs>
  <Slides>36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7" baseType="lpstr">
      <vt:lpstr>Concourse</vt:lpstr>
      <vt:lpstr>  METHODS</vt:lpstr>
      <vt:lpstr>Outline</vt:lpstr>
      <vt:lpstr>1. Reminder: slide 3 in Lecture W4.2</vt:lpstr>
      <vt:lpstr>Reminder: Slide 20 in Lecture W9.1-2</vt:lpstr>
      <vt:lpstr>1. INTRODUCTION</vt:lpstr>
      <vt:lpstr>2. import static Statement</vt:lpstr>
      <vt:lpstr>2. import static Statement</vt:lpstr>
      <vt:lpstr>3. MATHEMATICAL METHODS</vt:lpstr>
      <vt:lpstr>3.1 ABSOLUTE VALUE</vt:lpstr>
      <vt:lpstr>3.2 APPROXIMATION METHODS</vt:lpstr>
      <vt:lpstr>3.2.1 ROUNDING</vt:lpstr>
      <vt:lpstr>3.2.2 CEILING</vt:lpstr>
      <vt:lpstr>3.2.3 FLOORING</vt:lpstr>
      <vt:lpstr>3.3 POWER METHODS</vt:lpstr>
      <vt:lpstr>3.3.1 EXPONENTIAL</vt:lpstr>
      <vt:lpstr>3.3.2 LOGARITHM TO BASE e</vt:lpstr>
      <vt:lpstr>3.3.3 LOGARITHM TO BASE 10</vt:lpstr>
      <vt:lpstr>3.3.4 SQUARE ROOT</vt:lpstr>
      <vt:lpstr>3.3.5 POWER</vt:lpstr>
      <vt:lpstr>3.4 COMPARISON METHODS</vt:lpstr>
      <vt:lpstr>3.4.1 MINIMUM</vt:lpstr>
      <vt:lpstr>3.4.2 MAXIMUM</vt:lpstr>
      <vt:lpstr>3.5 TRIGONOMETRIC METHODS</vt:lpstr>
      <vt:lpstr>3.5.1 SINE</vt:lpstr>
      <vt:lpstr>3.5.2 COSINE</vt:lpstr>
      <vt:lpstr>3.5.3 TANGENT</vt:lpstr>
      <vt:lpstr>4. CHARACTER METHODS</vt:lpstr>
      <vt:lpstr>4.1 CHECKING METHODS</vt:lpstr>
      <vt:lpstr>4.1.1 DIGIT? </vt:lpstr>
      <vt:lpstr>4.1.2 LETTER? </vt:lpstr>
      <vt:lpstr>4.1.3 LOWER CASE? </vt:lpstr>
      <vt:lpstr>4.1.4 UPPER CASE? </vt:lpstr>
      <vt:lpstr>4.2 MANIPULATION METHODS</vt:lpstr>
      <vt:lpstr>4.2.1 CONVERT TO LOWER CASE</vt:lpstr>
      <vt:lpstr>4.2.2 CONVERT TO UPPER CASE</vt:lpstr>
      <vt:lpstr>Self-Check Exercises 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METHODS</dc:title>
  <dc:creator>Soha S.Zaghloul</dc:creator>
  <cp:lastModifiedBy>Omar</cp:lastModifiedBy>
  <cp:revision>69</cp:revision>
  <dcterms:created xsi:type="dcterms:W3CDTF">2015-04-04T14:43:32Z</dcterms:created>
  <dcterms:modified xsi:type="dcterms:W3CDTF">2016-12-07T06:47:01Z</dcterms:modified>
</cp:coreProperties>
</file>