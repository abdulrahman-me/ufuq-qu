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embeddedFontLst>
    <p:embeddedFont>
      <p:font typeface="Rambla" panose="02000503000000020004" pitchFamily="2" charset="77"/>
      <p:regular r:id="rId32"/>
      <p:bold r:id="rId33"/>
      <p:italic r:id="rId34"/>
      <p:boldItalic r:id="rId35"/>
    </p:embeddedFont>
    <p:embeddedFont>
      <p:font typeface="Tahoma" panose="020B0604030504040204" pitchFamily="34" charset="0"/>
      <p:regular r:id="rId36"/>
      <p:bold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5BB631-906D-440C-AF50-5E0508606DFF}">
  <a:tblStyle styleId="{505BB631-906D-440C-AF50-5E0508606DFF}" styleName="Table_0">
    <a:wholeTbl>
      <a:tcTxStyle b="off" i="off">
        <a:font>
          <a:latin typeface="Lucida Sans Unicode"/>
          <a:ea typeface="Lucida Sans Unicode"/>
          <a:cs typeface="Lucida Sans Unicode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E7F0F4"/>
          </a:solidFill>
        </a:fill>
      </a:tcStyle>
    </a:wholeTbl>
    <a:band1H>
      <a:tcStyle>
        <a:tcBdr/>
        <a:fill>
          <a:solidFill>
            <a:srgbClr val="CCDFE8"/>
          </a:solidFill>
        </a:fill>
      </a:tcStyle>
    </a:band1H>
    <a:band1V>
      <a:tcStyle>
        <a:tcBdr/>
        <a:fill>
          <a:solidFill>
            <a:srgbClr val="CCDFE8"/>
          </a:solidFill>
        </a:fill>
      </a:tcStyle>
    </a:band1V>
    <a:lastCol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0"/>
    <p:restoredTop sz="94719"/>
  </p:normalViewPr>
  <p:slideViewPr>
    <p:cSldViewPr snapToGrid="0">
      <p:cViewPr>
        <p:scale>
          <a:sx n="150" d="100"/>
          <a:sy n="150" d="100"/>
        </p:scale>
        <p:origin x="23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749091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9410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7572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400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3349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1015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5" name="Shape 15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20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3677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2" name="Shape 19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4076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001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9" name="Shape 2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7542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5061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0" name="Shape 2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950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4" name="Shape 28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1270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2" name="Shape 30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2337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4" name="Shape 3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2297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6" name="Shape 34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229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0" name="Shape 3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44644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3" name="Shape 40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2639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4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23" name="Shape 42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00567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9" name="Shape 43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75564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4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75954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4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6" name="Shape 49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4074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5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22" name="Shape 52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278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42" name="Shape 54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2784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5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8" name="Shape 56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6507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Shape 5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9" name="Shape 58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52886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Shape 6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8" name="Shape 6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8760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6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16" name="Shape 61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5057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0" name="Shape 63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3854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/>
          <p:nvPr/>
        </p:nvSpPr>
        <p:spPr>
          <a:xfrm>
            <a:off x="-1" y="4664146"/>
            <a:ext cx="9151089" cy="0"/>
          </a:xfrm>
          <a:prstGeom prst="rtTriangle">
            <a:avLst/>
          </a:prstGeom>
          <a:gradFill>
            <a:gsLst>
              <a:gs pos="0">
                <a:srgbClr val="007795"/>
              </a:gs>
              <a:gs pos="55000">
                <a:srgbClr val="47BBE0"/>
              </a:gs>
              <a:gs pos="100000">
                <a:srgbClr val="007795"/>
              </a:gs>
            </a:gsLst>
            <a:lin ang="3000000" scaled="0"/>
          </a:gra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7" name="Shape 17"/>
          <p:cNvSpPr txBox="1">
            <a:spLocks noGrp="1"/>
          </p:cNvSpPr>
          <p:nvPr>
            <p:ph type="ctrTitle"/>
          </p:nvPr>
        </p:nvSpPr>
        <p:spPr>
          <a:xfrm>
            <a:off x="685800" y="1752600"/>
            <a:ext cx="7772400" cy="18297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Clr>
                <a:schemeClr val="dk2"/>
              </a:buClr>
              <a:buFont typeface="Rambla"/>
              <a:buNone/>
              <a:defRPr sz="4800" b="1" i="0" u="none" strike="noStrike" cap="none">
                <a:solidFill>
                  <a:schemeClr val="dk2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64008" lvl="0" indent="0" algn="r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2700" b="0" i="0" u="none" strike="noStrike" cap="none">
                <a:solidFill>
                  <a:schemeClr val="dk2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ctr" rtl="0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sz="23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ctr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21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ctr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9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ctr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ctr" rtl="0">
              <a:spcBef>
                <a:spcPts val="350"/>
              </a:spcBef>
              <a:buClr>
                <a:schemeClr val="accent3"/>
              </a:buClr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ctr" rtl="0">
              <a:spcBef>
                <a:spcPts val="350"/>
              </a:spcBef>
              <a:buClr>
                <a:schemeClr val="accent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ctr" rtl="0">
              <a:spcBef>
                <a:spcPts val="350"/>
              </a:spcBef>
              <a:buClr>
                <a:schemeClr val="accent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ctr" rtl="0">
              <a:spcBef>
                <a:spcPts val="350"/>
              </a:spcBef>
              <a:buClr>
                <a:schemeClr val="accent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grpSp>
        <p:nvGrpSpPr>
          <p:cNvPr id="19" name="Shape 19"/>
          <p:cNvGrpSpPr/>
          <p:nvPr/>
        </p:nvGrpSpPr>
        <p:grpSpPr>
          <a:xfrm>
            <a:off x="-3765" y="4953000"/>
            <a:ext cx="9147765" cy="1912087"/>
            <a:chOff x="-3765" y="4832896"/>
            <a:chExt cx="9147765" cy="2032191"/>
          </a:xfrm>
        </p:grpSpPr>
        <p:sp>
          <p:nvSpPr>
            <p:cNvPr id="20" name="Shape 20"/>
            <p:cNvSpPr/>
            <p:nvPr/>
          </p:nvSpPr>
          <p:spPr>
            <a:xfrm>
              <a:off x="1687513" y="4832896"/>
              <a:ext cx="7456486" cy="5188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0"/>
                  </a:moveTo>
                  <a:lnTo>
                    <a:pt x="120000" y="120000"/>
                  </a:lnTo>
                  <a:lnTo>
                    <a:pt x="0" y="7128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9CCADC">
                <a:alpha val="40000"/>
              </a:srgbClr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21" name="Shape 21"/>
            <p:cNvSpPr/>
            <p:nvPr/>
          </p:nvSpPr>
          <p:spPr>
            <a:xfrm>
              <a:off x="35442" y="5135526"/>
              <a:ext cx="9108557" cy="8381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10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22" name="Shape 22"/>
            <p:cNvSpPr/>
            <p:nvPr/>
          </p:nvSpPr>
          <p:spPr>
            <a:xfrm>
              <a:off x="0" y="4883887"/>
              <a:ext cx="9144000" cy="19811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  <a:lnTo>
                    <a:pt x="120000" y="507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50000"/>
              </a:blip>
              <a:tile tx="0" ty="0" sx="50000" sy="50000" flip="none" algn="t"/>
            </a:blip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cxnSp>
          <p:nvCxnSpPr>
            <p:cNvPr id="23" name="Shape 23"/>
            <p:cNvCxnSpPr/>
            <p:nvPr/>
          </p:nvCxnSpPr>
          <p:spPr>
            <a:xfrm>
              <a:off x="-3765" y="4880373"/>
              <a:ext cx="9147764" cy="839942"/>
            </a:xfrm>
            <a:prstGeom prst="straightConnector1">
              <a:avLst/>
            </a:prstGeom>
            <a:noFill/>
            <a:ln w="12050" cap="flat" cmpd="sng">
              <a:solidFill>
                <a:srgbClr val="93C5D8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rgbClr val="E7F0F4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rgbClr val="FFFFFF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rgbClr val="FFFF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65760" marR="0" lvl="0" indent="-14757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sz="27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9474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23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10388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0795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9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143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Clr>
                <a:schemeClr val="dk2"/>
              </a:buClr>
              <a:buFont typeface="Rambla"/>
              <a:buNone/>
              <a:defRPr sz="4100" b="1" i="0" u="none" strike="noStrike" cap="none">
                <a:solidFill>
                  <a:schemeClr val="dk2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722375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Clr>
                <a:schemeClr val="lt2"/>
              </a:buClr>
              <a:buFont typeface="Rambla"/>
              <a:buNone/>
              <a:defRPr sz="4800" b="1" i="0" u="none" strike="noStrike" cap="none">
                <a:solidFill>
                  <a:schemeClr val="lt2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3922712" y="2931711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23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240791" algn="l" rtl="0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237236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228600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228600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9" name="Shape 39"/>
          <p:cNvSpPr/>
          <p:nvPr/>
        </p:nvSpPr>
        <p:spPr>
          <a:xfrm>
            <a:off x="3636680" y="3005472"/>
            <a:ext cx="182879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25400" dir="5400000">
              <a:srgbClr val="000000">
                <a:alpha val="45882"/>
              </a:srgbClr>
            </a:outerShdw>
          </a:effectLst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0" name="Shape 40"/>
          <p:cNvSpPr/>
          <p:nvPr/>
        </p:nvSpPr>
        <p:spPr>
          <a:xfrm>
            <a:off x="3450264" y="3005472"/>
            <a:ext cx="182879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25400" dir="5400000">
              <a:srgbClr val="000000">
                <a:alpha val="45882"/>
              </a:srgbClr>
            </a:outerShdw>
          </a:effectLst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65760" marR="0" lvl="0" indent="-143255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sz="2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8839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24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11023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143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143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648200" y="1481328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65760" marR="0" lvl="0" indent="-143255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sz="2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8839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24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11023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143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143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Clr>
                <a:schemeClr val="lt2"/>
              </a:buClr>
              <a:buFont typeface="Rambla"/>
              <a:buNone/>
              <a:defRPr sz="4100" b="1" i="0" u="none" strike="noStrike" cap="none">
                <a:solidFill>
                  <a:schemeClr val="lt2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bg>
      <p:bgPr>
        <a:blipFill rotWithShape="1">
          <a:blip r:embed="rId2">
            <a:alphaModFix/>
          </a:blip>
          <a:tile tx="0" ty="0" sx="50000" sy="50000" flip="none" algn="tl"/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Clr>
                <a:schemeClr val="dk2"/>
              </a:buClr>
              <a:buFont typeface="Rambla"/>
              <a:buNone/>
              <a:defRPr sz="4100" b="1" i="0" u="none" strike="noStrike" cap="none">
                <a:solidFill>
                  <a:schemeClr val="dk2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457200" y="5410200"/>
            <a:ext cx="4040187" cy="762000"/>
          </a:xfrm>
          <a:prstGeom prst="rect">
            <a:avLst/>
          </a:prstGeom>
          <a:solidFill>
            <a:schemeClr val="accent1"/>
          </a:solidFill>
          <a:ln w="96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240791" algn="l" rtl="0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sz="2000" b="1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237236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228600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228600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2"/>
          </p:nvPr>
        </p:nvSpPr>
        <p:spPr>
          <a:xfrm>
            <a:off x="4645026" y="5410200"/>
            <a:ext cx="4041774" cy="762000"/>
          </a:xfrm>
          <a:prstGeom prst="rect">
            <a:avLst/>
          </a:prstGeom>
          <a:solidFill>
            <a:schemeClr val="accent1"/>
          </a:solidFill>
          <a:ln w="96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240791" algn="l" rtl="0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sz="2000" b="1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237236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228600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228600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3"/>
          </p:nvPr>
        </p:nvSpPr>
        <p:spPr>
          <a:xfrm>
            <a:off x="457200" y="1444294"/>
            <a:ext cx="4040187" cy="3941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65760" marR="0" lvl="0" indent="-160528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sz="24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11379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20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12293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270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270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4"/>
          </p:nvPr>
        </p:nvSpPr>
        <p:spPr>
          <a:xfrm>
            <a:off x="4645025" y="1444294"/>
            <a:ext cx="4041774" cy="3941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65760" marR="0" lvl="0" indent="-160528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sz="24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11379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20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12293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270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270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61" name="Shape 6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Clr>
                <a:schemeClr val="lt2"/>
              </a:buClr>
              <a:buFont typeface="Rambla"/>
              <a:buNone/>
              <a:defRPr sz="4100" b="1" i="0" u="none" strike="noStrike" cap="none">
                <a:solidFill>
                  <a:schemeClr val="lt2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bg>
      <p:bgPr>
        <a:blipFill rotWithShape="1">
          <a:blip r:embed="rId2">
            <a:alphaModFix/>
          </a:blip>
          <a:tile tx="0" ty="0" sx="50000" sy="50000" flip="none" algn="tl"/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914400" y="4876800"/>
            <a:ext cx="7481775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Clr>
                <a:schemeClr val="accent1"/>
              </a:buClr>
              <a:buFont typeface="Rambla"/>
              <a:buNone/>
              <a:defRPr sz="2500" b="0" i="0" u="none" strike="noStrike" cap="none">
                <a:solidFill>
                  <a:schemeClr val="accen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4419600" y="5355101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240791" algn="l" rtl="0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237236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228600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228600" algn="l" rtl="0">
              <a:spcBef>
                <a:spcPts val="350"/>
              </a:spcBef>
              <a:buClr>
                <a:schemeClr val="accent2"/>
              </a:buClr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body" idx="2"/>
          </p:nvPr>
        </p:nvSpPr>
        <p:spPr>
          <a:xfrm>
            <a:off x="914400" y="274319"/>
            <a:ext cx="7479791" cy="457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65760" marR="0" lvl="0" indent="-12598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sz="32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6299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8483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016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016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1141232" y="5443401"/>
            <a:ext cx="7162799" cy="6482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18288" lvl="0" indent="0" algn="r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16459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12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17373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0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7145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9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7145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9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75" name="Shape 75"/>
          <p:cNvSpPr>
            <a:spLocks noGrp="1"/>
          </p:cNvSpPr>
          <p:nvPr>
            <p:ph type="pic" idx="2"/>
          </p:nvPr>
        </p:nvSpPr>
        <p:spPr>
          <a:xfrm>
            <a:off x="228600" y="189968"/>
            <a:ext cx="8686800" cy="4389119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  <a:defRPr sz="32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9474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23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10388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0795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9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143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228600" y="4865121"/>
            <a:ext cx="8075431" cy="5626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Clr>
                <a:schemeClr val="accent1"/>
              </a:buClr>
              <a:buFont typeface="Rambla"/>
              <a:buNone/>
              <a:defRPr sz="3000" b="0" i="0" u="none" strike="noStrike" cap="none">
                <a:solidFill>
                  <a:schemeClr val="accent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80" name="Shape 80"/>
          <p:cNvSpPr/>
          <p:nvPr/>
        </p:nvSpPr>
        <p:spPr>
          <a:xfrm>
            <a:off x="499272" y="5944935"/>
            <a:ext cx="4940623" cy="92107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712"/>
                </a:moveTo>
                <a:lnTo>
                  <a:pt x="119999" y="120000"/>
                </a:lnTo>
                <a:lnTo>
                  <a:pt x="89106" y="120000"/>
                </a:lnTo>
                <a:lnTo>
                  <a:pt x="16" y="0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81" name="Shape 81"/>
          <p:cNvSpPr/>
          <p:nvPr/>
        </p:nvSpPr>
        <p:spPr>
          <a:xfrm>
            <a:off x="485716" y="5939010"/>
            <a:ext cx="3690451" cy="9334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19999" y="119387"/>
                </a:lnTo>
                <a:lnTo>
                  <a:pt x="94759" y="120000"/>
                </a:lnTo>
                <a:lnTo>
                  <a:pt x="257" y="8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-6041" y="5791253"/>
            <a:ext cx="3402313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tx="0" ty="0" sx="50000" sy="50000" flip="none" algn="t"/>
          </a:blip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83" name="Shape 83"/>
          <p:cNvCxnSpPr/>
          <p:nvPr/>
        </p:nvCxnSpPr>
        <p:spPr>
          <a:xfrm>
            <a:off x="-9237" y="5787737"/>
            <a:ext cx="3405508" cy="1084383"/>
          </a:xfrm>
          <a:prstGeom prst="straightConnector1">
            <a:avLst/>
          </a:prstGeom>
          <a:noFill/>
          <a:ln w="12050" cap="flat" cmpd="sng">
            <a:solidFill>
              <a:srgbClr val="93C5D8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84" name="Shape 84"/>
          <p:cNvSpPr/>
          <p:nvPr/>
        </p:nvSpPr>
        <p:spPr>
          <a:xfrm>
            <a:off x="8664111" y="4988439"/>
            <a:ext cx="182879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25400" dir="5400000">
              <a:srgbClr val="000000">
                <a:alpha val="45882"/>
              </a:srgbClr>
            </a:outerShdw>
          </a:effectLst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85" name="Shape 85"/>
          <p:cNvSpPr/>
          <p:nvPr/>
        </p:nvSpPr>
        <p:spPr>
          <a:xfrm>
            <a:off x="8477696" y="4988439"/>
            <a:ext cx="182879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25400" dir="5400000">
              <a:srgbClr val="000000">
                <a:alpha val="45882"/>
              </a:srgbClr>
            </a:outerShdw>
          </a:effectLst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Clr>
                <a:schemeClr val="dk2"/>
              </a:buClr>
              <a:buFont typeface="Rambla"/>
              <a:buNone/>
              <a:defRPr sz="4100" b="1" i="0" u="none" strike="noStrike" cap="none">
                <a:solidFill>
                  <a:schemeClr val="dk2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 rot="5400000">
            <a:off x="2378964" y="-440435"/>
            <a:ext cx="4386070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65760" marR="0" lvl="0" indent="-14757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sz="27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9474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23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10388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0795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9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143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 rot="5400000">
            <a:off x="4936367" y="2182285"/>
            <a:ext cx="5592760" cy="17774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Clr>
                <a:schemeClr val="dk2"/>
              </a:buClr>
              <a:buFont typeface="Rambla"/>
              <a:buNone/>
              <a:defRPr sz="4100" b="1" i="0" u="none" strike="noStrike" cap="none">
                <a:solidFill>
                  <a:schemeClr val="dk2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 rot="5400000">
            <a:off x="823119" y="-91279"/>
            <a:ext cx="5592759" cy="6324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65760" marR="0" lvl="0" indent="-14757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sz="27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9474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23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10388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0795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9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143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96" name="Shape 96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/>
          <p:nvPr/>
        </p:nvSpPr>
        <p:spPr>
          <a:xfrm>
            <a:off x="499272" y="5944935"/>
            <a:ext cx="4940623" cy="92107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712"/>
                </a:moveTo>
                <a:lnTo>
                  <a:pt x="119999" y="120000"/>
                </a:lnTo>
                <a:lnTo>
                  <a:pt x="89106" y="120000"/>
                </a:lnTo>
                <a:lnTo>
                  <a:pt x="16" y="0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85716" y="5939010"/>
            <a:ext cx="3690451" cy="9334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19999" y="119387"/>
                </a:lnTo>
                <a:lnTo>
                  <a:pt x="94759" y="120000"/>
                </a:lnTo>
                <a:lnTo>
                  <a:pt x="257" y="8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8" name="Shape 8"/>
          <p:cNvSpPr/>
          <p:nvPr/>
        </p:nvSpPr>
        <p:spPr>
          <a:xfrm>
            <a:off x="-6041" y="5791253"/>
            <a:ext cx="3402313" cy="1080868"/>
          </a:xfrm>
          <a:prstGeom prst="rtTriangle">
            <a:avLst/>
          </a:prstGeom>
          <a:blipFill rotWithShape="1">
            <a:blip r:embed="rId13">
              <a:alphaModFix amt="50000"/>
            </a:blip>
            <a:tile tx="0" ty="0" sx="50000" sy="50000" flip="none" algn="t"/>
          </a:blip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9" name="Shape 9"/>
          <p:cNvCxnSpPr/>
          <p:nvPr/>
        </p:nvCxnSpPr>
        <p:spPr>
          <a:xfrm>
            <a:off x="-9237" y="5787737"/>
            <a:ext cx="3405508" cy="1084383"/>
          </a:xfrm>
          <a:prstGeom prst="straightConnector1">
            <a:avLst/>
          </a:prstGeom>
          <a:noFill/>
          <a:ln w="12050" cap="flat" cmpd="sng">
            <a:solidFill>
              <a:srgbClr val="93C5D8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Clr>
                <a:schemeClr val="dk2"/>
              </a:buClr>
              <a:buFont typeface="Rambla"/>
              <a:buNone/>
              <a:defRPr sz="4100" b="1" i="0" u="none" strike="noStrike" cap="none">
                <a:solidFill>
                  <a:schemeClr val="dk2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65760" marR="0" lvl="0" indent="-14757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Noto Sans Symbols"/>
              <a:buChar char="▶"/>
              <a:defRPr sz="27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621792" marR="0" lvl="1" indent="-94741" algn="l" rtl="0">
              <a:spcBef>
                <a:spcPts val="324"/>
              </a:spcBef>
              <a:buClr>
                <a:schemeClr val="accent1"/>
              </a:buClr>
              <a:buSzPct val="100000"/>
              <a:buFont typeface="Verdana"/>
              <a:buChar char="◦"/>
              <a:defRPr sz="23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859536" marR="0" lvl="2" indent="-103886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143000" marR="0" lvl="3" indent="-10795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9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371600" marR="0" lvl="4" indent="-114300" algn="l" rtl="0">
              <a:spcBef>
                <a:spcPts val="350"/>
              </a:spcBef>
              <a:buClr>
                <a:schemeClr val="accent2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1600200" marR="0" lvl="5" indent="-1143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1828800" marR="0" lvl="6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2057400" marR="0" lvl="7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2286000" marR="0" lvl="8" indent="-127000" algn="l" rtl="0">
              <a:spcBef>
                <a:spcPts val="350"/>
              </a:spcBef>
              <a:buClr>
                <a:schemeClr val="accent3"/>
              </a:buClr>
              <a:buSzPct val="100000"/>
              <a:buFont typeface="Noto Sans Symbols"/>
              <a:buChar char="◾"/>
              <a:defRPr sz="16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39" cy="3657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4380071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u="none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endParaRPr lang="en-US" sz="1000" b="0" u="none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ctrTitle"/>
          </p:nvPr>
        </p:nvSpPr>
        <p:spPr>
          <a:xfrm>
            <a:off x="1019542" y="2276872"/>
            <a:ext cx="7872937" cy="180019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Clr>
                <a:srgbClr val="C00000"/>
              </a:buClr>
              <a:buSzPct val="25000"/>
              <a:buFont typeface="Rambla"/>
              <a:buNone/>
            </a:pPr>
            <a:br>
              <a:rPr lang="en-US" sz="4860" b="1" i="0" u="none" strike="noStrike" cap="none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rPr>
            </a:br>
            <a:br>
              <a:rPr lang="en-US" sz="4860" b="1" i="0" u="none" strike="noStrike" cap="none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rPr>
            </a:br>
            <a:r>
              <a:rPr lang="en-US" sz="4860" b="1" i="0" u="none" strike="noStrike" cap="none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rPr>
              <a:t>USER-DEFINED METHODS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72008" y="5949280"/>
            <a:ext cx="1869422" cy="646331"/>
          </a:xfrm>
          <a:prstGeom prst="rect">
            <a:avLst/>
          </a:prstGeom>
          <a:noFill/>
          <a:ln>
            <a:noFill/>
          </a:ln>
          <a:effectLst>
            <a:outerShdw blurRad="50799" dist="38100" dir="10800000" algn="r" rotWithShape="0">
              <a:srgbClr val="000000">
                <a:alpha val="40000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3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CS 1301</a:t>
            </a:r>
          </a:p>
        </p:txBody>
      </p:sp>
      <p:sp>
        <p:nvSpPr>
          <p:cNvPr id="104" name="Shape 104"/>
          <p:cNvSpPr/>
          <p:nvPr/>
        </p:nvSpPr>
        <p:spPr>
          <a:xfrm>
            <a:off x="3131840" y="3933055"/>
            <a:ext cx="5760640" cy="122413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4000">
                <a:solidFill>
                  <a:srgbClr val="00B0F0"/>
                </a:solidFill>
                <a:latin typeface="Rambla"/>
                <a:ea typeface="Rambla"/>
                <a:cs typeface="Rambla"/>
                <a:sym typeface="Rambla"/>
              </a:rPr>
              <a:t>Identifier’s Scope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Shape 109"/>
          <p:cNvCxnSpPr/>
          <p:nvPr/>
        </p:nvCxnSpPr>
        <p:spPr>
          <a:xfrm>
            <a:off x="0" y="90872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" name="Shape 110" descr="Rectangle: Click to edit Master text styles Second level Third level Fourth level Fifth level"/>
          <p:cNvSpPr>
            <a:spLocks noGrp="1"/>
          </p:cNvSpPr>
          <p:nvPr>
            <p:ph type="body" idx="1"/>
          </p:nvPr>
        </p:nvSpPr>
        <p:spPr>
          <a:xfrm>
            <a:off x="612647" y="1052736"/>
            <a:ext cx="8153399" cy="5616623"/>
          </a:xfrm>
          <a:prstGeom prst="foldedCorner">
            <a:avLst>
              <a:gd name="adj" fmla="val 36304"/>
            </a:avLst>
          </a:prstGeom>
          <a:solidFill>
            <a:srgbClr val="D0EDF5"/>
          </a:solidFill>
          <a:ln w="9525" cap="flat" cmpd="sng">
            <a:solidFill>
              <a:srgbClr val="35385A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Definitions</a:t>
            </a: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1.1 Identifiers</a:t>
            </a: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1.2 Block</a:t>
            </a: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1.3 Local identifier</a:t>
            </a: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1.4 Identifier’s Scope</a:t>
            </a: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General Rules</a:t>
            </a: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3. Scope Rules</a:t>
            </a: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4. Example</a:t>
            </a: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" name="Shape 111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7772400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Outline</a:t>
            </a:r>
          </a:p>
        </p:txBody>
      </p:sp>
      <p:sp>
        <p:nvSpPr>
          <p:cNvPr id="112" name="Shape 112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Shape 117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1. DEFINITIONS</a:t>
            </a:r>
          </a:p>
        </p:txBody>
      </p:sp>
      <p:sp>
        <p:nvSpPr>
          <p:cNvPr id="119" name="Shape 119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3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20" name="Shape 120"/>
          <p:cNvSpPr txBox="1"/>
          <p:nvPr/>
        </p:nvSpPr>
        <p:spPr>
          <a:xfrm>
            <a:off x="323528" y="1268759"/>
            <a:ext cx="8640960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Identifier:</a:t>
            </a:r>
          </a:p>
          <a:p>
            <a:pPr marL="457200" marR="0" lvl="1" indent="0" algn="just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identifier is the name of something in Java such as the name of a constant, variable, method, class,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etc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…</a:t>
            </a:r>
          </a:p>
        </p:txBody>
      </p:sp>
      <p:sp>
        <p:nvSpPr>
          <p:cNvPr id="121" name="Shape 121"/>
          <p:cNvSpPr txBox="1"/>
          <p:nvPr/>
        </p:nvSpPr>
        <p:spPr>
          <a:xfrm>
            <a:off x="323528" y="2445856"/>
            <a:ext cx="8640960" cy="163121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Examples:</a:t>
            </a:r>
          </a:p>
          <a:p>
            <a:pPr marL="457200" marR="0" lvl="1" indent="0" algn="just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PI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ROWS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COLS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constants’ identifiers</a:t>
            </a:r>
          </a:p>
          <a:p>
            <a:pPr marL="457200" marR="0" lvl="1" indent="0" algn="just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min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studentScore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variables’ identifiers</a:t>
            </a:r>
          </a:p>
          <a:p>
            <a:pPr marL="457200" marR="0" lvl="1" indent="0" algn="just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minimum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getLetterGrade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fillArray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methods’ identifiers</a:t>
            </a:r>
          </a:p>
          <a:p>
            <a:pPr marL="457200" marR="0" lvl="1" indent="0" algn="just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StringsAsParameters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arraysAsParameters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classes’ identifiers</a:t>
            </a:r>
          </a:p>
        </p:txBody>
      </p:sp>
      <p:sp>
        <p:nvSpPr>
          <p:cNvPr id="122" name="Shape 122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1.1 IDENTIFIERS</a:t>
            </a:r>
          </a:p>
        </p:txBody>
      </p:sp>
      <p:cxnSp>
        <p:nvCxnSpPr>
          <p:cNvPr id="123" name="Shape 123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Shape 128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1. DEFINITIONS</a:t>
            </a:r>
          </a:p>
        </p:txBody>
      </p:sp>
      <p:sp>
        <p:nvSpPr>
          <p:cNvPr id="130" name="Shape 130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4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31" name="Shape 131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Block:</a:t>
            </a:r>
          </a:p>
          <a:p>
            <a:pPr marL="457200" marR="0" lvl="1" indent="0" algn="just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block is a collection of statements enclosed between braces.</a:t>
            </a:r>
          </a:p>
        </p:txBody>
      </p:sp>
      <p:sp>
        <p:nvSpPr>
          <p:cNvPr id="132" name="Shape 132"/>
          <p:cNvSpPr txBox="1"/>
          <p:nvPr/>
        </p:nvSpPr>
        <p:spPr>
          <a:xfrm>
            <a:off x="323528" y="1904638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Example:</a:t>
            </a:r>
          </a:p>
        </p:txBody>
      </p:sp>
      <p:grpSp>
        <p:nvGrpSpPr>
          <p:cNvPr id="133" name="Shape 133"/>
          <p:cNvGrpSpPr/>
          <p:nvPr/>
        </p:nvGrpSpPr>
        <p:grpSpPr>
          <a:xfrm>
            <a:off x="179512" y="2324491"/>
            <a:ext cx="8784977" cy="1600438"/>
            <a:chOff x="323528" y="1236821"/>
            <a:chExt cx="7848873" cy="1504925"/>
          </a:xfrm>
        </p:grpSpPr>
        <p:sp>
          <p:nvSpPr>
            <p:cNvPr id="134" name="Shape 134"/>
            <p:cNvSpPr txBox="1"/>
            <p:nvPr/>
          </p:nvSpPr>
          <p:spPr>
            <a:xfrm>
              <a:off x="788527" y="1236821"/>
              <a:ext cx="7383873" cy="1504925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double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score;  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char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grade = ‘X’;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score =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console.</a:t>
              </a:r>
              <a:r>
                <a:rPr lang="en-US" sz="1400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nextDouble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(score &lt; 60.0) </a:t>
              </a:r>
              <a:r>
                <a:rPr lang="en-US" sz="1400" b="1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grade = ‘F’;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(“Failed”);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b="1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}</a:t>
              </a:r>
            </a:p>
          </p:txBody>
        </p:sp>
        <p:sp>
          <p:nvSpPr>
            <p:cNvPr id="135" name="Shape 135"/>
            <p:cNvSpPr txBox="1"/>
            <p:nvPr/>
          </p:nvSpPr>
          <p:spPr>
            <a:xfrm>
              <a:off x="323528" y="1236821"/>
              <a:ext cx="450344" cy="1504925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</p:txBody>
        </p:sp>
      </p:grpSp>
      <p:sp>
        <p:nvSpPr>
          <p:cNvPr id="136" name="Shape 13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1.2 BLOCKS</a:t>
            </a:r>
          </a:p>
        </p:txBody>
      </p:sp>
      <p:cxnSp>
        <p:nvCxnSpPr>
          <p:cNvPr id="137" name="Shape 137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Shape 138"/>
          <p:cNvSpPr txBox="1"/>
          <p:nvPr/>
        </p:nvSpPr>
        <p:spPr>
          <a:xfrm>
            <a:off x="323528" y="4077071"/>
            <a:ext cx="8640960" cy="132343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More Examples:</a:t>
            </a:r>
          </a:p>
          <a:p>
            <a:pPr marL="457200" marR="0" lvl="1" indent="0" algn="just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lang="en-US" sz="2000" b="0" i="0" u="none" strike="noStrike" cap="none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method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considered a block </a:t>
            </a:r>
          </a:p>
          <a:p>
            <a:pPr marL="457200" marR="0" lvl="1" indent="0" algn="just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lang="en-US" sz="2000" b="0" i="0" u="none" strike="noStrike" cap="none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class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considered a block</a:t>
            </a:r>
          </a:p>
          <a:p>
            <a:pPr marL="457200" marR="0" lvl="1" indent="0" algn="just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lang="en-US" sz="2000" b="0" i="0" u="none" strike="noStrike" cap="none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compound statement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considered a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Shape 143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" name="Shape 144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1. DEFINITIONS</a:t>
            </a:r>
          </a:p>
        </p:txBody>
      </p:sp>
      <p:sp>
        <p:nvSpPr>
          <p:cNvPr id="145" name="Shape 145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5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46" name="Shape 146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Local Identifier:</a:t>
            </a:r>
          </a:p>
          <a:p>
            <a:pPr marL="457200" marR="0" lvl="1" indent="0" algn="just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identifier declared within a method or a block.</a:t>
            </a:r>
          </a:p>
        </p:txBody>
      </p:sp>
      <p:sp>
        <p:nvSpPr>
          <p:cNvPr id="147" name="Shape 147"/>
          <p:cNvSpPr txBox="1"/>
          <p:nvPr/>
        </p:nvSpPr>
        <p:spPr>
          <a:xfrm>
            <a:off x="323528" y="1988840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Example:</a:t>
            </a:r>
          </a:p>
        </p:txBody>
      </p:sp>
      <p:grpSp>
        <p:nvGrpSpPr>
          <p:cNvPr id="148" name="Shape 148"/>
          <p:cNvGrpSpPr/>
          <p:nvPr/>
        </p:nvGrpSpPr>
        <p:grpSpPr>
          <a:xfrm>
            <a:off x="179512" y="2408694"/>
            <a:ext cx="8784977" cy="2031325"/>
            <a:chOff x="323528" y="1236821"/>
            <a:chExt cx="7848873" cy="1910097"/>
          </a:xfrm>
        </p:grpSpPr>
        <p:sp>
          <p:nvSpPr>
            <p:cNvPr id="149" name="Shape 149"/>
            <p:cNvSpPr txBox="1"/>
            <p:nvPr/>
          </p:nvSpPr>
          <p:spPr>
            <a:xfrm>
              <a:off x="788527" y="1236821"/>
              <a:ext cx="7383873" cy="1910097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public static int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minimum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 </a:t>
              </a: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num1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,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int </a:t>
              </a: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num2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,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int </a:t>
              </a: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num3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int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=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num1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if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num2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&lt;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 </a:t>
              </a: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num2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if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num3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&lt;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num3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return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}</a:t>
              </a:r>
            </a:p>
          </p:txBody>
        </p:sp>
        <p:sp>
          <p:nvSpPr>
            <p:cNvPr id="150" name="Shape 150"/>
            <p:cNvSpPr txBox="1"/>
            <p:nvPr/>
          </p:nvSpPr>
          <p:spPr>
            <a:xfrm>
              <a:off x="323528" y="1236821"/>
              <a:ext cx="450344" cy="191009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</p:txBody>
        </p:sp>
      </p:grpSp>
      <p:sp>
        <p:nvSpPr>
          <p:cNvPr id="151" name="Shape 151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1.3 LOCAL IDENTIFIER</a:t>
            </a:r>
          </a:p>
        </p:txBody>
      </p:sp>
      <p:cxnSp>
        <p:nvCxnSpPr>
          <p:cNvPr id="152" name="Shape 152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Shape 157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1. DEFINITIONS</a:t>
            </a:r>
          </a:p>
        </p:txBody>
      </p:sp>
      <p:sp>
        <p:nvSpPr>
          <p:cNvPr id="159" name="Shape 159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6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60" name="Shape 160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Identifier’s Scope: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scope of an identifier refers to which parts of the program can see the identifier, access it and use it. 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323528" y="1828800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other words, an identifier’s scope refers to its </a:t>
            </a:r>
            <a:r>
              <a:rPr lang="en-US" sz="2000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visibility 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the program.</a:t>
            </a:r>
          </a:p>
        </p:txBody>
      </p:sp>
      <p:grpSp>
        <p:nvGrpSpPr>
          <p:cNvPr id="162" name="Shape 162"/>
          <p:cNvGrpSpPr/>
          <p:nvPr/>
        </p:nvGrpSpPr>
        <p:grpSpPr>
          <a:xfrm>
            <a:off x="179512" y="2819399"/>
            <a:ext cx="8784977" cy="2031325"/>
            <a:chOff x="323528" y="1236821"/>
            <a:chExt cx="7848873" cy="1910097"/>
          </a:xfrm>
        </p:grpSpPr>
        <p:sp>
          <p:nvSpPr>
            <p:cNvPr id="163" name="Shape 163"/>
            <p:cNvSpPr txBox="1"/>
            <p:nvPr/>
          </p:nvSpPr>
          <p:spPr>
            <a:xfrm>
              <a:off x="788527" y="1236821"/>
              <a:ext cx="7383873" cy="1910097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public static int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minimum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 </a:t>
              </a:r>
              <a:r>
                <a:rPr lang="en-US" sz="140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num1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,</a:t>
              </a: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int </a:t>
              </a:r>
              <a:r>
                <a:rPr lang="en-US" sz="140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num2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,</a:t>
              </a: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int </a:t>
              </a:r>
              <a:r>
                <a:rPr lang="en-US" sz="140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num3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int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=</a:t>
              </a: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num1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if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num2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&lt;</a:t>
              </a: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 </a:t>
              </a:r>
              <a:r>
                <a:rPr lang="en-US" sz="140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num2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if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num3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&lt;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</a:t>
              </a: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num3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return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min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}</a:t>
              </a:r>
            </a:p>
          </p:txBody>
        </p:sp>
        <p:sp>
          <p:nvSpPr>
            <p:cNvPr id="164" name="Shape 164"/>
            <p:cNvSpPr txBox="1"/>
            <p:nvPr/>
          </p:nvSpPr>
          <p:spPr>
            <a:xfrm>
              <a:off x="323528" y="1236821"/>
              <a:ext cx="450344" cy="191009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</p:txBody>
        </p:sp>
      </p:grpSp>
      <p:sp>
        <p:nvSpPr>
          <p:cNvPr id="165" name="Shape 16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1.4 IDENTIFIER’S SCOPE</a:t>
            </a:r>
          </a:p>
        </p:txBody>
      </p:sp>
      <p:cxnSp>
        <p:nvCxnSpPr>
          <p:cNvPr id="166" name="Shape 166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" name="Shape 167"/>
          <p:cNvSpPr txBox="1"/>
          <p:nvPr/>
        </p:nvSpPr>
        <p:spPr>
          <a:xfrm>
            <a:off x="323528" y="4968642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 previously explained, a local identifier of a method is not seen outside the method.</a:t>
            </a:r>
          </a:p>
        </p:txBody>
      </p:sp>
      <p:sp>
        <p:nvSpPr>
          <p:cNvPr id="168" name="Shape 168"/>
          <p:cNvSpPr txBox="1"/>
          <p:nvPr/>
        </p:nvSpPr>
        <p:spPr>
          <a:xfrm>
            <a:off x="323528" y="2438400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Example: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x="323528" y="5616714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So, we say that the </a:t>
            </a: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scope of min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the method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minimum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the above example.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Shape 174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Shape 175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2. RULE (1)</a:t>
            </a:r>
          </a:p>
        </p:txBody>
      </p:sp>
      <p:sp>
        <p:nvSpPr>
          <p:cNvPr id="176" name="Shape 176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7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77" name="Shape 177"/>
          <p:cNvSpPr txBox="1"/>
          <p:nvPr/>
        </p:nvSpPr>
        <p:spPr>
          <a:xfrm>
            <a:off x="323528" y="1196751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Java does not allow the nesting of methods.</a:t>
            </a:r>
          </a:p>
        </p:txBody>
      </p:sp>
      <p:sp>
        <p:nvSpPr>
          <p:cNvPr id="178" name="Shape 178"/>
          <p:cNvSpPr txBox="1"/>
          <p:nvPr/>
        </p:nvSpPr>
        <p:spPr>
          <a:xfrm>
            <a:off x="323528" y="1628800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other words, you cannot define a method within another one.</a:t>
            </a:r>
          </a:p>
        </p:txBody>
      </p:sp>
      <p:grpSp>
        <p:nvGrpSpPr>
          <p:cNvPr id="179" name="Shape 179"/>
          <p:cNvGrpSpPr/>
          <p:nvPr/>
        </p:nvGrpSpPr>
        <p:grpSpPr>
          <a:xfrm>
            <a:off x="179512" y="2924943"/>
            <a:ext cx="8784977" cy="2677655"/>
            <a:chOff x="323528" y="1236821"/>
            <a:chExt cx="7848873" cy="2517853"/>
          </a:xfrm>
        </p:grpSpPr>
        <p:sp>
          <p:nvSpPr>
            <p:cNvPr id="180" name="Shape 180"/>
            <p:cNvSpPr txBox="1"/>
            <p:nvPr/>
          </p:nvSpPr>
          <p:spPr>
            <a:xfrm>
              <a:off x="788527" y="1236821"/>
              <a:ext cx="7383873" cy="2517853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public static void</a:t>
              </a:r>
              <a:r>
                <a:rPr lang="en-US" sz="1400" dirty="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displayMenu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()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b="1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(“1. R for Residential”);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public static void</a:t>
              </a:r>
              <a:r>
                <a:rPr lang="en-US" sz="1400" dirty="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drawLine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()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</a:t>
              </a:r>
              <a:r>
                <a:rPr lang="en-US" sz="1400" b="1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 for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(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i=0; i &lt; 10; i++)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      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System.out.print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(</a:t>
              </a: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‘*’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 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(); 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</a:t>
              </a:r>
              <a:r>
                <a:rPr lang="en-US" sz="1400" b="1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}</a:t>
              </a:r>
              <a:r>
                <a:rPr lang="en-US" sz="1400" b="1" dirty="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//end of </a:t>
              </a:r>
              <a:r>
                <a:rPr lang="en-US" sz="1400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drawLine</a:t>
              </a:r>
              <a:endParaRPr lang="en-US" sz="1400" dirty="0">
                <a:solidFill>
                  <a:srgbClr val="00B05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(“2. C for Commercial”);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(“3. I for industrial”);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b="1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//end of </a:t>
              </a:r>
              <a:r>
                <a:rPr lang="en-US" sz="1400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displayMenu</a:t>
              </a:r>
              <a:endParaRPr lang="en-US" sz="1400" dirty="0">
                <a:solidFill>
                  <a:srgbClr val="00B050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181" name="Shape 181"/>
            <p:cNvSpPr txBox="1"/>
            <p:nvPr/>
          </p:nvSpPr>
          <p:spPr>
            <a:xfrm>
              <a:off x="323528" y="1236821"/>
              <a:ext cx="450344" cy="25178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</p:txBody>
        </p:sp>
      </p:grpSp>
      <p:sp>
        <p:nvSpPr>
          <p:cNvPr id="182" name="Shape 182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METHODS NESTING</a:t>
            </a:r>
          </a:p>
        </p:txBody>
      </p:sp>
      <p:cxnSp>
        <p:nvCxnSpPr>
          <p:cNvPr id="183" name="Shape 183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Shape 184"/>
          <p:cNvSpPr txBox="1"/>
          <p:nvPr/>
        </p:nvSpPr>
        <p:spPr>
          <a:xfrm>
            <a:off x="323528" y="2060848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However, you are allowed to call a method from another one.</a:t>
            </a:r>
          </a:p>
        </p:txBody>
      </p:sp>
      <p:sp>
        <p:nvSpPr>
          <p:cNvPr id="185" name="Shape 185"/>
          <p:cNvSpPr/>
          <p:nvPr/>
        </p:nvSpPr>
        <p:spPr>
          <a:xfrm>
            <a:off x="6172200" y="3581400"/>
            <a:ext cx="2743199" cy="1219199"/>
          </a:xfrm>
          <a:prstGeom prst="wedgeEllipseCallout">
            <a:avLst>
              <a:gd name="adj1" fmla="val -78810"/>
              <a:gd name="adj2" fmla="val 39111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 Method nesting: NOT allowed</a:t>
            </a:r>
          </a:p>
        </p:txBody>
      </p:sp>
      <p:sp>
        <p:nvSpPr>
          <p:cNvPr id="186" name="Shape 186"/>
          <p:cNvSpPr/>
          <p:nvPr/>
        </p:nvSpPr>
        <p:spPr>
          <a:xfrm>
            <a:off x="838200" y="3581400"/>
            <a:ext cx="4536504" cy="1296143"/>
          </a:xfrm>
          <a:prstGeom prst="rect">
            <a:avLst/>
          </a:prstGeom>
          <a:solidFill>
            <a:srgbClr val="FF0000">
              <a:alpha val="24705"/>
            </a:srgbClr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4800600" y="3124200"/>
            <a:ext cx="1152128" cy="88210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55000" cap="flat" cmpd="thickThin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88" name="Shape 188"/>
          <p:cNvSpPr txBox="1"/>
          <p:nvPr/>
        </p:nvSpPr>
        <p:spPr>
          <a:xfrm>
            <a:off x="323528" y="2452825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Example:</a:t>
            </a:r>
          </a:p>
        </p:txBody>
      </p:sp>
      <p:sp>
        <p:nvSpPr>
          <p:cNvPr id="189" name="Shape 189"/>
          <p:cNvSpPr txBox="1"/>
          <p:nvPr/>
        </p:nvSpPr>
        <p:spPr>
          <a:xfrm>
            <a:off x="323528" y="5693185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Instead, you may call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drawLine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from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displayMenu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Shape 194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2. RULE (2)</a:t>
            </a:r>
          </a:p>
        </p:txBody>
      </p:sp>
      <p:sp>
        <p:nvSpPr>
          <p:cNvPr id="196" name="Shape 196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8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97" name="Shape 197"/>
          <p:cNvSpPr txBox="1"/>
          <p:nvPr/>
        </p:nvSpPr>
        <p:spPr>
          <a:xfrm>
            <a:off x="323528" y="1196751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identifier must be declared before being used.</a:t>
            </a:r>
          </a:p>
        </p:txBody>
      </p:sp>
      <p:sp>
        <p:nvSpPr>
          <p:cNvPr id="198" name="Shape 198"/>
          <p:cNvSpPr txBox="1"/>
          <p:nvPr/>
        </p:nvSpPr>
        <p:spPr>
          <a:xfrm>
            <a:off x="323528" y="1568986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Identifiers may be declared anywhere within a class: outside every method definition, outside/inside a block.</a:t>
            </a:r>
          </a:p>
        </p:txBody>
      </p:sp>
      <p:sp>
        <p:nvSpPr>
          <p:cNvPr id="199" name="Shape 19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DECLARE THEN USE</a:t>
            </a:r>
          </a:p>
        </p:txBody>
      </p:sp>
      <p:cxnSp>
        <p:nvCxnSpPr>
          <p:cNvPr id="200" name="Shape 200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" name="Shape 201"/>
          <p:cNvSpPr txBox="1"/>
          <p:nvPr/>
        </p:nvSpPr>
        <p:spPr>
          <a:xfrm>
            <a:off x="323528" y="2164793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Example:</a:t>
            </a:r>
          </a:p>
        </p:txBody>
      </p:sp>
      <p:grpSp>
        <p:nvGrpSpPr>
          <p:cNvPr id="202" name="Shape 202"/>
          <p:cNvGrpSpPr/>
          <p:nvPr/>
        </p:nvGrpSpPr>
        <p:grpSpPr>
          <a:xfrm>
            <a:off x="179512" y="2627033"/>
            <a:ext cx="8784977" cy="4185762"/>
            <a:chOff x="323528" y="1236821"/>
            <a:chExt cx="7848873" cy="3935958"/>
          </a:xfrm>
        </p:grpSpPr>
        <p:sp>
          <p:nvSpPr>
            <p:cNvPr id="203" name="Shape 203"/>
            <p:cNvSpPr txBox="1"/>
            <p:nvPr/>
          </p:nvSpPr>
          <p:spPr>
            <a:xfrm>
              <a:off x="788527" y="1236821"/>
              <a:ext cx="7383873" cy="3935958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import </a:t>
              </a:r>
              <a:r>
                <a:rPr lang="en-US" sz="1400" dirty="0" err="1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java.util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.Scanner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public class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methodOneParameter</a:t>
              </a:r>
              <a:endParaRPr lang="en-US" sz="1400" dirty="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static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Scanner read = 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new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Scanner (</a:t>
              </a:r>
              <a:r>
                <a:rPr lang="en-US" sz="1400" dirty="0" err="1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System.in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public static void main(String[] </a:t>
              </a: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args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 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char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symbol;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 </a:t>
              </a:r>
              <a:r>
                <a:rPr lang="en-US" sz="1400" dirty="0" err="1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System.out.print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(“Enter the symbol that draws the line: “);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 symbol = </a:t>
              </a:r>
              <a:r>
                <a:rPr lang="en-US" sz="1400" dirty="0" err="1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next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().</a:t>
              </a:r>
              <a:r>
                <a:rPr lang="en-US" sz="1400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charAt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(0)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drawLine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(symbol);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} 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//end of main</a:t>
              </a:r>
            </a:p>
            <a:p>
              <a:pPr marL="0" marR="0" lvl="0" indent="0" algn="l" rtl="0">
                <a:spcBef>
                  <a:spcPts val="0"/>
                </a:spcBef>
                <a:buNone/>
              </a:pPr>
              <a:endParaRPr sz="1400" dirty="0">
                <a:solidFill>
                  <a:srgbClr val="00B0F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public static void</a:t>
              </a:r>
              <a:r>
                <a:rPr lang="en-US" sz="1400" dirty="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drawLine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char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 err="1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ch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 for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(int </a:t>
              </a:r>
              <a:r>
                <a:rPr lang="en-US" sz="1400" dirty="0" err="1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i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=0; </a:t>
              </a:r>
              <a:r>
                <a:rPr lang="en-US" sz="1400" dirty="0" err="1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i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&lt; 10; </a:t>
              </a:r>
              <a:r>
                <a:rPr lang="en-US" sz="1400" dirty="0" err="1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i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++)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  </a:t>
              </a:r>
              <a:r>
                <a:rPr lang="en-US" sz="1400" dirty="0" err="1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System.out.print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(</a:t>
              </a:r>
              <a:r>
                <a:rPr lang="en-US" sz="1400" dirty="0" err="1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ch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</a:t>
              </a:r>
              <a:r>
                <a:rPr lang="en-US" sz="1400" dirty="0" err="1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(); 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}</a:t>
              </a:r>
              <a:r>
                <a:rPr lang="en-US" sz="1400" b="1" dirty="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//end of </a:t>
              </a:r>
              <a:r>
                <a:rPr lang="en-US" sz="1400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drawLine</a:t>
              </a:r>
              <a:endParaRPr lang="en-US" sz="1400" dirty="0">
                <a:solidFill>
                  <a:srgbClr val="00B05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} </a:t>
              </a:r>
            </a:p>
          </p:txBody>
        </p:sp>
        <p:sp>
          <p:nvSpPr>
            <p:cNvPr id="204" name="Shape 204"/>
            <p:cNvSpPr txBox="1"/>
            <p:nvPr/>
          </p:nvSpPr>
          <p:spPr>
            <a:xfrm>
              <a:off x="323528" y="1236821"/>
              <a:ext cx="450344" cy="393595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19</a:t>
              </a:r>
            </a:p>
          </p:txBody>
        </p:sp>
      </p:grpSp>
      <p:sp>
        <p:nvSpPr>
          <p:cNvPr id="205" name="Shape 205"/>
          <p:cNvSpPr/>
          <p:nvPr/>
        </p:nvSpPr>
        <p:spPr>
          <a:xfrm>
            <a:off x="685800" y="5181600"/>
            <a:ext cx="8229600" cy="1295400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685800" y="3505200"/>
            <a:ext cx="8305799" cy="1524000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07" name="Shape 207"/>
          <p:cNvSpPr/>
          <p:nvPr/>
        </p:nvSpPr>
        <p:spPr>
          <a:xfrm>
            <a:off x="683568" y="3276600"/>
            <a:ext cx="8280919" cy="226184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// scope: from line 4 to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Shape 212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2. RULE (3)</a:t>
            </a:r>
          </a:p>
        </p:txBody>
      </p:sp>
      <p:sp>
        <p:nvSpPr>
          <p:cNvPr id="214" name="Shape 214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9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323528" y="1196751"/>
            <a:ext cx="8640960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identifier used to name a variable in the outer block of the method cannot be used to name a new variable in an inner block of the same method.</a:t>
            </a:r>
          </a:p>
        </p:txBody>
      </p:sp>
      <p:sp>
        <p:nvSpPr>
          <p:cNvPr id="216" name="Shape 2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MULTI-DECLARATION </a:t>
            </a:r>
          </a:p>
        </p:txBody>
      </p:sp>
      <p:cxnSp>
        <p:nvCxnSpPr>
          <p:cNvPr id="217" name="Shape 217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Shape 218"/>
          <p:cNvSpPr txBox="1"/>
          <p:nvPr/>
        </p:nvSpPr>
        <p:spPr>
          <a:xfrm>
            <a:off x="323528" y="2164793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Example:</a:t>
            </a:r>
          </a:p>
        </p:txBody>
      </p:sp>
      <p:grpSp>
        <p:nvGrpSpPr>
          <p:cNvPr id="219" name="Shape 219"/>
          <p:cNvGrpSpPr/>
          <p:nvPr/>
        </p:nvGrpSpPr>
        <p:grpSpPr>
          <a:xfrm>
            <a:off x="179512" y="2627033"/>
            <a:ext cx="8784977" cy="2031325"/>
            <a:chOff x="323528" y="1236821"/>
            <a:chExt cx="7848873" cy="1910097"/>
          </a:xfrm>
        </p:grpSpPr>
        <p:sp>
          <p:nvSpPr>
            <p:cNvPr id="220" name="Shape 220"/>
            <p:cNvSpPr txBox="1"/>
            <p:nvPr/>
          </p:nvSpPr>
          <p:spPr>
            <a:xfrm>
              <a:off x="788527" y="1236821"/>
              <a:ext cx="7383873" cy="1910097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public static void</a:t>
              </a:r>
              <a:r>
                <a:rPr lang="en-US" sz="140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xIllegalDeclaration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x;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// start of a block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</a:t>
              </a: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double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x;	</a:t>
              </a:r>
              <a:r>
                <a:rPr lang="en-US" sz="140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//illegal declaration: x is already declared outside the block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      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---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}</a:t>
              </a:r>
              <a:r>
                <a:rPr lang="en-US" sz="140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 end block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}</a:t>
              </a:r>
              <a:r>
                <a:rPr lang="en-US" sz="140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//end xIllegalDeclaration</a:t>
              </a:r>
            </a:p>
          </p:txBody>
        </p:sp>
        <p:sp>
          <p:nvSpPr>
            <p:cNvPr id="221" name="Shape 221"/>
            <p:cNvSpPr txBox="1"/>
            <p:nvPr/>
          </p:nvSpPr>
          <p:spPr>
            <a:xfrm>
              <a:off x="323528" y="1236821"/>
              <a:ext cx="450344" cy="191009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</p:txBody>
        </p:sp>
      </p:grpSp>
      <p:sp>
        <p:nvSpPr>
          <p:cNvPr id="222" name="Shape 222"/>
          <p:cNvSpPr/>
          <p:nvPr/>
        </p:nvSpPr>
        <p:spPr>
          <a:xfrm>
            <a:off x="683568" y="3068959"/>
            <a:ext cx="8280919" cy="226184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//scope: line 3 till 9</a:t>
            </a:r>
          </a:p>
        </p:txBody>
      </p:sp>
      <p:sp>
        <p:nvSpPr>
          <p:cNvPr id="223" name="Shape 223"/>
          <p:cNvSpPr/>
          <p:nvPr/>
        </p:nvSpPr>
        <p:spPr>
          <a:xfrm>
            <a:off x="683568" y="3501007"/>
            <a:ext cx="8280919" cy="864095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24" name="Shape 224"/>
          <p:cNvSpPr/>
          <p:nvPr/>
        </p:nvSpPr>
        <p:spPr>
          <a:xfrm>
            <a:off x="6372200" y="4005064"/>
            <a:ext cx="2619400" cy="1368151"/>
          </a:xfrm>
          <a:prstGeom prst="wedgeEllipseCallout">
            <a:avLst>
              <a:gd name="adj1" fmla="val -193716"/>
              <a:gd name="adj2" fmla="val -52048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 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Multi-declaration of </a:t>
            </a:r>
            <a:r>
              <a:rPr lang="en-US" sz="160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x</a:t>
            </a:r>
          </a:p>
        </p:txBody>
      </p:sp>
      <p:sp>
        <p:nvSpPr>
          <p:cNvPr id="225" name="Shape 225"/>
          <p:cNvSpPr/>
          <p:nvPr/>
        </p:nvSpPr>
        <p:spPr>
          <a:xfrm>
            <a:off x="683568" y="3717032"/>
            <a:ext cx="8280919" cy="226184"/>
          </a:xfrm>
          <a:prstGeom prst="rect">
            <a:avLst/>
          </a:prstGeom>
          <a:solidFill>
            <a:schemeClr val="accent2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26" name="Shape 226"/>
          <p:cNvSpPr/>
          <p:nvPr/>
        </p:nvSpPr>
        <p:spPr>
          <a:xfrm>
            <a:off x="1835696" y="3389071"/>
            <a:ext cx="1152128" cy="88210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55000" cap="flat" cmpd="thickThin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Shape 231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" name="Shape 232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2. RULE (4)</a:t>
            </a:r>
          </a:p>
        </p:txBody>
      </p:sp>
      <p:sp>
        <p:nvSpPr>
          <p:cNvPr id="233" name="Shape 233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10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34" name="Shape 234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identifier used to name a variable in a method, can be used to name another variable in another method.</a:t>
            </a:r>
          </a:p>
        </p:txBody>
      </p:sp>
      <p:sp>
        <p:nvSpPr>
          <p:cNvPr id="235" name="Shape 23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USING SAME IDENTIFIER IN DIFFERENT METHODS</a:t>
            </a:r>
          </a:p>
        </p:txBody>
      </p:sp>
      <p:cxnSp>
        <p:nvCxnSpPr>
          <p:cNvPr id="236" name="Shape 236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" name="Shape 237"/>
          <p:cNvSpPr txBox="1"/>
          <p:nvPr/>
        </p:nvSpPr>
        <p:spPr>
          <a:xfrm>
            <a:off x="323528" y="2996951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Example:</a:t>
            </a:r>
          </a:p>
        </p:txBody>
      </p:sp>
      <p:grpSp>
        <p:nvGrpSpPr>
          <p:cNvPr id="238" name="Shape 238"/>
          <p:cNvGrpSpPr/>
          <p:nvPr/>
        </p:nvGrpSpPr>
        <p:grpSpPr>
          <a:xfrm>
            <a:off x="179512" y="3325053"/>
            <a:ext cx="8784977" cy="2893100"/>
            <a:chOff x="323528" y="1236821"/>
            <a:chExt cx="7848873" cy="2720439"/>
          </a:xfrm>
        </p:grpSpPr>
        <p:sp>
          <p:nvSpPr>
            <p:cNvPr id="239" name="Shape 239"/>
            <p:cNvSpPr txBox="1"/>
            <p:nvPr/>
          </p:nvSpPr>
          <p:spPr>
            <a:xfrm>
              <a:off x="788527" y="1236821"/>
              <a:ext cx="7383873" cy="2720439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----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public static void main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String[] </a:t>
              </a: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args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x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 155;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method1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(“Inside main, x = “ +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x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); </a:t>
              </a:r>
              <a:r>
                <a:rPr lang="en-US" sz="12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//use a return statement to use the value in method1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} 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//end main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public static void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method1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x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x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= 20;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(“Inside method1, x= “ +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x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); </a:t>
              </a:r>
              <a:r>
                <a:rPr lang="en-US" sz="12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//use a parameter to use the value in main()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}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//end method1</a:t>
              </a:r>
            </a:p>
          </p:txBody>
        </p:sp>
        <p:sp>
          <p:nvSpPr>
            <p:cNvPr id="240" name="Shape 240"/>
            <p:cNvSpPr txBox="1"/>
            <p:nvPr/>
          </p:nvSpPr>
          <p:spPr>
            <a:xfrm>
              <a:off x="323528" y="1236821"/>
              <a:ext cx="450344" cy="272043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13</a:t>
              </a:r>
            </a:p>
          </p:txBody>
        </p:sp>
      </p:grpSp>
      <p:sp>
        <p:nvSpPr>
          <p:cNvPr id="241" name="Shape 241"/>
          <p:cNvSpPr/>
          <p:nvPr/>
        </p:nvSpPr>
        <p:spPr>
          <a:xfrm>
            <a:off x="323528" y="1844824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other words, you can use the same variable name in two (or more) different methods.</a:t>
            </a:r>
          </a:p>
        </p:txBody>
      </p:sp>
      <p:sp>
        <p:nvSpPr>
          <p:cNvPr id="242" name="Shape 242"/>
          <p:cNvSpPr/>
          <p:nvPr/>
        </p:nvSpPr>
        <p:spPr>
          <a:xfrm>
            <a:off x="323528" y="2433082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However, these two identifiers are represented by different addresses in the memory.</a:t>
            </a:r>
          </a:p>
        </p:txBody>
      </p:sp>
      <p:grpSp>
        <p:nvGrpSpPr>
          <p:cNvPr id="243" name="Shape 243"/>
          <p:cNvGrpSpPr/>
          <p:nvPr/>
        </p:nvGrpSpPr>
        <p:grpSpPr>
          <a:xfrm>
            <a:off x="251520" y="6165304"/>
            <a:ext cx="8712966" cy="523219"/>
            <a:chOff x="683568" y="1236821"/>
            <a:chExt cx="7488830" cy="523219"/>
          </a:xfrm>
        </p:grpSpPr>
        <p:sp>
          <p:nvSpPr>
            <p:cNvPr id="244" name="Shape 244"/>
            <p:cNvSpPr txBox="1"/>
            <p:nvPr/>
          </p:nvSpPr>
          <p:spPr>
            <a:xfrm>
              <a:off x="1069012" y="1236821"/>
              <a:ext cx="7103385" cy="523219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>
                <a:buSzPct val="25000"/>
              </a:pPr>
              <a:r>
                <a:rPr lang="en-US" sz="1400" dirty="0">
                  <a:solidFill>
                    <a:schemeClr val="lt1"/>
                  </a:solidFill>
                  <a:latin typeface="Rambla"/>
                  <a:ea typeface="Rambla"/>
                  <a:cs typeface="Rambla"/>
                  <a:sym typeface="Rambla"/>
                </a:rPr>
                <a:t>Inside method1, x = </a:t>
              </a:r>
              <a:r>
                <a:rPr lang="en-US" dirty="0">
                  <a:solidFill>
                    <a:schemeClr val="lt1"/>
                  </a:solidFill>
                  <a:latin typeface="Rambla"/>
                  <a:ea typeface="Rambla"/>
                  <a:cs typeface="Rambla"/>
                  <a:sym typeface="Rambla"/>
                </a:rPr>
                <a:t>20</a:t>
              </a:r>
            </a:p>
            <a:p>
              <a:pPr>
                <a:buSzPct val="25000"/>
              </a:pPr>
              <a:r>
                <a:rPr lang="en-US" dirty="0">
                  <a:solidFill>
                    <a:schemeClr val="lt1"/>
                  </a:solidFill>
                  <a:latin typeface="Rambla"/>
                  <a:ea typeface="Rambla"/>
                  <a:cs typeface="Rambla"/>
                  <a:sym typeface="Rambla"/>
                </a:rPr>
                <a:t>Inside main, x = 155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endParaRPr lang="en-US" sz="14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245" name="Shape 245"/>
            <p:cNvSpPr txBox="1"/>
            <p:nvPr/>
          </p:nvSpPr>
          <p:spPr>
            <a:xfrm>
              <a:off x="683568" y="1236821"/>
              <a:ext cx="216023" cy="52321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</p:txBody>
        </p:sp>
      </p:grpSp>
      <p:sp>
        <p:nvSpPr>
          <p:cNvPr id="246" name="Shape 246"/>
          <p:cNvSpPr/>
          <p:nvPr/>
        </p:nvSpPr>
        <p:spPr>
          <a:xfrm>
            <a:off x="683568" y="4426951"/>
            <a:ext cx="8280919" cy="226184"/>
          </a:xfrm>
          <a:prstGeom prst="rect">
            <a:avLst/>
          </a:prstGeom>
          <a:solidFill>
            <a:srgbClr val="1FADCC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47" name="Shape 247"/>
          <p:cNvSpPr/>
          <p:nvPr/>
        </p:nvSpPr>
        <p:spPr>
          <a:xfrm>
            <a:off x="683568" y="5723096"/>
            <a:ext cx="8280919" cy="226184"/>
          </a:xfrm>
          <a:prstGeom prst="rect">
            <a:avLst/>
          </a:prstGeom>
          <a:solidFill>
            <a:srgbClr val="1FADCC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dirty="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48" name="Shape 248"/>
          <p:cNvSpPr/>
          <p:nvPr/>
        </p:nvSpPr>
        <p:spPr>
          <a:xfrm>
            <a:off x="683568" y="3994903"/>
            <a:ext cx="8280919" cy="226184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//scope: line 4 to 7</a:t>
            </a:r>
          </a:p>
        </p:txBody>
      </p:sp>
      <p:sp>
        <p:nvSpPr>
          <p:cNvPr id="249" name="Shape 249"/>
          <p:cNvSpPr/>
          <p:nvPr/>
        </p:nvSpPr>
        <p:spPr>
          <a:xfrm>
            <a:off x="683568" y="5291048"/>
            <a:ext cx="8280919" cy="226184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//scope: line 10 to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Shape 254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Shape 255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3. SCOPE RULES</a:t>
            </a:r>
          </a:p>
        </p:txBody>
      </p:sp>
      <p:sp>
        <p:nvSpPr>
          <p:cNvPr id="256" name="Shape 256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11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57" name="Shape 257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identifier </a:t>
            </a:r>
            <a:r>
              <a:rPr lang="en-US" sz="2000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accessible only </a:t>
            </a:r>
            <a:r>
              <a:rPr lang="en-US" sz="2000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from the point of its declaration until the end of the same block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including all nested blocks.</a:t>
            </a:r>
          </a:p>
        </p:txBody>
      </p:sp>
      <p:sp>
        <p:nvSpPr>
          <p:cNvPr id="258" name="Shape 258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VISIBILITY (1)</a:t>
            </a:r>
          </a:p>
        </p:txBody>
      </p:sp>
      <p:cxnSp>
        <p:nvCxnSpPr>
          <p:cNvPr id="259" name="Shape 259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0" name="Shape 260"/>
          <p:cNvGrpSpPr/>
          <p:nvPr/>
        </p:nvGrpSpPr>
        <p:grpSpPr>
          <a:xfrm>
            <a:off x="179512" y="1980123"/>
            <a:ext cx="8784977" cy="4401205"/>
            <a:chOff x="323528" y="1236821"/>
            <a:chExt cx="7848873" cy="4138538"/>
          </a:xfrm>
        </p:grpSpPr>
        <p:sp>
          <p:nvSpPr>
            <p:cNvPr id="261" name="Shape 261"/>
            <p:cNvSpPr txBox="1"/>
            <p:nvPr/>
          </p:nvSpPr>
          <p:spPr>
            <a:xfrm>
              <a:off x="788527" y="1236821"/>
              <a:ext cx="7383873" cy="4138538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400" dirty="0">
                <a:solidFill>
                  <a:srgbClr val="00B0F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  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public static void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findMax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()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{ 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i,input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,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=-1;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for (i=0; i&lt;10; i++)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{ 					</a:t>
              </a:r>
            </a:p>
            <a:p>
              <a:pPr lvl="0">
                <a:buClr>
                  <a:schemeClr val="dk1"/>
                </a:buClr>
              </a:pP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  input  =  </a:t>
              </a:r>
              <a:r>
                <a:rPr lang="en-US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read.nextInt</a:t>
              </a: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();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} // end for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max=0;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for (i=0; i&lt;10; i++)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{ 	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input = </a:t>
              </a:r>
              <a:r>
                <a:rPr lang="en-US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read.nextInt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();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if (input &gt; max)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{ 		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   max = input;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   </a:t>
              </a:r>
              <a:r>
                <a:rPr lang="en-US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= i;     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} //end if	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}  //end for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 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System.out.printf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(“max = %d,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=%d”, max,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); 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} // end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findMax</a:t>
              </a:r>
              <a:endParaRPr lang="en-US" dirty="0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			</a:t>
              </a:r>
            </a:p>
          </p:txBody>
        </p:sp>
        <p:sp>
          <p:nvSpPr>
            <p:cNvPr id="262" name="Shape 262"/>
            <p:cNvSpPr txBox="1"/>
            <p:nvPr/>
          </p:nvSpPr>
          <p:spPr>
            <a:xfrm>
              <a:off x="323528" y="1236821"/>
              <a:ext cx="450344" cy="413853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20</a:t>
              </a:r>
            </a:p>
          </p:txBody>
        </p:sp>
      </p:grpSp>
      <p:sp>
        <p:nvSpPr>
          <p:cNvPr id="263" name="Shape 263"/>
          <p:cNvSpPr/>
          <p:nvPr/>
        </p:nvSpPr>
        <p:spPr>
          <a:xfrm>
            <a:off x="971600" y="2844218"/>
            <a:ext cx="7560839" cy="864095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64" name="Shape 264"/>
          <p:cNvSpPr/>
          <p:nvPr/>
        </p:nvSpPr>
        <p:spPr>
          <a:xfrm>
            <a:off x="1007603" y="4356384"/>
            <a:ext cx="7272809" cy="1080120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65" name="Shape 265"/>
          <p:cNvSpPr/>
          <p:nvPr/>
        </p:nvSpPr>
        <p:spPr>
          <a:xfrm>
            <a:off x="971600" y="3924339"/>
            <a:ext cx="7560839" cy="172819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66" name="Shape 266"/>
          <p:cNvSpPr/>
          <p:nvPr/>
        </p:nvSpPr>
        <p:spPr>
          <a:xfrm>
            <a:off x="827583" y="2196147"/>
            <a:ext cx="7848873" cy="396044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267" name="Shape 267"/>
          <p:cNvCxnSpPr/>
          <p:nvPr/>
        </p:nvCxnSpPr>
        <p:spPr>
          <a:xfrm>
            <a:off x="251519" y="2736207"/>
            <a:ext cx="0" cy="3240359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oval" w="lg" len="lg"/>
            <a:tailEnd type="triangle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Shape 272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3. SCOPE RULES</a:t>
            </a:r>
          </a:p>
        </p:txBody>
      </p:sp>
      <p:sp>
        <p:nvSpPr>
          <p:cNvPr id="274" name="Shape 274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12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75" name="Shape 275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the example below, you cannot use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max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before line 9 (point of declaration). </a:t>
            </a:r>
          </a:p>
        </p:txBody>
      </p:sp>
      <p:sp>
        <p:nvSpPr>
          <p:cNvPr id="276" name="Shape 27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3.1 VISIBILITY (2)</a:t>
            </a:r>
          </a:p>
        </p:txBody>
      </p:sp>
      <p:cxnSp>
        <p:nvCxnSpPr>
          <p:cNvPr id="277" name="Shape 277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8" name="Shape 278"/>
          <p:cNvGrpSpPr/>
          <p:nvPr/>
        </p:nvGrpSpPr>
        <p:grpSpPr>
          <a:xfrm>
            <a:off x="179512" y="1980123"/>
            <a:ext cx="8784977" cy="4401205"/>
            <a:chOff x="323528" y="1236821"/>
            <a:chExt cx="7848873" cy="4138538"/>
          </a:xfrm>
        </p:grpSpPr>
        <p:sp>
          <p:nvSpPr>
            <p:cNvPr id="279" name="Shape 279"/>
            <p:cNvSpPr txBox="1"/>
            <p:nvPr/>
          </p:nvSpPr>
          <p:spPr>
            <a:xfrm>
              <a:off x="788527" y="1236821"/>
              <a:ext cx="7383873" cy="4138538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400" dirty="0">
                <a:solidFill>
                  <a:srgbClr val="00B0F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  </a:t>
              </a: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public static void </a:t>
              </a:r>
              <a:r>
                <a:rPr lang="en-US" sz="1400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findMax</a:t>
              </a: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()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{ 				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 int </a:t>
              </a:r>
              <a:r>
                <a:rPr lang="en-US" sz="1400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i,input</a:t>
              </a: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, </a:t>
              </a:r>
              <a:r>
                <a:rPr lang="en-US" sz="1400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=-1;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for (i=0; i&lt;</a:t>
              </a: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; i++)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{ 					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  input  =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read.nextInt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();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} // end for				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 int max=0;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for (i=0; i&lt;</a:t>
              </a:r>
              <a:r>
                <a:rPr lang="en-US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 i++)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{ 					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input = </a:t>
              </a:r>
              <a:r>
                <a:rPr lang="en-US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read.nextInt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();</a:t>
              </a:r>
            </a:p>
            <a:p>
              <a:pPr marL="0" marR="0" lvl="0" indent="0" algn="l" rtl="0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if (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input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&gt; max)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{ 						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   max = 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input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   </a:t>
              </a:r>
              <a:r>
                <a:rPr lang="en-US" sz="1400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= i;     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} //end if					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}  //end for				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  </a:t>
              </a:r>
              <a:r>
                <a:rPr lang="en-US" sz="1400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System.out.printf</a:t>
              </a: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(“max = %d, </a:t>
              </a:r>
              <a:r>
                <a:rPr lang="en-US" sz="1400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=%d”, max, </a:t>
              </a:r>
              <a:r>
                <a:rPr lang="en-US" sz="1400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); 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} // end </a:t>
              </a:r>
              <a:r>
                <a:rPr lang="en-US" sz="1400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findMax</a:t>
              </a:r>
              <a:endParaRPr lang="en-US" sz="1400" dirty="0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			</a:t>
              </a:r>
            </a:p>
          </p:txBody>
        </p:sp>
        <p:sp>
          <p:nvSpPr>
            <p:cNvPr id="280" name="Shape 280"/>
            <p:cNvSpPr txBox="1"/>
            <p:nvPr/>
          </p:nvSpPr>
          <p:spPr>
            <a:xfrm>
              <a:off x="323528" y="1236821"/>
              <a:ext cx="450344" cy="413853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20</a:t>
              </a:r>
            </a:p>
          </p:txBody>
        </p:sp>
      </p:grpSp>
      <p:cxnSp>
        <p:nvCxnSpPr>
          <p:cNvPr id="281" name="Shape 281"/>
          <p:cNvCxnSpPr/>
          <p:nvPr/>
        </p:nvCxnSpPr>
        <p:spPr>
          <a:xfrm>
            <a:off x="251519" y="3917991"/>
            <a:ext cx="0" cy="2103296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oval" w="lg" len="lg"/>
            <a:tailEnd type="triangle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Shape 286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7" name="Shape 287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3. SCOPE RULES</a:t>
            </a:r>
          </a:p>
        </p:txBody>
      </p:sp>
      <p:sp>
        <p:nvSpPr>
          <p:cNvPr id="288" name="Shape 288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13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89" name="Shape 289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scope of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maxIndex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from line 15 (point of declaration) till the end of the block in which it is declared (line 16).</a:t>
            </a:r>
          </a:p>
        </p:txBody>
      </p:sp>
      <p:sp>
        <p:nvSpPr>
          <p:cNvPr id="290" name="Shape 29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3.1 VISIBILITY (3)</a:t>
            </a:r>
          </a:p>
        </p:txBody>
      </p:sp>
      <p:cxnSp>
        <p:nvCxnSpPr>
          <p:cNvPr id="291" name="Shape 291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92" name="Shape 292"/>
          <p:cNvGrpSpPr/>
          <p:nvPr/>
        </p:nvGrpSpPr>
        <p:grpSpPr>
          <a:xfrm>
            <a:off x="179512" y="1980123"/>
            <a:ext cx="8784977" cy="4401205"/>
            <a:chOff x="323528" y="1236821"/>
            <a:chExt cx="7848873" cy="4138538"/>
          </a:xfrm>
        </p:grpSpPr>
        <p:sp>
          <p:nvSpPr>
            <p:cNvPr id="293" name="Shape 293"/>
            <p:cNvSpPr txBox="1"/>
            <p:nvPr/>
          </p:nvSpPr>
          <p:spPr>
            <a:xfrm>
              <a:off x="788527" y="1236821"/>
              <a:ext cx="7383873" cy="4138538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public static void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findMax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()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{ 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i,input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for (i=0; i&lt;10; i++)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{ 	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  input  = </a:t>
              </a:r>
              <a:r>
                <a:rPr lang="en-US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read.nextInt</a:t>
              </a: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();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} // end for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max=0;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for (i=0; i&lt;10; i++)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{ 	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input = </a:t>
              </a:r>
              <a:r>
                <a:rPr lang="en-US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read.nextInt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();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if (input &gt; max)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{ 		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   max = input;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   </a:t>
              </a:r>
              <a:r>
                <a:rPr lang="en-US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= i;     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     } //end if	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}  //end for				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 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System.out.printf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(“max = %d,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=%d”, max,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); 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Font typeface="Arial"/>
                <a:buNone/>
              </a:pPr>
              <a:r>
                <a: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} // end </a:t>
              </a:r>
              <a:r>
                <a:rPr lang="en-US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findMax</a:t>
              </a:r>
              <a:endParaRPr lang="en-US" dirty="0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			</a:t>
              </a:r>
            </a:p>
          </p:txBody>
        </p:sp>
        <p:sp>
          <p:nvSpPr>
            <p:cNvPr id="294" name="Shape 294"/>
            <p:cNvSpPr txBox="1"/>
            <p:nvPr/>
          </p:nvSpPr>
          <p:spPr>
            <a:xfrm>
              <a:off x="323528" y="1236821"/>
              <a:ext cx="450344" cy="413853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20</a:t>
              </a:r>
            </a:p>
          </p:txBody>
        </p:sp>
      </p:grpSp>
      <p:cxnSp>
        <p:nvCxnSpPr>
          <p:cNvPr id="295" name="Shape 295"/>
          <p:cNvCxnSpPr/>
          <p:nvPr/>
        </p:nvCxnSpPr>
        <p:spPr>
          <a:xfrm>
            <a:off x="251519" y="5116107"/>
            <a:ext cx="0" cy="257107"/>
          </a:xfrm>
          <a:prstGeom prst="straightConnector1">
            <a:avLst/>
          </a:prstGeom>
          <a:noFill/>
          <a:ln w="28575" cap="flat" cmpd="sng">
            <a:solidFill>
              <a:srgbClr val="00B050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296" name="Shape 296"/>
          <p:cNvSpPr/>
          <p:nvPr/>
        </p:nvSpPr>
        <p:spPr>
          <a:xfrm>
            <a:off x="683568" y="5003016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dirty="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97" name="Shape 297"/>
          <p:cNvSpPr/>
          <p:nvPr/>
        </p:nvSpPr>
        <p:spPr>
          <a:xfrm>
            <a:off x="683568" y="5651087"/>
            <a:ext cx="8280900" cy="226200"/>
          </a:xfrm>
          <a:prstGeom prst="rect">
            <a:avLst/>
          </a:prstGeom>
          <a:solidFill>
            <a:schemeClr val="accent2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dirty="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98" name="Shape 298"/>
          <p:cNvSpPr/>
          <p:nvPr/>
        </p:nvSpPr>
        <p:spPr>
          <a:xfrm>
            <a:off x="6660232" y="5301207"/>
            <a:ext cx="1152128" cy="88210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55000" cap="flat" cmpd="thickThin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299" name="Shape 299"/>
          <p:cNvSpPr/>
          <p:nvPr/>
        </p:nvSpPr>
        <p:spPr>
          <a:xfrm>
            <a:off x="6372200" y="4005064"/>
            <a:ext cx="2448271" cy="1368151"/>
          </a:xfrm>
          <a:prstGeom prst="wedgeEllipseCallout">
            <a:avLst>
              <a:gd name="adj1" fmla="val -74644"/>
              <a:gd name="adj2" fmla="val 69710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 cannot find symbol 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(</a:t>
            </a:r>
            <a:r>
              <a:rPr lang="en-US" sz="160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maxIndex</a:t>
            </a: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 out of scope)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" name="Shape 304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Shape 305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3. SCOPE RULES</a:t>
            </a:r>
          </a:p>
        </p:txBody>
      </p:sp>
      <p:sp>
        <p:nvSpPr>
          <p:cNvPr id="306" name="Shape 306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14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07" name="Shape 307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this example, the scope of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starts at line 5 and ends with the end of block in which it is declared (line 8).</a:t>
            </a:r>
          </a:p>
        </p:txBody>
      </p:sp>
      <p:sp>
        <p:nvSpPr>
          <p:cNvPr id="308" name="Shape 308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3.1 VISIBILITY (4)</a:t>
            </a:r>
          </a:p>
        </p:txBody>
      </p:sp>
      <p:cxnSp>
        <p:nvCxnSpPr>
          <p:cNvPr id="309" name="Shape 309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0" name="Shape 310"/>
          <p:cNvGrpSpPr/>
          <p:nvPr/>
        </p:nvGrpSpPr>
        <p:grpSpPr>
          <a:xfrm>
            <a:off x="168035" y="1979084"/>
            <a:ext cx="8785007" cy="4401205"/>
            <a:chOff x="179512" y="1980123"/>
            <a:chExt cx="8785007" cy="4401205"/>
          </a:xfrm>
        </p:grpSpPr>
        <p:grpSp>
          <p:nvGrpSpPr>
            <p:cNvPr id="311" name="Shape 311"/>
            <p:cNvGrpSpPr/>
            <p:nvPr/>
          </p:nvGrpSpPr>
          <p:grpSpPr>
            <a:xfrm>
              <a:off x="179512" y="1980123"/>
              <a:ext cx="8785007" cy="4401205"/>
              <a:chOff x="323528" y="1236821"/>
              <a:chExt cx="7848899" cy="4138538"/>
            </a:xfrm>
          </p:grpSpPr>
          <p:sp>
            <p:nvSpPr>
              <p:cNvPr id="312" name="Shape 312"/>
              <p:cNvSpPr txBox="1"/>
              <p:nvPr/>
            </p:nvSpPr>
            <p:spPr>
              <a:xfrm>
                <a:off x="788527" y="1236821"/>
                <a:ext cx="7383900" cy="4138500"/>
              </a:xfrm>
              <a:prstGeom prst="rect">
                <a:avLst/>
              </a:prstGeom>
              <a:solidFill>
                <a:schemeClr val="lt2"/>
              </a:solidFill>
              <a:ln w="28575" cap="rnd" cmpd="thickThin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400" dirty="0">
                    <a:solidFill>
                      <a:srgbClr val="FF33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</a:t>
                </a:r>
                <a:r>
                  <a:rPr lang="en-US" dirty="0">
                    <a:solidFill>
                      <a:srgbClr val="FF33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public static void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findMax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()</a:t>
                </a:r>
              </a:p>
              <a:p>
                <a:pPr lvl="0">
                  <a:buClr>
                    <a:schemeClr val="dk1"/>
                  </a:buClr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{  			</a:t>
                </a:r>
              </a:p>
              <a:p>
                <a:pPr lvl="0">
                  <a:buClr>
                    <a:schemeClr val="dk1"/>
                  </a:buClr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input ,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maxIndex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;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</a:t>
                </a:r>
                <a:r>
                  <a:rPr lang="en-US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for (</a:t>
                </a:r>
                <a:r>
                  <a:rPr lang="en-US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i=0; i&lt;10; i++)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{ 					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input  = </a:t>
                </a:r>
                <a:r>
                  <a:rPr lang="en-US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read.nextInt</a:t>
                </a:r>
                <a:r>
                  <a:rPr lang="en-US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();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} // end for				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max;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</a:t>
                </a:r>
                <a:r>
                  <a:rPr lang="en-US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for (i=0; i&lt;10; i++)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{ 					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</a:t>
                </a: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input = </a:t>
                </a:r>
                <a:r>
                  <a:rPr lang="en-US" dirty="0" err="1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read.nextInt</a:t>
                </a: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();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if (input &gt; max)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 { 						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    max = input;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    </a:t>
                </a:r>
                <a:r>
                  <a:rPr lang="en-US" dirty="0" err="1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maxIndex</a:t>
                </a: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= i;     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 } //end if					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}  //end for				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System.out.printf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(“max = %d,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maxIndex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=%d”, max,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maxIndex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); 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} // end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findMax</a:t>
                </a:r>
                <a:endPara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400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			</a:t>
                </a:r>
              </a:p>
            </p:txBody>
          </p:sp>
          <p:sp>
            <p:nvSpPr>
              <p:cNvPr id="313" name="Shape 313"/>
              <p:cNvSpPr txBox="1"/>
              <p:nvPr/>
            </p:nvSpPr>
            <p:spPr>
              <a:xfrm>
                <a:off x="323528" y="1236821"/>
                <a:ext cx="450344" cy="4138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20</a:t>
                </a:r>
              </a:p>
            </p:txBody>
          </p:sp>
        </p:grpSp>
        <p:sp>
          <p:nvSpPr>
            <p:cNvPr id="314" name="Shape 314"/>
            <p:cNvSpPr/>
            <p:nvPr/>
          </p:nvSpPr>
          <p:spPr>
            <a:xfrm>
              <a:off x="971600" y="2844218"/>
              <a:ext cx="7560839" cy="864095"/>
            </a:xfrm>
            <a:prstGeom prst="rect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315" name="Shape 315"/>
            <p:cNvSpPr/>
            <p:nvPr/>
          </p:nvSpPr>
          <p:spPr>
            <a:xfrm>
              <a:off x="1019080" y="4584130"/>
              <a:ext cx="7272809" cy="1080120"/>
            </a:xfrm>
            <a:prstGeom prst="rect">
              <a:avLst/>
            </a:prstGeom>
            <a:noFill/>
            <a:ln w="19050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316" name="Shape 316"/>
            <p:cNvSpPr/>
            <p:nvPr/>
          </p:nvSpPr>
          <p:spPr>
            <a:xfrm>
              <a:off x="971600" y="3924339"/>
              <a:ext cx="7560839" cy="1728191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</p:grpSp>
      <p:cxnSp>
        <p:nvCxnSpPr>
          <p:cNvPr id="317" name="Shape 317"/>
          <p:cNvCxnSpPr/>
          <p:nvPr/>
        </p:nvCxnSpPr>
        <p:spPr>
          <a:xfrm>
            <a:off x="251519" y="2966027"/>
            <a:ext cx="0" cy="678995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318" name="Shape 318"/>
          <p:cNvSpPr/>
          <p:nvPr/>
        </p:nvSpPr>
        <p:spPr>
          <a:xfrm>
            <a:off x="683568" y="2852935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19" name="Shape 319"/>
          <p:cNvSpPr/>
          <p:nvPr/>
        </p:nvSpPr>
        <p:spPr>
          <a:xfrm>
            <a:off x="960123" y="4309205"/>
            <a:ext cx="8280919" cy="1326712"/>
          </a:xfrm>
          <a:prstGeom prst="rect">
            <a:avLst/>
          </a:prstGeom>
          <a:solidFill>
            <a:schemeClr val="accent2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20" name="Shape 320"/>
          <p:cNvSpPr/>
          <p:nvPr/>
        </p:nvSpPr>
        <p:spPr>
          <a:xfrm>
            <a:off x="3779912" y="4377662"/>
            <a:ext cx="1152128" cy="88210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55000" cap="flat" cmpd="thickThin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21" name="Shape 321"/>
          <p:cNvSpPr/>
          <p:nvPr/>
        </p:nvSpPr>
        <p:spPr>
          <a:xfrm>
            <a:off x="6372200" y="4005064"/>
            <a:ext cx="2448271" cy="1368151"/>
          </a:xfrm>
          <a:prstGeom prst="wedgeEllipseCallout">
            <a:avLst>
              <a:gd name="adj1" fmla="val -112363"/>
              <a:gd name="adj2" fmla="val -33520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Cannot find symbol 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(</a:t>
            </a:r>
            <a:r>
              <a:rPr lang="en-US" sz="160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i</a:t>
            </a: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 out of scope)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Shape 326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Shape 327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3. SCOPE RULES</a:t>
            </a:r>
          </a:p>
        </p:txBody>
      </p:sp>
      <p:sp>
        <p:nvSpPr>
          <p:cNvPr id="328" name="Shape 328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15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29" name="Shape 329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lang="en-US" sz="2000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for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statement with a single statement is considered a block. Therefore, the scope of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from line 5 to 6.</a:t>
            </a:r>
          </a:p>
        </p:txBody>
      </p:sp>
      <p:sp>
        <p:nvSpPr>
          <p:cNvPr id="330" name="Shape 33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3.1 VISIBILITY (5)</a:t>
            </a:r>
          </a:p>
        </p:txBody>
      </p:sp>
      <p:cxnSp>
        <p:nvCxnSpPr>
          <p:cNvPr id="331" name="Shape 331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2" name="Shape 332"/>
          <p:cNvGrpSpPr/>
          <p:nvPr/>
        </p:nvGrpSpPr>
        <p:grpSpPr>
          <a:xfrm>
            <a:off x="179512" y="1980123"/>
            <a:ext cx="8784977" cy="4401205"/>
            <a:chOff x="179512" y="1980123"/>
            <a:chExt cx="8784977" cy="4401205"/>
          </a:xfrm>
        </p:grpSpPr>
        <p:grpSp>
          <p:nvGrpSpPr>
            <p:cNvPr id="333" name="Shape 333"/>
            <p:cNvGrpSpPr/>
            <p:nvPr/>
          </p:nvGrpSpPr>
          <p:grpSpPr>
            <a:xfrm>
              <a:off x="179512" y="1980123"/>
              <a:ext cx="8784977" cy="4401205"/>
              <a:chOff x="323528" y="1236821"/>
              <a:chExt cx="7848873" cy="4138538"/>
            </a:xfrm>
          </p:grpSpPr>
          <p:sp>
            <p:nvSpPr>
              <p:cNvPr id="334" name="Shape 334"/>
              <p:cNvSpPr txBox="1"/>
              <p:nvPr/>
            </p:nvSpPr>
            <p:spPr>
              <a:xfrm>
                <a:off x="788527" y="1236821"/>
                <a:ext cx="7383873" cy="4138538"/>
              </a:xfrm>
              <a:prstGeom prst="rect">
                <a:avLst/>
              </a:prstGeom>
              <a:solidFill>
                <a:schemeClr val="lt2"/>
              </a:solidFill>
              <a:ln w="28575" cap="rnd" cmpd="thickThin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400" dirty="0">
                    <a:solidFill>
                      <a:srgbClr val="FF33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</a:t>
                </a:r>
                <a:r>
                  <a:rPr lang="en-US" dirty="0">
                    <a:solidFill>
                      <a:srgbClr val="FF33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public static void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findMax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()</a:t>
                </a:r>
              </a:p>
              <a:p>
                <a:pPr lvl="0">
                  <a:buClr>
                    <a:schemeClr val="dk1"/>
                  </a:buClr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{    </a:t>
                </a:r>
              </a:p>
              <a:p>
                <a:pPr lvl="0">
                  <a:buClr>
                    <a:schemeClr val="dk1"/>
                  </a:buClr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input ,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maxIndex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;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</a:t>
                </a:r>
                <a:r>
                  <a:rPr lang="en-US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for (</a:t>
                </a:r>
                <a:r>
                  <a:rPr lang="en-US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i=0; i&lt;10; i++)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input  = </a:t>
                </a:r>
                <a:r>
                  <a:rPr lang="en-US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read.nextInt</a:t>
                </a:r>
                <a:r>
                  <a:rPr lang="en-US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();			</a:t>
                </a:r>
              </a:p>
              <a:p>
                <a:pPr lvl="0" rtl="0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max;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</a:t>
                </a:r>
                <a:r>
                  <a:rPr lang="en-US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for (i=0; i&lt;10; i++)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{ 					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</a:t>
                </a: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input = </a:t>
                </a:r>
                <a:r>
                  <a:rPr lang="en-US" dirty="0" err="1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read.nextInt</a:t>
                </a: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();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if (input &gt; max)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 { 						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    max = input;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    </a:t>
                </a:r>
                <a:r>
                  <a:rPr lang="en-US" dirty="0" err="1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maxIndex</a:t>
                </a: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= i;     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 } //end if					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}  //end for				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System.out.printf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(“max = %d,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maxIndex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=%d”, max,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maxIndex</a:t>
                </a: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); </a:t>
                </a:r>
              </a:p>
              <a:p>
                <a:pPr lvl="0" rtl="0">
                  <a:spcBef>
                    <a:spcPts val="0"/>
                  </a:spcBef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} // end </a:t>
                </a:r>
                <a:r>
                  <a:rPr lang="en-US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findMax</a:t>
                </a:r>
                <a:endParaRPr lang="en-US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</p:txBody>
          </p:sp>
          <p:sp>
            <p:nvSpPr>
              <p:cNvPr id="335" name="Shape 335"/>
              <p:cNvSpPr txBox="1"/>
              <p:nvPr/>
            </p:nvSpPr>
            <p:spPr>
              <a:xfrm>
                <a:off x="323528" y="1236821"/>
                <a:ext cx="450344" cy="4138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4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20</a:t>
                </a:r>
              </a:p>
            </p:txBody>
          </p:sp>
        </p:grpSp>
        <p:sp>
          <p:nvSpPr>
            <p:cNvPr id="336" name="Shape 336"/>
            <p:cNvSpPr/>
            <p:nvPr/>
          </p:nvSpPr>
          <p:spPr>
            <a:xfrm>
              <a:off x="971600" y="2844218"/>
              <a:ext cx="7560839" cy="584781"/>
            </a:xfrm>
            <a:prstGeom prst="rect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337" name="Shape 337"/>
            <p:cNvSpPr/>
            <p:nvPr/>
          </p:nvSpPr>
          <p:spPr>
            <a:xfrm>
              <a:off x="1115615" y="4356387"/>
              <a:ext cx="7272809" cy="1080120"/>
            </a:xfrm>
            <a:prstGeom prst="rect">
              <a:avLst/>
            </a:prstGeom>
            <a:noFill/>
            <a:ln w="19050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338" name="Shape 338"/>
            <p:cNvSpPr/>
            <p:nvPr/>
          </p:nvSpPr>
          <p:spPr>
            <a:xfrm>
              <a:off x="971600" y="3924339"/>
              <a:ext cx="7560839" cy="1728191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</p:grpSp>
      <p:cxnSp>
        <p:nvCxnSpPr>
          <p:cNvPr id="339" name="Shape 339"/>
          <p:cNvCxnSpPr/>
          <p:nvPr/>
        </p:nvCxnSpPr>
        <p:spPr>
          <a:xfrm>
            <a:off x="251519" y="2966027"/>
            <a:ext cx="0" cy="246947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340" name="Shape 340"/>
          <p:cNvSpPr/>
          <p:nvPr/>
        </p:nvSpPr>
        <p:spPr>
          <a:xfrm>
            <a:off x="791580" y="2883859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41" name="Shape 341"/>
          <p:cNvSpPr/>
          <p:nvPr/>
        </p:nvSpPr>
        <p:spPr>
          <a:xfrm>
            <a:off x="971600" y="4233091"/>
            <a:ext cx="8280919" cy="1326712"/>
          </a:xfrm>
          <a:prstGeom prst="rect">
            <a:avLst/>
          </a:prstGeom>
          <a:solidFill>
            <a:schemeClr val="accent2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42" name="Shape 342"/>
          <p:cNvSpPr/>
          <p:nvPr/>
        </p:nvSpPr>
        <p:spPr>
          <a:xfrm>
            <a:off x="3779912" y="4377662"/>
            <a:ext cx="1152128" cy="88210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55000" cap="flat" cmpd="thickThin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43" name="Shape 343"/>
          <p:cNvSpPr/>
          <p:nvPr/>
        </p:nvSpPr>
        <p:spPr>
          <a:xfrm>
            <a:off x="6372200" y="4005064"/>
            <a:ext cx="2448271" cy="1368151"/>
          </a:xfrm>
          <a:prstGeom prst="wedgeEllipseCallout">
            <a:avLst>
              <a:gd name="adj1" fmla="val -112363"/>
              <a:gd name="adj2" fmla="val -33520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 cannot find symbol 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(</a:t>
            </a:r>
            <a:r>
              <a:rPr lang="en-US" sz="160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i</a:t>
            </a: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 out of scope)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" name="Shape 348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" name="Shape 349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3. SCOPE RULES</a:t>
            </a:r>
          </a:p>
        </p:txBody>
      </p:sp>
      <p:sp>
        <p:nvSpPr>
          <p:cNvPr id="350" name="Shape 350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16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51" name="Shape 351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000" marR="0" lvl="1" indent="-3420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lang="en-US" sz="2000" b="0" i="0" u="none" strike="noStrike" cap="none" dirty="0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for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statement is considered to be a block, even if it consisted of a single statement.</a:t>
            </a:r>
          </a:p>
        </p:txBody>
      </p:sp>
      <p:sp>
        <p:nvSpPr>
          <p:cNvPr id="352" name="Shape 352"/>
          <p:cNvSpPr txBox="1"/>
          <p:nvPr/>
        </p:nvSpPr>
        <p:spPr>
          <a:xfrm>
            <a:off x="323528" y="2164793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Example:</a:t>
            </a:r>
          </a:p>
        </p:txBody>
      </p:sp>
      <p:grpSp>
        <p:nvGrpSpPr>
          <p:cNvPr id="353" name="Shape 353"/>
          <p:cNvGrpSpPr/>
          <p:nvPr/>
        </p:nvGrpSpPr>
        <p:grpSpPr>
          <a:xfrm>
            <a:off x="179512" y="2564903"/>
            <a:ext cx="8784977" cy="2893100"/>
            <a:chOff x="323528" y="1236821"/>
            <a:chExt cx="7848873" cy="2720438"/>
          </a:xfrm>
        </p:grpSpPr>
        <p:sp>
          <p:nvSpPr>
            <p:cNvPr id="354" name="Shape 354"/>
            <p:cNvSpPr txBox="1"/>
            <p:nvPr/>
          </p:nvSpPr>
          <p:spPr>
            <a:xfrm>
              <a:off x="788527" y="1236821"/>
              <a:ext cx="7383873" cy="2720438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public static void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method1()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i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, 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 0,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size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 100;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 block 1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for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i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= 0;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i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&lt;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size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i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++)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++;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(“Last value of i= “ +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i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); </a:t>
              </a:r>
            </a:p>
            <a:p>
              <a:pPr marL="0" marR="0" lvl="0" indent="0" algn="l" rtl="0">
                <a:spcBef>
                  <a:spcPts val="0"/>
                </a:spcBef>
                <a:buNone/>
              </a:pPr>
              <a:endParaRPr sz="1400" dirty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 block 2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for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(</a:t>
              </a: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count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 0;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count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&lt;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size; count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++)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maxIndex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count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(“Last value of count= “ +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count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//end </a:t>
              </a:r>
              <a:r>
                <a:rPr lang="en-US" sz="1400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ayKalam</a:t>
              </a:r>
              <a:endParaRPr lang="en-US" sz="1400" dirty="0">
                <a:solidFill>
                  <a:srgbClr val="00B050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355" name="Shape 355"/>
            <p:cNvSpPr txBox="1"/>
            <p:nvPr/>
          </p:nvSpPr>
          <p:spPr>
            <a:xfrm>
              <a:off x="323528" y="1236821"/>
              <a:ext cx="450344" cy="272043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13</a:t>
              </a:r>
            </a:p>
          </p:txBody>
        </p:sp>
      </p:grpSp>
      <p:sp>
        <p:nvSpPr>
          <p:cNvPr id="356" name="Shape 35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3.1 VISIBILITY (6)</a:t>
            </a:r>
          </a:p>
        </p:txBody>
      </p:sp>
      <p:cxnSp>
        <p:nvCxnSpPr>
          <p:cNvPr id="357" name="Shape 357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8" name="Shape 358"/>
          <p:cNvSpPr/>
          <p:nvPr/>
        </p:nvSpPr>
        <p:spPr>
          <a:xfrm>
            <a:off x="691770" y="3212975"/>
            <a:ext cx="8280919" cy="648071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59" name="Shape 359"/>
          <p:cNvSpPr/>
          <p:nvPr/>
        </p:nvSpPr>
        <p:spPr>
          <a:xfrm>
            <a:off x="683568" y="4293096"/>
            <a:ext cx="8280919" cy="648071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60" name="Shape 360"/>
          <p:cNvSpPr/>
          <p:nvPr/>
        </p:nvSpPr>
        <p:spPr>
          <a:xfrm>
            <a:off x="683568" y="2996951"/>
            <a:ext cx="8280919" cy="216023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//SCOPE : line 3 to line 13</a:t>
            </a:r>
          </a:p>
        </p:txBody>
      </p:sp>
      <p:sp>
        <p:nvSpPr>
          <p:cNvPr id="361" name="Shape 361"/>
          <p:cNvSpPr/>
          <p:nvPr/>
        </p:nvSpPr>
        <p:spPr>
          <a:xfrm>
            <a:off x="683568" y="4509119"/>
            <a:ext cx="8280919" cy="216023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//SCOPE of </a:t>
            </a:r>
            <a:r>
              <a:rPr lang="en-US" sz="1800" b="1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count</a:t>
            </a: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: line 10 to line 11</a:t>
            </a:r>
          </a:p>
        </p:txBody>
      </p:sp>
      <p:sp>
        <p:nvSpPr>
          <p:cNvPr id="362" name="Shape 362"/>
          <p:cNvSpPr/>
          <p:nvPr/>
        </p:nvSpPr>
        <p:spPr>
          <a:xfrm>
            <a:off x="6372200" y="4941167"/>
            <a:ext cx="2448271" cy="1368151"/>
          </a:xfrm>
          <a:prstGeom prst="wedgeEllipseCallout">
            <a:avLst>
              <a:gd name="adj1" fmla="val -95352"/>
              <a:gd name="adj2" fmla="val -40138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 cannot find symbol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(</a:t>
            </a:r>
            <a:r>
              <a:rPr lang="en-US" sz="1600" dirty="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count</a:t>
            </a: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 out of scope)</a:t>
            </a:r>
          </a:p>
        </p:txBody>
      </p:sp>
      <p:sp>
        <p:nvSpPr>
          <p:cNvPr id="363" name="Shape 363"/>
          <p:cNvSpPr/>
          <p:nvPr/>
        </p:nvSpPr>
        <p:spPr>
          <a:xfrm>
            <a:off x="4247962" y="5075232"/>
            <a:ext cx="1152128" cy="88210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55000" cap="flat" cmpd="thickThin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64" name="Shape 364"/>
          <p:cNvSpPr/>
          <p:nvPr/>
        </p:nvSpPr>
        <p:spPr>
          <a:xfrm>
            <a:off x="683568" y="4941167"/>
            <a:ext cx="8280919" cy="216023"/>
          </a:xfrm>
          <a:prstGeom prst="rect">
            <a:avLst/>
          </a:prstGeom>
          <a:solidFill>
            <a:srgbClr val="FF0000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endParaRPr sz="1800" b="1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365" name="Shape 365"/>
          <p:cNvCxnSpPr/>
          <p:nvPr/>
        </p:nvCxnSpPr>
        <p:spPr>
          <a:xfrm>
            <a:off x="179511" y="2924943"/>
            <a:ext cx="216023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366" name="Shape 366"/>
          <p:cNvCxnSpPr/>
          <p:nvPr/>
        </p:nvCxnSpPr>
        <p:spPr>
          <a:xfrm>
            <a:off x="179511" y="2924943"/>
            <a:ext cx="0" cy="237626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Shape 367"/>
          <p:cNvCxnSpPr/>
          <p:nvPr/>
        </p:nvCxnSpPr>
        <p:spPr>
          <a:xfrm>
            <a:off x="179511" y="5301207"/>
            <a:ext cx="216023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2" name="Shape 372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3" name="Shape 373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3. SCOPE RULES</a:t>
            </a:r>
          </a:p>
        </p:txBody>
      </p:sp>
      <p:sp>
        <p:nvSpPr>
          <p:cNvPr id="374" name="Shape 374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17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75" name="Shape 375"/>
          <p:cNvSpPr txBox="1"/>
          <p:nvPr/>
        </p:nvSpPr>
        <p:spPr>
          <a:xfrm>
            <a:off x="323528" y="1196751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000" marR="0" lvl="1" indent="-3420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Also, you can have a block with the </a:t>
            </a:r>
            <a:r>
              <a:rPr lang="en-US" sz="2000" b="0" i="0" u="none" strike="noStrike" cap="none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if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statement.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323528" y="1556791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Example:</a:t>
            </a:r>
          </a:p>
        </p:txBody>
      </p:sp>
      <p:grpSp>
        <p:nvGrpSpPr>
          <p:cNvPr id="377" name="Shape 377"/>
          <p:cNvGrpSpPr/>
          <p:nvPr/>
        </p:nvGrpSpPr>
        <p:grpSpPr>
          <a:xfrm>
            <a:off x="179512" y="1976060"/>
            <a:ext cx="8784977" cy="2246769"/>
            <a:chOff x="323528" y="1236821"/>
            <a:chExt cx="7848873" cy="2112680"/>
          </a:xfrm>
        </p:grpSpPr>
        <p:sp>
          <p:nvSpPr>
            <p:cNvPr id="378" name="Shape 378"/>
            <p:cNvSpPr txBox="1"/>
            <p:nvPr/>
          </p:nvSpPr>
          <p:spPr>
            <a:xfrm>
              <a:off x="788527" y="1236821"/>
              <a:ext cx="7383873" cy="2112680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public static </a:t>
              </a: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boolean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isSquare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()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number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 10, 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square =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100;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if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number &lt; square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boolean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exp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true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</a:t>
              </a:r>
              <a:r>
                <a:rPr lang="en-US" sz="14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System.out.println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(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exp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}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return </a:t>
              </a:r>
              <a:r>
                <a:rPr lang="en-US" sz="14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exp</a:t>
              </a: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}</a:t>
              </a:r>
              <a:r>
                <a:rPr lang="en-US" sz="14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 end </a:t>
              </a:r>
              <a:r>
                <a:rPr lang="en-US" sz="1400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isSquare</a:t>
              </a:r>
              <a:endParaRPr lang="en-US" sz="1400" dirty="0">
                <a:solidFill>
                  <a:srgbClr val="00B050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379" name="Shape 379"/>
            <p:cNvSpPr txBox="1"/>
            <p:nvPr/>
          </p:nvSpPr>
          <p:spPr>
            <a:xfrm>
              <a:off x="323528" y="1236821"/>
              <a:ext cx="450344" cy="211268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</p:txBody>
        </p:sp>
      </p:grpSp>
      <p:sp>
        <p:nvSpPr>
          <p:cNvPr id="380" name="Shape 38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3.1 VISIBILITY (7)</a:t>
            </a:r>
          </a:p>
        </p:txBody>
      </p:sp>
      <p:cxnSp>
        <p:nvCxnSpPr>
          <p:cNvPr id="381" name="Shape 381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2" name="Shape 382"/>
          <p:cNvSpPr/>
          <p:nvPr/>
        </p:nvSpPr>
        <p:spPr>
          <a:xfrm>
            <a:off x="691770" y="2852935"/>
            <a:ext cx="8280919" cy="864095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83" name="Shape 383"/>
          <p:cNvSpPr/>
          <p:nvPr/>
        </p:nvSpPr>
        <p:spPr>
          <a:xfrm>
            <a:off x="683568" y="3068959"/>
            <a:ext cx="8280919" cy="216023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//SCOPE : line 6 to line 8</a:t>
            </a:r>
          </a:p>
        </p:txBody>
      </p:sp>
      <p:sp>
        <p:nvSpPr>
          <p:cNvPr id="384" name="Shape 384"/>
          <p:cNvSpPr/>
          <p:nvPr/>
        </p:nvSpPr>
        <p:spPr>
          <a:xfrm>
            <a:off x="4067944" y="3383991"/>
            <a:ext cx="1152128" cy="88210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55000" cap="flat" cmpd="thickThin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85" name="Shape 385"/>
          <p:cNvSpPr/>
          <p:nvPr/>
        </p:nvSpPr>
        <p:spPr>
          <a:xfrm>
            <a:off x="683568" y="3717032"/>
            <a:ext cx="8280919" cy="216023"/>
          </a:xfrm>
          <a:prstGeom prst="rect">
            <a:avLst/>
          </a:prstGeom>
          <a:solidFill>
            <a:srgbClr val="FF0000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endParaRPr sz="1800" b="1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386" name="Shape 386"/>
          <p:cNvCxnSpPr/>
          <p:nvPr/>
        </p:nvCxnSpPr>
        <p:spPr>
          <a:xfrm>
            <a:off x="179511" y="2348880"/>
            <a:ext cx="216023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387" name="Shape 387"/>
          <p:cNvCxnSpPr/>
          <p:nvPr/>
        </p:nvCxnSpPr>
        <p:spPr>
          <a:xfrm>
            <a:off x="179511" y="2348880"/>
            <a:ext cx="0" cy="165618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Shape 388"/>
          <p:cNvCxnSpPr/>
          <p:nvPr/>
        </p:nvCxnSpPr>
        <p:spPr>
          <a:xfrm>
            <a:off x="179511" y="4005064"/>
            <a:ext cx="216023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grpSp>
        <p:nvGrpSpPr>
          <p:cNvPr id="389" name="Shape 389"/>
          <p:cNvGrpSpPr/>
          <p:nvPr/>
        </p:nvGrpSpPr>
        <p:grpSpPr>
          <a:xfrm>
            <a:off x="179512" y="4636874"/>
            <a:ext cx="8784977" cy="1600437"/>
            <a:chOff x="323528" y="1236821"/>
            <a:chExt cx="7848873" cy="1504923"/>
          </a:xfrm>
        </p:grpSpPr>
        <p:sp>
          <p:nvSpPr>
            <p:cNvPr id="390" name="Shape 390"/>
            <p:cNvSpPr txBox="1"/>
            <p:nvPr/>
          </p:nvSpPr>
          <p:spPr>
            <a:xfrm>
              <a:off x="788527" y="1236821"/>
              <a:ext cx="7383873" cy="1504922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public static boolean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isSquare()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number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 10, 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square =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100;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if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number &lt; square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boolean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exp 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=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true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return </a:t>
              </a:r>
              <a:r>
                <a:rPr lang="en-US" sz="140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exp</a:t>
              </a: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}</a:t>
              </a:r>
              <a:r>
                <a:rPr lang="en-US" sz="140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40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 end isSquare</a:t>
              </a:r>
            </a:p>
          </p:txBody>
        </p:sp>
        <p:sp>
          <p:nvSpPr>
            <p:cNvPr id="391" name="Shape 391"/>
            <p:cNvSpPr txBox="1"/>
            <p:nvPr/>
          </p:nvSpPr>
          <p:spPr>
            <a:xfrm>
              <a:off x="323528" y="1236821"/>
              <a:ext cx="450344" cy="150492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</p:txBody>
        </p:sp>
      </p:grpSp>
      <p:sp>
        <p:nvSpPr>
          <p:cNvPr id="392" name="Shape 392"/>
          <p:cNvSpPr/>
          <p:nvPr/>
        </p:nvSpPr>
        <p:spPr>
          <a:xfrm>
            <a:off x="6372200" y="3645023"/>
            <a:ext cx="2448271" cy="1368151"/>
          </a:xfrm>
          <a:prstGeom prst="wedgeEllipseCallout">
            <a:avLst>
              <a:gd name="adj1" fmla="val -95352"/>
              <a:gd name="adj2" fmla="val -40138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 cannot find symbol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(</a:t>
            </a:r>
            <a:r>
              <a:rPr lang="en-US" sz="160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exp</a:t>
            </a: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 out of scope)</a:t>
            </a:r>
          </a:p>
        </p:txBody>
      </p:sp>
      <p:cxnSp>
        <p:nvCxnSpPr>
          <p:cNvPr id="393" name="Shape 393"/>
          <p:cNvCxnSpPr/>
          <p:nvPr/>
        </p:nvCxnSpPr>
        <p:spPr>
          <a:xfrm>
            <a:off x="179511" y="5011435"/>
            <a:ext cx="216023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394" name="Shape 394"/>
          <p:cNvCxnSpPr/>
          <p:nvPr/>
        </p:nvCxnSpPr>
        <p:spPr>
          <a:xfrm>
            <a:off x="179511" y="5011435"/>
            <a:ext cx="0" cy="108012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Shape 395"/>
          <p:cNvCxnSpPr/>
          <p:nvPr/>
        </p:nvCxnSpPr>
        <p:spPr>
          <a:xfrm>
            <a:off x="179511" y="6091555"/>
            <a:ext cx="216023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396" name="Shape 396"/>
          <p:cNvSpPr txBox="1"/>
          <p:nvPr/>
        </p:nvSpPr>
        <p:spPr>
          <a:xfrm>
            <a:off x="323528" y="4221087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000" marR="0" lvl="1" indent="-3420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However, the example below does not work:</a:t>
            </a:r>
          </a:p>
        </p:txBody>
      </p:sp>
      <p:sp>
        <p:nvSpPr>
          <p:cNvPr id="397" name="Shape 397"/>
          <p:cNvSpPr/>
          <p:nvPr/>
        </p:nvSpPr>
        <p:spPr>
          <a:xfrm>
            <a:off x="683568" y="5517232"/>
            <a:ext cx="8280919" cy="216023"/>
          </a:xfrm>
          <a:prstGeom prst="rect">
            <a:avLst/>
          </a:prstGeom>
          <a:solidFill>
            <a:srgbClr val="FF0000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endParaRPr sz="1800" b="1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98" name="Shape 398"/>
          <p:cNvSpPr/>
          <p:nvPr/>
        </p:nvSpPr>
        <p:spPr>
          <a:xfrm>
            <a:off x="4139951" y="5139182"/>
            <a:ext cx="1152128" cy="88210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55000" cap="flat" cmpd="thickThin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399" name="Shape 399"/>
          <p:cNvSpPr/>
          <p:nvPr/>
        </p:nvSpPr>
        <p:spPr>
          <a:xfrm>
            <a:off x="6444207" y="5067175"/>
            <a:ext cx="2448271" cy="1098129"/>
          </a:xfrm>
          <a:prstGeom prst="wedgeEllipseCallout">
            <a:avLst>
              <a:gd name="adj1" fmla="val -94983"/>
              <a:gd name="adj2" fmla="val 1171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 declaration not allowed here</a:t>
            </a:r>
          </a:p>
        </p:txBody>
      </p:sp>
      <p:sp>
        <p:nvSpPr>
          <p:cNvPr id="400" name="Shape 400"/>
          <p:cNvSpPr txBox="1"/>
          <p:nvPr/>
        </p:nvSpPr>
        <p:spPr>
          <a:xfrm>
            <a:off x="323528" y="6309319"/>
            <a:ext cx="8640960" cy="4001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000" marR="0" lvl="1" indent="-3420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single-statement </a:t>
            </a:r>
            <a:r>
              <a:rPr lang="en-US" sz="2000" b="0" i="0" u="none" strike="noStrike" cap="none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if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also considered a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5" name="Shape 405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6" name="Shape 406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3. SCOPE RULES</a:t>
            </a:r>
          </a:p>
        </p:txBody>
      </p:sp>
      <p:sp>
        <p:nvSpPr>
          <p:cNvPr id="407" name="Shape 407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18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08" name="Shape 408"/>
          <p:cNvSpPr txBox="1"/>
          <p:nvPr/>
        </p:nvSpPr>
        <p:spPr>
          <a:xfrm>
            <a:off x="323528" y="1196751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</a:t>
            </a:r>
            <a:r>
              <a:rPr lang="en-US" sz="20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non-static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identifier (variable/method)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lang="en-US" sz="20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(ie.</a:t>
            </a:r>
            <a:r>
              <a:rPr lang="en-US" sz="2000" i="1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declared without the modifier </a:t>
            </a:r>
            <a:r>
              <a:rPr lang="en-US" sz="2000" i="1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static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0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cannot be accessed within a </a:t>
            </a:r>
            <a:r>
              <a:rPr lang="en-US" sz="2000" u="sng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static </a:t>
            </a:r>
            <a:r>
              <a:rPr lang="en-US" sz="20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method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</p:txBody>
      </p:sp>
      <p:sp>
        <p:nvSpPr>
          <p:cNvPr id="409" name="Shape 40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3.2 THE </a:t>
            </a:r>
            <a:r>
              <a:rPr lang="en-US" sz="1800" b="1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static</a:t>
            </a: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 MODIFIER (1)</a:t>
            </a:r>
          </a:p>
        </p:txBody>
      </p:sp>
      <p:cxnSp>
        <p:nvCxnSpPr>
          <p:cNvPr id="410" name="Shape 410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11" name="Shape 411"/>
          <p:cNvGrpSpPr/>
          <p:nvPr/>
        </p:nvGrpSpPr>
        <p:grpSpPr>
          <a:xfrm>
            <a:off x="179512" y="2060848"/>
            <a:ext cx="8784977" cy="4524315"/>
            <a:chOff x="323528" y="1236821"/>
            <a:chExt cx="7848873" cy="4254307"/>
          </a:xfrm>
        </p:grpSpPr>
        <p:sp>
          <p:nvSpPr>
            <p:cNvPr id="412" name="Shape 412"/>
            <p:cNvSpPr txBox="1"/>
            <p:nvPr/>
          </p:nvSpPr>
          <p:spPr>
            <a:xfrm>
              <a:off x="788527" y="1236821"/>
              <a:ext cx="7383873" cy="4254307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import </a:t>
              </a:r>
              <a:r>
                <a:rPr lang="en-US" sz="1600" dirty="0" err="1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java.util</a:t>
              </a:r>
              <a:r>
                <a:rPr lang="en-US" sz="16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.*;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public class</a:t>
              </a:r>
              <a:r>
                <a:rPr lang="en-US" sz="16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staticModifier</a:t>
              </a:r>
              <a:endParaRPr lang="en-US" sz="1600" dirty="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static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Scanner read = 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new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Scanner (System.in);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final </a:t>
              </a:r>
              <a:r>
                <a:rPr lang="en-US" sz="16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SIZE = 20;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public static void main(String[] </a:t>
              </a:r>
              <a:r>
                <a:rPr lang="en-US" sz="16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args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  double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x = 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SIZE 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  fill(x)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} </a:t>
              </a: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//end of main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// This method fills an array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public static void</a:t>
              </a: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fill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(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double l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        l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= </a:t>
              </a:r>
              <a:r>
                <a:rPr lang="en-US" sz="1600" dirty="0" err="1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read.</a:t>
              </a:r>
              <a:r>
                <a:rPr lang="en-US" sz="1600" dirty="0" err="1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nextDouble</a:t>
              </a: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()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}</a:t>
              </a: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//end fill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} </a:t>
              </a: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//end of class</a:t>
              </a:r>
            </a:p>
          </p:txBody>
        </p:sp>
        <p:sp>
          <p:nvSpPr>
            <p:cNvPr id="413" name="Shape 413"/>
            <p:cNvSpPr txBox="1"/>
            <p:nvPr/>
          </p:nvSpPr>
          <p:spPr>
            <a:xfrm>
              <a:off x="323528" y="1236821"/>
              <a:ext cx="450344" cy="425430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18</a:t>
              </a:r>
            </a:p>
          </p:txBody>
        </p:sp>
      </p:grpSp>
      <p:sp>
        <p:nvSpPr>
          <p:cNvPr id="414" name="Shape 414"/>
          <p:cNvSpPr/>
          <p:nvPr/>
        </p:nvSpPr>
        <p:spPr>
          <a:xfrm>
            <a:off x="732111" y="2843144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15" name="Shape 415"/>
          <p:cNvSpPr/>
          <p:nvPr/>
        </p:nvSpPr>
        <p:spPr>
          <a:xfrm>
            <a:off x="683568" y="5723096"/>
            <a:ext cx="8280900" cy="226200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16" name="Shape 416"/>
          <p:cNvSpPr/>
          <p:nvPr/>
        </p:nvSpPr>
        <p:spPr>
          <a:xfrm>
            <a:off x="683568" y="3058800"/>
            <a:ext cx="8280919" cy="226184"/>
          </a:xfrm>
          <a:prstGeom prst="rect">
            <a:avLst/>
          </a:prstGeom>
          <a:solidFill>
            <a:schemeClr val="accent2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dirty="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17" name="Shape 417"/>
          <p:cNvSpPr/>
          <p:nvPr/>
        </p:nvSpPr>
        <p:spPr>
          <a:xfrm>
            <a:off x="732111" y="3795720"/>
            <a:ext cx="8280919" cy="226184"/>
          </a:xfrm>
          <a:prstGeom prst="rect">
            <a:avLst/>
          </a:prstGeom>
          <a:solidFill>
            <a:schemeClr val="accent2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18" name="Shape 418"/>
          <p:cNvSpPr/>
          <p:nvPr/>
        </p:nvSpPr>
        <p:spPr>
          <a:xfrm>
            <a:off x="5076055" y="3140967"/>
            <a:ext cx="1152128" cy="88210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55000" cap="flat" cmpd="thickThin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19" name="Shape 419"/>
          <p:cNvSpPr/>
          <p:nvPr/>
        </p:nvSpPr>
        <p:spPr>
          <a:xfrm>
            <a:off x="5796135" y="4673744"/>
            <a:ext cx="3024335" cy="1584175"/>
          </a:xfrm>
          <a:prstGeom prst="wedgeEllipseCallout">
            <a:avLst>
              <a:gd name="adj1" fmla="val -74802"/>
              <a:gd name="adj2" fmla="val -98941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 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SIZE is a non-</a:t>
            </a:r>
            <a:r>
              <a:rPr lang="en-US" sz="160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static</a:t>
            </a: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 variable ➔ cannot be accessed in </a:t>
            </a:r>
            <a:r>
              <a:rPr lang="en-US" sz="160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static </a:t>
            </a:r>
            <a:r>
              <a:rPr lang="en-US"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methods</a:t>
            </a:r>
          </a:p>
        </p:txBody>
      </p:sp>
      <p:sp>
        <p:nvSpPr>
          <p:cNvPr id="420" name="Shape 420"/>
          <p:cNvSpPr/>
          <p:nvPr/>
        </p:nvSpPr>
        <p:spPr>
          <a:xfrm>
            <a:off x="3495145" y="5273825"/>
            <a:ext cx="3024335" cy="1584175"/>
          </a:xfrm>
          <a:prstGeom prst="wedgeEllipseCallout">
            <a:avLst>
              <a:gd name="adj1" fmla="val -40676"/>
              <a:gd name="adj2" fmla="val -141232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 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SIZE is a non-</a:t>
            </a:r>
            <a:r>
              <a:rPr lang="en-US" sz="1600" dirty="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static</a:t>
            </a: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 variable ➔ cannot be accessed in </a:t>
            </a:r>
            <a:r>
              <a:rPr lang="en-US" sz="1600" dirty="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static </a:t>
            </a: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5" name="Shape 425"/>
          <p:cNvCxnSpPr/>
          <p:nvPr/>
        </p:nvCxnSpPr>
        <p:spPr>
          <a:xfrm>
            <a:off x="0" y="656927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6" name="Shape 426"/>
          <p:cNvSpPr txBox="1">
            <a:spLocks noGrp="1"/>
          </p:cNvSpPr>
          <p:nvPr>
            <p:ph type="title"/>
          </p:nvPr>
        </p:nvSpPr>
        <p:spPr>
          <a:xfrm>
            <a:off x="228600" y="44623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3. SCOPE RULES</a:t>
            </a:r>
          </a:p>
        </p:txBody>
      </p:sp>
      <p:sp>
        <p:nvSpPr>
          <p:cNvPr id="427" name="Shape 427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19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28" name="Shape 428"/>
          <p:cNvSpPr/>
          <p:nvPr/>
        </p:nvSpPr>
        <p:spPr>
          <a:xfrm>
            <a:off x="0" y="728935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3.2 THE </a:t>
            </a:r>
            <a:r>
              <a:rPr lang="en-US" sz="1800" b="1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static</a:t>
            </a: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 MODIFIER (2)</a:t>
            </a:r>
          </a:p>
        </p:txBody>
      </p:sp>
      <p:cxnSp>
        <p:nvCxnSpPr>
          <p:cNvPr id="429" name="Shape 429"/>
          <p:cNvCxnSpPr/>
          <p:nvPr/>
        </p:nvCxnSpPr>
        <p:spPr>
          <a:xfrm>
            <a:off x="0" y="1088975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30" name="Shape 430"/>
          <p:cNvGrpSpPr/>
          <p:nvPr/>
        </p:nvGrpSpPr>
        <p:grpSpPr>
          <a:xfrm>
            <a:off x="179512" y="2042839"/>
            <a:ext cx="8784977" cy="4770537"/>
            <a:chOff x="323528" y="1236821"/>
            <a:chExt cx="7848873" cy="4485835"/>
          </a:xfrm>
        </p:grpSpPr>
        <p:sp>
          <p:nvSpPr>
            <p:cNvPr id="431" name="Shape 431"/>
            <p:cNvSpPr txBox="1"/>
            <p:nvPr/>
          </p:nvSpPr>
          <p:spPr>
            <a:xfrm>
              <a:off x="788527" y="1236821"/>
              <a:ext cx="7383873" cy="4485835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import </a:t>
              </a:r>
              <a:r>
                <a:rPr lang="en-US" sz="1600" dirty="0" err="1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java.util</a:t>
              </a:r>
              <a:r>
                <a:rPr lang="en-US" sz="16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.*;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public class</a:t>
              </a:r>
              <a:r>
                <a:rPr lang="en-US" sz="16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staticModifier</a:t>
              </a:r>
              <a:endParaRPr lang="en-US" sz="1600" dirty="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{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static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Scanner read = 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new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Scanner (System.in);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final </a:t>
              </a:r>
              <a:r>
                <a:rPr lang="en-US" sz="16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SIZE = 20;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public static void main(String[] </a:t>
              </a:r>
              <a:r>
                <a:rPr lang="en-US" sz="16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args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{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  </a:t>
              </a:r>
              <a:r>
                <a:rPr lang="en-US" sz="16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x = 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SIZE 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  fill(x)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lvl="0">
                <a:buClr>
                  <a:schemeClr val="dk1"/>
                </a:buClr>
                <a:buSzPct val="25000"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} </a:t>
              </a: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//end of main</a:t>
              </a:r>
              <a:r>
                <a:rPr lang="en-US" sz="16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endParaRPr lang="en-US" sz="1600" dirty="0">
                <a:solidFill>
                  <a:srgbClr val="00B05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// This method fills an array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      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public static void</a:t>
              </a: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6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l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lvl="0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{ </a:t>
              </a:r>
            </a:p>
            <a:p>
              <a:pPr lvl="0" rtl="0">
                <a:spcBef>
                  <a:spcPts val="0"/>
                </a:spcBef>
                <a:buSzPct val="25000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       </a:t>
              </a:r>
              <a:r>
                <a:rPr lang="en-US" sz="16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int</a:t>
              </a:r>
              <a:r>
                <a:rPr lang="en-US" sz="16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SIZE = 50;</a:t>
              </a:r>
            </a:p>
            <a:p>
              <a:pPr lvl="0">
                <a:buClr>
                  <a:schemeClr val="dk1"/>
                </a:buClr>
                <a:buSzPct val="25000"/>
              </a:pPr>
              <a:r>
                <a:rPr lang="en-US" sz="16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                 l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= </a:t>
              </a:r>
              <a:r>
                <a:rPr lang="en-US" sz="1600" dirty="0">
                  <a:solidFill>
                    <a:srgbClr val="FF33CC"/>
                  </a:solidFill>
                  <a:latin typeface="Rambla"/>
                  <a:ea typeface="Rambla"/>
                  <a:cs typeface="Rambla"/>
                  <a:sym typeface="Rambla"/>
                </a:rPr>
                <a:t>l </a:t>
              </a:r>
              <a:r>
                <a:rPr lang="en-US" sz="1600" dirty="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* </a:t>
              </a: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SIZE ;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}</a:t>
              </a: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 //end fill</a:t>
              </a:r>
            </a:p>
            <a:p>
              <a:pPr lvl="0" rtl="0">
                <a:spcBef>
                  <a:spcPts val="0"/>
                </a:spcBef>
                <a:buClr>
                  <a:schemeClr val="dk1"/>
                </a:buClr>
                <a:buSzPct val="250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} </a:t>
              </a:r>
              <a:r>
                <a:rPr lang="en-US" sz="1600" dirty="0">
                  <a:solidFill>
                    <a:srgbClr val="00B050"/>
                  </a:solidFill>
                  <a:latin typeface="Rambla"/>
                  <a:ea typeface="Rambla"/>
                  <a:cs typeface="Rambla"/>
                  <a:sym typeface="Rambla"/>
                </a:rPr>
                <a:t>//end of class</a:t>
              </a:r>
            </a:p>
          </p:txBody>
        </p:sp>
        <p:sp>
          <p:nvSpPr>
            <p:cNvPr id="432" name="Shape 432"/>
            <p:cNvSpPr txBox="1"/>
            <p:nvPr/>
          </p:nvSpPr>
          <p:spPr>
            <a:xfrm>
              <a:off x="323528" y="1236821"/>
              <a:ext cx="450344" cy="4485835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6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19</a:t>
              </a:r>
            </a:p>
          </p:txBody>
        </p:sp>
      </p:grpSp>
      <p:sp>
        <p:nvSpPr>
          <p:cNvPr id="433" name="Shape 433"/>
          <p:cNvSpPr/>
          <p:nvPr/>
        </p:nvSpPr>
        <p:spPr>
          <a:xfrm>
            <a:off x="773325" y="5282819"/>
            <a:ext cx="8280919" cy="226184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800" b="1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//SCOPE: line 15 to line 16</a:t>
            </a:r>
          </a:p>
        </p:txBody>
      </p:sp>
      <p:sp>
        <p:nvSpPr>
          <p:cNvPr id="434" name="Shape 434"/>
          <p:cNvSpPr/>
          <p:nvPr/>
        </p:nvSpPr>
        <p:spPr>
          <a:xfrm>
            <a:off x="863081" y="3038274"/>
            <a:ext cx="8280919" cy="226184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1800" b="1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//SCOPE: line 5 to line 14</a:t>
            </a:r>
          </a:p>
        </p:txBody>
      </p:sp>
      <p:sp>
        <p:nvSpPr>
          <p:cNvPr id="435" name="Shape 435"/>
          <p:cNvSpPr txBox="1"/>
          <p:nvPr/>
        </p:nvSpPr>
        <p:spPr>
          <a:xfrm>
            <a:off x="323528" y="1045184"/>
            <a:ext cx="8640960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identifier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declared with the modifier </a:t>
            </a:r>
            <a:r>
              <a:rPr lang="en-US" sz="2000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static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can be accessed within a method/block, </a:t>
            </a: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provided that the latter (method/block) does not have any other identifier with the same name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</p:txBody>
      </p:sp>
      <p:sp>
        <p:nvSpPr>
          <p:cNvPr id="436" name="Shape 436"/>
          <p:cNvSpPr/>
          <p:nvPr/>
        </p:nvSpPr>
        <p:spPr>
          <a:xfrm>
            <a:off x="683568" y="5733255"/>
            <a:ext cx="8280919" cy="226184"/>
          </a:xfrm>
          <a:prstGeom prst="rect">
            <a:avLst/>
          </a:prstGeom>
          <a:solidFill>
            <a:schemeClr val="accent2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4" name="Shape 420"/>
          <p:cNvSpPr/>
          <p:nvPr/>
        </p:nvSpPr>
        <p:spPr>
          <a:xfrm>
            <a:off x="4800601" y="3362325"/>
            <a:ext cx="2590800" cy="1399060"/>
          </a:xfrm>
          <a:prstGeom prst="wedgeEllipseCallout">
            <a:avLst>
              <a:gd name="adj1" fmla="val -135836"/>
              <a:gd name="adj2" fmla="val -15685"/>
            </a:avLst>
          </a:prstGeom>
          <a:solidFill>
            <a:srgbClr val="FF00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ERROR: 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SIZE is a non-</a:t>
            </a:r>
            <a:r>
              <a:rPr lang="en-US" sz="1600" dirty="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static</a:t>
            </a: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 variable ➔ cannot be accessed in </a:t>
            </a:r>
            <a:r>
              <a:rPr lang="en-US" sz="1600" dirty="0">
                <a:solidFill>
                  <a:srgbClr val="FFFF00"/>
                </a:solidFill>
                <a:latin typeface="Rambla"/>
                <a:ea typeface="Rambla"/>
                <a:cs typeface="Rambla"/>
                <a:sym typeface="Rambla"/>
              </a:rPr>
              <a:t>static </a:t>
            </a:r>
            <a:r>
              <a:rPr lang="en-US" sz="1600" dirty="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Shape 441"/>
          <p:cNvCxnSpPr/>
          <p:nvPr/>
        </p:nvCxnSpPr>
        <p:spPr>
          <a:xfrm>
            <a:off x="0" y="692695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2" name="Shape 442"/>
          <p:cNvSpPr txBox="1">
            <a:spLocks noGrp="1"/>
          </p:cNvSpPr>
          <p:nvPr>
            <p:ph type="title"/>
          </p:nvPr>
        </p:nvSpPr>
        <p:spPr>
          <a:xfrm>
            <a:off x="228600" y="116631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4. EXAMPLE (1)</a:t>
            </a:r>
          </a:p>
        </p:txBody>
      </p:sp>
      <p:sp>
        <p:nvSpPr>
          <p:cNvPr id="443" name="Shape 443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20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pSp>
        <p:nvGrpSpPr>
          <p:cNvPr id="444" name="Shape 444"/>
          <p:cNvGrpSpPr/>
          <p:nvPr/>
        </p:nvGrpSpPr>
        <p:grpSpPr>
          <a:xfrm>
            <a:off x="179512" y="764703"/>
            <a:ext cx="8784977" cy="6001642"/>
            <a:chOff x="323528" y="1236821"/>
            <a:chExt cx="7848873" cy="4377571"/>
          </a:xfrm>
        </p:grpSpPr>
        <p:sp>
          <p:nvSpPr>
            <p:cNvPr id="445" name="Shape 445"/>
            <p:cNvSpPr txBox="1"/>
            <p:nvPr/>
          </p:nvSpPr>
          <p:spPr>
            <a:xfrm>
              <a:off x="323528" y="1236821"/>
              <a:ext cx="450344" cy="437757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32</a:t>
              </a:r>
            </a:p>
          </p:txBody>
        </p:sp>
        <p:sp>
          <p:nvSpPr>
            <p:cNvPr id="446" name="Shape 446"/>
            <p:cNvSpPr txBox="1"/>
            <p:nvPr/>
          </p:nvSpPr>
          <p:spPr>
            <a:xfrm>
              <a:off x="788527" y="1236821"/>
              <a:ext cx="7383873" cy="4377571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200" dirty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public class </a:t>
              </a:r>
              <a:r>
                <a:rPr lang="en-US" sz="1200" dirty="0" err="1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scopeRules</a:t>
              </a:r>
              <a:endParaRPr lang="en-US" sz="1200" dirty="0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static final double rate = 10.50;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static int z;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static double t;</a:t>
              </a:r>
            </a:p>
            <a:p>
              <a:pPr marL="0" marR="0" lvl="0" indent="0" algn="l" rtl="0">
                <a:spcBef>
                  <a:spcPts val="0"/>
                </a:spcBef>
                <a:buNone/>
              </a:pPr>
              <a:endParaRPr sz="1200" dirty="0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</a:t>
              </a:r>
              <a:r>
                <a:rPr lang="en-US" sz="12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public static void main (String[] </a:t>
              </a:r>
              <a:r>
                <a:rPr lang="en-US" sz="12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args</a:t>
              </a:r>
              <a:r>
                <a:rPr lang="en-US" sz="12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int num;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double x, z;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char </a:t>
              </a:r>
              <a:r>
                <a:rPr lang="en-US" sz="1200" dirty="0" err="1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ch</a:t>
              </a:r>
              <a:r>
                <a:rPr lang="en-US" sz="12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  //…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00FF"/>
                  </a:solidFill>
                  <a:latin typeface="Rambla"/>
                  <a:ea typeface="Rambla"/>
                  <a:cs typeface="Rambla"/>
                  <a:sym typeface="Rambla"/>
                </a:rPr>
                <a:t>     }</a:t>
              </a:r>
            </a:p>
            <a:p>
              <a:pPr marL="0" marR="0" lvl="0" indent="0" algn="l" rtl="0">
                <a:spcBef>
                  <a:spcPts val="0"/>
                </a:spcBef>
                <a:buNone/>
              </a:pPr>
              <a:endParaRPr sz="1200" dirty="0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public static void one (int x, char y)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//…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}</a:t>
              </a:r>
            </a:p>
            <a:p>
              <a:pPr marL="0" marR="0" lvl="0" indent="0" algn="l" rtl="0">
                <a:spcBef>
                  <a:spcPts val="0"/>
                </a:spcBef>
                <a:buNone/>
              </a:pPr>
              <a:endParaRPr sz="1200" dirty="0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  public static int w;</a:t>
              </a:r>
            </a:p>
            <a:p>
              <a:pPr marL="0" marR="0" lvl="0" indent="0" algn="l" rtl="0">
                <a:spcBef>
                  <a:spcPts val="0"/>
                </a:spcBef>
                <a:buNone/>
              </a:pPr>
              <a:endParaRPr sz="1200" dirty="0">
                <a:solidFill>
                  <a:srgbClr val="C00000"/>
                </a:solidFill>
                <a:latin typeface="Rambla"/>
                <a:ea typeface="Rambla"/>
                <a:cs typeface="Rambla"/>
                <a:sym typeface="Rambla"/>
              </a:endParaRP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public static void two (int one, int z)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char </a:t>
              </a:r>
              <a:r>
                <a:rPr lang="en-US" sz="1200" dirty="0" err="1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ch</a:t>
              </a:r>
              <a:r>
                <a:rPr lang="en-US" sz="12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  int a;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9900CC"/>
                  </a:solidFill>
                  <a:latin typeface="Rambla"/>
                  <a:ea typeface="Rambla"/>
                  <a:cs typeface="Rambla"/>
                  <a:sym typeface="Rambla"/>
                </a:rPr>
                <a:t>        { //block three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9900CC"/>
                  </a:solidFill>
                  <a:latin typeface="Rambla"/>
                  <a:ea typeface="Rambla"/>
                  <a:cs typeface="Rambla"/>
                  <a:sym typeface="Rambla"/>
                </a:rPr>
                <a:t>           int x = 12;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9900CC"/>
                  </a:solidFill>
                  <a:latin typeface="Rambla"/>
                  <a:ea typeface="Rambla"/>
                  <a:cs typeface="Rambla"/>
                  <a:sym typeface="Rambla"/>
                </a:rPr>
                <a:t>        }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 //…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00B0F0"/>
                  </a:solidFill>
                  <a:latin typeface="Rambla"/>
                  <a:ea typeface="Rambla"/>
                  <a:cs typeface="Rambla"/>
                  <a:sym typeface="Rambla"/>
                </a:rPr>
                <a:t>    }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rPr>
                <a:t> } //end of class</a:t>
              </a:r>
            </a:p>
          </p:txBody>
        </p:sp>
      </p:grpSp>
      <p:sp>
        <p:nvSpPr>
          <p:cNvPr id="447" name="Shape 447"/>
          <p:cNvSpPr/>
          <p:nvPr/>
        </p:nvSpPr>
        <p:spPr>
          <a:xfrm>
            <a:off x="755575" y="836712"/>
            <a:ext cx="8136903" cy="5832648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48" name="Shape 448"/>
          <p:cNvSpPr/>
          <p:nvPr/>
        </p:nvSpPr>
        <p:spPr>
          <a:xfrm>
            <a:off x="827583" y="2060848"/>
            <a:ext cx="7848873" cy="136815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6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49" name="Shape 449"/>
          <p:cNvSpPr/>
          <p:nvPr/>
        </p:nvSpPr>
        <p:spPr>
          <a:xfrm>
            <a:off x="827583" y="3501007"/>
            <a:ext cx="7848873" cy="79208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6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50" name="Shape 450"/>
          <p:cNvSpPr/>
          <p:nvPr/>
        </p:nvSpPr>
        <p:spPr>
          <a:xfrm>
            <a:off x="827583" y="4797151"/>
            <a:ext cx="7848873" cy="1656183"/>
          </a:xfrm>
          <a:prstGeom prst="rect">
            <a:avLst/>
          </a:prstGeom>
          <a:noFill/>
          <a:ln w="19050" cap="flat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6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51" name="Shape 451"/>
          <p:cNvSpPr/>
          <p:nvPr/>
        </p:nvSpPr>
        <p:spPr>
          <a:xfrm>
            <a:off x="979983" y="5593432"/>
            <a:ext cx="7552454" cy="571871"/>
          </a:xfrm>
          <a:prstGeom prst="rect">
            <a:avLst/>
          </a:prstGeom>
          <a:noFill/>
          <a:ln w="19050" cap="flat" cmpd="sng">
            <a:solidFill>
              <a:srgbClr val="9900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6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452" name="Shape 452"/>
          <p:cNvCxnSpPr/>
          <p:nvPr/>
        </p:nvCxnSpPr>
        <p:spPr>
          <a:xfrm>
            <a:off x="323528" y="1412775"/>
            <a:ext cx="0" cy="5184575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453" name="Shape 453"/>
          <p:cNvSpPr/>
          <p:nvPr/>
        </p:nvSpPr>
        <p:spPr>
          <a:xfrm>
            <a:off x="683568" y="1330608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54" name="Shape 454"/>
          <p:cNvSpPr/>
          <p:nvPr/>
        </p:nvSpPr>
        <p:spPr>
          <a:xfrm>
            <a:off x="683568" y="1484783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455" name="Shape 455"/>
          <p:cNvCxnSpPr/>
          <p:nvPr/>
        </p:nvCxnSpPr>
        <p:spPr>
          <a:xfrm>
            <a:off x="251519" y="1628800"/>
            <a:ext cx="0" cy="504056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456" name="Shape 456"/>
          <p:cNvSpPr/>
          <p:nvPr/>
        </p:nvSpPr>
        <p:spPr>
          <a:xfrm>
            <a:off x="683568" y="1690648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457" name="Shape 457"/>
          <p:cNvCxnSpPr/>
          <p:nvPr/>
        </p:nvCxnSpPr>
        <p:spPr>
          <a:xfrm>
            <a:off x="179511" y="1803740"/>
            <a:ext cx="0" cy="4793612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oval" w="lg" len="lg"/>
            <a:tailEnd type="triangle" w="lg" len="lg"/>
          </a:ln>
        </p:spPr>
      </p:cxnSp>
      <p:cxnSp>
        <p:nvCxnSpPr>
          <p:cNvPr id="458" name="Shape 458"/>
          <p:cNvCxnSpPr/>
          <p:nvPr/>
        </p:nvCxnSpPr>
        <p:spPr>
          <a:xfrm>
            <a:off x="179511" y="2132856"/>
            <a:ext cx="144016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9" name="Shape 459"/>
          <p:cNvSpPr/>
          <p:nvPr/>
        </p:nvSpPr>
        <p:spPr>
          <a:xfrm>
            <a:off x="683568" y="2626751"/>
            <a:ext cx="8280919" cy="226184"/>
          </a:xfrm>
          <a:prstGeom prst="rect">
            <a:avLst/>
          </a:prstGeom>
          <a:solidFill>
            <a:schemeClr val="accent3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460" name="Shape 460"/>
          <p:cNvCxnSpPr/>
          <p:nvPr/>
        </p:nvCxnSpPr>
        <p:spPr>
          <a:xfrm>
            <a:off x="179511" y="4869160"/>
            <a:ext cx="144016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Shape 461"/>
          <p:cNvCxnSpPr/>
          <p:nvPr/>
        </p:nvCxnSpPr>
        <p:spPr>
          <a:xfrm>
            <a:off x="251519" y="3573016"/>
            <a:ext cx="0" cy="1296143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462" name="Shape 462"/>
          <p:cNvSpPr/>
          <p:nvPr/>
        </p:nvSpPr>
        <p:spPr>
          <a:xfrm>
            <a:off x="683568" y="4786992"/>
            <a:ext cx="8280919" cy="226184"/>
          </a:xfrm>
          <a:prstGeom prst="rect">
            <a:avLst/>
          </a:prstGeom>
          <a:solidFill>
            <a:schemeClr val="accent3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63" name="Shape 463"/>
          <p:cNvSpPr/>
          <p:nvPr/>
        </p:nvSpPr>
        <p:spPr>
          <a:xfrm>
            <a:off x="6308576" y="4437112"/>
            <a:ext cx="2448271" cy="936103"/>
          </a:xfrm>
          <a:prstGeom prst="wedgeEllipseCallout">
            <a:avLst>
              <a:gd name="adj1" fmla="val -156916"/>
              <a:gd name="adj2" fmla="val 6682"/>
            </a:avLst>
          </a:prstGeom>
          <a:solidFill>
            <a:srgbClr val="FFFF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i="1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z</a:t>
            </a:r>
            <a:r>
              <a:rPr lang="en-US" sz="16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 (line 23) hides </a:t>
            </a:r>
            <a:r>
              <a:rPr lang="en-US" sz="1600" i="1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z</a:t>
            </a:r>
            <a:r>
              <a:rPr lang="en-US" sz="16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 (line 5)</a:t>
            </a:r>
          </a:p>
        </p:txBody>
      </p:sp>
      <p:sp>
        <p:nvSpPr>
          <p:cNvPr id="464" name="Shape 464"/>
          <p:cNvSpPr/>
          <p:nvPr/>
        </p:nvSpPr>
        <p:spPr>
          <a:xfrm>
            <a:off x="4139951" y="3537012"/>
            <a:ext cx="2448271" cy="1260139"/>
          </a:xfrm>
          <a:prstGeom prst="wedgeEllipseCallout">
            <a:avLst>
              <a:gd name="adj1" fmla="val -68537"/>
              <a:gd name="adj2" fmla="val 55399"/>
            </a:avLst>
          </a:prstGeom>
          <a:solidFill>
            <a:srgbClr val="FFFF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4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Method </a:t>
            </a:r>
            <a:r>
              <a:rPr lang="en-US" sz="1400" i="1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two</a:t>
            </a:r>
            <a:r>
              <a:rPr lang="en-US" sz="14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 has a parameter of the same name </a:t>
            </a:r>
            <a:r>
              <a:rPr lang="en-US" sz="1400" i="1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z</a:t>
            </a:r>
          </a:p>
        </p:txBody>
      </p:sp>
      <p:sp>
        <p:nvSpPr>
          <p:cNvPr id="465" name="Shape 465"/>
          <p:cNvSpPr/>
          <p:nvPr/>
        </p:nvSpPr>
        <p:spPr>
          <a:xfrm>
            <a:off x="6372200" y="1880827"/>
            <a:ext cx="2448271" cy="2268252"/>
          </a:xfrm>
          <a:prstGeom prst="wedgeEllipseCallout">
            <a:avLst>
              <a:gd name="adj1" fmla="val -174297"/>
              <a:gd name="adj2" fmla="val -68734"/>
            </a:avLst>
          </a:prstGeom>
          <a:solidFill>
            <a:srgbClr val="FBDFD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u="sng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Static variable scope</a:t>
            </a:r>
            <a:r>
              <a:rPr lang="en-US" sz="16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: all static methods in the </a:t>
            </a:r>
            <a:r>
              <a:rPr lang="en-US" sz="16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scopeRules </a:t>
            </a:r>
            <a:r>
              <a:rPr lang="en-US" sz="16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class</a:t>
            </a:r>
          </a:p>
        </p:txBody>
      </p:sp>
      <p:sp>
        <p:nvSpPr>
          <p:cNvPr id="466" name="Shape 466"/>
          <p:cNvSpPr/>
          <p:nvPr/>
        </p:nvSpPr>
        <p:spPr>
          <a:xfrm>
            <a:off x="4860032" y="620687"/>
            <a:ext cx="2448271" cy="828091"/>
          </a:xfrm>
          <a:prstGeom prst="wedgeEllipseCallout">
            <a:avLst>
              <a:gd name="adj1" fmla="val -152479"/>
              <a:gd name="adj2" fmla="val 121496"/>
            </a:avLst>
          </a:prstGeom>
          <a:solidFill>
            <a:srgbClr val="FFFF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rgbClr val="00B0F0"/>
                </a:solidFill>
                <a:latin typeface="Rambla"/>
                <a:ea typeface="Rambla"/>
                <a:cs typeface="Rambla"/>
                <a:sym typeface="Rambla"/>
              </a:rPr>
              <a:t>main </a:t>
            </a:r>
            <a:r>
              <a:rPr lang="en-US" sz="16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has a local variable </a:t>
            </a:r>
            <a:r>
              <a:rPr lang="en-US" sz="1600" i="1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z</a:t>
            </a:r>
          </a:p>
        </p:txBody>
      </p:sp>
      <p:sp>
        <p:nvSpPr>
          <p:cNvPr id="467" name="Shape 467"/>
          <p:cNvSpPr/>
          <p:nvPr/>
        </p:nvSpPr>
        <p:spPr>
          <a:xfrm>
            <a:off x="4716016" y="1484783"/>
            <a:ext cx="2448271" cy="792087"/>
          </a:xfrm>
          <a:prstGeom prst="wedgeEllipseCallout">
            <a:avLst>
              <a:gd name="adj1" fmla="val -156916"/>
              <a:gd name="adj2" fmla="val 111195"/>
            </a:avLst>
          </a:prstGeom>
          <a:solidFill>
            <a:srgbClr val="FFFF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i="1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z</a:t>
            </a:r>
            <a:r>
              <a:rPr lang="en-US" sz="16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 (line 11) hides </a:t>
            </a:r>
            <a:r>
              <a:rPr lang="en-US" sz="1600" i="1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z</a:t>
            </a:r>
            <a:r>
              <a:rPr lang="en-US" sz="16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 (line 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2" name="Shape 472"/>
          <p:cNvCxnSpPr/>
          <p:nvPr/>
        </p:nvCxnSpPr>
        <p:spPr>
          <a:xfrm>
            <a:off x="0" y="692695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3" name="Shape 473"/>
          <p:cNvSpPr txBox="1">
            <a:spLocks noGrp="1"/>
          </p:cNvSpPr>
          <p:nvPr>
            <p:ph type="title"/>
          </p:nvPr>
        </p:nvSpPr>
        <p:spPr>
          <a:xfrm>
            <a:off x="228600" y="116631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4. EXAMPLE (2)</a:t>
            </a:r>
          </a:p>
        </p:txBody>
      </p:sp>
      <p:sp>
        <p:nvSpPr>
          <p:cNvPr id="474" name="Shape 474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21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pSp>
        <p:nvGrpSpPr>
          <p:cNvPr id="475" name="Shape 475"/>
          <p:cNvGrpSpPr/>
          <p:nvPr/>
        </p:nvGrpSpPr>
        <p:grpSpPr>
          <a:xfrm>
            <a:off x="179512" y="764703"/>
            <a:ext cx="8784977" cy="6001642"/>
            <a:chOff x="179512" y="764703"/>
            <a:chExt cx="8784977" cy="6001642"/>
          </a:xfrm>
        </p:grpSpPr>
        <p:grpSp>
          <p:nvGrpSpPr>
            <p:cNvPr id="476" name="Shape 476"/>
            <p:cNvGrpSpPr/>
            <p:nvPr/>
          </p:nvGrpSpPr>
          <p:grpSpPr>
            <a:xfrm>
              <a:off x="179512" y="764703"/>
              <a:ext cx="8784977" cy="6001642"/>
              <a:chOff x="323528" y="1236821"/>
              <a:chExt cx="7848873" cy="4377571"/>
            </a:xfrm>
          </p:grpSpPr>
          <p:sp>
            <p:nvSpPr>
              <p:cNvPr id="477" name="Shape 477"/>
              <p:cNvSpPr txBox="1"/>
              <p:nvPr/>
            </p:nvSpPr>
            <p:spPr>
              <a:xfrm>
                <a:off x="323528" y="1236821"/>
                <a:ext cx="450344" cy="4377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32</a:t>
                </a:r>
              </a:p>
            </p:txBody>
          </p:sp>
          <p:sp>
            <p:nvSpPr>
              <p:cNvPr id="478" name="Shape 478"/>
              <p:cNvSpPr txBox="1"/>
              <p:nvPr/>
            </p:nvSpPr>
            <p:spPr>
              <a:xfrm>
                <a:off x="788527" y="1236821"/>
                <a:ext cx="7383873" cy="4377571"/>
              </a:xfrm>
              <a:prstGeom prst="rect">
                <a:avLst/>
              </a:prstGeom>
              <a:solidFill>
                <a:schemeClr val="lt2"/>
              </a:solidFill>
              <a:ln w="28575" cap="rnd" cmpd="thickThin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public class scopeRules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final double rate = 10.50;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int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double t;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</a:t>
                </a: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public static void main (String[] args)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int num;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double x,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ch;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one (int x, char y)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int w;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two (int one, int z)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ch;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int a;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{ //block three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int x = 12;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} //end of class</a:t>
                </a:r>
              </a:p>
            </p:txBody>
          </p:sp>
        </p:grpSp>
        <p:sp>
          <p:nvSpPr>
            <p:cNvPr id="479" name="Shape 479"/>
            <p:cNvSpPr/>
            <p:nvPr/>
          </p:nvSpPr>
          <p:spPr>
            <a:xfrm>
              <a:off x="755575" y="836712"/>
              <a:ext cx="8136903" cy="5832648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480" name="Shape 480"/>
            <p:cNvSpPr/>
            <p:nvPr/>
          </p:nvSpPr>
          <p:spPr>
            <a:xfrm>
              <a:off x="827583" y="2060848"/>
              <a:ext cx="7848873" cy="1368151"/>
            </a:xfrm>
            <a:prstGeom prst="rect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481" name="Shape 481"/>
            <p:cNvSpPr/>
            <p:nvPr/>
          </p:nvSpPr>
          <p:spPr>
            <a:xfrm>
              <a:off x="827583" y="3501007"/>
              <a:ext cx="7848873" cy="792087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482" name="Shape 482"/>
            <p:cNvSpPr/>
            <p:nvPr/>
          </p:nvSpPr>
          <p:spPr>
            <a:xfrm>
              <a:off x="827583" y="4797151"/>
              <a:ext cx="7848873" cy="1656183"/>
            </a:xfrm>
            <a:prstGeom prst="rect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483" name="Shape 483"/>
            <p:cNvSpPr/>
            <p:nvPr/>
          </p:nvSpPr>
          <p:spPr>
            <a:xfrm>
              <a:off x="979983" y="5593432"/>
              <a:ext cx="7552454" cy="571871"/>
            </a:xfrm>
            <a:prstGeom prst="rect">
              <a:avLst/>
            </a:prstGeom>
            <a:noFill/>
            <a:ln w="19050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</p:grpSp>
      <p:sp>
        <p:nvSpPr>
          <p:cNvPr id="484" name="Shape 484"/>
          <p:cNvSpPr/>
          <p:nvPr/>
        </p:nvSpPr>
        <p:spPr>
          <a:xfrm>
            <a:off x="683568" y="2060848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485" name="Shape 485"/>
          <p:cNvCxnSpPr/>
          <p:nvPr/>
        </p:nvCxnSpPr>
        <p:spPr>
          <a:xfrm flipH="1">
            <a:off x="323528" y="2173940"/>
            <a:ext cx="33630" cy="4423411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486" name="Shape 486"/>
          <p:cNvSpPr/>
          <p:nvPr/>
        </p:nvSpPr>
        <p:spPr>
          <a:xfrm>
            <a:off x="683568" y="2410727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487" name="Shape 487"/>
          <p:cNvCxnSpPr/>
          <p:nvPr/>
        </p:nvCxnSpPr>
        <p:spPr>
          <a:xfrm>
            <a:off x="251519" y="2523819"/>
            <a:ext cx="0" cy="833171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oval" w="lg" len="lg"/>
            <a:tailEnd type="triangle" w="lg" len="lg"/>
          </a:ln>
        </p:spPr>
      </p:cxnSp>
      <p:cxnSp>
        <p:nvCxnSpPr>
          <p:cNvPr id="488" name="Shape 488"/>
          <p:cNvCxnSpPr/>
          <p:nvPr/>
        </p:nvCxnSpPr>
        <p:spPr>
          <a:xfrm>
            <a:off x="179511" y="2676219"/>
            <a:ext cx="0" cy="680772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489" name="Shape 489"/>
          <p:cNvSpPr/>
          <p:nvPr/>
        </p:nvSpPr>
        <p:spPr>
          <a:xfrm>
            <a:off x="683568" y="2626751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490" name="Shape 490"/>
          <p:cNvSpPr/>
          <p:nvPr/>
        </p:nvSpPr>
        <p:spPr>
          <a:xfrm>
            <a:off x="683568" y="2779151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491" name="Shape 491"/>
          <p:cNvCxnSpPr/>
          <p:nvPr/>
        </p:nvCxnSpPr>
        <p:spPr>
          <a:xfrm>
            <a:off x="107504" y="2924943"/>
            <a:ext cx="0" cy="432047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492" name="Shape 492"/>
          <p:cNvSpPr/>
          <p:nvPr/>
        </p:nvSpPr>
        <p:spPr>
          <a:xfrm>
            <a:off x="6156176" y="2744924"/>
            <a:ext cx="2448271" cy="2268252"/>
          </a:xfrm>
          <a:prstGeom prst="wedgeEllipseCallout">
            <a:avLst>
              <a:gd name="adj1" fmla="val -162833"/>
              <a:gd name="adj2" fmla="val -59553"/>
            </a:avLst>
          </a:prstGeom>
          <a:solidFill>
            <a:srgbClr val="FFFF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400" u="sng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Non-static Identifiers scope</a:t>
            </a:r>
            <a:r>
              <a:rPr lang="en-US" sz="14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: from the point of declaration till the end of the block in which they are declared</a:t>
            </a:r>
          </a:p>
        </p:txBody>
      </p:sp>
      <p:sp>
        <p:nvSpPr>
          <p:cNvPr id="493" name="Shape 493"/>
          <p:cNvSpPr/>
          <p:nvPr/>
        </p:nvSpPr>
        <p:spPr>
          <a:xfrm>
            <a:off x="6308576" y="260647"/>
            <a:ext cx="2448271" cy="2268252"/>
          </a:xfrm>
          <a:prstGeom prst="wedgeEllipseCallout">
            <a:avLst>
              <a:gd name="adj1" fmla="val -199442"/>
              <a:gd name="adj2" fmla="val 30253"/>
            </a:avLst>
          </a:prstGeom>
          <a:solidFill>
            <a:srgbClr val="92D05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u="sng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Static Method Scope</a:t>
            </a:r>
            <a:r>
              <a:rPr lang="en-US" sz="16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: all static methods of the </a:t>
            </a:r>
            <a:r>
              <a:rPr lang="en-US" sz="16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scopeRules </a:t>
            </a:r>
            <a:r>
              <a:rPr lang="en-US" sz="16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8" name="Shape 498"/>
          <p:cNvCxnSpPr/>
          <p:nvPr/>
        </p:nvCxnSpPr>
        <p:spPr>
          <a:xfrm>
            <a:off x="0" y="692695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9" name="Shape 499"/>
          <p:cNvSpPr txBox="1">
            <a:spLocks noGrp="1"/>
          </p:cNvSpPr>
          <p:nvPr>
            <p:ph type="title"/>
          </p:nvPr>
        </p:nvSpPr>
        <p:spPr>
          <a:xfrm>
            <a:off x="228600" y="116631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4. EXAMPLE (3)</a:t>
            </a:r>
          </a:p>
        </p:txBody>
      </p:sp>
      <p:sp>
        <p:nvSpPr>
          <p:cNvPr id="500" name="Shape 500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22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pSp>
        <p:nvGrpSpPr>
          <p:cNvPr id="501" name="Shape 501"/>
          <p:cNvGrpSpPr/>
          <p:nvPr/>
        </p:nvGrpSpPr>
        <p:grpSpPr>
          <a:xfrm>
            <a:off x="179512" y="764703"/>
            <a:ext cx="8784977" cy="6001642"/>
            <a:chOff x="179512" y="764703"/>
            <a:chExt cx="8784977" cy="6001642"/>
          </a:xfrm>
        </p:grpSpPr>
        <p:grpSp>
          <p:nvGrpSpPr>
            <p:cNvPr id="502" name="Shape 502"/>
            <p:cNvGrpSpPr/>
            <p:nvPr/>
          </p:nvGrpSpPr>
          <p:grpSpPr>
            <a:xfrm>
              <a:off x="179512" y="764703"/>
              <a:ext cx="8784977" cy="6001642"/>
              <a:chOff x="323528" y="1236821"/>
              <a:chExt cx="7848873" cy="4377571"/>
            </a:xfrm>
          </p:grpSpPr>
          <p:sp>
            <p:nvSpPr>
              <p:cNvPr id="503" name="Shape 503"/>
              <p:cNvSpPr txBox="1"/>
              <p:nvPr/>
            </p:nvSpPr>
            <p:spPr>
              <a:xfrm>
                <a:off x="323528" y="1236821"/>
                <a:ext cx="450344" cy="4377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32</a:t>
                </a:r>
              </a:p>
            </p:txBody>
          </p:sp>
          <p:sp>
            <p:nvSpPr>
              <p:cNvPr id="504" name="Shape 504"/>
              <p:cNvSpPr txBox="1"/>
              <p:nvPr/>
            </p:nvSpPr>
            <p:spPr>
              <a:xfrm>
                <a:off x="788527" y="1236821"/>
                <a:ext cx="7383873" cy="4377571"/>
              </a:xfrm>
              <a:prstGeom prst="rect">
                <a:avLst/>
              </a:prstGeom>
              <a:solidFill>
                <a:schemeClr val="lt2"/>
              </a:solidFill>
              <a:ln w="28575" cap="rnd" cmpd="thickThin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public class scopeRules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final double rate = 10.50;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int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double t;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</a:t>
                </a: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public static void main (String[] args)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int num;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double x,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ch;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one (int x, char y)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int w;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two (int one, int z)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ch;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int a;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{ //block three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int x = 12;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} //end of class</a:t>
                </a:r>
              </a:p>
            </p:txBody>
          </p:sp>
        </p:grpSp>
        <p:sp>
          <p:nvSpPr>
            <p:cNvPr id="505" name="Shape 505"/>
            <p:cNvSpPr/>
            <p:nvPr/>
          </p:nvSpPr>
          <p:spPr>
            <a:xfrm>
              <a:off x="755575" y="836712"/>
              <a:ext cx="8136903" cy="5832648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06" name="Shape 506"/>
            <p:cNvSpPr/>
            <p:nvPr/>
          </p:nvSpPr>
          <p:spPr>
            <a:xfrm>
              <a:off x="827583" y="2060848"/>
              <a:ext cx="7848873" cy="1368151"/>
            </a:xfrm>
            <a:prstGeom prst="rect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07" name="Shape 507"/>
            <p:cNvSpPr/>
            <p:nvPr/>
          </p:nvSpPr>
          <p:spPr>
            <a:xfrm>
              <a:off x="827583" y="3501007"/>
              <a:ext cx="7848873" cy="792087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08" name="Shape 508"/>
            <p:cNvSpPr/>
            <p:nvPr/>
          </p:nvSpPr>
          <p:spPr>
            <a:xfrm>
              <a:off x="827583" y="4797151"/>
              <a:ext cx="7848873" cy="1656183"/>
            </a:xfrm>
            <a:prstGeom prst="rect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09" name="Shape 509"/>
            <p:cNvSpPr/>
            <p:nvPr/>
          </p:nvSpPr>
          <p:spPr>
            <a:xfrm>
              <a:off x="979983" y="5593432"/>
              <a:ext cx="7552454" cy="571871"/>
            </a:xfrm>
            <a:prstGeom prst="rect">
              <a:avLst/>
            </a:prstGeom>
            <a:noFill/>
            <a:ln w="19050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</p:grpSp>
      <p:sp>
        <p:nvSpPr>
          <p:cNvPr id="510" name="Shape 510"/>
          <p:cNvSpPr/>
          <p:nvPr/>
        </p:nvSpPr>
        <p:spPr>
          <a:xfrm>
            <a:off x="683568" y="3501007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511" name="Shape 511"/>
          <p:cNvCxnSpPr/>
          <p:nvPr/>
        </p:nvCxnSpPr>
        <p:spPr>
          <a:xfrm>
            <a:off x="323528" y="3614100"/>
            <a:ext cx="0" cy="276722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lg" len="lg"/>
            <a:tailEnd type="triangle" w="lg" len="lg"/>
          </a:ln>
        </p:spPr>
      </p:cxnSp>
      <p:cxnSp>
        <p:nvCxnSpPr>
          <p:cNvPr id="512" name="Shape 512"/>
          <p:cNvCxnSpPr/>
          <p:nvPr/>
        </p:nvCxnSpPr>
        <p:spPr>
          <a:xfrm rot="10800000">
            <a:off x="323528" y="2132855"/>
            <a:ext cx="0" cy="147108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513" name="Shape 513"/>
          <p:cNvSpPr/>
          <p:nvPr/>
        </p:nvSpPr>
        <p:spPr>
          <a:xfrm>
            <a:off x="2195735" y="3501007"/>
            <a:ext cx="396043" cy="226184"/>
          </a:xfrm>
          <a:prstGeom prst="rect">
            <a:avLst/>
          </a:prstGeom>
          <a:solidFill>
            <a:srgbClr val="FFC000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514" name="Shape 514"/>
          <p:cNvSpPr/>
          <p:nvPr/>
        </p:nvSpPr>
        <p:spPr>
          <a:xfrm>
            <a:off x="2627783" y="3501007"/>
            <a:ext cx="396043" cy="226184"/>
          </a:xfrm>
          <a:prstGeom prst="rect">
            <a:avLst/>
          </a:prstGeom>
          <a:solidFill>
            <a:srgbClr val="FFC000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515" name="Shape 515"/>
          <p:cNvCxnSpPr/>
          <p:nvPr/>
        </p:nvCxnSpPr>
        <p:spPr>
          <a:xfrm>
            <a:off x="251519" y="3614100"/>
            <a:ext cx="0" cy="6069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516" name="Shape 516"/>
          <p:cNvSpPr/>
          <p:nvPr/>
        </p:nvSpPr>
        <p:spPr>
          <a:xfrm>
            <a:off x="3095835" y="3501007"/>
            <a:ext cx="396043" cy="226184"/>
          </a:xfrm>
          <a:prstGeom prst="rect">
            <a:avLst/>
          </a:prstGeom>
          <a:solidFill>
            <a:srgbClr val="FFC000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517" name="Shape 517"/>
          <p:cNvCxnSpPr/>
          <p:nvPr/>
        </p:nvCxnSpPr>
        <p:spPr>
          <a:xfrm>
            <a:off x="179511" y="3614100"/>
            <a:ext cx="0" cy="6069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518" name="Shape 518"/>
          <p:cNvSpPr/>
          <p:nvPr/>
        </p:nvSpPr>
        <p:spPr>
          <a:xfrm>
            <a:off x="6156176" y="3176972"/>
            <a:ext cx="2448271" cy="2268252"/>
          </a:xfrm>
          <a:prstGeom prst="wedgeEllipseCallout">
            <a:avLst>
              <a:gd name="adj1" fmla="val -123265"/>
              <a:gd name="adj2" fmla="val -32013"/>
            </a:avLst>
          </a:prstGeom>
          <a:solidFill>
            <a:srgbClr val="FFFF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400" u="sng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Non-static Identifiers scope</a:t>
            </a:r>
            <a:r>
              <a:rPr lang="en-US" sz="14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: from the point of declaration till the end of the block in which they are declared</a:t>
            </a:r>
          </a:p>
        </p:txBody>
      </p:sp>
      <p:sp>
        <p:nvSpPr>
          <p:cNvPr id="519" name="Shape 519"/>
          <p:cNvSpPr/>
          <p:nvPr/>
        </p:nvSpPr>
        <p:spPr>
          <a:xfrm>
            <a:off x="6308576" y="836712"/>
            <a:ext cx="2448271" cy="2268252"/>
          </a:xfrm>
          <a:prstGeom prst="wedgeEllipseCallout">
            <a:avLst>
              <a:gd name="adj1" fmla="val -212015"/>
              <a:gd name="adj2" fmla="val 68171"/>
            </a:avLst>
          </a:prstGeom>
          <a:solidFill>
            <a:srgbClr val="92D05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u="sng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Static Methods Scope</a:t>
            </a:r>
            <a:r>
              <a:rPr lang="en-US" sz="16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: all the static methods of the </a:t>
            </a:r>
            <a:r>
              <a:rPr lang="en-US" sz="16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scopeRules </a:t>
            </a:r>
            <a:r>
              <a:rPr lang="en-US" sz="16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4" name="Shape 524"/>
          <p:cNvCxnSpPr/>
          <p:nvPr/>
        </p:nvCxnSpPr>
        <p:spPr>
          <a:xfrm>
            <a:off x="0" y="692695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Shape 525"/>
          <p:cNvSpPr txBox="1">
            <a:spLocks noGrp="1"/>
          </p:cNvSpPr>
          <p:nvPr>
            <p:ph type="title"/>
          </p:nvPr>
        </p:nvSpPr>
        <p:spPr>
          <a:xfrm>
            <a:off x="228600" y="116631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4. EXAMPLE (4)</a:t>
            </a:r>
          </a:p>
        </p:txBody>
      </p:sp>
      <p:sp>
        <p:nvSpPr>
          <p:cNvPr id="526" name="Shape 526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23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pSp>
        <p:nvGrpSpPr>
          <p:cNvPr id="527" name="Shape 527"/>
          <p:cNvGrpSpPr/>
          <p:nvPr/>
        </p:nvGrpSpPr>
        <p:grpSpPr>
          <a:xfrm>
            <a:off x="179512" y="764703"/>
            <a:ext cx="8784977" cy="6001642"/>
            <a:chOff x="179512" y="764703"/>
            <a:chExt cx="8784977" cy="6001642"/>
          </a:xfrm>
        </p:grpSpPr>
        <p:grpSp>
          <p:nvGrpSpPr>
            <p:cNvPr id="528" name="Shape 528"/>
            <p:cNvGrpSpPr/>
            <p:nvPr/>
          </p:nvGrpSpPr>
          <p:grpSpPr>
            <a:xfrm>
              <a:off x="179512" y="764703"/>
              <a:ext cx="8784977" cy="6001642"/>
              <a:chOff x="323528" y="1236821"/>
              <a:chExt cx="7848873" cy="4377571"/>
            </a:xfrm>
          </p:grpSpPr>
          <p:sp>
            <p:nvSpPr>
              <p:cNvPr id="529" name="Shape 529"/>
              <p:cNvSpPr txBox="1"/>
              <p:nvPr/>
            </p:nvSpPr>
            <p:spPr>
              <a:xfrm>
                <a:off x="323528" y="1236821"/>
                <a:ext cx="450344" cy="4377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32</a:t>
                </a:r>
              </a:p>
            </p:txBody>
          </p:sp>
          <p:sp>
            <p:nvSpPr>
              <p:cNvPr id="530" name="Shape 530"/>
              <p:cNvSpPr txBox="1"/>
              <p:nvPr/>
            </p:nvSpPr>
            <p:spPr>
              <a:xfrm>
                <a:off x="788527" y="1236821"/>
                <a:ext cx="7383873" cy="4377571"/>
              </a:xfrm>
              <a:prstGeom prst="rect">
                <a:avLst/>
              </a:prstGeom>
              <a:solidFill>
                <a:schemeClr val="lt2"/>
              </a:solidFill>
              <a:ln w="28575" cap="rnd" cmpd="thickThin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public class scopeRules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final double rate = 10.50;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int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double t;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</a:t>
                </a: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public static void main (String[] args)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int num;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double x,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ch;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one (int x, char y)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int w;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two (int one, int z)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ch;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int a;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{ //block three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int x = 12;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} //end of class</a:t>
                </a:r>
              </a:p>
            </p:txBody>
          </p:sp>
        </p:grpSp>
        <p:sp>
          <p:nvSpPr>
            <p:cNvPr id="531" name="Shape 531"/>
            <p:cNvSpPr/>
            <p:nvPr/>
          </p:nvSpPr>
          <p:spPr>
            <a:xfrm>
              <a:off x="755575" y="836712"/>
              <a:ext cx="8136903" cy="5832648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32" name="Shape 532"/>
            <p:cNvSpPr/>
            <p:nvPr/>
          </p:nvSpPr>
          <p:spPr>
            <a:xfrm>
              <a:off x="827583" y="2060848"/>
              <a:ext cx="7848873" cy="1368151"/>
            </a:xfrm>
            <a:prstGeom prst="rect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33" name="Shape 533"/>
            <p:cNvSpPr/>
            <p:nvPr/>
          </p:nvSpPr>
          <p:spPr>
            <a:xfrm>
              <a:off x="827583" y="3501007"/>
              <a:ext cx="7848873" cy="792087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34" name="Shape 534"/>
            <p:cNvSpPr/>
            <p:nvPr/>
          </p:nvSpPr>
          <p:spPr>
            <a:xfrm>
              <a:off x="827583" y="4797151"/>
              <a:ext cx="7848873" cy="1656183"/>
            </a:xfrm>
            <a:prstGeom prst="rect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35" name="Shape 535"/>
            <p:cNvSpPr/>
            <p:nvPr/>
          </p:nvSpPr>
          <p:spPr>
            <a:xfrm>
              <a:off x="979983" y="5593432"/>
              <a:ext cx="7552454" cy="571871"/>
            </a:xfrm>
            <a:prstGeom prst="rect">
              <a:avLst/>
            </a:prstGeom>
            <a:noFill/>
            <a:ln w="19050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</p:grpSp>
      <p:sp>
        <p:nvSpPr>
          <p:cNvPr id="536" name="Shape 536"/>
          <p:cNvSpPr/>
          <p:nvPr/>
        </p:nvSpPr>
        <p:spPr>
          <a:xfrm>
            <a:off x="683568" y="4426951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537" name="Shape 537"/>
          <p:cNvCxnSpPr/>
          <p:nvPr/>
        </p:nvCxnSpPr>
        <p:spPr>
          <a:xfrm>
            <a:off x="323528" y="4540044"/>
            <a:ext cx="0" cy="1841283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oval" w="lg" len="lg"/>
            <a:tailEnd type="triangle" w="lg" len="lg"/>
          </a:ln>
        </p:spPr>
      </p:cxnSp>
      <p:cxnSp>
        <p:nvCxnSpPr>
          <p:cNvPr id="538" name="Shape 538"/>
          <p:cNvCxnSpPr/>
          <p:nvPr/>
        </p:nvCxnSpPr>
        <p:spPr>
          <a:xfrm rot="10800000">
            <a:off x="323528" y="2132856"/>
            <a:ext cx="0" cy="2407187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539" name="Shape 539"/>
          <p:cNvSpPr/>
          <p:nvPr/>
        </p:nvSpPr>
        <p:spPr>
          <a:xfrm>
            <a:off x="6372200" y="1880827"/>
            <a:ext cx="2448271" cy="2268252"/>
          </a:xfrm>
          <a:prstGeom prst="wedgeEllipseCallout">
            <a:avLst>
              <a:gd name="adj1" fmla="val -212015"/>
              <a:gd name="adj2" fmla="val 68171"/>
            </a:avLst>
          </a:prstGeom>
          <a:solidFill>
            <a:srgbClr val="FBDFD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u="sng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Static variable scope</a:t>
            </a:r>
            <a:r>
              <a:rPr lang="en-US" sz="16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: all static methods in the </a:t>
            </a:r>
            <a:r>
              <a:rPr lang="en-US" sz="16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scopeRules </a:t>
            </a:r>
            <a:r>
              <a:rPr lang="en-US" sz="16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4" name="Shape 544"/>
          <p:cNvCxnSpPr/>
          <p:nvPr/>
        </p:nvCxnSpPr>
        <p:spPr>
          <a:xfrm>
            <a:off x="0" y="692695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5" name="Shape 545"/>
          <p:cNvSpPr txBox="1">
            <a:spLocks noGrp="1"/>
          </p:cNvSpPr>
          <p:nvPr>
            <p:ph type="title"/>
          </p:nvPr>
        </p:nvSpPr>
        <p:spPr>
          <a:xfrm>
            <a:off x="228600" y="116631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4. EXAMPLE (5)</a:t>
            </a:r>
          </a:p>
        </p:txBody>
      </p:sp>
      <p:sp>
        <p:nvSpPr>
          <p:cNvPr id="546" name="Shape 546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24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pSp>
        <p:nvGrpSpPr>
          <p:cNvPr id="547" name="Shape 547"/>
          <p:cNvGrpSpPr/>
          <p:nvPr/>
        </p:nvGrpSpPr>
        <p:grpSpPr>
          <a:xfrm>
            <a:off x="179512" y="764703"/>
            <a:ext cx="8784977" cy="6001642"/>
            <a:chOff x="179512" y="764703"/>
            <a:chExt cx="8784977" cy="6001642"/>
          </a:xfrm>
        </p:grpSpPr>
        <p:grpSp>
          <p:nvGrpSpPr>
            <p:cNvPr id="548" name="Shape 548"/>
            <p:cNvGrpSpPr/>
            <p:nvPr/>
          </p:nvGrpSpPr>
          <p:grpSpPr>
            <a:xfrm>
              <a:off x="179512" y="764703"/>
              <a:ext cx="8784977" cy="6001642"/>
              <a:chOff x="323528" y="1236821"/>
              <a:chExt cx="7848873" cy="4377571"/>
            </a:xfrm>
          </p:grpSpPr>
          <p:sp>
            <p:nvSpPr>
              <p:cNvPr id="549" name="Shape 549"/>
              <p:cNvSpPr txBox="1"/>
              <p:nvPr/>
            </p:nvSpPr>
            <p:spPr>
              <a:xfrm>
                <a:off x="323528" y="1236821"/>
                <a:ext cx="450344" cy="4377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32</a:t>
                </a:r>
              </a:p>
            </p:txBody>
          </p:sp>
          <p:sp>
            <p:nvSpPr>
              <p:cNvPr id="550" name="Shape 550"/>
              <p:cNvSpPr txBox="1"/>
              <p:nvPr/>
            </p:nvSpPr>
            <p:spPr>
              <a:xfrm>
                <a:off x="788527" y="1236821"/>
                <a:ext cx="7383873" cy="4377571"/>
              </a:xfrm>
              <a:prstGeom prst="rect">
                <a:avLst/>
              </a:prstGeom>
              <a:solidFill>
                <a:schemeClr val="lt2"/>
              </a:solidFill>
              <a:ln w="28575" cap="rnd" cmpd="thickThin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public class </a:t>
                </a:r>
                <a:r>
                  <a:rPr lang="en-US" sz="1200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scopeRules</a:t>
                </a:r>
                <a:endPara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final double rate = 10.50;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int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double t;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public static void main (String[] </a:t>
                </a:r>
                <a:r>
                  <a:rPr lang="en-US" sz="1200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args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int num;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double x,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</a:t>
                </a:r>
                <a:r>
                  <a:rPr lang="en-US" sz="1200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ch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one (int x, char y)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int w;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two (int one, int z)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</a:t>
                </a:r>
                <a:r>
                  <a:rPr lang="en-US" sz="1200" dirty="0" err="1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ch</a:t>
                </a: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int a;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{ //block three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int x = 12;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} //end of class</a:t>
                </a:r>
              </a:p>
            </p:txBody>
          </p:sp>
        </p:grpSp>
        <p:sp>
          <p:nvSpPr>
            <p:cNvPr id="551" name="Shape 551"/>
            <p:cNvSpPr/>
            <p:nvPr/>
          </p:nvSpPr>
          <p:spPr>
            <a:xfrm>
              <a:off x="755575" y="836712"/>
              <a:ext cx="8136903" cy="5832648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52" name="Shape 552"/>
            <p:cNvSpPr/>
            <p:nvPr/>
          </p:nvSpPr>
          <p:spPr>
            <a:xfrm>
              <a:off x="827583" y="2060848"/>
              <a:ext cx="7848873" cy="1368151"/>
            </a:xfrm>
            <a:prstGeom prst="rect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53" name="Shape 553"/>
            <p:cNvSpPr/>
            <p:nvPr/>
          </p:nvSpPr>
          <p:spPr>
            <a:xfrm>
              <a:off x="827583" y="3501007"/>
              <a:ext cx="7848873" cy="792087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54" name="Shape 554"/>
            <p:cNvSpPr/>
            <p:nvPr/>
          </p:nvSpPr>
          <p:spPr>
            <a:xfrm>
              <a:off x="827583" y="4797151"/>
              <a:ext cx="7848873" cy="1656183"/>
            </a:xfrm>
            <a:prstGeom prst="rect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55" name="Shape 555"/>
            <p:cNvSpPr/>
            <p:nvPr/>
          </p:nvSpPr>
          <p:spPr>
            <a:xfrm>
              <a:off x="979983" y="5593432"/>
              <a:ext cx="7552454" cy="571871"/>
            </a:xfrm>
            <a:prstGeom prst="rect">
              <a:avLst/>
            </a:prstGeom>
            <a:noFill/>
            <a:ln w="19050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</p:grpSp>
      <p:sp>
        <p:nvSpPr>
          <p:cNvPr id="556" name="Shape 556"/>
          <p:cNvSpPr/>
          <p:nvPr/>
        </p:nvSpPr>
        <p:spPr>
          <a:xfrm>
            <a:off x="683568" y="4786992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557" name="Shape 557"/>
          <p:cNvCxnSpPr/>
          <p:nvPr/>
        </p:nvCxnSpPr>
        <p:spPr>
          <a:xfrm>
            <a:off x="323528" y="4900083"/>
            <a:ext cx="0" cy="1481244"/>
          </a:xfrm>
          <a:prstGeom prst="straightConnector1">
            <a:avLst/>
          </a:prstGeom>
          <a:noFill/>
          <a:ln w="28575" cap="flat" cmpd="sng">
            <a:solidFill>
              <a:srgbClr val="00B0F0"/>
            </a:solidFill>
            <a:prstDash val="solid"/>
            <a:round/>
            <a:headEnd type="oval" w="lg" len="lg"/>
            <a:tailEnd type="triangle" w="lg" len="lg"/>
          </a:ln>
        </p:spPr>
      </p:cxnSp>
      <p:cxnSp>
        <p:nvCxnSpPr>
          <p:cNvPr id="558" name="Shape 558"/>
          <p:cNvCxnSpPr/>
          <p:nvPr/>
        </p:nvCxnSpPr>
        <p:spPr>
          <a:xfrm rot="10800000">
            <a:off x="323528" y="2132855"/>
            <a:ext cx="0" cy="2767228"/>
          </a:xfrm>
          <a:prstGeom prst="straightConnector1">
            <a:avLst/>
          </a:prstGeom>
          <a:noFill/>
          <a:ln w="28575" cap="flat" cmpd="sng">
            <a:solidFill>
              <a:srgbClr val="00B0F0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559" name="Shape 559"/>
          <p:cNvSpPr/>
          <p:nvPr/>
        </p:nvSpPr>
        <p:spPr>
          <a:xfrm>
            <a:off x="2195735" y="4786992"/>
            <a:ext cx="396043" cy="226184"/>
          </a:xfrm>
          <a:prstGeom prst="rect">
            <a:avLst/>
          </a:prstGeom>
          <a:solidFill>
            <a:srgbClr val="FFC000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560" name="Shape 560"/>
          <p:cNvSpPr/>
          <p:nvPr/>
        </p:nvSpPr>
        <p:spPr>
          <a:xfrm>
            <a:off x="2807803" y="4797151"/>
            <a:ext cx="396043" cy="226184"/>
          </a:xfrm>
          <a:prstGeom prst="rect">
            <a:avLst/>
          </a:prstGeom>
          <a:solidFill>
            <a:srgbClr val="FFC000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561" name="Shape 561"/>
          <p:cNvCxnSpPr/>
          <p:nvPr/>
        </p:nvCxnSpPr>
        <p:spPr>
          <a:xfrm>
            <a:off x="251519" y="4900083"/>
            <a:ext cx="0" cy="1481244"/>
          </a:xfrm>
          <a:prstGeom prst="straightConnector1">
            <a:avLst/>
          </a:prstGeom>
          <a:noFill/>
          <a:ln w="28575" cap="flat" cmpd="sng">
            <a:solidFill>
              <a:srgbClr val="00B0F0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562" name="Shape 562"/>
          <p:cNvSpPr/>
          <p:nvPr/>
        </p:nvSpPr>
        <p:spPr>
          <a:xfrm>
            <a:off x="3239851" y="4797151"/>
            <a:ext cx="396043" cy="226184"/>
          </a:xfrm>
          <a:prstGeom prst="rect">
            <a:avLst/>
          </a:prstGeom>
          <a:solidFill>
            <a:srgbClr val="FFC000">
              <a:alpha val="2470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563" name="Shape 563"/>
          <p:cNvCxnSpPr/>
          <p:nvPr/>
        </p:nvCxnSpPr>
        <p:spPr>
          <a:xfrm>
            <a:off x="179511" y="4900083"/>
            <a:ext cx="0" cy="1481244"/>
          </a:xfrm>
          <a:prstGeom prst="straightConnector1">
            <a:avLst/>
          </a:prstGeom>
          <a:noFill/>
          <a:ln w="28575" cap="flat" cmpd="sng">
            <a:solidFill>
              <a:srgbClr val="00B0F0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564" name="Shape 564"/>
          <p:cNvSpPr/>
          <p:nvPr/>
        </p:nvSpPr>
        <p:spPr>
          <a:xfrm>
            <a:off x="6372200" y="1736811"/>
            <a:ext cx="2448271" cy="2268252"/>
          </a:xfrm>
          <a:prstGeom prst="wedgeEllipseCallout">
            <a:avLst>
              <a:gd name="adj1" fmla="val -212015"/>
              <a:gd name="adj2" fmla="val 84536"/>
            </a:avLst>
          </a:prstGeom>
          <a:solidFill>
            <a:srgbClr val="92D05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600" u="sng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Static Methods Scope</a:t>
            </a:r>
            <a:r>
              <a:rPr lang="en-US" sz="16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: all the static methods of the </a:t>
            </a:r>
            <a:r>
              <a:rPr lang="en-US" sz="16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scopeRules </a:t>
            </a:r>
            <a:r>
              <a:rPr lang="en-US" sz="16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class</a:t>
            </a:r>
          </a:p>
        </p:txBody>
      </p:sp>
      <p:sp>
        <p:nvSpPr>
          <p:cNvPr id="565" name="Shape 565"/>
          <p:cNvSpPr/>
          <p:nvPr/>
        </p:nvSpPr>
        <p:spPr>
          <a:xfrm>
            <a:off x="6156176" y="4185083"/>
            <a:ext cx="2448271" cy="2268252"/>
          </a:xfrm>
          <a:prstGeom prst="wedgeEllipseCallout">
            <a:avLst>
              <a:gd name="adj1" fmla="val -151369"/>
              <a:gd name="adj2" fmla="val -17644"/>
            </a:avLst>
          </a:prstGeom>
          <a:solidFill>
            <a:srgbClr val="FFFF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400" u="sng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Non-static Identifiers scope</a:t>
            </a:r>
            <a:r>
              <a:rPr lang="en-US" sz="14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: from the point of declaration till the end of the block in which they are declared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0" name="Shape 570"/>
          <p:cNvCxnSpPr/>
          <p:nvPr/>
        </p:nvCxnSpPr>
        <p:spPr>
          <a:xfrm>
            <a:off x="0" y="692695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1" name="Shape 571"/>
          <p:cNvSpPr txBox="1">
            <a:spLocks noGrp="1"/>
          </p:cNvSpPr>
          <p:nvPr>
            <p:ph type="title"/>
          </p:nvPr>
        </p:nvSpPr>
        <p:spPr>
          <a:xfrm>
            <a:off x="228600" y="116631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4. EXAMPLE (6)</a:t>
            </a:r>
          </a:p>
        </p:txBody>
      </p:sp>
      <p:sp>
        <p:nvSpPr>
          <p:cNvPr id="572" name="Shape 572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25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pSp>
        <p:nvGrpSpPr>
          <p:cNvPr id="573" name="Shape 573"/>
          <p:cNvGrpSpPr/>
          <p:nvPr/>
        </p:nvGrpSpPr>
        <p:grpSpPr>
          <a:xfrm>
            <a:off x="179512" y="764703"/>
            <a:ext cx="8784977" cy="6001642"/>
            <a:chOff x="179512" y="764703"/>
            <a:chExt cx="8784977" cy="6001642"/>
          </a:xfrm>
        </p:grpSpPr>
        <p:grpSp>
          <p:nvGrpSpPr>
            <p:cNvPr id="574" name="Shape 574"/>
            <p:cNvGrpSpPr/>
            <p:nvPr/>
          </p:nvGrpSpPr>
          <p:grpSpPr>
            <a:xfrm>
              <a:off x="179512" y="764703"/>
              <a:ext cx="8784977" cy="6001642"/>
              <a:chOff x="323528" y="1236821"/>
              <a:chExt cx="7848873" cy="4377571"/>
            </a:xfrm>
          </p:grpSpPr>
          <p:sp>
            <p:nvSpPr>
              <p:cNvPr id="575" name="Shape 575"/>
              <p:cNvSpPr txBox="1"/>
              <p:nvPr/>
            </p:nvSpPr>
            <p:spPr>
              <a:xfrm>
                <a:off x="323528" y="1236821"/>
                <a:ext cx="450344" cy="4377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32</a:t>
                </a:r>
              </a:p>
            </p:txBody>
          </p:sp>
          <p:sp>
            <p:nvSpPr>
              <p:cNvPr id="576" name="Shape 576"/>
              <p:cNvSpPr txBox="1"/>
              <p:nvPr/>
            </p:nvSpPr>
            <p:spPr>
              <a:xfrm>
                <a:off x="788527" y="1236821"/>
                <a:ext cx="7383873" cy="4377571"/>
              </a:xfrm>
              <a:prstGeom prst="rect">
                <a:avLst/>
              </a:prstGeom>
              <a:solidFill>
                <a:schemeClr val="lt2"/>
              </a:solidFill>
              <a:ln w="28575" cap="rnd" cmpd="thickThin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public class </a:t>
                </a:r>
                <a:r>
                  <a:rPr lang="en-US" sz="1200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scopeRules</a:t>
                </a:r>
                <a:endPara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final double rate = 10.50;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</a:t>
                </a:r>
                <a:r>
                  <a:rPr lang="en-US" sz="1200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double t;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public static void main (String[] </a:t>
                </a:r>
                <a:r>
                  <a:rPr lang="en-US" sz="1200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args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</a:t>
                </a:r>
                <a:r>
                  <a:rPr lang="en-US" sz="1200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</a:t>
                </a:r>
                <a:r>
                  <a:rPr lang="en-US" sz="1200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num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double x,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</a:t>
                </a:r>
                <a:r>
                  <a:rPr lang="en-US" sz="1200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ch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one (</a:t>
                </a:r>
                <a:r>
                  <a:rPr lang="en-US" sz="1200" dirty="0" err="1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x, char y)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</a:t>
                </a:r>
                <a:r>
                  <a:rPr lang="en-US" sz="1200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w;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two (</a:t>
                </a:r>
                <a:r>
                  <a:rPr lang="en-US" sz="1200" dirty="0" err="1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one, </a:t>
                </a:r>
                <a:r>
                  <a:rPr lang="en-US" sz="1200" dirty="0" err="1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z)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</a:t>
                </a:r>
                <a:r>
                  <a:rPr lang="en-US" sz="1200" dirty="0" err="1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ch</a:t>
                </a: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</a:t>
                </a:r>
                <a:r>
                  <a:rPr lang="en-US" sz="1200" dirty="0" err="1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a;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{ //block three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</a:t>
                </a:r>
                <a:r>
                  <a:rPr lang="en-US" sz="1200" dirty="0" err="1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x = 12;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} //end of class</a:t>
                </a:r>
              </a:p>
            </p:txBody>
          </p:sp>
        </p:grpSp>
        <p:sp>
          <p:nvSpPr>
            <p:cNvPr id="577" name="Shape 577"/>
            <p:cNvSpPr/>
            <p:nvPr/>
          </p:nvSpPr>
          <p:spPr>
            <a:xfrm>
              <a:off x="755575" y="836712"/>
              <a:ext cx="8136903" cy="5832648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78" name="Shape 578"/>
            <p:cNvSpPr/>
            <p:nvPr/>
          </p:nvSpPr>
          <p:spPr>
            <a:xfrm>
              <a:off x="827583" y="2060848"/>
              <a:ext cx="7848873" cy="1368151"/>
            </a:xfrm>
            <a:prstGeom prst="rect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79" name="Shape 579"/>
            <p:cNvSpPr/>
            <p:nvPr/>
          </p:nvSpPr>
          <p:spPr>
            <a:xfrm>
              <a:off x="827583" y="3501007"/>
              <a:ext cx="7848873" cy="792087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80" name="Shape 580"/>
            <p:cNvSpPr/>
            <p:nvPr/>
          </p:nvSpPr>
          <p:spPr>
            <a:xfrm>
              <a:off x="827583" y="4797151"/>
              <a:ext cx="7848873" cy="1656183"/>
            </a:xfrm>
            <a:prstGeom prst="rect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81" name="Shape 581"/>
            <p:cNvSpPr/>
            <p:nvPr/>
          </p:nvSpPr>
          <p:spPr>
            <a:xfrm>
              <a:off x="979983" y="5593432"/>
              <a:ext cx="7552454" cy="571871"/>
            </a:xfrm>
            <a:prstGeom prst="rect">
              <a:avLst/>
            </a:prstGeom>
            <a:noFill/>
            <a:ln w="19050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</p:grpSp>
      <p:sp>
        <p:nvSpPr>
          <p:cNvPr id="582" name="Shape 582"/>
          <p:cNvSpPr/>
          <p:nvPr/>
        </p:nvSpPr>
        <p:spPr>
          <a:xfrm>
            <a:off x="683568" y="5147032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583" name="Shape 583"/>
          <p:cNvCxnSpPr/>
          <p:nvPr/>
        </p:nvCxnSpPr>
        <p:spPr>
          <a:xfrm>
            <a:off x="323528" y="5260123"/>
            <a:ext cx="0" cy="1121203"/>
          </a:xfrm>
          <a:prstGeom prst="straightConnector1">
            <a:avLst/>
          </a:prstGeom>
          <a:noFill/>
          <a:ln w="28575" cap="flat" cmpd="sng">
            <a:solidFill>
              <a:srgbClr val="00B0F0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584" name="Shape 584"/>
          <p:cNvSpPr/>
          <p:nvPr/>
        </p:nvSpPr>
        <p:spPr>
          <a:xfrm>
            <a:off x="683568" y="5363055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585" name="Shape 585"/>
          <p:cNvCxnSpPr/>
          <p:nvPr/>
        </p:nvCxnSpPr>
        <p:spPr>
          <a:xfrm>
            <a:off x="179511" y="5476148"/>
            <a:ext cx="0" cy="905180"/>
          </a:xfrm>
          <a:prstGeom prst="straightConnector1">
            <a:avLst/>
          </a:prstGeom>
          <a:noFill/>
          <a:ln w="28575" cap="flat" cmpd="sng">
            <a:solidFill>
              <a:srgbClr val="00B0F0"/>
            </a:solidFill>
            <a:prstDash val="solid"/>
            <a:round/>
            <a:headEnd type="oval" w="lg" len="lg"/>
            <a:tailEnd type="triangle" w="lg" len="lg"/>
          </a:ln>
        </p:spPr>
      </p:cxnSp>
      <p:sp>
        <p:nvSpPr>
          <p:cNvPr id="586" name="Shape 586"/>
          <p:cNvSpPr/>
          <p:nvPr/>
        </p:nvSpPr>
        <p:spPr>
          <a:xfrm>
            <a:off x="6156176" y="3068959"/>
            <a:ext cx="2448271" cy="2268252"/>
          </a:xfrm>
          <a:prstGeom prst="wedgeEllipseCallout">
            <a:avLst>
              <a:gd name="adj1" fmla="val -157286"/>
              <a:gd name="adj2" fmla="val 52205"/>
            </a:avLst>
          </a:prstGeom>
          <a:solidFill>
            <a:srgbClr val="FFFF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400" u="sng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Non-static Identifiers scope</a:t>
            </a:r>
            <a:r>
              <a:rPr lang="en-US" sz="14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: from the point of declaration till the end of the block in which they are declared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1" name="Shape 591"/>
          <p:cNvCxnSpPr/>
          <p:nvPr/>
        </p:nvCxnSpPr>
        <p:spPr>
          <a:xfrm>
            <a:off x="0" y="692695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2" name="Shape 592"/>
          <p:cNvSpPr txBox="1">
            <a:spLocks noGrp="1"/>
          </p:cNvSpPr>
          <p:nvPr>
            <p:ph type="title"/>
          </p:nvPr>
        </p:nvSpPr>
        <p:spPr>
          <a:xfrm>
            <a:off x="228600" y="116631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4. EXAMPLE (7)</a:t>
            </a:r>
          </a:p>
        </p:txBody>
      </p:sp>
      <p:sp>
        <p:nvSpPr>
          <p:cNvPr id="593" name="Shape 593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26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pSp>
        <p:nvGrpSpPr>
          <p:cNvPr id="594" name="Shape 594"/>
          <p:cNvGrpSpPr/>
          <p:nvPr/>
        </p:nvGrpSpPr>
        <p:grpSpPr>
          <a:xfrm>
            <a:off x="179512" y="764703"/>
            <a:ext cx="8784977" cy="6001642"/>
            <a:chOff x="179512" y="764703"/>
            <a:chExt cx="8784977" cy="6001642"/>
          </a:xfrm>
        </p:grpSpPr>
        <p:grpSp>
          <p:nvGrpSpPr>
            <p:cNvPr id="595" name="Shape 595"/>
            <p:cNvGrpSpPr/>
            <p:nvPr/>
          </p:nvGrpSpPr>
          <p:grpSpPr>
            <a:xfrm>
              <a:off x="179512" y="764703"/>
              <a:ext cx="8784977" cy="6001642"/>
              <a:chOff x="323528" y="1236821"/>
              <a:chExt cx="7848873" cy="4377571"/>
            </a:xfrm>
          </p:grpSpPr>
          <p:sp>
            <p:nvSpPr>
              <p:cNvPr id="596" name="Shape 596"/>
              <p:cNvSpPr txBox="1"/>
              <p:nvPr/>
            </p:nvSpPr>
            <p:spPr>
              <a:xfrm>
                <a:off x="323528" y="1236821"/>
                <a:ext cx="450344" cy="4377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19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22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23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24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25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26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27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28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29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30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31</a:t>
                </a:r>
              </a:p>
              <a:p>
                <a:pPr marL="0" marR="0" lvl="0" indent="0" algn="r" rtl="0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32</a:t>
                </a:r>
              </a:p>
            </p:txBody>
          </p:sp>
          <p:sp>
            <p:nvSpPr>
              <p:cNvPr id="597" name="Shape 597"/>
              <p:cNvSpPr txBox="1"/>
              <p:nvPr/>
            </p:nvSpPr>
            <p:spPr>
              <a:xfrm>
                <a:off x="788527" y="1236821"/>
                <a:ext cx="7383873" cy="4377571"/>
              </a:xfrm>
              <a:prstGeom prst="rect">
                <a:avLst/>
              </a:prstGeom>
              <a:solidFill>
                <a:schemeClr val="lt2"/>
              </a:solidFill>
              <a:ln w="28575" cap="rnd" cmpd="thickThin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public class </a:t>
                </a:r>
                <a:r>
                  <a:rPr lang="en-US" sz="1200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scopeRules</a:t>
                </a:r>
                <a:endParaRPr lang="en-US"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final double rate = 10.50;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</a:t>
                </a:r>
                <a:r>
                  <a:rPr lang="en-US" sz="1200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static double t;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public static void main (String[] </a:t>
                </a:r>
                <a:r>
                  <a:rPr lang="en-US" sz="1200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args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</a:t>
                </a:r>
                <a:r>
                  <a:rPr lang="en-US" sz="1200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</a:t>
                </a:r>
                <a:r>
                  <a:rPr lang="en-US" sz="1200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num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double x, z;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</a:t>
                </a:r>
                <a:r>
                  <a:rPr lang="en-US" sz="1200" dirty="0" err="1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ch</a:t>
                </a: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one (</a:t>
                </a:r>
                <a:r>
                  <a:rPr lang="en-US" sz="1200" dirty="0" err="1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x, char y)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}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</a:t>
                </a:r>
                <a:r>
                  <a:rPr lang="en-US" sz="1200" dirty="0" err="1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w;</a:t>
                </a:r>
              </a:p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200" dirty="0">
                  <a:solidFill>
                    <a:srgbClr val="C00000"/>
                  </a:solidFill>
                  <a:latin typeface="Rambla"/>
                  <a:ea typeface="Rambla"/>
                  <a:cs typeface="Rambla"/>
                  <a:sym typeface="Rambla"/>
                </a:endParaRP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public static void two (</a:t>
                </a:r>
                <a:r>
                  <a:rPr lang="en-US" sz="1200" dirty="0" err="1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one, </a:t>
                </a:r>
                <a:r>
                  <a:rPr lang="en-US" sz="1200" dirty="0" err="1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z)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{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char </a:t>
                </a:r>
                <a:r>
                  <a:rPr lang="en-US" sz="1200" dirty="0" err="1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ch</a:t>
                </a: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</a:t>
                </a:r>
                <a:r>
                  <a:rPr lang="en-US" sz="1200" dirty="0" err="1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a;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{ //block three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   </a:t>
                </a:r>
                <a:r>
                  <a:rPr lang="en-US" sz="1200" dirty="0" err="1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int</a:t>
                </a: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x = 12;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9900CC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 //…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00B0F0"/>
                    </a:solidFill>
                    <a:latin typeface="Rambla"/>
                    <a:ea typeface="Rambla"/>
                    <a:cs typeface="Rambla"/>
                    <a:sym typeface="Rambla"/>
                  </a:rPr>
                  <a:t>    }</a:t>
                </a:r>
              </a:p>
              <a:p>
                <a:pPr marL="0" marR="0" lvl="0" indent="0" algn="l" rtl="0">
                  <a:spcBef>
                    <a:spcPts val="0"/>
                  </a:spcBef>
                  <a:buSzPct val="25000"/>
                  <a:buNone/>
                </a:pPr>
                <a:r>
                  <a:rPr lang="en-US" sz="1200" dirty="0">
                    <a:solidFill>
                      <a:srgbClr val="C00000"/>
                    </a:solidFill>
                    <a:latin typeface="Rambla"/>
                    <a:ea typeface="Rambla"/>
                    <a:cs typeface="Rambla"/>
                    <a:sym typeface="Rambla"/>
                  </a:rPr>
                  <a:t> } //end of class</a:t>
                </a:r>
              </a:p>
            </p:txBody>
          </p:sp>
        </p:grpSp>
        <p:sp>
          <p:nvSpPr>
            <p:cNvPr id="598" name="Shape 598"/>
            <p:cNvSpPr/>
            <p:nvPr/>
          </p:nvSpPr>
          <p:spPr>
            <a:xfrm>
              <a:off x="755575" y="836712"/>
              <a:ext cx="8136903" cy="5832648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599" name="Shape 599"/>
            <p:cNvSpPr/>
            <p:nvPr/>
          </p:nvSpPr>
          <p:spPr>
            <a:xfrm>
              <a:off x="827583" y="2060848"/>
              <a:ext cx="7848873" cy="1368151"/>
            </a:xfrm>
            <a:prstGeom prst="rect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600" name="Shape 600"/>
            <p:cNvSpPr/>
            <p:nvPr/>
          </p:nvSpPr>
          <p:spPr>
            <a:xfrm>
              <a:off x="827583" y="3501007"/>
              <a:ext cx="7848873" cy="792087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601" name="Shape 601"/>
            <p:cNvSpPr/>
            <p:nvPr/>
          </p:nvSpPr>
          <p:spPr>
            <a:xfrm>
              <a:off x="827583" y="4797151"/>
              <a:ext cx="7848873" cy="1656183"/>
            </a:xfrm>
            <a:prstGeom prst="rect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  <p:sp>
          <p:nvSpPr>
            <p:cNvPr id="602" name="Shape 602"/>
            <p:cNvSpPr/>
            <p:nvPr/>
          </p:nvSpPr>
          <p:spPr>
            <a:xfrm>
              <a:off x="979983" y="5593432"/>
              <a:ext cx="7552454" cy="571871"/>
            </a:xfrm>
            <a:prstGeom prst="rect">
              <a:avLst/>
            </a:prstGeom>
            <a:noFill/>
            <a:ln w="19050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600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endParaRPr>
            </a:p>
          </p:txBody>
        </p:sp>
      </p:grpSp>
      <p:sp>
        <p:nvSpPr>
          <p:cNvPr id="603" name="Shape 603"/>
          <p:cNvSpPr/>
          <p:nvPr/>
        </p:nvSpPr>
        <p:spPr>
          <a:xfrm>
            <a:off x="683568" y="5723096"/>
            <a:ext cx="8280919" cy="226184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cxnSp>
        <p:nvCxnSpPr>
          <p:cNvPr id="604" name="Shape 604"/>
          <p:cNvCxnSpPr/>
          <p:nvPr/>
        </p:nvCxnSpPr>
        <p:spPr>
          <a:xfrm>
            <a:off x="251519" y="5836187"/>
            <a:ext cx="0" cy="185100"/>
          </a:xfrm>
          <a:prstGeom prst="straightConnector1">
            <a:avLst/>
          </a:prstGeom>
          <a:noFill/>
          <a:ln w="28575" cap="flat" cmpd="sng">
            <a:solidFill>
              <a:srgbClr val="9900CC"/>
            </a:solidFill>
            <a:prstDash val="solid"/>
            <a:round/>
            <a:headEnd type="oval" w="med" len="med"/>
            <a:tailEnd type="triangle" w="lg" len="lg"/>
          </a:ln>
        </p:spPr>
      </p:cxnSp>
      <p:sp>
        <p:nvSpPr>
          <p:cNvPr id="605" name="Shape 605"/>
          <p:cNvSpPr/>
          <p:nvPr/>
        </p:nvSpPr>
        <p:spPr>
          <a:xfrm>
            <a:off x="6156176" y="3068959"/>
            <a:ext cx="2448271" cy="2268252"/>
          </a:xfrm>
          <a:prstGeom prst="wedgeEllipseCallout">
            <a:avLst>
              <a:gd name="adj1" fmla="val -158765"/>
              <a:gd name="adj2" fmla="val 71763"/>
            </a:avLst>
          </a:prstGeom>
          <a:solidFill>
            <a:srgbClr val="FFFF00"/>
          </a:solidFill>
          <a:ln w="55000" cap="flat" cmpd="thickThin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400" u="sng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Non-static Identifiers Scope</a:t>
            </a:r>
            <a:r>
              <a:rPr lang="en-US" sz="140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: from the point of declaration till the end of the block in which they are declared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0" name="Shape 610"/>
          <p:cNvCxnSpPr/>
          <p:nvPr/>
        </p:nvCxnSpPr>
        <p:spPr>
          <a:xfrm>
            <a:off x="0" y="692695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1" name="Shape 611"/>
          <p:cNvSpPr txBox="1">
            <a:spLocks noGrp="1"/>
          </p:cNvSpPr>
          <p:nvPr>
            <p:ph type="title"/>
          </p:nvPr>
        </p:nvSpPr>
        <p:spPr>
          <a:xfrm>
            <a:off x="228600" y="116631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4. EXAMPLE (8)</a:t>
            </a:r>
          </a:p>
        </p:txBody>
      </p:sp>
      <p:sp>
        <p:nvSpPr>
          <p:cNvPr id="612" name="Shape 612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27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aphicFrame>
        <p:nvGraphicFramePr>
          <p:cNvPr id="613" name="Shape 613"/>
          <p:cNvGraphicFramePr/>
          <p:nvPr>
            <p:extLst>
              <p:ext uri="{D42A27DB-BD31-4B8C-83A1-F6EECF244321}">
                <p14:modId xmlns:p14="http://schemas.microsoft.com/office/powerpoint/2010/main" val="2071885464"/>
              </p:ext>
            </p:extLst>
          </p:nvPr>
        </p:nvGraphicFramePr>
        <p:xfrm>
          <a:off x="266629" y="188640"/>
          <a:ext cx="8641000" cy="8163720"/>
        </p:xfrm>
        <a:graphic>
          <a:graphicData uri="http://schemas.openxmlformats.org/drawingml/2006/table">
            <a:tbl>
              <a:tblPr firstRow="1" bandRow="1">
                <a:noFill/>
                <a:tableStyleId>{505BB631-906D-440C-AF50-5E0508606DFF}</a:tableStyleId>
              </a:tblPr>
              <a:tblGrid>
                <a:gridCol w="990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0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0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200" b="0" u="none" strike="noStrike" cap="none" dirty="0"/>
                        <a:t>Identifier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Line 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Visibility in One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Visibility in Two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Visibility in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block three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Visibility in main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rate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z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Yes :line 9-10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No: line 11-14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endParaRPr lang="en-US" sz="1400" b="0"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t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main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Local </a:t>
                      </a:r>
                      <a:r>
                        <a:rPr lang="en-US" sz="1400" b="0" dirty="0" err="1">
                          <a:solidFill>
                            <a:srgbClr val="0000FF"/>
                          </a:solidFill>
                        </a:rPr>
                        <a:t>vars</a:t>
                      </a: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 of </a:t>
                      </a:r>
                      <a:r>
                        <a:rPr lang="en-US" sz="1400" b="0" dirty="0" err="1">
                          <a:solidFill>
                            <a:srgbClr val="0000FF"/>
                          </a:solidFill>
                        </a:rPr>
                        <a:t>main:x</a:t>
                      </a:r>
                      <a:endParaRPr lang="en-US" sz="1400" b="0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 err="1">
                          <a:solidFill>
                            <a:srgbClr val="0000FF"/>
                          </a:solidFill>
                        </a:rPr>
                        <a:t>num</a:t>
                      </a:r>
                      <a:endParaRPr lang="en-US" sz="1400" b="0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 err="1">
                          <a:solidFill>
                            <a:srgbClr val="0000FF"/>
                          </a:solidFill>
                        </a:rPr>
                        <a:t>ch</a:t>
                      </a:r>
                      <a:endParaRPr lang="en-US" sz="1400" b="0"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10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11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Local </a:t>
                      </a:r>
                      <a:r>
                        <a:rPr lang="en-US" sz="1400" b="0" dirty="0" err="1">
                          <a:solidFill>
                            <a:srgbClr val="0000FF"/>
                          </a:solidFill>
                        </a:rPr>
                        <a:t>vars</a:t>
                      </a: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 of main: z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lang="en-US" sz="1400" b="0"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11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 Line</a:t>
                      </a:r>
                      <a:r>
                        <a:rPr lang="en-US" sz="1400" b="0" baseline="0" dirty="0">
                          <a:solidFill>
                            <a:srgbClr val="0000FF"/>
                          </a:solidFill>
                        </a:rPr>
                        <a:t> 11-14</a:t>
                      </a:r>
                      <a:endParaRPr lang="en-US" sz="1400" b="0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endParaRPr lang="en-US" sz="1400" b="0"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one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x 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w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21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two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23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one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23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z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23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Local vars of two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25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26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x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C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28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>
                          <a:solidFill>
                            <a:srgbClr val="0000FF"/>
                          </a:solidFill>
                        </a:rPr>
                        <a:t>Yes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Rambla"/>
                        <a:buNone/>
                      </a:pPr>
                      <a:r>
                        <a:rPr lang="en-US" sz="1400" b="0" dirty="0">
                          <a:solidFill>
                            <a:srgbClr val="0000FF"/>
                          </a:solidFill>
                        </a:rPr>
                        <a:t>No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Shape 605"/>
          <p:cNvSpPr/>
          <p:nvPr/>
        </p:nvSpPr>
        <p:spPr>
          <a:xfrm>
            <a:off x="5400675" y="2470368"/>
            <a:ext cx="1586015" cy="1800132"/>
          </a:xfrm>
          <a:prstGeom prst="wedgeEllipseCallout">
            <a:avLst>
              <a:gd name="adj1" fmla="val 38943"/>
              <a:gd name="adj2" fmla="val -178515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400" u="sng" dirty="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Note visibility after declaration</a:t>
            </a:r>
            <a:r>
              <a:rPr lang="en-US" u="sng" dirty="0">
                <a:solidFill>
                  <a:srgbClr val="0000FF"/>
                </a:solidFill>
                <a:latin typeface="Rambla"/>
                <a:ea typeface="Rambla"/>
                <a:cs typeface="Rambla"/>
                <a:sym typeface="Rambla"/>
              </a:rPr>
              <a:t> </a:t>
            </a:r>
            <a:endParaRPr lang="en-US" sz="1400" u="sng" dirty="0">
              <a:solidFill>
                <a:srgbClr val="0000FF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8" name="Shape 618"/>
          <p:cNvCxnSpPr/>
          <p:nvPr/>
        </p:nvCxnSpPr>
        <p:spPr>
          <a:xfrm>
            <a:off x="0" y="764704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Shape 619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6387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5. SUMMARY</a:t>
            </a:r>
          </a:p>
        </p:txBody>
      </p:sp>
      <p:sp>
        <p:nvSpPr>
          <p:cNvPr id="620" name="Shape 620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28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621" name="Shape 621"/>
          <p:cNvSpPr txBox="1"/>
          <p:nvPr/>
        </p:nvSpPr>
        <p:spPr>
          <a:xfrm>
            <a:off x="323528" y="1280954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static method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be called by any other static method.</a:t>
            </a:r>
          </a:p>
        </p:txBody>
      </p:sp>
      <p:sp>
        <p:nvSpPr>
          <p:cNvPr id="622" name="Shape 622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METHODS &amp; VARIABLES</a:t>
            </a:r>
          </a:p>
        </p:txBody>
      </p:sp>
      <p:cxnSp>
        <p:nvCxnSpPr>
          <p:cNvPr id="623" name="Shape 623"/>
          <p:cNvCxnSpPr/>
          <p:nvPr/>
        </p:nvCxnSpPr>
        <p:spPr>
          <a:xfrm>
            <a:off x="0" y="1196751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4" name="Shape 624"/>
          <p:cNvSpPr txBox="1"/>
          <p:nvPr/>
        </p:nvSpPr>
        <p:spPr>
          <a:xfrm>
            <a:off x="323528" y="1785009"/>
            <a:ext cx="8640960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scope of a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non-static variable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starts at the point of its declaration till the end of the block in which it is declared.</a:t>
            </a:r>
          </a:p>
        </p:txBody>
      </p:sp>
      <p:sp>
        <p:nvSpPr>
          <p:cNvPr id="625" name="Shape 625"/>
          <p:cNvSpPr txBox="1"/>
          <p:nvPr/>
        </p:nvSpPr>
        <p:spPr>
          <a:xfrm>
            <a:off x="323528" y="2780927"/>
            <a:ext cx="864096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static variable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be used in any static method </a:t>
            </a: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except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</a:p>
        </p:txBody>
      </p:sp>
      <p:sp>
        <p:nvSpPr>
          <p:cNvPr id="626" name="Shape 626"/>
          <p:cNvSpPr txBox="1"/>
          <p:nvPr/>
        </p:nvSpPr>
        <p:spPr>
          <a:xfrm>
            <a:off x="323528" y="3212975"/>
            <a:ext cx="8640960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800100" marR="0" lvl="1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method has the same identifier name as a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parameter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parameter hides the static variable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(refer to the variable z in example 1)</a:t>
            </a:r>
          </a:p>
        </p:txBody>
      </p:sp>
      <p:sp>
        <p:nvSpPr>
          <p:cNvPr id="627" name="Shape 627"/>
          <p:cNvSpPr txBox="1"/>
          <p:nvPr/>
        </p:nvSpPr>
        <p:spPr>
          <a:xfrm>
            <a:off x="323528" y="4285544"/>
            <a:ext cx="8640960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800100" marR="0" lvl="1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method has the same identifier name as a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local variable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local variable hides the static variable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(refer to the variable z in example 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Shape 6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3" name="Shape 633"/>
          <p:cNvCxnSpPr/>
          <p:nvPr/>
        </p:nvCxnSpPr>
        <p:spPr>
          <a:xfrm>
            <a:off x="0" y="620687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4" name="Shape 634"/>
          <p:cNvSpPr txBox="1">
            <a:spLocks noGrp="1"/>
          </p:cNvSpPr>
          <p:nvPr>
            <p:ph type="title"/>
          </p:nvPr>
        </p:nvSpPr>
        <p:spPr>
          <a:xfrm>
            <a:off x="35495" y="44623"/>
            <a:ext cx="9000999" cy="5984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accent2"/>
              </a:buClr>
              <a:buSzPct val="25000"/>
              <a:buFont typeface="Tahoma"/>
              <a:buNone/>
            </a:pPr>
            <a:r>
              <a:rPr lang="en-US" sz="4000" b="1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Self-Check Exercises</a:t>
            </a:r>
          </a:p>
        </p:txBody>
      </p:sp>
      <p:sp>
        <p:nvSpPr>
          <p:cNvPr id="635" name="Shape 635"/>
          <p:cNvSpPr/>
          <p:nvPr/>
        </p:nvSpPr>
        <p:spPr>
          <a:xfrm>
            <a:off x="0" y="692695"/>
            <a:ext cx="9144000" cy="360040"/>
          </a:xfrm>
          <a:prstGeom prst="rect">
            <a:avLst/>
          </a:prstGeom>
          <a:solidFill>
            <a:srgbClr val="00B0F0"/>
          </a:solidFill>
          <a:ln w="55000" cap="flat" cmpd="thickThin">
            <a:solidFill>
              <a:srgbClr val="20768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1800" b="1">
                <a:solidFill>
                  <a:schemeClr val="lt1"/>
                </a:solidFill>
                <a:latin typeface="Rambla"/>
                <a:ea typeface="Rambla"/>
                <a:cs typeface="Rambla"/>
                <a:sym typeface="Rambla"/>
              </a:rPr>
              <a:t>SCOPE</a:t>
            </a:r>
          </a:p>
        </p:txBody>
      </p:sp>
      <p:cxnSp>
        <p:nvCxnSpPr>
          <p:cNvPr id="636" name="Shape 636"/>
          <p:cNvCxnSpPr/>
          <p:nvPr/>
        </p:nvCxnSpPr>
        <p:spPr>
          <a:xfrm>
            <a:off x="0" y="1052736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37" name="Shape 637"/>
          <p:cNvGrpSpPr/>
          <p:nvPr/>
        </p:nvGrpSpPr>
        <p:grpSpPr>
          <a:xfrm>
            <a:off x="179512" y="1412775"/>
            <a:ext cx="8784976" cy="5047535"/>
            <a:chOff x="323529" y="1236821"/>
            <a:chExt cx="7848872" cy="2680862"/>
          </a:xfrm>
        </p:grpSpPr>
        <p:sp>
          <p:nvSpPr>
            <p:cNvPr id="638" name="Shape 638"/>
            <p:cNvSpPr txBox="1"/>
            <p:nvPr/>
          </p:nvSpPr>
          <p:spPr>
            <a:xfrm>
              <a:off x="788527" y="1236821"/>
              <a:ext cx="7383873" cy="2680862"/>
            </a:xfrm>
            <a:prstGeom prst="rect">
              <a:avLst/>
            </a:prstGeom>
            <a:solidFill>
              <a:schemeClr val="lt2"/>
            </a:solidFill>
            <a:ln w="28575" cap="rnd" cmpd="thickThin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public class selfCheck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static int total = 0;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public static void main (String[] args) 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int x, total = 15, sum = 60;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printOutput(total);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x = max(total, sum);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System.out.printf (“x= %d, total = %d, sum = %d”, x, total, sum);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}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public static void printOutput(int output)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System.out.printf (“Output = %d, total = %d”, output, total);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}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public static int max(int num1, int num2)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{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int total = 77;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System.out.printf (“num1= %d, num2= %d, total= %d”, num1, num2, total);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if (num1 &gt; num2)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   return num1;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   return num2;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     }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chemeClr val="dk1"/>
                  </a:solidFill>
                  <a:latin typeface="Rambla"/>
                  <a:ea typeface="Rambla"/>
                  <a:cs typeface="Rambla"/>
                  <a:sym typeface="Rambla"/>
                </a:rPr>
                <a:t>}</a:t>
              </a:r>
            </a:p>
          </p:txBody>
        </p:sp>
        <p:sp>
          <p:nvSpPr>
            <p:cNvPr id="639" name="Shape 639"/>
            <p:cNvSpPr txBox="1"/>
            <p:nvPr/>
          </p:nvSpPr>
          <p:spPr>
            <a:xfrm>
              <a:off x="323529" y="1236821"/>
              <a:ext cx="464999" cy="268086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14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16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18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19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20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21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22</a:t>
              </a:r>
            </a:p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n-US" sz="1400">
                  <a:solidFill>
                    <a:srgbClr val="FF0000"/>
                  </a:solidFill>
                  <a:latin typeface="Rambla"/>
                  <a:ea typeface="Rambla"/>
                  <a:cs typeface="Rambla"/>
                  <a:sym typeface="Rambla"/>
                </a:rPr>
                <a:t>23</a:t>
              </a:r>
            </a:p>
          </p:txBody>
        </p:sp>
      </p:grpSp>
      <p:sp>
        <p:nvSpPr>
          <p:cNvPr id="640" name="Shape 640"/>
          <p:cNvSpPr txBox="1">
            <a:spLocks noGrp="1"/>
          </p:cNvSpPr>
          <p:nvPr>
            <p:ph type="sldNum" idx="12"/>
          </p:nvPr>
        </p:nvSpPr>
        <p:spPr>
          <a:xfrm>
            <a:off x="8647271" y="6407944"/>
            <a:ext cx="36575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29</a:t>
            </a:fld>
            <a:endParaRPr lang="en-US" sz="1000" b="0">
              <a:solidFill>
                <a:schemeClr val="dk1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641" name="Shape 641"/>
          <p:cNvSpPr/>
          <p:nvPr/>
        </p:nvSpPr>
        <p:spPr>
          <a:xfrm>
            <a:off x="107504" y="1061630"/>
            <a:ext cx="8856983" cy="37457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➢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the output of the following program:</a:t>
            </a:r>
          </a:p>
        </p:txBody>
      </p:sp>
      <p:sp>
        <p:nvSpPr>
          <p:cNvPr id="642" name="Shape 642"/>
          <p:cNvSpPr txBox="1"/>
          <p:nvPr/>
        </p:nvSpPr>
        <p:spPr>
          <a:xfrm>
            <a:off x="71405" y="6496069"/>
            <a:ext cx="4000527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dk1"/>
                </a:solidFill>
                <a:latin typeface="Rambla"/>
                <a:ea typeface="Rambla"/>
                <a:cs typeface="Rambla"/>
                <a:sym typeface="Rambla"/>
              </a:rPr>
              <a:t>W8.1 User-defined methods: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4704</Words>
  <Application>Microsoft Macintosh PowerPoint</Application>
  <PresentationFormat>On-screen Show (4:3)</PresentationFormat>
  <Paragraphs>1277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Tahoma</vt:lpstr>
      <vt:lpstr>Verdana</vt:lpstr>
      <vt:lpstr>Noto Sans Symbols</vt:lpstr>
      <vt:lpstr>Rambla</vt:lpstr>
      <vt:lpstr>Arial</vt:lpstr>
      <vt:lpstr>Concourse</vt:lpstr>
      <vt:lpstr>  USER-DEFINED METHODS</vt:lpstr>
      <vt:lpstr>Outline</vt:lpstr>
      <vt:lpstr>1. DEFINITIONS</vt:lpstr>
      <vt:lpstr>1. DEFINITIONS</vt:lpstr>
      <vt:lpstr>1. DEFINITIONS</vt:lpstr>
      <vt:lpstr>1. DEFINITIONS</vt:lpstr>
      <vt:lpstr>2. RULE (1)</vt:lpstr>
      <vt:lpstr>2. RULE (2)</vt:lpstr>
      <vt:lpstr>2. RULE (3)</vt:lpstr>
      <vt:lpstr>2. RULE (4)</vt:lpstr>
      <vt:lpstr>3. SCOPE RULES</vt:lpstr>
      <vt:lpstr>3. SCOPE RULES</vt:lpstr>
      <vt:lpstr>3. SCOPE RULES</vt:lpstr>
      <vt:lpstr>3. SCOPE RULES</vt:lpstr>
      <vt:lpstr>3. SCOPE RULES</vt:lpstr>
      <vt:lpstr>3. SCOPE RULES</vt:lpstr>
      <vt:lpstr>3. SCOPE RULES</vt:lpstr>
      <vt:lpstr>3. SCOPE RULES</vt:lpstr>
      <vt:lpstr>3. SCOPE RULES</vt:lpstr>
      <vt:lpstr>4. EXAMPLE (1)</vt:lpstr>
      <vt:lpstr>4. EXAMPLE (2)</vt:lpstr>
      <vt:lpstr>4. EXAMPLE (3)</vt:lpstr>
      <vt:lpstr>4. EXAMPLE (4)</vt:lpstr>
      <vt:lpstr>4. EXAMPLE (5)</vt:lpstr>
      <vt:lpstr>4. EXAMPLE (6)</vt:lpstr>
      <vt:lpstr>4. EXAMPLE (7)</vt:lpstr>
      <vt:lpstr>4. EXAMPLE (8)</vt:lpstr>
      <vt:lpstr>5. SUMMARY</vt:lpstr>
      <vt:lpstr>Self-Check 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USER-DEFINED METHODS</dc:title>
  <dc:creator>Ahmad</dc:creator>
  <cp:lastModifiedBy>عبدالعزيز محمد دخيل الحميضي</cp:lastModifiedBy>
  <cp:revision>22</cp:revision>
  <dcterms:modified xsi:type="dcterms:W3CDTF">2024-04-30T08:55:15Z</dcterms:modified>
</cp:coreProperties>
</file>