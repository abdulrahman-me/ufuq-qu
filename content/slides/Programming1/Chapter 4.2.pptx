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7.xml" ContentType="application/vnd.openxmlformats-officedocument.presentationml.notesSlide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72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9" r:id="rId12"/>
    <p:sldId id="270" r:id="rId13"/>
    <p:sldId id="267" r:id="rId14"/>
    <p:sldId id="271" r:id="rId15"/>
    <p:sldId id="273" r:id="rId16"/>
    <p:sldId id="275" r:id="rId17"/>
    <p:sldId id="274" r:id="rId18"/>
    <p:sldId id="280" r:id="rId19"/>
    <p:sldId id="276" r:id="rId20"/>
    <p:sldId id="277" r:id="rId21"/>
    <p:sldId id="278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99"/>
    <a:srgbClr val="CC79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0"/>
    <p:restoredTop sz="94762"/>
  </p:normalViewPr>
  <p:slideViewPr>
    <p:cSldViewPr>
      <p:cViewPr varScale="1">
        <p:scale>
          <a:sx n="121" d="100"/>
          <a:sy n="121" d="100"/>
        </p:scale>
        <p:origin x="160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13E6B-D7F2-4716-95BB-843D14EE146A}" type="datetimeFigureOut">
              <a:rPr lang="en-US" smtClean="0"/>
              <a:pPr/>
              <a:t>9/17/24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B76B0-FEEE-4DD7-8ECF-D723280285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27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A260F0A-2236-4096-8439-E0771212174F}" type="datetimeFigureOut">
              <a:rPr lang="en-US" smtClean="0"/>
              <a:pPr/>
              <a:t>9/17/24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8CBA54A-9804-43C8-9A76-8E348AF8D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60F0A-2236-4096-8439-E0771212174F}" type="datetimeFigureOut">
              <a:rPr lang="en-US" smtClean="0"/>
              <a:pPr/>
              <a:t>9/17/24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A54A-9804-43C8-9A76-8E348AF8D1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60F0A-2236-4096-8439-E0771212174F}" type="datetimeFigureOut">
              <a:rPr lang="en-US" smtClean="0"/>
              <a:pPr/>
              <a:t>9/17/24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A54A-9804-43C8-9A76-8E348AF8D1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60F0A-2236-4096-8439-E0771212174F}" type="datetimeFigureOut">
              <a:rPr lang="en-US" smtClean="0"/>
              <a:pPr/>
              <a:t>9/17/24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A54A-9804-43C8-9A76-8E348AF8D1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60F0A-2236-4096-8439-E0771212174F}" type="datetimeFigureOut">
              <a:rPr lang="en-US" smtClean="0"/>
              <a:pPr/>
              <a:t>9/17/24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A54A-9804-43C8-9A76-8E348AF8D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60F0A-2236-4096-8439-E0771212174F}" type="datetimeFigureOut">
              <a:rPr lang="en-US" smtClean="0"/>
              <a:pPr/>
              <a:t>9/17/24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A54A-9804-43C8-9A76-8E348AF8D1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60F0A-2236-4096-8439-E0771212174F}" type="datetimeFigureOut">
              <a:rPr lang="en-US" smtClean="0"/>
              <a:pPr/>
              <a:t>9/17/24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A54A-9804-43C8-9A76-8E348AF8D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8A260F0A-2236-4096-8439-E0771212174F}" type="datetimeFigureOut">
              <a:rPr lang="en-US" smtClean="0"/>
              <a:pPr/>
              <a:t>9/17/24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A54A-9804-43C8-9A76-8E348AF8D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A260F0A-2236-4096-8439-E0771212174F}" type="datetimeFigureOut">
              <a:rPr lang="en-US" smtClean="0"/>
              <a:pPr/>
              <a:t>9/17/24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8CBA54A-9804-43C8-9A76-8E348AF8D1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60F0A-2236-4096-8439-E0771212174F}" type="datetimeFigureOut">
              <a:rPr lang="en-US" smtClean="0"/>
              <a:pPr/>
              <a:t>9/17/24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A54A-9804-43C8-9A76-8E348AF8D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60F0A-2236-4096-8439-E0771212174F}" type="datetimeFigureOut">
              <a:rPr lang="en-US" smtClean="0"/>
              <a:pPr/>
              <a:t>9/17/24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A54A-9804-43C8-9A76-8E348AF8D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8A260F0A-2236-4096-8439-E0771212174F}" type="datetimeFigureOut">
              <a:rPr lang="en-US" smtClean="0"/>
              <a:pPr/>
              <a:t>9/17/24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8CBA54A-9804-43C8-9A76-8E348AF8D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251521" y="2708920"/>
            <a:ext cx="8640960" cy="1152128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br>
              <a:rPr lang="en-US" sz="5400" dirty="0">
                <a:solidFill>
                  <a:srgbClr val="C00000"/>
                </a:solidFill>
              </a:rPr>
            </a:b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>SELECTION STATEMENTS (2)</a:t>
            </a: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/>
              <a:t>CS 1301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71600" y="3861048"/>
            <a:ext cx="7920880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4000" dirty="0">
                <a:solidFill>
                  <a:srgbClr val="00B0F0"/>
                </a:solidFill>
              </a:rPr>
              <a:t>Nested if</a:t>
            </a:r>
          </a:p>
          <a:p>
            <a:pPr algn="r"/>
            <a:r>
              <a:rPr lang="en-US" sz="4000" dirty="0">
                <a:solidFill>
                  <a:srgbClr val="00B0F0"/>
                </a:solidFill>
              </a:rPr>
              <a:t>Conditional operator ‘?:’</a:t>
            </a:r>
          </a:p>
        </p:txBody>
      </p:sp>
    </p:spTree>
    <p:extLst>
      <p:ext uri="{BB962C8B-B14F-4D97-AF65-F5344CB8AC3E}">
        <p14:creationId xmlns:p14="http://schemas.microsoft.com/office/powerpoint/2010/main" val="2223241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110952"/>
            <a:ext cx="8153400" cy="5486400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1. Nested if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2. The conditional operator ‘?:’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3. A Programming Hint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endParaRPr lang="en-US" dirty="0">
              <a:latin typeface="Tahoma" charset="0"/>
              <a:cs typeface="Arial" charset="0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3298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Nested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 - ANALYSIS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1520" y="1412776"/>
            <a:ext cx="8712968" cy="576064"/>
          </a:xfrm>
          <a:prstGeom prst="roundRect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 a program that identifies if a number is positive, negative or zero.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6951" y="2204864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19672" y="2204864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Number </a:t>
            </a:r>
            <a:r>
              <a:rPr lang="en-US" dirty="0">
                <a:solidFill>
                  <a:srgbClr val="FF3399"/>
                </a:solidFill>
              </a:rPr>
              <a:t>(variable: number, type: </a:t>
            </a:r>
            <a:r>
              <a:rPr lang="en-US" dirty="0">
                <a:solidFill>
                  <a:srgbClr val="00B0F0"/>
                </a:solidFill>
              </a:rPr>
              <a:t>double </a:t>
            </a:r>
            <a:r>
              <a:rPr lang="en-US" dirty="0">
                <a:solidFill>
                  <a:srgbClr val="FF3399"/>
                </a:solidFill>
              </a:rPr>
              <a:t>or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1520" y="278092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634241" y="2780928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An appropriate message </a:t>
            </a:r>
            <a:r>
              <a:rPr lang="en-US" dirty="0">
                <a:solidFill>
                  <a:srgbClr val="FF3399"/>
                </a:solidFill>
              </a:rPr>
              <a:t>(variable: message, type: </a:t>
            </a:r>
            <a:r>
              <a:rPr lang="en-US" dirty="0">
                <a:solidFill>
                  <a:srgbClr val="00B0F0"/>
                </a:solidFill>
              </a:rPr>
              <a:t>string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1520" y="3356992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34241" y="3356992"/>
            <a:ext cx="7344816" cy="295232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if (</a:t>
            </a:r>
            <a:r>
              <a:rPr lang="en-US" dirty="0">
                <a:solidFill>
                  <a:srgbClr val="FF3399"/>
                </a:solidFill>
              </a:rPr>
              <a:t>number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&lt; 0)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</a:t>
            </a:r>
            <a:r>
              <a:rPr lang="en-US" dirty="0">
                <a:solidFill>
                  <a:srgbClr val="FF3399"/>
                </a:solidFill>
              </a:rPr>
              <a:t>message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= “The number is negative”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otherwise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if (</a:t>
            </a:r>
            <a:r>
              <a:rPr lang="en-US" dirty="0">
                <a:solidFill>
                  <a:srgbClr val="FF3399"/>
                </a:solidFill>
              </a:rPr>
              <a:t>number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&gt; 0)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</a:t>
            </a:r>
            <a:r>
              <a:rPr lang="en-US" dirty="0">
                <a:solidFill>
                  <a:srgbClr val="FF3399"/>
                </a:solidFill>
              </a:rPr>
              <a:t>message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= “The number is positive”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otherwise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</a:t>
            </a:r>
            <a:r>
              <a:rPr lang="en-US" dirty="0">
                <a:solidFill>
                  <a:srgbClr val="FF3399"/>
                </a:solidFill>
              </a:rPr>
              <a:t>message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= “The number is zero”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60289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31" grpId="0" animBg="1"/>
      <p:bldP spid="34" grpId="0" animBg="1"/>
      <p:bldP spid="35" grpId="0" animBg="1"/>
      <p:bldP spid="43" grpId="0" animBg="1"/>
      <p:bldP spid="44" grpId="0" animBg="1"/>
      <p:bldP spid="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Nested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1 - ALGORITHM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51520" y="1412776"/>
            <a:ext cx="8640960" cy="50642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14363" indent="-342900">
              <a:lnSpc>
                <a:spcPct val="90000"/>
              </a:lnSpc>
              <a:buAutoNum type="arabicPeriod"/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the program</a:t>
            </a:r>
          </a:p>
          <a:p>
            <a:pPr marL="271463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Read the number and save it in the variable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271463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if (</a:t>
            </a:r>
            <a:r>
              <a:rPr lang="en-US" sz="2000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&lt; 0)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message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“The number is negative”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else 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if (</a:t>
            </a:r>
            <a:r>
              <a:rPr lang="en-US" sz="2000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 0) 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message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“The number is positive”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else </a:t>
            </a: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message </a:t>
            </a: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“The number is zero”</a:t>
            </a:r>
          </a:p>
          <a:p>
            <a:pPr marL="271463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Print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message</a:t>
            </a:r>
          </a:p>
          <a:p>
            <a:pPr marL="271463">
              <a:lnSpc>
                <a:spcPct val="90000"/>
              </a:lnSpc>
            </a:pPr>
            <a:endParaRPr lang="en-US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 End the program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49849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4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Nested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 - FLOWCHART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utoShape 67"/>
          <p:cNvSpPr>
            <a:spLocks noChangeArrowheads="1"/>
          </p:cNvSpPr>
          <p:nvPr/>
        </p:nvSpPr>
        <p:spPr bwMode="auto">
          <a:xfrm>
            <a:off x="3814563" y="1340768"/>
            <a:ext cx="1441450" cy="421858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sp>
        <p:nvSpPr>
          <p:cNvPr id="11" name="AutoShape 68"/>
          <p:cNvSpPr>
            <a:spLocks noChangeArrowheads="1"/>
          </p:cNvSpPr>
          <p:nvPr/>
        </p:nvSpPr>
        <p:spPr bwMode="auto">
          <a:xfrm>
            <a:off x="3600251" y="1988840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 err="1">
                <a:latin typeface="Arial" charset="0"/>
                <a:cs typeface="Arial" charset="0"/>
              </a:rPr>
              <a:t>num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3" name="AutoShape 73"/>
          <p:cNvSpPr>
            <a:spLocks noChangeArrowheads="1"/>
          </p:cNvSpPr>
          <p:nvPr/>
        </p:nvSpPr>
        <p:spPr bwMode="auto">
          <a:xfrm>
            <a:off x="3674742" y="2584450"/>
            <a:ext cx="1798488" cy="576263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 err="1">
                <a:solidFill>
                  <a:srgbClr val="0000FF"/>
                </a:solidFill>
                <a:latin typeface="Arial" charset="0"/>
                <a:cs typeface="Arial" charset="0"/>
              </a:rPr>
              <a:t>num</a:t>
            </a:r>
            <a:r>
              <a:rPr lang="en-US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&lt; 0?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1800" y="2617167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True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2188451" y="2872681"/>
            <a:ext cx="1516997" cy="57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utoShape 72"/>
          <p:cNvSpPr>
            <a:spLocks noChangeArrowheads="1"/>
          </p:cNvSpPr>
          <p:nvPr/>
        </p:nvSpPr>
        <p:spPr bwMode="auto">
          <a:xfrm>
            <a:off x="467544" y="3284984"/>
            <a:ext cx="3441814" cy="420469"/>
          </a:xfrm>
          <a:prstGeom prst="flowChartProcess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message = “The number is negative”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5" name="Straight Arrow Connector 4"/>
          <p:cNvCxnSpPr>
            <a:stCxn id="13" idx="3"/>
          </p:cNvCxnSpPr>
          <p:nvPr/>
        </p:nvCxnSpPr>
        <p:spPr>
          <a:xfrm>
            <a:off x="5473230" y="2872582"/>
            <a:ext cx="647798" cy="58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73090" y="2617167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3399"/>
                </a:solidFill>
              </a:rPr>
              <a:t>False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6121028" y="2872581"/>
            <a:ext cx="0" cy="28813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utoShape 73"/>
          <p:cNvSpPr>
            <a:spLocks noChangeArrowheads="1"/>
          </p:cNvSpPr>
          <p:nvPr/>
        </p:nvSpPr>
        <p:spPr bwMode="auto">
          <a:xfrm>
            <a:off x="5221784" y="3166303"/>
            <a:ext cx="1798488" cy="576263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 err="1">
                <a:solidFill>
                  <a:srgbClr val="0000FF"/>
                </a:solidFill>
                <a:latin typeface="Arial" charset="0"/>
                <a:cs typeface="Arial" charset="0"/>
              </a:rPr>
              <a:t>num</a:t>
            </a:r>
            <a:r>
              <a:rPr lang="en-US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0?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6016" y="3193231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True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4644008" y="3448745"/>
            <a:ext cx="610602" cy="57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020412" y="3448646"/>
            <a:ext cx="295177" cy="9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76256" y="3193231"/>
            <a:ext cx="68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3399"/>
                </a:solidFill>
              </a:rPr>
              <a:t>False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2188451" y="2872382"/>
            <a:ext cx="0" cy="41260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utoShape 72"/>
          <p:cNvSpPr>
            <a:spLocks noChangeArrowheads="1"/>
          </p:cNvSpPr>
          <p:nvPr/>
        </p:nvSpPr>
        <p:spPr bwMode="auto">
          <a:xfrm>
            <a:off x="2946949" y="3861048"/>
            <a:ext cx="3441814" cy="420469"/>
          </a:xfrm>
          <a:prstGeom prst="flowChartProcess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message = “The number is positive”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4667856" y="3448446"/>
            <a:ext cx="0" cy="41260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utoShape 72"/>
          <p:cNvSpPr>
            <a:spLocks noChangeArrowheads="1"/>
          </p:cNvSpPr>
          <p:nvPr/>
        </p:nvSpPr>
        <p:spPr bwMode="auto">
          <a:xfrm>
            <a:off x="5594682" y="4592707"/>
            <a:ext cx="3441814" cy="420469"/>
          </a:xfrm>
          <a:prstGeom prst="flowChartProcess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message = “The number is zero”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7315589" y="3429000"/>
            <a:ext cx="0" cy="116370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7315589" y="5013176"/>
            <a:ext cx="0" cy="27820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4716016" y="5229200"/>
            <a:ext cx="2599573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4667856" y="4265266"/>
            <a:ext cx="0" cy="9982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2188451" y="3717032"/>
            <a:ext cx="7285" cy="15121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2195736" y="5229200"/>
            <a:ext cx="244827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4667856" y="5229200"/>
            <a:ext cx="0" cy="412602"/>
          </a:xfrm>
          <a:prstGeom prst="straightConnector1">
            <a:avLst/>
          </a:prstGeom>
          <a:ln w="28575">
            <a:solidFill>
              <a:schemeClr val="tx1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AutoShape 68"/>
          <p:cNvSpPr>
            <a:spLocks noChangeArrowheads="1"/>
          </p:cNvSpPr>
          <p:nvPr/>
        </p:nvSpPr>
        <p:spPr bwMode="auto">
          <a:xfrm>
            <a:off x="3419872" y="5662513"/>
            <a:ext cx="2464636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message</a:t>
            </a:r>
          </a:p>
        </p:txBody>
      </p:sp>
      <p:sp>
        <p:nvSpPr>
          <p:cNvPr id="57" name="AutoShape 67"/>
          <p:cNvSpPr>
            <a:spLocks noChangeArrowheads="1"/>
          </p:cNvSpPr>
          <p:nvPr/>
        </p:nvSpPr>
        <p:spPr bwMode="auto">
          <a:xfrm>
            <a:off x="3931465" y="6247502"/>
            <a:ext cx="1441450" cy="421858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END</a:t>
            </a:r>
          </a:p>
        </p:txBody>
      </p:sp>
      <p:cxnSp>
        <p:nvCxnSpPr>
          <p:cNvPr id="63" name="Straight Arrow Connector 62"/>
          <p:cNvCxnSpPr>
            <a:stCxn id="56" idx="4"/>
            <a:endCxn id="57" idx="0"/>
          </p:cNvCxnSpPr>
          <p:nvPr/>
        </p:nvCxnSpPr>
        <p:spPr>
          <a:xfrm>
            <a:off x="4652190" y="6021288"/>
            <a:ext cx="0" cy="22621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9" idx="2"/>
            <a:endCxn id="11" idx="1"/>
          </p:cNvCxnSpPr>
          <p:nvPr/>
        </p:nvCxnSpPr>
        <p:spPr>
          <a:xfrm>
            <a:off x="4535288" y="1762626"/>
            <a:ext cx="1" cy="22621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4571999" y="2348880"/>
            <a:ext cx="1" cy="22621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12165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"/>
                            </p:stCondLst>
                            <p:childTnLst>
                              <p:par>
                                <p:cTn id="1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9" grpId="0" animBg="1"/>
      <p:bldP spid="11" grpId="0" animBg="1"/>
      <p:bldP spid="13" grpId="0" animBg="1"/>
      <p:bldP spid="15" grpId="0"/>
      <p:bldP spid="17" grpId="0" animBg="1"/>
      <p:bldP spid="19" grpId="0"/>
      <p:bldP spid="22" grpId="0" animBg="1"/>
      <p:bldP spid="24" grpId="0"/>
      <p:bldP spid="27" grpId="0"/>
      <p:bldP spid="33" grpId="0" animBg="1"/>
      <p:bldP spid="35" grpId="0" animBg="1"/>
      <p:bldP spid="56" grpId="0" animBg="1"/>
      <p:bldP spid="5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– CODE 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179512" y="1268760"/>
            <a:ext cx="8784976" cy="5478423"/>
            <a:chOff x="323528" y="1236822"/>
            <a:chExt cx="7848872" cy="5300786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5300786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// import necessary libraries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import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java.util.Scanner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>
                  <a:solidFill>
                    <a:srgbClr val="00B0F0"/>
                  </a:solidFill>
                </a:rPr>
                <a:t>public class</a:t>
              </a:r>
              <a:r>
                <a:rPr lang="en-US" sz="1400" dirty="0">
                  <a:solidFill>
                    <a:srgbClr val="0000FF"/>
                  </a:solidFill>
                </a:rPr>
                <a:t> nestedIf1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   public static void</a:t>
              </a:r>
              <a:r>
                <a:rPr lang="en-US" sz="1400" dirty="0">
                  <a:solidFill>
                    <a:srgbClr val="0000FF"/>
                  </a:solidFill>
                </a:rPr>
                <a:t> main (String[] </a:t>
              </a:r>
              <a:r>
                <a:rPr lang="en-US" sz="1400" dirty="0" err="1">
                  <a:solidFill>
                    <a:srgbClr val="0000FF"/>
                  </a:solidFill>
                </a:rPr>
                <a:t>args</a:t>
              </a:r>
              <a:r>
                <a:rPr lang="en-US" sz="1400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400">
                  <a:solidFill>
                    <a:srgbClr val="00B0F0"/>
                  </a:solidFill>
                </a:rPr>
                <a:t>                </a:t>
              </a:r>
              <a:r>
                <a:rPr lang="en-US" sz="1400">
                  <a:solidFill>
                    <a:srgbClr val="0000FF"/>
                  </a:solidFill>
                </a:rPr>
                <a:t>Scanner </a:t>
              </a:r>
              <a:r>
                <a:rPr lang="en-US" sz="1400" dirty="0">
                  <a:solidFill>
                    <a:srgbClr val="0000FF"/>
                  </a:solidFill>
                </a:rPr>
                <a:t>console = </a:t>
              </a:r>
              <a:r>
                <a:rPr lang="en-US" sz="1400" dirty="0">
                  <a:solidFill>
                    <a:srgbClr val="00B0F0"/>
                  </a:solidFill>
                </a:rPr>
                <a:t>new</a:t>
              </a:r>
              <a:r>
                <a:rPr lang="en-US" sz="1400" dirty="0">
                  <a:solidFill>
                    <a:srgbClr val="0000FF"/>
                  </a:solidFill>
                </a:rPr>
                <a:t> Scanner (</a:t>
              </a:r>
              <a:r>
                <a:rPr lang="en-US" sz="1400" dirty="0" err="1">
                  <a:solidFill>
                    <a:srgbClr val="0000FF"/>
                  </a:solidFill>
                </a:rPr>
                <a:t>System.in</a:t>
              </a:r>
              <a:r>
                <a:rPr lang="en-US" sz="1400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</a:t>
              </a:r>
              <a:r>
                <a:rPr lang="en-US" sz="1400" dirty="0"/>
                <a:t>// Declaration section: to declare needed variables</a:t>
              </a:r>
            </a:p>
            <a:p>
              <a:r>
                <a:rPr lang="en-US" sz="1400" dirty="0"/>
                <a:t>	</a:t>
              </a:r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>
                  <a:solidFill>
                    <a:srgbClr val="00B0F0"/>
                  </a:solidFill>
                </a:rPr>
                <a:t>String</a:t>
              </a:r>
              <a:r>
                <a:rPr lang="en-US" sz="1400" dirty="0">
                  <a:solidFill>
                    <a:srgbClr val="0000FF"/>
                  </a:solidFill>
                </a:rPr>
                <a:t> message;		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/>
                <a:t>            // Input section: to enter values of used variables</a:t>
              </a:r>
            </a:p>
            <a:p>
              <a:r>
                <a:rPr lang="en-US" sz="1400" dirty="0"/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an integer number”);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= </a:t>
              </a:r>
              <a:r>
                <a:rPr lang="en-US" sz="1400" dirty="0" err="1">
                  <a:solidFill>
                    <a:srgbClr val="0000FF"/>
                  </a:solidFill>
                </a:rPr>
                <a:t>console.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/>
                <a:t>            // Processing section: processing statements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>
                  <a:solidFill>
                    <a:srgbClr val="00B0F0"/>
                  </a:solidFill>
                </a:rPr>
                <a:t>if</a:t>
              </a:r>
              <a:r>
                <a:rPr lang="en-US" sz="1400" dirty="0">
                  <a:solidFill>
                    <a:srgbClr val="0000FF"/>
                  </a:solidFill>
                </a:rPr>
                <a:t> 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&lt; 0)		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message = “The number is negative”;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>
                  <a:solidFill>
                    <a:srgbClr val="00B0F0"/>
                  </a:solidFill>
                </a:rPr>
                <a:t>else 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	       if </a:t>
              </a:r>
              <a:r>
                <a:rPr lang="en-US" sz="1400" dirty="0">
                  <a:solidFill>
                    <a:srgbClr val="0000FF"/>
                  </a:solidFill>
                </a:rPr>
                <a:t>(</a:t>
              </a:r>
              <a:r>
                <a:rPr lang="en-US" sz="1400" dirty="0" err="1">
                  <a:solidFill>
                    <a:srgbClr val="0000FF"/>
                  </a:solidFill>
                </a:rPr>
                <a:t>num</a:t>
              </a:r>
              <a:r>
                <a:rPr lang="en-US" sz="1400" dirty="0">
                  <a:solidFill>
                    <a:srgbClr val="0000FF"/>
                  </a:solidFill>
                </a:rPr>
                <a:t> &gt; 0)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message = “The number is positive”;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</a:t>
              </a:r>
              <a:r>
                <a:rPr lang="en-US" sz="1400" dirty="0">
                  <a:solidFill>
                    <a:srgbClr val="00B0F0"/>
                  </a:solidFill>
                </a:rPr>
                <a:t>else 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  message = “The number is zero”;</a:t>
              </a:r>
            </a:p>
            <a:p>
              <a:r>
                <a:rPr lang="en-US" sz="1400" dirty="0"/>
                <a:t>            // Output section: display program output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>
                  <a:solidFill>
                    <a:srgbClr val="0000FF"/>
                  </a:solidFill>
                </a:rPr>
                <a:t> (“%25s“, message);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} </a:t>
              </a:r>
              <a:r>
                <a:rPr lang="en-US" sz="1400" dirty="0"/>
                <a:t>// end main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} </a:t>
              </a:r>
              <a:r>
                <a:rPr lang="en-US" sz="1400" dirty="0"/>
                <a:t>// end class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5151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25</a:t>
              </a: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Nested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Double Bracket 1"/>
          <p:cNvSpPr/>
          <p:nvPr/>
        </p:nvSpPr>
        <p:spPr>
          <a:xfrm>
            <a:off x="1763688" y="4365104"/>
            <a:ext cx="3744416" cy="432048"/>
          </a:xfrm>
          <a:prstGeom prst="bracketPair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ouble Bracket 2"/>
          <p:cNvSpPr/>
          <p:nvPr/>
        </p:nvSpPr>
        <p:spPr>
          <a:xfrm>
            <a:off x="2195736" y="5013176"/>
            <a:ext cx="3600400" cy="504056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86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– NOTES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179512" y="1324500"/>
            <a:ext cx="8784976" cy="2554545"/>
            <a:chOff x="323528" y="1236822"/>
            <a:chExt cx="7848872" cy="2402099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240209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// Processing section: processing statements</a:t>
              </a:r>
            </a:p>
            <a:p>
              <a:r>
                <a:rPr lang="en-US" sz="2000" dirty="0">
                  <a:solidFill>
                    <a:srgbClr val="0000FF"/>
                  </a:solidFill>
                </a:rPr>
                <a:t>	</a:t>
              </a:r>
              <a:r>
                <a:rPr lang="en-US" sz="2000" dirty="0">
                  <a:solidFill>
                    <a:srgbClr val="00B0F0"/>
                  </a:solidFill>
                </a:rPr>
                <a:t>if</a:t>
              </a:r>
              <a:r>
                <a:rPr lang="en-US" sz="2000" dirty="0">
                  <a:solidFill>
                    <a:srgbClr val="0000FF"/>
                  </a:solidFill>
                </a:rPr>
                <a:t> (</a:t>
              </a:r>
              <a:r>
                <a:rPr lang="en-US" sz="2000" dirty="0" err="1">
                  <a:solidFill>
                    <a:srgbClr val="0000FF"/>
                  </a:solidFill>
                </a:rPr>
                <a:t>num</a:t>
              </a:r>
              <a:r>
                <a:rPr lang="en-US" sz="2000" dirty="0">
                  <a:solidFill>
                    <a:srgbClr val="0000FF"/>
                  </a:solidFill>
                </a:rPr>
                <a:t> &lt; 0)		</a:t>
              </a:r>
            </a:p>
            <a:p>
              <a:r>
                <a:rPr lang="en-US" sz="2000" dirty="0">
                  <a:solidFill>
                    <a:srgbClr val="0000FF"/>
                  </a:solidFill>
                </a:rPr>
                <a:t>	   message = “The number is negative”;</a:t>
              </a:r>
            </a:p>
            <a:p>
              <a:r>
                <a:rPr lang="en-US" sz="2000" dirty="0">
                  <a:solidFill>
                    <a:srgbClr val="0000FF"/>
                  </a:solidFill>
                </a:rPr>
                <a:t>	</a:t>
              </a:r>
              <a:r>
                <a:rPr lang="en-US" sz="2000" dirty="0">
                  <a:solidFill>
                    <a:srgbClr val="00B0F0"/>
                  </a:solidFill>
                </a:rPr>
                <a:t>else    </a:t>
              </a:r>
            </a:p>
            <a:p>
              <a:r>
                <a:rPr lang="en-US" sz="2000" dirty="0">
                  <a:solidFill>
                    <a:srgbClr val="00B0F0"/>
                  </a:solidFill>
                </a:rPr>
                <a:t>                     if </a:t>
              </a:r>
              <a:r>
                <a:rPr lang="en-US" sz="2000" dirty="0">
                  <a:solidFill>
                    <a:srgbClr val="0000FF"/>
                  </a:solidFill>
                </a:rPr>
                <a:t>(</a:t>
              </a:r>
              <a:r>
                <a:rPr lang="en-US" sz="2000" dirty="0" err="1">
                  <a:solidFill>
                    <a:srgbClr val="0000FF"/>
                  </a:solidFill>
                </a:rPr>
                <a:t>num</a:t>
              </a:r>
              <a:r>
                <a:rPr lang="en-US" sz="2000" dirty="0">
                  <a:solidFill>
                    <a:srgbClr val="0000FF"/>
                  </a:solidFill>
                </a:rPr>
                <a:t> &gt; 0)</a:t>
              </a:r>
            </a:p>
            <a:p>
              <a:r>
                <a:rPr lang="en-US" sz="2000" dirty="0">
                  <a:solidFill>
                    <a:srgbClr val="0000FF"/>
                  </a:solidFill>
                </a:rPr>
                <a:t>	             message = “The number is positive”;</a:t>
              </a:r>
            </a:p>
            <a:p>
              <a:r>
                <a:rPr lang="en-US" sz="2000" dirty="0">
                  <a:solidFill>
                    <a:srgbClr val="0000FF"/>
                  </a:solidFill>
                </a:rPr>
                <a:t>	          </a:t>
              </a:r>
              <a:r>
                <a:rPr lang="en-US" sz="2000" dirty="0">
                  <a:solidFill>
                    <a:srgbClr val="00B0F0"/>
                  </a:solidFill>
                </a:rPr>
                <a:t>else </a:t>
              </a:r>
            </a:p>
            <a:p>
              <a:r>
                <a:rPr lang="en-US" sz="2000" dirty="0">
                  <a:solidFill>
                    <a:srgbClr val="0000FF"/>
                  </a:solidFill>
                </a:rPr>
                <a:t>	             message = “The number is zero”;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2402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21</a:t>
              </a: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Nested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2411760" y="3474012"/>
            <a:ext cx="7920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2411760" y="2780928"/>
            <a:ext cx="0" cy="6930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411760" y="2780928"/>
            <a:ext cx="28803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1547664" y="2564904"/>
            <a:ext cx="7920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1547664" y="1871820"/>
            <a:ext cx="0" cy="69308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547664" y="1871820"/>
            <a:ext cx="288032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51520" y="4005064"/>
            <a:ext cx="8735888" cy="46805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00FF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00FF"/>
                </a:solidFill>
              </a:rPr>
              <a:t>Each </a:t>
            </a:r>
            <a:r>
              <a:rPr lang="en-US" dirty="0">
                <a:solidFill>
                  <a:srgbClr val="00B0F0"/>
                </a:solidFill>
              </a:rPr>
              <a:t>else</a:t>
            </a:r>
            <a:r>
              <a:rPr lang="en-US" dirty="0">
                <a:solidFill>
                  <a:srgbClr val="0000FF"/>
                </a:solidFill>
              </a:rPr>
              <a:t> corresponds to the </a:t>
            </a:r>
            <a:r>
              <a:rPr lang="en-US" u="sng" dirty="0">
                <a:solidFill>
                  <a:srgbClr val="FF0000"/>
                </a:solidFill>
              </a:rPr>
              <a:t>closer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if</a:t>
            </a:r>
          </a:p>
        </p:txBody>
      </p:sp>
    </p:spTree>
    <p:extLst>
      <p:ext uri="{BB962C8B-B14F-4D97-AF65-F5344CB8AC3E}">
        <p14:creationId xmlns:p14="http://schemas.microsoft.com/office/powerpoint/2010/main" val="32114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– NOTES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179512" y="1324500"/>
            <a:ext cx="8784976" cy="3477875"/>
            <a:chOff x="323528" y="1236822"/>
            <a:chExt cx="7848872" cy="3270328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327032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// Processing section: processing statements</a:t>
              </a:r>
            </a:p>
            <a:p>
              <a:r>
                <a:rPr lang="en-US" sz="2000" dirty="0">
                  <a:solidFill>
                    <a:srgbClr val="0000FF"/>
                  </a:solidFill>
                </a:rPr>
                <a:t>	</a:t>
              </a:r>
              <a:r>
                <a:rPr lang="en-US" sz="2000" dirty="0">
                  <a:solidFill>
                    <a:srgbClr val="00B0F0"/>
                  </a:solidFill>
                </a:rPr>
                <a:t>if</a:t>
              </a:r>
              <a:r>
                <a:rPr lang="en-US" sz="2000" dirty="0">
                  <a:solidFill>
                    <a:srgbClr val="0000FF"/>
                  </a:solidFill>
                </a:rPr>
                <a:t> (</a:t>
              </a:r>
              <a:r>
                <a:rPr lang="en-US" sz="2000" dirty="0" err="1">
                  <a:solidFill>
                    <a:srgbClr val="0000FF"/>
                  </a:solidFill>
                </a:rPr>
                <a:t>num</a:t>
              </a:r>
              <a:r>
                <a:rPr lang="en-US" sz="2000" dirty="0">
                  <a:solidFill>
                    <a:srgbClr val="0000FF"/>
                  </a:solidFill>
                </a:rPr>
                <a:t> &lt; 0)		</a:t>
              </a:r>
            </a:p>
            <a:p>
              <a:r>
                <a:rPr lang="en-US" sz="2000" dirty="0">
                  <a:solidFill>
                    <a:srgbClr val="0000FF"/>
                  </a:solidFill>
                </a:rPr>
                <a:t>	   message = “The number is negative”;</a:t>
              </a:r>
            </a:p>
            <a:p>
              <a:r>
                <a:rPr lang="en-US" sz="2000" dirty="0">
                  <a:solidFill>
                    <a:srgbClr val="0000FF"/>
                  </a:solidFill>
                </a:rPr>
                <a:t>	</a:t>
              </a:r>
              <a:r>
                <a:rPr lang="en-US" sz="2000" dirty="0">
                  <a:solidFill>
                    <a:srgbClr val="00B0F0"/>
                  </a:solidFill>
                </a:rPr>
                <a:t>else </a:t>
              </a:r>
            </a:p>
            <a:p>
              <a:r>
                <a:rPr lang="en-US" sz="2000" dirty="0">
                  <a:solidFill>
                    <a:srgbClr val="00B0F0"/>
                  </a:solidFill>
                </a:rPr>
                <a:t>	      </a:t>
              </a:r>
              <a:r>
                <a:rPr lang="en-US" sz="2000" dirty="0">
                  <a:solidFill>
                    <a:srgbClr val="0000FF"/>
                  </a:solidFill>
                </a:rPr>
                <a:t>  {</a:t>
              </a:r>
            </a:p>
            <a:p>
              <a:r>
                <a:rPr lang="en-US" sz="2000" dirty="0">
                  <a:solidFill>
                    <a:srgbClr val="0000FF"/>
                  </a:solidFill>
                </a:rPr>
                <a:t>		message = “The number is not negative”;   </a:t>
              </a:r>
            </a:p>
            <a:p>
              <a:r>
                <a:rPr lang="en-US" sz="2000" dirty="0">
                  <a:solidFill>
                    <a:srgbClr val="00B0F0"/>
                  </a:solidFill>
                </a:rPr>
                <a:t>                       if </a:t>
              </a:r>
              <a:r>
                <a:rPr lang="en-US" sz="2000" dirty="0">
                  <a:solidFill>
                    <a:srgbClr val="0000FF"/>
                  </a:solidFill>
                </a:rPr>
                <a:t>(</a:t>
              </a:r>
              <a:r>
                <a:rPr lang="en-US" sz="2000" dirty="0" err="1">
                  <a:solidFill>
                    <a:srgbClr val="0000FF"/>
                  </a:solidFill>
                </a:rPr>
                <a:t>num</a:t>
              </a:r>
              <a:r>
                <a:rPr lang="en-US" sz="2000" dirty="0">
                  <a:solidFill>
                    <a:srgbClr val="0000FF"/>
                  </a:solidFill>
                </a:rPr>
                <a:t> &gt; 0)</a:t>
              </a:r>
            </a:p>
            <a:p>
              <a:r>
                <a:rPr lang="en-US" sz="2000" dirty="0">
                  <a:solidFill>
                    <a:srgbClr val="0000FF"/>
                  </a:solidFill>
                </a:rPr>
                <a:t>	               message = “The number is positive”;</a:t>
              </a:r>
            </a:p>
            <a:p>
              <a:r>
                <a:rPr lang="en-US" sz="2000" dirty="0">
                  <a:solidFill>
                    <a:srgbClr val="0000FF"/>
                  </a:solidFill>
                </a:rPr>
                <a:t>	            </a:t>
              </a:r>
              <a:r>
                <a:rPr lang="en-US" sz="2000" dirty="0">
                  <a:solidFill>
                    <a:srgbClr val="00B0F0"/>
                  </a:solidFill>
                </a:rPr>
                <a:t>else </a:t>
              </a:r>
            </a:p>
            <a:p>
              <a:r>
                <a:rPr lang="en-US" sz="2000" dirty="0">
                  <a:solidFill>
                    <a:srgbClr val="0000FF"/>
                  </a:solidFill>
                </a:rPr>
                <a:t>	               message = “The number is zero”;</a:t>
              </a:r>
            </a:p>
            <a:p>
              <a:r>
                <a:rPr lang="en-US" sz="2000" dirty="0">
                  <a:solidFill>
                    <a:srgbClr val="0000FF"/>
                  </a:solidFill>
                </a:rPr>
                <a:t>	        } </a:t>
              </a:r>
              <a:r>
                <a:rPr lang="en-US" sz="2000" dirty="0">
                  <a:solidFill>
                    <a:srgbClr val="00B050"/>
                  </a:solidFill>
                </a:rPr>
                <a:t>//end else… if (</a:t>
              </a:r>
              <a:r>
                <a:rPr lang="en-US" sz="2000" dirty="0" err="1">
                  <a:solidFill>
                    <a:srgbClr val="00B050"/>
                  </a:solidFill>
                </a:rPr>
                <a:t>num</a:t>
              </a:r>
              <a:r>
                <a:rPr lang="en-US" sz="2000" dirty="0">
                  <a:solidFill>
                    <a:srgbClr val="00B050"/>
                  </a:solidFill>
                </a:rPr>
                <a:t> &lt; 0)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3270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2000" dirty="0">
                  <a:solidFill>
                    <a:srgbClr val="FF0000"/>
                  </a:solidFill>
                </a:rPr>
                <a:t>24</a:t>
              </a: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Nested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51520" y="4941168"/>
            <a:ext cx="8735888" cy="46805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00FF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00FF"/>
                </a:solidFill>
              </a:rPr>
              <a:t>Block statements may be used as shown above.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020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Nested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2 - ANALYSIS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1520" y="1412776"/>
            <a:ext cx="8712968" cy="576064"/>
          </a:xfrm>
          <a:prstGeom prst="roundRect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 a program that calculates the letter grade of a student.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6951" y="2204864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19672" y="2204864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Student’s score </a:t>
            </a:r>
            <a:r>
              <a:rPr lang="en-US" dirty="0">
                <a:solidFill>
                  <a:srgbClr val="FF3399"/>
                </a:solidFill>
              </a:rPr>
              <a:t>(variable: score, type: </a:t>
            </a:r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1520" y="278092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634241" y="2780928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Student’s letter grade </a:t>
            </a:r>
            <a:r>
              <a:rPr lang="en-US" dirty="0">
                <a:solidFill>
                  <a:srgbClr val="FF3399"/>
                </a:solidFill>
              </a:rPr>
              <a:t>(variable: grade, type: </a:t>
            </a:r>
            <a:r>
              <a:rPr lang="en-US" dirty="0">
                <a:solidFill>
                  <a:srgbClr val="00B0F0"/>
                </a:solidFill>
              </a:rPr>
              <a:t>char</a:t>
            </a:r>
            <a:r>
              <a:rPr lang="en-US" dirty="0">
                <a:solidFill>
                  <a:srgbClr val="FF3399"/>
                </a:solidFill>
              </a:rPr>
              <a:t>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1520" y="3356992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34241" y="3356992"/>
            <a:ext cx="7344816" cy="295232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if (</a:t>
            </a:r>
            <a:r>
              <a:rPr lang="en-US" dirty="0">
                <a:solidFill>
                  <a:srgbClr val="FF3399"/>
                </a:solidFill>
              </a:rPr>
              <a:t>score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less than 60.0) </a:t>
            </a:r>
            <a:r>
              <a:rPr lang="en-US" dirty="0">
                <a:solidFill>
                  <a:srgbClr val="FF3399"/>
                </a:solidFill>
              </a:rPr>
              <a:t>grade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= ‘F’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otherwise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if (</a:t>
            </a:r>
            <a:r>
              <a:rPr lang="en-US" dirty="0">
                <a:solidFill>
                  <a:srgbClr val="FF3399"/>
                </a:solidFill>
              </a:rPr>
              <a:t>score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between 60.0 and 70.0) </a:t>
            </a:r>
            <a:r>
              <a:rPr lang="en-US" dirty="0">
                <a:solidFill>
                  <a:srgbClr val="FF3399"/>
                </a:solidFill>
              </a:rPr>
              <a:t>grade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= ‘D’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otherwise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    if (</a:t>
            </a:r>
            <a:r>
              <a:rPr lang="en-US" dirty="0">
                <a:solidFill>
                  <a:srgbClr val="FF3399"/>
                </a:solidFill>
              </a:rPr>
              <a:t>score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between 70.0 and 80.0) </a:t>
            </a:r>
            <a:r>
              <a:rPr lang="en-US" dirty="0">
                <a:solidFill>
                  <a:srgbClr val="FF3399"/>
                </a:solidFill>
              </a:rPr>
              <a:t>grade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= ‘C’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    otherwise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    if (</a:t>
            </a:r>
            <a:r>
              <a:rPr lang="en-US" dirty="0">
                <a:solidFill>
                  <a:srgbClr val="FF3399"/>
                </a:solidFill>
              </a:rPr>
              <a:t>score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between 80.0 and 90.0) </a:t>
            </a:r>
            <a:r>
              <a:rPr lang="en-US" dirty="0">
                <a:solidFill>
                  <a:srgbClr val="FF3399"/>
                </a:solidFill>
              </a:rPr>
              <a:t>grade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= ‘B’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    otherwise </a:t>
            </a:r>
            <a:r>
              <a:rPr lang="en-US" dirty="0">
                <a:solidFill>
                  <a:srgbClr val="FF3399"/>
                </a:solidFill>
              </a:rPr>
              <a:t>grade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= ‘A’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6660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31" grpId="0" animBg="1"/>
      <p:bldP spid="34" grpId="0" animBg="1"/>
      <p:bldP spid="35" grpId="0" animBg="1"/>
      <p:bldP spid="43" grpId="0" animBg="1"/>
      <p:bldP spid="44" grpId="0" animBg="1"/>
      <p:bldP spid="4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51520" y="1412776"/>
            <a:ext cx="8712968" cy="5328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14363" indent="-342900">
              <a:lnSpc>
                <a:spcPct val="90000"/>
              </a:lnSpc>
              <a:buAutoNum type="arabicPeriod"/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the program</a:t>
            </a:r>
          </a:p>
          <a:p>
            <a:pPr marL="271463">
              <a:lnSpc>
                <a:spcPct val="90000"/>
              </a:lnSpc>
            </a:pPr>
            <a:endParaRPr lang="en-US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Read the student’s score and save it in the variable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</a:t>
            </a:r>
          </a:p>
          <a:p>
            <a:pPr marL="271463">
              <a:lnSpc>
                <a:spcPct val="90000"/>
              </a:lnSpc>
            </a:pPr>
            <a:endParaRPr lang="en-US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if (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&lt; 60.0) 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‘F’;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else 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if (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&gt;= 60.0) &amp;&amp; (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 70.0)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‘D’;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else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if (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&gt;= 70.0) &amp;&amp; (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 80.0)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    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‘C’;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  else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     if (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&gt;= 80.0) &amp;&amp; (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 90.0)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       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‘B’;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     else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       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‘A’;</a:t>
            </a:r>
          </a:p>
          <a:p>
            <a:pPr marL="271463">
              <a:lnSpc>
                <a:spcPct val="90000"/>
              </a:lnSpc>
            </a:pPr>
            <a:endParaRPr lang="en-US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Print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grade</a:t>
            </a:r>
          </a:p>
          <a:p>
            <a:pPr marL="271463">
              <a:lnSpc>
                <a:spcPct val="90000"/>
              </a:lnSpc>
            </a:pP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 End the program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Nested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2  - ALGORITHM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0479386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51520" y="1412776"/>
            <a:ext cx="8712968" cy="5328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14363" indent="-342900">
              <a:lnSpc>
                <a:spcPct val="90000"/>
              </a:lnSpc>
              <a:buAutoNum type="arabicPeriod"/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the program</a:t>
            </a:r>
          </a:p>
          <a:p>
            <a:pPr marL="271463">
              <a:lnSpc>
                <a:spcPct val="90000"/>
              </a:lnSpc>
            </a:pPr>
            <a:endParaRPr lang="en-US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Read the student’s score and save it in the variable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</a:t>
            </a:r>
          </a:p>
          <a:p>
            <a:pPr marL="271463">
              <a:lnSpc>
                <a:spcPct val="90000"/>
              </a:lnSpc>
            </a:pPr>
            <a:endParaRPr lang="en-US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if (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&lt; 60.0) 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‘F’;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else 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if (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 70.0)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‘D’;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else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if (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 80.0)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    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‘C’;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  else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     if (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 90.0)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       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‘B’;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     else</a:t>
            </a: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       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grade </a:t>
            </a: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‘A’;</a:t>
            </a:r>
          </a:p>
          <a:p>
            <a:pPr marL="271463">
              <a:lnSpc>
                <a:spcPct val="90000"/>
              </a:lnSpc>
            </a:pPr>
            <a:endParaRPr lang="en-US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Print </a:t>
            </a:r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grade</a:t>
            </a:r>
          </a:p>
          <a:p>
            <a:pPr marL="271463">
              <a:lnSpc>
                <a:spcPct val="90000"/>
              </a:lnSpc>
            </a:pPr>
            <a:endParaRPr lang="en-US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71463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 End the program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Nested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2  - A SMARTER SOLUTION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1800949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Nested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908720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2  - FLOWCHART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67"/>
          <p:cNvSpPr>
            <a:spLocks noChangeArrowheads="1"/>
          </p:cNvSpPr>
          <p:nvPr/>
        </p:nvSpPr>
        <p:spPr bwMode="auto">
          <a:xfrm>
            <a:off x="1476933" y="1340768"/>
            <a:ext cx="1151706" cy="288032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sp>
        <p:nvSpPr>
          <p:cNvPr id="9" name="AutoShape 68"/>
          <p:cNvSpPr>
            <a:spLocks noChangeArrowheads="1"/>
          </p:cNvSpPr>
          <p:nvPr/>
        </p:nvSpPr>
        <p:spPr bwMode="auto">
          <a:xfrm>
            <a:off x="1117749" y="1844824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</a:t>
            </a:r>
            <a:r>
              <a:rPr lang="en-US" sz="1600" dirty="0">
                <a:latin typeface="Arial" charset="0"/>
                <a:cs typeface="Arial" charset="0"/>
              </a:rPr>
              <a:t>score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AutoShape 73"/>
          <p:cNvSpPr>
            <a:spLocks noChangeArrowheads="1"/>
          </p:cNvSpPr>
          <p:nvPr/>
        </p:nvSpPr>
        <p:spPr bwMode="auto">
          <a:xfrm>
            <a:off x="1153542" y="2420888"/>
            <a:ext cx="1798488" cy="1080319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dirty="0">
                <a:latin typeface="Arial" charset="0"/>
                <a:cs typeface="Arial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Arial" charset="0"/>
                <a:cs typeface="Arial" charset="0"/>
              </a:rPr>
              <a:t>score &lt; 60)?</a:t>
            </a:r>
            <a:endParaRPr lang="en-US" sz="12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7504" y="3429000"/>
            <a:ext cx="1152128" cy="403969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grade = ‘F’</a:t>
            </a:r>
          </a:p>
        </p:txBody>
      </p:sp>
      <p:cxnSp>
        <p:nvCxnSpPr>
          <p:cNvPr id="13" name="Straight Arrow Connector 12"/>
          <p:cNvCxnSpPr>
            <a:stCxn id="8" idx="2"/>
            <a:endCxn id="9" idx="1"/>
          </p:cNvCxnSpPr>
          <p:nvPr/>
        </p:nvCxnSpPr>
        <p:spPr>
          <a:xfrm>
            <a:off x="2052786" y="1628800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4"/>
            <a:endCxn id="10" idx="0"/>
          </p:cNvCxnSpPr>
          <p:nvPr/>
        </p:nvCxnSpPr>
        <p:spPr>
          <a:xfrm flipH="1">
            <a:off x="2052786" y="2203599"/>
            <a:ext cx="1" cy="2172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" idx="1"/>
          </p:cNvCxnSpPr>
          <p:nvPr/>
        </p:nvCxnSpPr>
        <p:spPr>
          <a:xfrm flipH="1" flipV="1">
            <a:off x="683568" y="2961047"/>
            <a:ext cx="469974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83568" y="2961047"/>
            <a:ext cx="0" cy="46795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3"/>
          </p:cNvCxnSpPr>
          <p:nvPr/>
        </p:nvCxnSpPr>
        <p:spPr>
          <a:xfrm>
            <a:off x="2952030" y="2961048"/>
            <a:ext cx="50470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utoShape 73"/>
          <p:cNvSpPr>
            <a:spLocks noChangeArrowheads="1"/>
          </p:cNvSpPr>
          <p:nvPr/>
        </p:nvSpPr>
        <p:spPr bwMode="auto">
          <a:xfrm>
            <a:off x="2557488" y="3284785"/>
            <a:ext cx="1798488" cy="1080319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dirty="0">
                <a:latin typeface="Arial" charset="0"/>
                <a:cs typeface="Arial" charset="0"/>
              </a:rPr>
              <a:t> (</a:t>
            </a:r>
            <a:r>
              <a:rPr lang="en-US" sz="1200" dirty="0">
                <a:solidFill>
                  <a:srgbClr val="0000FF"/>
                </a:solidFill>
                <a:latin typeface="Arial" charset="0"/>
                <a:cs typeface="Arial" charset="0"/>
              </a:rPr>
              <a:t>score </a:t>
            </a:r>
            <a:r>
              <a:rPr lang="en-US" sz="1200" dirty="0">
                <a:latin typeface="Arial" charset="0"/>
                <a:cs typeface="Arial" charset="0"/>
              </a:rPr>
              <a:t>&lt; 70)</a:t>
            </a:r>
            <a:endParaRPr lang="en-US" sz="12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25" name="Straight Arrow Connector 24"/>
          <p:cNvCxnSpPr>
            <a:endCxn id="23" idx="0"/>
          </p:cNvCxnSpPr>
          <p:nvPr/>
        </p:nvCxnSpPr>
        <p:spPr>
          <a:xfrm>
            <a:off x="3456732" y="2961047"/>
            <a:ext cx="0" cy="3237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2123728" y="3832969"/>
            <a:ext cx="469974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547664" y="4293096"/>
            <a:ext cx="1152128" cy="403969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grade = ‘D’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2123728" y="3825143"/>
            <a:ext cx="0" cy="46795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4390478" y="3825144"/>
            <a:ext cx="50470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AutoShape 73"/>
          <p:cNvSpPr>
            <a:spLocks noChangeArrowheads="1"/>
          </p:cNvSpPr>
          <p:nvPr/>
        </p:nvSpPr>
        <p:spPr bwMode="auto">
          <a:xfrm>
            <a:off x="3995936" y="4148881"/>
            <a:ext cx="1798488" cy="1080319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dirty="0">
                <a:latin typeface="Arial" charset="0"/>
                <a:cs typeface="Arial" charset="0"/>
              </a:rPr>
              <a:t> (</a:t>
            </a:r>
            <a:r>
              <a:rPr lang="en-US" sz="1200" dirty="0">
                <a:solidFill>
                  <a:srgbClr val="0000FF"/>
                </a:solidFill>
                <a:latin typeface="Arial" charset="0"/>
                <a:cs typeface="Arial" charset="0"/>
              </a:rPr>
              <a:t>score </a:t>
            </a:r>
            <a:r>
              <a:rPr lang="en-US" sz="1200" dirty="0">
                <a:latin typeface="Arial" charset="0"/>
                <a:cs typeface="Arial" charset="0"/>
              </a:rPr>
              <a:t>&lt; 80)</a:t>
            </a:r>
            <a:endParaRPr lang="en-US" sz="12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32" name="Straight Arrow Connector 31"/>
          <p:cNvCxnSpPr>
            <a:endCxn id="31" idx="0"/>
          </p:cNvCxnSpPr>
          <p:nvPr/>
        </p:nvCxnSpPr>
        <p:spPr>
          <a:xfrm>
            <a:off x="4895180" y="3825143"/>
            <a:ext cx="0" cy="3237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 flipV="1">
            <a:off x="3525962" y="4689040"/>
            <a:ext cx="469974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87824" y="5185271"/>
            <a:ext cx="1152128" cy="403969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grade = ‘C’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3563888" y="4717318"/>
            <a:ext cx="0" cy="46795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760342" y="4689240"/>
            <a:ext cx="50470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73"/>
          <p:cNvSpPr>
            <a:spLocks noChangeArrowheads="1"/>
          </p:cNvSpPr>
          <p:nvPr/>
        </p:nvSpPr>
        <p:spPr bwMode="auto">
          <a:xfrm>
            <a:off x="5365800" y="5012977"/>
            <a:ext cx="1798488" cy="1080319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dirty="0">
                <a:latin typeface="Arial" charset="0"/>
                <a:cs typeface="Arial" charset="0"/>
              </a:rPr>
              <a:t> (</a:t>
            </a:r>
            <a:r>
              <a:rPr lang="en-US" sz="1200" dirty="0">
                <a:solidFill>
                  <a:srgbClr val="0000FF"/>
                </a:solidFill>
                <a:latin typeface="Arial" charset="0"/>
                <a:cs typeface="Arial" charset="0"/>
              </a:rPr>
              <a:t>score </a:t>
            </a:r>
            <a:r>
              <a:rPr lang="en-US" sz="1200" dirty="0">
                <a:latin typeface="Arial" charset="0"/>
                <a:cs typeface="Arial" charset="0"/>
              </a:rPr>
              <a:t>&lt; 90)</a:t>
            </a:r>
            <a:endParaRPr lang="en-US" sz="12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38" name="Straight Arrow Connector 37"/>
          <p:cNvCxnSpPr>
            <a:endCxn id="37" idx="0"/>
          </p:cNvCxnSpPr>
          <p:nvPr/>
        </p:nvCxnSpPr>
        <p:spPr>
          <a:xfrm>
            <a:off x="6265044" y="4689239"/>
            <a:ext cx="0" cy="3237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4894114" y="5553136"/>
            <a:ext cx="469974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355976" y="6049367"/>
            <a:ext cx="1152128" cy="403969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grade = ‘B’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4932040" y="5581414"/>
            <a:ext cx="0" cy="46795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164288" y="5553535"/>
            <a:ext cx="50470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44" idx="0"/>
          </p:cNvCxnSpPr>
          <p:nvPr/>
        </p:nvCxnSpPr>
        <p:spPr>
          <a:xfrm>
            <a:off x="7668990" y="5553534"/>
            <a:ext cx="0" cy="53976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7092926" y="6093296"/>
            <a:ext cx="1152128" cy="403969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grade = ‘A’</a:t>
            </a:r>
          </a:p>
        </p:txBody>
      </p:sp>
      <p:cxnSp>
        <p:nvCxnSpPr>
          <p:cNvPr id="47" name="Straight Arrow Connector 46"/>
          <p:cNvCxnSpPr>
            <a:endCxn id="69" idx="0"/>
          </p:cNvCxnSpPr>
          <p:nvPr/>
        </p:nvCxnSpPr>
        <p:spPr>
          <a:xfrm>
            <a:off x="693049" y="3832969"/>
            <a:ext cx="1" cy="246231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123728" y="4725144"/>
            <a:ext cx="0" cy="197229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3563888" y="5589240"/>
            <a:ext cx="0" cy="110819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4" idx="2"/>
          </p:cNvCxnSpPr>
          <p:nvPr/>
        </p:nvCxnSpPr>
        <p:spPr>
          <a:xfrm>
            <a:off x="7668990" y="6497265"/>
            <a:ext cx="0" cy="24410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4932040" y="6453336"/>
            <a:ext cx="0" cy="24410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4932040" y="6697439"/>
            <a:ext cx="2736951" cy="0"/>
          </a:xfrm>
          <a:prstGeom prst="straightConnector1">
            <a:avLst/>
          </a:prstGeom>
          <a:ln w="28575">
            <a:solidFill>
              <a:srgbClr val="FF33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3563888" y="6697439"/>
            <a:ext cx="1368152" cy="0"/>
          </a:xfrm>
          <a:prstGeom prst="straightConnector1">
            <a:avLst/>
          </a:prstGeom>
          <a:ln w="28575">
            <a:solidFill>
              <a:srgbClr val="FF3399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>
            <a:off x="2123728" y="6697439"/>
            <a:ext cx="1440160" cy="0"/>
          </a:xfrm>
          <a:prstGeom prst="straightConnector1">
            <a:avLst/>
          </a:prstGeom>
          <a:ln w="28575">
            <a:solidFill>
              <a:srgbClr val="FF3399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467544" y="6295280"/>
            <a:ext cx="451011" cy="44608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1403648" y="6697439"/>
            <a:ext cx="720080" cy="0"/>
          </a:xfrm>
          <a:prstGeom prst="straightConnector1">
            <a:avLst/>
          </a:prstGeom>
          <a:ln w="28575">
            <a:solidFill>
              <a:srgbClr val="FF3399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endCxn id="69" idx="6"/>
          </p:cNvCxnSpPr>
          <p:nvPr/>
        </p:nvCxnSpPr>
        <p:spPr>
          <a:xfrm flipH="1">
            <a:off x="918555" y="6518324"/>
            <a:ext cx="485093" cy="0"/>
          </a:xfrm>
          <a:prstGeom prst="straightConnector1">
            <a:avLst/>
          </a:prstGeom>
          <a:ln w="28575">
            <a:solidFill>
              <a:srgbClr val="FF33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1403648" y="6518324"/>
            <a:ext cx="0" cy="179115"/>
          </a:xfrm>
          <a:prstGeom prst="line">
            <a:avLst/>
          </a:prstGeom>
          <a:ln w="28575">
            <a:solidFill>
              <a:srgbClr val="FF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7191133" y="1412776"/>
            <a:ext cx="451011" cy="44608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8" name="AutoShape 68"/>
          <p:cNvSpPr>
            <a:spLocks noChangeArrowheads="1"/>
          </p:cNvSpPr>
          <p:nvPr/>
        </p:nvSpPr>
        <p:spPr bwMode="auto">
          <a:xfrm>
            <a:off x="6481601" y="2132856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grade</a:t>
            </a:r>
          </a:p>
        </p:txBody>
      </p:sp>
      <p:sp>
        <p:nvSpPr>
          <p:cNvPr id="79" name="AutoShape 67"/>
          <p:cNvSpPr>
            <a:spLocks noChangeArrowheads="1"/>
          </p:cNvSpPr>
          <p:nvPr/>
        </p:nvSpPr>
        <p:spPr bwMode="auto">
          <a:xfrm>
            <a:off x="6840785" y="2782193"/>
            <a:ext cx="1151706" cy="288032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1600" dirty="0">
                <a:latin typeface="Arial" charset="0"/>
                <a:cs typeface="Arial" charset="0"/>
              </a:rPr>
              <a:t>END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81" name="Straight Arrow Connector 80"/>
          <p:cNvCxnSpPr>
            <a:stCxn id="77" idx="4"/>
            <a:endCxn id="78" idx="1"/>
          </p:cNvCxnSpPr>
          <p:nvPr/>
        </p:nvCxnSpPr>
        <p:spPr>
          <a:xfrm>
            <a:off x="7416639" y="1858864"/>
            <a:ext cx="0" cy="2739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78" idx="4"/>
            <a:endCxn id="79" idx="0"/>
          </p:cNvCxnSpPr>
          <p:nvPr/>
        </p:nvCxnSpPr>
        <p:spPr>
          <a:xfrm flipH="1">
            <a:off x="7416638" y="2491631"/>
            <a:ext cx="1" cy="29056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611560" y="2636912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23728" y="3501008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63888" y="4365104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60032" y="5229200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15816" y="2636912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3399"/>
                </a:solidFill>
              </a:rPr>
              <a:t>FALSE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83968" y="3440033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3399"/>
                </a:solidFill>
              </a:rPr>
              <a:t>FALSE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24128" y="4365104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3399"/>
                </a:solidFill>
              </a:rPr>
              <a:t>FALSE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92280" y="5240233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3399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28354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500"/>
                            </p:stCondLst>
                            <p:childTnLst>
                              <p:par>
                                <p:cTn id="1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000"/>
                            </p:stCondLst>
                            <p:childTnLst>
                              <p:par>
                                <p:cTn id="1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"/>
                            </p:stCondLst>
                            <p:childTnLst>
                              <p:par>
                                <p:cTn id="1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000"/>
                            </p:stCondLst>
                            <p:childTnLst>
                              <p:par>
                                <p:cTn id="2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500"/>
                            </p:stCondLst>
                            <p:childTnLst>
                              <p:par>
                                <p:cTn id="2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000"/>
                            </p:stCondLst>
                            <p:childTnLst>
                              <p:par>
                                <p:cTn id="2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23" grpId="0" animBg="1"/>
      <p:bldP spid="27" grpId="0" animBg="1"/>
      <p:bldP spid="31" grpId="0" animBg="1"/>
      <p:bldP spid="34" grpId="0" animBg="1"/>
      <p:bldP spid="37" grpId="0" animBg="1"/>
      <p:bldP spid="40" grpId="0" animBg="1"/>
      <p:bldP spid="44" grpId="0" animBg="1"/>
      <p:bldP spid="69" grpId="0" animBg="1"/>
      <p:bldP spid="77" grpId="0" animBg="1"/>
      <p:bldP spid="78" grpId="0" animBg="1"/>
      <p:bldP spid="79" grpId="0" animBg="1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2 – CODE 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179512" y="1268760"/>
            <a:ext cx="8784976" cy="3108543"/>
            <a:chOff x="323528" y="1236822"/>
            <a:chExt cx="7848872" cy="3007752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300775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// import necessary libraries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import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java.util.Scanner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public class</a:t>
              </a:r>
              <a:r>
                <a:rPr lang="en-US" sz="1400" dirty="0">
                  <a:solidFill>
                    <a:srgbClr val="0000FF"/>
                  </a:solidFill>
                </a:rPr>
                <a:t> nestedIf2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   public static void</a:t>
              </a:r>
              <a:r>
                <a:rPr lang="en-US" sz="1400" dirty="0">
                  <a:solidFill>
                    <a:srgbClr val="0000FF"/>
                  </a:solidFill>
                </a:rPr>
                <a:t> main (String[] </a:t>
              </a:r>
              <a:r>
                <a:rPr lang="en-US" sz="1400" dirty="0" err="1">
                  <a:solidFill>
                    <a:srgbClr val="0000FF"/>
                  </a:solidFill>
                </a:rPr>
                <a:t>args</a:t>
              </a:r>
              <a:r>
                <a:rPr lang="en-US" sz="1400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              </a:t>
              </a:r>
              <a:r>
                <a:rPr lang="en-US" sz="1400" dirty="0">
                  <a:solidFill>
                    <a:srgbClr val="0000FF"/>
                  </a:solidFill>
                </a:rPr>
                <a:t>Scanner console = </a:t>
              </a:r>
              <a:r>
                <a:rPr lang="en-US" sz="1400" dirty="0">
                  <a:solidFill>
                    <a:srgbClr val="00B0F0"/>
                  </a:solidFill>
                </a:rPr>
                <a:t>new</a:t>
              </a:r>
              <a:r>
                <a:rPr lang="en-US" sz="1400" dirty="0">
                  <a:solidFill>
                    <a:srgbClr val="0000FF"/>
                  </a:solidFill>
                </a:rPr>
                <a:t> Scanner (</a:t>
              </a:r>
              <a:r>
                <a:rPr lang="en-US" sz="1400" dirty="0" err="1">
                  <a:solidFill>
                    <a:srgbClr val="0000FF"/>
                  </a:solidFill>
                </a:rPr>
                <a:t>System.in</a:t>
              </a:r>
              <a:r>
                <a:rPr lang="en-US" sz="1400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</a:t>
              </a:r>
              <a:r>
                <a:rPr lang="en-US" sz="1400" dirty="0"/>
                <a:t>// Declaration section: to declare needed variables</a:t>
              </a:r>
            </a:p>
            <a:p>
              <a:r>
                <a:rPr lang="en-US" sz="1400" dirty="0"/>
                <a:t>	</a:t>
              </a:r>
              <a:r>
                <a:rPr lang="en-US" sz="1400" dirty="0">
                  <a:solidFill>
                    <a:srgbClr val="00B0F0"/>
                  </a:solidFill>
                </a:rPr>
                <a:t>double</a:t>
              </a:r>
              <a:r>
                <a:rPr lang="en-US" sz="1400" dirty="0">
                  <a:solidFill>
                    <a:srgbClr val="0000FF"/>
                  </a:solidFill>
                </a:rPr>
                <a:t> score;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>
                  <a:solidFill>
                    <a:srgbClr val="00B0F0"/>
                  </a:solidFill>
                </a:rPr>
                <a:t>char</a:t>
              </a:r>
              <a:r>
                <a:rPr lang="en-US" sz="1400" dirty="0">
                  <a:solidFill>
                    <a:srgbClr val="0000FF"/>
                  </a:solidFill>
                </a:rPr>
                <a:t> grade;		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/>
                <a:t>            // Input section: to enter values of used variables</a:t>
              </a:r>
            </a:p>
            <a:p>
              <a:r>
                <a:rPr lang="en-US" sz="1400" dirty="0"/>
                <a:t>	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score”);   </a:t>
              </a:r>
              <a:r>
                <a:rPr lang="en-US" sz="1400" dirty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score = </a:t>
              </a:r>
              <a:r>
                <a:rPr lang="en-US" sz="1400" dirty="0" err="1">
                  <a:solidFill>
                    <a:srgbClr val="0000FF"/>
                  </a:solidFill>
                </a:rPr>
                <a:t>console.</a:t>
              </a:r>
              <a:r>
                <a:rPr lang="en-US" sz="1400" dirty="0" err="1">
                  <a:solidFill>
                    <a:srgbClr val="00B050"/>
                  </a:solidFill>
                </a:rPr>
                <a:t>nextDouble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/>
                <a:t>            // Processing section: processing statements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30077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14</a:t>
              </a: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Nested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3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2 – CODE (cont’d) 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182391" y="1286043"/>
            <a:ext cx="8784976" cy="4524315"/>
            <a:chOff x="323528" y="1236822"/>
            <a:chExt cx="7848872" cy="4377621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437762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// Processing Section: processing statements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if</a:t>
              </a:r>
              <a:r>
                <a:rPr lang="en-US" sz="1600" dirty="0">
                  <a:solidFill>
                    <a:srgbClr val="0000FF"/>
                  </a:solidFill>
                </a:rPr>
                <a:t> (score &lt; 60.0)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grade = ‘F’;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</a:t>
              </a:r>
              <a:r>
                <a:rPr lang="en-US" sz="1600" dirty="0">
                  <a:solidFill>
                    <a:srgbClr val="00B0F0"/>
                  </a:solidFill>
                </a:rPr>
                <a:t>if</a:t>
              </a:r>
              <a:r>
                <a:rPr lang="en-US" sz="1600" dirty="0">
                  <a:solidFill>
                    <a:srgbClr val="0000FF"/>
                  </a:solidFill>
                </a:rPr>
                <a:t> (score &lt; 70.0)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grade = ‘D’;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</a:t>
              </a:r>
              <a:r>
                <a:rPr lang="en-US" sz="16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</a:t>
              </a:r>
              <a:r>
                <a:rPr lang="en-US" sz="1600" dirty="0">
                  <a:solidFill>
                    <a:srgbClr val="00B0F0"/>
                  </a:solidFill>
                </a:rPr>
                <a:t>if </a:t>
              </a:r>
              <a:r>
                <a:rPr lang="en-US" sz="1600" dirty="0">
                  <a:solidFill>
                    <a:srgbClr val="0000FF"/>
                  </a:solidFill>
                </a:rPr>
                <a:t>(score &lt; 80.0)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grade = ‘C’;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</a:t>
              </a:r>
              <a:r>
                <a:rPr lang="en-US" sz="16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</a:t>
              </a:r>
              <a:r>
                <a:rPr lang="en-US" sz="1600" dirty="0">
                  <a:solidFill>
                    <a:srgbClr val="00B0F0"/>
                  </a:solidFill>
                </a:rPr>
                <a:t>if </a:t>
              </a:r>
              <a:r>
                <a:rPr lang="en-US" sz="1600" dirty="0">
                  <a:solidFill>
                    <a:srgbClr val="0000FF"/>
                  </a:solidFill>
                </a:rPr>
                <a:t>(score &lt; 90.0)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  grade = ‘B’;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</a:t>
              </a:r>
              <a:r>
                <a:rPr lang="en-US" sz="16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  grade = ‘A’;</a:t>
              </a:r>
            </a:p>
            <a:p>
              <a:r>
                <a:rPr lang="en-US" sz="1600" dirty="0"/>
                <a:t>// Output Section: display program output</a:t>
              </a:r>
            </a:p>
            <a:p>
              <a:r>
                <a:rPr lang="en-US" sz="16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600" dirty="0">
                  <a:solidFill>
                    <a:srgbClr val="0000FF"/>
                  </a:solidFill>
                </a:rPr>
                <a:t> (“Student’s grade = %c”, grade);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} </a:t>
              </a:r>
              <a:r>
                <a:rPr lang="en-US" sz="1600" dirty="0">
                  <a:solidFill>
                    <a:srgbClr val="00B050"/>
                  </a:solidFill>
                </a:rPr>
                <a:t>//end main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} </a:t>
              </a:r>
              <a:r>
                <a:rPr lang="en-US" sz="1600" dirty="0">
                  <a:solidFill>
                    <a:srgbClr val="00B050"/>
                  </a:solidFill>
                </a:rPr>
                <a:t>//end class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4377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31</a:t>
              </a: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Nested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14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1403648" y="4509120"/>
            <a:ext cx="7200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1403648" y="3933056"/>
            <a:ext cx="0" cy="5760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403648" y="3933056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1187624" y="3717032"/>
            <a:ext cx="7200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1187624" y="3140968"/>
            <a:ext cx="0" cy="576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1187624" y="3140968"/>
            <a:ext cx="216024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971600" y="2996952"/>
            <a:ext cx="720080" cy="0"/>
          </a:xfrm>
          <a:prstGeom prst="line">
            <a:avLst/>
          </a:prstGeom>
          <a:ln w="28575">
            <a:solidFill>
              <a:srgbClr val="CC7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971600" y="2420888"/>
            <a:ext cx="0" cy="576064"/>
          </a:xfrm>
          <a:prstGeom prst="line">
            <a:avLst/>
          </a:prstGeom>
          <a:ln w="28575">
            <a:solidFill>
              <a:srgbClr val="CC7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971600" y="2420888"/>
            <a:ext cx="216024" cy="0"/>
          </a:xfrm>
          <a:prstGeom prst="straightConnector1">
            <a:avLst/>
          </a:prstGeom>
          <a:ln w="28575">
            <a:solidFill>
              <a:srgbClr val="CC7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827584" y="2276872"/>
            <a:ext cx="72008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827584" y="1700808"/>
            <a:ext cx="0" cy="576064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827584" y="1700808"/>
            <a:ext cx="216024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56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182391" y="1178168"/>
            <a:ext cx="8784976" cy="1323441"/>
            <a:chOff x="323528" y="1236822"/>
            <a:chExt cx="7848872" cy="1280529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128052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B0F0"/>
                  </a:solidFill>
                </a:rPr>
                <a:t>if</a:t>
              </a:r>
              <a:r>
                <a:rPr lang="en-US" sz="1600" dirty="0">
                  <a:solidFill>
                    <a:srgbClr val="0000FF"/>
                  </a:solidFill>
                </a:rPr>
                <a:t> (score &gt; 60.0)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</a:t>
              </a:r>
              <a:r>
                <a:rPr lang="en-US" sz="1600" dirty="0">
                  <a:solidFill>
                    <a:srgbClr val="00B0F0"/>
                  </a:solidFill>
                </a:rPr>
                <a:t>if</a:t>
              </a:r>
              <a:r>
                <a:rPr lang="en-US" sz="1600" dirty="0">
                  <a:solidFill>
                    <a:srgbClr val="0000FF"/>
                  </a:solidFill>
                </a:rPr>
                <a:t> (score &gt; 65.0)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600" dirty="0">
                  <a:solidFill>
                    <a:srgbClr val="0000FF"/>
                  </a:solidFill>
                </a:rPr>
                <a:t> (“Score is greater than 65”);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else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600" dirty="0">
                  <a:solidFill>
                    <a:srgbClr val="0000FF"/>
                  </a:solidFill>
                </a:rPr>
                <a:t> (“Score is less than 60”);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12805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Nested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if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0" name="Content Placeholder 4"/>
          <p:cNvSpPr>
            <a:spLocks noGrp="1"/>
          </p:cNvSpPr>
          <p:nvPr>
            <p:ph idx="1"/>
          </p:nvPr>
        </p:nvSpPr>
        <p:spPr>
          <a:xfrm>
            <a:off x="251520" y="756661"/>
            <a:ext cx="8640960" cy="421507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code does not work as intended. Trace for score = 62.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971600" y="2186280"/>
            <a:ext cx="7200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971600" y="1610216"/>
            <a:ext cx="0" cy="5760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971600" y="1610216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/>
          <p:cNvGrpSpPr/>
          <p:nvPr/>
        </p:nvGrpSpPr>
        <p:grpSpPr>
          <a:xfrm>
            <a:off x="650334" y="2546320"/>
            <a:ext cx="8314155" cy="738664"/>
            <a:chOff x="1029207" y="1236822"/>
            <a:chExt cx="7143193" cy="738664"/>
          </a:xfrm>
        </p:grpSpPr>
        <p:sp>
          <p:nvSpPr>
            <p:cNvPr id="35" name="TextBox 34"/>
            <p:cNvSpPr txBox="1"/>
            <p:nvPr/>
          </p:nvSpPr>
          <p:spPr>
            <a:xfrm>
              <a:off x="1249811" y="1236822"/>
              <a:ext cx="6922589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student’s score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62.0</a:t>
              </a:r>
              <a:endParaRPr lang="en-US" sz="1400" dirty="0">
                <a:solidFill>
                  <a:schemeClr val="bg1"/>
                </a:solidFill>
              </a:endParaRPr>
            </a:p>
            <a:p>
              <a:r>
                <a:rPr lang="en-US" sz="1400" dirty="0">
                  <a:solidFill>
                    <a:schemeClr val="bg1"/>
                  </a:solidFill>
                </a:rPr>
                <a:t>Score is less than 60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29207" y="1236822"/>
              <a:ext cx="21602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</p:txBody>
        </p:sp>
      </p:grpSp>
      <p:sp>
        <p:nvSpPr>
          <p:cNvPr id="37" name="Content Placeholder 4"/>
          <p:cNvSpPr txBox="1">
            <a:spLocks/>
          </p:cNvSpPr>
          <p:nvPr/>
        </p:nvSpPr>
        <p:spPr>
          <a:xfrm>
            <a:off x="251520" y="3284984"/>
            <a:ext cx="8640960" cy="42150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is corrected as follows: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79512" y="3645024"/>
            <a:ext cx="8784976" cy="1815882"/>
            <a:chOff x="323528" y="1236822"/>
            <a:chExt cx="7848872" cy="1757002"/>
          </a:xfrm>
        </p:grpSpPr>
        <p:sp>
          <p:nvSpPr>
            <p:cNvPr id="39" name="TextBox 38"/>
            <p:cNvSpPr txBox="1"/>
            <p:nvPr/>
          </p:nvSpPr>
          <p:spPr>
            <a:xfrm>
              <a:off x="971600" y="1236822"/>
              <a:ext cx="7200800" cy="175700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B0F0"/>
                  </a:solidFill>
                </a:rPr>
                <a:t>if</a:t>
              </a:r>
              <a:r>
                <a:rPr lang="en-US" sz="1600" dirty="0">
                  <a:solidFill>
                    <a:srgbClr val="0000FF"/>
                  </a:solidFill>
                </a:rPr>
                <a:t> (score &gt; 60.0)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</a:t>
              </a:r>
              <a:r>
                <a:rPr lang="en-US" sz="1600" dirty="0">
                  <a:solidFill>
                    <a:srgbClr val="00B0F0"/>
                  </a:solidFill>
                </a:rPr>
                <a:t>if</a:t>
              </a:r>
              <a:r>
                <a:rPr lang="en-US" sz="1600" dirty="0">
                  <a:solidFill>
                    <a:srgbClr val="0000FF"/>
                  </a:solidFill>
                </a:rPr>
                <a:t> (score &gt; 65.0)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(“Score is greater than 65”);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}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(“Score is less than 60”);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23528" y="1236822"/>
              <a:ext cx="576064" cy="17570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7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647455" y="5589240"/>
            <a:ext cx="8314155" cy="523220"/>
            <a:chOff x="1029207" y="1236822"/>
            <a:chExt cx="7143193" cy="523220"/>
          </a:xfrm>
        </p:grpSpPr>
        <p:sp>
          <p:nvSpPr>
            <p:cNvPr id="42" name="TextBox 41"/>
            <p:cNvSpPr txBox="1"/>
            <p:nvPr/>
          </p:nvSpPr>
          <p:spPr>
            <a:xfrm>
              <a:off x="1249811" y="1236822"/>
              <a:ext cx="6922589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Enter student’s score</a:t>
              </a:r>
            </a:p>
            <a:p>
              <a:r>
                <a:rPr lang="en-US" sz="1400" dirty="0">
                  <a:solidFill>
                    <a:srgbClr val="FFC000"/>
                  </a:solidFill>
                </a:rPr>
                <a:t>62.0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029207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cxnSp>
        <p:nvCxnSpPr>
          <p:cNvPr id="44" name="Straight Connector 43"/>
          <p:cNvCxnSpPr/>
          <p:nvPr/>
        </p:nvCxnSpPr>
        <p:spPr>
          <a:xfrm flipH="1">
            <a:off x="827584" y="5157192"/>
            <a:ext cx="7200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827584" y="3861048"/>
            <a:ext cx="0" cy="129614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827584" y="3861048"/>
            <a:ext cx="21602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xplosion 1 2"/>
          <p:cNvSpPr/>
          <p:nvPr/>
        </p:nvSpPr>
        <p:spPr>
          <a:xfrm>
            <a:off x="6987894" y="5301208"/>
            <a:ext cx="1872208" cy="1435224"/>
          </a:xfrm>
          <a:prstGeom prst="irregularSeal1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IMPORTANT</a:t>
            </a:r>
          </a:p>
        </p:txBody>
      </p:sp>
    </p:spTree>
    <p:extLst>
      <p:ext uri="{BB962C8B-B14F-4D97-AF65-F5344CB8AC3E}">
        <p14:creationId xmlns:p14="http://schemas.microsoft.com/office/powerpoint/2010/main" val="4216137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  <p:bldP spid="37" grpId="0" build="p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CONDITIONAL OPERATOR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?: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0" name="Content Placeholder 4"/>
          <p:cNvSpPr>
            <a:spLocks noGrp="1"/>
          </p:cNvSpPr>
          <p:nvPr>
            <p:ph idx="1"/>
          </p:nvPr>
        </p:nvSpPr>
        <p:spPr>
          <a:xfrm>
            <a:off x="251520" y="756661"/>
            <a:ext cx="8640960" cy="421507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Also known as the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ternary operator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77111" y="1196752"/>
            <a:ext cx="5832648" cy="72008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B0F0"/>
                </a:solidFill>
              </a:rPr>
              <a:t>Variable =</a:t>
            </a:r>
          </a:p>
          <a:p>
            <a:pPr algn="ctr"/>
            <a:r>
              <a:rPr lang="en-US" dirty="0">
                <a:solidFill>
                  <a:srgbClr val="00B0F0"/>
                </a:solidFill>
              </a:rPr>
              <a:t> (LogicalExpression1) ? Expression2: Expression3;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36951" y="1196752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6951" y="1988840"/>
            <a:ext cx="1296144" cy="61206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77111" y="1988840"/>
            <a:ext cx="5832648" cy="122413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rgbClr val="00B0F0"/>
                </a:solidFill>
              </a:rPr>
              <a:t>int</a:t>
            </a:r>
            <a:r>
              <a:rPr lang="en-US" sz="1400" dirty="0">
                <a:solidFill>
                  <a:schemeClr val="tx1"/>
                </a:solidFill>
              </a:rPr>
              <a:t> x = 3, y = 5, min;</a:t>
            </a:r>
          </a:p>
          <a:p>
            <a:r>
              <a:rPr lang="en-US" sz="1400" dirty="0">
                <a:solidFill>
                  <a:schemeClr val="tx1"/>
                </a:solidFill>
              </a:rPr>
              <a:t>min = </a:t>
            </a:r>
            <a:r>
              <a:rPr lang="en-US" sz="1400" dirty="0">
                <a:solidFill>
                  <a:srgbClr val="FF0000"/>
                </a:solidFill>
              </a:rPr>
              <a:t>(x &lt;= y) ?</a:t>
            </a:r>
            <a:r>
              <a:rPr lang="en-US" sz="1400" dirty="0">
                <a:solidFill>
                  <a:schemeClr val="tx1"/>
                </a:solidFill>
              </a:rPr>
              <a:t> x : y;</a:t>
            </a:r>
          </a:p>
          <a:p>
            <a:r>
              <a:rPr lang="en-US" sz="1400" dirty="0">
                <a:solidFill>
                  <a:schemeClr val="tx1"/>
                </a:solidFill>
              </a:rPr>
              <a:t>max = </a:t>
            </a:r>
            <a:r>
              <a:rPr lang="en-US" sz="1400" dirty="0">
                <a:solidFill>
                  <a:srgbClr val="FF0000"/>
                </a:solidFill>
              </a:rPr>
              <a:t>(x &gt;= y) ?</a:t>
            </a:r>
            <a:r>
              <a:rPr lang="en-US" sz="1400" dirty="0">
                <a:solidFill>
                  <a:schemeClr val="tx1"/>
                </a:solidFill>
              </a:rPr>
              <a:t> x: y;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System.out.println</a:t>
            </a:r>
            <a:r>
              <a:rPr lang="en-US" sz="1400" dirty="0">
                <a:solidFill>
                  <a:schemeClr val="tx1"/>
                </a:solidFill>
              </a:rPr>
              <a:t> (min);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System.out.print</a:t>
            </a:r>
            <a:r>
              <a:rPr lang="en-US" sz="1400" dirty="0">
                <a:solidFill>
                  <a:schemeClr val="tx1"/>
                </a:solidFill>
              </a:rPr>
              <a:t> (max);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1677111" y="3284984"/>
            <a:ext cx="5832648" cy="523220"/>
            <a:chOff x="683568" y="1236822"/>
            <a:chExt cx="7488832" cy="523220"/>
          </a:xfrm>
        </p:grpSpPr>
        <p:sp>
          <p:nvSpPr>
            <p:cNvPr id="48" name="TextBox 47"/>
            <p:cNvSpPr txBox="1"/>
            <p:nvPr/>
          </p:nvSpPr>
          <p:spPr>
            <a:xfrm>
              <a:off x="971600" y="1236822"/>
              <a:ext cx="7200800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5_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83568" y="1236822"/>
              <a:ext cx="2160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50" name="Rounded Rectangle 49"/>
          <p:cNvSpPr/>
          <p:nvPr/>
        </p:nvSpPr>
        <p:spPr>
          <a:xfrm>
            <a:off x="251520" y="3303568"/>
            <a:ext cx="1296144" cy="289193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51" name="Content Placeholder 4"/>
          <p:cNvSpPr txBox="1">
            <a:spLocks/>
          </p:cNvSpPr>
          <p:nvPr/>
        </p:nvSpPr>
        <p:spPr>
          <a:xfrm>
            <a:off x="251520" y="3861048"/>
            <a:ext cx="8640960" cy="164564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example above, we have: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max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the </a:t>
            </a:r>
            <a:r>
              <a:rPr lang="en-US" sz="1800" dirty="0">
                <a:solidFill>
                  <a:srgbClr val="FF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variables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(x &lt;= y)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the </a:t>
            </a:r>
            <a:r>
              <a:rPr lang="en-US" sz="1800" dirty="0">
                <a:solidFill>
                  <a:srgbClr val="FF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logical expression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1800" dirty="0">
                <a:solidFill>
                  <a:srgbClr val="FF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Expression2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1800" dirty="0">
                <a:solidFill>
                  <a:srgbClr val="FF33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Expression3</a:t>
            </a:r>
          </a:p>
        </p:txBody>
      </p:sp>
      <p:sp>
        <p:nvSpPr>
          <p:cNvPr id="52" name="Content Placeholder 4"/>
          <p:cNvSpPr txBox="1">
            <a:spLocks/>
          </p:cNvSpPr>
          <p:nvPr/>
        </p:nvSpPr>
        <p:spPr>
          <a:xfrm>
            <a:off x="251520" y="5383757"/>
            <a:ext cx="8640960" cy="42150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logical expression is evaluated:</a:t>
            </a:r>
          </a:p>
        </p:txBody>
      </p:sp>
      <p:sp>
        <p:nvSpPr>
          <p:cNvPr id="19" name="Content Placeholder 4"/>
          <p:cNvSpPr txBox="1">
            <a:spLocks/>
          </p:cNvSpPr>
          <p:nvPr/>
        </p:nvSpPr>
        <p:spPr>
          <a:xfrm>
            <a:off x="1677110" y="5743797"/>
            <a:ext cx="7215369" cy="42150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it is </a:t>
            </a:r>
            <a:r>
              <a:rPr lang="en-US" sz="18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the variable takes the value of Expression2</a:t>
            </a:r>
          </a:p>
        </p:txBody>
      </p:sp>
      <p:sp>
        <p:nvSpPr>
          <p:cNvPr id="20" name="Content Placeholder 4"/>
          <p:cNvSpPr txBox="1">
            <a:spLocks/>
          </p:cNvSpPr>
          <p:nvPr/>
        </p:nvSpPr>
        <p:spPr>
          <a:xfrm>
            <a:off x="1691680" y="6103837"/>
            <a:ext cx="7215369" cy="42150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it is </a:t>
            </a:r>
            <a:r>
              <a:rPr lang="en-US" sz="18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false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the variable takes the value of Expression3</a:t>
            </a:r>
          </a:p>
        </p:txBody>
      </p:sp>
    </p:spTree>
    <p:extLst>
      <p:ext uri="{BB962C8B-B14F-4D97-AF65-F5344CB8AC3E}">
        <p14:creationId xmlns:p14="http://schemas.microsoft.com/office/powerpoint/2010/main" val="264142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  <p:bldP spid="26" grpId="0" animBg="1"/>
      <p:bldP spid="27" grpId="0" animBg="1"/>
      <p:bldP spid="28" grpId="0" animBg="1"/>
      <p:bldP spid="29" grpId="0" animBg="1"/>
      <p:bldP spid="50" grpId="0" animBg="1"/>
      <p:bldP spid="51" grpId="0" build="p"/>
      <p:bldP spid="52" grpId="0" build="p"/>
      <p:bldP spid="19" grpId="0" build="p"/>
      <p:bldP spid="2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/>
          <p:cNvGrpSpPr/>
          <p:nvPr/>
        </p:nvGrpSpPr>
        <p:grpSpPr>
          <a:xfrm>
            <a:off x="179512" y="2485257"/>
            <a:ext cx="8784976" cy="1077218"/>
            <a:chOff x="323528" y="1236822"/>
            <a:chExt cx="7848872" cy="1042290"/>
          </a:xfrm>
        </p:grpSpPr>
        <p:sp>
          <p:nvSpPr>
            <p:cNvPr id="54" name="TextBox 53"/>
            <p:cNvSpPr txBox="1"/>
            <p:nvPr/>
          </p:nvSpPr>
          <p:spPr>
            <a:xfrm>
              <a:off x="971600" y="1236822"/>
              <a:ext cx="7200800" cy="104229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B0F0"/>
                  </a:solidFill>
                </a:rPr>
                <a:t>if</a:t>
              </a:r>
              <a:r>
                <a:rPr lang="en-US" sz="1600" dirty="0">
                  <a:solidFill>
                    <a:srgbClr val="0000FF"/>
                  </a:solidFill>
                </a:rPr>
                <a:t> (x &lt;= y)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min = x;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min = y;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23528" y="1236822"/>
              <a:ext cx="576064" cy="104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4</a:t>
              </a: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CONDITIONAL OPERATOR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?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8" name="Rounded Rectangle 27"/>
          <p:cNvSpPr/>
          <p:nvPr/>
        </p:nvSpPr>
        <p:spPr>
          <a:xfrm>
            <a:off x="236951" y="980728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77111" y="980728"/>
            <a:ext cx="5832648" cy="10081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x = 3, y = 5, min;</a:t>
            </a:r>
          </a:p>
          <a:p>
            <a:r>
              <a:rPr lang="en-US" dirty="0">
                <a:solidFill>
                  <a:schemeClr val="tx1"/>
                </a:solidFill>
              </a:rPr>
              <a:t>min = </a:t>
            </a:r>
            <a:r>
              <a:rPr lang="en-US" dirty="0">
                <a:solidFill>
                  <a:srgbClr val="FF0000"/>
                </a:solidFill>
              </a:rPr>
              <a:t>(x &lt;= y) ?</a:t>
            </a:r>
            <a:r>
              <a:rPr lang="en-US" dirty="0">
                <a:solidFill>
                  <a:schemeClr val="tx1"/>
                </a:solidFill>
              </a:rPr>
              <a:t> x : y;</a:t>
            </a:r>
          </a:p>
          <a:p>
            <a:r>
              <a:rPr lang="en-US" dirty="0" err="1">
                <a:solidFill>
                  <a:schemeClr val="tx1"/>
                </a:solidFill>
              </a:rPr>
              <a:t>System.out.print</a:t>
            </a:r>
            <a:r>
              <a:rPr lang="en-US" dirty="0">
                <a:solidFill>
                  <a:schemeClr val="tx1"/>
                </a:solidFill>
              </a:rPr>
              <a:t> (min);</a:t>
            </a:r>
          </a:p>
        </p:txBody>
      </p:sp>
      <p:sp>
        <p:nvSpPr>
          <p:cNvPr id="52" name="Content Placeholder 4"/>
          <p:cNvSpPr txBox="1">
            <a:spLocks/>
          </p:cNvSpPr>
          <p:nvPr/>
        </p:nvSpPr>
        <p:spPr>
          <a:xfrm>
            <a:off x="251520" y="2060848"/>
            <a:ext cx="8640960" cy="42150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above example is equivalent to the following code:</a:t>
            </a:r>
          </a:p>
        </p:txBody>
      </p:sp>
    </p:spTree>
    <p:extLst>
      <p:ext uri="{BB962C8B-B14F-4D97-AF65-F5344CB8AC3E}">
        <p14:creationId xmlns:p14="http://schemas.microsoft.com/office/powerpoint/2010/main" val="91711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5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/>
          <p:cNvGrpSpPr/>
          <p:nvPr/>
        </p:nvGrpSpPr>
        <p:grpSpPr>
          <a:xfrm>
            <a:off x="179512" y="3215878"/>
            <a:ext cx="8784976" cy="3293209"/>
            <a:chOff x="323528" y="1236822"/>
            <a:chExt cx="7848872" cy="3186425"/>
          </a:xfrm>
        </p:grpSpPr>
        <p:sp>
          <p:nvSpPr>
            <p:cNvPr id="54" name="TextBox 53"/>
            <p:cNvSpPr txBox="1"/>
            <p:nvPr/>
          </p:nvSpPr>
          <p:spPr>
            <a:xfrm>
              <a:off x="971600" y="1236822"/>
              <a:ext cx="7200800" cy="318642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B0F0"/>
                  </a:solidFill>
                </a:rPr>
                <a:t>public class </a:t>
              </a:r>
              <a:r>
                <a:rPr lang="en-US" sz="1600" dirty="0" err="1">
                  <a:solidFill>
                    <a:srgbClr val="0000FF"/>
                  </a:solidFill>
                </a:rPr>
                <a:t>checkRange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  public static void </a:t>
              </a:r>
              <a:r>
                <a:rPr lang="en-US" sz="1600" dirty="0">
                  <a:solidFill>
                    <a:srgbClr val="0000FF"/>
                  </a:solidFill>
                </a:rPr>
                <a:t>main (String[] </a:t>
              </a:r>
              <a:r>
                <a:rPr lang="en-US" sz="1600" dirty="0" err="1">
                  <a:solidFill>
                    <a:srgbClr val="0000FF"/>
                  </a:solidFill>
                </a:rPr>
                <a:t>args</a:t>
              </a:r>
              <a:r>
                <a:rPr lang="en-US" sz="1600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{</a:t>
              </a:r>
            </a:p>
            <a:p>
              <a:r>
                <a:rPr lang="en-US" sz="1600">
                  <a:solidFill>
                    <a:srgbClr val="0000FF"/>
                  </a:solidFill>
                </a:rPr>
                <a:t>      Scanner </a:t>
              </a:r>
              <a:r>
                <a:rPr lang="en-US" sz="1600" dirty="0">
                  <a:solidFill>
                    <a:srgbClr val="0000FF"/>
                  </a:solidFill>
                </a:rPr>
                <a:t>read = </a:t>
              </a:r>
              <a:r>
                <a:rPr lang="en-US" sz="1600" dirty="0">
                  <a:solidFill>
                    <a:srgbClr val="00B0F0"/>
                  </a:solidFill>
                </a:rPr>
                <a:t>new </a:t>
              </a:r>
              <a:r>
                <a:rPr lang="en-US" sz="1600" dirty="0">
                  <a:solidFill>
                    <a:srgbClr val="0000FF"/>
                  </a:solidFill>
                </a:rPr>
                <a:t>Scanner (</a:t>
              </a:r>
              <a:r>
                <a:rPr lang="en-US" sz="1600" dirty="0" err="1">
                  <a:solidFill>
                    <a:srgbClr val="0000FF"/>
                  </a:solidFill>
                </a:rPr>
                <a:t>System.in</a:t>
              </a:r>
              <a:r>
                <a:rPr lang="en-US" sz="1600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     </a:t>
              </a:r>
              <a:r>
                <a:rPr lang="en-US" sz="1600" dirty="0" err="1">
                  <a:solidFill>
                    <a:srgbClr val="00B0F0"/>
                  </a:solidFill>
                </a:rPr>
                <a:t>int</a:t>
              </a:r>
              <a:r>
                <a:rPr lang="en-US" sz="1600" dirty="0">
                  <a:solidFill>
                    <a:srgbClr val="0000FF"/>
                  </a:solidFill>
                </a:rPr>
                <a:t> age;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age = </a:t>
              </a:r>
              <a:r>
                <a:rPr lang="en-US" sz="1600" dirty="0" err="1">
                  <a:solidFill>
                    <a:srgbClr val="0000FF"/>
                  </a:solidFill>
                </a:rPr>
                <a:t>read.</a:t>
              </a:r>
              <a:r>
                <a:rPr lang="en-US" sz="1600" dirty="0" err="1">
                  <a:solidFill>
                    <a:srgbClr val="00B050"/>
                  </a:solidFill>
                </a:rPr>
                <a:t>nextInt</a:t>
              </a:r>
              <a:r>
                <a:rPr lang="en-US" sz="1600" dirty="0">
                  <a:solidFill>
                    <a:srgbClr val="00B050"/>
                  </a:solidFill>
                </a:rPr>
                <a:t>()</a:t>
              </a:r>
              <a:r>
                <a:rPr lang="en-US" sz="16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     if </a:t>
              </a:r>
              <a:r>
                <a:rPr lang="en-US" sz="1600" dirty="0">
                  <a:solidFill>
                    <a:srgbClr val="0000FF"/>
                  </a:solidFill>
                </a:rPr>
                <a:t>((age &gt;= 20) &amp;&amp; (age &lt;60))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(“Active Citizen”);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     else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(“Inactive Citizen”);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}</a:t>
              </a:r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>
                  <a:solidFill>
                    <a:srgbClr val="00B050"/>
                  </a:solidFill>
                </a:rPr>
                <a:t>//end main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}</a:t>
              </a:r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>
                  <a:solidFill>
                    <a:srgbClr val="00B050"/>
                  </a:solidFill>
                </a:rPr>
                <a:t>//end class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23528" y="1236822"/>
              <a:ext cx="576064" cy="3186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13</a:t>
              </a: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PROGRAMMING HINT</a:t>
            </a:r>
            <a:endParaRPr lang="en-US" sz="4000" dirty="0">
              <a:solidFill>
                <a:srgbClr val="00B0F0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2" name="Content Placeholder 4"/>
          <p:cNvSpPr txBox="1">
            <a:spLocks/>
          </p:cNvSpPr>
          <p:nvPr/>
        </p:nvSpPr>
        <p:spPr>
          <a:xfrm>
            <a:off x="251520" y="2420888"/>
            <a:ext cx="8640960" cy="64807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code checks if the variable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falls within the range 20 and 60.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520" y="908720"/>
            <a:ext cx="8712968" cy="720080"/>
          </a:xfrm>
          <a:prstGeom prst="roundRect">
            <a:avLst/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 check that the value of a certain variable falls between a specific range, use a compound logical expression with &amp;&amp; operator.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6951" y="1844824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02197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  <p:bldP spid="11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(1)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432047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Given that speed = 75 and fee = 0 what is the output of the following code segments?</a:t>
            </a:r>
          </a:p>
          <a:p>
            <a:pPr lvl="1" algn="just"/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W5.2 Nested if + Conditional Operator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79512" y="1412776"/>
            <a:ext cx="8784976" cy="1600438"/>
            <a:chOff x="323528" y="1236822"/>
            <a:chExt cx="7848872" cy="1548546"/>
          </a:xfrm>
        </p:grpSpPr>
        <p:sp>
          <p:nvSpPr>
            <p:cNvPr id="14" name="TextBox 13"/>
            <p:cNvSpPr txBox="1"/>
            <p:nvPr/>
          </p:nvSpPr>
          <p:spPr>
            <a:xfrm>
              <a:off x="971600" y="1236822"/>
              <a:ext cx="7200800" cy="1548546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if (speed &gt; 35)</a:t>
              </a:r>
            </a:p>
            <a:p>
              <a:r>
                <a:rPr lang="en-US" sz="1400" dirty="0"/>
                <a:t>fee = 20.0;</a:t>
              </a:r>
            </a:p>
            <a:p>
              <a:r>
                <a:rPr lang="en-US" sz="1400" dirty="0"/>
                <a:t>else if (speed &gt; 50)</a:t>
              </a:r>
            </a:p>
            <a:p>
              <a:r>
                <a:rPr lang="en-US" sz="1400" dirty="0"/>
                <a:t>fee = 40.0;</a:t>
              </a:r>
            </a:p>
            <a:p>
              <a:r>
                <a:rPr lang="en-US" sz="1400" dirty="0"/>
                <a:t>else if (speed &gt; 75)</a:t>
              </a:r>
            </a:p>
            <a:p>
              <a:r>
                <a:rPr lang="en-US" sz="1400" dirty="0"/>
                <a:t>fee = 60.0;</a:t>
              </a:r>
            </a:p>
            <a:p>
              <a:r>
                <a:rPr lang="en-US" sz="1400" dirty="0" err="1"/>
                <a:t>System.out.printf</a:t>
              </a:r>
              <a:r>
                <a:rPr lang="en-US" sz="1400" dirty="0"/>
                <a:t> (“Fee = %6f.1”, fee);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3528" y="1236822"/>
              <a:ext cx="576064" cy="1548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79512" y="3085222"/>
            <a:ext cx="8784976" cy="1600438"/>
            <a:chOff x="323528" y="1236822"/>
            <a:chExt cx="7848872" cy="1548546"/>
          </a:xfrm>
        </p:grpSpPr>
        <p:sp>
          <p:nvSpPr>
            <p:cNvPr id="17" name="TextBox 16"/>
            <p:cNvSpPr txBox="1"/>
            <p:nvPr/>
          </p:nvSpPr>
          <p:spPr>
            <a:xfrm>
              <a:off x="971600" y="1236822"/>
              <a:ext cx="7200800" cy="1548546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if (speed &lt; 35)</a:t>
              </a:r>
            </a:p>
            <a:p>
              <a:r>
                <a:rPr lang="en-US" sz="1400" dirty="0"/>
                <a:t>fee = 20.0;</a:t>
              </a:r>
            </a:p>
            <a:p>
              <a:r>
                <a:rPr lang="en-US" sz="1400" dirty="0"/>
                <a:t>if (speed &lt; 50)</a:t>
              </a:r>
            </a:p>
            <a:p>
              <a:r>
                <a:rPr lang="en-US" sz="1400" dirty="0"/>
                <a:t>fee = 40.0;</a:t>
              </a:r>
            </a:p>
            <a:p>
              <a:r>
                <a:rPr lang="en-US" sz="1400" dirty="0"/>
                <a:t>else if (speed &gt; 75)</a:t>
              </a:r>
            </a:p>
            <a:p>
              <a:r>
                <a:rPr lang="en-US" sz="1400" dirty="0"/>
                <a:t>fee = 60.0;</a:t>
              </a:r>
            </a:p>
            <a:p>
              <a:r>
                <a:rPr lang="en-US" sz="1400" dirty="0" err="1"/>
                <a:t>System.out.printf</a:t>
              </a:r>
              <a:r>
                <a:rPr lang="en-US" sz="1400" dirty="0"/>
                <a:t> (“Fee = %6f.1”, fee);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3528" y="1236822"/>
              <a:ext cx="576064" cy="1548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79512" y="4725144"/>
            <a:ext cx="8784976" cy="1600438"/>
            <a:chOff x="323528" y="1236822"/>
            <a:chExt cx="7848872" cy="1548546"/>
          </a:xfrm>
        </p:grpSpPr>
        <p:sp>
          <p:nvSpPr>
            <p:cNvPr id="20" name="TextBox 19"/>
            <p:cNvSpPr txBox="1"/>
            <p:nvPr/>
          </p:nvSpPr>
          <p:spPr>
            <a:xfrm>
              <a:off x="971600" y="1236822"/>
              <a:ext cx="7200800" cy="1548546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if (speed &lt; 35)</a:t>
              </a:r>
            </a:p>
            <a:p>
              <a:r>
                <a:rPr lang="en-US" sz="1400" dirty="0"/>
                <a:t>{</a:t>
              </a:r>
            </a:p>
            <a:p>
              <a:r>
                <a:rPr lang="en-US" sz="1400" dirty="0"/>
                <a:t>if (speed &lt; 50)</a:t>
              </a:r>
            </a:p>
            <a:p>
              <a:r>
                <a:rPr lang="en-US" sz="1400" dirty="0"/>
                <a:t>fee = 40.0;</a:t>
              </a:r>
            </a:p>
            <a:p>
              <a:r>
                <a:rPr lang="en-US" sz="1400" dirty="0"/>
                <a:t>}</a:t>
              </a:r>
            </a:p>
            <a:p>
              <a:r>
                <a:rPr lang="en-US" sz="1400" dirty="0"/>
                <a:t>else fee = 60.0;</a:t>
              </a:r>
            </a:p>
            <a:p>
              <a:r>
                <a:rPr lang="en-US" sz="1400" dirty="0" err="1"/>
                <a:t>System.out.printf</a:t>
              </a:r>
              <a:r>
                <a:rPr lang="en-US" sz="1400" dirty="0"/>
                <a:t> (“Fee = %6f.1”, fee);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528" y="1236822"/>
              <a:ext cx="576064" cy="1548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9936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(2)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W5.2 Nested if + Conditional Operator</a:t>
            </a:r>
          </a:p>
        </p:txBody>
      </p:sp>
      <p:sp>
        <p:nvSpPr>
          <p:cNvPr id="22" name="Content Placeholder 5"/>
          <p:cNvSpPr txBox="1">
            <a:spLocks/>
          </p:cNvSpPr>
          <p:nvPr/>
        </p:nvSpPr>
        <p:spPr>
          <a:xfrm>
            <a:off x="457200" y="1052737"/>
            <a:ext cx="8229600" cy="432047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Given that salary = 2000.0, what is the output of the following:</a:t>
            </a:r>
          </a:p>
          <a:p>
            <a:pPr lvl="1" algn="just"/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179512" y="1412776"/>
            <a:ext cx="8784976" cy="1169551"/>
            <a:chOff x="323528" y="1236822"/>
            <a:chExt cx="7848872" cy="1131629"/>
          </a:xfrm>
        </p:grpSpPr>
        <p:sp>
          <p:nvSpPr>
            <p:cNvPr id="24" name="TextBox 23"/>
            <p:cNvSpPr txBox="1"/>
            <p:nvPr/>
          </p:nvSpPr>
          <p:spPr>
            <a:xfrm>
              <a:off x="971600" y="1236822"/>
              <a:ext cx="7200800" cy="113162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double </a:t>
              </a:r>
              <a:r>
                <a:rPr lang="en-US" sz="1400" dirty="0" err="1"/>
                <a:t>lowtax</a:t>
              </a:r>
              <a:r>
                <a:rPr lang="en-US" sz="1400" dirty="0"/>
                <a:t> = 0.15;</a:t>
              </a:r>
            </a:p>
            <a:p>
              <a:r>
                <a:rPr lang="en-US" sz="1400" dirty="0"/>
                <a:t>double </a:t>
              </a:r>
              <a:r>
                <a:rPr lang="en-US" sz="1400" dirty="0" err="1"/>
                <a:t>hightax</a:t>
              </a:r>
              <a:r>
                <a:rPr lang="en-US" sz="1400" dirty="0"/>
                <a:t> = 0.25;</a:t>
              </a:r>
            </a:p>
            <a:p>
              <a:r>
                <a:rPr lang="en-US" sz="1400" dirty="0"/>
                <a:t>double tax, salary;</a:t>
              </a:r>
            </a:p>
            <a:p>
              <a:r>
                <a:rPr lang="en-US" sz="1400" dirty="0"/>
                <a:t>tax = (salary &gt;=5000.0) ? </a:t>
              </a:r>
              <a:r>
                <a:rPr lang="en-US" sz="1400" dirty="0" err="1"/>
                <a:t>lowtax</a:t>
              </a:r>
              <a:r>
                <a:rPr lang="en-US" sz="1400" dirty="0"/>
                <a:t> : </a:t>
              </a:r>
              <a:r>
                <a:rPr lang="en-US" sz="1400" dirty="0" err="1"/>
                <a:t>hightax</a:t>
              </a:r>
              <a:r>
                <a:rPr lang="en-US" sz="1400" dirty="0"/>
                <a:t>;</a:t>
              </a:r>
            </a:p>
            <a:p>
              <a:r>
                <a:rPr lang="en-US" sz="1400" dirty="0" err="1"/>
                <a:t>System.out.println</a:t>
              </a:r>
              <a:r>
                <a:rPr lang="en-US" sz="1400" dirty="0"/>
                <a:t> (tax);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3528" y="1236822"/>
              <a:ext cx="576064" cy="1131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26" name="Content Placeholder 5"/>
          <p:cNvSpPr txBox="1">
            <a:spLocks/>
          </p:cNvSpPr>
          <p:nvPr/>
        </p:nvSpPr>
        <p:spPr>
          <a:xfrm>
            <a:off x="457200" y="2906942"/>
            <a:ext cx="8229600" cy="432047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Given that transactions = 500, what is the output of the following:</a:t>
            </a:r>
          </a:p>
          <a:p>
            <a:pPr lvl="1" algn="just"/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179512" y="3266981"/>
            <a:ext cx="8784976" cy="954107"/>
            <a:chOff x="323528" y="1236822"/>
            <a:chExt cx="7848872" cy="923171"/>
          </a:xfrm>
        </p:grpSpPr>
        <p:sp>
          <p:nvSpPr>
            <p:cNvPr id="28" name="TextBox 27"/>
            <p:cNvSpPr txBox="1"/>
            <p:nvPr/>
          </p:nvSpPr>
          <p:spPr>
            <a:xfrm>
              <a:off x="971600" y="1236822"/>
              <a:ext cx="7200800" cy="92317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boolean</a:t>
              </a:r>
              <a:r>
                <a:rPr lang="en-US" sz="1400" dirty="0"/>
                <a:t> </a:t>
              </a:r>
              <a:r>
                <a:rPr lang="en-US" sz="1400" dirty="0" err="1"/>
                <a:t>vip</a:t>
              </a:r>
              <a:r>
                <a:rPr lang="en-US" sz="1400" dirty="0"/>
                <a:t>;</a:t>
              </a:r>
            </a:p>
            <a:p>
              <a:r>
                <a:rPr lang="en-US" sz="1400" dirty="0" err="1"/>
                <a:t>int</a:t>
              </a:r>
              <a:r>
                <a:rPr lang="en-US" sz="1400" dirty="0"/>
                <a:t> transactions, offer = 10;</a:t>
              </a:r>
            </a:p>
            <a:p>
              <a:r>
                <a:rPr lang="en-US" sz="1400" dirty="0" err="1"/>
                <a:t>vip</a:t>
              </a:r>
              <a:r>
                <a:rPr lang="en-US" sz="1400" dirty="0"/>
                <a:t> = (transactions &gt;= 200) ? (offer &gt; 5) : (offer &lt; &gt;=5);</a:t>
              </a:r>
            </a:p>
            <a:p>
              <a:r>
                <a:rPr lang="en-US" sz="1400" dirty="0" err="1"/>
                <a:t>System.out.println</a:t>
              </a:r>
              <a:r>
                <a:rPr lang="en-US" sz="1400" dirty="0"/>
                <a:t> (</a:t>
              </a:r>
              <a:r>
                <a:rPr lang="en-US" sz="1400" dirty="0" err="1"/>
                <a:t>vip</a:t>
              </a:r>
              <a:r>
                <a:rPr lang="en-US" sz="1400" dirty="0"/>
                <a:t>);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23528" y="1236822"/>
              <a:ext cx="576064" cy="923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2696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(3)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2736303"/>
          </a:xfrm>
        </p:spPr>
        <p:txBody>
          <a:bodyPr>
            <a:noAutofit/>
          </a:bodyPr>
          <a:lstStyle/>
          <a:p>
            <a:pPr marL="109728" lvl="0" indent="0" algn="just" hangingPunct="0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Write a complete program that calculates and prints the bill for Riyadh’s power consumption. The rates vary depending on whether the user is residential, commercial, or industrial. A code of R corresponds to a Residential, C corresponds to a Commercial, and I to Industrial. Any other code should be treated as an error.</a:t>
            </a:r>
          </a:p>
          <a:p>
            <a:pPr marL="109728" indent="0" algn="just" hangingPunct="0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The program should read the power consumption rate in KWH (Kilowatt per Hour); then it calculates the due amount according to the following:</a:t>
            </a:r>
          </a:p>
          <a:p>
            <a:pPr marL="109728" indent="0" algn="just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The rate is SAR 5 per KWH for Residential, SAR 10 per KWH for Commercial and SAR 20 per KWH for Industrial.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W5.2 </a:t>
            </a:r>
            <a:r>
              <a:rPr lang="en-US" sz="1200" dirty="0"/>
              <a:t>Nested if + Conditional Operator</a:t>
            </a:r>
          </a:p>
        </p:txBody>
      </p:sp>
      <p:sp>
        <p:nvSpPr>
          <p:cNvPr id="8" name="Explosion 1 7"/>
          <p:cNvSpPr/>
          <p:nvPr/>
        </p:nvSpPr>
        <p:spPr>
          <a:xfrm>
            <a:off x="6987894" y="5301208"/>
            <a:ext cx="1872208" cy="1435224"/>
          </a:xfrm>
          <a:prstGeom prst="irregularSeal1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IMPORTANT</a:t>
            </a:r>
          </a:p>
        </p:txBody>
      </p:sp>
    </p:spTree>
    <p:extLst>
      <p:ext uri="{BB962C8B-B14F-4D97-AF65-F5344CB8AC3E}">
        <p14:creationId xmlns:p14="http://schemas.microsoft.com/office/powerpoint/2010/main" val="10683084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20542bfc-dd8b-421d-868b-1ab188d50257"/>
  <p:tag name="ARTICULATE_SLIDE_NAV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1851</TotalTime>
  <Words>2261</Words>
  <Application>Microsoft Macintosh PowerPoint</Application>
  <PresentationFormat>On-screen Show (4:3)</PresentationFormat>
  <Paragraphs>511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Calibri</vt:lpstr>
      <vt:lpstr>Courier New</vt:lpstr>
      <vt:lpstr>Lucida Sans Unicode</vt:lpstr>
      <vt:lpstr>Tahoma</vt:lpstr>
      <vt:lpstr>Verdana</vt:lpstr>
      <vt:lpstr>Wingdings</vt:lpstr>
      <vt:lpstr>Wingdings 2</vt:lpstr>
      <vt:lpstr>Wingdings 3</vt:lpstr>
      <vt:lpstr>Concourse</vt:lpstr>
      <vt:lpstr>  SELECTION STATEMENTS (2)</vt:lpstr>
      <vt:lpstr>Outline</vt:lpstr>
      <vt:lpstr>1. Nested if</vt:lpstr>
      <vt:lpstr>1. Nested if</vt:lpstr>
      <vt:lpstr>1. Nested if</vt:lpstr>
      <vt:lpstr>1. Nested if</vt:lpstr>
      <vt:lpstr>1. Nested if</vt:lpstr>
      <vt:lpstr>1. Nested if</vt:lpstr>
      <vt:lpstr>1. Nested if</vt:lpstr>
      <vt:lpstr>1. Nested if</vt:lpstr>
      <vt:lpstr>1. Nested if</vt:lpstr>
      <vt:lpstr>1. Nested if</vt:lpstr>
      <vt:lpstr>1. Nested if</vt:lpstr>
      <vt:lpstr>1. Nested if</vt:lpstr>
      <vt:lpstr>1. Nested if</vt:lpstr>
      <vt:lpstr>2. CONDITIONAL OPERATOR ?:</vt:lpstr>
      <vt:lpstr>2. CONDITIONAL OPERATOR ?</vt:lpstr>
      <vt:lpstr>3. PROGRAMMING HINT</vt:lpstr>
      <vt:lpstr>Self-Check Exercises (1)</vt:lpstr>
      <vt:lpstr>Self-Check Exercises (2)</vt:lpstr>
      <vt:lpstr>Self-Check Exercises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SELECTION STATEMENTS (2)</dc:title>
  <dc:creator>Soha S.Zaghloul</dc:creator>
  <cp:lastModifiedBy>عبدالعزيز محمد دخيل الحميضي</cp:lastModifiedBy>
  <cp:revision>55</cp:revision>
  <dcterms:created xsi:type="dcterms:W3CDTF">2015-02-17T16:08:36Z</dcterms:created>
  <dcterms:modified xsi:type="dcterms:W3CDTF">2024-09-18T04:33:26Z</dcterms:modified>
</cp:coreProperties>
</file>