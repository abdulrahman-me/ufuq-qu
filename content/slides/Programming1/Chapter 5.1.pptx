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6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7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8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9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0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1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12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3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4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5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6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7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18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9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20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21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22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23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24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25.xml" ContentType="application/vnd.openxmlformats-officedocument.presentationml.notesSlide+xml"/>
  <Override PartName="/ppt/tags/tag5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257" r:id="rId3"/>
    <p:sldId id="293" r:id="rId4"/>
    <p:sldId id="284" r:id="rId5"/>
    <p:sldId id="279" r:id="rId6"/>
    <p:sldId id="285" r:id="rId7"/>
    <p:sldId id="260" r:id="rId8"/>
    <p:sldId id="286" r:id="rId9"/>
    <p:sldId id="261" r:id="rId10"/>
    <p:sldId id="262" r:id="rId11"/>
    <p:sldId id="263" r:id="rId12"/>
    <p:sldId id="280" r:id="rId13"/>
    <p:sldId id="264" r:id="rId14"/>
    <p:sldId id="268" r:id="rId15"/>
    <p:sldId id="287" r:id="rId16"/>
    <p:sldId id="269" r:id="rId17"/>
    <p:sldId id="273" r:id="rId18"/>
    <p:sldId id="288" r:id="rId19"/>
    <p:sldId id="272" r:id="rId20"/>
    <p:sldId id="274" r:id="rId21"/>
    <p:sldId id="275" r:id="rId22"/>
    <p:sldId id="276" r:id="rId23"/>
    <p:sldId id="277" r:id="rId24"/>
    <p:sldId id="278" r:id="rId25"/>
    <p:sldId id="282" r:id="rId26"/>
    <p:sldId id="291" r:id="rId27"/>
    <p:sldId id="289" r:id="rId28"/>
    <p:sldId id="290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CCFF"/>
    <a:srgbClr val="CC0099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15"/>
    <p:restoredTop sz="94719"/>
  </p:normalViewPr>
  <p:slideViewPr>
    <p:cSldViewPr>
      <p:cViewPr varScale="1">
        <p:scale>
          <a:sx n="148" d="100"/>
          <a:sy n="148" d="100"/>
        </p:scale>
        <p:origin x="2472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C2349F-C344-4B66-A647-AA0737D1933F}" type="datetimeFigureOut">
              <a:rPr lang="en-US" smtClean="0"/>
              <a:pPr/>
              <a:t>3/19/24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B6A566-8290-41AE-9F04-7260BE943C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36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8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6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8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0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2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4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6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8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0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2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4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6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8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0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2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4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6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8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945BD42-FE6D-45B5-AEED-D2694CE2E0E0}" type="datetime1">
              <a:rPr lang="en-US" smtClean="0"/>
              <a:pPr/>
              <a:t>3/19/24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D4BB103-5552-42C6-A7B5-096385679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BE8EB-83DA-4FDB-9325-BB0D0C18EA66}" type="datetime1">
              <a:rPr lang="en-US" smtClean="0"/>
              <a:pPr/>
              <a:t>3/19/24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B103-5552-42C6-A7B5-0963856793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1A066-F39E-4037-AF1F-492E2189F92E}" type="datetime1">
              <a:rPr lang="en-US" smtClean="0"/>
              <a:pPr/>
              <a:t>3/19/24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B103-5552-42C6-A7B5-0963856793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FD0B7-7914-428D-8E63-B9DA2B81BF1E}" type="datetime1">
              <a:rPr lang="en-US" smtClean="0"/>
              <a:pPr/>
              <a:t>3/19/24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B103-5552-42C6-A7B5-0963856793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DCC21-C3A5-41DC-ABC5-387A45BD094C}" type="datetime1">
              <a:rPr lang="en-US" smtClean="0"/>
              <a:pPr/>
              <a:t>3/19/24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B103-5552-42C6-A7B5-096385679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7139B-6E5C-4AB2-9BFE-DB29AF96EE1D}" type="datetime1">
              <a:rPr lang="en-US" smtClean="0"/>
              <a:pPr/>
              <a:t>3/19/24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B103-5552-42C6-A7B5-0963856793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5D26D-1DC1-4FFC-B256-9A83E3EB187C}" type="datetime1">
              <a:rPr lang="en-US" smtClean="0"/>
              <a:pPr/>
              <a:t>3/19/24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B103-5552-42C6-A7B5-096385679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AFE746CC-773F-4E02-9DE9-89DDE1F8D020}" type="datetime1">
              <a:rPr lang="en-US" smtClean="0"/>
              <a:pPr/>
              <a:t>3/19/24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B103-5552-42C6-A7B5-096385679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96649C-EAE0-4DE6-9E6B-737538C1DF31}" type="datetime1">
              <a:rPr lang="en-US" smtClean="0"/>
              <a:pPr/>
              <a:t>3/19/24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D4BB103-5552-42C6-A7B5-0963856793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4B96C-B428-41F0-8978-E816D63E1D69}" type="datetime1">
              <a:rPr lang="en-US" smtClean="0"/>
              <a:pPr/>
              <a:t>3/19/24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B103-5552-42C6-A7B5-096385679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A7E7D-1953-4F9A-B481-EF37688F302C}" type="datetime1">
              <a:rPr lang="en-US" smtClean="0"/>
              <a:pPr/>
              <a:t>3/19/24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B103-5552-42C6-A7B5-096385679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D5F8E153-31A2-4A75-918E-96D906D009AE}" type="datetime1">
              <a:rPr lang="en-US" smtClean="0"/>
              <a:pPr/>
              <a:t>3/19/24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FD4BB103-5552-42C6-A7B5-096385679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/>
          </p:cNvSpPr>
          <p:nvPr>
            <p:ph type="ctrTitle"/>
          </p:nvPr>
        </p:nvSpPr>
        <p:spPr>
          <a:xfrm>
            <a:off x="251521" y="2708920"/>
            <a:ext cx="8640960" cy="1152128"/>
          </a:xfrm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anchor="b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br>
              <a:rPr lang="en-US" sz="5400" dirty="0">
                <a:solidFill>
                  <a:srgbClr val="C00000"/>
                </a:solidFill>
              </a:rPr>
            </a:br>
            <a:br>
              <a:rPr lang="en-US" sz="5400" dirty="0">
                <a:solidFill>
                  <a:srgbClr val="C00000"/>
                </a:solidFill>
              </a:rPr>
            </a:br>
            <a:r>
              <a:rPr lang="en-US" sz="5400" dirty="0">
                <a:solidFill>
                  <a:srgbClr val="C00000"/>
                </a:solidFill>
              </a:rPr>
              <a:t> REPETITION (1)</a:t>
            </a:r>
          </a:p>
        </p:txBody>
      </p:sp>
      <p:sp>
        <p:nvSpPr>
          <p:cNvPr id="5" name="PPTShape_0"/>
          <p:cNvSpPr txBox="1">
            <a:spLocks/>
          </p:cNvSpPr>
          <p:nvPr/>
        </p:nvSpPr>
        <p:spPr>
          <a:xfrm>
            <a:off x="72008" y="5949280"/>
            <a:ext cx="1869423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defPPr>
              <a:defRPr lang="en-US"/>
            </a:defPPr>
            <a:lvl1pPr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Tahoma" charset="0"/>
                <a:ea typeface="ＭＳ Ｐゴシック" charset="0"/>
                <a:cs typeface="Arial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5pPr>
            <a:lvl6pPr defTabSz="457200">
              <a:defRPr>
                <a:latin typeface="Tahoma" charset="0"/>
                <a:ea typeface="ＭＳ Ｐゴシック" charset="0"/>
                <a:cs typeface="Arial" charset="0"/>
              </a:defRPr>
            </a:lvl6pPr>
            <a:lvl7pPr defTabSz="457200">
              <a:defRPr>
                <a:latin typeface="Tahoma" charset="0"/>
                <a:ea typeface="ＭＳ Ｐゴシック" charset="0"/>
                <a:cs typeface="Arial" charset="0"/>
              </a:defRPr>
            </a:lvl7pPr>
            <a:lvl8pPr defTabSz="457200">
              <a:defRPr>
                <a:latin typeface="Tahoma" charset="0"/>
                <a:ea typeface="ＭＳ Ｐゴシック" charset="0"/>
                <a:cs typeface="Arial" charset="0"/>
              </a:defRPr>
            </a:lvl8pPr>
            <a:lvl9pPr defTabSz="457200">
              <a:defRPr>
                <a:latin typeface="Tahoma" charset="0"/>
                <a:ea typeface="ＭＳ Ｐゴシック" charset="0"/>
                <a:cs typeface="Arial" charset="0"/>
              </a:defRPr>
            </a:lvl9pPr>
          </a:lstStyle>
          <a:p>
            <a:r>
              <a:rPr lang="en-US" dirty="0"/>
              <a:t>CS 1301</a:t>
            </a:r>
          </a:p>
        </p:txBody>
      </p:sp>
      <p:sp>
        <p:nvSpPr>
          <p:cNvPr id="6" name="Rectangle 5"/>
          <p:cNvSpPr/>
          <p:nvPr/>
        </p:nvSpPr>
        <p:spPr>
          <a:xfrm>
            <a:off x="4644008" y="3861048"/>
            <a:ext cx="4248472" cy="1224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dirty="0">
                <a:solidFill>
                  <a:srgbClr val="00B0F0"/>
                </a:solidFill>
              </a:rPr>
              <a:t>for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B103-5552-42C6-A7B5-09638567936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170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2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612648" y="1110952"/>
            <a:ext cx="8153400" cy="5486400"/>
          </a:xfrm>
          <a:prstGeom prst="foldedCorner">
            <a:avLst>
              <a:gd name="adj" fmla="val 3630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400" dirty="0">
                <a:latin typeface="Tahoma" charset="0"/>
                <a:cs typeface="Arial" charset="0"/>
              </a:rPr>
              <a:t>1. Introduction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400" dirty="0">
                <a:latin typeface="Tahoma" charset="0"/>
                <a:cs typeface="Arial" charset="0"/>
              </a:rPr>
              <a:t>2. The </a:t>
            </a:r>
            <a:r>
              <a:rPr lang="en-US" sz="2400" dirty="0">
                <a:solidFill>
                  <a:srgbClr val="00B0F0"/>
                </a:solidFill>
                <a:latin typeface="Tahoma" charset="0"/>
                <a:cs typeface="Arial" charset="0"/>
              </a:rPr>
              <a:t>for</a:t>
            </a:r>
            <a:r>
              <a:rPr lang="en-US" sz="2400" dirty="0">
                <a:latin typeface="Tahoma" charset="0"/>
                <a:cs typeface="Arial" charset="0"/>
              </a:rPr>
              <a:t> statement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Tahoma" charset="0"/>
                <a:cs typeface="Arial" charset="0"/>
              </a:rPr>
              <a:t>	2.1 Syntax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ahoma" charset="0"/>
                <a:cs typeface="Arial" charset="0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Tahoma" charset="0"/>
                <a:cs typeface="Arial" charset="0"/>
              </a:rPr>
              <a:t>2.2 Iteration vs. Counter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Tahoma" charset="0"/>
                <a:cs typeface="Arial" charset="0"/>
              </a:rPr>
              <a:t>	2.3 Flowchart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Tahoma" charset="0"/>
                <a:cs typeface="Arial" charset="0"/>
              </a:rPr>
              <a:t>	2.4 Examples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400" dirty="0">
                <a:latin typeface="Tahoma" charset="0"/>
                <a:cs typeface="Arial" charset="0"/>
              </a:rPr>
              <a:t>3. Programming Hints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Tahoma" charset="0"/>
                <a:cs typeface="Arial" charset="0"/>
              </a:rPr>
              <a:t>	3.1 Accumulators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Tahoma" charset="0"/>
                <a:cs typeface="Arial" charset="0"/>
              </a:rPr>
              <a:t>	3.2 Counters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ahoma" charset="0"/>
                <a:cs typeface="Arial" charset="0"/>
              </a:rPr>
              <a:t>	</a:t>
            </a:r>
            <a:endParaRPr lang="en-US" sz="2400" dirty="0">
              <a:solidFill>
                <a:srgbClr val="0000FF"/>
              </a:solidFill>
              <a:latin typeface="Tahoma" charset="0"/>
              <a:cs typeface="Arial" charset="0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Outline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6688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3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1. Introduction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500726"/>
          </a:xfrm>
        </p:spPr>
        <p:txBody>
          <a:bodyPr>
            <a:normAutofit fontScale="77500" lnSpcReduction="20000"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 are many situations in which the same statements need to be executed several times.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Example: Formulas used to find average grades for students in a class.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loop enables the program to loop over or repeat statements. 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iterative process may be set up so that the loop is executed a predetermined number of times or until a certain condition is met.</a:t>
            </a: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 language provides three ways for performing loops: </a:t>
            </a:r>
          </a:p>
          <a:p>
            <a:pPr marL="342900" indent="-342900">
              <a:buClr>
                <a:srgbClr val="FF0000"/>
              </a:buClr>
              <a:buNone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US" sz="28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loop</a:t>
            </a:r>
          </a:p>
          <a:p>
            <a:pPr marL="342900" indent="-342900">
              <a:buClr>
                <a:srgbClr val="FF0000"/>
              </a:buClr>
              <a:buNone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US" sz="28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while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loop</a:t>
            </a:r>
          </a:p>
          <a:p>
            <a:pPr marL="342900" indent="-342900">
              <a:buClr>
                <a:srgbClr val="FF0000"/>
              </a:buClr>
              <a:buNone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US" sz="28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 while 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loop </a:t>
            </a:r>
          </a:p>
          <a:p>
            <a:pPr marL="342900" indent="-342900">
              <a:buClr>
                <a:srgbClr val="FF0000"/>
              </a:buClr>
              <a:buNone/>
            </a:pP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6688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1.1 SYNTAX </a:t>
            </a:r>
            <a:r>
              <a:rPr lang="en-US" dirty="0"/>
              <a:t> - </a:t>
            </a:r>
            <a:r>
              <a:rPr lang="en-US" dirty="0">
                <a:solidFill>
                  <a:schemeClr val="tx1"/>
                </a:solidFill>
              </a:rPr>
              <a:t>SINGLE STATEMENT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7272" y="6309320"/>
            <a:ext cx="365760" cy="365125"/>
          </a:xfrm>
        </p:spPr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for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677110" y="1268760"/>
            <a:ext cx="7215369" cy="720080"/>
          </a:xfrm>
          <a:prstGeom prst="roundRect">
            <a:avLst>
              <a:gd name="adj" fmla="val 3415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rgbClr val="00B0F0"/>
                </a:solidFill>
              </a:rPr>
              <a:t>for </a:t>
            </a:r>
            <a:r>
              <a:rPr lang="en-US" dirty="0">
                <a:solidFill>
                  <a:srgbClr val="0000FF"/>
                </a:solidFill>
              </a:rPr>
              <a:t>(initial expression; logical expression; update expression)</a:t>
            </a:r>
          </a:p>
          <a:p>
            <a:r>
              <a:rPr lang="en-US" dirty="0">
                <a:solidFill>
                  <a:srgbClr val="0000FF"/>
                </a:solidFill>
              </a:rPr>
              <a:t>   statement;   </a:t>
            </a:r>
            <a:r>
              <a:rPr lang="en-US" dirty="0">
                <a:solidFill>
                  <a:srgbClr val="00B050"/>
                </a:solidFill>
              </a:rPr>
              <a:t>//loop body: the statement to be repeated</a:t>
            </a:r>
          </a:p>
          <a:p>
            <a:r>
              <a:rPr lang="en-US" dirty="0">
                <a:solidFill>
                  <a:srgbClr val="0000FF"/>
                </a:solidFill>
              </a:rPr>
              <a:t> 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6951" y="1268760"/>
            <a:ext cx="1296144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SYNTAX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1691680" y="6021288"/>
            <a:ext cx="0" cy="72008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51520" y="2924944"/>
            <a:ext cx="2880320" cy="360040"/>
          </a:xfrm>
          <a:prstGeom prst="rect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Initial Expression</a:t>
            </a:r>
          </a:p>
        </p:txBody>
      </p:sp>
      <p:sp>
        <p:nvSpPr>
          <p:cNvPr id="39" name="Flowchart: Decision 38"/>
          <p:cNvSpPr/>
          <p:nvPr/>
        </p:nvSpPr>
        <p:spPr>
          <a:xfrm>
            <a:off x="251520" y="4005064"/>
            <a:ext cx="2880320" cy="1008112"/>
          </a:xfrm>
          <a:prstGeom prst="flowChartDecision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Logical Expression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6405" y="4329100"/>
            <a:ext cx="1877723" cy="360040"/>
          </a:xfrm>
          <a:prstGeom prst="rect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Statement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94677" y="4221088"/>
            <a:ext cx="1877723" cy="626586"/>
          </a:xfrm>
          <a:prstGeom prst="rect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Update Expression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1691680" y="2636912"/>
            <a:ext cx="0" cy="288032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1691680" y="3284984"/>
            <a:ext cx="0" cy="72008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3131840" y="4509120"/>
            <a:ext cx="714565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5724128" y="4509120"/>
            <a:ext cx="570549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987824" y="4242574"/>
            <a:ext cx="720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</a:rPr>
              <a:t>True</a:t>
            </a:r>
          </a:p>
        </p:txBody>
      </p:sp>
      <p:cxnSp>
        <p:nvCxnSpPr>
          <p:cNvPr id="47" name="Straight Arrow Connector 46"/>
          <p:cNvCxnSpPr>
            <a:stCxn id="41" idx="0"/>
          </p:cNvCxnSpPr>
          <p:nvPr/>
        </p:nvCxnSpPr>
        <p:spPr>
          <a:xfrm flipH="1" flipV="1">
            <a:off x="7233538" y="3717032"/>
            <a:ext cx="1" cy="504056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>
            <a:off x="1691680" y="3717032"/>
            <a:ext cx="5541859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1691680" y="5013176"/>
            <a:ext cx="0" cy="72008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043608" y="5178678"/>
            <a:ext cx="720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5736" y="2060848"/>
            <a:ext cx="6711313" cy="720080"/>
          </a:xfrm>
          <a:prstGeom prst="roundRect">
            <a:avLst>
              <a:gd name="adj" fmla="val 3415"/>
            </a:avLst>
          </a:prstGeom>
          <a:solidFill>
            <a:schemeClr val="bg2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rgbClr val="0000FF"/>
                </a:solidFill>
              </a:rPr>
              <a:t>- A </a:t>
            </a:r>
            <a:r>
              <a:rPr lang="en-US" u="sng" dirty="0">
                <a:solidFill>
                  <a:srgbClr val="0000FF"/>
                </a:solidFill>
              </a:rPr>
              <a:t>counter</a:t>
            </a:r>
            <a:r>
              <a:rPr lang="en-US" dirty="0">
                <a:solidFill>
                  <a:srgbClr val="0000FF"/>
                </a:solidFill>
              </a:rPr>
              <a:t> is given an initial value in (initial expression)</a:t>
            </a:r>
          </a:p>
          <a:p>
            <a:r>
              <a:rPr lang="en-US" dirty="0">
                <a:solidFill>
                  <a:srgbClr val="0000FF"/>
                </a:solidFill>
              </a:rPr>
              <a:t>- It is updated in each iteration in (update expression)</a:t>
            </a:r>
          </a:p>
          <a:p>
            <a:r>
              <a:rPr lang="en-US" dirty="0">
                <a:solidFill>
                  <a:srgbClr val="0000FF"/>
                </a:solidFill>
              </a:rPr>
              <a:t>  </a:t>
            </a:r>
          </a:p>
        </p:txBody>
      </p:sp>
      <p:sp>
        <p:nvSpPr>
          <p:cNvPr id="52" name="Oval 51"/>
          <p:cNvSpPr/>
          <p:nvPr/>
        </p:nvSpPr>
        <p:spPr>
          <a:xfrm>
            <a:off x="1511660" y="2348880"/>
            <a:ext cx="360040" cy="288032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1871700" y="5013176"/>
            <a:ext cx="7035349" cy="1224136"/>
          </a:xfrm>
          <a:prstGeom prst="roundRect">
            <a:avLst>
              <a:gd name="adj" fmla="val 3415"/>
            </a:avLst>
          </a:prstGeom>
          <a:solidFill>
            <a:schemeClr val="bg2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rgbClr val="0000FF"/>
                </a:solidFill>
              </a:rPr>
              <a:t>The </a:t>
            </a:r>
            <a:r>
              <a:rPr lang="en-US" u="sng" dirty="0">
                <a:solidFill>
                  <a:srgbClr val="0000FF"/>
                </a:solidFill>
              </a:rPr>
              <a:t>counter</a:t>
            </a:r>
            <a:r>
              <a:rPr lang="en-US" dirty="0">
                <a:solidFill>
                  <a:srgbClr val="0000FF"/>
                </a:solidFill>
              </a:rPr>
              <a:t> is compared to a specific value in (logical expression):</a:t>
            </a:r>
          </a:p>
          <a:p>
            <a:r>
              <a:rPr lang="en-US" dirty="0">
                <a:solidFill>
                  <a:srgbClr val="0000FF"/>
                </a:solidFill>
              </a:rPr>
              <a:t>   - If the logical expression is true, the statement executes</a:t>
            </a:r>
          </a:p>
          <a:p>
            <a:r>
              <a:rPr lang="en-US" dirty="0">
                <a:solidFill>
                  <a:srgbClr val="0000FF"/>
                </a:solidFill>
              </a:rPr>
              <a:t>   - Otherwise, the loop ends</a:t>
            </a:r>
          </a:p>
          <a:p>
            <a:r>
              <a:rPr lang="en-US" dirty="0">
                <a:solidFill>
                  <a:srgbClr val="0000FF"/>
                </a:solidFill>
              </a:rPr>
              <a:t>  </a:t>
            </a:r>
          </a:p>
        </p:txBody>
      </p:sp>
      <p:sp>
        <p:nvSpPr>
          <p:cNvPr id="50" name="Oval 49"/>
          <p:cNvSpPr/>
          <p:nvPr/>
        </p:nvSpPr>
        <p:spPr>
          <a:xfrm>
            <a:off x="1511660" y="5733256"/>
            <a:ext cx="360040" cy="288032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53782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500"/>
                            </p:stCondLst>
                            <p:childTnLst>
                              <p:par>
                                <p:cTn id="6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1" grpId="0" animBg="1"/>
      <p:bldP spid="12" grpId="0" animBg="1"/>
      <p:bldP spid="38" grpId="0" animBg="1"/>
      <p:bldP spid="39" grpId="0" animBg="1"/>
      <p:bldP spid="40" grpId="0" animBg="1"/>
      <p:bldP spid="41" grpId="0" animBg="1"/>
      <p:bldP spid="46" grpId="0"/>
      <p:bldP spid="51" grpId="0"/>
      <p:bldP spid="25" grpId="0" animBg="1"/>
      <p:bldP spid="52" grpId="0" animBg="1"/>
      <p:bldP spid="26" grpId="0" animBg="1"/>
      <p:bldP spid="5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1.1 SYNTAX </a:t>
            </a:r>
            <a:r>
              <a:rPr lang="en-US" dirty="0"/>
              <a:t> - </a:t>
            </a:r>
            <a:r>
              <a:rPr lang="en-US" dirty="0">
                <a:solidFill>
                  <a:schemeClr val="tx1"/>
                </a:solidFill>
              </a:rPr>
              <a:t>SINGLE STATEMENT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7272" y="6309320"/>
            <a:ext cx="365760" cy="365125"/>
          </a:xfrm>
        </p:spPr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for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677110" y="1268760"/>
            <a:ext cx="7215369" cy="720080"/>
          </a:xfrm>
          <a:prstGeom prst="roundRect">
            <a:avLst>
              <a:gd name="adj" fmla="val 3415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rgbClr val="00B0F0"/>
                </a:solidFill>
              </a:rPr>
              <a:t>for </a:t>
            </a:r>
            <a:r>
              <a:rPr lang="en-US" sz="1400" dirty="0">
                <a:solidFill>
                  <a:srgbClr val="0000FF"/>
                </a:solidFill>
              </a:rPr>
              <a:t>(counter = initial value; counter compared to final value; update counter)</a:t>
            </a:r>
          </a:p>
          <a:p>
            <a:pPr>
              <a:spcBef>
                <a:spcPts val="600"/>
              </a:spcBef>
            </a:pPr>
            <a:r>
              <a:rPr lang="en-US" sz="1400" dirty="0">
                <a:solidFill>
                  <a:srgbClr val="0000FF"/>
                </a:solidFill>
              </a:rPr>
              <a:t>   statement; </a:t>
            </a:r>
            <a:r>
              <a:rPr lang="en-US" sz="1400" dirty="0">
                <a:solidFill>
                  <a:srgbClr val="00B050"/>
                </a:solidFill>
              </a:rPr>
              <a:t>//loop body: statement to be repeated as logical expression is true</a:t>
            </a:r>
          </a:p>
          <a:p>
            <a:r>
              <a:rPr lang="en-US" sz="1400" dirty="0">
                <a:solidFill>
                  <a:srgbClr val="0000FF"/>
                </a:solidFill>
              </a:rPr>
              <a:t> 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6951" y="1268760"/>
            <a:ext cx="1296144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SYNTAX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1331640" y="2044005"/>
            <a:ext cx="7632848" cy="1211362"/>
            <a:chOff x="323528" y="1536605"/>
            <a:chExt cx="7848872" cy="1139072"/>
          </a:xfrm>
        </p:grpSpPr>
        <p:sp>
          <p:nvSpPr>
            <p:cNvPr id="14" name="TextBox 13"/>
            <p:cNvSpPr txBox="1"/>
            <p:nvPr/>
          </p:nvSpPr>
          <p:spPr>
            <a:xfrm>
              <a:off x="971600" y="1536605"/>
              <a:ext cx="7200800" cy="1128697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int </a:t>
              </a:r>
              <a:r>
                <a:rPr lang="en-US" dirty="0">
                  <a:solidFill>
                    <a:srgbClr val="0000FF"/>
                  </a:solidFill>
                </a:rPr>
                <a:t>counter;	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for </a:t>
              </a:r>
              <a:r>
                <a:rPr lang="en-US" dirty="0">
                  <a:solidFill>
                    <a:srgbClr val="0000FF"/>
                  </a:solidFill>
                </a:rPr>
                <a:t>(counter = 1; counter &lt;= 5; counter++)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</a:t>
              </a:r>
              <a:r>
                <a:rPr lang="en-US" dirty="0" err="1">
                  <a:solidFill>
                    <a:srgbClr val="7030A0"/>
                  </a:solidFill>
                </a:rPr>
                <a:t>System.out.println</a:t>
              </a:r>
              <a:r>
                <a:rPr lang="en-US" dirty="0">
                  <a:solidFill>
                    <a:srgbClr val="7030A0"/>
                  </a:solidFill>
                </a:rPr>
                <a:t> (“counter = “ + counter); </a:t>
              </a:r>
              <a:r>
                <a:rPr lang="en-US" dirty="0">
                  <a:solidFill>
                    <a:srgbClr val="00B050"/>
                  </a:solidFill>
                </a:rPr>
                <a:t>//loop body</a:t>
              </a:r>
            </a:p>
            <a:p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(“After the loop, counter = “ + counter;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3528" y="1546980"/>
              <a:ext cx="576064" cy="11286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</p:txBody>
        </p:sp>
      </p:grpSp>
      <p:sp>
        <p:nvSpPr>
          <p:cNvPr id="16" name="Rounded Rectangle 15"/>
          <p:cNvSpPr/>
          <p:nvPr/>
        </p:nvSpPr>
        <p:spPr>
          <a:xfrm>
            <a:off x="236951" y="2044005"/>
            <a:ext cx="1281575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1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555776" y="2332037"/>
            <a:ext cx="1368152" cy="288032"/>
          </a:xfrm>
          <a:prstGeom prst="rect">
            <a:avLst/>
          </a:prstGeom>
          <a:solidFill>
            <a:srgbClr val="FFC000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5580112" y="2332037"/>
            <a:ext cx="1296144" cy="288032"/>
          </a:xfrm>
          <a:prstGeom prst="rect">
            <a:avLst/>
          </a:prstGeom>
          <a:solidFill>
            <a:srgbClr val="660066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123728" y="1268760"/>
            <a:ext cx="1872208" cy="288032"/>
          </a:xfrm>
          <a:prstGeom prst="rect">
            <a:avLst/>
          </a:prstGeom>
          <a:solidFill>
            <a:srgbClr val="FFC000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6966266" y="1268760"/>
            <a:ext cx="1350150" cy="288032"/>
          </a:xfrm>
          <a:prstGeom prst="rect">
            <a:avLst/>
          </a:prstGeom>
          <a:solidFill>
            <a:srgbClr val="660066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4139952" y="1268760"/>
            <a:ext cx="2736304" cy="288032"/>
          </a:xfrm>
          <a:prstGeom prst="rect">
            <a:avLst/>
          </a:prstGeom>
          <a:solidFill>
            <a:srgbClr val="0000FF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3995936" y="2332037"/>
            <a:ext cx="1512168" cy="288032"/>
          </a:xfrm>
          <a:prstGeom prst="rect">
            <a:avLst/>
          </a:prstGeom>
          <a:solidFill>
            <a:srgbClr val="0000FF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251520" y="3501008"/>
            <a:ext cx="2880320" cy="360040"/>
          </a:xfrm>
          <a:prstGeom prst="rect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counter = 1</a:t>
            </a:r>
          </a:p>
        </p:txBody>
      </p:sp>
      <p:sp>
        <p:nvSpPr>
          <p:cNvPr id="39" name="Flowchart: Decision 38"/>
          <p:cNvSpPr/>
          <p:nvPr/>
        </p:nvSpPr>
        <p:spPr>
          <a:xfrm>
            <a:off x="251520" y="4581128"/>
            <a:ext cx="2880320" cy="1008112"/>
          </a:xfrm>
          <a:prstGeom prst="flowChartDecision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counter &lt;= 5?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6405" y="4905164"/>
            <a:ext cx="1877723" cy="684076"/>
          </a:xfrm>
          <a:prstGeom prst="rect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S.O.P (“counter = “ + counter)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94677" y="4797152"/>
            <a:ext cx="1877723" cy="626586"/>
          </a:xfrm>
          <a:prstGeom prst="rect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counter++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1691680" y="3212976"/>
            <a:ext cx="0" cy="288032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1691680" y="3861048"/>
            <a:ext cx="0" cy="72008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3131840" y="5085184"/>
            <a:ext cx="714565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5724128" y="5085184"/>
            <a:ext cx="570549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987824" y="4818638"/>
            <a:ext cx="720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</a:rPr>
              <a:t>True</a:t>
            </a:r>
          </a:p>
        </p:txBody>
      </p:sp>
      <p:cxnSp>
        <p:nvCxnSpPr>
          <p:cNvPr id="47" name="Straight Arrow Connector 46"/>
          <p:cNvCxnSpPr>
            <a:stCxn id="41" idx="0"/>
          </p:cNvCxnSpPr>
          <p:nvPr/>
        </p:nvCxnSpPr>
        <p:spPr>
          <a:xfrm flipH="1" flipV="1">
            <a:off x="7233538" y="4293096"/>
            <a:ext cx="1" cy="504056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>
            <a:off x="1691680" y="4293096"/>
            <a:ext cx="5541859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1691680" y="5589240"/>
            <a:ext cx="0" cy="36004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72784" y="5589240"/>
            <a:ext cx="720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52" name="Oval 51"/>
          <p:cNvSpPr/>
          <p:nvPr/>
        </p:nvSpPr>
        <p:spPr>
          <a:xfrm>
            <a:off x="1511660" y="2924944"/>
            <a:ext cx="360040" cy="288032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772784" y="5949280"/>
            <a:ext cx="1877723" cy="626586"/>
          </a:xfrm>
          <a:prstGeom prst="rect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S.O.P. (“After the loop…)</a:t>
            </a:r>
          </a:p>
        </p:txBody>
      </p:sp>
      <p:cxnSp>
        <p:nvCxnSpPr>
          <p:cNvPr id="57" name="Straight Arrow Connector 56"/>
          <p:cNvCxnSpPr/>
          <p:nvPr/>
        </p:nvCxnSpPr>
        <p:spPr>
          <a:xfrm flipH="1">
            <a:off x="2650507" y="2620069"/>
            <a:ext cx="589345" cy="880939"/>
          </a:xfrm>
          <a:prstGeom prst="straightConnector1">
            <a:avLst/>
          </a:prstGeom>
          <a:ln>
            <a:solidFill>
              <a:srgbClr val="FF0000"/>
            </a:solidFill>
            <a:headEnd type="diamond"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31" idx="2"/>
          </p:cNvCxnSpPr>
          <p:nvPr/>
        </p:nvCxnSpPr>
        <p:spPr>
          <a:xfrm flipH="1">
            <a:off x="2411760" y="2620069"/>
            <a:ext cx="2340260" cy="2177083"/>
          </a:xfrm>
          <a:prstGeom prst="straightConnector1">
            <a:avLst/>
          </a:prstGeom>
          <a:ln>
            <a:solidFill>
              <a:srgbClr val="FF0000"/>
            </a:solidFill>
            <a:headEnd type="diamond"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27" idx="2"/>
          </p:cNvCxnSpPr>
          <p:nvPr/>
        </p:nvCxnSpPr>
        <p:spPr>
          <a:xfrm>
            <a:off x="6228184" y="2620069"/>
            <a:ext cx="1584176" cy="2177083"/>
          </a:xfrm>
          <a:prstGeom prst="straightConnector1">
            <a:avLst/>
          </a:prstGeom>
          <a:ln>
            <a:solidFill>
              <a:srgbClr val="FF0000"/>
            </a:solidFill>
            <a:headEnd type="diamond"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H="1">
            <a:off x="4572000" y="2780928"/>
            <a:ext cx="576064" cy="2124236"/>
          </a:xfrm>
          <a:prstGeom prst="straightConnector1">
            <a:avLst/>
          </a:prstGeom>
          <a:ln>
            <a:solidFill>
              <a:srgbClr val="FF0000"/>
            </a:solidFill>
            <a:headEnd type="diamond"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flipH="1">
            <a:off x="885023" y="3068960"/>
            <a:ext cx="1382721" cy="3024336"/>
          </a:xfrm>
          <a:prstGeom prst="straightConnector1">
            <a:avLst/>
          </a:prstGeom>
          <a:ln>
            <a:solidFill>
              <a:srgbClr val="FF0000"/>
            </a:solidFill>
            <a:headEnd type="diamond"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>
            <a:off x="1835696" y="2492896"/>
            <a:ext cx="216024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1835696" y="2492896"/>
            <a:ext cx="0" cy="28803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H="1">
            <a:off x="1819842" y="2780928"/>
            <a:ext cx="447902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1618795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000"/>
                            </p:stCondLst>
                            <p:childTnLst>
                              <p:par>
                                <p:cTn id="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500"/>
                            </p:stCondLst>
                            <p:childTnLst>
                              <p:par>
                                <p:cTn id="9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2000"/>
                            </p:stCondLst>
                            <p:childTnLst>
                              <p:par>
                                <p:cTn id="1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000"/>
                            </p:stCondLst>
                            <p:childTnLst>
                              <p:par>
                                <p:cTn id="1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1" grpId="0" animBg="1"/>
      <p:bldP spid="12" grpId="0" animBg="1"/>
      <p:bldP spid="16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8" grpId="0" animBg="1"/>
      <p:bldP spid="39" grpId="0" animBg="1"/>
      <p:bldP spid="40" grpId="0" animBg="1"/>
      <p:bldP spid="41" grpId="0" animBg="1"/>
      <p:bldP spid="46" grpId="0"/>
      <p:bldP spid="51" grpId="0"/>
      <p:bldP spid="52" grpId="0" animBg="1"/>
      <p:bldP spid="5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1.1 SYNTAX </a:t>
            </a:r>
            <a:r>
              <a:rPr lang="en-US" dirty="0"/>
              <a:t> - </a:t>
            </a:r>
            <a:r>
              <a:rPr lang="en-US" dirty="0">
                <a:solidFill>
                  <a:schemeClr val="tx1"/>
                </a:solidFill>
              </a:rPr>
              <a:t>SINGLE STATEMENT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for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/>
        </p:nvGrpSpPr>
        <p:grpSpPr>
          <a:xfrm>
            <a:off x="1331640" y="1340768"/>
            <a:ext cx="7632848" cy="1211362"/>
            <a:chOff x="323528" y="1536605"/>
            <a:chExt cx="7848872" cy="1139072"/>
          </a:xfrm>
        </p:grpSpPr>
        <p:sp>
          <p:nvSpPr>
            <p:cNvPr id="14" name="TextBox 13"/>
            <p:cNvSpPr txBox="1"/>
            <p:nvPr/>
          </p:nvSpPr>
          <p:spPr>
            <a:xfrm>
              <a:off x="971600" y="1536605"/>
              <a:ext cx="7200800" cy="1128697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00B0F0"/>
                  </a:solidFill>
                </a:rPr>
                <a:t>int</a:t>
              </a:r>
              <a:r>
                <a:rPr lang="en-US" dirty="0">
                  <a:solidFill>
                    <a:srgbClr val="00B0F0"/>
                  </a:solidFill>
                </a:rPr>
                <a:t> </a:t>
              </a:r>
              <a:r>
                <a:rPr lang="en-US" dirty="0">
                  <a:solidFill>
                    <a:srgbClr val="0000FF"/>
                  </a:solidFill>
                </a:rPr>
                <a:t>counter;	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for </a:t>
              </a:r>
              <a:r>
                <a:rPr lang="en-US" dirty="0">
                  <a:solidFill>
                    <a:srgbClr val="0000FF"/>
                  </a:solidFill>
                </a:rPr>
                <a:t>(counter = 1; counter &lt;= 5; counter++)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</a:t>
              </a:r>
              <a:r>
                <a:rPr lang="en-US" dirty="0" err="1">
                  <a:solidFill>
                    <a:srgbClr val="7030A0"/>
                  </a:solidFill>
                </a:rPr>
                <a:t>System.out.println</a:t>
              </a:r>
              <a:r>
                <a:rPr lang="en-US" dirty="0">
                  <a:solidFill>
                    <a:srgbClr val="7030A0"/>
                  </a:solidFill>
                </a:rPr>
                <a:t> (“counter = “ + counter); </a:t>
              </a:r>
              <a:r>
                <a:rPr lang="en-US" dirty="0">
                  <a:solidFill>
                    <a:srgbClr val="00B050"/>
                  </a:solidFill>
                </a:rPr>
                <a:t>//loop body</a:t>
              </a:r>
            </a:p>
            <a:p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(“After the loop, counter = “ + counter;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3528" y="1546980"/>
              <a:ext cx="576064" cy="11286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</p:txBody>
        </p:sp>
      </p:grpSp>
      <p:sp>
        <p:nvSpPr>
          <p:cNvPr id="16" name="Rounded Rectangle 15"/>
          <p:cNvSpPr/>
          <p:nvPr/>
        </p:nvSpPr>
        <p:spPr>
          <a:xfrm>
            <a:off x="236951" y="1340768"/>
            <a:ext cx="1281575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1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677110" y="2620069"/>
            <a:ext cx="7287378" cy="1384995"/>
            <a:chOff x="683568" y="1236822"/>
            <a:chExt cx="7488832" cy="1384993"/>
          </a:xfrm>
        </p:grpSpPr>
        <p:sp>
          <p:nvSpPr>
            <p:cNvPr id="18" name="TextBox 17"/>
            <p:cNvSpPr txBox="1"/>
            <p:nvPr/>
          </p:nvSpPr>
          <p:spPr>
            <a:xfrm>
              <a:off x="971600" y="1236822"/>
              <a:ext cx="7200800" cy="1384993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counter = 1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counter = 2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counter = 3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counter = 4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counter = 5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After the loop, counter = 6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83568" y="1236822"/>
              <a:ext cx="216024" cy="1384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</p:txBody>
        </p:sp>
      </p:grpSp>
      <p:sp>
        <p:nvSpPr>
          <p:cNvPr id="20" name="Rounded Rectangle 19"/>
          <p:cNvSpPr/>
          <p:nvPr/>
        </p:nvSpPr>
        <p:spPr>
          <a:xfrm>
            <a:off x="236951" y="2620069"/>
            <a:ext cx="1281574" cy="331478"/>
          </a:xfrm>
          <a:prstGeom prst="roundRect">
            <a:avLst/>
          </a:prstGeom>
          <a:solidFill>
            <a:srgbClr val="00B0F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3528" y="4077072"/>
            <a:ext cx="8640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16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loop body 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contains the statement to be repeated (iterated).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23528" y="4394623"/>
            <a:ext cx="8640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16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loop is always associated with an identifier known as the </a:t>
            </a:r>
            <a:r>
              <a:rPr lang="en-US" sz="16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control loop variable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 or simply the </a:t>
            </a:r>
            <a:r>
              <a:rPr lang="en-US" sz="16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loop counter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16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counter 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Example 1).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3528" y="4958395"/>
            <a:ext cx="86409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loop counter has an </a:t>
            </a:r>
            <a:r>
              <a:rPr lang="en-US" sz="16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initial value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a </a:t>
            </a:r>
            <a:r>
              <a:rPr lang="en-US" sz="16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final value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and a </a:t>
            </a:r>
            <a:r>
              <a:rPr lang="en-US" sz="16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(or </a:t>
            </a:r>
            <a:r>
              <a:rPr lang="en-US" sz="16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“update expression”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3528" y="5275946"/>
            <a:ext cx="86409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example 1, these are equal to </a:t>
            </a:r>
            <a:r>
              <a:rPr lang="en-US" sz="16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6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 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lang="en-US" sz="16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+1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respectively.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3528" y="5593497"/>
            <a:ext cx="86409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statement is repeated as long as the “</a:t>
            </a:r>
            <a:r>
              <a:rPr lang="en-US" sz="16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logical expression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 is </a:t>
            </a:r>
            <a:r>
              <a:rPr lang="en-US" sz="16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true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3528" y="5911048"/>
            <a:ext cx="864096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16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control loop variable 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updated with each iteration. In this example, </a:t>
            </a:r>
            <a:r>
              <a:rPr lang="en-US" sz="16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counter 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incremented by 1 in each iteration. This is known as the step.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3528" y="6474822"/>
            <a:ext cx="86409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16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control loop variable 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may have any valid identifier name, but should be of type </a:t>
            </a:r>
            <a:r>
              <a:rPr lang="en-US" sz="1600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7272" y="6309320"/>
            <a:ext cx="365760" cy="365125"/>
          </a:xfrm>
        </p:spPr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6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9389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6" grpId="0" animBg="1"/>
      <p:bldP spid="20" grpId="0" animBg="1"/>
      <p:bldP spid="21" grpId="0"/>
      <p:bldP spid="33" grpId="0"/>
      <p:bldP spid="34" grpId="0" animBg="1"/>
      <p:bldP spid="35" grpId="0" animBg="1"/>
      <p:bldP spid="36" grpId="0" animBg="1"/>
      <p:bldP spid="37" grpId="0" animBg="1"/>
      <p:bldP spid="3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1.1 SYNTAX - </a:t>
            </a:r>
            <a:r>
              <a:rPr lang="en-US" dirty="0">
                <a:solidFill>
                  <a:schemeClr val="tx1"/>
                </a:solidFill>
              </a:rPr>
              <a:t>COMPOUND STATEMENT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for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691679" y="1340768"/>
            <a:ext cx="7215369" cy="1800200"/>
          </a:xfrm>
          <a:prstGeom prst="roundRect">
            <a:avLst>
              <a:gd name="adj" fmla="val 3415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rgbClr val="00B0F0"/>
                </a:solidFill>
              </a:rPr>
              <a:t>for </a:t>
            </a:r>
            <a:r>
              <a:rPr lang="en-US" sz="1600" dirty="0">
                <a:solidFill>
                  <a:srgbClr val="0000FF"/>
                </a:solidFill>
              </a:rPr>
              <a:t>(initial expression; logical expression; update expression)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  </a:t>
            </a:r>
            <a:r>
              <a:rPr lang="en-US" sz="1600" dirty="0">
                <a:solidFill>
                  <a:srgbClr val="FF0000"/>
                </a:solidFill>
              </a:rPr>
              <a:t>{</a:t>
            </a:r>
            <a:r>
              <a:rPr lang="en-US" sz="1600" dirty="0">
                <a:solidFill>
                  <a:srgbClr val="0000FF"/>
                </a:solidFill>
              </a:rPr>
              <a:t> 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    statement 1;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    statement 2;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    ---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    statement n;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  </a:t>
            </a:r>
            <a:r>
              <a:rPr lang="en-US" sz="1600" dirty="0">
                <a:solidFill>
                  <a:srgbClr val="FF0000"/>
                </a:solidFill>
              </a:rPr>
              <a:t>}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520" y="1340768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SYNTAX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1691680" y="6093296"/>
            <a:ext cx="0" cy="36004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51520" y="3356992"/>
            <a:ext cx="2880320" cy="360040"/>
          </a:xfrm>
          <a:prstGeom prst="rect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Initialize Counter</a:t>
            </a:r>
          </a:p>
        </p:txBody>
      </p:sp>
      <p:sp>
        <p:nvSpPr>
          <p:cNvPr id="27" name="Flowchart: Decision 26"/>
          <p:cNvSpPr/>
          <p:nvPr/>
        </p:nvSpPr>
        <p:spPr>
          <a:xfrm>
            <a:off x="251520" y="4437112"/>
            <a:ext cx="2880320" cy="1008112"/>
          </a:xfrm>
          <a:prstGeom prst="flowChartDecision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Logical Expression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6405" y="4761148"/>
            <a:ext cx="1877723" cy="360040"/>
          </a:xfrm>
          <a:prstGeom prst="rect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Statement</a:t>
            </a:r>
            <a:r>
              <a:rPr lang="en-US" b="1" dirty="0">
                <a:solidFill>
                  <a:srgbClr val="FF0000"/>
                </a:solidFill>
              </a:rPr>
              <a:t>(s)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94677" y="4653136"/>
            <a:ext cx="1877723" cy="626586"/>
          </a:xfrm>
          <a:prstGeom prst="rect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Update Counter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1691680" y="3068960"/>
            <a:ext cx="0" cy="288032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1691680" y="3717032"/>
            <a:ext cx="0" cy="72008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131840" y="4941168"/>
            <a:ext cx="714565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5724128" y="4941168"/>
            <a:ext cx="570549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987824" y="4674622"/>
            <a:ext cx="720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</a:rPr>
              <a:t>True</a:t>
            </a:r>
          </a:p>
        </p:txBody>
      </p:sp>
      <p:cxnSp>
        <p:nvCxnSpPr>
          <p:cNvPr id="35" name="Straight Arrow Connector 34"/>
          <p:cNvCxnSpPr>
            <a:stCxn id="29" idx="0"/>
          </p:cNvCxnSpPr>
          <p:nvPr/>
        </p:nvCxnSpPr>
        <p:spPr>
          <a:xfrm flipH="1" flipV="1">
            <a:off x="7233538" y="4149080"/>
            <a:ext cx="1" cy="504056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1691680" y="4149080"/>
            <a:ext cx="5541859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1691680" y="5445224"/>
            <a:ext cx="0" cy="36004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1511660" y="5805264"/>
            <a:ext cx="360040" cy="288032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899592" y="5445224"/>
            <a:ext cx="720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91680" y="1628800"/>
            <a:ext cx="7200800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1691680" y="2852936"/>
            <a:ext cx="7200800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1511660" y="2780928"/>
            <a:ext cx="360040" cy="288032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34737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500"/>
                            </p:stCondLst>
                            <p:childTnLst>
                              <p:par>
                                <p:cTn id="5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0"/>
                            </p:stCondLst>
                            <p:childTnLst>
                              <p:par>
                                <p:cTn id="5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5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000"/>
                            </p:stCondLst>
                            <p:childTnLst>
                              <p:par>
                                <p:cTn id="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500"/>
                            </p:stCondLst>
                            <p:childTnLst>
                              <p:par>
                                <p:cTn id="7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9" grpId="0" animBg="1"/>
      <p:bldP spid="10" grpId="0" animBg="1"/>
      <p:bldP spid="26" grpId="0" animBg="1"/>
      <p:bldP spid="27" grpId="0" animBg="1"/>
      <p:bldP spid="28" grpId="0" animBg="1"/>
      <p:bldP spid="28" grpId="1" animBg="1"/>
      <p:bldP spid="29" grpId="0" animBg="1"/>
      <p:bldP spid="34" grpId="0"/>
      <p:bldP spid="38" grpId="0" animBg="1"/>
      <p:bldP spid="39" grpId="0"/>
      <p:bldP spid="41" grpId="0" animBg="1"/>
      <p:bldP spid="42" grpId="0" animBg="1"/>
      <p:bldP spid="4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611560" y="5356373"/>
            <a:ext cx="8352928" cy="1384995"/>
            <a:chOff x="683568" y="1236822"/>
            <a:chExt cx="7488832" cy="1384993"/>
          </a:xfrm>
        </p:grpSpPr>
        <p:sp>
          <p:nvSpPr>
            <p:cNvPr id="20" name="TextBox 19"/>
            <p:cNvSpPr txBox="1"/>
            <p:nvPr/>
          </p:nvSpPr>
          <p:spPr>
            <a:xfrm>
              <a:off x="971600" y="1236822"/>
              <a:ext cx="7200800" cy="1384993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Iteration = 1	counter = 1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Iteration = 2	counter = 2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Iteration = 3	counter = 3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Iteration = 4	counter = 4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Iteration = 5	counter = 5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After the loop, counter = 6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83568" y="1236822"/>
              <a:ext cx="216024" cy="1384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1.1 SYNTAX - </a:t>
            </a:r>
            <a:r>
              <a:rPr lang="en-US" dirty="0">
                <a:solidFill>
                  <a:schemeClr val="tx1"/>
                </a:solidFill>
              </a:rPr>
              <a:t>COMPOUND STATEMENT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>
                <a:solidFill>
                  <a:schemeClr val="bg1"/>
                </a:solidFill>
              </a:rPr>
              <a:pPr/>
              <a:t>8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for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691679" y="1340768"/>
            <a:ext cx="7215369" cy="1800200"/>
          </a:xfrm>
          <a:prstGeom prst="roundRect">
            <a:avLst>
              <a:gd name="adj" fmla="val 3415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rgbClr val="00B0F0"/>
                </a:solidFill>
              </a:rPr>
              <a:t>for </a:t>
            </a:r>
            <a:r>
              <a:rPr lang="en-US" sz="1600" dirty="0">
                <a:solidFill>
                  <a:srgbClr val="0000FF"/>
                </a:solidFill>
              </a:rPr>
              <a:t>(initial expression; logical expression; update expression)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  </a:t>
            </a:r>
            <a:r>
              <a:rPr lang="en-US" sz="1600" dirty="0">
                <a:solidFill>
                  <a:srgbClr val="FF0000"/>
                </a:solidFill>
              </a:rPr>
              <a:t>{</a:t>
            </a:r>
            <a:r>
              <a:rPr lang="en-US" sz="1600" dirty="0">
                <a:solidFill>
                  <a:srgbClr val="0000FF"/>
                </a:solidFill>
              </a:rPr>
              <a:t> 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    statement 1;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    statement 2;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    ---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    statement n;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  </a:t>
            </a:r>
            <a:r>
              <a:rPr lang="en-US" sz="1600" dirty="0">
                <a:solidFill>
                  <a:srgbClr val="FF0000"/>
                </a:solidFill>
              </a:rPr>
              <a:t>}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520" y="1340768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SYNTAX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179512" y="3212976"/>
            <a:ext cx="8784976" cy="2062103"/>
            <a:chOff x="323528" y="1536605"/>
            <a:chExt cx="7848872" cy="1939044"/>
          </a:xfrm>
        </p:grpSpPr>
        <p:sp>
          <p:nvSpPr>
            <p:cNvPr id="14" name="TextBox 13"/>
            <p:cNvSpPr txBox="1"/>
            <p:nvPr/>
          </p:nvSpPr>
          <p:spPr>
            <a:xfrm>
              <a:off x="971600" y="1536605"/>
              <a:ext cx="7200800" cy="1939044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B0F0"/>
                  </a:solidFill>
                </a:rPr>
                <a:t>int </a:t>
              </a:r>
              <a:r>
                <a:rPr lang="en-US" sz="1600" dirty="0">
                  <a:solidFill>
                    <a:srgbClr val="0000FF"/>
                  </a:solidFill>
                </a:rPr>
                <a:t>counter,</a:t>
              </a:r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>
                  <a:solidFill>
                    <a:srgbClr val="0000FF"/>
                  </a:solidFill>
                </a:rPr>
                <a:t>iteration = 1;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for </a:t>
              </a:r>
              <a:r>
                <a:rPr lang="en-US" sz="1600" dirty="0">
                  <a:solidFill>
                    <a:srgbClr val="0000FF"/>
                  </a:solidFill>
                </a:rPr>
                <a:t>( counter = 1; counter &lt; 6; counter++)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</a:t>
              </a:r>
              <a:r>
                <a:rPr lang="en-US" sz="1600" dirty="0">
                  <a:solidFill>
                    <a:srgbClr val="7030A0"/>
                  </a:solidFill>
                </a:rPr>
                <a:t>{ </a:t>
              </a:r>
              <a:r>
                <a:rPr lang="en-US" sz="1600" dirty="0">
                  <a:solidFill>
                    <a:srgbClr val="00B050"/>
                  </a:solidFill>
                </a:rPr>
                <a:t>//start of the loop body</a:t>
              </a:r>
              <a:r>
                <a:rPr lang="en-US" sz="1600" dirty="0">
                  <a:solidFill>
                    <a:srgbClr val="7030A0"/>
                  </a:solidFill>
                </a:rPr>
                <a:t> </a:t>
              </a:r>
            </a:p>
            <a:p>
              <a:r>
                <a:rPr lang="en-US" sz="1600" dirty="0">
                  <a:solidFill>
                    <a:srgbClr val="7030A0"/>
                  </a:solidFill>
                </a:rPr>
                <a:t>      </a:t>
              </a:r>
              <a:r>
                <a:rPr lang="en-US" sz="1600" dirty="0" err="1">
                  <a:solidFill>
                    <a:srgbClr val="7030A0"/>
                  </a:solidFill>
                </a:rPr>
                <a:t>System.out.printf</a:t>
              </a:r>
              <a:r>
                <a:rPr lang="en-US" sz="1600" dirty="0">
                  <a:solidFill>
                    <a:srgbClr val="7030A0"/>
                  </a:solidFill>
                </a:rPr>
                <a:t> (“Iteration = %d“, iteration);</a:t>
              </a:r>
            </a:p>
            <a:p>
              <a:r>
                <a:rPr lang="en-US" sz="1600" dirty="0">
                  <a:solidFill>
                    <a:srgbClr val="7030A0"/>
                  </a:solidFill>
                </a:rPr>
                <a:t>      </a:t>
              </a:r>
              <a:r>
                <a:rPr lang="en-US" sz="1600" dirty="0" err="1">
                  <a:solidFill>
                    <a:srgbClr val="7030A0"/>
                  </a:solidFill>
                </a:rPr>
                <a:t>System.out.println</a:t>
              </a:r>
              <a:r>
                <a:rPr lang="en-US" sz="1600" dirty="0">
                  <a:solidFill>
                    <a:srgbClr val="7030A0"/>
                  </a:solidFill>
                </a:rPr>
                <a:t> (“\</a:t>
              </a:r>
              <a:r>
                <a:rPr lang="en-US" sz="1600" dirty="0" err="1">
                  <a:solidFill>
                    <a:srgbClr val="7030A0"/>
                  </a:solidFill>
                </a:rPr>
                <a:t>tcounter</a:t>
              </a:r>
              <a:r>
                <a:rPr lang="en-US" sz="1600" dirty="0">
                  <a:solidFill>
                    <a:srgbClr val="7030A0"/>
                  </a:solidFill>
                </a:rPr>
                <a:t> = “ + counter);</a:t>
              </a:r>
            </a:p>
            <a:p>
              <a:r>
                <a:rPr lang="en-US" sz="1600" dirty="0">
                  <a:solidFill>
                    <a:srgbClr val="7030A0"/>
                  </a:solidFill>
                </a:rPr>
                <a:t>      iteration++;</a:t>
              </a:r>
            </a:p>
            <a:p>
              <a:r>
                <a:rPr lang="en-US" sz="1600" dirty="0">
                  <a:solidFill>
                    <a:srgbClr val="7030A0"/>
                  </a:solidFill>
                </a:rPr>
                <a:t>   } </a:t>
              </a:r>
              <a:r>
                <a:rPr lang="en-US" sz="1600" dirty="0">
                  <a:solidFill>
                    <a:srgbClr val="00B050"/>
                  </a:solidFill>
                </a:rPr>
                <a:t>//end of the loop body</a:t>
              </a:r>
            </a:p>
            <a:p>
              <a:r>
                <a:rPr lang="en-US" sz="16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600" dirty="0">
                  <a:solidFill>
                    <a:srgbClr val="0000FF"/>
                  </a:solidFill>
                </a:rPr>
                <a:t> (“After the loop, counter = “ + counter);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3528" y="1536605"/>
              <a:ext cx="576064" cy="19390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8</a:t>
              </a:r>
            </a:p>
          </p:txBody>
        </p:sp>
      </p:grpSp>
      <p:sp>
        <p:nvSpPr>
          <p:cNvPr id="16" name="Rounded Rectangle 15"/>
          <p:cNvSpPr/>
          <p:nvPr/>
        </p:nvSpPr>
        <p:spPr>
          <a:xfrm>
            <a:off x="251520" y="2636912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2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 rot="16200000">
            <a:off x="-236804" y="5893004"/>
            <a:ext cx="1365250" cy="331478"/>
          </a:xfrm>
          <a:prstGeom prst="roundRect">
            <a:avLst/>
          </a:prstGeom>
          <a:solidFill>
            <a:srgbClr val="00B0F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3728" y="3212976"/>
            <a:ext cx="1440160" cy="288032"/>
          </a:xfrm>
          <a:prstGeom prst="rect">
            <a:avLst/>
          </a:prstGeom>
          <a:solidFill>
            <a:srgbClr val="FFC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331640" y="4437112"/>
            <a:ext cx="1440160" cy="288032"/>
          </a:xfrm>
          <a:prstGeom prst="rect">
            <a:avLst/>
          </a:prstGeom>
          <a:solidFill>
            <a:srgbClr val="FFC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98770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9" grpId="0" animBg="1"/>
      <p:bldP spid="10" grpId="0" animBg="1"/>
      <p:bldP spid="16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/>
        </p:nvSpPr>
        <p:spPr>
          <a:xfrm>
            <a:off x="323528" y="6474822"/>
            <a:ext cx="86409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Example 3, </a:t>
            </a:r>
            <a:r>
              <a:rPr lang="en-US" sz="16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iteration = counter – 4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611560" y="4996333"/>
            <a:ext cx="8352928" cy="1384995"/>
            <a:chOff x="683568" y="1236822"/>
            <a:chExt cx="7488832" cy="1384993"/>
          </a:xfrm>
        </p:grpSpPr>
        <p:sp>
          <p:nvSpPr>
            <p:cNvPr id="20" name="TextBox 19"/>
            <p:cNvSpPr txBox="1"/>
            <p:nvPr/>
          </p:nvSpPr>
          <p:spPr>
            <a:xfrm>
              <a:off x="971600" y="1236822"/>
              <a:ext cx="7200800" cy="1384993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Iteration = 1	counter = 5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Iteration = 2	counter = 6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Iteration = 3	counter = 7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Iteration = 4	counter = 8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Iteration = 5	counter = 9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After the loop, counter = 10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83568" y="1236822"/>
              <a:ext cx="216024" cy="1384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1.2 Iteration vs. counter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04448" y="6309320"/>
            <a:ext cx="365760" cy="365125"/>
          </a:xfrm>
        </p:spPr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for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/>
        </p:nvGrpSpPr>
        <p:grpSpPr>
          <a:xfrm>
            <a:off x="179512" y="2564904"/>
            <a:ext cx="8784976" cy="2319357"/>
            <a:chOff x="323528" y="1536605"/>
            <a:chExt cx="7848872" cy="2180947"/>
          </a:xfrm>
        </p:grpSpPr>
        <p:sp>
          <p:nvSpPr>
            <p:cNvPr id="14" name="TextBox 13"/>
            <p:cNvSpPr txBox="1"/>
            <p:nvPr/>
          </p:nvSpPr>
          <p:spPr>
            <a:xfrm>
              <a:off x="971600" y="1536605"/>
              <a:ext cx="7200800" cy="217057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00B0F0"/>
                  </a:solidFill>
                </a:rPr>
                <a:t>int</a:t>
              </a:r>
              <a:r>
                <a:rPr lang="en-US" dirty="0">
                  <a:solidFill>
                    <a:srgbClr val="00B0F0"/>
                  </a:solidFill>
                </a:rPr>
                <a:t> </a:t>
              </a:r>
              <a:r>
                <a:rPr lang="en-US" dirty="0">
                  <a:solidFill>
                    <a:srgbClr val="0000FF"/>
                  </a:solidFill>
                </a:rPr>
                <a:t>counter, iteration = 1;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for </a:t>
              </a:r>
              <a:r>
                <a:rPr lang="en-US" dirty="0">
                  <a:solidFill>
                    <a:srgbClr val="0000FF"/>
                  </a:solidFill>
                </a:rPr>
                <a:t>( counter = 5; counter &lt; 10; counter++)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</a:t>
              </a:r>
              <a:r>
                <a:rPr lang="en-US" dirty="0">
                  <a:solidFill>
                    <a:srgbClr val="7030A0"/>
                  </a:solidFill>
                </a:rPr>
                <a:t>{ </a:t>
              </a:r>
              <a:r>
                <a:rPr lang="en-US" dirty="0">
                  <a:solidFill>
                    <a:srgbClr val="00B050"/>
                  </a:solidFill>
                </a:rPr>
                <a:t>//start of the loop body</a:t>
              </a:r>
              <a:r>
                <a:rPr lang="en-US" dirty="0">
                  <a:solidFill>
                    <a:srgbClr val="7030A0"/>
                  </a:solidFill>
                </a:rPr>
                <a:t> </a:t>
              </a:r>
            </a:p>
            <a:p>
              <a:r>
                <a:rPr lang="en-US" dirty="0">
                  <a:solidFill>
                    <a:srgbClr val="7030A0"/>
                  </a:solidFill>
                </a:rPr>
                <a:t>      </a:t>
              </a:r>
              <a:r>
                <a:rPr lang="en-US" dirty="0" err="1">
                  <a:solidFill>
                    <a:srgbClr val="7030A0"/>
                  </a:solidFill>
                </a:rPr>
                <a:t>System.out.printf</a:t>
              </a:r>
              <a:r>
                <a:rPr lang="en-US" dirty="0">
                  <a:solidFill>
                    <a:srgbClr val="7030A0"/>
                  </a:solidFill>
                </a:rPr>
                <a:t> (“Iteration = %d“, iteration);</a:t>
              </a:r>
            </a:p>
            <a:p>
              <a:r>
                <a:rPr lang="en-US" dirty="0">
                  <a:solidFill>
                    <a:srgbClr val="7030A0"/>
                  </a:solidFill>
                </a:rPr>
                <a:t>      </a:t>
              </a:r>
              <a:r>
                <a:rPr lang="en-US" dirty="0" err="1">
                  <a:solidFill>
                    <a:srgbClr val="7030A0"/>
                  </a:solidFill>
                </a:rPr>
                <a:t>System.out.println</a:t>
              </a:r>
              <a:r>
                <a:rPr lang="en-US" dirty="0">
                  <a:solidFill>
                    <a:srgbClr val="7030A0"/>
                  </a:solidFill>
                </a:rPr>
                <a:t> (“\</a:t>
              </a:r>
              <a:r>
                <a:rPr lang="en-US" dirty="0" err="1">
                  <a:solidFill>
                    <a:srgbClr val="7030A0"/>
                  </a:solidFill>
                </a:rPr>
                <a:t>tcounter</a:t>
              </a:r>
              <a:r>
                <a:rPr lang="en-US" dirty="0">
                  <a:solidFill>
                    <a:srgbClr val="7030A0"/>
                  </a:solidFill>
                </a:rPr>
                <a:t> = “ + counter);</a:t>
              </a:r>
            </a:p>
            <a:p>
              <a:r>
                <a:rPr lang="en-US" dirty="0">
                  <a:solidFill>
                    <a:srgbClr val="7030A0"/>
                  </a:solidFill>
                </a:rPr>
                <a:t>      iteration++;</a:t>
              </a:r>
            </a:p>
            <a:p>
              <a:r>
                <a:rPr lang="en-US" dirty="0">
                  <a:solidFill>
                    <a:srgbClr val="7030A0"/>
                  </a:solidFill>
                </a:rPr>
                <a:t>   } </a:t>
              </a:r>
              <a:r>
                <a:rPr lang="en-US" dirty="0">
                  <a:solidFill>
                    <a:srgbClr val="00B050"/>
                  </a:solidFill>
                </a:rPr>
                <a:t>//end of the loop body</a:t>
              </a:r>
            </a:p>
            <a:p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(“After the loop, counter = “ + counter);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3528" y="1546980"/>
              <a:ext cx="576064" cy="2170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8</a:t>
              </a:r>
            </a:p>
          </p:txBody>
        </p:sp>
      </p:grpSp>
      <p:sp>
        <p:nvSpPr>
          <p:cNvPr id="16" name="Rounded Rectangle 15"/>
          <p:cNvSpPr/>
          <p:nvPr/>
        </p:nvSpPr>
        <p:spPr>
          <a:xfrm>
            <a:off x="251520" y="1988840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3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 rot="16200000">
            <a:off x="-236804" y="5532964"/>
            <a:ext cx="1365250" cy="331478"/>
          </a:xfrm>
          <a:prstGeom prst="roundRect">
            <a:avLst/>
          </a:prstGeom>
          <a:solidFill>
            <a:srgbClr val="00B0F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3528" y="126876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 may be an arithmetic relationship between the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number of iteration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the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value of the counter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They are not necessarily equal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81813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7" grpId="0" animBg="1"/>
      <p:bldP spid="16" grpId="0" animBg="1"/>
      <p:bldP spid="22" grpId="0" animBg="1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Straight Arrow Connector 41"/>
          <p:cNvCxnSpPr/>
          <p:nvPr/>
        </p:nvCxnSpPr>
        <p:spPr>
          <a:xfrm>
            <a:off x="1691680" y="5013176"/>
            <a:ext cx="0" cy="72008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1.3 FLOWCHART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for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251520" y="1916832"/>
            <a:ext cx="2880320" cy="360040"/>
          </a:xfrm>
          <a:prstGeom prst="rect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Initialize Counter</a:t>
            </a:r>
          </a:p>
        </p:txBody>
      </p:sp>
      <p:sp>
        <p:nvSpPr>
          <p:cNvPr id="28" name="Flowchart: Decision 27"/>
          <p:cNvSpPr/>
          <p:nvPr/>
        </p:nvSpPr>
        <p:spPr>
          <a:xfrm>
            <a:off x="251520" y="2996952"/>
            <a:ext cx="2880320" cy="1008112"/>
          </a:xfrm>
          <a:prstGeom prst="flowChartDecision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Logical Expression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6405" y="3320988"/>
            <a:ext cx="1877723" cy="360040"/>
          </a:xfrm>
          <a:prstGeom prst="rect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Statement(s)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94677" y="3212976"/>
            <a:ext cx="1877723" cy="626586"/>
          </a:xfrm>
          <a:prstGeom prst="rect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Update Counter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1691680" y="1628800"/>
            <a:ext cx="0" cy="288032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1691680" y="2276872"/>
            <a:ext cx="0" cy="72008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3131840" y="3501008"/>
            <a:ext cx="714565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5724128" y="3501008"/>
            <a:ext cx="570549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87824" y="3234462"/>
            <a:ext cx="720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</a:rPr>
              <a:t>True</a:t>
            </a:r>
          </a:p>
        </p:txBody>
      </p:sp>
      <p:cxnSp>
        <p:nvCxnSpPr>
          <p:cNvPr id="11" name="Straight Arrow Connector 10"/>
          <p:cNvCxnSpPr>
            <a:stCxn id="30" idx="0"/>
          </p:cNvCxnSpPr>
          <p:nvPr/>
        </p:nvCxnSpPr>
        <p:spPr>
          <a:xfrm flipH="1" flipV="1">
            <a:off x="7233538" y="2708920"/>
            <a:ext cx="1" cy="504056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H="1">
            <a:off x="1691680" y="2708920"/>
            <a:ext cx="5541859" cy="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1691680" y="4005064"/>
            <a:ext cx="0" cy="72008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1511660" y="4725144"/>
            <a:ext cx="360040" cy="288032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1043608" y="4170566"/>
            <a:ext cx="720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26" name="Oval 25"/>
          <p:cNvSpPr/>
          <p:nvPr/>
        </p:nvSpPr>
        <p:spPr>
          <a:xfrm>
            <a:off x="1511660" y="1340768"/>
            <a:ext cx="360040" cy="288032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67340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1.4.1 Examples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for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/>
        </p:nvGrpSpPr>
        <p:grpSpPr>
          <a:xfrm>
            <a:off x="1688941" y="1772816"/>
            <a:ext cx="7275546" cy="2308324"/>
            <a:chOff x="323528" y="1536605"/>
            <a:chExt cx="7848872" cy="2170572"/>
          </a:xfrm>
        </p:grpSpPr>
        <p:sp>
          <p:nvSpPr>
            <p:cNvPr id="14" name="TextBox 13"/>
            <p:cNvSpPr txBox="1"/>
            <p:nvPr/>
          </p:nvSpPr>
          <p:spPr>
            <a:xfrm>
              <a:off x="971600" y="1536605"/>
              <a:ext cx="7200800" cy="217057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00B0F0"/>
                  </a:solidFill>
                </a:rPr>
                <a:t>int</a:t>
              </a:r>
              <a:r>
                <a:rPr lang="en-US" dirty="0">
                  <a:solidFill>
                    <a:srgbClr val="00B0F0"/>
                  </a:solidFill>
                </a:rPr>
                <a:t> </a:t>
              </a:r>
              <a:r>
                <a:rPr lang="en-US" dirty="0">
                  <a:solidFill>
                    <a:srgbClr val="0000FF"/>
                  </a:solidFill>
                </a:rPr>
                <a:t>i, iteration = 1;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for </a:t>
              </a:r>
              <a:r>
                <a:rPr lang="en-US" dirty="0">
                  <a:solidFill>
                    <a:srgbClr val="0000FF"/>
                  </a:solidFill>
                </a:rPr>
                <a:t>( </a:t>
              </a:r>
              <a:r>
                <a:rPr lang="en-US" dirty="0" err="1">
                  <a:solidFill>
                    <a:srgbClr val="0000FF"/>
                  </a:solidFill>
                </a:rPr>
                <a:t>i</a:t>
              </a:r>
              <a:r>
                <a:rPr lang="en-US" dirty="0">
                  <a:solidFill>
                    <a:srgbClr val="0000FF"/>
                  </a:solidFill>
                </a:rPr>
                <a:t> = 5; </a:t>
              </a:r>
              <a:r>
                <a:rPr lang="en-US" dirty="0" err="1">
                  <a:solidFill>
                    <a:srgbClr val="0000FF"/>
                  </a:solidFill>
                </a:rPr>
                <a:t>i</a:t>
              </a:r>
              <a:r>
                <a:rPr lang="en-US" dirty="0">
                  <a:solidFill>
                    <a:srgbClr val="0000FF"/>
                  </a:solidFill>
                </a:rPr>
                <a:t> &gt;= 0; </a:t>
              </a:r>
              <a:r>
                <a:rPr lang="en-US" dirty="0" err="1">
                  <a:solidFill>
                    <a:srgbClr val="0000FF"/>
                  </a:solidFill>
                </a:rPr>
                <a:t>i</a:t>
              </a:r>
              <a:r>
                <a:rPr lang="en-US" dirty="0">
                  <a:solidFill>
                    <a:srgbClr val="0000FF"/>
                  </a:solidFill>
                </a:rPr>
                <a:t>--)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</a:t>
              </a:r>
              <a:r>
                <a:rPr lang="en-US" dirty="0">
                  <a:solidFill>
                    <a:srgbClr val="7030A0"/>
                  </a:solidFill>
                </a:rPr>
                <a:t>{ </a:t>
              </a:r>
              <a:r>
                <a:rPr lang="en-US" dirty="0">
                  <a:solidFill>
                    <a:srgbClr val="00B050"/>
                  </a:solidFill>
                </a:rPr>
                <a:t>//start of the loop body</a:t>
              </a:r>
              <a:r>
                <a:rPr lang="en-US" dirty="0">
                  <a:solidFill>
                    <a:srgbClr val="7030A0"/>
                  </a:solidFill>
                </a:rPr>
                <a:t> </a:t>
              </a:r>
            </a:p>
            <a:p>
              <a:r>
                <a:rPr lang="en-US" dirty="0">
                  <a:solidFill>
                    <a:srgbClr val="7030A0"/>
                  </a:solidFill>
                </a:rPr>
                <a:t>      </a:t>
              </a:r>
              <a:r>
                <a:rPr lang="en-US" dirty="0" err="1">
                  <a:solidFill>
                    <a:srgbClr val="7030A0"/>
                  </a:solidFill>
                </a:rPr>
                <a:t>System.out.printf</a:t>
              </a:r>
              <a:r>
                <a:rPr lang="en-US" dirty="0">
                  <a:solidFill>
                    <a:srgbClr val="7030A0"/>
                  </a:solidFill>
                </a:rPr>
                <a:t> (“Iteration = %d“, iteration);</a:t>
              </a:r>
            </a:p>
            <a:p>
              <a:r>
                <a:rPr lang="en-US" dirty="0">
                  <a:solidFill>
                    <a:srgbClr val="7030A0"/>
                  </a:solidFill>
                </a:rPr>
                <a:t>      </a:t>
              </a:r>
              <a:r>
                <a:rPr lang="en-US" dirty="0" err="1">
                  <a:solidFill>
                    <a:srgbClr val="7030A0"/>
                  </a:solidFill>
                </a:rPr>
                <a:t>System.out.println</a:t>
              </a:r>
              <a:r>
                <a:rPr lang="en-US" dirty="0">
                  <a:solidFill>
                    <a:srgbClr val="7030A0"/>
                  </a:solidFill>
                </a:rPr>
                <a:t> (“\</a:t>
              </a:r>
              <a:r>
                <a:rPr lang="en-US" dirty="0" err="1">
                  <a:solidFill>
                    <a:srgbClr val="7030A0"/>
                  </a:solidFill>
                </a:rPr>
                <a:t>ti</a:t>
              </a:r>
              <a:r>
                <a:rPr lang="en-US" dirty="0">
                  <a:solidFill>
                    <a:srgbClr val="7030A0"/>
                  </a:solidFill>
                </a:rPr>
                <a:t> = “ + </a:t>
              </a:r>
              <a:r>
                <a:rPr lang="en-US" dirty="0" err="1">
                  <a:solidFill>
                    <a:srgbClr val="7030A0"/>
                  </a:solidFill>
                </a:rPr>
                <a:t>i</a:t>
              </a:r>
              <a:r>
                <a:rPr lang="en-US" dirty="0">
                  <a:solidFill>
                    <a:srgbClr val="7030A0"/>
                  </a:solidFill>
                </a:rPr>
                <a:t>);</a:t>
              </a:r>
            </a:p>
            <a:p>
              <a:r>
                <a:rPr lang="en-US" dirty="0">
                  <a:solidFill>
                    <a:srgbClr val="7030A0"/>
                  </a:solidFill>
                </a:rPr>
                <a:t>      iteration++;</a:t>
              </a:r>
            </a:p>
            <a:p>
              <a:r>
                <a:rPr lang="en-US" dirty="0">
                  <a:solidFill>
                    <a:srgbClr val="7030A0"/>
                  </a:solidFill>
                </a:rPr>
                <a:t>} </a:t>
              </a:r>
              <a:r>
                <a:rPr lang="en-US" dirty="0">
                  <a:solidFill>
                    <a:srgbClr val="00B050"/>
                  </a:solidFill>
                </a:rPr>
                <a:t>//end of the loop body</a:t>
              </a:r>
            </a:p>
            <a:p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(“After the loop, </a:t>
              </a:r>
              <a:r>
                <a:rPr lang="en-US" dirty="0" err="1">
                  <a:solidFill>
                    <a:srgbClr val="0000FF"/>
                  </a:solidFill>
                </a:rPr>
                <a:t>i</a:t>
              </a:r>
              <a:r>
                <a:rPr lang="en-US" dirty="0">
                  <a:solidFill>
                    <a:srgbClr val="0000FF"/>
                  </a:solidFill>
                </a:rPr>
                <a:t> = “ + </a:t>
              </a:r>
              <a:r>
                <a:rPr lang="en-US" dirty="0" err="1">
                  <a:solidFill>
                    <a:srgbClr val="0000FF"/>
                  </a:solidFill>
                </a:rPr>
                <a:t>i</a:t>
              </a:r>
              <a:r>
                <a:rPr lang="en-US" dirty="0">
                  <a:solidFill>
                    <a:srgbClr val="0000FF"/>
                  </a:solidFill>
                </a:rPr>
                <a:t>);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3528" y="1536605"/>
              <a:ext cx="576064" cy="2170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8</a:t>
              </a:r>
            </a:p>
          </p:txBody>
        </p:sp>
      </p:grpSp>
      <p:sp>
        <p:nvSpPr>
          <p:cNvPr id="16" name="Rounded Rectangle 15"/>
          <p:cNvSpPr/>
          <p:nvPr/>
        </p:nvSpPr>
        <p:spPr>
          <a:xfrm>
            <a:off x="251520" y="1700808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4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1955934" y="4149080"/>
            <a:ext cx="7008554" cy="1600438"/>
            <a:chOff x="683568" y="1236822"/>
            <a:chExt cx="7488832" cy="1600436"/>
          </a:xfrm>
        </p:grpSpPr>
        <p:sp>
          <p:nvSpPr>
            <p:cNvPr id="20" name="TextBox 19"/>
            <p:cNvSpPr txBox="1"/>
            <p:nvPr/>
          </p:nvSpPr>
          <p:spPr>
            <a:xfrm>
              <a:off x="971600" y="1236822"/>
              <a:ext cx="7200800" cy="1600436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Iteration = 1	</a:t>
              </a:r>
              <a:r>
                <a:rPr lang="en-US" sz="1400" dirty="0" err="1">
                  <a:solidFill>
                    <a:schemeClr val="bg1"/>
                  </a:solidFill>
                </a:rPr>
                <a:t>i</a:t>
              </a:r>
              <a:r>
                <a:rPr lang="en-US" sz="1400" dirty="0">
                  <a:solidFill>
                    <a:schemeClr val="bg1"/>
                  </a:solidFill>
                </a:rPr>
                <a:t> = 5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Iteration = 2	</a:t>
              </a:r>
              <a:r>
                <a:rPr lang="en-US" sz="1400" dirty="0" err="1">
                  <a:solidFill>
                    <a:schemeClr val="bg1"/>
                  </a:solidFill>
                </a:rPr>
                <a:t>i</a:t>
              </a:r>
              <a:r>
                <a:rPr lang="en-US" sz="1400" dirty="0">
                  <a:solidFill>
                    <a:schemeClr val="bg1"/>
                  </a:solidFill>
                </a:rPr>
                <a:t> = 4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Iteration = 3	</a:t>
              </a:r>
              <a:r>
                <a:rPr lang="en-US" sz="1400" dirty="0" err="1">
                  <a:solidFill>
                    <a:schemeClr val="bg1"/>
                  </a:solidFill>
                </a:rPr>
                <a:t>i</a:t>
              </a:r>
              <a:r>
                <a:rPr lang="en-US" sz="1400" dirty="0">
                  <a:solidFill>
                    <a:schemeClr val="bg1"/>
                  </a:solidFill>
                </a:rPr>
                <a:t> = 3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Iteration = 4	</a:t>
              </a:r>
              <a:r>
                <a:rPr lang="en-US" sz="1400" dirty="0" err="1">
                  <a:solidFill>
                    <a:schemeClr val="bg1"/>
                  </a:solidFill>
                </a:rPr>
                <a:t>i</a:t>
              </a:r>
              <a:r>
                <a:rPr lang="en-US" sz="1400" dirty="0">
                  <a:solidFill>
                    <a:schemeClr val="bg1"/>
                  </a:solidFill>
                </a:rPr>
                <a:t> = 2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Iteration = 5	</a:t>
              </a:r>
              <a:r>
                <a:rPr lang="en-US" sz="1400" dirty="0" err="1">
                  <a:solidFill>
                    <a:schemeClr val="bg1"/>
                  </a:solidFill>
                </a:rPr>
                <a:t>i</a:t>
              </a:r>
              <a:r>
                <a:rPr lang="en-US" sz="1400" dirty="0">
                  <a:solidFill>
                    <a:schemeClr val="bg1"/>
                  </a:solidFill>
                </a:rPr>
                <a:t> = 1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Iteration = 6	</a:t>
              </a:r>
              <a:r>
                <a:rPr lang="en-US" sz="1400" dirty="0" err="1">
                  <a:solidFill>
                    <a:schemeClr val="bg1"/>
                  </a:solidFill>
                </a:rPr>
                <a:t>i</a:t>
              </a:r>
              <a:r>
                <a:rPr lang="en-US" sz="1400" dirty="0">
                  <a:solidFill>
                    <a:schemeClr val="bg1"/>
                  </a:solidFill>
                </a:rPr>
                <a:t> = 0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After the loop, </a:t>
              </a:r>
              <a:r>
                <a:rPr lang="en-US" sz="1400" dirty="0" err="1">
                  <a:solidFill>
                    <a:schemeClr val="bg1"/>
                  </a:solidFill>
                </a:rPr>
                <a:t>i</a:t>
              </a:r>
              <a:r>
                <a:rPr lang="en-US" sz="1400" dirty="0">
                  <a:solidFill>
                    <a:schemeClr val="bg1"/>
                  </a:solidFill>
                </a:rPr>
                <a:t> = -1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83568" y="1236822"/>
              <a:ext cx="216024" cy="1600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</p:txBody>
        </p:sp>
      </p:grpSp>
      <p:sp>
        <p:nvSpPr>
          <p:cNvPr id="22" name="Rounded Rectangle 21"/>
          <p:cNvSpPr/>
          <p:nvPr/>
        </p:nvSpPr>
        <p:spPr>
          <a:xfrm>
            <a:off x="251520" y="4149080"/>
            <a:ext cx="1296144" cy="331478"/>
          </a:xfrm>
          <a:prstGeom prst="roundRect">
            <a:avLst/>
          </a:prstGeom>
          <a:solidFill>
            <a:srgbClr val="00B0F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3528" y="126876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counter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may be updated by decrementing 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27984" y="2060848"/>
            <a:ext cx="504056" cy="288032"/>
          </a:xfrm>
          <a:prstGeom prst="rect">
            <a:avLst/>
          </a:prstGeom>
          <a:solidFill>
            <a:srgbClr val="FFC000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23528" y="5826750"/>
            <a:ext cx="864096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the step decrements the counter, then the final value should be less than the initial value. Otherwise, we’ll have an </a:t>
            </a:r>
            <a:r>
              <a:rPr 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infinite loop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431517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6" grpId="0" animBg="1"/>
      <p:bldP spid="22" grpId="0" animBg="1"/>
      <p:bldP spid="23" grpId="0"/>
      <p:bldP spid="26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1.4.2 Examples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for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/>
        </p:nvGrpSpPr>
        <p:grpSpPr>
          <a:xfrm>
            <a:off x="1688941" y="1772816"/>
            <a:ext cx="7275546" cy="2308324"/>
            <a:chOff x="323528" y="1536605"/>
            <a:chExt cx="7848872" cy="2170572"/>
          </a:xfrm>
        </p:grpSpPr>
        <p:sp>
          <p:nvSpPr>
            <p:cNvPr id="14" name="TextBox 13"/>
            <p:cNvSpPr txBox="1"/>
            <p:nvPr/>
          </p:nvSpPr>
          <p:spPr>
            <a:xfrm>
              <a:off x="971600" y="1536605"/>
              <a:ext cx="7200800" cy="217057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00B0F0"/>
                  </a:solidFill>
                </a:rPr>
                <a:t>int</a:t>
              </a:r>
              <a:r>
                <a:rPr lang="en-US" dirty="0">
                  <a:solidFill>
                    <a:srgbClr val="00B0F0"/>
                  </a:solidFill>
                </a:rPr>
                <a:t> </a:t>
              </a:r>
              <a:r>
                <a:rPr lang="en-US" dirty="0">
                  <a:solidFill>
                    <a:srgbClr val="0000FF"/>
                  </a:solidFill>
                </a:rPr>
                <a:t>i, iteration = 1;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for </a:t>
              </a:r>
              <a:r>
                <a:rPr lang="en-US" dirty="0">
                  <a:solidFill>
                    <a:srgbClr val="0000FF"/>
                  </a:solidFill>
                </a:rPr>
                <a:t>( </a:t>
              </a:r>
              <a:r>
                <a:rPr lang="en-US" dirty="0" err="1">
                  <a:solidFill>
                    <a:srgbClr val="0000FF"/>
                  </a:solidFill>
                </a:rPr>
                <a:t>i</a:t>
              </a:r>
              <a:r>
                <a:rPr lang="en-US" dirty="0">
                  <a:solidFill>
                    <a:srgbClr val="0000FF"/>
                  </a:solidFill>
                </a:rPr>
                <a:t> = 5; </a:t>
              </a:r>
              <a:r>
                <a:rPr lang="en-US" dirty="0" err="1">
                  <a:solidFill>
                    <a:srgbClr val="0000FF"/>
                  </a:solidFill>
                </a:rPr>
                <a:t>i</a:t>
              </a:r>
              <a:r>
                <a:rPr lang="en-US" dirty="0">
                  <a:solidFill>
                    <a:srgbClr val="0000FF"/>
                  </a:solidFill>
                </a:rPr>
                <a:t> &lt;= 10; </a:t>
              </a:r>
              <a:r>
                <a:rPr lang="en-US" dirty="0" err="1">
                  <a:solidFill>
                    <a:srgbClr val="0000FF"/>
                  </a:solidFill>
                </a:rPr>
                <a:t>i</a:t>
              </a:r>
              <a:r>
                <a:rPr lang="en-US" dirty="0">
                  <a:solidFill>
                    <a:srgbClr val="0000FF"/>
                  </a:solidFill>
                </a:rPr>
                <a:t>--)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</a:t>
              </a:r>
              <a:r>
                <a:rPr lang="en-US" dirty="0">
                  <a:solidFill>
                    <a:srgbClr val="7030A0"/>
                  </a:solidFill>
                </a:rPr>
                <a:t>{ </a:t>
              </a:r>
              <a:r>
                <a:rPr lang="en-US" dirty="0">
                  <a:solidFill>
                    <a:srgbClr val="00B050"/>
                  </a:solidFill>
                </a:rPr>
                <a:t>//start of the loop body</a:t>
              </a:r>
              <a:r>
                <a:rPr lang="en-US" dirty="0">
                  <a:solidFill>
                    <a:srgbClr val="7030A0"/>
                  </a:solidFill>
                </a:rPr>
                <a:t> </a:t>
              </a:r>
            </a:p>
            <a:p>
              <a:r>
                <a:rPr lang="en-US" dirty="0">
                  <a:solidFill>
                    <a:srgbClr val="7030A0"/>
                  </a:solidFill>
                </a:rPr>
                <a:t>      </a:t>
              </a:r>
              <a:r>
                <a:rPr lang="en-US" dirty="0" err="1">
                  <a:solidFill>
                    <a:srgbClr val="7030A0"/>
                  </a:solidFill>
                </a:rPr>
                <a:t>System.out.printf</a:t>
              </a:r>
              <a:r>
                <a:rPr lang="en-US" dirty="0">
                  <a:solidFill>
                    <a:srgbClr val="7030A0"/>
                  </a:solidFill>
                </a:rPr>
                <a:t> (“Iteration = %d“, iteration);</a:t>
              </a:r>
            </a:p>
            <a:p>
              <a:r>
                <a:rPr lang="en-US" dirty="0">
                  <a:solidFill>
                    <a:srgbClr val="7030A0"/>
                  </a:solidFill>
                </a:rPr>
                <a:t>      </a:t>
              </a:r>
              <a:r>
                <a:rPr lang="en-US" dirty="0" err="1">
                  <a:solidFill>
                    <a:srgbClr val="7030A0"/>
                  </a:solidFill>
                </a:rPr>
                <a:t>System.out.println</a:t>
              </a:r>
              <a:r>
                <a:rPr lang="en-US" dirty="0">
                  <a:solidFill>
                    <a:srgbClr val="7030A0"/>
                  </a:solidFill>
                </a:rPr>
                <a:t> (“\</a:t>
              </a:r>
              <a:r>
                <a:rPr lang="en-US" dirty="0" err="1">
                  <a:solidFill>
                    <a:srgbClr val="7030A0"/>
                  </a:solidFill>
                </a:rPr>
                <a:t>ti</a:t>
              </a:r>
              <a:r>
                <a:rPr lang="en-US" dirty="0">
                  <a:solidFill>
                    <a:srgbClr val="7030A0"/>
                  </a:solidFill>
                </a:rPr>
                <a:t> = “ + </a:t>
              </a:r>
              <a:r>
                <a:rPr lang="en-US" dirty="0" err="1">
                  <a:solidFill>
                    <a:srgbClr val="7030A0"/>
                  </a:solidFill>
                </a:rPr>
                <a:t>i</a:t>
              </a:r>
              <a:r>
                <a:rPr lang="en-US" dirty="0">
                  <a:solidFill>
                    <a:srgbClr val="7030A0"/>
                  </a:solidFill>
                </a:rPr>
                <a:t>);</a:t>
              </a:r>
            </a:p>
            <a:p>
              <a:r>
                <a:rPr lang="en-US" dirty="0">
                  <a:solidFill>
                    <a:srgbClr val="7030A0"/>
                  </a:solidFill>
                </a:rPr>
                <a:t>      iteration++;</a:t>
              </a:r>
            </a:p>
            <a:p>
              <a:r>
                <a:rPr lang="en-US" dirty="0">
                  <a:solidFill>
                    <a:srgbClr val="7030A0"/>
                  </a:solidFill>
                </a:rPr>
                <a:t>   } </a:t>
              </a:r>
              <a:r>
                <a:rPr lang="en-US" dirty="0">
                  <a:solidFill>
                    <a:srgbClr val="00B050"/>
                  </a:solidFill>
                </a:rPr>
                <a:t>//end of the loop body</a:t>
              </a:r>
            </a:p>
            <a:p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(“After the loop, </a:t>
              </a:r>
              <a:r>
                <a:rPr lang="en-US" dirty="0" err="1">
                  <a:solidFill>
                    <a:srgbClr val="0000FF"/>
                  </a:solidFill>
                </a:rPr>
                <a:t>i</a:t>
              </a:r>
              <a:r>
                <a:rPr lang="en-US" dirty="0">
                  <a:solidFill>
                    <a:srgbClr val="0000FF"/>
                  </a:solidFill>
                </a:rPr>
                <a:t> = “ + </a:t>
              </a:r>
              <a:r>
                <a:rPr lang="en-US" dirty="0" err="1">
                  <a:solidFill>
                    <a:srgbClr val="0000FF"/>
                  </a:solidFill>
                </a:rPr>
                <a:t>i</a:t>
              </a:r>
              <a:r>
                <a:rPr lang="en-US" dirty="0">
                  <a:solidFill>
                    <a:srgbClr val="0000FF"/>
                  </a:solidFill>
                </a:rPr>
                <a:t>);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3528" y="1536605"/>
              <a:ext cx="576064" cy="2170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8</a:t>
              </a:r>
            </a:p>
          </p:txBody>
        </p:sp>
      </p:grpSp>
      <p:sp>
        <p:nvSpPr>
          <p:cNvPr id="16" name="Rounded Rectangle 15"/>
          <p:cNvSpPr/>
          <p:nvPr/>
        </p:nvSpPr>
        <p:spPr>
          <a:xfrm>
            <a:off x="251520" y="1700808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5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1955934" y="4149080"/>
            <a:ext cx="7008554" cy="1384995"/>
            <a:chOff x="683568" y="1236822"/>
            <a:chExt cx="7488832" cy="1384993"/>
          </a:xfrm>
        </p:grpSpPr>
        <p:sp>
          <p:nvSpPr>
            <p:cNvPr id="20" name="TextBox 19"/>
            <p:cNvSpPr txBox="1"/>
            <p:nvPr/>
          </p:nvSpPr>
          <p:spPr>
            <a:xfrm>
              <a:off x="971600" y="1236822"/>
              <a:ext cx="7200800" cy="1384993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Iteration = 1	</a:t>
              </a:r>
              <a:r>
                <a:rPr lang="en-US" sz="1400" dirty="0" err="1">
                  <a:solidFill>
                    <a:schemeClr val="bg1"/>
                  </a:solidFill>
                </a:rPr>
                <a:t>i</a:t>
              </a:r>
              <a:r>
                <a:rPr lang="en-US" sz="1400" dirty="0">
                  <a:solidFill>
                    <a:schemeClr val="bg1"/>
                  </a:solidFill>
                </a:rPr>
                <a:t> = 5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Iteration = 2	</a:t>
              </a:r>
              <a:r>
                <a:rPr lang="en-US" sz="1400" dirty="0" err="1">
                  <a:solidFill>
                    <a:schemeClr val="bg1"/>
                  </a:solidFill>
                </a:rPr>
                <a:t>i</a:t>
              </a:r>
              <a:r>
                <a:rPr lang="en-US" sz="1400" dirty="0">
                  <a:solidFill>
                    <a:schemeClr val="bg1"/>
                  </a:solidFill>
                </a:rPr>
                <a:t> = 4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Iteration = 3	</a:t>
              </a:r>
              <a:r>
                <a:rPr lang="en-US" sz="1400" dirty="0" err="1">
                  <a:solidFill>
                    <a:schemeClr val="bg1"/>
                  </a:solidFill>
                </a:rPr>
                <a:t>i</a:t>
              </a:r>
              <a:r>
                <a:rPr lang="en-US" sz="1400" dirty="0">
                  <a:solidFill>
                    <a:schemeClr val="bg1"/>
                  </a:solidFill>
                </a:rPr>
                <a:t> = 3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Iteration = 4	</a:t>
              </a:r>
              <a:r>
                <a:rPr lang="en-US" sz="1400" dirty="0" err="1">
                  <a:solidFill>
                    <a:schemeClr val="bg1"/>
                  </a:solidFill>
                </a:rPr>
                <a:t>i</a:t>
              </a:r>
              <a:r>
                <a:rPr lang="en-US" sz="1400" dirty="0">
                  <a:solidFill>
                    <a:schemeClr val="bg1"/>
                  </a:solidFill>
                </a:rPr>
                <a:t> = 2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Iteration = 5	</a:t>
              </a:r>
              <a:r>
                <a:rPr lang="en-US" sz="1400" dirty="0" err="1">
                  <a:solidFill>
                    <a:schemeClr val="bg1"/>
                  </a:solidFill>
                </a:rPr>
                <a:t>i</a:t>
              </a:r>
              <a:r>
                <a:rPr lang="en-US" sz="1400" dirty="0">
                  <a:solidFill>
                    <a:schemeClr val="bg1"/>
                  </a:solidFill>
                </a:rPr>
                <a:t> = 1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Iteration = 6	</a:t>
              </a:r>
              <a:r>
                <a:rPr lang="en-US" sz="1400" dirty="0" err="1">
                  <a:solidFill>
                    <a:schemeClr val="bg1"/>
                  </a:solidFill>
                </a:rPr>
                <a:t>i</a:t>
              </a:r>
              <a:r>
                <a:rPr lang="en-US" sz="1400" dirty="0">
                  <a:solidFill>
                    <a:schemeClr val="bg1"/>
                  </a:solidFill>
                </a:rPr>
                <a:t> = 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83568" y="1236822"/>
              <a:ext cx="216024" cy="1384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</p:txBody>
        </p:sp>
      </p:grpSp>
      <p:sp>
        <p:nvSpPr>
          <p:cNvPr id="22" name="Rounded Rectangle 21"/>
          <p:cNvSpPr/>
          <p:nvPr/>
        </p:nvSpPr>
        <p:spPr>
          <a:xfrm>
            <a:off x="251520" y="4149080"/>
            <a:ext cx="1296144" cy="331478"/>
          </a:xfrm>
          <a:prstGeom prst="roundRect">
            <a:avLst/>
          </a:prstGeom>
          <a:solidFill>
            <a:srgbClr val="00B0F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3528" y="126876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following code is an example of an infinite loop.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3528" y="5589240"/>
            <a:ext cx="864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Infinite loops should be avoided. They are considered a “</a:t>
            </a:r>
            <a:r>
              <a:rPr 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logical error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”.</a:t>
            </a:r>
          </a:p>
        </p:txBody>
      </p:sp>
      <p:sp>
        <p:nvSpPr>
          <p:cNvPr id="3" name="Rectangle 2"/>
          <p:cNvSpPr/>
          <p:nvPr/>
        </p:nvSpPr>
        <p:spPr>
          <a:xfrm>
            <a:off x="5594991" y="4314819"/>
            <a:ext cx="3153473" cy="842373"/>
          </a:xfrm>
          <a:prstGeom prst="rect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FF"/>
                </a:solidFill>
              </a:rPr>
              <a:t>THIS LOOP NEVER ENDS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95936" y="2060848"/>
            <a:ext cx="504056" cy="288032"/>
          </a:xfrm>
          <a:prstGeom prst="rect">
            <a:avLst/>
          </a:prstGeom>
          <a:solidFill>
            <a:srgbClr val="FFC000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3203848" y="2060848"/>
            <a:ext cx="504056" cy="288032"/>
          </a:xfrm>
          <a:prstGeom prst="rect">
            <a:avLst/>
          </a:prstGeom>
          <a:solidFill>
            <a:srgbClr val="FFC000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4572000" y="2060848"/>
            <a:ext cx="504056" cy="288032"/>
          </a:xfrm>
          <a:prstGeom prst="rect">
            <a:avLst/>
          </a:prstGeom>
          <a:solidFill>
            <a:srgbClr val="FFC000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39346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6" grpId="0" animBg="1"/>
      <p:bldP spid="22" grpId="0" animBg="1"/>
      <p:bldP spid="23" grpId="0"/>
      <p:bldP spid="24" grpId="0"/>
      <p:bldP spid="3" grpId="0" animBg="1"/>
      <p:bldP spid="25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1.4.3 Examples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for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/>
        </p:nvGrpSpPr>
        <p:grpSpPr>
          <a:xfrm>
            <a:off x="1688941" y="1772816"/>
            <a:ext cx="7275546" cy="2308324"/>
            <a:chOff x="323528" y="1536605"/>
            <a:chExt cx="7848872" cy="2170572"/>
          </a:xfrm>
        </p:grpSpPr>
        <p:sp>
          <p:nvSpPr>
            <p:cNvPr id="14" name="TextBox 13"/>
            <p:cNvSpPr txBox="1"/>
            <p:nvPr/>
          </p:nvSpPr>
          <p:spPr>
            <a:xfrm>
              <a:off x="971600" y="1536605"/>
              <a:ext cx="7200800" cy="2170572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00B0F0"/>
                  </a:solidFill>
                </a:rPr>
                <a:t>int</a:t>
              </a:r>
              <a:r>
                <a:rPr lang="en-US" dirty="0">
                  <a:solidFill>
                    <a:srgbClr val="00B0F0"/>
                  </a:solidFill>
                </a:rPr>
                <a:t> </a:t>
              </a:r>
              <a:r>
                <a:rPr lang="en-US" dirty="0">
                  <a:solidFill>
                    <a:srgbClr val="0000FF"/>
                  </a:solidFill>
                </a:rPr>
                <a:t>i, iteration = 1;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for </a:t>
              </a:r>
              <a:r>
                <a:rPr lang="en-US" dirty="0">
                  <a:solidFill>
                    <a:srgbClr val="0000FF"/>
                  </a:solidFill>
                </a:rPr>
                <a:t>( </a:t>
              </a:r>
              <a:r>
                <a:rPr lang="en-US" dirty="0" err="1">
                  <a:solidFill>
                    <a:srgbClr val="0000FF"/>
                  </a:solidFill>
                </a:rPr>
                <a:t>i</a:t>
              </a:r>
              <a:r>
                <a:rPr lang="en-US" dirty="0">
                  <a:solidFill>
                    <a:srgbClr val="0000FF"/>
                  </a:solidFill>
                </a:rPr>
                <a:t> = 0; </a:t>
              </a:r>
              <a:r>
                <a:rPr lang="en-US" dirty="0" err="1">
                  <a:solidFill>
                    <a:srgbClr val="0000FF"/>
                  </a:solidFill>
                </a:rPr>
                <a:t>i</a:t>
              </a:r>
              <a:r>
                <a:rPr lang="en-US" dirty="0">
                  <a:solidFill>
                    <a:srgbClr val="0000FF"/>
                  </a:solidFill>
                </a:rPr>
                <a:t> &lt;= 10; </a:t>
              </a:r>
              <a:r>
                <a:rPr lang="en-US" dirty="0" err="1">
                  <a:solidFill>
                    <a:srgbClr val="0000FF"/>
                  </a:solidFill>
                </a:rPr>
                <a:t>i</a:t>
              </a:r>
              <a:r>
                <a:rPr lang="en-US" dirty="0">
                  <a:solidFill>
                    <a:srgbClr val="0000FF"/>
                  </a:solidFill>
                </a:rPr>
                <a:t>=i+2)</a:t>
              </a:r>
            </a:p>
            <a:p>
              <a:r>
                <a:rPr lang="en-US" dirty="0">
                  <a:solidFill>
                    <a:srgbClr val="0000FF"/>
                  </a:solidFill>
                </a:rPr>
                <a:t>   </a:t>
              </a:r>
              <a:r>
                <a:rPr lang="en-US" dirty="0">
                  <a:solidFill>
                    <a:srgbClr val="7030A0"/>
                  </a:solidFill>
                </a:rPr>
                <a:t>{ </a:t>
              </a:r>
              <a:r>
                <a:rPr lang="en-US" dirty="0">
                  <a:solidFill>
                    <a:srgbClr val="00B050"/>
                  </a:solidFill>
                </a:rPr>
                <a:t>//start of the loop body</a:t>
              </a:r>
              <a:r>
                <a:rPr lang="en-US" dirty="0">
                  <a:solidFill>
                    <a:srgbClr val="7030A0"/>
                  </a:solidFill>
                </a:rPr>
                <a:t> </a:t>
              </a:r>
            </a:p>
            <a:p>
              <a:r>
                <a:rPr lang="en-US" dirty="0">
                  <a:solidFill>
                    <a:srgbClr val="7030A0"/>
                  </a:solidFill>
                </a:rPr>
                <a:t>      </a:t>
              </a:r>
              <a:r>
                <a:rPr lang="en-US" dirty="0" err="1">
                  <a:solidFill>
                    <a:srgbClr val="7030A0"/>
                  </a:solidFill>
                </a:rPr>
                <a:t>System.out.printf</a:t>
              </a:r>
              <a:r>
                <a:rPr lang="en-US" dirty="0">
                  <a:solidFill>
                    <a:srgbClr val="7030A0"/>
                  </a:solidFill>
                </a:rPr>
                <a:t> (“Iteration = %d“, iteration);</a:t>
              </a:r>
            </a:p>
            <a:p>
              <a:r>
                <a:rPr lang="en-US" dirty="0">
                  <a:solidFill>
                    <a:srgbClr val="7030A0"/>
                  </a:solidFill>
                </a:rPr>
                <a:t>      </a:t>
              </a:r>
              <a:r>
                <a:rPr lang="en-US" dirty="0" err="1">
                  <a:solidFill>
                    <a:srgbClr val="7030A0"/>
                  </a:solidFill>
                </a:rPr>
                <a:t>System.out.println</a:t>
              </a:r>
              <a:r>
                <a:rPr lang="en-US" dirty="0">
                  <a:solidFill>
                    <a:srgbClr val="7030A0"/>
                  </a:solidFill>
                </a:rPr>
                <a:t> (“\</a:t>
              </a:r>
              <a:r>
                <a:rPr lang="en-US" dirty="0" err="1">
                  <a:solidFill>
                    <a:srgbClr val="7030A0"/>
                  </a:solidFill>
                </a:rPr>
                <a:t>ti</a:t>
              </a:r>
              <a:r>
                <a:rPr lang="en-US" dirty="0">
                  <a:solidFill>
                    <a:srgbClr val="7030A0"/>
                  </a:solidFill>
                </a:rPr>
                <a:t> = “ + </a:t>
              </a:r>
              <a:r>
                <a:rPr lang="en-US" dirty="0" err="1">
                  <a:solidFill>
                    <a:srgbClr val="7030A0"/>
                  </a:solidFill>
                </a:rPr>
                <a:t>i</a:t>
              </a:r>
              <a:r>
                <a:rPr lang="en-US" dirty="0">
                  <a:solidFill>
                    <a:srgbClr val="7030A0"/>
                  </a:solidFill>
                </a:rPr>
                <a:t>);</a:t>
              </a:r>
            </a:p>
            <a:p>
              <a:r>
                <a:rPr lang="en-US" dirty="0">
                  <a:solidFill>
                    <a:srgbClr val="7030A0"/>
                  </a:solidFill>
                </a:rPr>
                <a:t>      iteration++;</a:t>
              </a:r>
            </a:p>
            <a:p>
              <a:r>
                <a:rPr lang="en-US" dirty="0">
                  <a:solidFill>
                    <a:srgbClr val="7030A0"/>
                  </a:solidFill>
                </a:rPr>
                <a:t>   } </a:t>
              </a:r>
              <a:r>
                <a:rPr lang="en-US" dirty="0">
                  <a:solidFill>
                    <a:srgbClr val="00B050"/>
                  </a:solidFill>
                </a:rPr>
                <a:t>//end of the loop body</a:t>
              </a:r>
            </a:p>
            <a:p>
              <a:r>
                <a:rPr lang="en-US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dirty="0">
                  <a:solidFill>
                    <a:srgbClr val="0000FF"/>
                  </a:solidFill>
                </a:rPr>
                <a:t> (“After the loop, </a:t>
              </a:r>
              <a:r>
                <a:rPr lang="en-US" dirty="0" err="1">
                  <a:solidFill>
                    <a:srgbClr val="0000FF"/>
                  </a:solidFill>
                </a:rPr>
                <a:t>i</a:t>
              </a:r>
              <a:r>
                <a:rPr lang="en-US" dirty="0">
                  <a:solidFill>
                    <a:srgbClr val="0000FF"/>
                  </a:solidFill>
                </a:rPr>
                <a:t> = “ + </a:t>
              </a:r>
              <a:r>
                <a:rPr lang="en-US" dirty="0" err="1">
                  <a:solidFill>
                    <a:srgbClr val="0000FF"/>
                  </a:solidFill>
                </a:rPr>
                <a:t>i</a:t>
              </a:r>
              <a:r>
                <a:rPr lang="en-US" dirty="0">
                  <a:solidFill>
                    <a:srgbClr val="0000FF"/>
                  </a:solidFill>
                </a:rPr>
                <a:t>);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3528" y="1536605"/>
              <a:ext cx="576064" cy="2170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dirty="0">
                  <a:solidFill>
                    <a:srgbClr val="FF0000"/>
                  </a:solidFill>
                </a:rPr>
                <a:t>8</a:t>
              </a:r>
            </a:p>
          </p:txBody>
        </p:sp>
      </p:grpSp>
      <p:sp>
        <p:nvSpPr>
          <p:cNvPr id="16" name="Rounded Rectangle 15"/>
          <p:cNvSpPr/>
          <p:nvPr/>
        </p:nvSpPr>
        <p:spPr>
          <a:xfrm>
            <a:off x="251520" y="1700808"/>
            <a:ext cx="1296144" cy="50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Example 6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1955934" y="4149080"/>
            <a:ext cx="7008554" cy="1600438"/>
            <a:chOff x="683568" y="1236822"/>
            <a:chExt cx="7488832" cy="1600436"/>
          </a:xfrm>
        </p:grpSpPr>
        <p:sp>
          <p:nvSpPr>
            <p:cNvPr id="20" name="TextBox 19"/>
            <p:cNvSpPr txBox="1"/>
            <p:nvPr/>
          </p:nvSpPr>
          <p:spPr>
            <a:xfrm>
              <a:off x="971600" y="1236822"/>
              <a:ext cx="7200800" cy="1600436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Iteration = 1	</a:t>
              </a:r>
              <a:r>
                <a:rPr lang="en-US" sz="1400" dirty="0" err="1">
                  <a:solidFill>
                    <a:schemeClr val="bg1"/>
                  </a:solidFill>
                </a:rPr>
                <a:t>i</a:t>
              </a:r>
              <a:r>
                <a:rPr lang="en-US" sz="1400" dirty="0">
                  <a:solidFill>
                    <a:schemeClr val="bg1"/>
                  </a:solidFill>
                </a:rPr>
                <a:t> = 0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Iteration = 2	</a:t>
              </a:r>
              <a:r>
                <a:rPr lang="en-US" sz="1400" dirty="0" err="1">
                  <a:solidFill>
                    <a:schemeClr val="bg1"/>
                  </a:solidFill>
                </a:rPr>
                <a:t>i</a:t>
              </a:r>
              <a:r>
                <a:rPr lang="en-US" sz="1400" dirty="0">
                  <a:solidFill>
                    <a:schemeClr val="bg1"/>
                  </a:solidFill>
                </a:rPr>
                <a:t> = 2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Iteration = 3	</a:t>
              </a:r>
              <a:r>
                <a:rPr lang="en-US" sz="1400" dirty="0" err="1">
                  <a:solidFill>
                    <a:schemeClr val="bg1"/>
                  </a:solidFill>
                </a:rPr>
                <a:t>i</a:t>
              </a:r>
              <a:r>
                <a:rPr lang="en-US" sz="1400" dirty="0">
                  <a:solidFill>
                    <a:schemeClr val="bg1"/>
                  </a:solidFill>
                </a:rPr>
                <a:t> = 4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Iteration = 4	</a:t>
              </a:r>
              <a:r>
                <a:rPr lang="en-US" sz="1400" dirty="0" err="1">
                  <a:solidFill>
                    <a:schemeClr val="bg1"/>
                  </a:solidFill>
                </a:rPr>
                <a:t>i</a:t>
              </a:r>
              <a:r>
                <a:rPr lang="en-US" sz="1400" dirty="0">
                  <a:solidFill>
                    <a:schemeClr val="bg1"/>
                  </a:solidFill>
                </a:rPr>
                <a:t> = 6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Iteration = 5	</a:t>
              </a:r>
              <a:r>
                <a:rPr lang="en-US" sz="1400" dirty="0" err="1">
                  <a:solidFill>
                    <a:schemeClr val="bg1"/>
                  </a:solidFill>
                </a:rPr>
                <a:t>i</a:t>
              </a:r>
              <a:r>
                <a:rPr lang="en-US" sz="1400" dirty="0">
                  <a:solidFill>
                    <a:schemeClr val="bg1"/>
                  </a:solidFill>
                </a:rPr>
                <a:t> = 8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Iteration = 6	</a:t>
              </a:r>
              <a:r>
                <a:rPr lang="en-US" sz="1400" dirty="0" err="1">
                  <a:solidFill>
                    <a:schemeClr val="bg1"/>
                  </a:solidFill>
                </a:rPr>
                <a:t>i</a:t>
              </a:r>
              <a:r>
                <a:rPr lang="en-US" sz="1400" dirty="0">
                  <a:solidFill>
                    <a:schemeClr val="bg1"/>
                  </a:solidFill>
                </a:rPr>
                <a:t> = 10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After the loop, </a:t>
              </a:r>
              <a:r>
                <a:rPr lang="en-US" sz="1400" dirty="0" err="1">
                  <a:solidFill>
                    <a:schemeClr val="bg1"/>
                  </a:solidFill>
                </a:rPr>
                <a:t>i</a:t>
              </a:r>
              <a:r>
                <a:rPr lang="en-US" sz="1400" dirty="0">
                  <a:solidFill>
                    <a:schemeClr val="bg1"/>
                  </a:solidFill>
                </a:rPr>
                <a:t> = 12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83568" y="1236822"/>
              <a:ext cx="216024" cy="1600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</p:txBody>
        </p:sp>
      </p:grpSp>
      <p:sp>
        <p:nvSpPr>
          <p:cNvPr id="22" name="Rounded Rectangle 21"/>
          <p:cNvSpPr/>
          <p:nvPr/>
        </p:nvSpPr>
        <p:spPr>
          <a:xfrm>
            <a:off x="251520" y="4149080"/>
            <a:ext cx="1296144" cy="331478"/>
          </a:xfrm>
          <a:prstGeom prst="roundRect">
            <a:avLst/>
          </a:prstGeom>
          <a:solidFill>
            <a:srgbClr val="00B0F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3528" y="126876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update expression may be any arithmetic expression: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2060848"/>
            <a:ext cx="792088" cy="288032"/>
          </a:xfrm>
          <a:prstGeom prst="rect">
            <a:avLst/>
          </a:prstGeom>
          <a:solidFill>
            <a:srgbClr val="FFC000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66897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6" grpId="0" animBg="1"/>
      <p:bldP spid="22" grpId="0" animBg="1"/>
      <p:bldP spid="23" grpId="0"/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1 – ANALYSIS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for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51520" y="1268760"/>
            <a:ext cx="8712968" cy="720080"/>
          </a:xfrm>
          <a:prstGeom prst="roundRect">
            <a:avLst>
              <a:gd name="adj" fmla="val 4976"/>
            </a:avLst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Write a program that reads a set of 1000 integers and prints the square of each integer.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6951" y="2132856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19672" y="2132856"/>
            <a:ext cx="7344816" cy="86409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A set of </a:t>
            </a:r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numbers </a:t>
            </a:r>
            <a:r>
              <a:rPr lang="en-US" dirty="0">
                <a:solidFill>
                  <a:srgbClr val="CC0099"/>
                </a:solidFill>
              </a:rPr>
              <a:t>(variable: </a:t>
            </a:r>
            <a:r>
              <a:rPr lang="en-US" dirty="0">
                <a:solidFill>
                  <a:srgbClr val="0000FF"/>
                </a:solidFill>
              </a:rPr>
              <a:t>number</a:t>
            </a:r>
            <a:r>
              <a:rPr lang="en-US" dirty="0">
                <a:solidFill>
                  <a:srgbClr val="CC0099"/>
                </a:solidFill>
              </a:rPr>
              <a:t>, type: </a:t>
            </a:r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rgbClr val="CC0099"/>
                </a:solidFill>
              </a:rPr>
              <a:t>)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N = 1000 </a:t>
            </a:r>
            <a:r>
              <a:rPr lang="en-US" dirty="0">
                <a:solidFill>
                  <a:srgbClr val="CC0099"/>
                </a:solidFill>
              </a:rPr>
              <a:t>(type: </a:t>
            </a:r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rgbClr val="CC0099"/>
                </a:solidFill>
              </a:rPr>
              <a:t>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1520" y="3140968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34241" y="3140968"/>
            <a:ext cx="7344816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The square of each read number </a:t>
            </a:r>
            <a:r>
              <a:rPr lang="en-US" dirty="0">
                <a:solidFill>
                  <a:srgbClr val="CC0099"/>
                </a:solidFill>
              </a:rPr>
              <a:t>(variable: </a:t>
            </a:r>
            <a:r>
              <a:rPr lang="en-US" dirty="0">
                <a:solidFill>
                  <a:srgbClr val="0000FF"/>
                </a:solidFill>
              </a:rPr>
              <a:t>square</a:t>
            </a:r>
            <a:r>
              <a:rPr lang="en-US" dirty="0">
                <a:solidFill>
                  <a:srgbClr val="CC0099"/>
                </a:solidFill>
              </a:rPr>
              <a:t>, type: </a:t>
            </a:r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rgbClr val="CC0099"/>
                </a:solidFill>
              </a:rPr>
              <a:t>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1520" y="3789040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34241" y="3789040"/>
            <a:ext cx="7344816" cy="1296144"/>
          </a:xfrm>
          <a:prstGeom prst="roundRect">
            <a:avLst>
              <a:gd name="adj" fmla="val 9650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Repeat </a:t>
            </a:r>
            <a:r>
              <a:rPr lang="en-US" dirty="0">
                <a:solidFill>
                  <a:srgbClr val="0000FF"/>
                </a:solidFill>
              </a:rPr>
              <a:t>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times: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read </a:t>
            </a:r>
            <a:r>
              <a:rPr lang="en-US" dirty="0">
                <a:solidFill>
                  <a:srgbClr val="0000FF"/>
                </a:solidFill>
              </a:rPr>
              <a:t>number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square = </a:t>
            </a:r>
            <a:r>
              <a:rPr lang="en-US" dirty="0">
                <a:solidFill>
                  <a:srgbClr val="0000FF"/>
                </a:solidFill>
              </a:rPr>
              <a:t>number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* </a:t>
            </a:r>
            <a:r>
              <a:rPr lang="en-US" dirty="0">
                <a:solidFill>
                  <a:srgbClr val="0000FF"/>
                </a:solidFill>
              </a:rPr>
              <a:t>number</a:t>
            </a:r>
          </a:p>
          <a:p>
            <a:r>
              <a:rPr lang="en-US" dirty="0">
                <a:solidFill>
                  <a:srgbClr val="0000FF"/>
                </a:solidFill>
              </a:rPr>
              <a:t>	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print </a:t>
            </a:r>
            <a:r>
              <a:rPr lang="en-US" dirty="0">
                <a:solidFill>
                  <a:srgbClr val="0000FF"/>
                </a:solidFill>
              </a:rPr>
              <a:t>square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39683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/>
          <p:cNvCxnSpPr>
            <a:endCxn id="19" idx="1"/>
          </p:cNvCxnSpPr>
          <p:nvPr/>
        </p:nvCxnSpPr>
        <p:spPr>
          <a:xfrm flipH="1">
            <a:off x="4568966" y="3789040"/>
            <a:ext cx="6070" cy="34536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Double Brace 66"/>
          <p:cNvSpPr/>
          <p:nvPr/>
        </p:nvSpPr>
        <p:spPr>
          <a:xfrm>
            <a:off x="107504" y="4034230"/>
            <a:ext cx="3493244" cy="1720350"/>
          </a:xfrm>
          <a:prstGeom prst="bracePair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These statements are to be executed 1000 times </a:t>
            </a:r>
            <a:r>
              <a:rPr lang="en-US" dirty="0">
                <a:solidFill>
                  <a:srgbClr val="0000FF"/>
                </a:solidFill>
                <a:sym typeface="Wingdings" panose="05000000000000000000" pitchFamily="2" charset="2"/>
              </a:rPr>
              <a:t> inside the loop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1 - FLOWCHART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for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utoShape 67"/>
          <p:cNvSpPr>
            <a:spLocks noChangeArrowheads="1"/>
          </p:cNvSpPr>
          <p:nvPr/>
        </p:nvSpPr>
        <p:spPr bwMode="auto">
          <a:xfrm>
            <a:off x="3851275" y="1317206"/>
            <a:ext cx="1441450" cy="277842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Start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4572000" y="1595048"/>
            <a:ext cx="0" cy="29822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utoShape 68"/>
          <p:cNvSpPr>
            <a:spLocks noChangeArrowheads="1"/>
          </p:cNvSpPr>
          <p:nvPr/>
        </p:nvSpPr>
        <p:spPr bwMode="auto">
          <a:xfrm>
            <a:off x="3633928" y="4134400"/>
            <a:ext cx="1870075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Read number</a:t>
            </a:r>
          </a:p>
        </p:txBody>
      </p:sp>
      <p:sp>
        <p:nvSpPr>
          <p:cNvPr id="20" name="AutoShape 68"/>
          <p:cNvSpPr>
            <a:spLocks noChangeArrowheads="1"/>
          </p:cNvSpPr>
          <p:nvPr/>
        </p:nvSpPr>
        <p:spPr bwMode="auto">
          <a:xfrm>
            <a:off x="3851275" y="1884641"/>
            <a:ext cx="1441450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N = 1000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4571144" y="2252045"/>
            <a:ext cx="1712" cy="21855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utoShape 68"/>
          <p:cNvSpPr>
            <a:spLocks noChangeArrowheads="1"/>
          </p:cNvSpPr>
          <p:nvPr/>
        </p:nvSpPr>
        <p:spPr bwMode="auto">
          <a:xfrm>
            <a:off x="3851275" y="2470599"/>
            <a:ext cx="1441450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counter = 0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10" name="Straight Arrow Connector 9"/>
          <p:cNvCxnSpPr>
            <a:endCxn id="65" idx="0"/>
          </p:cNvCxnSpPr>
          <p:nvPr/>
        </p:nvCxnSpPr>
        <p:spPr>
          <a:xfrm flipH="1">
            <a:off x="4572000" y="2829374"/>
            <a:ext cx="855" cy="2755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AutoShape 68"/>
          <p:cNvSpPr>
            <a:spLocks noChangeArrowheads="1"/>
          </p:cNvSpPr>
          <p:nvPr/>
        </p:nvSpPr>
        <p:spPr bwMode="auto">
          <a:xfrm>
            <a:off x="3200814" y="4709199"/>
            <a:ext cx="2736303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square = </a:t>
            </a:r>
            <a:r>
              <a:rPr lang="en-US" sz="1600" dirty="0">
                <a:solidFill>
                  <a:srgbClr val="0000FF"/>
                </a:solidFill>
                <a:latin typeface="Arial" charset="0"/>
                <a:cs typeface="Arial" charset="0"/>
              </a:rPr>
              <a:t>number</a:t>
            </a:r>
            <a:r>
              <a:rPr lang="en-US" sz="1600" dirty="0">
                <a:latin typeface="Arial" charset="0"/>
                <a:cs typeface="Arial" charset="0"/>
              </a:rPr>
              <a:t> * </a:t>
            </a:r>
            <a:r>
              <a:rPr lang="en-US" sz="1600" dirty="0">
                <a:solidFill>
                  <a:srgbClr val="0000FF"/>
                </a:solidFill>
                <a:latin typeface="Arial" charset="0"/>
                <a:cs typeface="Arial" charset="0"/>
              </a:rPr>
              <a:t>number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4568965" y="4493175"/>
            <a:ext cx="1" cy="21602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568965" y="5067974"/>
            <a:ext cx="0" cy="21855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644008" y="3789040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True</a:t>
            </a:r>
          </a:p>
        </p:txBody>
      </p:sp>
      <p:sp>
        <p:nvSpPr>
          <p:cNvPr id="45" name="AutoShape 67"/>
          <p:cNvSpPr>
            <a:spLocks noChangeArrowheads="1"/>
          </p:cNvSpPr>
          <p:nvPr/>
        </p:nvSpPr>
        <p:spPr bwMode="auto">
          <a:xfrm>
            <a:off x="1043608" y="3312391"/>
            <a:ext cx="1441450" cy="305226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End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18867" y="3212976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False</a:t>
            </a:r>
          </a:p>
        </p:txBody>
      </p:sp>
      <p:cxnSp>
        <p:nvCxnSpPr>
          <p:cNvPr id="49" name="Straight Arrow Connector 48"/>
          <p:cNvCxnSpPr/>
          <p:nvPr/>
        </p:nvCxnSpPr>
        <p:spPr>
          <a:xfrm>
            <a:off x="4568965" y="5645303"/>
            <a:ext cx="1" cy="21855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AutoShape 68"/>
          <p:cNvSpPr>
            <a:spLocks noChangeArrowheads="1"/>
          </p:cNvSpPr>
          <p:nvPr/>
        </p:nvSpPr>
        <p:spPr bwMode="auto">
          <a:xfrm>
            <a:off x="3633928" y="5286528"/>
            <a:ext cx="1870075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Print </a:t>
            </a:r>
            <a:r>
              <a:rPr lang="en-US" sz="1600" dirty="0">
                <a:solidFill>
                  <a:srgbClr val="0000FF"/>
                </a:solidFill>
                <a:effectLst/>
                <a:latin typeface="Arial" charset="0"/>
                <a:cs typeface="Arial" charset="0"/>
              </a:rPr>
              <a:t>square</a:t>
            </a:r>
          </a:p>
        </p:txBody>
      </p:sp>
      <p:sp>
        <p:nvSpPr>
          <p:cNvPr id="63" name="AutoShape 68"/>
          <p:cNvSpPr>
            <a:spLocks noChangeArrowheads="1"/>
          </p:cNvSpPr>
          <p:nvPr/>
        </p:nvSpPr>
        <p:spPr bwMode="auto">
          <a:xfrm>
            <a:off x="3633928" y="5854458"/>
            <a:ext cx="1870075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counter=</a:t>
            </a:r>
            <a:r>
              <a:rPr lang="en-US" sz="1600" dirty="0">
                <a:solidFill>
                  <a:srgbClr val="0000FF"/>
                </a:solidFill>
                <a:latin typeface="Arial" charset="0"/>
                <a:cs typeface="Arial" charset="0"/>
              </a:rPr>
              <a:t>counter</a:t>
            </a:r>
            <a:r>
              <a:rPr lang="en-US" sz="1600" dirty="0">
                <a:latin typeface="Arial" charset="0"/>
                <a:cs typeface="Arial" charset="0"/>
              </a:rPr>
              <a:t>+1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64" name="Straight Arrow Connector 63"/>
          <p:cNvCxnSpPr/>
          <p:nvPr/>
        </p:nvCxnSpPr>
        <p:spPr>
          <a:xfrm>
            <a:off x="4564064" y="6213233"/>
            <a:ext cx="0" cy="24010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AutoShape 73"/>
          <p:cNvSpPr>
            <a:spLocks noChangeArrowheads="1"/>
          </p:cNvSpPr>
          <p:nvPr/>
        </p:nvSpPr>
        <p:spPr bwMode="auto">
          <a:xfrm>
            <a:off x="3672756" y="3104964"/>
            <a:ext cx="1798488" cy="720080"/>
          </a:xfrm>
          <a:prstGeom prst="flowChartDecision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rgbClr val="0000FF"/>
                </a:solidFill>
                <a:latin typeface="Arial" charset="0"/>
                <a:cs typeface="Arial" charset="0"/>
              </a:rPr>
              <a:t>counter </a:t>
            </a:r>
            <a:r>
              <a:rPr lang="en-US" sz="1600" dirty="0">
                <a:latin typeface="Arial" charset="0"/>
                <a:cs typeface="Arial" charset="0"/>
              </a:rPr>
              <a:t>&lt; </a:t>
            </a:r>
            <a:r>
              <a:rPr lang="en-US" sz="1600" dirty="0">
                <a:solidFill>
                  <a:srgbClr val="0000FF"/>
                </a:solidFill>
                <a:latin typeface="Arial" charset="0"/>
                <a:cs typeface="Arial" charset="0"/>
              </a:rPr>
              <a:t>N</a:t>
            </a:r>
            <a:r>
              <a:rPr lang="en-US" sz="1600" dirty="0">
                <a:latin typeface="Arial" charset="0"/>
                <a:cs typeface="Arial" charset="0"/>
              </a:rPr>
              <a:t>?</a:t>
            </a:r>
            <a:endParaRPr lang="en-US" sz="1600" dirty="0">
              <a:effectLst/>
              <a:latin typeface="Arial" charset="0"/>
              <a:cs typeface="Arial" charset="0"/>
            </a:endParaRPr>
          </a:p>
        </p:txBody>
      </p:sp>
      <p:cxnSp>
        <p:nvCxnSpPr>
          <p:cNvPr id="66" name="Straight Arrow Connector 65"/>
          <p:cNvCxnSpPr/>
          <p:nvPr/>
        </p:nvCxnSpPr>
        <p:spPr>
          <a:xfrm>
            <a:off x="4572000" y="6453336"/>
            <a:ext cx="1807859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6372200" y="2937388"/>
            <a:ext cx="0" cy="351594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4572000" y="2938019"/>
            <a:ext cx="1807859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ouble Brace 38"/>
          <p:cNvSpPr/>
          <p:nvPr/>
        </p:nvSpPr>
        <p:spPr>
          <a:xfrm>
            <a:off x="5364088" y="1700808"/>
            <a:ext cx="3493244" cy="726440"/>
          </a:xfrm>
          <a:prstGeom prst="bracePair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FF"/>
                </a:solidFill>
              </a:rPr>
              <a:t>We need to execute this statement once only </a:t>
            </a:r>
            <a:r>
              <a:rPr lang="en-US" sz="1400" dirty="0">
                <a:solidFill>
                  <a:srgbClr val="0000FF"/>
                </a:solidFill>
                <a:sym typeface="Wingdings" panose="05000000000000000000" pitchFamily="2" charset="2"/>
              </a:rPr>
              <a:t> out of the loop body</a:t>
            </a:r>
            <a:endParaRPr lang="en-US" sz="1400" dirty="0">
              <a:solidFill>
                <a:srgbClr val="0000FF"/>
              </a:solidFill>
            </a:endParaRPr>
          </a:p>
        </p:txBody>
      </p:sp>
      <p:sp>
        <p:nvSpPr>
          <p:cNvPr id="3" name="Double Brace 2"/>
          <p:cNvSpPr/>
          <p:nvPr/>
        </p:nvSpPr>
        <p:spPr>
          <a:xfrm>
            <a:off x="6012160" y="3656778"/>
            <a:ext cx="2952328" cy="1284390"/>
          </a:xfrm>
          <a:prstGeom prst="bracePair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dirty="0"/>
              <a:t>The new value of </a:t>
            </a:r>
            <a:r>
              <a:rPr lang="en-US" sz="1200" dirty="0">
                <a:solidFill>
                  <a:srgbClr val="0000FF"/>
                </a:solidFill>
              </a:rPr>
              <a:t>number </a:t>
            </a:r>
            <a:r>
              <a:rPr lang="en-US" sz="1200" dirty="0"/>
              <a:t>read in iteration 2 (for example) overwrites the value read in iteration 1. </a:t>
            </a:r>
            <a:r>
              <a:rPr lang="en-US" sz="1200" dirty="0">
                <a:solidFill>
                  <a:srgbClr val="FF0000"/>
                </a:solidFill>
              </a:rPr>
              <a:t>WE USE ONLY </a:t>
            </a:r>
            <a:r>
              <a:rPr lang="en-US" sz="1200" b="1" u="sng" dirty="0">
                <a:solidFill>
                  <a:srgbClr val="FF0000"/>
                </a:solidFill>
              </a:rPr>
              <a:t>ONE</a:t>
            </a:r>
            <a:r>
              <a:rPr lang="en-US" sz="1200" dirty="0">
                <a:solidFill>
                  <a:srgbClr val="FF0000"/>
                </a:solidFill>
              </a:rPr>
              <a:t> VARIABLE TO READ THE 1000 NUMBERS.</a:t>
            </a:r>
          </a:p>
        </p:txBody>
      </p:sp>
      <p:cxnSp>
        <p:nvCxnSpPr>
          <p:cNvPr id="29" name="Straight Arrow Connector 28"/>
          <p:cNvCxnSpPr>
            <a:stCxn id="65" idx="1"/>
            <a:endCxn id="45" idx="3"/>
          </p:cNvCxnSpPr>
          <p:nvPr/>
        </p:nvCxnSpPr>
        <p:spPr>
          <a:xfrm flipH="1">
            <a:off x="2485058" y="3465004"/>
            <a:ext cx="1187698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Double Brace 42"/>
          <p:cNvSpPr/>
          <p:nvPr/>
        </p:nvSpPr>
        <p:spPr>
          <a:xfrm>
            <a:off x="71949" y="2253565"/>
            <a:ext cx="3493244" cy="726440"/>
          </a:xfrm>
          <a:prstGeom prst="bracePair">
            <a:avLst/>
          </a:prstGeom>
          <a:solidFill>
            <a:srgbClr val="00CC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Parts of the syntax of the “for” statement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840482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00"/>
                            </p:stCondLst>
                            <p:childTnLst>
                              <p:par>
                                <p:cTn id="8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3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4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17" grpId="0" animBg="1"/>
      <p:bldP spid="15" grpId="0" animBg="1"/>
      <p:bldP spid="19" grpId="0" animBg="1"/>
      <p:bldP spid="20" grpId="0" animBg="1"/>
      <p:bldP spid="22" grpId="0" animBg="1"/>
      <p:bldP spid="22" grpId="1" animBg="1"/>
      <p:bldP spid="26" grpId="0" animBg="1"/>
      <p:bldP spid="41" grpId="0"/>
      <p:bldP spid="45" grpId="0" animBg="1"/>
      <p:bldP spid="47" grpId="0"/>
      <p:bldP spid="62" grpId="0" animBg="1"/>
      <p:bldP spid="63" grpId="0" animBg="1"/>
      <p:bldP spid="63" grpId="1" animBg="1"/>
      <p:bldP spid="65" grpId="0" animBg="1"/>
      <p:bldP spid="65" grpId="1" animBg="1"/>
      <p:bldP spid="39" grpId="0" animBg="1"/>
      <p:bldP spid="3" grpId="0" animBg="1"/>
      <p:bldP spid="4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1 – CODE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for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179512" y="1412776"/>
            <a:ext cx="8784976" cy="5047536"/>
            <a:chOff x="323528" y="1236822"/>
            <a:chExt cx="7848872" cy="4746318"/>
          </a:xfrm>
        </p:grpSpPr>
        <p:sp>
          <p:nvSpPr>
            <p:cNvPr id="20" name="TextBox 19"/>
            <p:cNvSpPr txBox="1"/>
            <p:nvPr/>
          </p:nvSpPr>
          <p:spPr>
            <a:xfrm>
              <a:off x="971600" y="1236822"/>
              <a:ext cx="7200800" cy="4746318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0B0F0"/>
                  </a:solidFill>
                </a:rPr>
                <a:t>import</a:t>
              </a:r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err="1">
                  <a:solidFill>
                    <a:srgbClr val="0000FF"/>
                  </a:solidFill>
                </a:rPr>
                <a:t>java.util.Scanner</a:t>
              </a:r>
              <a:r>
                <a:rPr lang="en-US" sz="1400" dirty="0">
                  <a:solidFill>
                    <a:srgbClr val="0000FF"/>
                  </a:solidFill>
                </a:rPr>
                <a:t>;		</a:t>
              </a:r>
            </a:p>
            <a:p>
              <a:endParaRPr lang="en-US" sz="1400" dirty="0">
                <a:solidFill>
                  <a:srgbClr val="0000FF"/>
                </a:solidFill>
              </a:endParaRPr>
            </a:p>
            <a:p>
              <a:r>
                <a:rPr lang="en-US" sz="1400" dirty="0">
                  <a:solidFill>
                    <a:srgbClr val="00B0F0"/>
                  </a:solidFill>
                </a:rPr>
                <a:t>public class</a:t>
              </a:r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err="1">
                  <a:solidFill>
                    <a:srgbClr val="0000FF"/>
                  </a:solidFill>
                </a:rPr>
                <a:t>forLoop</a:t>
              </a:r>
              <a:endParaRPr lang="en-US" sz="1400" dirty="0">
                <a:solidFill>
                  <a:srgbClr val="0000FF"/>
                </a:solidFill>
              </a:endParaRPr>
            </a:p>
            <a:p>
              <a:r>
                <a:rPr lang="en-US" sz="14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     public static void</a:t>
              </a:r>
              <a:r>
                <a:rPr lang="en-US" sz="1400" dirty="0">
                  <a:solidFill>
                    <a:srgbClr val="0000FF"/>
                  </a:solidFill>
                </a:rPr>
                <a:t> main (String[] </a:t>
              </a:r>
              <a:r>
                <a:rPr lang="en-US" sz="1400" dirty="0" err="1">
                  <a:solidFill>
                    <a:srgbClr val="0000FF"/>
                  </a:solidFill>
                </a:rPr>
                <a:t>args</a:t>
              </a:r>
              <a:r>
                <a:rPr lang="en-US" sz="1400" dirty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</a:t>
              </a:r>
              <a:r>
                <a:rPr lang="en-US" sz="1400" dirty="0">
                  <a:solidFill>
                    <a:srgbClr val="00B0F0"/>
                  </a:solidFill>
                </a:rPr>
                <a:t>final </a:t>
              </a:r>
              <a:r>
                <a:rPr lang="en-US" sz="1400" dirty="0" err="1">
                  <a:solidFill>
                    <a:srgbClr val="00B0F0"/>
                  </a:solidFill>
                </a:rPr>
                <a:t>int</a:t>
              </a:r>
              <a:r>
                <a:rPr lang="en-US" sz="1400" dirty="0">
                  <a:solidFill>
                    <a:srgbClr val="00B0F0"/>
                  </a:solidFill>
                </a:rPr>
                <a:t> </a:t>
              </a:r>
              <a:r>
                <a:rPr lang="en-US" sz="1400" dirty="0">
                  <a:solidFill>
                    <a:srgbClr val="0000FF"/>
                  </a:solidFill>
                </a:rPr>
                <a:t>N = 1000;	</a:t>
              </a:r>
              <a:r>
                <a:rPr lang="en-US" sz="1400" dirty="0">
                  <a:solidFill>
                    <a:srgbClr val="00B050"/>
                  </a:solidFill>
                </a:rPr>
                <a:t>//constant declaration</a:t>
              </a:r>
            </a:p>
            <a:p>
              <a:r>
                <a:rPr lang="en-US" sz="1400" dirty="0">
                  <a:solidFill>
                    <a:srgbClr val="00B050"/>
                  </a:solidFill>
                </a:rPr>
                <a:t>             // instantiate the object read from the class Scanner</a:t>
              </a:r>
            </a:p>
            <a:p>
              <a:r>
                <a:rPr lang="en-US" sz="1400" dirty="0">
                  <a:solidFill>
                    <a:srgbClr val="00B0F0"/>
                  </a:solidFill>
                </a:rPr>
                <a:t>             </a:t>
              </a:r>
              <a:r>
                <a:rPr lang="en-US" sz="1400" dirty="0">
                  <a:solidFill>
                    <a:srgbClr val="0000FF"/>
                  </a:solidFill>
                </a:rPr>
                <a:t>Scanner read  = </a:t>
              </a:r>
              <a:r>
                <a:rPr lang="en-US" sz="1400" dirty="0">
                  <a:solidFill>
                    <a:srgbClr val="00B0F0"/>
                  </a:solidFill>
                </a:rPr>
                <a:t>new</a:t>
              </a:r>
              <a:r>
                <a:rPr lang="en-US" sz="1400" dirty="0">
                  <a:solidFill>
                    <a:srgbClr val="0000FF"/>
                  </a:solidFill>
                </a:rPr>
                <a:t> Scanner (</a:t>
              </a:r>
              <a:r>
                <a:rPr lang="en-US" sz="1400" dirty="0" err="1">
                  <a:solidFill>
                    <a:srgbClr val="0000FF"/>
                  </a:solidFill>
                </a:rPr>
                <a:t>System.in</a:t>
              </a:r>
              <a:r>
                <a:rPr lang="en-US" sz="1400" dirty="0">
                  <a:solidFill>
                    <a:srgbClr val="0000FF"/>
                  </a:solidFill>
                </a:rPr>
                <a:t>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</a:t>
              </a:r>
              <a:r>
                <a:rPr lang="en-US" sz="1400" dirty="0"/>
                <a:t>// Declaration section: to declare needed variables</a:t>
              </a:r>
            </a:p>
            <a:p>
              <a:r>
                <a:rPr lang="en-US" sz="1400" dirty="0"/>
                <a:t>             </a:t>
              </a:r>
              <a:r>
                <a:rPr lang="en-US" sz="1400" dirty="0" err="1">
                  <a:solidFill>
                    <a:srgbClr val="00B0F0"/>
                  </a:solidFill>
                </a:rPr>
                <a:t>int</a:t>
              </a:r>
              <a:r>
                <a:rPr lang="en-US" sz="1400" dirty="0">
                  <a:solidFill>
                    <a:srgbClr val="00B0F0"/>
                  </a:solidFill>
                </a:rPr>
                <a:t> </a:t>
              </a:r>
              <a:r>
                <a:rPr lang="en-US" sz="1400" dirty="0">
                  <a:solidFill>
                    <a:srgbClr val="0000FF"/>
                  </a:solidFill>
                </a:rPr>
                <a:t>number, square, counter;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</a:t>
              </a:r>
              <a:r>
                <a:rPr lang="en-US" sz="1400" dirty="0">
                  <a:solidFill>
                    <a:srgbClr val="00B0F0"/>
                  </a:solidFill>
                </a:rPr>
                <a:t>for </a:t>
              </a:r>
              <a:r>
                <a:rPr lang="en-US" sz="1400" dirty="0">
                  <a:solidFill>
                    <a:srgbClr val="0000FF"/>
                  </a:solidFill>
                </a:rPr>
                <a:t>(counter = 0; counter &lt; N; counter++)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b="1" dirty="0">
                  <a:solidFill>
                    <a:srgbClr val="FF0000"/>
                  </a:solidFill>
                </a:rPr>
                <a:t>{</a:t>
              </a:r>
            </a:p>
            <a:p>
              <a:r>
                <a:rPr lang="en-US" sz="1400" dirty="0"/>
                <a:t>	 // Input section: to enter values of used variables</a:t>
              </a:r>
              <a:endParaRPr lang="en-US" sz="1400" dirty="0">
                <a:solidFill>
                  <a:srgbClr val="0000FF"/>
                </a:solidFill>
              </a:endParaRPr>
            </a:p>
            <a:p>
              <a:r>
                <a:rPr lang="en-US" sz="1400" dirty="0"/>
                <a:t>               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(“Enter an integer number”);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         number = </a:t>
              </a:r>
              <a:r>
                <a:rPr lang="en-US" sz="1400" dirty="0" err="1">
                  <a:solidFill>
                    <a:srgbClr val="0000FF"/>
                  </a:solidFill>
                </a:rPr>
                <a:t>read.</a:t>
              </a:r>
              <a:r>
                <a:rPr lang="en-US" sz="1400" dirty="0" err="1">
                  <a:solidFill>
                    <a:srgbClr val="00B050"/>
                  </a:solidFill>
                </a:rPr>
                <a:t>nextInt</a:t>
              </a:r>
              <a:r>
                <a:rPr lang="en-US" sz="1400" dirty="0">
                  <a:solidFill>
                    <a:srgbClr val="00B050"/>
                  </a:solidFill>
                </a:rPr>
                <a:t>()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/>
                <a:t>                  // Processing section: processing statements</a:t>
              </a:r>
            </a:p>
            <a:p>
              <a:r>
                <a:rPr lang="en-US" sz="1400" dirty="0"/>
                <a:t> 	     </a:t>
              </a:r>
              <a:r>
                <a:rPr lang="en-US" sz="1400" dirty="0">
                  <a:solidFill>
                    <a:srgbClr val="0000FF"/>
                  </a:solidFill>
                </a:rPr>
                <a:t>square = number * number;</a:t>
              </a:r>
            </a:p>
            <a:p>
              <a:r>
                <a:rPr lang="en-US" sz="1400" dirty="0"/>
                <a:t>                 // Output section: display program output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(“Square = “ + square);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b="1" dirty="0">
                  <a:solidFill>
                    <a:srgbClr val="FF0000"/>
                  </a:solidFill>
                </a:rPr>
                <a:t>}</a:t>
              </a:r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>
                  <a:solidFill>
                    <a:srgbClr val="00B050"/>
                  </a:solidFill>
                </a:rPr>
                <a:t>//end for loop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} </a:t>
              </a:r>
              <a:r>
                <a:rPr lang="en-US" sz="1400" dirty="0">
                  <a:solidFill>
                    <a:srgbClr val="00B050"/>
                  </a:solidFill>
                </a:rPr>
                <a:t>// end main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} </a:t>
              </a:r>
              <a:r>
                <a:rPr lang="en-US" sz="1400" dirty="0">
                  <a:solidFill>
                    <a:srgbClr val="00B050"/>
                  </a:solidFill>
                </a:rPr>
                <a:t>// end class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3528" y="1236822"/>
              <a:ext cx="576064" cy="4746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23</a:t>
              </a:r>
            </a:p>
          </p:txBody>
        </p:sp>
      </p:grpSp>
      <p:cxnSp>
        <p:nvCxnSpPr>
          <p:cNvPr id="5" name="Straight Arrow Connector 4"/>
          <p:cNvCxnSpPr/>
          <p:nvPr/>
        </p:nvCxnSpPr>
        <p:spPr>
          <a:xfrm>
            <a:off x="1403648" y="4149080"/>
            <a:ext cx="432048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403648" y="4149080"/>
            <a:ext cx="0" cy="165618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1403648" y="5805264"/>
            <a:ext cx="432048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99592" y="3789040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Callout 11"/>
          <p:cNvSpPr/>
          <p:nvPr/>
        </p:nvSpPr>
        <p:spPr>
          <a:xfrm>
            <a:off x="6156176" y="2993464"/>
            <a:ext cx="2448272" cy="651560"/>
          </a:xfrm>
          <a:prstGeom prst="wedgeEllipseCallout">
            <a:avLst>
              <a:gd name="adj1" fmla="val -79630"/>
              <a:gd name="adj2" fmla="val 84732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counter is </a:t>
            </a:r>
            <a:r>
              <a:rPr lang="en-US" dirty="0" err="1">
                <a:solidFill>
                  <a:srgbClr val="00B0F0"/>
                </a:solidFill>
              </a:rPr>
              <a:t>int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22" name="Oval Callout 21"/>
          <p:cNvSpPr/>
          <p:nvPr/>
        </p:nvSpPr>
        <p:spPr>
          <a:xfrm>
            <a:off x="6308576" y="4293096"/>
            <a:ext cx="2448272" cy="1296144"/>
          </a:xfrm>
          <a:prstGeom prst="wedgeEllipseCallout">
            <a:avLst>
              <a:gd name="adj1" fmla="val -87395"/>
              <a:gd name="adj2" fmla="val -75906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FF"/>
                </a:solidFill>
              </a:rPr>
              <a:t>Increasing step </a:t>
            </a:r>
            <a:r>
              <a:rPr lang="en-US" sz="1600" dirty="0">
                <a:solidFill>
                  <a:srgbClr val="0000FF"/>
                </a:solidFill>
                <a:sym typeface="Wingdings" panose="05000000000000000000" pitchFamily="2" charset="2"/>
              </a:rPr>
              <a:t> f</a:t>
            </a:r>
            <a:r>
              <a:rPr lang="en-US" sz="1600" dirty="0">
                <a:solidFill>
                  <a:srgbClr val="0000FF"/>
                </a:solidFill>
              </a:rPr>
              <a:t>inal value (N=1000) &gt; initial value (0)</a:t>
            </a:r>
            <a:endParaRPr lang="en-US" sz="1600" dirty="0">
              <a:solidFill>
                <a:srgbClr val="00B0F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12548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6" grpId="0" animBg="1"/>
      <p:bldP spid="12" grpId="0" animBg="1"/>
      <p:bldP spid="2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2 – ANALYSIS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for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51520" y="1268760"/>
            <a:ext cx="8712968" cy="720080"/>
          </a:xfrm>
          <a:prstGeom prst="roundRect">
            <a:avLst>
              <a:gd name="adj" fmla="val 4976"/>
            </a:avLst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Write a program that reads a set of integers and prints the square of each integer.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6951" y="2132856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19672" y="2132856"/>
            <a:ext cx="7344816" cy="86409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A set of </a:t>
            </a:r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numbers </a:t>
            </a:r>
            <a:r>
              <a:rPr lang="en-US" dirty="0">
                <a:solidFill>
                  <a:srgbClr val="CC0099"/>
                </a:solidFill>
              </a:rPr>
              <a:t>(variable: </a:t>
            </a:r>
            <a:r>
              <a:rPr lang="en-US" dirty="0">
                <a:solidFill>
                  <a:srgbClr val="0000FF"/>
                </a:solidFill>
              </a:rPr>
              <a:t>number</a:t>
            </a:r>
            <a:r>
              <a:rPr lang="en-US" dirty="0">
                <a:solidFill>
                  <a:srgbClr val="CC0099"/>
                </a:solidFill>
              </a:rPr>
              <a:t>, type: </a:t>
            </a:r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rgbClr val="CC0099"/>
                </a:solidFill>
              </a:rPr>
              <a:t>)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How many numbers do we have? </a:t>
            </a:r>
            <a:r>
              <a:rPr lang="en-US" dirty="0">
                <a:solidFill>
                  <a:srgbClr val="CC0099"/>
                </a:solidFill>
              </a:rPr>
              <a:t>(variable: </a:t>
            </a:r>
            <a:r>
              <a:rPr lang="en-US" dirty="0">
                <a:solidFill>
                  <a:srgbClr val="0000FF"/>
                </a:solidFill>
              </a:rPr>
              <a:t>N</a:t>
            </a:r>
            <a:r>
              <a:rPr lang="en-US" dirty="0">
                <a:solidFill>
                  <a:srgbClr val="CC0099"/>
                </a:solidFill>
              </a:rPr>
              <a:t>, type: </a:t>
            </a:r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rgbClr val="CC0099"/>
                </a:solidFill>
              </a:rPr>
              <a:t>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1520" y="3140968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34241" y="3140968"/>
            <a:ext cx="7344816" cy="50405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The square of each read number </a:t>
            </a:r>
            <a:r>
              <a:rPr lang="en-US" dirty="0">
                <a:solidFill>
                  <a:srgbClr val="CC0099"/>
                </a:solidFill>
              </a:rPr>
              <a:t>(variable: </a:t>
            </a:r>
            <a:r>
              <a:rPr lang="en-US" dirty="0">
                <a:solidFill>
                  <a:srgbClr val="0000FF"/>
                </a:solidFill>
              </a:rPr>
              <a:t>square</a:t>
            </a:r>
            <a:r>
              <a:rPr lang="en-US" dirty="0">
                <a:solidFill>
                  <a:srgbClr val="CC0099"/>
                </a:solidFill>
              </a:rPr>
              <a:t>, type: </a:t>
            </a:r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rgbClr val="CC0099"/>
                </a:solidFill>
              </a:rPr>
              <a:t>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1520" y="3789040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34241" y="3789040"/>
            <a:ext cx="7344816" cy="1800200"/>
          </a:xfrm>
          <a:prstGeom prst="roundRect">
            <a:avLst>
              <a:gd name="adj" fmla="val 9650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Read N.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Repeat </a:t>
            </a:r>
            <a:r>
              <a:rPr lang="en-US" dirty="0">
                <a:solidFill>
                  <a:srgbClr val="0000FF"/>
                </a:solidFill>
              </a:rPr>
              <a:t>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times: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read </a:t>
            </a:r>
            <a:r>
              <a:rPr lang="en-US" dirty="0">
                <a:solidFill>
                  <a:srgbClr val="0000FF"/>
                </a:solidFill>
              </a:rPr>
              <a:t>number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square = </a:t>
            </a:r>
            <a:r>
              <a:rPr lang="en-US" dirty="0">
                <a:solidFill>
                  <a:srgbClr val="0000FF"/>
                </a:solidFill>
              </a:rPr>
              <a:t>number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* </a:t>
            </a:r>
            <a:r>
              <a:rPr lang="en-US" dirty="0">
                <a:solidFill>
                  <a:srgbClr val="0000FF"/>
                </a:solidFill>
              </a:rPr>
              <a:t>number</a:t>
            </a:r>
          </a:p>
          <a:p>
            <a:r>
              <a:rPr lang="en-US" dirty="0">
                <a:solidFill>
                  <a:srgbClr val="0000FF"/>
                </a:solidFill>
              </a:rPr>
              <a:t>	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print </a:t>
            </a:r>
            <a:r>
              <a:rPr lang="en-US" dirty="0">
                <a:solidFill>
                  <a:srgbClr val="0000FF"/>
                </a:solidFill>
              </a:rPr>
              <a:t>square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27086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/>
          <p:cNvCxnSpPr>
            <a:endCxn id="19" idx="1"/>
          </p:cNvCxnSpPr>
          <p:nvPr/>
        </p:nvCxnSpPr>
        <p:spPr>
          <a:xfrm flipH="1">
            <a:off x="4568966" y="3789040"/>
            <a:ext cx="6070" cy="34536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Double Brace 66"/>
          <p:cNvSpPr/>
          <p:nvPr/>
        </p:nvSpPr>
        <p:spPr>
          <a:xfrm>
            <a:off x="107504" y="4034230"/>
            <a:ext cx="3493244" cy="1720350"/>
          </a:xfrm>
          <a:prstGeom prst="bracePair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These statements are to be executed N times </a:t>
            </a:r>
            <a:r>
              <a:rPr lang="en-US" dirty="0">
                <a:solidFill>
                  <a:srgbClr val="0000FF"/>
                </a:solidFill>
                <a:sym typeface="Wingdings" panose="05000000000000000000" pitchFamily="2" charset="2"/>
              </a:rPr>
              <a:t> inside the loop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2 - FLOWCHART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for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utoShape 67"/>
          <p:cNvSpPr>
            <a:spLocks noChangeArrowheads="1"/>
          </p:cNvSpPr>
          <p:nvPr/>
        </p:nvSpPr>
        <p:spPr bwMode="auto">
          <a:xfrm>
            <a:off x="3851275" y="1317206"/>
            <a:ext cx="1441450" cy="277842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Start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4572000" y="1595048"/>
            <a:ext cx="0" cy="29822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utoShape 68"/>
          <p:cNvSpPr>
            <a:spLocks noChangeArrowheads="1"/>
          </p:cNvSpPr>
          <p:nvPr/>
        </p:nvSpPr>
        <p:spPr bwMode="auto">
          <a:xfrm>
            <a:off x="3633928" y="4134400"/>
            <a:ext cx="1870075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Read number</a:t>
            </a:r>
          </a:p>
        </p:txBody>
      </p:sp>
      <p:sp>
        <p:nvSpPr>
          <p:cNvPr id="20" name="AutoShape 68"/>
          <p:cNvSpPr>
            <a:spLocks noChangeArrowheads="1"/>
          </p:cNvSpPr>
          <p:nvPr/>
        </p:nvSpPr>
        <p:spPr bwMode="auto">
          <a:xfrm>
            <a:off x="3851275" y="1884641"/>
            <a:ext cx="1441450" cy="358775"/>
          </a:xfrm>
          <a:prstGeom prst="parallelogram">
            <a:avLst/>
          </a:prstGeom>
          <a:solidFill>
            <a:srgbClr val="FFC0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Read N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4571144" y="2252045"/>
            <a:ext cx="1712" cy="21855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utoShape 68"/>
          <p:cNvSpPr>
            <a:spLocks noChangeArrowheads="1"/>
          </p:cNvSpPr>
          <p:nvPr/>
        </p:nvSpPr>
        <p:spPr bwMode="auto">
          <a:xfrm>
            <a:off x="3851275" y="2470599"/>
            <a:ext cx="1441450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counter = 0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10" name="Straight Arrow Connector 9"/>
          <p:cNvCxnSpPr>
            <a:endCxn id="65" idx="0"/>
          </p:cNvCxnSpPr>
          <p:nvPr/>
        </p:nvCxnSpPr>
        <p:spPr>
          <a:xfrm flipH="1">
            <a:off x="4572000" y="2829374"/>
            <a:ext cx="855" cy="2755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AutoShape 68"/>
          <p:cNvSpPr>
            <a:spLocks noChangeArrowheads="1"/>
          </p:cNvSpPr>
          <p:nvPr/>
        </p:nvSpPr>
        <p:spPr bwMode="auto">
          <a:xfrm>
            <a:off x="3200814" y="4709199"/>
            <a:ext cx="2736303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square = </a:t>
            </a:r>
            <a:r>
              <a:rPr lang="en-US" sz="1600" dirty="0">
                <a:solidFill>
                  <a:srgbClr val="0000FF"/>
                </a:solidFill>
                <a:latin typeface="Arial" charset="0"/>
                <a:cs typeface="Arial" charset="0"/>
              </a:rPr>
              <a:t>number</a:t>
            </a:r>
            <a:r>
              <a:rPr lang="en-US" sz="1600" dirty="0">
                <a:latin typeface="Arial" charset="0"/>
                <a:cs typeface="Arial" charset="0"/>
              </a:rPr>
              <a:t> * </a:t>
            </a:r>
            <a:r>
              <a:rPr lang="en-US" sz="1600" dirty="0">
                <a:solidFill>
                  <a:srgbClr val="0000FF"/>
                </a:solidFill>
                <a:latin typeface="Arial" charset="0"/>
                <a:cs typeface="Arial" charset="0"/>
              </a:rPr>
              <a:t>number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4568965" y="4493175"/>
            <a:ext cx="1" cy="21602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568965" y="5067974"/>
            <a:ext cx="0" cy="21855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644008" y="3789040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True</a:t>
            </a:r>
          </a:p>
        </p:txBody>
      </p:sp>
      <p:sp>
        <p:nvSpPr>
          <p:cNvPr id="45" name="AutoShape 67"/>
          <p:cNvSpPr>
            <a:spLocks noChangeArrowheads="1"/>
          </p:cNvSpPr>
          <p:nvPr/>
        </p:nvSpPr>
        <p:spPr bwMode="auto">
          <a:xfrm>
            <a:off x="1043608" y="3312391"/>
            <a:ext cx="1441450" cy="305226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End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18867" y="3212976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False</a:t>
            </a:r>
          </a:p>
        </p:txBody>
      </p:sp>
      <p:cxnSp>
        <p:nvCxnSpPr>
          <p:cNvPr id="49" name="Straight Arrow Connector 48"/>
          <p:cNvCxnSpPr/>
          <p:nvPr/>
        </p:nvCxnSpPr>
        <p:spPr>
          <a:xfrm>
            <a:off x="4568965" y="5645303"/>
            <a:ext cx="1" cy="21855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AutoShape 68"/>
          <p:cNvSpPr>
            <a:spLocks noChangeArrowheads="1"/>
          </p:cNvSpPr>
          <p:nvPr/>
        </p:nvSpPr>
        <p:spPr bwMode="auto">
          <a:xfrm>
            <a:off x="3633928" y="5286528"/>
            <a:ext cx="1870075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Print </a:t>
            </a:r>
            <a:r>
              <a:rPr lang="en-US" sz="1600" dirty="0">
                <a:solidFill>
                  <a:srgbClr val="0000FF"/>
                </a:solidFill>
                <a:effectLst/>
                <a:latin typeface="Arial" charset="0"/>
                <a:cs typeface="Arial" charset="0"/>
              </a:rPr>
              <a:t>square</a:t>
            </a:r>
          </a:p>
        </p:txBody>
      </p:sp>
      <p:sp>
        <p:nvSpPr>
          <p:cNvPr id="63" name="AutoShape 68"/>
          <p:cNvSpPr>
            <a:spLocks noChangeArrowheads="1"/>
          </p:cNvSpPr>
          <p:nvPr/>
        </p:nvSpPr>
        <p:spPr bwMode="auto">
          <a:xfrm>
            <a:off x="3633928" y="5854458"/>
            <a:ext cx="1870075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counter=</a:t>
            </a:r>
            <a:r>
              <a:rPr lang="en-US" sz="1600" dirty="0">
                <a:solidFill>
                  <a:srgbClr val="0000FF"/>
                </a:solidFill>
                <a:latin typeface="Arial" charset="0"/>
                <a:cs typeface="Arial" charset="0"/>
              </a:rPr>
              <a:t>counter</a:t>
            </a:r>
            <a:r>
              <a:rPr lang="en-US" sz="1600" dirty="0">
                <a:latin typeface="Arial" charset="0"/>
                <a:cs typeface="Arial" charset="0"/>
              </a:rPr>
              <a:t>+1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64" name="Straight Arrow Connector 63"/>
          <p:cNvCxnSpPr/>
          <p:nvPr/>
        </p:nvCxnSpPr>
        <p:spPr>
          <a:xfrm>
            <a:off x="4564064" y="6213233"/>
            <a:ext cx="0" cy="24010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AutoShape 73"/>
          <p:cNvSpPr>
            <a:spLocks noChangeArrowheads="1"/>
          </p:cNvSpPr>
          <p:nvPr/>
        </p:nvSpPr>
        <p:spPr bwMode="auto">
          <a:xfrm>
            <a:off x="3672756" y="3104964"/>
            <a:ext cx="1798488" cy="720080"/>
          </a:xfrm>
          <a:prstGeom prst="flowChartDecision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rgbClr val="0000FF"/>
                </a:solidFill>
                <a:latin typeface="Arial" charset="0"/>
                <a:cs typeface="Arial" charset="0"/>
              </a:rPr>
              <a:t>counter </a:t>
            </a:r>
            <a:r>
              <a:rPr lang="en-US" sz="1600" dirty="0">
                <a:latin typeface="Arial" charset="0"/>
                <a:cs typeface="Arial" charset="0"/>
              </a:rPr>
              <a:t>&lt; </a:t>
            </a:r>
            <a:r>
              <a:rPr lang="en-US" sz="1600" dirty="0">
                <a:solidFill>
                  <a:srgbClr val="0000FF"/>
                </a:solidFill>
                <a:latin typeface="Arial" charset="0"/>
                <a:cs typeface="Arial" charset="0"/>
              </a:rPr>
              <a:t>N</a:t>
            </a:r>
            <a:r>
              <a:rPr lang="en-US" sz="1600" dirty="0">
                <a:latin typeface="Arial" charset="0"/>
                <a:cs typeface="Arial" charset="0"/>
              </a:rPr>
              <a:t>?</a:t>
            </a:r>
            <a:endParaRPr lang="en-US" sz="1600" dirty="0">
              <a:effectLst/>
              <a:latin typeface="Arial" charset="0"/>
              <a:cs typeface="Arial" charset="0"/>
            </a:endParaRPr>
          </a:p>
        </p:txBody>
      </p:sp>
      <p:cxnSp>
        <p:nvCxnSpPr>
          <p:cNvPr id="66" name="Straight Arrow Connector 65"/>
          <p:cNvCxnSpPr/>
          <p:nvPr/>
        </p:nvCxnSpPr>
        <p:spPr>
          <a:xfrm>
            <a:off x="4572000" y="6453336"/>
            <a:ext cx="1807859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6372200" y="2937388"/>
            <a:ext cx="0" cy="351594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4572000" y="2938019"/>
            <a:ext cx="1807859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ouble Brace 38"/>
          <p:cNvSpPr/>
          <p:nvPr/>
        </p:nvSpPr>
        <p:spPr>
          <a:xfrm>
            <a:off x="5364088" y="1700808"/>
            <a:ext cx="3493244" cy="726440"/>
          </a:xfrm>
          <a:prstGeom prst="bracePair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FF"/>
                </a:solidFill>
              </a:rPr>
              <a:t>We need to execute this statement once only </a:t>
            </a:r>
            <a:r>
              <a:rPr lang="en-US" sz="1400" dirty="0">
                <a:solidFill>
                  <a:srgbClr val="0000FF"/>
                </a:solidFill>
                <a:sym typeface="Wingdings" panose="05000000000000000000" pitchFamily="2" charset="2"/>
              </a:rPr>
              <a:t> out of the loop body</a:t>
            </a:r>
            <a:endParaRPr lang="en-US" sz="1400" dirty="0">
              <a:solidFill>
                <a:srgbClr val="0000FF"/>
              </a:solidFill>
            </a:endParaRPr>
          </a:p>
        </p:txBody>
      </p:sp>
      <p:sp>
        <p:nvSpPr>
          <p:cNvPr id="3" name="Double Brace 2"/>
          <p:cNvSpPr/>
          <p:nvPr/>
        </p:nvSpPr>
        <p:spPr>
          <a:xfrm>
            <a:off x="6012160" y="3656778"/>
            <a:ext cx="2952328" cy="1284390"/>
          </a:xfrm>
          <a:prstGeom prst="bracePair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dirty="0"/>
              <a:t>The new value of </a:t>
            </a:r>
            <a:r>
              <a:rPr lang="en-US" sz="1200" dirty="0">
                <a:solidFill>
                  <a:srgbClr val="0000FF"/>
                </a:solidFill>
              </a:rPr>
              <a:t>number </a:t>
            </a:r>
            <a:r>
              <a:rPr lang="en-US" sz="1200" dirty="0"/>
              <a:t>read in iteration 2 (for example) overwrites the value read in iteration 1. </a:t>
            </a:r>
            <a:r>
              <a:rPr lang="en-US" sz="1200" dirty="0">
                <a:solidFill>
                  <a:srgbClr val="FF0000"/>
                </a:solidFill>
              </a:rPr>
              <a:t>WE USE ONLY </a:t>
            </a:r>
            <a:r>
              <a:rPr lang="en-US" sz="1200" b="1" u="sng" dirty="0">
                <a:solidFill>
                  <a:srgbClr val="FF0000"/>
                </a:solidFill>
              </a:rPr>
              <a:t>ONE</a:t>
            </a:r>
            <a:r>
              <a:rPr lang="en-US" sz="1200" dirty="0">
                <a:solidFill>
                  <a:srgbClr val="FF0000"/>
                </a:solidFill>
              </a:rPr>
              <a:t> VARIABLE TO READ THE 1000 NUMBERS.</a:t>
            </a:r>
          </a:p>
        </p:txBody>
      </p:sp>
      <p:cxnSp>
        <p:nvCxnSpPr>
          <p:cNvPr id="29" name="Straight Arrow Connector 28"/>
          <p:cNvCxnSpPr>
            <a:stCxn id="65" idx="1"/>
            <a:endCxn id="45" idx="3"/>
          </p:cNvCxnSpPr>
          <p:nvPr/>
        </p:nvCxnSpPr>
        <p:spPr>
          <a:xfrm flipH="1">
            <a:off x="2485058" y="3465004"/>
            <a:ext cx="1187698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Double Brace 42"/>
          <p:cNvSpPr/>
          <p:nvPr/>
        </p:nvSpPr>
        <p:spPr>
          <a:xfrm>
            <a:off x="71949" y="2414528"/>
            <a:ext cx="3493244" cy="726440"/>
          </a:xfrm>
          <a:prstGeom prst="bracePair">
            <a:avLst/>
          </a:prstGeom>
          <a:solidFill>
            <a:srgbClr val="00CC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Parts of the syntax of the “for” statement</a:t>
            </a:r>
          </a:p>
        </p:txBody>
      </p:sp>
      <p:sp>
        <p:nvSpPr>
          <p:cNvPr id="34" name="Double Brace 33"/>
          <p:cNvSpPr/>
          <p:nvPr/>
        </p:nvSpPr>
        <p:spPr>
          <a:xfrm>
            <a:off x="147337" y="1256952"/>
            <a:ext cx="3488559" cy="1091928"/>
          </a:xfrm>
          <a:prstGeom prst="bracePair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0000FF"/>
                </a:solidFill>
              </a:rPr>
              <a:t>N </a:t>
            </a:r>
            <a:r>
              <a:rPr lang="en-US" sz="1200" dirty="0"/>
              <a:t>represents the required number of iterations.</a:t>
            </a:r>
          </a:p>
          <a:p>
            <a:r>
              <a:rPr lang="en-US" sz="1200" dirty="0">
                <a:solidFill>
                  <a:srgbClr val="0000FF"/>
                </a:solidFill>
              </a:rPr>
              <a:t>number</a:t>
            </a:r>
            <a:r>
              <a:rPr lang="en-US" sz="1200" dirty="0"/>
              <a:t> represents the value of the number for which </a:t>
            </a:r>
            <a:r>
              <a:rPr lang="en-US" sz="1200" dirty="0">
                <a:solidFill>
                  <a:srgbClr val="0000FF"/>
                </a:solidFill>
              </a:rPr>
              <a:t>square </a:t>
            </a:r>
            <a:r>
              <a:rPr lang="en-US" sz="1200" dirty="0"/>
              <a:t>will be calculated.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088652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00"/>
                            </p:stCondLst>
                            <p:childTnLst>
                              <p:par>
                                <p:cTn id="8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4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4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4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17" grpId="0" animBg="1"/>
      <p:bldP spid="15" grpId="0" animBg="1"/>
      <p:bldP spid="19" grpId="0" animBg="1"/>
      <p:bldP spid="20" grpId="0" animBg="1"/>
      <p:bldP spid="22" grpId="0" animBg="1"/>
      <p:bldP spid="22" grpId="1" animBg="1"/>
      <p:bldP spid="26" grpId="0" animBg="1"/>
      <p:bldP spid="41" grpId="0"/>
      <p:bldP spid="45" grpId="0" animBg="1"/>
      <p:bldP spid="47" grpId="0"/>
      <p:bldP spid="62" grpId="0" animBg="1"/>
      <p:bldP spid="63" grpId="0" animBg="1"/>
      <p:bldP spid="63" grpId="1" animBg="1"/>
      <p:bldP spid="65" grpId="0" animBg="1"/>
      <p:bldP spid="65" grpId="1" animBg="1"/>
      <p:bldP spid="39" grpId="0" animBg="1"/>
      <p:bldP spid="3" grpId="0" animBg="1"/>
      <p:bldP spid="43" grpId="0" animBg="1"/>
      <p:bldP spid="3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179512" y="1412776"/>
            <a:ext cx="8784976" cy="5262979"/>
            <a:chOff x="323528" y="1236822"/>
            <a:chExt cx="7848872" cy="4948904"/>
          </a:xfrm>
        </p:grpSpPr>
        <p:sp>
          <p:nvSpPr>
            <p:cNvPr id="20" name="TextBox 19"/>
            <p:cNvSpPr txBox="1"/>
            <p:nvPr/>
          </p:nvSpPr>
          <p:spPr>
            <a:xfrm>
              <a:off x="971600" y="1236822"/>
              <a:ext cx="7200800" cy="4948904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0B0F0"/>
                  </a:solidFill>
                </a:rPr>
                <a:t>import</a:t>
              </a:r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err="1">
                  <a:solidFill>
                    <a:srgbClr val="0000FF"/>
                  </a:solidFill>
                </a:rPr>
                <a:t>java.util.Scanner</a:t>
              </a:r>
              <a:r>
                <a:rPr lang="en-US" sz="1400" dirty="0">
                  <a:solidFill>
                    <a:srgbClr val="0000FF"/>
                  </a:solidFill>
                </a:rPr>
                <a:t>;		</a:t>
              </a:r>
            </a:p>
            <a:p>
              <a:endParaRPr lang="en-US" sz="1400" dirty="0">
                <a:solidFill>
                  <a:srgbClr val="0000FF"/>
                </a:solidFill>
              </a:endParaRPr>
            </a:p>
            <a:p>
              <a:r>
                <a:rPr lang="en-US" sz="1400" dirty="0">
                  <a:solidFill>
                    <a:srgbClr val="00B0F0"/>
                  </a:solidFill>
                </a:rPr>
                <a:t>public class</a:t>
              </a:r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 err="1">
                  <a:solidFill>
                    <a:srgbClr val="0000FF"/>
                  </a:solidFill>
                </a:rPr>
                <a:t>forLoopN</a:t>
              </a:r>
              <a:endParaRPr lang="en-US" sz="1400" dirty="0">
                <a:solidFill>
                  <a:srgbClr val="0000FF"/>
                </a:solidFill>
              </a:endParaRPr>
            </a:p>
            <a:p>
              <a:r>
                <a:rPr lang="en-US" sz="1400" dirty="0">
                  <a:solidFill>
                    <a:srgbClr val="0000FF"/>
                  </a:solidFill>
                </a:rPr>
                <a:t>{</a:t>
              </a:r>
            </a:p>
            <a:p>
              <a:endParaRPr lang="en-US" sz="1400" dirty="0">
                <a:solidFill>
                  <a:srgbClr val="00B0F0"/>
                </a:solidFill>
              </a:endParaRPr>
            </a:p>
            <a:p>
              <a:r>
                <a:rPr lang="en-US" sz="1400" dirty="0">
                  <a:solidFill>
                    <a:srgbClr val="00B0F0"/>
                  </a:solidFill>
                </a:rPr>
                <a:t>      public static void</a:t>
              </a:r>
              <a:r>
                <a:rPr lang="en-US" sz="1400" dirty="0">
                  <a:solidFill>
                    <a:srgbClr val="0000FF"/>
                  </a:solidFill>
                </a:rPr>
                <a:t> main (String[] </a:t>
              </a:r>
              <a:r>
                <a:rPr lang="en-US" sz="1400" dirty="0" err="1">
                  <a:solidFill>
                    <a:srgbClr val="0000FF"/>
                  </a:solidFill>
                </a:rPr>
                <a:t>args</a:t>
              </a:r>
              <a:r>
                <a:rPr lang="en-US" sz="1400" dirty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Scanner read  = </a:t>
              </a:r>
              <a:r>
                <a:rPr lang="en-US" sz="1400" dirty="0">
                  <a:solidFill>
                    <a:srgbClr val="00B0F0"/>
                  </a:solidFill>
                </a:rPr>
                <a:t>new</a:t>
              </a:r>
              <a:r>
                <a:rPr lang="en-US" sz="1400" dirty="0">
                  <a:solidFill>
                    <a:srgbClr val="0000FF"/>
                  </a:solidFill>
                </a:rPr>
                <a:t> Scanner (</a:t>
              </a:r>
              <a:r>
                <a:rPr lang="en-US" sz="1400" dirty="0" err="1">
                  <a:solidFill>
                    <a:srgbClr val="0000FF"/>
                  </a:solidFill>
                </a:rPr>
                <a:t>System.in</a:t>
              </a:r>
              <a:r>
                <a:rPr lang="en-US" sz="1400" dirty="0">
                  <a:solidFill>
                    <a:srgbClr val="0000FF"/>
                  </a:solidFill>
                </a:rPr>
                <a:t>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</a:t>
              </a:r>
              <a:r>
                <a:rPr lang="en-US" sz="1400" dirty="0"/>
                <a:t>// Declaration section: to declare needed variables</a:t>
              </a:r>
            </a:p>
            <a:p>
              <a:r>
                <a:rPr lang="en-US" sz="1400" dirty="0"/>
                <a:t>             </a:t>
              </a:r>
              <a:r>
                <a:rPr lang="en-US" sz="1400" dirty="0" err="1">
                  <a:solidFill>
                    <a:srgbClr val="00B0F0"/>
                  </a:solidFill>
                </a:rPr>
                <a:t>int</a:t>
              </a:r>
              <a:r>
                <a:rPr lang="en-US" sz="1400" dirty="0">
                  <a:solidFill>
                    <a:srgbClr val="00B0F0"/>
                  </a:solidFill>
                </a:rPr>
                <a:t> </a:t>
              </a:r>
              <a:r>
                <a:rPr lang="en-US" sz="1400" dirty="0">
                  <a:solidFill>
                    <a:srgbClr val="0000FF"/>
                  </a:solidFill>
                </a:rPr>
                <a:t>number, square, counter, N;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(“Enter a positive number”);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N = </a:t>
              </a:r>
              <a:r>
                <a:rPr lang="en-US" sz="1400" dirty="0" err="1">
                  <a:solidFill>
                    <a:srgbClr val="0000FF"/>
                  </a:solidFill>
                </a:rPr>
                <a:t>read.</a:t>
              </a:r>
              <a:r>
                <a:rPr lang="en-US" sz="1400" dirty="0" err="1">
                  <a:solidFill>
                    <a:srgbClr val="00B050"/>
                  </a:solidFill>
                </a:rPr>
                <a:t>nextInt</a:t>
              </a:r>
              <a:r>
                <a:rPr lang="en-US" sz="1400" dirty="0">
                  <a:solidFill>
                    <a:srgbClr val="00B050"/>
                  </a:solidFill>
                </a:rPr>
                <a:t>()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</a:t>
              </a:r>
              <a:r>
                <a:rPr lang="en-US" sz="1400" dirty="0">
                  <a:solidFill>
                    <a:srgbClr val="00B0F0"/>
                  </a:solidFill>
                </a:rPr>
                <a:t>for</a:t>
              </a:r>
              <a:r>
                <a:rPr lang="en-US" sz="1400" dirty="0">
                  <a:solidFill>
                    <a:srgbClr val="0000FF"/>
                  </a:solidFill>
                </a:rPr>
                <a:t> (counter = 0; counter &lt; N; counter++)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b="1" dirty="0">
                  <a:solidFill>
                    <a:srgbClr val="FF0000"/>
                  </a:solidFill>
                </a:rPr>
                <a:t>{</a:t>
              </a:r>
            </a:p>
            <a:p>
              <a:r>
                <a:rPr lang="en-US" sz="1400" dirty="0"/>
                <a:t>	 // Input section: to enter values of used variables</a:t>
              </a:r>
              <a:endParaRPr lang="en-US" sz="1400" dirty="0">
                <a:solidFill>
                  <a:srgbClr val="0000FF"/>
                </a:solidFill>
              </a:endParaRPr>
            </a:p>
            <a:p>
              <a:r>
                <a:rPr lang="en-US" sz="1400" dirty="0"/>
                <a:t>               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(“Enter an integer number”);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         number = </a:t>
              </a:r>
              <a:r>
                <a:rPr lang="en-US" sz="1400" dirty="0" err="1">
                  <a:solidFill>
                    <a:srgbClr val="0000FF"/>
                  </a:solidFill>
                </a:rPr>
                <a:t>read.</a:t>
              </a:r>
              <a:r>
                <a:rPr lang="en-US" sz="1400" dirty="0" err="1">
                  <a:solidFill>
                    <a:srgbClr val="00B050"/>
                  </a:solidFill>
                </a:rPr>
                <a:t>nextInt</a:t>
              </a:r>
              <a:r>
                <a:rPr lang="en-US" sz="1400" dirty="0">
                  <a:solidFill>
                    <a:srgbClr val="00B050"/>
                  </a:solidFill>
                </a:rPr>
                <a:t>()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/>
                <a:t>                  // Processing section: processing statements</a:t>
              </a:r>
            </a:p>
            <a:p>
              <a:r>
                <a:rPr lang="en-US" sz="1400" dirty="0"/>
                <a:t> 	     </a:t>
              </a:r>
              <a:r>
                <a:rPr lang="en-US" sz="1400" dirty="0">
                  <a:solidFill>
                    <a:srgbClr val="0000FF"/>
                  </a:solidFill>
                </a:rPr>
                <a:t>square = number * number;</a:t>
              </a:r>
            </a:p>
            <a:p>
              <a:r>
                <a:rPr lang="en-US" sz="1400" dirty="0"/>
                <a:t>                 // Output section: display program output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(“Square = “ + square);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</a:t>
              </a:r>
              <a:r>
                <a:rPr lang="en-US" sz="1400" b="1" dirty="0">
                  <a:solidFill>
                    <a:srgbClr val="FF0000"/>
                  </a:solidFill>
                </a:rPr>
                <a:t>}</a:t>
              </a:r>
              <a:r>
                <a:rPr lang="en-US" sz="1400" dirty="0">
                  <a:solidFill>
                    <a:srgbClr val="0000FF"/>
                  </a:solidFill>
                </a:rPr>
                <a:t> </a:t>
              </a:r>
              <a:r>
                <a:rPr lang="en-US" sz="1400" dirty="0">
                  <a:solidFill>
                    <a:srgbClr val="00B050"/>
                  </a:solidFill>
                </a:rPr>
                <a:t>//end for loop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} </a:t>
              </a:r>
              <a:r>
                <a:rPr lang="en-US" sz="1400" dirty="0">
                  <a:solidFill>
                    <a:srgbClr val="00B050"/>
                  </a:solidFill>
                </a:rPr>
                <a:t>// end main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} </a:t>
              </a:r>
              <a:r>
                <a:rPr lang="en-US" sz="1400" dirty="0">
                  <a:solidFill>
                    <a:srgbClr val="00B050"/>
                  </a:solidFill>
                </a:rPr>
                <a:t>// end class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3528" y="1236822"/>
              <a:ext cx="576064" cy="4948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24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2 – CODE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04448" y="6309320"/>
            <a:ext cx="365760" cy="365125"/>
          </a:xfrm>
        </p:spPr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2. The </a:t>
            </a:r>
            <a:r>
              <a:rPr lang="en-US" sz="4000" dirty="0">
                <a:solidFill>
                  <a:srgbClr val="00B0F0"/>
                </a:solidFill>
                <a:latin typeface="Tahoma" charset="0"/>
                <a:cs typeface="Arial" charset="0"/>
              </a:rPr>
              <a:t>for </a:t>
            </a:r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Statement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99592" y="3789040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1403648" y="4365104"/>
            <a:ext cx="432048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403648" y="4365104"/>
            <a:ext cx="0" cy="165618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403648" y="6021288"/>
            <a:ext cx="432048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99592" y="4005064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Callout 13"/>
          <p:cNvSpPr/>
          <p:nvPr/>
        </p:nvSpPr>
        <p:spPr>
          <a:xfrm>
            <a:off x="6308576" y="4221088"/>
            <a:ext cx="2448272" cy="1296144"/>
          </a:xfrm>
          <a:prstGeom prst="wedgeEllipseCallout">
            <a:avLst>
              <a:gd name="adj1" fmla="val -87395"/>
              <a:gd name="adj2" fmla="val -75906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FF"/>
                </a:solidFill>
              </a:rPr>
              <a:t>What happens if the user enters N = 0?</a:t>
            </a:r>
            <a:endParaRPr lang="en-US" sz="1600" dirty="0">
              <a:solidFill>
                <a:srgbClr val="00B0F0"/>
              </a:solidFill>
            </a:endParaRPr>
          </a:p>
        </p:txBody>
      </p:sp>
      <p:sp>
        <p:nvSpPr>
          <p:cNvPr id="15" name="Oval Callout 14"/>
          <p:cNvSpPr/>
          <p:nvPr/>
        </p:nvSpPr>
        <p:spPr>
          <a:xfrm>
            <a:off x="6460976" y="1700808"/>
            <a:ext cx="2448272" cy="1584176"/>
          </a:xfrm>
          <a:prstGeom prst="wedgeEllipseCallout">
            <a:avLst>
              <a:gd name="adj1" fmla="val -91832"/>
              <a:gd name="adj2" fmla="val 86970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FF"/>
                </a:solidFill>
              </a:rPr>
              <a:t>What happens if the user enters a negative value for N?</a:t>
            </a:r>
            <a:endParaRPr lang="en-US" sz="1600" dirty="0">
              <a:solidFill>
                <a:srgbClr val="00B0F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56253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0" grpId="0" animBg="1"/>
      <p:bldP spid="16" grpId="0" animBg="1"/>
      <p:bldP spid="14" grpId="0" animBg="1"/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ACCUMULATORS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44624"/>
            <a:ext cx="8712968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 PROGRAMMING HINT</a:t>
            </a:r>
            <a:r>
              <a:rPr lang="en-US" sz="2800" dirty="0">
                <a:solidFill>
                  <a:schemeClr val="accent2"/>
                </a:solidFill>
                <a:latin typeface="Tahoma" charset="0"/>
                <a:cs typeface="Arial" charset="0"/>
              </a:rPr>
              <a:t>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23528" y="126876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often need variables to “accumulate” values.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528" y="162880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may need </a:t>
            </a: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accumulators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store either: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528" y="198884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Summations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528" y="234888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Product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19872" y="2748990"/>
            <a:ext cx="2160240" cy="6800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Accumulators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47664" y="4149080"/>
            <a:ext cx="1584176" cy="720080"/>
          </a:xfrm>
          <a:prstGeom prst="roundRect">
            <a:avLst/>
          </a:prstGeom>
          <a:solidFill>
            <a:srgbClr val="00B0F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Summation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68144" y="4113950"/>
            <a:ext cx="1584176" cy="755210"/>
          </a:xfrm>
          <a:prstGeom prst="roundRect">
            <a:avLst/>
          </a:prstGeom>
          <a:solidFill>
            <a:srgbClr val="00B0F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Product</a:t>
            </a:r>
          </a:p>
        </p:txBody>
      </p:sp>
      <p:cxnSp>
        <p:nvCxnSpPr>
          <p:cNvPr id="14" name="Straight Connector 13"/>
          <p:cNvCxnSpPr>
            <a:stCxn id="3" idx="2"/>
          </p:cNvCxnSpPr>
          <p:nvPr/>
        </p:nvCxnSpPr>
        <p:spPr>
          <a:xfrm>
            <a:off x="4499992" y="3429000"/>
            <a:ext cx="0" cy="36004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2339752" y="3789040"/>
            <a:ext cx="2160240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499992" y="3789040"/>
            <a:ext cx="2160240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endCxn id="16" idx="0"/>
          </p:cNvCxnSpPr>
          <p:nvPr/>
        </p:nvCxnSpPr>
        <p:spPr>
          <a:xfrm>
            <a:off x="6660232" y="3789040"/>
            <a:ext cx="0" cy="32491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endCxn id="4" idx="0"/>
          </p:cNvCxnSpPr>
          <p:nvPr/>
        </p:nvCxnSpPr>
        <p:spPr>
          <a:xfrm>
            <a:off x="2339752" y="3789040"/>
            <a:ext cx="0" cy="36004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71600" y="4797152"/>
            <a:ext cx="2952328" cy="7200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Initialize the accumulator to (0)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20072" y="4797152"/>
            <a:ext cx="2952328" cy="7200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Initialize the accumulator to (1)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93898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0" grpId="0"/>
      <p:bldP spid="11" grpId="0"/>
      <p:bldP spid="12" grpId="0"/>
      <p:bldP spid="13" grpId="0"/>
      <p:bldP spid="3" grpId="0" animBg="1"/>
      <p:bldP spid="4" grpId="0" animBg="1"/>
      <p:bldP spid="16" grpId="0" animBg="1"/>
      <p:bldP spid="20" grpId="0" animBg="1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3 – ANALYSIS </a:t>
            </a:r>
            <a:r>
              <a:rPr lang="en-US" dirty="0">
                <a:solidFill>
                  <a:schemeClr val="tx1"/>
                </a:solidFill>
              </a:rPr>
              <a:t>(ACCUMULATORS)</a:t>
            </a:r>
            <a:r>
              <a:rPr lang="en-US" b="1" dirty="0"/>
              <a:t>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 PROGRAMMING HINT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51520" y="1268760"/>
            <a:ext cx="8712968" cy="720080"/>
          </a:xfrm>
          <a:prstGeom prst="roundRect">
            <a:avLst>
              <a:gd name="adj" fmla="val 4976"/>
            </a:avLst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Write a program that calculates the sum and the product of a set of integers.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6951" y="2132856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19672" y="2132856"/>
            <a:ext cx="7344816" cy="86409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A set of </a:t>
            </a:r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numbers </a:t>
            </a:r>
            <a:r>
              <a:rPr lang="en-US" dirty="0">
                <a:solidFill>
                  <a:srgbClr val="CC0099"/>
                </a:solidFill>
              </a:rPr>
              <a:t>(variable: </a:t>
            </a:r>
            <a:r>
              <a:rPr lang="en-US" dirty="0">
                <a:solidFill>
                  <a:srgbClr val="0000FF"/>
                </a:solidFill>
              </a:rPr>
              <a:t>number</a:t>
            </a:r>
            <a:r>
              <a:rPr lang="en-US" dirty="0">
                <a:solidFill>
                  <a:srgbClr val="CC0099"/>
                </a:solidFill>
              </a:rPr>
              <a:t>, type: </a:t>
            </a:r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rgbClr val="CC0099"/>
                </a:solidFill>
              </a:rPr>
              <a:t>)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How many numbers do we have? </a:t>
            </a:r>
            <a:r>
              <a:rPr lang="en-US" dirty="0">
                <a:solidFill>
                  <a:srgbClr val="CC0099"/>
                </a:solidFill>
              </a:rPr>
              <a:t>(variable: </a:t>
            </a:r>
            <a:r>
              <a:rPr lang="en-US" dirty="0">
                <a:solidFill>
                  <a:srgbClr val="0000FF"/>
                </a:solidFill>
              </a:rPr>
              <a:t>N</a:t>
            </a:r>
            <a:r>
              <a:rPr lang="en-US" dirty="0">
                <a:solidFill>
                  <a:srgbClr val="CC0099"/>
                </a:solidFill>
              </a:rPr>
              <a:t>, type: </a:t>
            </a:r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rgbClr val="CC0099"/>
                </a:solidFill>
              </a:rPr>
              <a:t>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1520" y="3068960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34241" y="3068960"/>
            <a:ext cx="7344816" cy="93610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The summation of the numbers </a:t>
            </a:r>
            <a:r>
              <a:rPr lang="en-US" dirty="0">
                <a:solidFill>
                  <a:srgbClr val="CC0099"/>
                </a:solidFill>
              </a:rPr>
              <a:t>(variable: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>
                <a:solidFill>
                  <a:srgbClr val="CC0099"/>
                </a:solidFill>
              </a:rPr>
              <a:t>, type: </a:t>
            </a:r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rgbClr val="CC0099"/>
                </a:solidFill>
              </a:rPr>
              <a:t>)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The product of the numbers </a:t>
            </a:r>
            <a:r>
              <a:rPr lang="en-US" dirty="0">
                <a:solidFill>
                  <a:srgbClr val="CC0099"/>
                </a:solidFill>
              </a:rPr>
              <a:t>(variable: </a:t>
            </a:r>
            <a:r>
              <a:rPr lang="en-US" dirty="0">
                <a:solidFill>
                  <a:srgbClr val="0000FF"/>
                </a:solidFill>
              </a:rPr>
              <a:t>product</a:t>
            </a:r>
            <a:r>
              <a:rPr lang="en-US" dirty="0">
                <a:solidFill>
                  <a:srgbClr val="CC0099"/>
                </a:solidFill>
              </a:rPr>
              <a:t>, type: </a:t>
            </a:r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rgbClr val="CC0099"/>
                </a:solidFill>
              </a:rPr>
              <a:t>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1520" y="4077072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34241" y="4077072"/>
            <a:ext cx="7344816" cy="2592288"/>
          </a:xfrm>
          <a:prstGeom prst="roundRect">
            <a:avLst>
              <a:gd name="adj" fmla="val 9650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Read N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Initialize sum to 0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Initialize product to 1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Repeat </a:t>
            </a:r>
            <a:r>
              <a:rPr lang="en-US" dirty="0">
                <a:solidFill>
                  <a:srgbClr val="0000FF"/>
                </a:solidFill>
              </a:rPr>
              <a:t>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times: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read </a:t>
            </a:r>
            <a:r>
              <a:rPr lang="en-US" dirty="0">
                <a:solidFill>
                  <a:srgbClr val="0000FF"/>
                </a:solidFill>
              </a:rPr>
              <a:t>number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sum = </a:t>
            </a:r>
            <a:r>
              <a:rPr lang="en-US" dirty="0">
                <a:solidFill>
                  <a:srgbClr val="0000FF"/>
                </a:solidFill>
              </a:rPr>
              <a:t>sum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+ </a:t>
            </a:r>
            <a:r>
              <a:rPr lang="en-US" dirty="0">
                <a:solidFill>
                  <a:srgbClr val="0000FF"/>
                </a:solidFill>
              </a:rPr>
              <a:t>number</a:t>
            </a:r>
          </a:p>
          <a:p>
            <a:r>
              <a:rPr lang="en-US" dirty="0">
                <a:solidFill>
                  <a:srgbClr val="0000FF"/>
                </a:solidFill>
              </a:rPr>
              <a:t>	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product =</a:t>
            </a:r>
            <a:r>
              <a:rPr lang="en-US" dirty="0">
                <a:solidFill>
                  <a:srgbClr val="0000FF"/>
                </a:solidFill>
              </a:rPr>
              <a:t> product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* </a:t>
            </a:r>
            <a:r>
              <a:rPr lang="en-US" dirty="0">
                <a:solidFill>
                  <a:srgbClr val="0000FF"/>
                </a:solidFill>
              </a:rPr>
              <a:t>number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Print</a:t>
            </a:r>
            <a:r>
              <a:rPr lang="en-US" dirty="0">
                <a:solidFill>
                  <a:srgbClr val="0000FF"/>
                </a:solidFill>
              </a:rPr>
              <a:t> sum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Print </a:t>
            </a:r>
            <a:r>
              <a:rPr lang="en-US" dirty="0">
                <a:solidFill>
                  <a:srgbClr val="0000FF"/>
                </a:solidFill>
              </a:rPr>
              <a:t>product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25694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Double Brace 67"/>
          <p:cNvSpPr/>
          <p:nvPr/>
        </p:nvSpPr>
        <p:spPr>
          <a:xfrm>
            <a:off x="131739" y="4437112"/>
            <a:ext cx="3493244" cy="1612833"/>
          </a:xfrm>
          <a:prstGeom prst="bracePair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We need to execute these statements N times</a:t>
            </a:r>
          </a:p>
          <a:p>
            <a:pPr algn="ctr"/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  <a:sym typeface="Wingdings" panose="05000000000000000000" pitchFamily="2" charset="2"/>
              </a:rPr>
              <a:t> inside the loop body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4551614" y="4386203"/>
            <a:ext cx="0" cy="24854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572000" y="2204864"/>
            <a:ext cx="1501" cy="25649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3 – FLOWCHART 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en-US" dirty="0">
                <a:solidFill>
                  <a:schemeClr val="tx1"/>
                </a:solidFill>
              </a:rPr>
              <a:t>ACCUMULATORS)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 PROGRAMMING HINT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utoShape 67"/>
          <p:cNvSpPr>
            <a:spLocks noChangeArrowheads="1"/>
          </p:cNvSpPr>
          <p:nvPr/>
        </p:nvSpPr>
        <p:spPr bwMode="auto">
          <a:xfrm>
            <a:off x="3851275" y="908720"/>
            <a:ext cx="1441450" cy="277842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Start</a:t>
            </a:r>
          </a:p>
        </p:txBody>
      </p:sp>
      <p:cxnSp>
        <p:nvCxnSpPr>
          <p:cNvPr id="16" name="Straight Arrow Connector 15"/>
          <p:cNvCxnSpPr>
            <a:stCxn id="15" idx="2"/>
            <a:endCxn id="20" idx="0"/>
          </p:cNvCxnSpPr>
          <p:nvPr/>
        </p:nvCxnSpPr>
        <p:spPr>
          <a:xfrm>
            <a:off x="4572000" y="1186562"/>
            <a:ext cx="0" cy="20151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utoShape 68"/>
          <p:cNvSpPr>
            <a:spLocks noChangeArrowheads="1"/>
          </p:cNvSpPr>
          <p:nvPr/>
        </p:nvSpPr>
        <p:spPr bwMode="auto">
          <a:xfrm>
            <a:off x="3635896" y="4600079"/>
            <a:ext cx="1870075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Read number</a:t>
            </a:r>
          </a:p>
        </p:txBody>
      </p:sp>
      <p:sp>
        <p:nvSpPr>
          <p:cNvPr id="20" name="AutoShape 68"/>
          <p:cNvSpPr>
            <a:spLocks noChangeArrowheads="1"/>
          </p:cNvSpPr>
          <p:nvPr/>
        </p:nvSpPr>
        <p:spPr bwMode="auto">
          <a:xfrm>
            <a:off x="3851275" y="1388080"/>
            <a:ext cx="1441450" cy="288032"/>
          </a:xfrm>
          <a:prstGeom prst="parallelogram">
            <a:avLst>
              <a:gd name="adj" fmla="val 83039"/>
            </a:avLst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Read N</a:t>
            </a:r>
          </a:p>
        </p:txBody>
      </p:sp>
      <p:cxnSp>
        <p:nvCxnSpPr>
          <p:cNvPr id="21" name="Straight Arrow Connector 20"/>
          <p:cNvCxnSpPr>
            <a:stCxn id="20" idx="4"/>
          </p:cNvCxnSpPr>
          <p:nvPr/>
        </p:nvCxnSpPr>
        <p:spPr>
          <a:xfrm>
            <a:off x="4572000" y="1676112"/>
            <a:ext cx="856" cy="24072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utoShape 68"/>
          <p:cNvSpPr>
            <a:spLocks noChangeArrowheads="1"/>
          </p:cNvSpPr>
          <p:nvPr/>
        </p:nvSpPr>
        <p:spPr bwMode="auto">
          <a:xfrm>
            <a:off x="3851275" y="1877630"/>
            <a:ext cx="1441450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sum = 0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10" name="Straight Arrow Connector 9"/>
          <p:cNvCxnSpPr>
            <a:stCxn id="33" idx="2"/>
            <a:endCxn id="35" idx="0"/>
          </p:cNvCxnSpPr>
          <p:nvPr/>
        </p:nvCxnSpPr>
        <p:spPr>
          <a:xfrm>
            <a:off x="4572645" y="2796698"/>
            <a:ext cx="0" cy="20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AutoShape 68"/>
          <p:cNvSpPr>
            <a:spLocks noChangeArrowheads="1"/>
          </p:cNvSpPr>
          <p:nvPr/>
        </p:nvSpPr>
        <p:spPr bwMode="auto">
          <a:xfrm>
            <a:off x="3203849" y="5121821"/>
            <a:ext cx="2736303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sum = </a:t>
            </a:r>
            <a:r>
              <a:rPr lang="en-US" sz="1600" dirty="0">
                <a:solidFill>
                  <a:srgbClr val="0000FF"/>
                </a:solidFill>
                <a:latin typeface="Arial" charset="0"/>
                <a:cs typeface="Arial" charset="0"/>
              </a:rPr>
              <a:t>sum </a:t>
            </a:r>
            <a:r>
              <a:rPr lang="en-US" sz="1600" dirty="0">
                <a:latin typeface="Arial" charset="0"/>
                <a:cs typeface="Arial" charset="0"/>
              </a:rPr>
              <a:t>+ </a:t>
            </a:r>
            <a:r>
              <a:rPr lang="en-US" sz="1600" dirty="0">
                <a:solidFill>
                  <a:srgbClr val="0000FF"/>
                </a:solidFill>
                <a:latin typeface="Arial" charset="0"/>
                <a:cs typeface="Arial" charset="0"/>
              </a:rPr>
              <a:t>number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644008" y="4345359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True</a:t>
            </a:r>
          </a:p>
        </p:txBody>
      </p:sp>
      <p:sp>
        <p:nvSpPr>
          <p:cNvPr id="45" name="AutoShape 67"/>
          <p:cNvSpPr>
            <a:spLocks noChangeArrowheads="1"/>
          </p:cNvSpPr>
          <p:nvPr/>
        </p:nvSpPr>
        <p:spPr bwMode="auto">
          <a:xfrm>
            <a:off x="142844" y="3877887"/>
            <a:ext cx="857256" cy="326363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End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3848" y="3789040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False</a:t>
            </a:r>
          </a:p>
        </p:txBody>
      </p:sp>
      <p:cxnSp>
        <p:nvCxnSpPr>
          <p:cNvPr id="6" name="Straight Arrow Connector 5"/>
          <p:cNvCxnSpPr>
            <a:endCxn id="38" idx="5"/>
          </p:cNvCxnSpPr>
          <p:nvPr/>
        </p:nvCxnSpPr>
        <p:spPr>
          <a:xfrm rot="10800000">
            <a:off x="3111796" y="4041069"/>
            <a:ext cx="596108" cy="151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AutoShape 68"/>
          <p:cNvSpPr>
            <a:spLocks noChangeArrowheads="1"/>
          </p:cNvSpPr>
          <p:nvPr/>
        </p:nvSpPr>
        <p:spPr bwMode="auto">
          <a:xfrm>
            <a:off x="3203849" y="6165304"/>
            <a:ext cx="2736303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counter = </a:t>
            </a:r>
            <a:r>
              <a:rPr lang="en-US" sz="1600" dirty="0">
                <a:solidFill>
                  <a:srgbClr val="0000FF"/>
                </a:solidFill>
                <a:latin typeface="Arial" charset="0"/>
                <a:cs typeface="Arial" charset="0"/>
              </a:rPr>
              <a:t>counter </a:t>
            </a:r>
            <a:r>
              <a:rPr lang="en-US" sz="1600" dirty="0">
                <a:latin typeface="Arial" charset="0"/>
                <a:cs typeface="Arial" charset="0"/>
              </a:rPr>
              <a:t>+ 1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5" name="AutoShape 73"/>
          <p:cNvSpPr>
            <a:spLocks noChangeArrowheads="1"/>
          </p:cNvSpPr>
          <p:nvPr/>
        </p:nvSpPr>
        <p:spPr bwMode="auto">
          <a:xfrm>
            <a:off x="3672756" y="3645024"/>
            <a:ext cx="1798488" cy="792088"/>
          </a:xfrm>
          <a:prstGeom prst="flowChartDecision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rgbClr val="0000FF"/>
                </a:solidFill>
                <a:latin typeface="Arial" charset="0"/>
                <a:cs typeface="Arial" charset="0"/>
              </a:rPr>
              <a:t>counter </a:t>
            </a:r>
            <a:r>
              <a:rPr lang="en-US" sz="1600" dirty="0">
                <a:latin typeface="Arial" charset="0"/>
                <a:cs typeface="Arial" charset="0"/>
              </a:rPr>
              <a:t>&lt; </a:t>
            </a:r>
            <a:r>
              <a:rPr lang="en-US" sz="1600" dirty="0">
                <a:solidFill>
                  <a:srgbClr val="0000FF"/>
                </a:solidFill>
                <a:latin typeface="Arial" charset="0"/>
                <a:cs typeface="Arial" charset="0"/>
              </a:rPr>
              <a:t>N</a:t>
            </a:r>
            <a:r>
              <a:rPr lang="en-US" sz="1600" dirty="0">
                <a:latin typeface="Arial" charset="0"/>
                <a:cs typeface="Arial" charset="0"/>
              </a:rPr>
              <a:t>?</a:t>
            </a:r>
            <a:endParaRPr lang="en-US" sz="1600" dirty="0">
              <a:effectLst/>
              <a:latin typeface="Arial" charset="0"/>
              <a:cs typeface="Arial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6300192" y="3514385"/>
            <a:ext cx="0" cy="322698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 flipV="1">
            <a:off x="4572001" y="3501008"/>
            <a:ext cx="1728191" cy="63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utoShape 68"/>
          <p:cNvSpPr>
            <a:spLocks noChangeArrowheads="1"/>
          </p:cNvSpPr>
          <p:nvPr/>
        </p:nvSpPr>
        <p:spPr bwMode="auto">
          <a:xfrm>
            <a:off x="3851920" y="2437923"/>
            <a:ext cx="1441450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product = 1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4" name="AutoShape 68"/>
          <p:cNvSpPr>
            <a:spLocks noChangeArrowheads="1"/>
          </p:cNvSpPr>
          <p:nvPr/>
        </p:nvSpPr>
        <p:spPr bwMode="auto">
          <a:xfrm>
            <a:off x="3203848" y="5643563"/>
            <a:ext cx="2736303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product = </a:t>
            </a:r>
            <a:r>
              <a:rPr lang="en-US" sz="1600" dirty="0">
                <a:solidFill>
                  <a:srgbClr val="0000FF"/>
                </a:solidFill>
                <a:latin typeface="Arial" charset="0"/>
                <a:cs typeface="Arial" charset="0"/>
              </a:rPr>
              <a:t>product </a:t>
            </a:r>
            <a:r>
              <a:rPr lang="en-US" sz="1600" dirty="0">
                <a:latin typeface="Arial" charset="0"/>
                <a:cs typeface="Arial" charset="0"/>
              </a:rPr>
              <a:t>* </a:t>
            </a:r>
            <a:r>
              <a:rPr lang="en-US" sz="1600" dirty="0">
                <a:solidFill>
                  <a:srgbClr val="0000FF"/>
                </a:solidFill>
                <a:latin typeface="Arial" charset="0"/>
                <a:cs typeface="Arial" charset="0"/>
              </a:rPr>
              <a:t>number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4559398" y="3354941"/>
            <a:ext cx="1714" cy="28929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Double Brace 42"/>
          <p:cNvSpPr/>
          <p:nvPr/>
        </p:nvSpPr>
        <p:spPr>
          <a:xfrm>
            <a:off x="5471244" y="1744159"/>
            <a:ext cx="3493244" cy="1612833"/>
          </a:xfrm>
          <a:prstGeom prst="bracePair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We need to execute these statements once only</a:t>
            </a:r>
          </a:p>
          <a:p>
            <a:pPr algn="ctr"/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  <a:sym typeface="Wingdings" panose="05000000000000000000" pitchFamily="2" charset="2"/>
              </a:rPr>
              <a:t> out of the loop body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4" name="Double Brace 43"/>
          <p:cNvSpPr/>
          <p:nvPr/>
        </p:nvSpPr>
        <p:spPr>
          <a:xfrm>
            <a:off x="358031" y="1916832"/>
            <a:ext cx="3493244" cy="936104"/>
          </a:xfrm>
          <a:prstGeom prst="bracePair">
            <a:avLst/>
          </a:prstGeom>
          <a:solidFill>
            <a:schemeClr val="bg2">
              <a:lumMod val="90000"/>
            </a:scheme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Initialization of the accumulators is made before starting the loop</a:t>
            </a:r>
          </a:p>
        </p:txBody>
      </p:sp>
      <p:sp>
        <p:nvSpPr>
          <p:cNvPr id="35" name="AutoShape 68"/>
          <p:cNvSpPr>
            <a:spLocks noChangeArrowheads="1"/>
          </p:cNvSpPr>
          <p:nvPr/>
        </p:nvSpPr>
        <p:spPr bwMode="auto">
          <a:xfrm>
            <a:off x="3851920" y="2998217"/>
            <a:ext cx="1441450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counter = 0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51" name="Straight Arrow Connector 50"/>
          <p:cNvCxnSpPr>
            <a:stCxn id="19" idx="4"/>
            <a:endCxn id="26" idx="0"/>
          </p:cNvCxnSpPr>
          <p:nvPr/>
        </p:nvCxnSpPr>
        <p:spPr>
          <a:xfrm>
            <a:off x="4570934" y="4958854"/>
            <a:ext cx="1067" cy="162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26" idx="2"/>
            <a:endCxn id="34" idx="0"/>
          </p:cNvCxnSpPr>
          <p:nvPr/>
        </p:nvCxnSpPr>
        <p:spPr>
          <a:xfrm flipH="1">
            <a:off x="4572000" y="5480596"/>
            <a:ext cx="1" cy="162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34" idx="2"/>
            <a:endCxn id="63" idx="0"/>
          </p:cNvCxnSpPr>
          <p:nvPr/>
        </p:nvCxnSpPr>
        <p:spPr>
          <a:xfrm>
            <a:off x="4572000" y="6002338"/>
            <a:ext cx="1" cy="16296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63" idx="2"/>
          </p:cNvCxnSpPr>
          <p:nvPr/>
        </p:nvCxnSpPr>
        <p:spPr>
          <a:xfrm>
            <a:off x="4572001" y="6524079"/>
            <a:ext cx="1500" cy="2172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4572000" y="6741368"/>
            <a:ext cx="1728192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Double Brace 66"/>
          <p:cNvSpPr/>
          <p:nvPr/>
        </p:nvSpPr>
        <p:spPr>
          <a:xfrm>
            <a:off x="286668" y="2990592"/>
            <a:ext cx="3493244" cy="726440"/>
          </a:xfrm>
          <a:prstGeom prst="bracePair">
            <a:avLst/>
          </a:prstGeom>
          <a:solidFill>
            <a:srgbClr val="00CC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FF"/>
                </a:solidFill>
              </a:rPr>
              <a:t>Parts of the syntax of the “for” statement</a:t>
            </a:r>
          </a:p>
        </p:txBody>
      </p:sp>
      <p:sp>
        <p:nvSpPr>
          <p:cNvPr id="38" name="AutoShape 68"/>
          <p:cNvSpPr>
            <a:spLocks noChangeArrowheads="1"/>
          </p:cNvSpPr>
          <p:nvPr/>
        </p:nvSpPr>
        <p:spPr bwMode="auto">
          <a:xfrm>
            <a:off x="1428728" y="3755317"/>
            <a:ext cx="1870075" cy="571503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Print </a:t>
            </a:r>
          </a:p>
          <a:p>
            <a:pPr algn="ctr"/>
            <a:r>
              <a:rPr lang="en-US" sz="1600" dirty="0">
                <a:solidFill>
                  <a:srgbClr val="0000FF"/>
                </a:solidFill>
                <a:effectLst/>
                <a:latin typeface="Arial" charset="0"/>
                <a:cs typeface="Arial" charset="0"/>
              </a:rPr>
              <a:t>sum</a:t>
            </a:r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, </a:t>
            </a:r>
            <a:r>
              <a:rPr lang="en-US" sz="1600" dirty="0">
                <a:solidFill>
                  <a:srgbClr val="0000FF"/>
                </a:solidFill>
                <a:effectLst/>
                <a:latin typeface="Arial" charset="0"/>
                <a:cs typeface="Arial" charset="0"/>
              </a:rPr>
              <a:t>product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 flipH="1" flipV="1">
            <a:off x="1000100" y="4039551"/>
            <a:ext cx="576064" cy="303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0445933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0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5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0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5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00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5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9000"/>
                            </p:stCondLst>
                            <p:childTnLst>
                              <p:par>
                                <p:cTn id="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9500"/>
                            </p:stCondLst>
                            <p:childTnLst>
                              <p:par>
                                <p:cTn id="8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500"/>
                            </p:stCondLst>
                            <p:childTnLst>
                              <p:par>
                                <p:cTn id="9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1000"/>
                            </p:stCondLst>
                            <p:childTnLst>
                              <p:par>
                                <p:cTn id="9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1500"/>
                            </p:stCondLst>
                            <p:childTnLst>
                              <p:par>
                                <p:cTn id="10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2000"/>
                            </p:stCondLst>
                            <p:childTnLst>
                              <p:par>
                                <p:cTn id="1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2500"/>
                            </p:stCondLst>
                            <p:childTnLst>
                              <p:par>
                                <p:cTn id="1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3000"/>
                            </p:stCondLst>
                            <p:childTnLst>
                              <p:par>
                                <p:cTn id="11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4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2000"/>
                            </p:stCondLst>
                            <p:childTnLst>
                              <p:par>
                                <p:cTn id="1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4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4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5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5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5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5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5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5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5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5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00"/>
                            </p:stCondLst>
                            <p:childTnLst>
                              <p:par>
                                <p:cTn id="1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17" grpId="0" animBg="1"/>
      <p:bldP spid="15" grpId="0" animBg="1"/>
      <p:bldP spid="19" grpId="0" animBg="1"/>
      <p:bldP spid="20" grpId="0" animBg="1"/>
      <p:bldP spid="22" grpId="0" animBg="1"/>
      <p:bldP spid="22" grpId="1" animBg="1"/>
      <p:bldP spid="26" grpId="0" animBg="1"/>
      <p:bldP spid="41" grpId="0"/>
      <p:bldP spid="45" grpId="0" animBg="1"/>
      <p:bldP spid="47" grpId="0"/>
      <p:bldP spid="63" grpId="0" animBg="1"/>
      <p:bldP spid="63" grpId="1" animBg="1"/>
      <p:bldP spid="65" grpId="0" animBg="1"/>
      <p:bldP spid="65" grpId="1" animBg="1"/>
      <p:bldP spid="33" grpId="0" animBg="1"/>
      <p:bldP spid="33" grpId="1" animBg="1"/>
      <p:bldP spid="34" grpId="0" animBg="1"/>
      <p:bldP spid="43" grpId="0" animBg="1"/>
      <p:bldP spid="44" grpId="0" animBg="1"/>
      <p:bldP spid="35" grpId="0" animBg="1"/>
      <p:bldP spid="35" grpId="1" animBg="1"/>
      <p:bldP spid="67" grpId="0" animBg="1"/>
      <p:bldP spid="3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179512" y="1262945"/>
            <a:ext cx="8784976" cy="5509200"/>
            <a:chOff x="323528" y="1236822"/>
            <a:chExt cx="7848872" cy="4721403"/>
          </a:xfrm>
        </p:grpSpPr>
        <p:sp>
          <p:nvSpPr>
            <p:cNvPr id="20" name="TextBox 19"/>
            <p:cNvSpPr txBox="1"/>
            <p:nvPr/>
          </p:nvSpPr>
          <p:spPr>
            <a:xfrm>
              <a:off x="971600" y="1236822"/>
              <a:ext cx="7200800" cy="4721403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B0F0"/>
                  </a:solidFill>
                </a:rPr>
                <a:t>import</a:t>
              </a:r>
              <a:r>
                <a:rPr lang="en-US" sz="1600" dirty="0">
                  <a:solidFill>
                    <a:srgbClr val="0000FF"/>
                  </a:solidFill>
                </a:rPr>
                <a:t> </a:t>
              </a:r>
              <a:r>
                <a:rPr lang="en-US" sz="1600" dirty="0" err="1">
                  <a:solidFill>
                    <a:srgbClr val="0000FF"/>
                  </a:solidFill>
                </a:rPr>
                <a:t>java.util.Scanner</a:t>
              </a:r>
              <a:r>
                <a:rPr lang="en-US" sz="1600" dirty="0">
                  <a:solidFill>
                    <a:srgbClr val="0000FF"/>
                  </a:solidFill>
                </a:rPr>
                <a:t>;		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public class</a:t>
              </a:r>
              <a:r>
                <a:rPr lang="en-US" sz="1600" dirty="0">
                  <a:solidFill>
                    <a:srgbClr val="0000FF"/>
                  </a:solidFill>
                </a:rPr>
                <a:t> Accumulators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{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     public static void</a:t>
              </a:r>
              <a:r>
                <a:rPr lang="en-US" sz="1600" dirty="0">
                  <a:solidFill>
                    <a:srgbClr val="0000FF"/>
                  </a:solidFill>
                </a:rPr>
                <a:t> main (String[] </a:t>
              </a:r>
              <a:r>
                <a:rPr lang="en-US" sz="1600" dirty="0" err="1">
                  <a:solidFill>
                    <a:srgbClr val="0000FF"/>
                  </a:solidFill>
                </a:rPr>
                <a:t>args</a:t>
              </a:r>
              <a:r>
                <a:rPr lang="en-US" sz="1600" dirty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{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   Scanner read  = </a:t>
              </a:r>
              <a:r>
                <a:rPr lang="en-US" sz="1600" dirty="0">
                  <a:solidFill>
                    <a:srgbClr val="00B0F0"/>
                  </a:solidFill>
                </a:rPr>
                <a:t>new</a:t>
              </a:r>
              <a:r>
                <a:rPr lang="en-US" sz="1600" dirty="0">
                  <a:solidFill>
                    <a:srgbClr val="0000FF"/>
                  </a:solidFill>
                </a:rPr>
                <a:t> Scanner (</a:t>
              </a:r>
              <a:r>
                <a:rPr lang="en-US" sz="1600" dirty="0" err="1">
                  <a:solidFill>
                    <a:srgbClr val="0000FF"/>
                  </a:solidFill>
                </a:rPr>
                <a:t>System.in</a:t>
              </a:r>
              <a:r>
                <a:rPr lang="en-US" sz="1600" dirty="0">
                  <a:solidFill>
                    <a:srgbClr val="0000FF"/>
                  </a:solidFill>
                </a:rPr>
                <a:t>);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            </a:t>
              </a:r>
              <a:r>
                <a:rPr lang="en-US" sz="1600" dirty="0" err="1">
                  <a:solidFill>
                    <a:srgbClr val="00B0F0"/>
                  </a:solidFill>
                </a:rPr>
                <a:t>int</a:t>
              </a:r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>
                  <a:solidFill>
                    <a:srgbClr val="0000FF"/>
                  </a:solidFill>
                </a:rPr>
                <a:t>number, sum, product, counter, N;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   N = </a:t>
              </a:r>
              <a:r>
                <a:rPr lang="en-US" sz="1600" dirty="0" err="1">
                  <a:solidFill>
                    <a:srgbClr val="0000FF"/>
                  </a:solidFill>
                </a:rPr>
                <a:t>read.</a:t>
              </a:r>
              <a:r>
                <a:rPr lang="en-US" sz="1600" dirty="0" err="1">
                  <a:solidFill>
                    <a:srgbClr val="00B050"/>
                  </a:solidFill>
                </a:rPr>
                <a:t>nextInt</a:t>
              </a:r>
              <a:r>
                <a:rPr lang="en-US" sz="1600" dirty="0">
                  <a:solidFill>
                    <a:srgbClr val="00B050"/>
                  </a:solidFill>
                </a:rPr>
                <a:t>()</a:t>
              </a:r>
              <a:r>
                <a:rPr lang="en-US" sz="16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   sum = 0;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   product = 1;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   </a:t>
              </a:r>
              <a:r>
                <a:rPr lang="en-US" sz="1600" dirty="0">
                  <a:solidFill>
                    <a:srgbClr val="00B0F0"/>
                  </a:solidFill>
                </a:rPr>
                <a:t>for</a:t>
              </a:r>
              <a:r>
                <a:rPr lang="en-US" sz="1600" dirty="0">
                  <a:solidFill>
                    <a:srgbClr val="0000FF"/>
                  </a:solidFill>
                </a:rPr>
                <a:t> (counter = 0; counter &lt; N; counter++)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 {</a:t>
              </a:r>
            </a:p>
            <a:p>
              <a:r>
                <a:rPr lang="en-US" sz="1600" dirty="0"/>
                <a:t>	  // Input section: to enter values of used variables</a:t>
              </a:r>
              <a:endParaRPr lang="en-US" sz="1600" dirty="0">
                <a:solidFill>
                  <a:srgbClr val="0000FF"/>
                </a:solidFill>
              </a:endParaRPr>
            </a:p>
            <a:p>
              <a:r>
                <a:rPr lang="en-US" sz="1600" dirty="0"/>
                <a:t>                   </a:t>
              </a:r>
              <a:r>
                <a:rPr lang="en-US" sz="16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600" dirty="0">
                  <a:solidFill>
                    <a:srgbClr val="0000FF"/>
                  </a:solidFill>
                </a:rPr>
                <a:t> (“Enter an integer number”);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            number = </a:t>
              </a:r>
              <a:r>
                <a:rPr lang="en-US" sz="1600" dirty="0" err="1">
                  <a:solidFill>
                    <a:srgbClr val="0000FF"/>
                  </a:solidFill>
                </a:rPr>
                <a:t>read.</a:t>
              </a:r>
              <a:r>
                <a:rPr lang="en-US" sz="1600" dirty="0" err="1">
                  <a:solidFill>
                    <a:srgbClr val="00B050"/>
                  </a:solidFill>
                </a:rPr>
                <a:t>nextInt</a:t>
              </a:r>
              <a:r>
                <a:rPr lang="en-US" sz="1600" dirty="0">
                  <a:solidFill>
                    <a:srgbClr val="00B050"/>
                  </a:solidFill>
                </a:rPr>
                <a:t>()</a:t>
              </a:r>
              <a:r>
                <a:rPr lang="en-US" sz="16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600" dirty="0"/>
                <a:t>                   // Processing section: processing statements</a:t>
              </a:r>
            </a:p>
            <a:p>
              <a:r>
                <a:rPr lang="en-US" sz="1600" dirty="0"/>
                <a:t> 	   </a:t>
              </a:r>
              <a:r>
                <a:rPr lang="en-US" sz="1600" dirty="0">
                  <a:solidFill>
                    <a:srgbClr val="0000FF"/>
                  </a:solidFill>
                </a:rPr>
                <a:t>sum += number;	</a:t>
              </a:r>
              <a:r>
                <a:rPr lang="en-US" sz="1600" dirty="0">
                  <a:solidFill>
                    <a:srgbClr val="00B050"/>
                  </a:solidFill>
                </a:rPr>
                <a:t>//sum = sum + number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   product *= number;</a:t>
              </a:r>
              <a:r>
                <a:rPr lang="en-US" sz="1600" dirty="0">
                  <a:solidFill>
                    <a:srgbClr val="00B050"/>
                  </a:solidFill>
                </a:rPr>
                <a:t>	//product = product * number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  } </a:t>
              </a:r>
              <a:r>
                <a:rPr lang="en-US" sz="1600" dirty="0">
                  <a:solidFill>
                    <a:srgbClr val="00B050"/>
                  </a:solidFill>
                </a:rPr>
                <a:t>//end for loop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	</a:t>
              </a:r>
              <a:r>
                <a:rPr lang="en-US" sz="1600" dirty="0" err="1">
                  <a:solidFill>
                    <a:srgbClr val="0000FF"/>
                  </a:solidFill>
                </a:rPr>
                <a:t>System.out.printf</a:t>
              </a:r>
              <a:r>
                <a:rPr lang="en-US" sz="1600" dirty="0">
                  <a:solidFill>
                    <a:srgbClr val="0000FF"/>
                  </a:solidFill>
                </a:rPr>
                <a:t> (“Sum = %5d, Product = %5d\n”, sum, product);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       }</a:t>
              </a:r>
            </a:p>
            <a:p>
              <a:r>
                <a:rPr lang="en-US" sz="1600" dirty="0">
                  <a:solidFill>
                    <a:srgbClr val="0000FF"/>
                  </a:solidFill>
                </a:rPr>
                <a:t>}</a:t>
              </a:r>
              <a:endParaRPr lang="en-US" sz="1600" dirty="0">
                <a:solidFill>
                  <a:srgbClr val="00B050"/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3528" y="1236822"/>
              <a:ext cx="576064" cy="47214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21</a:t>
              </a:r>
            </a:p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22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3 – CODE </a:t>
            </a:r>
            <a:r>
              <a:rPr lang="en-US" dirty="0">
                <a:solidFill>
                  <a:schemeClr val="tx1"/>
                </a:solidFill>
              </a:rPr>
              <a:t>(ACCUMULATORS)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 PROGRAMMING HINT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1115616" y="3429000"/>
            <a:ext cx="792088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1115616" y="5085184"/>
            <a:ext cx="72008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899592" y="3284414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899592" y="3714752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899592" y="5429264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899592" y="5213240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899592" y="3498728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115616" y="3429000"/>
            <a:ext cx="0" cy="165618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0121358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4 – ANALYSIS </a:t>
            </a:r>
            <a:r>
              <a:rPr lang="en-US" dirty="0">
                <a:solidFill>
                  <a:schemeClr val="tx1"/>
                </a:solidFill>
              </a:rPr>
              <a:t>(COUNTERS)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64096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 PROGRAMMING HINT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51520" y="1268760"/>
            <a:ext cx="8712968" cy="720080"/>
          </a:xfrm>
          <a:prstGeom prst="roundRect">
            <a:avLst>
              <a:gd name="adj" fmla="val 4976"/>
            </a:avLst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Write a program that reads a set of integers, and counts the number of positive integers, negative integers and zeros.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6951" y="2132856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19672" y="2132856"/>
            <a:ext cx="7344816" cy="86409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A set of </a:t>
            </a:r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numbers </a:t>
            </a:r>
            <a:r>
              <a:rPr lang="en-US" dirty="0">
                <a:solidFill>
                  <a:srgbClr val="CC0099"/>
                </a:solidFill>
              </a:rPr>
              <a:t>(variable: </a:t>
            </a:r>
            <a:r>
              <a:rPr lang="en-US" dirty="0">
                <a:solidFill>
                  <a:srgbClr val="0000FF"/>
                </a:solidFill>
              </a:rPr>
              <a:t>number</a:t>
            </a:r>
            <a:r>
              <a:rPr lang="en-US" dirty="0">
                <a:solidFill>
                  <a:srgbClr val="CC0099"/>
                </a:solidFill>
              </a:rPr>
              <a:t>, type: </a:t>
            </a:r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rgbClr val="CC0099"/>
                </a:solidFill>
              </a:rPr>
              <a:t>)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How many numbers do we have? </a:t>
            </a:r>
            <a:r>
              <a:rPr lang="en-US" dirty="0">
                <a:solidFill>
                  <a:srgbClr val="CC0099"/>
                </a:solidFill>
              </a:rPr>
              <a:t>(variable: </a:t>
            </a:r>
            <a:r>
              <a:rPr lang="en-US" dirty="0">
                <a:solidFill>
                  <a:srgbClr val="0000FF"/>
                </a:solidFill>
              </a:rPr>
              <a:t>N</a:t>
            </a:r>
            <a:r>
              <a:rPr lang="en-US" dirty="0">
                <a:solidFill>
                  <a:srgbClr val="CC0099"/>
                </a:solidFill>
              </a:rPr>
              <a:t>, type: </a:t>
            </a:r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rgbClr val="CC0099"/>
                </a:solidFill>
              </a:rPr>
              <a:t>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1520" y="3068960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34241" y="3068960"/>
            <a:ext cx="7344816" cy="93610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The number of positive integers </a:t>
            </a:r>
            <a:r>
              <a:rPr lang="en-US" dirty="0">
                <a:solidFill>
                  <a:srgbClr val="CC0099"/>
                </a:solidFill>
              </a:rPr>
              <a:t>(variable: </a:t>
            </a:r>
            <a:r>
              <a:rPr lang="en-US" dirty="0" err="1">
                <a:solidFill>
                  <a:srgbClr val="0000FF"/>
                </a:solidFill>
              </a:rPr>
              <a:t>posCount</a:t>
            </a:r>
            <a:r>
              <a:rPr lang="en-US" dirty="0">
                <a:solidFill>
                  <a:srgbClr val="CC0099"/>
                </a:solidFill>
              </a:rPr>
              <a:t>, type: </a:t>
            </a:r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rgbClr val="CC0099"/>
                </a:solidFill>
              </a:rPr>
              <a:t>)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The number of negative integers </a:t>
            </a:r>
            <a:r>
              <a:rPr lang="en-US" dirty="0">
                <a:solidFill>
                  <a:srgbClr val="CC0099"/>
                </a:solidFill>
              </a:rPr>
              <a:t>(variable: </a:t>
            </a:r>
            <a:r>
              <a:rPr lang="en-US" dirty="0" err="1">
                <a:solidFill>
                  <a:srgbClr val="0000FF"/>
                </a:solidFill>
              </a:rPr>
              <a:t>negCount</a:t>
            </a:r>
            <a:r>
              <a:rPr lang="en-US" dirty="0">
                <a:solidFill>
                  <a:srgbClr val="CC0099"/>
                </a:solidFill>
              </a:rPr>
              <a:t>, type: </a:t>
            </a:r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rgbClr val="CC0099"/>
                </a:solidFill>
              </a:rPr>
              <a:t>)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The number of zeros </a:t>
            </a:r>
            <a:r>
              <a:rPr lang="en-US" dirty="0">
                <a:solidFill>
                  <a:srgbClr val="CC0099"/>
                </a:solidFill>
              </a:rPr>
              <a:t>(variable: </a:t>
            </a:r>
            <a:r>
              <a:rPr lang="en-US" dirty="0" err="1">
                <a:solidFill>
                  <a:srgbClr val="0000FF"/>
                </a:solidFill>
              </a:rPr>
              <a:t>zeroCount</a:t>
            </a:r>
            <a:r>
              <a:rPr lang="en-US" dirty="0">
                <a:solidFill>
                  <a:srgbClr val="CC0099"/>
                </a:solidFill>
              </a:rPr>
              <a:t>, type: </a:t>
            </a:r>
            <a:r>
              <a:rPr lang="en-US" dirty="0" err="1">
                <a:solidFill>
                  <a:srgbClr val="00B0F0"/>
                </a:solidFill>
              </a:rPr>
              <a:t>int</a:t>
            </a:r>
            <a:r>
              <a:rPr lang="en-US" dirty="0">
                <a:solidFill>
                  <a:srgbClr val="CC0099"/>
                </a:solidFill>
              </a:rPr>
              <a:t>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1520" y="4077072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34241" y="4077072"/>
            <a:ext cx="7344816" cy="2592288"/>
          </a:xfrm>
          <a:prstGeom prst="roundRect">
            <a:avLst>
              <a:gd name="adj" fmla="val 9650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AutoNum type="arabicPeriod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Read </a:t>
            </a:r>
            <a:r>
              <a:rPr lang="en-US" dirty="0">
                <a:solidFill>
                  <a:srgbClr val="0000FF"/>
                </a:solidFill>
              </a:rPr>
              <a:t>N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Initialize </a:t>
            </a:r>
            <a:r>
              <a:rPr lang="en-US" dirty="0" err="1">
                <a:solidFill>
                  <a:srgbClr val="0000FF"/>
                </a:solidFill>
              </a:rPr>
              <a:t>posCount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rgbClr val="0000FF"/>
                </a:solidFill>
              </a:rPr>
              <a:t>zeroCount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and </a:t>
            </a:r>
            <a:r>
              <a:rPr lang="en-US" dirty="0" err="1">
                <a:solidFill>
                  <a:srgbClr val="0000FF"/>
                </a:solidFill>
              </a:rPr>
              <a:t>negCount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to zero.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Repeat </a:t>
            </a:r>
            <a:r>
              <a:rPr lang="en-US" dirty="0">
                <a:solidFill>
                  <a:srgbClr val="0000FF"/>
                </a:solidFill>
              </a:rPr>
              <a:t>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times:</a:t>
            </a:r>
          </a:p>
          <a:p>
            <a:pPr lvl="1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3.1 Read </a:t>
            </a:r>
            <a:r>
              <a:rPr lang="en-US" dirty="0">
                <a:solidFill>
                  <a:srgbClr val="0000FF"/>
                </a:solidFill>
              </a:rPr>
              <a:t>number</a:t>
            </a:r>
          </a:p>
          <a:p>
            <a:pPr lvl="1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3.2 if (</a:t>
            </a:r>
            <a:r>
              <a:rPr lang="en-US" dirty="0">
                <a:solidFill>
                  <a:srgbClr val="0000FF"/>
                </a:solidFill>
              </a:rPr>
              <a:t>number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&gt; 0) increment </a:t>
            </a:r>
            <a:r>
              <a:rPr lang="en-US" dirty="0" err="1">
                <a:solidFill>
                  <a:srgbClr val="0000FF"/>
                </a:solidFill>
              </a:rPr>
              <a:t>posCount</a:t>
            </a:r>
            <a:endParaRPr lang="en-US" dirty="0">
              <a:solidFill>
                <a:srgbClr val="0000FF"/>
              </a:solidFill>
            </a:endParaRPr>
          </a:p>
          <a:p>
            <a:pPr lvl="1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3.3 if (</a:t>
            </a:r>
            <a:r>
              <a:rPr lang="en-US" dirty="0">
                <a:solidFill>
                  <a:srgbClr val="0000FF"/>
                </a:solidFill>
              </a:rPr>
              <a:t>number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= 0) increment </a:t>
            </a:r>
            <a:r>
              <a:rPr lang="en-US" dirty="0" err="1">
                <a:solidFill>
                  <a:srgbClr val="0000FF"/>
                </a:solidFill>
              </a:rPr>
              <a:t>zeroCount</a:t>
            </a:r>
            <a:endParaRPr lang="en-US" dirty="0">
              <a:solidFill>
                <a:srgbClr val="0000FF"/>
              </a:solidFill>
            </a:endParaRPr>
          </a:p>
          <a:p>
            <a:pPr lvl="1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3.4 if (</a:t>
            </a:r>
            <a:r>
              <a:rPr lang="en-US" dirty="0">
                <a:solidFill>
                  <a:srgbClr val="0000FF"/>
                </a:solidFill>
              </a:rPr>
              <a:t>number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&lt; 0) increment </a:t>
            </a:r>
            <a:r>
              <a:rPr lang="en-US" dirty="0" err="1">
                <a:solidFill>
                  <a:srgbClr val="0000FF"/>
                </a:solidFill>
              </a:rPr>
              <a:t>negCount</a:t>
            </a:r>
            <a:endParaRPr lang="en-US" dirty="0">
              <a:solidFill>
                <a:srgbClr val="0000FF"/>
              </a:solidFill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4. Print </a:t>
            </a:r>
            <a:r>
              <a:rPr lang="en-US" dirty="0" err="1">
                <a:solidFill>
                  <a:srgbClr val="0000FF"/>
                </a:solidFill>
              </a:rPr>
              <a:t>posCount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zeroCount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and </a:t>
            </a:r>
            <a:r>
              <a:rPr lang="en-US" dirty="0" err="1">
                <a:solidFill>
                  <a:srgbClr val="0000FF"/>
                </a:solidFill>
              </a:rPr>
              <a:t>negCount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380236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AutoShape 73"/>
          <p:cNvSpPr>
            <a:spLocks noChangeArrowheads="1"/>
          </p:cNvSpPr>
          <p:nvPr/>
        </p:nvSpPr>
        <p:spPr bwMode="auto">
          <a:xfrm>
            <a:off x="791369" y="4798417"/>
            <a:ext cx="1798488" cy="792088"/>
          </a:xfrm>
          <a:prstGeom prst="flowChartDecision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rgbClr val="0000FF"/>
                </a:solidFill>
                <a:latin typeface="Arial" charset="0"/>
                <a:cs typeface="Arial" charset="0"/>
              </a:rPr>
              <a:t>counter </a:t>
            </a:r>
            <a:r>
              <a:rPr lang="en-US" sz="1600" dirty="0">
                <a:latin typeface="Arial" charset="0"/>
                <a:cs typeface="Arial" charset="0"/>
              </a:rPr>
              <a:t>&lt; </a:t>
            </a:r>
            <a:r>
              <a:rPr lang="en-US" sz="1600" dirty="0">
                <a:solidFill>
                  <a:srgbClr val="0000FF"/>
                </a:solidFill>
                <a:latin typeface="Arial" charset="0"/>
                <a:cs typeface="Arial" charset="0"/>
              </a:rPr>
              <a:t>N</a:t>
            </a:r>
            <a:r>
              <a:rPr lang="en-US" sz="1600" dirty="0">
                <a:latin typeface="Arial" charset="0"/>
                <a:cs typeface="Arial" charset="0"/>
              </a:rPr>
              <a:t>?</a:t>
            </a:r>
            <a:endParaRPr lang="en-US" sz="1600" dirty="0">
              <a:effectLst/>
              <a:latin typeface="Arial" charset="0"/>
              <a:cs typeface="Arial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4 – FLOWCHART </a:t>
            </a:r>
            <a:r>
              <a:rPr lang="en-US" dirty="0">
                <a:solidFill>
                  <a:schemeClr val="tx1"/>
                </a:solidFill>
              </a:rPr>
              <a:t>(COUNTERS)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 PROGRAMMING HINT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utoShape 67"/>
          <p:cNvSpPr>
            <a:spLocks noChangeArrowheads="1"/>
          </p:cNvSpPr>
          <p:nvPr/>
        </p:nvSpPr>
        <p:spPr bwMode="auto">
          <a:xfrm>
            <a:off x="969888" y="1317206"/>
            <a:ext cx="1441450" cy="277842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Start</a:t>
            </a:r>
          </a:p>
        </p:txBody>
      </p:sp>
      <p:sp>
        <p:nvSpPr>
          <p:cNvPr id="20" name="AutoShape 68"/>
          <p:cNvSpPr>
            <a:spLocks noChangeArrowheads="1"/>
          </p:cNvSpPr>
          <p:nvPr/>
        </p:nvSpPr>
        <p:spPr bwMode="auto">
          <a:xfrm>
            <a:off x="969888" y="1817752"/>
            <a:ext cx="1441450" cy="358775"/>
          </a:xfrm>
          <a:prstGeom prst="parallelogram">
            <a:avLst>
              <a:gd name="adj" fmla="val 83039"/>
            </a:avLst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Read N</a:t>
            </a:r>
          </a:p>
        </p:txBody>
      </p:sp>
      <p:sp>
        <p:nvSpPr>
          <p:cNvPr id="35" name="AutoShape 68"/>
          <p:cNvSpPr>
            <a:spLocks noChangeArrowheads="1"/>
          </p:cNvSpPr>
          <p:nvPr/>
        </p:nvSpPr>
        <p:spPr bwMode="auto">
          <a:xfrm>
            <a:off x="969888" y="2410585"/>
            <a:ext cx="1441450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 err="1">
                <a:latin typeface="Arial" charset="0"/>
                <a:cs typeface="Arial" charset="0"/>
              </a:rPr>
              <a:t>posCount</a:t>
            </a:r>
            <a:r>
              <a:rPr lang="en-US" sz="1600" dirty="0">
                <a:latin typeface="Arial" charset="0"/>
                <a:cs typeface="Arial" charset="0"/>
              </a:rPr>
              <a:t> = 0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8" name="AutoShape 68"/>
          <p:cNvSpPr>
            <a:spLocks noChangeArrowheads="1"/>
          </p:cNvSpPr>
          <p:nvPr/>
        </p:nvSpPr>
        <p:spPr bwMode="auto">
          <a:xfrm>
            <a:off x="969888" y="2980710"/>
            <a:ext cx="1441450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 err="1">
                <a:latin typeface="Arial" charset="0"/>
                <a:cs typeface="Arial" charset="0"/>
              </a:rPr>
              <a:t>zeroCount</a:t>
            </a:r>
            <a:r>
              <a:rPr lang="en-US" sz="1600" dirty="0">
                <a:latin typeface="Arial" charset="0"/>
                <a:cs typeface="Arial" charset="0"/>
              </a:rPr>
              <a:t> = 0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2" name="AutoShape 68"/>
          <p:cNvSpPr>
            <a:spLocks noChangeArrowheads="1"/>
          </p:cNvSpPr>
          <p:nvPr/>
        </p:nvSpPr>
        <p:spPr bwMode="auto">
          <a:xfrm>
            <a:off x="969888" y="3562189"/>
            <a:ext cx="1441450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 err="1">
                <a:latin typeface="Arial" charset="0"/>
                <a:cs typeface="Arial" charset="0"/>
              </a:rPr>
              <a:t>negCount</a:t>
            </a:r>
            <a:r>
              <a:rPr lang="en-US" sz="1600" dirty="0">
                <a:latin typeface="Arial" charset="0"/>
                <a:cs typeface="Arial" charset="0"/>
              </a:rPr>
              <a:t> = 0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8" name="AutoShape 68"/>
          <p:cNvSpPr>
            <a:spLocks noChangeArrowheads="1"/>
          </p:cNvSpPr>
          <p:nvPr/>
        </p:nvSpPr>
        <p:spPr bwMode="auto">
          <a:xfrm>
            <a:off x="755576" y="5805264"/>
            <a:ext cx="1870075" cy="358775"/>
          </a:xfrm>
          <a:prstGeom prst="flowChartInputOutpu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Read number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20072" y="1700808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True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79231" y="4849415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55" name="AutoShape 73"/>
          <p:cNvSpPr>
            <a:spLocks noChangeArrowheads="1"/>
          </p:cNvSpPr>
          <p:nvPr/>
        </p:nvSpPr>
        <p:spPr bwMode="auto">
          <a:xfrm>
            <a:off x="3500956" y="1556792"/>
            <a:ext cx="1798488" cy="792088"/>
          </a:xfrm>
          <a:prstGeom prst="flowChartDecision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rgbClr val="0000FF"/>
                </a:solidFill>
                <a:latin typeface="Arial" charset="0"/>
                <a:cs typeface="Arial" charset="0"/>
              </a:rPr>
              <a:t>number </a:t>
            </a:r>
            <a:r>
              <a:rPr lang="en-US" sz="1600" dirty="0">
                <a:latin typeface="Arial" charset="0"/>
                <a:cs typeface="Arial" charset="0"/>
              </a:rPr>
              <a:t>&gt; 0?</a:t>
            </a:r>
            <a:endParaRPr lang="en-US" sz="1600" dirty="0">
              <a:effectLst/>
              <a:latin typeface="Arial" charset="0"/>
              <a:cs typeface="Arial" charset="0"/>
            </a:endParaRPr>
          </a:p>
        </p:txBody>
      </p:sp>
      <p:cxnSp>
        <p:nvCxnSpPr>
          <p:cNvPr id="56" name="Straight Arrow Connector 55"/>
          <p:cNvCxnSpPr/>
          <p:nvPr/>
        </p:nvCxnSpPr>
        <p:spPr>
          <a:xfrm>
            <a:off x="5273373" y="1952836"/>
            <a:ext cx="828948" cy="151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220072" y="2780928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True</a:t>
            </a:r>
          </a:p>
        </p:txBody>
      </p:sp>
      <p:sp>
        <p:nvSpPr>
          <p:cNvPr id="58" name="AutoShape 73"/>
          <p:cNvSpPr>
            <a:spLocks noChangeArrowheads="1"/>
          </p:cNvSpPr>
          <p:nvPr/>
        </p:nvSpPr>
        <p:spPr bwMode="auto">
          <a:xfrm>
            <a:off x="3500956" y="2636912"/>
            <a:ext cx="1798488" cy="792088"/>
          </a:xfrm>
          <a:prstGeom prst="flowChartDecision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rgbClr val="0000FF"/>
                </a:solidFill>
                <a:latin typeface="Arial" charset="0"/>
                <a:cs typeface="Arial" charset="0"/>
              </a:rPr>
              <a:t>number </a:t>
            </a:r>
            <a:r>
              <a:rPr lang="en-US" sz="1600" dirty="0">
                <a:latin typeface="Arial" charset="0"/>
                <a:cs typeface="Arial" charset="0"/>
              </a:rPr>
              <a:t>&lt; 0?</a:t>
            </a:r>
            <a:endParaRPr lang="en-US" sz="1600" dirty="0">
              <a:effectLst/>
              <a:latin typeface="Arial" charset="0"/>
              <a:cs typeface="Arial" charset="0"/>
            </a:endParaRPr>
          </a:p>
        </p:txBody>
      </p:sp>
      <p:cxnSp>
        <p:nvCxnSpPr>
          <p:cNvPr id="59" name="Straight Arrow Connector 58"/>
          <p:cNvCxnSpPr/>
          <p:nvPr/>
        </p:nvCxnSpPr>
        <p:spPr>
          <a:xfrm>
            <a:off x="5273373" y="3032956"/>
            <a:ext cx="828948" cy="151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801341" y="5517232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True</a:t>
            </a:r>
          </a:p>
        </p:txBody>
      </p:sp>
      <p:cxnSp>
        <p:nvCxnSpPr>
          <p:cNvPr id="73" name="Straight Arrow Connector 72"/>
          <p:cNvCxnSpPr/>
          <p:nvPr/>
        </p:nvCxnSpPr>
        <p:spPr>
          <a:xfrm flipV="1">
            <a:off x="2589857" y="5195978"/>
            <a:ext cx="181943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5" idx="2"/>
            <a:endCxn id="20" idx="0"/>
          </p:cNvCxnSpPr>
          <p:nvPr/>
        </p:nvCxnSpPr>
        <p:spPr>
          <a:xfrm>
            <a:off x="1690613" y="1595048"/>
            <a:ext cx="0" cy="22270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1690613" y="2198184"/>
            <a:ext cx="0" cy="22270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35" idx="2"/>
            <a:endCxn id="38" idx="0"/>
          </p:cNvCxnSpPr>
          <p:nvPr/>
        </p:nvCxnSpPr>
        <p:spPr>
          <a:xfrm>
            <a:off x="1690613" y="2769360"/>
            <a:ext cx="0" cy="21135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stCxn id="38" idx="2"/>
            <a:endCxn id="42" idx="0"/>
          </p:cNvCxnSpPr>
          <p:nvPr/>
        </p:nvCxnSpPr>
        <p:spPr>
          <a:xfrm>
            <a:off x="1690613" y="3339485"/>
            <a:ext cx="0" cy="22270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42" idx="2"/>
            <a:endCxn id="97" idx="0"/>
          </p:cNvCxnSpPr>
          <p:nvPr/>
        </p:nvCxnSpPr>
        <p:spPr>
          <a:xfrm>
            <a:off x="1690613" y="3920964"/>
            <a:ext cx="1712" cy="22270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>
            <a:stCxn id="48" idx="4"/>
          </p:cNvCxnSpPr>
          <p:nvPr/>
        </p:nvCxnSpPr>
        <p:spPr>
          <a:xfrm>
            <a:off x="1690614" y="6164039"/>
            <a:ext cx="1711" cy="21475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>
            <a:off x="1693345" y="6366011"/>
            <a:ext cx="1582511" cy="1972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 flipV="1">
            <a:off x="3275856" y="1952835"/>
            <a:ext cx="0" cy="44329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endCxn id="55" idx="1"/>
          </p:cNvCxnSpPr>
          <p:nvPr/>
        </p:nvCxnSpPr>
        <p:spPr>
          <a:xfrm flipV="1">
            <a:off x="3275856" y="1952836"/>
            <a:ext cx="225100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55" idx="2"/>
            <a:endCxn id="58" idx="0"/>
          </p:cNvCxnSpPr>
          <p:nvPr/>
        </p:nvCxnSpPr>
        <p:spPr>
          <a:xfrm>
            <a:off x="4400200" y="2348880"/>
            <a:ext cx="0" cy="28803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stCxn id="58" idx="2"/>
          </p:cNvCxnSpPr>
          <p:nvPr/>
        </p:nvCxnSpPr>
        <p:spPr>
          <a:xfrm>
            <a:off x="4400200" y="3429000"/>
            <a:ext cx="0" cy="28803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AutoShape 68"/>
          <p:cNvSpPr>
            <a:spLocks noChangeArrowheads="1"/>
          </p:cNvSpPr>
          <p:nvPr/>
        </p:nvSpPr>
        <p:spPr bwMode="auto">
          <a:xfrm>
            <a:off x="6102321" y="1773448"/>
            <a:ext cx="1441450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 err="1">
                <a:solidFill>
                  <a:srgbClr val="0000FF"/>
                </a:solidFill>
                <a:latin typeface="Arial" charset="0"/>
                <a:cs typeface="Arial" charset="0"/>
              </a:rPr>
              <a:t>posCount</a:t>
            </a:r>
            <a:r>
              <a:rPr lang="en-US" sz="1600" dirty="0">
                <a:latin typeface="Arial" charset="0"/>
                <a:cs typeface="Arial" charset="0"/>
              </a:rPr>
              <a:t>++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4" name="AutoShape 68"/>
          <p:cNvSpPr>
            <a:spLocks noChangeArrowheads="1"/>
          </p:cNvSpPr>
          <p:nvPr/>
        </p:nvSpPr>
        <p:spPr bwMode="auto">
          <a:xfrm>
            <a:off x="6069104" y="2853568"/>
            <a:ext cx="1441450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 err="1">
                <a:solidFill>
                  <a:srgbClr val="0000FF"/>
                </a:solidFill>
                <a:latin typeface="Arial" charset="0"/>
                <a:cs typeface="Arial" charset="0"/>
              </a:rPr>
              <a:t>negCount</a:t>
            </a:r>
            <a:r>
              <a:rPr lang="en-US" sz="1600" dirty="0">
                <a:latin typeface="Arial" charset="0"/>
                <a:cs typeface="Arial" charset="0"/>
              </a:rPr>
              <a:t>++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5" name="AutoShape 68"/>
          <p:cNvSpPr>
            <a:spLocks noChangeArrowheads="1"/>
          </p:cNvSpPr>
          <p:nvPr/>
        </p:nvSpPr>
        <p:spPr bwMode="auto">
          <a:xfrm>
            <a:off x="3679475" y="3717032"/>
            <a:ext cx="1441450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 err="1">
                <a:solidFill>
                  <a:srgbClr val="0000FF"/>
                </a:solidFill>
                <a:latin typeface="Arial" charset="0"/>
                <a:cs typeface="Arial" charset="0"/>
              </a:rPr>
              <a:t>zeroCount</a:t>
            </a:r>
            <a:r>
              <a:rPr lang="en-US" sz="1600" dirty="0">
                <a:latin typeface="Arial" charset="0"/>
                <a:cs typeface="Arial" charset="0"/>
              </a:rPr>
              <a:t>++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6" name="AutoShape 68"/>
          <p:cNvSpPr>
            <a:spLocks noChangeArrowheads="1"/>
          </p:cNvSpPr>
          <p:nvPr/>
        </p:nvSpPr>
        <p:spPr bwMode="auto">
          <a:xfrm>
            <a:off x="3670399" y="4798417"/>
            <a:ext cx="1441450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rgbClr val="0000FF"/>
                </a:solidFill>
                <a:latin typeface="Arial" charset="0"/>
                <a:cs typeface="Arial" charset="0"/>
              </a:rPr>
              <a:t>counter</a:t>
            </a:r>
            <a:r>
              <a:rPr lang="en-US" sz="1600" dirty="0">
                <a:latin typeface="Arial" charset="0"/>
                <a:cs typeface="Arial" charset="0"/>
              </a:rPr>
              <a:t>++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7" name="AutoShape 68"/>
          <p:cNvSpPr>
            <a:spLocks noChangeArrowheads="1"/>
          </p:cNvSpPr>
          <p:nvPr/>
        </p:nvSpPr>
        <p:spPr bwMode="auto">
          <a:xfrm>
            <a:off x="971600" y="4143668"/>
            <a:ext cx="1441450" cy="358775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Arial" charset="0"/>
                <a:cs typeface="Arial" charset="0"/>
              </a:rPr>
              <a:t>counter = 0</a:t>
            </a:r>
            <a:endParaRPr lang="en-US" sz="1600" dirty="0"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100" name="Straight Arrow Connector 99"/>
          <p:cNvCxnSpPr>
            <a:stCxn id="97" idx="2"/>
          </p:cNvCxnSpPr>
          <p:nvPr/>
        </p:nvCxnSpPr>
        <p:spPr>
          <a:xfrm>
            <a:off x="1692325" y="4502443"/>
            <a:ext cx="0" cy="29597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>
            <a:stCxn id="95" idx="2"/>
            <a:endCxn id="96" idx="0"/>
          </p:cNvCxnSpPr>
          <p:nvPr/>
        </p:nvCxnSpPr>
        <p:spPr>
          <a:xfrm flipH="1">
            <a:off x="4391124" y="4075807"/>
            <a:ext cx="9076" cy="72261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>
            <a:stCxn id="93" idx="3"/>
          </p:cNvCxnSpPr>
          <p:nvPr/>
        </p:nvCxnSpPr>
        <p:spPr>
          <a:xfrm>
            <a:off x="7543771" y="1952836"/>
            <a:ext cx="628629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>
            <a:stCxn id="94" idx="3"/>
          </p:cNvCxnSpPr>
          <p:nvPr/>
        </p:nvCxnSpPr>
        <p:spPr>
          <a:xfrm flipV="1">
            <a:off x="7510554" y="3032955"/>
            <a:ext cx="661846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8172400" y="1997139"/>
            <a:ext cx="0" cy="250530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/>
          <p:nvPr/>
        </p:nvCxnSpPr>
        <p:spPr>
          <a:xfrm flipH="1">
            <a:off x="4400200" y="4502443"/>
            <a:ext cx="37722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/>
          <p:nvPr/>
        </p:nvCxnSpPr>
        <p:spPr>
          <a:xfrm flipH="1">
            <a:off x="1690613" y="5576704"/>
            <a:ext cx="2132" cy="22496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/>
        </p:nvCxnSpPr>
        <p:spPr>
          <a:xfrm flipH="1" flipV="1">
            <a:off x="251520" y="6669361"/>
            <a:ext cx="4129212" cy="75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/>
          <p:nvPr/>
        </p:nvCxnSpPr>
        <p:spPr>
          <a:xfrm flipV="1">
            <a:off x="251520" y="4564518"/>
            <a:ext cx="0" cy="21056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/>
          <p:nvPr/>
        </p:nvCxnSpPr>
        <p:spPr>
          <a:xfrm>
            <a:off x="251520" y="4581128"/>
            <a:ext cx="1440805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AutoShape 68"/>
          <p:cNvSpPr>
            <a:spLocks noChangeArrowheads="1"/>
          </p:cNvSpPr>
          <p:nvPr/>
        </p:nvSpPr>
        <p:spPr bwMode="auto">
          <a:xfrm>
            <a:off x="6121028" y="5474966"/>
            <a:ext cx="2843460" cy="745152"/>
          </a:xfrm>
          <a:prstGeom prst="parallelogram">
            <a:avLst>
              <a:gd name="adj" fmla="val 83039"/>
            </a:avLst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Print </a:t>
            </a:r>
            <a:r>
              <a:rPr lang="en-US" sz="1600" dirty="0" err="1">
                <a:solidFill>
                  <a:srgbClr val="0000FF"/>
                </a:solidFill>
                <a:effectLst/>
                <a:latin typeface="Arial" charset="0"/>
                <a:cs typeface="Arial" charset="0"/>
              </a:rPr>
              <a:t>posCount</a:t>
            </a:r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,</a:t>
            </a:r>
          </a:p>
          <a:p>
            <a:pPr algn="ctr"/>
            <a:r>
              <a:rPr lang="en-US" sz="1600" dirty="0" err="1">
                <a:solidFill>
                  <a:srgbClr val="0000FF"/>
                </a:solidFill>
                <a:latin typeface="Arial" charset="0"/>
                <a:cs typeface="Arial" charset="0"/>
              </a:rPr>
              <a:t>negCount</a:t>
            </a:r>
            <a:r>
              <a:rPr lang="en-US" sz="1600" dirty="0">
                <a:latin typeface="Arial" charset="0"/>
                <a:cs typeface="Arial" charset="0"/>
              </a:rPr>
              <a:t>,</a:t>
            </a:r>
          </a:p>
          <a:p>
            <a:pPr algn="ctr"/>
            <a:r>
              <a:rPr lang="en-US" sz="1600" dirty="0" err="1">
                <a:solidFill>
                  <a:srgbClr val="0000FF"/>
                </a:solidFill>
                <a:effectLst/>
                <a:latin typeface="Arial" charset="0"/>
                <a:cs typeface="Arial" charset="0"/>
              </a:rPr>
              <a:t>zeroCount</a:t>
            </a:r>
            <a:endParaRPr lang="en-US" sz="1600" dirty="0">
              <a:solidFill>
                <a:srgbClr val="0000FF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129" name="Straight Arrow Connector 128"/>
          <p:cNvCxnSpPr>
            <a:endCxn id="123" idx="0"/>
          </p:cNvCxnSpPr>
          <p:nvPr/>
        </p:nvCxnSpPr>
        <p:spPr>
          <a:xfrm flipH="1">
            <a:off x="7542758" y="5139998"/>
            <a:ext cx="1014" cy="33496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AutoShape 67"/>
          <p:cNvSpPr>
            <a:spLocks noChangeArrowheads="1"/>
          </p:cNvSpPr>
          <p:nvPr/>
        </p:nvSpPr>
        <p:spPr bwMode="auto">
          <a:xfrm>
            <a:off x="6822033" y="6436142"/>
            <a:ext cx="1441450" cy="305226"/>
          </a:xfrm>
          <a:prstGeom prst="flowChartTerminator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End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635896" y="2339007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635896" y="3409255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False</a:t>
            </a:r>
          </a:p>
        </p:txBody>
      </p:sp>
      <p:cxnSp>
        <p:nvCxnSpPr>
          <p:cNvPr id="141" name="Straight Arrow Connector 140"/>
          <p:cNvCxnSpPr>
            <a:stCxn id="123" idx="4"/>
            <a:endCxn id="132" idx="0"/>
          </p:cNvCxnSpPr>
          <p:nvPr/>
        </p:nvCxnSpPr>
        <p:spPr>
          <a:xfrm>
            <a:off x="7542758" y="6220118"/>
            <a:ext cx="0" cy="21602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 flipH="1">
            <a:off x="4380732" y="5155927"/>
            <a:ext cx="9076" cy="15141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Oval 161"/>
          <p:cNvSpPr/>
          <p:nvPr/>
        </p:nvSpPr>
        <p:spPr>
          <a:xfrm>
            <a:off x="2733873" y="5051962"/>
            <a:ext cx="325959" cy="321254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1</a:t>
            </a:r>
          </a:p>
        </p:txBody>
      </p:sp>
      <p:sp>
        <p:nvSpPr>
          <p:cNvPr id="164" name="Oval 163"/>
          <p:cNvSpPr/>
          <p:nvPr/>
        </p:nvSpPr>
        <p:spPr>
          <a:xfrm>
            <a:off x="7380792" y="4835356"/>
            <a:ext cx="325959" cy="321254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277297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000"/>
                            </p:stCondLst>
                            <p:childTnLst>
                              <p:par>
                                <p:cTn id="8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500"/>
                            </p:stCondLst>
                            <p:childTnLst>
                              <p:par>
                                <p:cTn id="1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000"/>
                            </p:stCondLst>
                            <p:childTnLst>
                              <p:par>
                                <p:cTn id="1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500"/>
                            </p:stCondLst>
                            <p:childTnLst>
                              <p:par>
                                <p:cTn id="1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000"/>
                            </p:stCondLst>
                            <p:childTnLst>
                              <p:par>
                                <p:cTn id="16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1500"/>
                            </p:stCondLst>
                            <p:childTnLst>
                              <p:par>
                                <p:cTn id="17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500"/>
                            </p:stCondLst>
                            <p:childTnLst>
                              <p:par>
                                <p:cTn id="1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6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500"/>
                            </p:stCondLst>
                            <p:childTnLst>
                              <p:par>
                                <p:cTn id="19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0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1000"/>
                            </p:stCondLst>
                            <p:childTnLst>
                              <p:par>
                                <p:cTn id="20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1500"/>
                            </p:stCondLst>
                            <p:childTnLst>
                              <p:par>
                                <p:cTn id="20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8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2000"/>
                            </p:stCondLst>
                            <p:childTnLst>
                              <p:par>
                                <p:cTn id="2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217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8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0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221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2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225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3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3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32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3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3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3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3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3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40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4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4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4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2" grpId="1" animBg="1"/>
      <p:bldP spid="17" grpId="0" animBg="1"/>
      <p:bldP spid="15" grpId="0" animBg="1"/>
      <p:bldP spid="20" grpId="0" animBg="1"/>
      <p:bldP spid="35" grpId="0" animBg="1"/>
      <p:bldP spid="38" grpId="0" animBg="1"/>
      <p:bldP spid="42" grpId="0" animBg="1"/>
      <p:bldP spid="48" grpId="0" animBg="1"/>
      <p:bldP spid="52" grpId="0"/>
      <p:bldP spid="53" grpId="0"/>
      <p:bldP spid="55" grpId="0" animBg="1"/>
      <p:bldP spid="57" grpId="0"/>
      <p:bldP spid="58" grpId="0" animBg="1"/>
      <p:bldP spid="67" grpId="0"/>
      <p:bldP spid="93" grpId="0" animBg="1"/>
      <p:bldP spid="94" grpId="0" animBg="1"/>
      <p:bldP spid="95" grpId="0" animBg="1"/>
      <p:bldP spid="96" grpId="0" animBg="1"/>
      <p:bldP spid="96" grpId="1" animBg="1"/>
      <p:bldP spid="97" grpId="0" animBg="1"/>
      <p:bldP spid="97" grpId="1" animBg="1"/>
      <p:bldP spid="123" grpId="0" animBg="1"/>
      <p:bldP spid="132" grpId="0" animBg="1"/>
      <p:bldP spid="135" grpId="0"/>
      <p:bldP spid="136" grpId="0"/>
      <p:bldP spid="162" grpId="0" animBg="1"/>
      <p:bldP spid="16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179512" y="1262945"/>
            <a:ext cx="8784976" cy="5478423"/>
            <a:chOff x="323528" y="1236822"/>
            <a:chExt cx="7848872" cy="5225286"/>
          </a:xfrm>
        </p:grpSpPr>
        <p:sp>
          <p:nvSpPr>
            <p:cNvPr id="20" name="TextBox 19"/>
            <p:cNvSpPr txBox="1"/>
            <p:nvPr/>
          </p:nvSpPr>
          <p:spPr>
            <a:xfrm>
              <a:off x="971600" y="1236822"/>
              <a:ext cx="7200800" cy="5225286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0B0F0"/>
                  </a:solidFill>
                </a:rPr>
                <a:t>public static void</a:t>
              </a:r>
              <a:r>
                <a:rPr lang="en-US" sz="1400" dirty="0">
                  <a:solidFill>
                    <a:srgbClr val="0000FF"/>
                  </a:solidFill>
                </a:rPr>
                <a:t> main (String[] </a:t>
              </a:r>
              <a:r>
                <a:rPr lang="en-US" sz="1400" dirty="0" err="1">
                  <a:solidFill>
                    <a:srgbClr val="0000FF"/>
                  </a:solidFill>
                </a:rPr>
                <a:t>args</a:t>
              </a:r>
              <a:r>
                <a:rPr lang="en-US" sz="1400" dirty="0">
                  <a:solidFill>
                    <a:srgbClr val="0000FF"/>
                  </a:solidFill>
                </a:rPr>
                <a:t>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{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Scanner read  = </a:t>
              </a:r>
              <a:r>
                <a:rPr lang="en-US" sz="1400" dirty="0">
                  <a:solidFill>
                    <a:srgbClr val="00B0F0"/>
                  </a:solidFill>
                </a:rPr>
                <a:t>new</a:t>
              </a:r>
              <a:r>
                <a:rPr lang="en-US" sz="1400" dirty="0">
                  <a:solidFill>
                    <a:srgbClr val="0000FF"/>
                  </a:solidFill>
                </a:rPr>
                <a:t> Scanner (</a:t>
              </a:r>
              <a:r>
                <a:rPr lang="en-US" sz="1400" dirty="0" err="1">
                  <a:solidFill>
                    <a:srgbClr val="0000FF"/>
                  </a:solidFill>
                </a:rPr>
                <a:t>System.in</a:t>
              </a:r>
              <a:r>
                <a:rPr lang="en-US" sz="1400" dirty="0">
                  <a:solidFill>
                    <a:srgbClr val="0000FF"/>
                  </a:solidFill>
                </a:rPr>
                <a:t>);</a:t>
              </a:r>
            </a:p>
            <a:p>
              <a:r>
                <a:rPr lang="en-US" sz="1400" dirty="0"/>
                <a:t>             </a:t>
              </a:r>
              <a:r>
                <a:rPr lang="en-US" sz="1400" dirty="0" err="1">
                  <a:solidFill>
                    <a:srgbClr val="00B0F0"/>
                  </a:solidFill>
                </a:rPr>
                <a:t>int</a:t>
              </a:r>
              <a:r>
                <a:rPr lang="en-US" sz="1400" dirty="0">
                  <a:solidFill>
                    <a:srgbClr val="00B0F0"/>
                  </a:solidFill>
                </a:rPr>
                <a:t> </a:t>
              </a:r>
              <a:r>
                <a:rPr lang="en-US" sz="1400" dirty="0">
                  <a:solidFill>
                    <a:srgbClr val="0000FF"/>
                  </a:solidFill>
                </a:rPr>
                <a:t>number, N;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</a:t>
              </a:r>
              <a:r>
                <a:rPr lang="en-US" sz="1400" dirty="0" err="1">
                  <a:solidFill>
                    <a:srgbClr val="00B0F0"/>
                  </a:solidFill>
                </a:rPr>
                <a:t>int</a:t>
              </a:r>
              <a:r>
                <a:rPr lang="en-US" sz="1400" dirty="0">
                  <a:solidFill>
                    <a:srgbClr val="00B0F0"/>
                  </a:solidFill>
                </a:rPr>
                <a:t> </a:t>
              </a:r>
              <a:r>
                <a:rPr lang="en-US" sz="1400" dirty="0" err="1">
                  <a:solidFill>
                    <a:srgbClr val="0000FF"/>
                  </a:solidFill>
                </a:rPr>
                <a:t>posCount</a:t>
              </a:r>
              <a:r>
                <a:rPr lang="en-US" sz="1400" dirty="0">
                  <a:solidFill>
                    <a:srgbClr val="0000FF"/>
                  </a:solidFill>
                </a:rPr>
                <a:t> = 0, </a:t>
              </a:r>
              <a:r>
                <a:rPr lang="en-US" sz="1400" dirty="0" err="1">
                  <a:solidFill>
                    <a:srgbClr val="0000FF"/>
                  </a:solidFill>
                </a:rPr>
                <a:t>zeroCount</a:t>
              </a:r>
              <a:r>
                <a:rPr lang="en-US" sz="1400" dirty="0">
                  <a:solidFill>
                    <a:srgbClr val="0000FF"/>
                  </a:solidFill>
                </a:rPr>
                <a:t> = 0, </a:t>
              </a:r>
              <a:r>
                <a:rPr lang="en-US" sz="1400" dirty="0" err="1">
                  <a:solidFill>
                    <a:srgbClr val="0000FF"/>
                  </a:solidFill>
                </a:rPr>
                <a:t>negCount</a:t>
              </a:r>
              <a:r>
                <a:rPr lang="en-US" sz="1400" dirty="0">
                  <a:solidFill>
                    <a:srgbClr val="0000FF"/>
                  </a:solidFill>
                </a:rPr>
                <a:t> = 0; </a:t>
              </a:r>
              <a:r>
                <a:rPr lang="en-US" sz="1400" dirty="0">
                  <a:solidFill>
                    <a:srgbClr val="00B050"/>
                  </a:solidFill>
                </a:rPr>
                <a:t>//declare &amp; initialize counters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N = </a:t>
              </a:r>
              <a:r>
                <a:rPr lang="en-US" sz="1400" dirty="0" err="1">
                  <a:solidFill>
                    <a:srgbClr val="0000FF"/>
                  </a:solidFill>
                </a:rPr>
                <a:t>read.</a:t>
              </a:r>
              <a:r>
                <a:rPr lang="en-US" sz="1400" dirty="0" err="1">
                  <a:solidFill>
                    <a:srgbClr val="00B050"/>
                  </a:solidFill>
                </a:rPr>
                <a:t>nextInt</a:t>
              </a:r>
              <a:r>
                <a:rPr lang="en-US" sz="1400" dirty="0">
                  <a:solidFill>
                    <a:srgbClr val="00B050"/>
                  </a:solidFill>
                </a:rPr>
                <a:t>()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</a:t>
              </a:r>
              <a:r>
                <a:rPr lang="en-US" sz="1400" dirty="0">
                  <a:solidFill>
                    <a:srgbClr val="00B0F0"/>
                  </a:solidFill>
                </a:rPr>
                <a:t>for</a:t>
              </a:r>
              <a:r>
                <a:rPr lang="en-US" sz="1400" dirty="0">
                  <a:solidFill>
                    <a:srgbClr val="0000FF"/>
                  </a:solidFill>
                </a:rPr>
                <a:t> (counter = 0; counter &lt; N; counter++)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{</a:t>
              </a:r>
            </a:p>
            <a:p>
              <a:r>
                <a:rPr lang="en-US" sz="1400" dirty="0"/>
                <a:t>	  // Input section: to enter values of used variables</a:t>
              </a:r>
              <a:endParaRPr lang="en-US" sz="1400" dirty="0">
                <a:solidFill>
                  <a:srgbClr val="0000FF"/>
                </a:solidFill>
              </a:endParaRPr>
            </a:p>
            <a:p>
              <a:r>
                <a:rPr lang="en-US" sz="1400" dirty="0"/>
                <a:t>           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System.out.println</a:t>
              </a:r>
              <a:r>
                <a:rPr lang="en-US" sz="1400" dirty="0">
                  <a:solidFill>
                    <a:srgbClr val="0000FF"/>
                  </a:solidFill>
                </a:rPr>
                <a:t> (“Enter an integer number”);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     number = </a:t>
              </a:r>
              <a:r>
                <a:rPr lang="en-US" sz="1400" dirty="0" err="1">
                  <a:solidFill>
                    <a:srgbClr val="0000FF"/>
                  </a:solidFill>
                </a:rPr>
                <a:t>read.</a:t>
              </a:r>
              <a:r>
                <a:rPr lang="en-US" sz="1400" dirty="0" err="1">
                  <a:solidFill>
                    <a:srgbClr val="00B050"/>
                  </a:solidFill>
                </a:rPr>
                <a:t>nextInt</a:t>
              </a:r>
              <a:r>
                <a:rPr lang="en-US" sz="1400" dirty="0">
                  <a:solidFill>
                    <a:srgbClr val="00B050"/>
                  </a:solidFill>
                </a:rPr>
                <a:t>()</a:t>
              </a:r>
              <a:r>
                <a:rPr lang="en-US" sz="1400" dirty="0">
                  <a:solidFill>
                    <a:srgbClr val="0000FF"/>
                  </a:solidFill>
                </a:rPr>
                <a:t>;</a:t>
              </a:r>
            </a:p>
            <a:p>
              <a:r>
                <a:rPr lang="en-US" sz="1400" dirty="0"/>
                <a:t>                  // Processing section: processing statements</a:t>
              </a:r>
            </a:p>
            <a:p>
              <a:r>
                <a:rPr lang="en-US" sz="1400" dirty="0"/>
                <a:t>	 </a:t>
              </a:r>
              <a:r>
                <a:rPr lang="en-US" sz="1400" dirty="0">
                  <a:solidFill>
                    <a:srgbClr val="0000FF"/>
                  </a:solidFill>
                </a:rPr>
                <a:t>if (number &gt; 0) 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</a:t>
              </a:r>
              <a:r>
                <a:rPr lang="en-US" sz="1400" dirty="0" err="1">
                  <a:solidFill>
                    <a:srgbClr val="0000FF"/>
                  </a:solidFill>
                </a:rPr>
                <a:t>posCount</a:t>
              </a:r>
              <a:r>
                <a:rPr lang="en-US" sz="1400" dirty="0">
                  <a:solidFill>
                    <a:srgbClr val="0000FF"/>
                  </a:solidFill>
                </a:rPr>
                <a:t>++;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else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if (number &lt; 0)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</a:t>
              </a:r>
              <a:r>
                <a:rPr lang="en-US" sz="1400" dirty="0" err="1">
                  <a:solidFill>
                    <a:srgbClr val="0000FF"/>
                  </a:solidFill>
                </a:rPr>
                <a:t>negCount</a:t>
              </a:r>
              <a:r>
                <a:rPr lang="en-US" sz="1400" dirty="0">
                  <a:solidFill>
                    <a:srgbClr val="0000FF"/>
                  </a:solidFill>
                </a:rPr>
                <a:t>++;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else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	          </a:t>
              </a:r>
              <a:r>
                <a:rPr lang="en-US" sz="1400" dirty="0" err="1">
                  <a:solidFill>
                    <a:srgbClr val="0000FF"/>
                  </a:solidFill>
                </a:rPr>
                <a:t>zeroCount</a:t>
              </a:r>
              <a:r>
                <a:rPr lang="en-US" sz="1400" dirty="0">
                  <a:solidFill>
                    <a:srgbClr val="0000FF"/>
                  </a:solidFill>
                </a:rPr>
                <a:t>++;</a:t>
              </a:r>
              <a:endParaRPr lang="en-US" sz="1400" dirty="0"/>
            </a:p>
            <a:p>
              <a:r>
                <a:rPr lang="en-US" sz="1400" dirty="0">
                  <a:solidFill>
                    <a:srgbClr val="0000FF"/>
                  </a:solidFill>
                </a:rPr>
                <a:t>	    } </a:t>
              </a:r>
              <a:r>
                <a:rPr lang="en-US" sz="1400" dirty="0">
                  <a:solidFill>
                    <a:srgbClr val="00B050"/>
                  </a:solidFill>
                </a:rPr>
                <a:t>//end for loop</a:t>
              </a:r>
            </a:p>
            <a:p>
              <a:r>
                <a:rPr lang="en-US" sz="1400" dirty="0"/>
                <a:t>                     // Output section: display program output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        </a:t>
              </a:r>
              <a:r>
                <a:rPr lang="en-US" sz="1400" dirty="0" err="1">
                  <a:solidFill>
                    <a:srgbClr val="0000FF"/>
                  </a:solidFill>
                </a:rPr>
                <a:t>System.out.printf</a:t>
              </a:r>
              <a:r>
                <a:rPr lang="en-US" sz="1400" dirty="0">
                  <a:solidFill>
                    <a:srgbClr val="0000FF"/>
                  </a:solidFill>
                </a:rPr>
                <a:t> (“Positive numbers = %5d, Negative numbers = %5d, zeroes = %5d”, </a:t>
              </a:r>
              <a:r>
                <a:rPr lang="en-US" sz="1400" dirty="0" err="1">
                  <a:solidFill>
                    <a:srgbClr val="0000FF"/>
                  </a:solidFill>
                </a:rPr>
                <a:t>posCount</a:t>
              </a:r>
              <a:r>
                <a:rPr lang="en-US" sz="1400" dirty="0">
                  <a:solidFill>
                    <a:srgbClr val="0000FF"/>
                  </a:solidFill>
                </a:rPr>
                <a:t>, </a:t>
              </a:r>
              <a:r>
                <a:rPr lang="en-US" sz="1400" dirty="0" err="1">
                  <a:solidFill>
                    <a:srgbClr val="0000FF"/>
                  </a:solidFill>
                </a:rPr>
                <a:t>negCount</a:t>
              </a:r>
              <a:r>
                <a:rPr lang="en-US" sz="1400" dirty="0">
                  <a:solidFill>
                    <a:srgbClr val="0000FF"/>
                  </a:solidFill>
                </a:rPr>
                <a:t>, </a:t>
              </a:r>
              <a:r>
                <a:rPr lang="en-US" sz="1400" dirty="0" err="1">
                  <a:solidFill>
                    <a:srgbClr val="0000FF"/>
                  </a:solidFill>
                </a:rPr>
                <a:t>zeroCount</a:t>
              </a:r>
              <a:r>
                <a:rPr lang="en-US" sz="1400" dirty="0">
                  <a:solidFill>
                    <a:srgbClr val="0000FF"/>
                  </a:solidFill>
                </a:rPr>
                <a:t>);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                } </a:t>
              </a:r>
              <a:r>
                <a:rPr lang="en-US" sz="1400" dirty="0">
                  <a:solidFill>
                    <a:srgbClr val="00B050"/>
                  </a:solidFill>
                </a:rPr>
                <a:t>// end if</a:t>
              </a:r>
            </a:p>
            <a:p>
              <a:r>
                <a:rPr lang="en-US" sz="1400" dirty="0">
                  <a:solidFill>
                    <a:srgbClr val="0000FF"/>
                  </a:solidFill>
                </a:rPr>
                <a:t>} </a:t>
              </a:r>
              <a:r>
                <a:rPr lang="en-US" sz="1400" dirty="0">
                  <a:solidFill>
                    <a:srgbClr val="00B050"/>
                  </a:solidFill>
                </a:rPr>
                <a:t>// end main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3528" y="1236822"/>
              <a:ext cx="576064" cy="52252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21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22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23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24</a:t>
              </a:r>
            </a:p>
            <a:p>
              <a:pPr algn="r"/>
              <a:r>
                <a:rPr lang="en-US" sz="1400" dirty="0">
                  <a:solidFill>
                    <a:srgbClr val="FF0000"/>
                  </a:solidFill>
                </a:rPr>
                <a:t>25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PROGRAM 4 – CODE </a:t>
            </a:r>
            <a:r>
              <a:rPr lang="en-US" dirty="0">
                <a:solidFill>
                  <a:schemeClr val="tx1"/>
                </a:solidFill>
              </a:rPr>
              <a:t>(COUNTERS)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153400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3. PROGRAMMING HINT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99592" y="2564904"/>
            <a:ext cx="8064896" cy="21602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1691680" y="3986573"/>
            <a:ext cx="241787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1709059" y="4437112"/>
            <a:ext cx="224408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1691680" y="3986573"/>
            <a:ext cx="0" cy="45053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1475656" y="2924944"/>
            <a:ext cx="432048" cy="838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1475656" y="5517232"/>
            <a:ext cx="432048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1475656" y="2933328"/>
            <a:ext cx="0" cy="258390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Callout 33"/>
          <p:cNvSpPr/>
          <p:nvPr/>
        </p:nvSpPr>
        <p:spPr>
          <a:xfrm>
            <a:off x="6460976" y="4149080"/>
            <a:ext cx="2448272" cy="1584176"/>
          </a:xfrm>
          <a:prstGeom prst="wedgeEllipseCallout">
            <a:avLst>
              <a:gd name="adj1" fmla="val -158764"/>
              <a:gd name="adj2" fmla="val -19899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FF"/>
                </a:solidFill>
              </a:rPr>
              <a:t>Nesting should be considered carefully</a:t>
            </a:r>
            <a:endParaRPr lang="en-US" sz="1600" dirty="0">
              <a:solidFill>
                <a:srgbClr val="00B0F0"/>
              </a:solidFill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1691680" y="4634645"/>
            <a:ext cx="241787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1709059" y="5085184"/>
            <a:ext cx="224408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1691680" y="4634645"/>
            <a:ext cx="0" cy="45053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Callout 21"/>
          <p:cNvSpPr/>
          <p:nvPr/>
        </p:nvSpPr>
        <p:spPr>
          <a:xfrm>
            <a:off x="6460976" y="836712"/>
            <a:ext cx="2448272" cy="999728"/>
          </a:xfrm>
          <a:prstGeom prst="wedgeEllipseCallout">
            <a:avLst>
              <a:gd name="adj1" fmla="val -90352"/>
              <a:gd name="adj2" fmla="val 75681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FF"/>
                </a:solidFill>
              </a:rPr>
              <a:t>We need three different variables</a:t>
            </a:r>
            <a:endParaRPr lang="en-US" sz="1600" dirty="0">
              <a:solidFill>
                <a:srgbClr val="00B0F0"/>
              </a:solidFill>
            </a:endParaRPr>
          </a:p>
        </p:txBody>
      </p:sp>
      <p:sp>
        <p:nvSpPr>
          <p:cNvPr id="23" name="Oval Callout 22"/>
          <p:cNvSpPr/>
          <p:nvPr/>
        </p:nvSpPr>
        <p:spPr>
          <a:xfrm>
            <a:off x="6613376" y="2420888"/>
            <a:ext cx="2448272" cy="1224136"/>
          </a:xfrm>
          <a:prstGeom prst="wedgeEllipseCallout">
            <a:avLst>
              <a:gd name="adj1" fmla="val -96639"/>
              <a:gd name="adj2" fmla="val -49617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FF"/>
                </a:solidFill>
              </a:rPr>
              <a:t>Counters are always of type </a:t>
            </a:r>
            <a:r>
              <a:rPr lang="en-US" sz="1600" dirty="0" err="1">
                <a:solidFill>
                  <a:srgbClr val="00B0F0"/>
                </a:solidFill>
              </a:rPr>
              <a:t>int</a:t>
            </a:r>
            <a:endParaRPr lang="en-US" sz="1600" dirty="0">
              <a:solidFill>
                <a:srgbClr val="00B0F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98023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4" grpId="0" animBg="1"/>
      <p:bldP spid="34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558"/>
            <a:ext cx="8229600" cy="792162"/>
          </a:xfr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Self-Check Exercises (1)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9512" y="908720"/>
            <a:ext cx="86409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a complete Java program that calculates the factorial of an integer positive number. 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0! = 1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1! = 1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2! = 2 x 1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3! = 3 x 2 x 1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4! = 4 x 3 x 2 x 1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so on…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06" y="6496070"/>
            <a:ext cx="4000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W5.1 The “for” statement</a:t>
            </a:r>
          </a:p>
        </p:txBody>
      </p:sp>
    </p:spTree>
    <p:extLst>
      <p:ext uri="{BB962C8B-B14F-4D97-AF65-F5344CB8AC3E}">
        <p14:creationId xmlns:p14="http://schemas.microsoft.com/office/powerpoint/2010/main" val="1905063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D8D24581-BA14-4640-B752-9AB0FD1B9A37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558"/>
            <a:ext cx="8229600" cy="792162"/>
          </a:xfr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Self-Check Exercises (2)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406" y="6496070"/>
            <a:ext cx="4000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W5.1 </a:t>
            </a:r>
            <a:r>
              <a:rPr lang="en-US" sz="1200" dirty="0"/>
              <a:t>The “for” statement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idx="1"/>
          </p:nvPr>
        </p:nvSpPr>
        <p:spPr>
          <a:xfrm>
            <a:off x="467544" y="1124744"/>
            <a:ext cx="7848872" cy="3272691"/>
          </a:xfrm>
          <a:noFill/>
        </p:spPr>
        <p:txBody>
          <a:bodyPr wrap="square" rtlCol="0">
            <a:spAutoFit/>
          </a:bodyPr>
          <a:lstStyle/>
          <a:p>
            <a:pPr marL="0" indent="0" algn="just">
              <a:buClr>
                <a:srgbClr val="FF0000"/>
              </a:buCl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a program that calculates and prints the bill for Riyadh’s power consumption for </a:t>
            </a:r>
            <a:r>
              <a:rPr lang="en-US" sz="200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100 customers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The rates vary depending on whether the user is residential, commercial, or industrial. A code of R corresponds to a Residential, C corresponds to a Commercial, and I to Industrial. Any other code should be treated as an error.</a:t>
            </a:r>
          </a:p>
          <a:p>
            <a:pPr marL="0" indent="0" algn="just">
              <a:buClr>
                <a:srgbClr val="FF0000"/>
              </a:buCl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program should read the power consumption rate in KWH (Kilowatt per Hour); then it calculates the due amount according to the following:</a:t>
            </a:r>
          </a:p>
          <a:p>
            <a:pPr marL="0" indent="0" algn="just">
              <a:buClr>
                <a:srgbClr val="FF0000"/>
              </a:buCl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rate is SAR 5 per KWH for Residential, SAR 10 per KWH for Commercial and SAR 20 per KWH for Industrial.</a:t>
            </a:r>
          </a:p>
        </p:txBody>
      </p:sp>
    </p:spTree>
    <p:extLst>
      <p:ext uri="{BB962C8B-B14F-4D97-AF65-F5344CB8AC3E}">
        <p14:creationId xmlns:p14="http://schemas.microsoft.com/office/powerpoint/2010/main" val="40843753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20542bfc-dd8b-421d-868b-1ab188d50257"/>
  <p:tag name="ARTICULATE_SLIDE_NAV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20542bfc-dd8b-421d-868b-1ab188d50257"/>
  <p:tag name="ARTICULATE_SLIDE_NAV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1140</TotalTime>
  <Words>3622</Words>
  <Application>Microsoft Macintosh PowerPoint</Application>
  <PresentationFormat>On-screen Show (4:3)</PresentationFormat>
  <Paragraphs>736</Paragraphs>
  <Slides>28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Arial</vt:lpstr>
      <vt:lpstr>Calibri</vt:lpstr>
      <vt:lpstr>Courier New</vt:lpstr>
      <vt:lpstr>Lucida Sans Unicode</vt:lpstr>
      <vt:lpstr>Tahoma</vt:lpstr>
      <vt:lpstr>Verdana</vt:lpstr>
      <vt:lpstr>Wingdings</vt:lpstr>
      <vt:lpstr>Wingdings 2</vt:lpstr>
      <vt:lpstr>Wingdings 3</vt:lpstr>
      <vt:lpstr>Concourse</vt:lpstr>
      <vt:lpstr>   REPETITION (1)</vt:lpstr>
      <vt:lpstr>Outline</vt:lpstr>
      <vt:lpstr>1. Introduction</vt:lpstr>
      <vt:lpstr>2. The for Statement</vt:lpstr>
      <vt:lpstr>2. The for Statement</vt:lpstr>
      <vt:lpstr>2. The for Statement</vt:lpstr>
      <vt:lpstr>2. The for Statement</vt:lpstr>
      <vt:lpstr>2. The for Statement</vt:lpstr>
      <vt:lpstr>2. The for Statement</vt:lpstr>
      <vt:lpstr>2. The for Statement</vt:lpstr>
      <vt:lpstr>2. The for Statement</vt:lpstr>
      <vt:lpstr>2. The for Statement</vt:lpstr>
      <vt:lpstr>2. The for Statement</vt:lpstr>
      <vt:lpstr>2. The for Statement</vt:lpstr>
      <vt:lpstr>2. The for Statement</vt:lpstr>
      <vt:lpstr>2. The for Statement</vt:lpstr>
      <vt:lpstr>2. The for Statement</vt:lpstr>
      <vt:lpstr>2. The for Statement</vt:lpstr>
      <vt:lpstr>2. The for Statement</vt:lpstr>
      <vt:lpstr>3. PROGRAMMING HINT </vt:lpstr>
      <vt:lpstr>3. PROGRAMMING HINT</vt:lpstr>
      <vt:lpstr>3. PROGRAMMING HINT</vt:lpstr>
      <vt:lpstr>3. PROGRAMMING HINT</vt:lpstr>
      <vt:lpstr>3. PROGRAMMING HINT</vt:lpstr>
      <vt:lpstr>3. PROGRAMMING HINT</vt:lpstr>
      <vt:lpstr>3. PROGRAMMING HINT</vt:lpstr>
      <vt:lpstr>Self-Check Exercises (1)</vt:lpstr>
      <vt:lpstr>Self-Check Exercises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REPETITION (1)</dc:title>
  <dc:creator>Soha S.Zaghloul</dc:creator>
  <cp:lastModifiedBy>عبدالعزيز محمد دخيل الحميضي</cp:lastModifiedBy>
  <cp:revision>99</cp:revision>
  <dcterms:created xsi:type="dcterms:W3CDTF">2015-02-23T16:17:59Z</dcterms:created>
  <dcterms:modified xsi:type="dcterms:W3CDTF">2024-03-19T10:33:55Z</dcterms:modified>
</cp:coreProperties>
</file>