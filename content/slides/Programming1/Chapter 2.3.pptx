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0" r:id="rId6"/>
    <p:sldId id="281" r:id="rId7"/>
    <p:sldId id="261" r:id="rId8"/>
    <p:sldId id="263" r:id="rId9"/>
    <p:sldId id="298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95" r:id="rId21"/>
    <p:sldId id="289" r:id="rId22"/>
    <p:sldId id="290" r:id="rId23"/>
    <p:sldId id="291" r:id="rId24"/>
    <p:sldId id="292" r:id="rId25"/>
    <p:sldId id="293" r:id="rId26"/>
    <p:sldId id="296" r:id="rId27"/>
    <p:sldId id="297" r:id="rId28"/>
    <p:sldId id="277" r:id="rId29"/>
    <p:sldId id="260" r:id="rId30"/>
    <p:sldId id="27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69CD69"/>
    <a:srgbClr val="333399"/>
    <a:srgbClr val="C9DDFB"/>
    <a:srgbClr val="85B3F7"/>
    <a:srgbClr val="FF967D"/>
    <a:srgbClr val="CCFF66"/>
    <a:srgbClr val="6699FF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719"/>
  </p:normalViewPr>
  <p:slideViewPr>
    <p:cSldViewPr>
      <p:cViewPr>
        <p:scale>
          <a:sx n="150" d="100"/>
          <a:sy n="150" d="100"/>
        </p:scale>
        <p:origin x="2392" y="1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71A76-DDE5-4A8A-8B34-2F04F14A1B7A}" type="datetimeFigureOut">
              <a:rPr lang="en-US" smtClean="0"/>
              <a:pPr/>
              <a:t>9/2/24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252E5-EEE1-4B2B-AB2C-44A7C3DF96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8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0A429A5-F889-4C11-85EB-F47D9781EBEF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9E12-972C-4146-98CE-9444CEC2E18D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EFA51-0B64-46BD-9B9C-A21679BBE5C3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02EC-2E73-4687-8064-01753D270D4E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94C8-2203-4FC1-9091-47111E064806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71785-4004-4A2A-9029-76E3DBDBD04F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47F2-3A65-4BA4-9767-F5295EE1638F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7A5F557-A110-4B5E-8563-DC951303CA3F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91A2C74-1F85-4AF4-B4EE-40CCECE507A0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DA36-2E4C-4CA1-B297-487079394A42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2737-C96A-475C-A775-339D648C8895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A4A9056-D8BD-4863-9101-81ACC789B953}" type="datetime1">
              <a:rPr lang="en-US" smtClean="0"/>
              <a:pPr/>
              <a:t>9/2/24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8648942-3001-4E9F-BD4B-DA0C8DFD46E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996952"/>
            <a:ext cx="7872937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IDENTIFIERS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/>
              <a:t>CS 1301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1. Identifiers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2. Variables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3. Constants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4. Data Types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5. Declaration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5.1 Constants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Tahoma" charset="0"/>
                <a:cs typeface="Arial" charset="0"/>
              </a:rPr>
              <a:t>	5.2 Variables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>
                <a:latin typeface="Tahoma" charset="0"/>
                <a:cs typeface="Arial" charset="0"/>
              </a:rPr>
              <a:t>6. Examples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6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36104" y="5105400"/>
            <a:ext cx="8807896" cy="504056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our course, reserved words are written in </a:t>
            </a:r>
            <a:r>
              <a:rPr lang="en-US" dirty="0">
                <a:solidFill>
                  <a:srgbClr val="00B0F0"/>
                </a:solidFill>
              </a:rPr>
              <a:t>light blue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IDENTIFIERS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838200"/>
            <a:ext cx="8640960" cy="1510681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An </a:t>
            </a:r>
            <a:r>
              <a:rPr lang="en-US" sz="14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identifier</a:t>
            </a:r>
            <a:r>
              <a:rPr lang="en-US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 is a sequence of characters that consist of letters, digits, underscores (_), and dollar signs ($).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Identifiers are names of things such as: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Variables: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hold data whose values may be altered during the program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Constants: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hold data whose values may NOT be altered during the program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Methods: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set of processing operations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Classes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304800" y="2514600"/>
            <a:ext cx="8640960" cy="2736304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Rules for identifiers’ names include: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consist only of: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Letters (a – z or A – Z),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Digits (0 – 9),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Underscore (_),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Dollar sign ($)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begin with a digit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reserved word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 some words used in the Java language.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are interpreted by the compiler to do a specific thing. 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reserved words include: public, class, void, etc…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512" y="5661248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Identifier names are </a:t>
            </a:r>
            <a:r>
              <a:rPr lang="en-US" dirty="0">
                <a:solidFill>
                  <a:srgbClr val="FFFF00"/>
                </a:solidFill>
              </a:rPr>
              <a:t>case sensitive</a:t>
            </a:r>
            <a:r>
              <a:rPr lang="en-US" dirty="0"/>
              <a:t>: number, Number, NUMBER represent three different  identifiers.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uiExpand="1" build="p"/>
      <p:bldP spid="7" grpId="0" uiExpand="1" build="p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IDENTIFIERS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EXAMPLES OF IDENTIFIERS’ NAMES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1520" y="141277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identifiers’ names are valid: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520" y="1772816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payRate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pay_rate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$Amount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employee_salary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_Update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35730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identifiers’ names are NOT valid (illegal):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3973126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504" y="3973126"/>
            <a:ext cx="4355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an illegal character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520" y="4293096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salary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504" y="4293096"/>
            <a:ext cx="4355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an illegal character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520" y="4653136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one+two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36504" y="4653136"/>
            <a:ext cx="4355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an illegal character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20" y="5085184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504" y="5085184"/>
            <a:ext cx="4355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NOT begin with a digit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520" y="5517232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504" y="5517232"/>
            <a:ext cx="4355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Reserved word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55576" y="4734784"/>
            <a:ext cx="813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5576" y="5115613"/>
            <a:ext cx="813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55576" y="5568450"/>
            <a:ext cx="813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55576" y="6021288"/>
            <a:ext cx="813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55576" y="4353955"/>
            <a:ext cx="813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6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uiExpand="1" build="p"/>
      <p:bldP spid="10" grpId="0"/>
      <p:bldP spid="11" grpId="0" build="p"/>
      <p:bldP spid="12" grpId="0" build="p"/>
      <p:bldP spid="13" grpId="0" build="p"/>
      <p:bldP spid="14" grpId="0" build="p"/>
      <p:bldP spid="15" grpId="0" build="p"/>
      <p:bldP spid="16" grpId="0" build="p"/>
      <p:bldP spid="17" grpId="0" build="p"/>
      <p:bldP spid="18" grpId="0" build="p"/>
      <p:bldP spid="19" grpId="0" build="p"/>
      <p:bldP spid="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Variables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489086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chemeClr val="bg1">
                  <a:lumMod val="75000"/>
                </a:schemeClr>
              </a:buClr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b="1" i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variable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is an identifier that its value may change.</a:t>
            </a:r>
          </a:p>
          <a:p>
            <a:pPr>
              <a:lnSpc>
                <a:spcPct val="90000"/>
              </a:lnSpc>
              <a:buNone/>
            </a:pPr>
            <a:r>
              <a:rPr lang="en-US" sz="2000" u="sng" dirty="0">
                <a:solidFill>
                  <a:srgbClr val="00B05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Examples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mark1, employee_Address, studentID, $age, bookName, _length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Each variable should have a type which represents the type of information that will be stored in this variable.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When a variable declared,  a memory allocation is reserved for it according to its data type.</a:t>
            </a:r>
          </a:p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Variable declaration in Java</a:t>
            </a:r>
          </a:p>
          <a:p>
            <a:pPr lvl="1">
              <a:buNone/>
            </a:pPr>
            <a:r>
              <a:rPr lang="en-US" sz="2000" b="1" dirty="0" err="1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Data_Type</a:t>
            </a:r>
            <a:r>
              <a:rPr lang="en-US" sz="2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identifier;</a:t>
            </a:r>
          </a:p>
          <a:p>
            <a:pPr lvl="1">
              <a:buNone/>
            </a:pPr>
            <a:endParaRPr lang="en-US" sz="2000" b="1" dirty="0">
              <a:solidFill>
                <a:srgbClr val="0000FF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ar-SA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8296" y="980728"/>
            <a:ext cx="1872208" cy="504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4200" y="2276872"/>
            <a:ext cx="1814264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86000"/>
            <a:ext cx="1676400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600" y="2276872"/>
            <a:ext cx="1872208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7704" y="1772816"/>
            <a:ext cx="59046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</p:cNvCxnSpPr>
          <p:nvPr/>
        </p:nvCxnSpPr>
        <p:spPr>
          <a:xfrm flipV="1">
            <a:off x="1907704" y="1772816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657600" y="175260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</p:cNvCxnSpPr>
          <p:nvPr/>
        </p:nvCxnSpPr>
        <p:spPr>
          <a:xfrm flipH="1" flipV="1">
            <a:off x="7812360" y="1772816"/>
            <a:ext cx="28972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24400" y="1484784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1600" y="2852936"/>
            <a:ext cx="1872208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name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256" y="2852936"/>
            <a:ext cx="1872208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value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2819400"/>
            <a:ext cx="1752600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this shows the type of data that will be stored in this variable.</a:t>
            </a:r>
            <a:endParaRPr lang="en-US" sz="1400" dirty="0">
              <a:solidFill>
                <a:srgbClr val="333399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791200" y="175260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2286000"/>
            <a:ext cx="1719808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819400"/>
            <a:ext cx="1828800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how much space to store in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104" y="4343400"/>
            <a:ext cx="8655496" cy="10123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All variables must be declared  with a </a:t>
            </a:r>
            <a:r>
              <a:rPr lang="en-US" u="sng" dirty="0">
                <a:solidFill>
                  <a:schemeClr val="bg1"/>
                </a:solidFill>
              </a:rPr>
              <a:t>name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u="sng" dirty="0">
                <a:solidFill>
                  <a:schemeClr val="bg1"/>
                </a:solidFill>
              </a:rPr>
              <a:t>data type</a:t>
            </a:r>
            <a:r>
              <a:rPr lang="en-US" dirty="0">
                <a:solidFill>
                  <a:schemeClr val="bg1"/>
                </a:solidFill>
              </a:rPr>
              <a:t> before they can be used in program.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  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6104" y="5562600"/>
            <a:ext cx="86554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dirty="0">
              <a:latin typeface="+mj-lt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When new value is placed into a variable, it replaces (and destroys) previous value. </a:t>
            </a:r>
          </a:p>
          <a:p>
            <a:pPr lvl="5"/>
            <a:r>
              <a:rPr lang="en-US" b="1" dirty="0">
                <a:solidFill>
                  <a:srgbClr val="0000FF"/>
                </a:solidFill>
                <a:latin typeface="+mj-lt"/>
                <a:cs typeface="Times New Roman" pitchFamily="18" charset="0"/>
              </a:rPr>
              <a:t>Overwrite 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83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3" grpId="0" animBg="1"/>
      <p:bldP spid="34" grpId="0" animBg="1"/>
      <p:bldP spid="35" grpId="0" animBg="1"/>
      <p:bldP spid="18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CONSTANTS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8296" y="980728"/>
            <a:ext cx="1872208" cy="5040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4200" y="2276872"/>
            <a:ext cx="1814264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86000"/>
            <a:ext cx="1676400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600" y="2276872"/>
            <a:ext cx="1872208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7704" y="1772816"/>
            <a:ext cx="59046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</p:cNvCxnSpPr>
          <p:nvPr/>
        </p:nvCxnSpPr>
        <p:spPr>
          <a:xfrm flipV="1">
            <a:off x="1907704" y="1772816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657600" y="175260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</p:cNvCxnSpPr>
          <p:nvPr/>
        </p:nvCxnSpPr>
        <p:spPr>
          <a:xfrm flipH="1" flipV="1">
            <a:off x="7812360" y="1772816"/>
            <a:ext cx="28972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24400" y="1484784"/>
            <a:ext cx="0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1600" y="2852936"/>
            <a:ext cx="1872208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name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256" y="2852936"/>
            <a:ext cx="1872208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value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2819400"/>
            <a:ext cx="1752600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this shows the type of data that will be stored in this variable.</a:t>
            </a:r>
            <a:endParaRPr lang="en-US" sz="1400" dirty="0">
              <a:solidFill>
                <a:srgbClr val="333399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791200" y="1752600"/>
            <a:ext cx="0" cy="5040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2286000"/>
            <a:ext cx="1719808" cy="504056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819400"/>
            <a:ext cx="1828800" cy="10081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how much space to store in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512" y="5517232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contrast to variables, the state (value) of a constant does not change through the program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83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3" grpId="0" animBg="1"/>
      <p:bldP spid="34" grpId="0" animBg="1"/>
      <p:bldP spid="35" grpId="0" animBg="1"/>
      <p:bldP spid="18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43204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programs manipulate different data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51520" y="1196752"/>
            <a:ext cx="8640960" cy="1800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employee payroll program paycheck manipulates data such as: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name 		(a sequence of characters)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hours 		(a fraction number)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 rate 			(a fraction number)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Marital status 		(a character)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dependents 	(a whole number)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51520" y="3068960"/>
            <a:ext cx="8640960" cy="129614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Registrar system in a university manipulates data such as: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Student name 		(a sequence of characters)</a:t>
            </a: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GPA 			(a fraction number)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36676" lvl="2" indent="-342900" algn="just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Semester’s load		(a whole number)</a:t>
            </a: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251520" y="443711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data types manipulate different operations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251520" y="4797152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 data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added, subtracted, multiplied, etc…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 data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sorted, concatenated, etc…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5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uiExpand="1" build="p"/>
      <p:bldP spid="8" grpId="0" uiExpand="1" build="p"/>
      <p:bldP spid="9" grpId="0" build="p"/>
      <p:bldP spid="1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40960" cy="4890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Java distinguishes two sorts of data types</a:t>
            </a:r>
          </a:p>
          <a:p>
            <a:pPr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1. Values of </a:t>
            </a: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primitive data type 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(Built in java)</a:t>
            </a:r>
          </a:p>
          <a:p>
            <a:pPr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2. Instances of classes (objects) (</a:t>
            </a: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reference types)</a:t>
            </a:r>
          </a:p>
          <a:p>
            <a:pPr>
              <a:buNone/>
            </a:pPr>
            <a:endParaRPr lang="en-US" sz="20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b="1" dirty="0">
                <a:latin typeface="Tahoma" pitchFamily="34" charset="0"/>
                <a:ea typeface="Tahoma" pitchFamily="34" charset="0"/>
                <a:cs typeface="Tahoma" pitchFamily="34" charset="0"/>
              </a:rPr>
              <a:t>Primitive data types</a:t>
            </a:r>
          </a:p>
          <a:p>
            <a:pPr lvl="1"/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There are three categories of primitive data types:  numbers,  characters,  Booleans.</a:t>
            </a:r>
          </a:p>
          <a:p>
            <a:pPr lvl="2"/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Each has its own memory size and range of values.</a:t>
            </a:r>
          </a:p>
          <a:p>
            <a:endParaRPr lang="ar-SA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PRIMITIVE DATA TYPES (1) - Integers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43204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categorizes integer data into the following primitive types: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929871"/>
              </p:ext>
            </p:extLst>
          </p:nvPr>
        </p:nvGraphicFramePr>
        <p:xfrm>
          <a:off x="251520" y="1740872"/>
          <a:ext cx="8712968" cy="29311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97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Min.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Max.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l"/>
                      <a:r>
                        <a:rPr lang="en-US" sz="18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bits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- 128 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- 2</a:t>
                      </a:r>
                      <a:r>
                        <a:rPr lang="en-US" sz="1800" b="0" baseline="300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+ 127 </a:t>
                      </a:r>
                    </a:p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2</a:t>
                      </a:r>
                      <a:r>
                        <a:rPr lang="en-US" sz="1800" b="0" baseline="300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baseline="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l"/>
                      <a:r>
                        <a:rPr lang="en-US" sz="18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- 32,768 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- 2</a:t>
                      </a:r>
                      <a:r>
                        <a:rPr lang="en-US" sz="1800" b="0" baseline="300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+ 32,767 </a:t>
                      </a:r>
                    </a:p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2</a:t>
                      </a:r>
                      <a:r>
                        <a:rPr lang="en-US" sz="1800" b="0" baseline="300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baseline="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</a:t>
                      </a:r>
                      <a:endParaRPr lang="en-US" sz="1800" dirty="0">
                        <a:solidFill>
                          <a:srgbClr val="00B0F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l"/>
                      <a:r>
                        <a:rPr lang="en-US" sz="18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- 2,147,483,648</a:t>
                      </a:r>
                    </a:p>
                    <a:p>
                      <a:pPr algn="l"/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- 2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  <a:endParaRPr lang="en-US" sz="1800" b="0" baseline="30000" dirty="0">
                        <a:solidFill>
                          <a:schemeClr val="accent2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+2,147,483,648</a:t>
                      </a:r>
                    </a:p>
                    <a:p>
                      <a:pPr algn="l"/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- 1</a:t>
                      </a:r>
                      <a:endParaRPr lang="en-US" sz="1800" b="0" baseline="30000" dirty="0">
                        <a:solidFill>
                          <a:srgbClr val="00B05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l"/>
                      <a:r>
                        <a:rPr lang="en-US" sz="1800" dirty="0">
                          <a:solidFill>
                            <a:schemeClr val="accent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-9,223,372,036,854,775,808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= - 2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+ 9,223,372,036,854,775,808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= 2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63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- 1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ontent Placeholder 4"/>
          <p:cNvSpPr txBox="1">
            <a:spLocks/>
          </p:cNvSpPr>
          <p:nvPr/>
        </p:nvSpPr>
        <p:spPr>
          <a:xfrm>
            <a:off x="251520" y="5037179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 integers do not require a + sign in front of them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Content Placeholder 4"/>
          <p:cNvSpPr txBox="1">
            <a:spLocks/>
          </p:cNvSpPr>
          <p:nvPr/>
        </p:nvSpPr>
        <p:spPr>
          <a:xfrm>
            <a:off x="251520" y="5349214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commas are allowed within integers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ontent Placeholder 4"/>
          <p:cNvSpPr txBox="1">
            <a:spLocks/>
          </p:cNvSpPr>
          <p:nvPr/>
        </p:nvSpPr>
        <p:spPr>
          <a:xfrm>
            <a:off x="251520" y="4725144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above types store numbers with no decimal point: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integers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Content Placeholder 4"/>
          <p:cNvSpPr txBox="1">
            <a:spLocks/>
          </p:cNvSpPr>
          <p:nvPr/>
        </p:nvSpPr>
        <p:spPr>
          <a:xfrm>
            <a:off x="251520" y="5661248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381000" y="5638800"/>
            <a:ext cx="8259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Words in blue are reserved words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4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build="p"/>
      <p:bldP spid="14" grpId="0" build="p"/>
      <p:bldP spid="15" grpId="0" build="p"/>
      <p:bldP spid="16" grpId="0" build="p"/>
      <p:bldP spid="17" grpId="0" build="p"/>
      <p:bldP spid="1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PRIMITIVE DATA TYPES (2) – Decimals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432048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categorizes decimal (or real) data into the following primitive types: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836724"/>
              </p:ext>
            </p:extLst>
          </p:nvPr>
        </p:nvGraphicFramePr>
        <p:xfrm>
          <a:off x="251520" y="1740872"/>
          <a:ext cx="8640961" cy="19202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4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Min.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Max.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Number of Significant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 bits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- 3.4e+38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+ 3.4e+38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 to 7 after the decimal point (Single precision)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- 1.7e+308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+ 1.7e+308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 to 15 after the decimal point (Double precision)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Content Placeholder 4"/>
          <p:cNvSpPr txBox="1">
            <a:spLocks/>
          </p:cNvSpPr>
          <p:nvPr/>
        </p:nvSpPr>
        <p:spPr>
          <a:xfrm>
            <a:off x="251520" y="4149080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Java, real numbers are represented using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floating-point notation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ontent Placeholder 4"/>
          <p:cNvSpPr txBox="1">
            <a:spLocks/>
          </p:cNvSpPr>
          <p:nvPr/>
        </p:nvSpPr>
        <p:spPr>
          <a:xfrm>
            <a:off x="251520" y="3789040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above types store numbers with decimal point: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floating-point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309658"/>
              </p:ext>
            </p:extLst>
          </p:nvPr>
        </p:nvGraphicFramePr>
        <p:xfrm>
          <a:off x="251520" y="4677112"/>
          <a:ext cx="8640960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Scientific 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Floating-point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Notation</a:t>
                      </a:r>
                      <a:endParaRPr lang="en-US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4.387 * 10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4.387e+3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438791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4.38791 * 10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4.38791e+5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5.0 * 10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-4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5.0e-4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0.0000265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2.65 * 10</a:t>
                      </a:r>
                      <a:r>
                        <a:rPr lang="en-US" sz="1800" baseline="300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2.65e-5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7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build="p"/>
      <p:bldP spid="14" grpId="0" build="p"/>
      <p:bldP spid="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PRIMITIVE DATA TYPES (3) – Character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07569"/>
              </p:ext>
            </p:extLst>
          </p:nvPr>
        </p:nvGraphicFramePr>
        <p:xfrm>
          <a:off x="251520" y="1412776"/>
          <a:ext cx="8640961" cy="10109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4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Min.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Max.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bits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65,535</a:t>
                      </a:r>
                    </a:p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 2</a:t>
                      </a:r>
                      <a:r>
                        <a:rPr lang="en-US" sz="1800" b="0" baseline="300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  <a:r>
                        <a:rPr lang="en-US" sz="1800" b="0" baseline="300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Stores the Unicode of </a:t>
                      </a:r>
                      <a:r>
                        <a:rPr lang="en-US" sz="1800" b="0" u="sng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single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Content Placeholder 4"/>
          <p:cNvSpPr txBox="1">
            <a:spLocks/>
          </p:cNvSpPr>
          <p:nvPr/>
        </p:nvSpPr>
        <p:spPr>
          <a:xfrm>
            <a:off x="220523" y="2564904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key on the keyboard is represented by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type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Content Placeholder 4"/>
          <p:cNvSpPr txBox="1">
            <a:spLocks/>
          </p:cNvSpPr>
          <p:nvPr/>
        </p:nvSpPr>
        <p:spPr>
          <a:xfrm>
            <a:off x="220523" y="2939346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Values of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type are enclosed between single quotes such as: </a:t>
            </a:r>
          </a:p>
          <a:p>
            <a:pPr marL="0" indent="0" algn="just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‘A’  ‘a’   ‘%’   ‘$’   ‘*’   ‘&amp;’   ‘7’   ‘ ’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9512" y="6237312"/>
            <a:ext cx="8807896" cy="504056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our course, space character is represented by the letter ‘~’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220523" y="3601820"/>
            <a:ext cx="8640960" cy="648072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values can NOT be represented by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type: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‘</a:t>
            </a:r>
            <a:r>
              <a:rPr lang="en-US" sz="18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Abc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   	‘&gt;=’  	‘Ahmed’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these are rather </a:t>
            </a:r>
            <a:r>
              <a:rPr lang="en-US" sz="18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(non-primitive)</a:t>
            </a:r>
            <a:r>
              <a:rPr lang="en-US" sz="18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Content Placeholder 4"/>
          <p:cNvSpPr txBox="1">
            <a:spLocks/>
          </p:cNvSpPr>
          <p:nvPr/>
        </p:nvSpPr>
        <p:spPr>
          <a:xfrm>
            <a:off x="220523" y="4192286"/>
            <a:ext cx="8640960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space may be represented as a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Content Placeholder 4"/>
          <p:cNvSpPr txBox="1">
            <a:spLocks/>
          </p:cNvSpPr>
          <p:nvPr/>
        </p:nvSpPr>
        <p:spPr>
          <a:xfrm>
            <a:off x="220523" y="4638736"/>
            <a:ext cx="8640960" cy="648072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uses the Unicode coding system to represent characters in memory. Each character has a </a:t>
            </a:r>
            <a:r>
              <a:rPr lang="en-US" sz="20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unique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code.</a:t>
            </a:r>
          </a:p>
        </p:txBody>
      </p:sp>
      <p:sp>
        <p:nvSpPr>
          <p:cNvPr id="24" name="Content Placeholder 4"/>
          <p:cNvSpPr txBox="1">
            <a:spLocks/>
          </p:cNvSpPr>
          <p:nvPr/>
        </p:nvSpPr>
        <p:spPr>
          <a:xfrm>
            <a:off x="220523" y="5229200"/>
            <a:ext cx="8640960" cy="936104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65,535 unique codes. For example, the value 65 corresponds to the letter ‘A’; the value 97 represents ‘a’; and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on.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0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build="p"/>
      <p:bldP spid="15" grpId="0" uiExpand="1" build="p"/>
      <p:bldP spid="17" grpId="0" animBg="1"/>
      <p:bldP spid="18" grpId="0" uiExpand="1" build="p"/>
      <p:bldP spid="21" grpId="0" build="p"/>
      <p:bldP spid="23" grpId="0" build="p"/>
      <p:bldP spid="2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06470" y="1143000"/>
            <a:ext cx="8226259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Straight Connector 1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8600" y="44624"/>
            <a:ext cx="8663880" cy="598488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81000" y="762000"/>
            <a:ext cx="8663880" cy="598488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1600" dirty="0">
                <a:solidFill>
                  <a:schemeClr val="accent2"/>
                </a:solidFill>
                <a:latin typeface="Tahoma" charset="0"/>
                <a:cs typeface="Arial" charset="0"/>
              </a:rPr>
              <a:t>ASCII character set, which is a subset of the Unicode character set used by Java</a:t>
            </a:r>
          </a:p>
        </p:txBody>
      </p:sp>
    </p:spTree>
    <p:extLst>
      <p:ext uri="{BB962C8B-B14F-4D97-AF65-F5344CB8AC3E}">
        <p14:creationId xmlns:p14="http://schemas.microsoft.com/office/powerpoint/2010/main" val="219235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PRIMITIVE DATA TYPES (4) – Boolean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308388"/>
              </p:ext>
            </p:extLst>
          </p:nvPr>
        </p:nvGraphicFramePr>
        <p:xfrm>
          <a:off x="251520" y="1412776"/>
          <a:ext cx="8640961" cy="741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4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Min.</a:t>
                      </a:r>
                      <a:r>
                        <a:rPr lang="en-US" sz="18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Max.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boolean</a:t>
                      </a:r>
                      <a:endParaRPr lang="en-US" sz="1800" dirty="0">
                        <a:solidFill>
                          <a:srgbClr val="00B0F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aseline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bit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Stores either </a:t>
                      </a:r>
                      <a:r>
                        <a:rPr lang="en-US" sz="1800" b="0" baseline="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true 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or </a:t>
                      </a:r>
                      <a:r>
                        <a:rPr lang="en-US" sz="1800" b="0" baseline="0" dirty="0">
                          <a:solidFill>
                            <a:srgbClr val="00B0F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false</a:t>
                      </a:r>
                      <a:r>
                        <a:rPr lang="en-US" sz="1800" b="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Content Placeholder 4"/>
          <p:cNvSpPr txBox="1">
            <a:spLocks/>
          </p:cNvSpPr>
          <p:nvPr/>
        </p:nvSpPr>
        <p:spPr>
          <a:xfrm>
            <a:off x="179512" y="2276872"/>
            <a:ext cx="8640960" cy="72008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err="1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type manipulates logical expressions that evaluate to either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56032" lvl="1" indent="0" algn="just">
              <a:lnSpc>
                <a:spcPct val="90000"/>
              </a:lnSpc>
              <a:buClr>
                <a:srgbClr val="FF0000"/>
              </a:buClr>
              <a:buFont typeface="Verdana"/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ontent Placeholder 4"/>
          <p:cNvSpPr txBox="1">
            <a:spLocks/>
          </p:cNvSpPr>
          <p:nvPr/>
        </p:nvSpPr>
        <p:spPr>
          <a:xfrm>
            <a:off x="179512" y="2996952"/>
            <a:ext cx="8640960" cy="1800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(logical) expressions include: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&gt; 10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payRate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&lt; 25.5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== Y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status == ‘M’</a:t>
            </a:r>
          </a:p>
          <a:p>
            <a:pPr marL="598932" lvl="1" indent="-342900" algn="just">
              <a:lnSpc>
                <a:spcPct val="9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(score &gt; 90) and (score &lt; 100)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0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build="p"/>
      <p:bldP spid="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4.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SELECTING A DATA TYPE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239852" y="1412776"/>
            <a:ext cx="2664296" cy="5760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Constant/Variable?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568" y="2420888"/>
            <a:ext cx="2016224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Numeric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3888" y="2420888"/>
            <a:ext cx="2016224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Character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0232" y="2420888"/>
            <a:ext cx="2016224" cy="5760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Boolean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520" y="3429000"/>
            <a:ext cx="1656184" cy="648072"/>
          </a:xfrm>
          <a:prstGeom prst="roundRect">
            <a:avLst/>
          </a:prstGeom>
          <a:solidFill>
            <a:srgbClr val="99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39933"/>
                </a:solidFill>
              </a:rPr>
              <a:t>Integer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3728" y="3429000"/>
            <a:ext cx="1656184" cy="648072"/>
          </a:xfrm>
          <a:prstGeom prst="roundRect">
            <a:avLst/>
          </a:prstGeom>
          <a:solidFill>
            <a:srgbClr val="99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39933"/>
                </a:solidFill>
              </a:rPr>
              <a:t>Floating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84" y="4221088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byte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84" y="4797152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short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84" y="5373216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int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7584" y="5949280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long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9792" y="4221088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float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9792" y="4797152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double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4328" y="4221088"/>
            <a:ext cx="115212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boolean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99992" y="4221088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char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9992" y="4797152"/>
            <a:ext cx="1080120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String</a:t>
            </a:r>
          </a:p>
        </p:txBody>
      </p:sp>
      <p:cxnSp>
        <p:nvCxnSpPr>
          <p:cNvPr id="26" name="Straight Connector 25"/>
          <p:cNvCxnSpPr>
            <a:stCxn id="3" idx="2"/>
          </p:cNvCxnSpPr>
          <p:nvPr/>
        </p:nvCxnSpPr>
        <p:spPr>
          <a:xfrm>
            <a:off x="4572000" y="1988840"/>
            <a:ext cx="0" cy="1440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8" idx="0"/>
          </p:cNvCxnSpPr>
          <p:nvPr/>
        </p:nvCxnSpPr>
        <p:spPr>
          <a:xfrm>
            <a:off x="1691680" y="2132856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5" idx="0"/>
          </p:cNvCxnSpPr>
          <p:nvPr/>
        </p:nvCxnSpPr>
        <p:spPr>
          <a:xfrm>
            <a:off x="7668344" y="2132856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2" idx="0"/>
          </p:cNvCxnSpPr>
          <p:nvPr/>
        </p:nvCxnSpPr>
        <p:spPr>
          <a:xfrm>
            <a:off x="4572000" y="2132856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1691680" y="2132856"/>
            <a:ext cx="59766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8" idx="2"/>
          </p:cNvCxnSpPr>
          <p:nvPr/>
        </p:nvCxnSpPr>
        <p:spPr>
          <a:xfrm>
            <a:off x="1691680" y="2996952"/>
            <a:ext cx="0" cy="1440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9" idx="0"/>
          </p:cNvCxnSpPr>
          <p:nvPr/>
        </p:nvCxnSpPr>
        <p:spPr>
          <a:xfrm>
            <a:off x="1079612" y="3140968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17" idx="0"/>
          </p:cNvCxnSpPr>
          <p:nvPr/>
        </p:nvCxnSpPr>
        <p:spPr>
          <a:xfrm>
            <a:off x="2951820" y="3140968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1079612" y="3140968"/>
            <a:ext cx="18722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067944" y="2996952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25" idx="1"/>
          </p:cNvCxnSpPr>
          <p:nvPr/>
        </p:nvCxnSpPr>
        <p:spPr>
          <a:xfrm>
            <a:off x="4067944" y="5049180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24" idx="1"/>
          </p:cNvCxnSpPr>
          <p:nvPr/>
        </p:nvCxnSpPr>
        <p:spPr>
          <a:xfrm>
            <a:off x="4067944" y="4473116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67544" y="4077072"/>
            <a:ext cx="0" cy="23762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10" idx="1"/>
          </p:cNvCxnSpPr>
          <p:nvPr/>
        </p:nvCxnSpPr>
        <p:spPr>
          <a:xfrm>
            <a:off x="467544" y="447311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18" idx="1"/>
          </p:cNvCxnSpPr>
          <p:nvPr/>
        </p:nvCxnSpPr>
        <p:spPr>
          <a:xfrm>
            <a:off x="467544" y="50491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endCxn id="19" idx="1"/>
          </p:cNvCxnSpPr>
          <p:nvPr/>
        </p:nvCxnSpPr>
        <p:spPr>
          <a:xfrm>
            <a:off x="467544" y="5625244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20" idx="1"/>
          </p:cNvCxnSpPr>
          <p:nvPr/>
        </p:nvCxnSpPr>
        <p:spPr>
          <a:xfrm>
            <a:off x="467544" y="6201308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2411760" y="4077072"/>
            <a:ext cx="0" cy="15481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21" idx="1"/>
          </p:cNvCxnSpPr>
          <p:nvPr/>
        </p:nvCxnSpPr>
        <p:spPr>
          <a:xfrm>
            <a:off x="2411760" y="4473116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22" idx="1"/>
          </p:cNvCxnSpPr>
          <p:nvPr/>
        </p:nvCxnSpPr>
        <p:spPr>
          <a:xfrm>
            <a:off x="2411760" y="5049180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7020272" y="2996952"/>
            <a:ext cx="0" cy="14761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23" idx="1"/>
          </p:cNvCxnSpPr>
          <p:nvPr/>
        </p:nvCxnSpPr>
        <p:spPr>
          <a:xfrm>
            <a:off x="7020272" y="4473116"/>
            <a:ext cx="504056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74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8" grpId="0" animBg="1"/>
      <p:bldP spid="12" grpId="0" animBg="1"/>
      <p:bldP spid="15" grpId="0" animBg="1"/>
      <p:bldP spid="9" grpId="0" animBg="1"/>
      <p:bldP spid="17" grpId="0" animBg="1"/>
      <p:bldP spid="10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 DECLARATION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72008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Declaration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allocates appropriate memory space to identifiers based on their types.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51520" y="155679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identifier must be declared before being used in the program.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521" y="2852936"/>
            <a:ext cx="8637362" cy="79208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68000"/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Typically, uppercase letters are used for a named constant (constant identifier). For multi-words identifiers, words are separated by an underscore  _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520" y="3861048"/>
            <a:ext cx="8735888" cy="79208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400"/>
              </a:spcBef>
              <a:buClr>
                <a:srgbClr val="FF0000"/>
              </a:buClr>
              <a:buSzPct val="68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Typically, lowercase letters are used for variables identifiers. For multi-words identifiers, words start with an uppercase letter.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251520" y="2348880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Standards that should be followed in naming identifiers:</a:t>
            </a:r>
          </a:p>
        </p:txBody>
      </p:sp>
    </p:spTree>
    <p:extLst>
      <p:ext uri="{BB962C8B-B14F-4D97-AF65-F5344CB8AC3E}">
        <p14:creationId xmlns:p14="http://schemas.microsoft.com/office/powerpoint/2010/main" val="85510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9" grpId="0"/>
      <p:bldP spid="10" grpId="0" animBg="1"/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5.1 CONSTANTS DECLARATION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80" y="836712"/>
            <a:ext cx="691276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final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dataType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IDENTIFIER = literal | expression;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520" y="83671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84482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844824"/>
            <a:ext cx="691276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final double</a:t>
            </a:r>
            <a:r>
              <a:rPr lang="en-US" dirty="0">
                <a:solidFill>
                  <a:schemeClr val="tx1"/>
                </a:solidFill>
              </a:rPr>
              <a:t> CENTIMETERS_PER_INCH = 2.54;</a:t>
            </a: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251520" y="2420888"/>
            <a:ext cx="8640960" cy="72008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reserved word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specifies that the value stored in the identifier is fixed and cannot be changed.</a:t>
            </a:r>
          </a:p>
        </p:txBody>
      </p:sp>
      <p:sp>
        <p:nvSpPr>
          <p:cNvPr id="19" name="Content Placeholder 4"/>
          <p:cNvSpPr txBox="1">
            <a:spLocks/>
          </p:cNvSpPr>
          <p:nvPr/>
        </p:nvSpPr>
        <p:spPr>
          <a:xfrm>
            <a:off x="251520" y="299695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Simple values (such as 2.54) are known as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literals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80" y="3717032"/>
            <a:ext cx="691276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final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MAX = 1024;</a:t>
            </a:r>
          </a:p>
          <a:p>
            <a:r>
              <a:rPr lang="en-US" dirty="0">
                <a:solidFill>
                  <a:srgbClr val="00B0F0"/>
                </a:solidFill>
              </a:rPr>
              <a:t>final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MIN = 64;</a:t>
            </a:r>
          </a:p>
          <a:p>
            <a:r>
              <a:rPr lang="en-US" dirty="0">
                <a:solidFill>
                  <a:srgbClr val="00B0F0"/>
                </a:solidFill>
              </a:rPr>
              <a:t>final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AVG = (MAX + MIN) /2;</a:t>
            </a:r>
          </a:p>
        </p:txBody>
      </p:sp>
      <p:sp>
        <p:nvSpPr>
          <p:cNvPr id="22" name="Content Placeholder 4"/>
          <p:cNvSpPr txBox="1">
            <a:spLocks/>
          </p:cNvSpPr>
          <p:nvPr/>
        </p:nvSpPr>
        <p:spPr>
          <a:xfrm>
            <a:off x="251520" y="479715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2, AVG evaluates an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expression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520" y="371703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24" name="Content Placeholder 4"/>
          <p:cNvSpPr txBox="1">
            <a:spLocks/>
          </p:cNvSpPr>
          <p:nvPr/>
        </p:nvSpPr>
        <p:spPr>
          <a:xfrm>
            <a:off x="251520" y="5157192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all identifiers in AVG must be previously declared.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80" y="5733256"/>
            <a:ext cx="691276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final double</a:t>
            </a:r>
            <a:r>
              <a:rPr lang="en-US" dirty="0">
                <a:solidFill>
                  <a:schemeClr val="tx1"/>
                </a:solidFill>
              </a:rPr>
              <a:t> PI = 3.14159;</a:t>
            </a:r>
          </a:p>
          <a:p>
            <a:r>
              <a:rPr lang="en-US" dirty="0">
                <a:solidFill>
                  <a:srgbClr val="00B0F0"/>
                </a:solidFill>
              </a:rPr>
              <a:t>final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 CURRENCY = ‘$‘;</a:t>
            </a:r>
          </a:p>
          <a:p>
            <a:r>
              <a:rPr lang="en-US" dirty="0">
                <a:solidFill>
                  <a:srgbClr val="00B0F0"/>
                </a:solidFill>
              </a:rPr>
              <a:t>final char </a:t>
            </a:r>
            <a:r>
              <a:rPr lang="en-US" dirty="0">
                <a:solidFill>
                  <a:schemeClr val="tx1"/>
                </a:solidFill>
              </a:rPr>
              <a:t>BLANK = ‘ ‘;  </a:t>
            </a:r>
            <a:r>
              <a:rPr lang="en-US" dirty="0">
                <a:solidFill>
                  <a:srgbClr val="00B050"/>
                </a:solidFill>
              </a:rPr>
              <a:t>//this is a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520" y="573325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More…</a:t>
            </a:r>
          </a:p>
        </p:txBody>
      </p:sp>
    </p:spTree>
    <p:extLst>
      <p:ext uri="{BB962C8B-B14F-4D97-AF65-F5344CB8AC3E}">
        <p14:creationId xmlns:p14="http://schemas.microsoft.com/office/powerpoint/2010/main" val="289473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8" grpId="0" build="p"/>
      <p:bldP spid="19" grpId="0" build="p"/>
      <p:bldP spid="21" grpId="0" animBg="1"/>
      <p:bldP spid="22" grpId="0" build="p"/>
      <p:bldP spid="23" grpId="0" animBg="1"/>
      <p:bldP spid="24" grpId="0" build="p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5.2 VARIABLES DECLARATION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80" y="836712"/>
            <a:ext cx="5832648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dataType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identifier;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520" y="83671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41277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80" y="1412776"/>
            <a:ext cx="5832648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 average;</a:t>
            </a: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251520" y="2276872"/>
            <a:ext cx="8640960" cy="504056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Multiple variables may be declared in the same statement separated by commas: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80" y="2924944"/>
            <a:ext cx="5832648" cy="720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studentsNumber</a:t>
            </a:r>
            <a:r>
              <a:rPr lang="en-US" dirty="0">
                <a:solidFill>
                  <a:schemeClr val="tx1"/>
                </a:solidFill>
              </a:rPr>
              <a:t>, counter, num1, num2;</a:t>
            </a:r>
          </a:p>
          <a:p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, status, </a:t>
            </a:r>
            <a:r>
              <a:rPr lang="en-US" dirty="0" err="1">
                <a:solidFill>
                  <a:schemeClr val="tx1"/>
                </a:solidFill>
              </a:rPr>
              <a:t>letterGrade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22" name="Content Placeholder 4"/>
          <p:cNvSpPr txBox="1">
            <a:spLocks/>
          </p:cNvSpPr>
          <p:nvPr/>
        </p:nvSpPr>
        <p:spPr>
          <a:xfrm>
            <a:off x="251520" y="3933056"/>
            <a:ext cx="8640960" cy="4320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may be given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values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declaration: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520" y="2924944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24" name="Content Placeholder 4"/>
          <p:cNvSpPr txBox="1">
            <a:spLocks/>
          </p:cNvSpPr>
          <p:nvPr/>
        </p:nvSpPr>
        <p:spPr>
          <a:xfrm>
            <a:off x="251520" y="5301208"/>
            <a:ext cx="8640960" cy="576064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may be initialized with expressions using previously declared and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initialized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identifiers: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80" y="6021288"/>
            <a:ext cx="5832648" cy="5760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double</a:t>
            </a:r>
            <a:r>
              <a:rPr lang="en-US" dirty="0">
                <a:solidFill>
                  <a:schemeClr val="tx1"/>
                </a:solidFill>
              </a:rPr>
              <a:t> x=0.0,  y=2.0, z= (</a:t>
            </a:r>
            <a:r>
              <a:rPr lang="en-US" dirty="0" err="1">
                <a:solidFill>
                  <a:schemeClr val="tx1"/>
                </a:solidFill>
              </a:rPr>
              <a:t>x+y</a:t>
            </a:r>
            <a:r>
              <a:rPr lang="en-US" dirty="0">
                <a:solidFill>
                  <a:schemeClr val="tx1"/>
                </a:solidFill>
              </a:rPr>
              <a:t>)-1;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520" y="602128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80" y="4293096"/>
            <a:ext cx="5832648" cy="7200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counter=0, sum=0, product=1;</a:t>
            </a:r>
          </a:p>
          <a:p>
            <a:r>
              <a:rPr lang="en-US" dirty="0">
                <a:solidFill>
                  <a:srgbClr val="00B0F0"/>
                </a:solidFill>
              </a:rPr>
              <a:t>char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</a:t>
            </a:r>
            <a:r>
              <a:rPr lang="en-US" dirty="0">
                <a:solidFill>
                  <a:schemeClr val="tx1"/>
                </a:solidFill>
              </a:rPr>
              <a:t>=‘ ‘; </a:t>
            </a:r>
            <a:r>
              <a:rPr lang="en-US" dirty="0">
                <a:solidFill>
                  <a:srgbClr val="00B050"/>
                </a:solidFill>
              </a:rPr>
              <a:t>//this is a 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520" y="4293096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196529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8" grpId="0" build="p"/>
      <p:bldP spid="21" grpId="0" animBg="1"/>
      <p:bldP spid="22" grpId="0" build="p"/>
      <p:bldP spid="23" grpId="0" animBg="1"/>
      <p:bldP spid="24" grpId="0" build="p"/>
      <p:bldP spid="25" grpId="0" animBg="1"/>
      <p:bldP spid="26" grpId="0" animBg="1"/>
      <p:bldP spid="20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5.2 VARIABLES DECLARATION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51520" y="1628800"/>
            <a:ext cx="8640960" cy="792088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using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literals, the number should be written as shown below; otherwise, the compiler would give an error message (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syntax error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80" y="2878088"/>
            <a:ext cx="5832648" cy="10081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B0F0"/>
                </a:solidFill>
              </a:rPr>
              <a:t>float</a:t>
            </a:r>
            <a:r>
              <a:rPr lang="en-US" dirty="0">
                <a:solidFill>
                  <a:schemeClr val="tx1"/>
                </a:solidFill>
              </a:rPr>
              <a:t> x=5.33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rgbClr val="00B0F0"/>
                </a:solidFill>
              </a:rPr>
              <a:t>float</a:t>
            </a:r>
            <a:r>
              <a:rPr lang="en-US" dirty="0">
                <a:solidFill>
                  <a:schemeClr val="tx1"/>
                </a:solidFill>
              </a:rPr>
              <a:t> length=12.33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, width= 6.333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, radius=0.3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520" y="287808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5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251520" y="980728"/>
            <a:ext cx="8640960" cy="5040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 algn="just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Java, </a:t>
            </a:r>
            <a:r>
              <a:rPr lang="en-US" sz="20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default type of a floating-point number.</a:t>
            </a:r>
          </a:p>
        </p:txBody>
      </p:sp>
    </p:spTree>
    <p:extLst>
      <p:ext uri="{BB962C8B-B14F-4D97-AF65-F5344CB8AC3E}">
        <p14:creationId xmlns:p14="http://schemas.microsoft.com/office/powerpoint/2010/main" val="25882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9" grpId="0" animBg="1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1066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6. EXAMPLES – PROGRAM 1</a:t>
            </a:r>
            <a:br>
              <a:rPr lang="en-US" sz="28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This program computes the area of the circle.</a:t>
            </a:r>
            <a:b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Trace a Program Execution</a:t>
            </a:r>
            <a:b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20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5146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   PI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391400" y="25146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3.14159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6858000" y="1066800"/>
            <a:ext cx="2133600" cy="762000"/>
          </a:xfrm>
          <a:prstGeom prst="wedgeRoundRectCallout">
            <a:avLst>
              <a:gd name="adj1" fmla="val -18204"/>
              <a:gd name="adj2" fmla="val 12913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PI is a constant.</a:t>
            </a:r>
          </a:p>
          <a:p>
            <a:r>
              <a:rPr lang="en-US" sz="14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Allocate memory for PI 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Assign 3.14159 to PI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219200" y="2514600"/>
            <a:ext cx="5257800" cy="2286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7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1066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6. EXAMPLES – PROGRAM 1</a:t>
            </a:r>
            <a:br>
              <a:rPr lang="en-US" sz="28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Trace a Program Execution</a:t>
            </a:r>
            <a:br>
              <a:rPr lang="en-US" sz="2000" dirty="0">
                <a:solidFill>
                  <a:srgbClr val="C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20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2860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radius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2860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7391400" y="1066800"/>
            <a:ext cx="1600200" cy="533400"/>
          </a:xfrm>
          <a:prstGeom prst="wedgeRoundRectCallout">
            <a:avLst>
              <a:gd name="adj1" fmla="val -25833"/>
              <a:gd name="adj2" fmla="val 1653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allocate memory for radius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143000" y="3048000"/>
            <a:ext cx="5257800" cy="2286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1</a:t>
            </a:r>
            <a:b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2800" dirty="0">
                <a:solidFill>
                  <a:srgbClr val="C00000"/>
                </a:solidFill>
              </a:rPr>
              <a:t>Trace a Program Execution</a:t>
            </a:r>
            <a:endParaRPr lang="en-US" sz="2800" dirty="0">
              <a:solidFill>
                <a:srgbClr val="C00000"/>
              </a:solidFill>
              <a:latin typeface="Tahoma" charset="0"/>
              <a:cs typeface="Arial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2860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radius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2860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143000" y="3276600"/>
            <a:ext cx="5257800" cy="2286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543800" y="28956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781800" y="28956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area</a:t>
            </a:r>
          </a:p>
        </p:txBody>
      </p:sp>
      <p:sp>
        <p:nvSpPr>
          <p:cNvPr id="18" name="AutoShape 11"/>
          <p:cNvSpPr>
            <a:spLocks noChangeArrowheads="1"/>
          </p:cNvSpPr>
          <p:nvPr/>
        </p:nvSpPr>
        <p:spPr bwMode="auto">
          <a:xfrm>
            <a:off x="7262812" y="3956050"/>
            <a:ext cx="1728788" cy="615950"/>
          </a:xfrm>
          <a:prstGeom prst="wedgeRoundRectCallout">
            <a:avLst>
              <a:gd name="adj1" fmla="val -26880"/>
              <a:gd name="adj2" fmla="val -170102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allocate memory for area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7620000" y="1676400"/>
            <a:ext cx="12192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 animBg="1"/>
      <p:bldP spid="12" grpId="0" animBg="1"/>
      <p:bldP spid="13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1</a:t>
            </a:r>
            <a:b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2800" dirty="0">
                <a:solidFill>
                  <a:srgbClr val="C00000"/>
                </a:solidFill>
              </a:rPr>
              <a:t>Trace a Program Execution</a:t>
            </a:r>
            <a:endParaRPr lang="en-US" sz="2800" dirty="0">
              <a:solidFill>
                <a:srgbClr val="C00000"/>
              </a:solidFill>
              <a:latin typeface="Tahoma" charset="0"/>
              <a:cs typeface="Arial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2860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radius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2860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2.5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066800" y="3733800"/>
            <a:ext cx="5257800" cy="2286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543800" y="28956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no value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781800" y="28956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area</a:t>
            </a: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3886200" y="2590800"/>
            <a:ext cx="3581400" cy="1219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ounded Rectangular Callout 16"/>
          <p:cNvSpPr/>
          <p:nvPr/>
        </p:nvSpPr>
        <p:spPr>
          <a:xfrm>
            <a:off x="7086600" y="1066800"/>
            <a:ext cx="1905000" cy="533400"/>
          </a:xfrm>
          <a:prstGeom prst="wedgeRoundRectCallout">
            <a:avLst>
              <a:gd name="adj1" fmla="val -14524"/>
              <a:gd name="adj2" fmla="val 1739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assign 2.5 to radius</a:t>
            </a:r>
          </a:p>
        </p:txBody>
      </p: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 animBg="1"/>
      <p:bldP spid="12" grpId="0" animBg="1"/>
      <p:bldP spid="13" grpId="0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1</a:t>
            </a:r>
            <a:b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2800" dirty="0">
                <a:solidFill>
                  <a:srgbClr val="C00000"/>
                </a:solidFill>
              </a:rPr>
              <a:t>Trace a Program Execution</a:t>
            </a:r>
            <a:endParaRPr lang="en-US" sz="2800" dirty="0">
              <a:solidFill>
                <a:srgbClr val="C00000"/>
              </a:solidFill>
              <a:latin typeface="Tahoma" charset="0"/>
              <a:cs typeface="Arial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2860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radius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2860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2.5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143000" y="4648200"/>
            <a:ext cx="5257800" cy="3048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543800" y="28956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19.6349375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781800" y="28956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area</a:t>
            </a: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4343400" y="3124200"/>
            <a:ext cx="3276600" cy="1524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7315200" y="4114800"/>
            <a:ext cx="1828800" cy="838200"/>
          </a:xfrm>
          <a:prstGeom prst="wedgeRoundRectCallout">
            <a:avLst>
              <a:gd name="adj1" fmla="val -25134"/>
              <a:gd name="adj2" fmla="val -163991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compute area and assign it to variable area</a:t>
            </a:r>
          </a:p>
        </p:txBody>
      </p: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 animBg="1"/>
      <p:bldP spid="12" grpId="0" animBg="1"/>
      <p:bldP spid="13" grpId="0"/>
      <p:bldP spid="16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0" y="1295400"/>
            <a:ext cx="6781800" cy="5539978"/>
            <a:chOff x="323528" y="1308536"/>
            <a:chExt cx="6488729" cy="5516058"/>
          </a:xfrm>
        </p:grpSpPr>
        <p:sp>
          <p:nvSpPr>
            <p:cNvPr id="6" name="TextBox 5"/>
            <p:cNvSpPr txBox="1"/>
            <p:nvPr/>
          </p:nvSpPr>
          <p:spPr>
            <a:xfrm>
              <a:off x="833878" y="1314510"/>
              <a:ext cx="5978379" cy="515751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sz="1600" dirty="0"/>
                <a:t>// import necessary libraries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err="1">
                  <a:solidFill>
                    <a:srgbClr val="0000FF"/>
                  </a:solidFill>
                </a:rPr>
                <a:t>DataManipulation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 </a:t>
              </a:r>
              <a:r>
                <a:rPr lang="en-US" sz="1600" dirty="0">
                  <a:solidFill>
                    <a:srgbClr val="0000FF"/>
                  </a:solidFill>
                </a:rPr>
                <a:t>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>
                  <a:solidFill>
                    <a:srgbClr val="00B0F0"/>
                  </a:solidFill>
                </a:rPr>
                <a:t>final double</a:t>
              </a:r>
              <a:r>
                <a:rPr lang="en-US" sz="1600" dirty="0">
                  <a:solidFill>
                    <a:srgbClr val="0000FF"/>
                  </a:solidFill>
                </a:rPr>
                <a:t> PI = 3.14159;</a:t>
              </a:r>
              <a:r>
                <a:rPr lang="en-US" sz="1600" dirty="0">
                  <a:solidFill>
                    <a:srgbClr val="00B050"/>
                  </a:solidFill>
                </a:rPr>
                <a:t>//constant declaration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</a:t>
              </a:r>
              <a:r>
                <a:rPr lang="en-US" sz="1600" dirty="0"/>
                <a:t>// Declaration section: to declare needed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double</a:t>
              </a:r>
              <a:r>
                <a:rPr lang="en-US" sz="1600" dirty="0">
                  <a:solidFill>
                    <a:srgbClr val="0000FF"/>
                  </a:solidFill>
                </a:rPr>
                <a:t> radius;</a:t>
              </a:r>
            </a:p>
            <a:p>
              <a:endParaRPr lang="en-US" sz="100" dirty="0">
                <a:solidFill>
                  <a:srgbClr val="00B0F0"/>
                </a:solidFill>
              </a:endParaRP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double</a:t>
              </a:r>
              <a:r>
                <a:rPr lang="en-US" sz="1600" dirty="0">
                  <a:solidFill>
                    <a:srgbClr val="0000FF"/>
                  </a:solidFill>
                </a:rPr>
                <a:t> area;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// Assign a radius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</a:t>
              </a: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radius = 2.5;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/>
                <a:t>           // Input section: to enter values of used variables</a:t>
              </a:r>
              <a:endParaRPr lang="en-US" sz="1600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// </a:t>
              </a:r>
              <a:r>
                <a:rPr lang="en-US" sz="1600" dirty="0"/>
                <a:t>Processing section: processing statements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</a:t>
              </a:r>
            </a:p>
            <a:p>
              <a:pPr>
                <a:lnSpc>
                  <a:spcPct val="80000"/>
                </a:lnSpc>
                <a:buFont typeface="Monotype Sorts" pitchFamily="2" charset="2"/>
                <a:buNone/>
              </a:pPr>
              <a:r>
                <a:rPr lang="en-US" sz="1600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             area = radius * radius * PI;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</a:t>
              </a:r>
              <a:r>
                <a:rPr lang="en-US" sz="1600" dirty="0"/>
                <a:t>// Output section: display program output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(“The area of the circle of radius     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“ + radius + “ is “ + area);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} </a:t>
              </a:r>
              <a:r>
                <a:rPr lang="en-US" sz="1600" dirty="0"/>
                <a:t>// end main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 </a:t>
              </a:r>
              <a:r>
                <a:rPr lang="en-US" sz="1600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308536"/>
              <a:ext cx="510348" cy="5516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99060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1</a:t>
            </a:r>
            <a:b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</a:br>
            <a:r>
              <a:rPr lang="en-US" sz="2800" dirty="0">
                <a:solidFill>
                  <a:srgbClr val="C00000"/>
                </a:solidFill>
              </a:rPr>
              <a:t>Trace a Program Execution</a:t>
            </a:r>
            <a:endParaRPr lang="en-US" sz="2800" dirty="0">
              <a:solidFill>
                <a:srgbClr val="C00000"/>
              </a:solidFill>
              <a:latin typeface="Tahoma" charset="0"/>
              <a:cs typeface="Arial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81800" y="22860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radius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543800" y="22860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2.5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066800" y="5410200"/>
            <a:ext cx="5410200" cy="45720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543800" y="2895600"/>
            <a:ext cx="1295400" cy="304800"/>
          </a:xfrm>
          <a:prstGeom prst="rect">
            <a:avLst/>
          </a:prstGeom>
          <a:solidFill>
            <a:srgbClr val="69CD69"/>
          </a:solidFill>
          <a:ln w="12700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144" tIns="9144" rIns="9144" bIns="9144" anchor="ctr"/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19.6349375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781800" y="2895600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area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4724401" y="5715000"/>
            <a:ext cx="1752599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AutoShape 14"/>
          <p:cNvSpPr>
            <a:spLocks noChangeArrowheads="1"/>
          </p:cNvSpPr>
          <p:nvPr/>
        </p:nvSpPr>
        <p:spPr bwMode="auto">
          <a:xfrm>
            <a:off x="6934200" y="4419600"/>
            <a:ext cx="1905000" cy="692150"/>
          </a:xfrm>
          <a:prstGeom prst="wedgeRoundRectCallout">
            <a:avLst>
              <a:gd name="adj1" fmla="val -34134"/>
              <a:gd name="adj2" fmla="val 150964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print a message to the console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5791200"/>
            <a:ext cx="25146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 animBg="1"/>
      <p:bldP spid="12" grpId="0" animBg="1"/>
      <p:bldP spid="13" grpId="0"/>
      <p:bldP spid="17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2" name="Group 4"/>
          <p:cNvGrpSpPr/>
          <p:nvPr/>
        </p:nvGrpSpPr>
        <p:grpSpPr>
          <a:xfrm>
            <a:off x="323528" y="836712"/>
            <a:ext cx="7848872" cy="4801314"/>
            <a:chOff x="323528" y="1236822"/>
            <a:chExt cx="7848872" cy="4801314"/>
          </a:xfrm>
        </p:grpSpPr>
        <p:sp>
          <p:nvSpPr>
            <p:cNvPr id="6" name="TextBox 5"/>
            <p:cNvSpPr txBox="1"/>
            <p:nvPr/>
          </p:nvSpPr>
          <p:spPr>
            <a:xfrm>
              <a:off x="971600" y="1236822"/>
              <a:ext cx="7200800" cy="480131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dirty="0"/>
                <a:t>// import necessary libraries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DataManipulation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   final double</a:t>
              </a:r>
              <a:r>
                <a:rPr lang="en-US" dirty="0">
                  <a:solidFill>
                    <a:srgbClr val="0000FF"/>
                  </a:solidFill>
                </a:rPr>
                <a:t> PI = 3.14159;</a:t>
              </a:r>
              <a:r>
                <a:rPr lang="en-US" dirty="0">
                  <a:solidFill>
                    <a:srgbClr val="00B050"/>
                  </a:solidFill>
                </a:rPr>
                <a:t>//constant declaration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rgbClr val="0000FF"/>
                  </a:solidFill>
                </a:rPr>
                <a:t> radius= 2.5, area;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00FF"/>
                  </a:solidFill>
                </a:rPr>
                <a:t>area = PI * radius * radius;</a:t>
              </a:r>
            </a:p>
            <a:p>
              <a:r>
                <a:rPr lang="en-US" dirty="0"/>
                <a:t> 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(“The area of the circle of radius “ + radius + “ is “ + area);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236822"/>
              <a:ext cx="576064" cy="4801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17</a:t>
              </a:r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569318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u="sng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 Output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683568" y="6093296"/>
            <a:ext cx="7488832" cy="307777"/>
            <a:chOff x="683568" y="1236822"/>
            <a:chExt cx="7488832" cy="307777"/>
          </a:xfrm>
        </p:grpSpPr>
        <p:sp>
          <p:nvSpPr>
            <p:cNvPr id="12" name="TextBox 11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The area of the circle of radius 2.5 is 19.6349375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06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9396" y="2564904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 ON THE RIGHT HAND SIDE OF AN EQUATION SHOULD ALREADY HAVE VALUES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IMPORTANT NOTES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5174" y="1412776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 VARIABLE MUST BE DECLARED BEFORE BEING USED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3645024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ALSO, VARIABLES THAT ARE TO BE PRINTED SHOULD ALREADY HAVE VALUES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520" y="4725144"/>
            <a:ext cx="8807896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VARIABLES GET VALUES EITHER BY: 	1) INITIALIZATION, </a:t>
            </a:r>
          </a:p>
          <a:p>
            <a:pPr algn="ctr"/>
            <a:r>
              <a:rPr lang="en-US" dirty="0"/>
              <a:t>					2) CALCULATION, </a:t>
            </a:r>
          </a:p>
          <a:p>
            <a:pPr algn="ctr"/>
            <a:r>
              <a:rPr lang="en-US" dirty="0"/>
              <a:t>						3) INPUT FROM THE USER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53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48942-3001-4E9F-BD4B-DA0C8DFD46EB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6. EXAMPLES – PROGRAM 2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3568" y="5805264"/>
            <a:ext cx="7488832" cy="954107"/>
            <a:chOff x="683568" y="1236822"/>
            <a:chExt cx="7488832" cy="954107"/>
          </a:xfrm>
        </p:grpSpPr>
        <p:sp>
          <p:nvSpPr>
            <p:cNvPr id="12" name="TextBox 11"/>
            <p:cNvSpPr txBox="1"/>
            <p:nvPr/>
          </p:nvSpPr>
          <p:spPr>
            <a:xfrm>
              <a:off x="971600" y="1236822"/>
              <a:ext cx="7200800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num1= 10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num2= 9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sale= 0.2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first= 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3568" y="1236822"/>
              <a:ext cx="2160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23528" y="116632"/>
            <a:ext cx="7848872" cy="5655533"/>
            <a:chOff x="323528" y="516742"/>
            <a:chExt cx="7848872" cy="5655533"/>
          </a:xfrm>
        </p:grpSpPr>
        <p:sp>
          <p:nvSpPr>
            <p:cNvPr id="7" name="TextBox 6"/>
            <p:cNvSpPr txBox="1"/>
            <p:nvPr/>
          </p:nvSpPr>
          <p:spPr>
            <a:xfrm>
              <a:off x="323528" y="539964"/>
              <a:ext cx="576064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1600" y="516742"/>
              <a:ext cx="7200800" cy="563231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// This example illustrates data declaration &amp; manipulation</a:t>
              </a:r>
            </a:p>
            <a:p>
              <a:r>
                <a:rPr lang="en-US" dirty="0"/>
                <a:t>// import necessary libraries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dataManipulation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</a:t>
              </a:r>
              <a:r>
                <a:rPr lang="en-US" dirty="0"/>
                <a:t>// Declaration section: to declare needed variables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00FF"/>
                  </a:solidFill>
                </a:rPr>
                <a:t> num1= 10, num2 = num1 - 1;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   </a:t>
              </a:r>
              <a:r>
                <a:rPr lang="en-US" dirty="0">
                  <a:solidFill>
                    <a:srgbClr val="00B0F0"/>
                  </a:solidFill>
                </a:rPr>
                <a:t>double </a:t>
              </a:r>
              <a:r>
                <a:rPr lang="en-US" dirty="0">
                  <a:solidFill>
                    <a:srgbClr val="0000FF"/>
                  </a:solidFill>
                </a:rPr>
                <a:t>sale = 0.02 * num1;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      </a:t>
              </a:r>
              <a:r>
                <a:rPr lang="en-US" dirty="0">
                  <a:solidFill>
                    <a:srgbClr val="00B0F0"/>
                  </a:solidFill>
                </a:rPr>
                <a:t>char </a:t>
              </a:r>
              <a:r>
                <a:rPr lang="en-US" dirty="0">
                  <a:solidFill>
                    <a:srgbClr val="0000FF"/>
                  </a:solidFill>
                </a:rPr>
                <a:t>first;</a:t>
              </a:r>
            </a:p>
            <a:p>
              <a:r>
                <a:rPr lang="en-US" dirty="0"/>
                <a:t>         // Input section: to enter values of used variables</a:t>
              </a:r>
            </a:p>
            <a:p>
              <a:r>
                <a:rPr lang="en-US" dirty="0"/>
                <a:t>         // Processing section: processing statements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00FF"/>
                  </a:solidFill>
                </a:rPr>
                <a:t>first = ‘D’;</a:t>
              </a:r>
            </a:p>
            <a:p>
              <a:r>
                <a:rPr lang="en-US" dirty="0"/>
                <a:t>        // Output section: display program output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(“num1= “ + num1);</a:t>
              </a:r>
              <a:r>
                <a:rPr lang="en-US" dirty="0">
                  <a:solidFill>
                    <a:srgbClr val="00B050"/>
                  </a:solidFill>
                </a:rPr>
                <a:t>//line output 1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(“num2= “ + num2);</a:t>
              </a:r>
              <a:r>
                <a:rPr lang="en-US" dirty="0">
                  <a:solidFill>
                    <a:srgbClr val="00B050"/>
                  </a:solidFill>
                </a:rPr>
                <a:t>//line output 2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(“sale= “ + sale);</a:t>
              </a:r>
              <a:r>
                <a:rPr lang="en-US" dirty="0">
                  <a:solidFill>
                    <a:srgbClr val="00B050"/>
                  </a:solidFill>
                </a:rPr>
                <a:t> //line output 3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(“first= “ + first);</a:t>
              </a:r>
              <a:r>
                <a:rPr lang="en-US" dirty="0">
                  <a:solidFill>
                    <a:srgbClr val="00B050"/>
                  </a:solidFill>
                </a:rPr>
                <a:t> //line output 4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      } </a:t>
              </a:r>
              <a:r>
                <a:rPr lang="en-US" dirty="0"/>
                <a:t>// end main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} </a:t>
              </a:r>
              <a:r>
                <a:rPr lang="en-US" dirty="0"/>
                <a:t>// end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52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2808312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of the following identifiers are illegal? Explain why: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God Father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&amp;currency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901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4ever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converts from </a:t>
            </a:r>
            <a:r>
              <a:rPr lang="en-US" sz="2000" dirty="0">
                <a:latin typeface="Lucida Sans Unicode"/>
                <a:ea typeface="Tahoma" panose="020B0604030504040204" pitchFamily="34" charset="0"/>
                <a:cs typeface="Lucida Sans Unicode"/>
              </a:rPr>
              <a:t>⁰C to ⁰F.</a:t>
            </a:r>
          </a:p>
          <a:p>
            <a:r>
              <a:rPr lang="en-US" sz="2000" dirty="0">
                <a:latin typeface="Lucida Sans Unicode"/>
                <a:ea typeface="Tahoma" panose="020B0604030504040204" pitchFamily="34" charset="0"/>
                <a:cs typeface="Lucida Sans Unicode"/>
              </a:rPr>
              <a:t>Write a program that adds two numbers.</a:t>
            </a:r>
          </a:p>
          <a:p>
            <a:r>
              <a:rPr lang="en-US" sz="2000" dirty="0">
                <a:latin typeface="Lucida Sans Unicode"/>
                <a:ea typeface="Tahoma" panose="020B0604030504040204" pitchFamily="34" charset="0"/>
                <a:cs typeface="Lucida Sans Unicode"/>
              </a:rPr>
              <a:t>Write a program that calculates the average of three numbers.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W2.2 Identifiers</a:t>
            </a:r>
          </a:p>
        </p:txBody>
      </p:sp>
    </p:spTree>
    <p:extLst>
      <p:ext uri="{BB962C8B-B14F-4D97-AF65-F5344CB8AC3E}">
        <p14:creationId xmlns:p14="http://schemas.microsoft.com/office/powerpoint/2010/main" val="956188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43204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 the errors in the following program: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23528" y="1508006"/>
            <a:ext cx="7848872" cy="3139321"/>
            <a:chOff x="323528" y="1236822"/>
            <a:chExt cx="7848872" cy="3139321"/>
          </a:xfrm>
        </p:grpSpPr>
        <p:sp>
          <p:nvSpPr>
            <p:cNvPr id="9" name="TextBox 8"/>
            <p:cNvSpPr txBox="1"/>
            <p:nvPr/>
          </p:nvSpPr>
          <p:spPr>
            <a:xfrm>
              <a:off x="971600" y="1236822"/>
              <a:ext cx="7200800" cy="313932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public class </a:t>
              </a:r>
              <a:r>
                <a:rPr lang="en-US" dirty="0" err="1">
                  <a:solidFill>
                    <a:srgbClr val="0000FF"/>
                  </a:solidFill>
                </a:rPr>
                <a:t>FindError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     public static void </a:t>
              </a:r>
              <a:r>
                <a:rPr lang="en-US" dirty="0">
                  <a:solidFill>
                    <a:srgbClr val="0000FF"/>
                  </a:solidFill>
                </a:rPr>
                <a:t>main (String[] </a:t>
              </a:r>
              <a:r>
                <a:rPr lang="en-US" dirty="0" err="1">
                  <a:solidFill>
                    <a:srgbClr val="0000FF"/>
                  </a:solidFill>
                </a:rPr>
                <a:t>args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>
                  <a:solidFill>
                    <a:srgbClr val="00B0F0"/>
                  </a:solidFill>
                </a:rPr>
                <a:t>             final </a:t>
              </a:r>
              <a:r>
                <a:rPr lang="en-US">
                  <a:solidFill>
                    <a:srgbClr val="0000FF"/>
                  </a:solidFill>
                </a:rPr>
                <a:t>CENTIMETERS_PER_INCH = 2.54;</a:t>
              </a:r>
              <a:endParaRPr lang="en-US" dirty="0">
                <a:solidFill>
                  <a:srgbClr val="0000FF"/>
                </a:solidFill>
              </a:endParaRP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>
                  <a:solidFill>
                    <a:srgbClr val="00B0F0"/>
                  </a:solidFill>
                </a:rPr>
                <a:t>double</a:t>
              </a:r>
              <a:r>
                <a:rPr lang="en-US" dirty="0">
                  <a:solidFill>
                    <a:srgbClr val="0000FF"/>
                  </a:solidFill>
                </a:rPr>
                <a:t> inches;</a:t>
              </a:r>
            </a:p>
            <a:p>
              <a:r>
                <a:rPr lang="en-US" dirty="0"/>
                <a:t>	</a:t>
              </a:r>
              <a:r>
                <a:rPr lang="en-US" dirty="0">
                  <a:solidFill>
                    <a:srgbClr val="0000FF"/>
                  </a:solidFill>
                </a:rPr>
                <a:t>cm = </a:t>
              </a:r>
              <a:r>
                <a:rPr lang="en-US" dirty="0" err="1">
                  <a:solidFill>
                    <a:srgbClr val="0000FF"/>
                  </a:solidFill>
                </a:rPr>
                <a:t>CENTIMETERS_per_INCH</a:t>
              </a:r>
              <a:r>
                <a:rPr lang="en-US" dirty="0">
                  <a:solidFill>
                    <a:srgbClr val="0000FF"/>
                  </a:solidFill>
                </a:rPr>
                <a:t> * inches;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	</a:t>
              </a:r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(“There are “ + cm + “cm in “ + inches + “inches”);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   }</a:t>
              </a:r>
              <a:endParaRPr lang="en-US" dirty="0"/>
            </a:p>
            <a:p>
              <a:r>
                <a:rPr lang="en-US" dirty="0">
                  <a:solidFill>
                    <a:srgbClr val="0000FF"/>
                  </a:solidFill>
                </a:rPr>
                <a:t>}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3528" y="1236822"/>
              <a:ext cx="576064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>
                  <a:solidFill>
                    <a:srgbClr val="FF0000"/>
                  </a:solidFill>
                </a:rPr>
                <a:t>11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W2.2 Identifiers</a:t>
            </a:r>
          </a:p>
        </p:txBody>
      </p:sp>
    </p:spTree>
    <p:extLst>
      <p:ext uri="{BB962C8B-B14F-4D97-AF65-F5344CB8AC3E}">
        <p14:creationId xmlns:p14="http://schemas.microsoft.com/office/powerpoint/2010/main" val="26688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3947</TotalTime>
  <Words>3316</Words>
  <Application>Microsoft Macintosh PowerPoint</Application>
  <PresentationFormat>On-screen Show (4:3)</PresentationFormat>
  <Paragraphs>743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Courier New</vt:lpstr>
      <vt:lpstr>Lucida Sans Unicode</vt:lpstr>
      <vt:lpstr>Monotype Sorts</vt:lpstr>
      <vt:lpstr>Tahoma</vt:lpstr>
      <vt:lpstr>Verdana</vt:lpstr>
      <vt:lpstr>Wingdings</vt:lpstr>
      <vt:lpstr>Wingdings 2</vt:lpstr>
      <vt:lpstr>Wingdings 3</vt:lpstr>
      <vt:lpstr>Concourse</vt:lpstr>
      <vt:lpstr>  IDENTIFIERS</vt:lpstr>
      <vt:lpstr>Outline</vt:lpstr>
      <vt:lpstr>1. IDENTIFIERS</vt:lpstr>
      <vt:lpstr>1. IDENTIFIERS</vt:lpstr>
      <vt:lpstr>2. Variables</vt:lpstr>
      <vt:lpstr>2. VARIABLES</vt:lpstr>
      <vt:lpstr>3. CONSTANTS</vt:lpstr>
      <vt:lpstr>4. DATA TYPES</vt:lpstr>
      <vt:lpstr>4. Data Types</vt:lpstr>
      <vt:lpstr>4. DATA TYPES</vt:lpstr>
      <vt:lpstr>4. DATA TYPES</vt:lpstr>
      <vt:lpstr>4. DATA TYPES</vt:lpstr>
      <vt:lpstr>PowerPoint Presentation</vt:lpstr>
      <vt:lpstr>4. DATA TYPES</vt:lpstr>
      <vt:lpstr>4. DATA TYPES</vt:lpstr>
      <vt:lpstr>5. DECLARATION</vt:lpstr>
      <vt:lpstr>5.1 CONSTANTS DECLARATION</vt:lpstr>
      <vt:lpstr>5.2 VARIABLES DECLARATION</vt:lpstr>
      <vt:lpstr>5.2 VARIABLES DECLARATION</vt:lpstr>
      <vt:lpstr>6. EXAMPLES – PROGRAM 1 This program computes the area of the circle. Trace a Program Execution </vt:lpstr>
      <vt:lpstr>6. EXAMPLES – PROGRAM 1 Trace a Program Execution </vt:lpstr>
      <vt:lpstr>6. EXAMPLES – PROGRAM 1 Trace a Program Execution</vt:lpstr>
      <vt:lpstr>6. EXAMPLES – PROGRAM 1 Trace a Program Execution</vt:lpstr>
      <vt:lpstr>6. EXAMPLES – PROGRAM 1 Trace a Program Execution</vt:lpstr>
      <vt:lpstr>6. EXAMPLES – PROGRAM 1 Trace a Program Execution</vt:lpstr>
      <vt:lpstr>6. EXAMPLES – PROGRAM 1</vt:lpstr>
      <vt:lpstr>6. EXAMPLE</vt:lpstr>
      <vt:lpstr>6. EXAMPLES – PROGRAM 2</vt:lpstr>
      <vt:lpstr>Self-Check Exercises (1)</vt:lpstr>
      <vt:lpstr>Self-Check Exercises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IDENTIFIERS</dc:title>
  <dc:creator>Soha S.Zaghloul</dc:creator>
  <cp:lastModifiedBy>عبدالعزيز محمد دخيل الحميضي</cp:lastModifiedBy>
  <cp:revision>100</cp:revision>
  <dcterms:created xsi:type="dcterms:W3CDTF">2015-01-31T08:19:42Z</dcterms:created>
  <dcterms:modified xsi:type="dcterms:W3CDTF">2024-09-02T08:11:37Z</dcterms:modified>
</cp:coreProperties>
</file>