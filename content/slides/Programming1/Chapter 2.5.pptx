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79" r:id="rId4"/>
    <p:sldId id="259" r:id="rId5"/>
    <p:sldId id="260" r:id="rId6"/>
    <p:sldId id="263" r:id="rId7"/>
    <p:sldId id="262" r:id="rId8"/>
    <p:sldId id="261" r:id="rId9"/>
    <p:sldId id="267" r:id="rId10"/>
    <p:sldId id="265" r:id="rId11"/>
    <p:sldId id="266" r:id="rId12"/>
    <p:sldId id="268" r:id="rId13"/>
    <p:sldId id="280" r:id="rId14"/>
    <p:sldId id="271" r:id="rId15"/>
    <p:sldId id="281" r:id="rId16"/>
    <p:sldId id="272" r:id="rId17"/>
    <p:sldId id="273" r:id="rId18"/>
    <p:sldId id="274" r:id="rId19"/>
    <p:sldId id="275" r:id="rId20"/>
    <p:sldId id="278" r:id="rId21"/>
    <p:sldId id="269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5" autoAdjust="0"/>
    <p:restoredTop sz="94719"/>
  </p:normalViewPr>
  <p:slideViewPr>
    <p:cSldViewPr>
      <p:cViewPr>
        <p:scale>
          <a:sx n="160" d="100"/>
          <a:sy n="160" d="100"/>
        </p:scale>
        <p:origin x="2000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82D8A-42D9-4E6A-88AA-5F1CDD524216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14720-7C88-4C07-998F-AB82F6BB5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38B399-117C-4A86-9F6B-9EB7C181E15B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D190-7652-45C2-A5CC-BD99C7A7792A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97076-6A0D-4A55-B983-DABD7C94BF0B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64EA-3C2B-4DD2-9C3B-3CDEE9909399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EB697-E4DE-4F6A-9935-56B7B031FCDE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972C4-7AA1-49A2-8880-57F57FFE3E19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6CD-9C87-4B07-B31B-6B72D6E41025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5F87DC4D-40E3-4C26-A312-CDB6F8589DE1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DF8A049-858F-4DB8-B26A-764EFEB70C4B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19E2-4366-47C3-BEB7-E1489DFA91DA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D3D1-BC15-4D19-9BB0-375ADBBF01C2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CC10690-AC21-460A-ACA7-F3A49D3AB6AA}" type="datetime1">
              <a:rPr lang="en-US" smtClean="0"/>
              <a:pPr/>
              <a:t>9/3/24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B0D99C2-1AFA-423C-B6C7-2A932FB2B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996952"/>
            <a:ext cx="7872937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OPERATORS (2)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0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ahoma" charset="0"/>
                <a:cs typeface="Arial" charset="0"/>
              </a:rPr>
              <a:t>1. Types of Operators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Increment/Decrement Operators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Relational Operators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4. Logical Operators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5. Type casting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5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TYPES OF OPERATORS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489086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five types of operators</a:t>
            </a:r>
          </a:p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None/>
            </a:pPr>
            <a:endParaRPr lang="en-US" sz="32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Assignment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chemeClr val="bg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Arithmetic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Increment/Decrement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Relational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</a:t>
            </a:r>
            <a:endParaRPr lang="en-US" sz="1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INCREMENT/DECREMENT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1052737"/>
            <a:ext cx="8640960" cy="1766663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increment operators are used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Pre-increment	++x	increment then act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Post-increment	x++	act then increment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51520" y="2590800"/>
            <a:ext cx="8640960" cy="168133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decrement operators are used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Pre-decrement	--x	decrement then act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Post-decrement	x--	act then decrement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88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 OPERATOR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PRE-INCREMENT		(INCREMENT THEN ACT)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91680" y="1340768"/>
            <a:ext cx="727280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++variable;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191683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80" y="1916832"/>
            <a:ext cx="7272808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counter = 0; 	</a:t>
            </a:r>
            <a:r>
              <a:rPr lang="en-US" dirty="0">
                <a:solidFill>
                  <a:srgbClr val="00B050"/>
                </a:solidFill>
              </a:rPr>
              <a:t>// counter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++</a:t>
            </a:r>
            <a:r>
              <a:rPr lang="en-US" dirty="0">
                <a:solidFill>
                  <a:srgbClr val="0000FF"/>
                </a:solidFill>
              </a:rPr>
              <a:t>counter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rgbClr val="00B050"/>
                </a:solidFill>
              </a:rPr>
              <a:t>	// counter = counter + 1</a:t>
            </a:r>
          </a:p>
          <a:p>
            <a:r>
              <a:rPr lang="en-US" dirty="0">
                <a:solidFill>
                  <a:srgbClr val="00B050"/>
                </a:solidFill>
              </a:rPr>
              <a:t>		// counter should previously have a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520" y="3610761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80" y="3610761"/>
            <a:ext cx="727280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3; 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y = ++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rgbClr val="00B050"/>
                </a:solidFill>
              </a:rPr>
              <a:t>	// y is previously declared</a:t>
            </a:r>
          </a:p>
          <a:p>
            <a:r>
              <a:rPr lang="en-US" dirty="0">
                <a:solidFill>
                  <a:srgbClr val="00B050"/>
                </a:solidFill>
              </a:rPr>
              <a:t>		// x already has a value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79512" y="4761148"/>
            <a:ext cx="8640960" cy="576064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2, (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= ++x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is equivalent to the following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337212"/>
            <a:ext cx="7848872" cy="646331"/>
            <a:chOff x="323528" y="1236822"/>
            <a:chExt cx="7848872" cy="646331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x = x + 1;		</a:t>
              </a:r>
              <a:r>
                <a:rPr lang="en-US" dirty="0">
                  <a:solidFill>
                    <a:srgbClr val="00B050"/>
                  </a:solidFill>
                </a:rPr>
                <a:t>//increment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y = x;			</a:t>
              </a:r>
              <a:r>
                <a:rPr lang="en-US" dirty="0">
                  <a:solidFill>
                    <a:srgbClr val="00B050"/>
                  </a:solidFill>
                </a:rPr>
                <a:t>//act (assign)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6044" y="3068960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counter =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520" y="609329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x = 4 and y = 4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8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 OPERATOR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PRE-INCREMENT		(INCREMENT THEN ACT)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80" y="1340768"/>
            <a:ext cx="7272808" cy="6480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 = 7; 				</a:t>
            </a:r>
            <a:r>
              <a:rPr lang="en-US" dirty="0">
                <a:solidFill>
                  <a:srgbClr val="00B050"/>
                </a:solidFill>
              </a:rPr>
              <a:t>// a is previously declared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(++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);</a:t>
            </a:r>
            <a:r>
              <a:rPr lang="en-US" dirty="0">
                <a:solidFill>
                  <a:srgbClr val="00B050"/>
                </a:solidFill>
              </a:rPr>
              <a:t>	//increment then act (print)</a:t>
            </a:r>
          </a:p>
        </p:txBody>
      </p:sp>
      <p:sp>
        <p:nvSpPr>
          <p:cNvPr id="19" name="Content Placeholder 4"/>
          <p:cNvSpPr txBox="1">
            <a:spLocks/>
          </p:cNvSpPr>
          <p:nvPr/>
        </p:nvSpPr>
        <p:spPr>
          <a:xfrm>
            <a:off x="251520" y="2060848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3, </a:t>
            </a:r>
            <a:r>
              <a:rPr lang="en-US" sz="2000" dirty="0" err="1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System.out.println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(++a)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is equivalent to the following two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23528" y="2672916"/>
            <a:ext cx="7848872" cy="646331"/>
            <a:chOff x="323528" y="1236822"/>
            <a:chExt cx="7848872" cy="646331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a = a + 1;		</a:t>
              </a:r>
              <a:r>
                <a:rPr lang="en-US" dirty="0">
                  <a:solidFill>
                    <a:srgbClr val="00B050"/>
                  </a:solidFill>
                </a:rPr>
                <a:t>//increment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(a);	</a:t>
              </a:r>
              <a:r>
                <a:rPr lang="en-US" dirty="0">
                  <a:solidFill>
                    <a:srgbClr val="00B050"/>
                  </a:solidFill>
                </a:rPr>
                <a:t>//act (print)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251520" y="339299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program output is</a:t>
            </a:r>
            <a:r>
              <a:rPr lang="en-US" dirty="0">
                <a:solidFill>
                  <a:srgbClr val="FFFF00"/>
                </a:solidFill>
              </a:rPr>
              <a:t> 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520" y="400506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91680" y="4005064"/>
            <a:ext cx="7272808" cy="8640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 = 5; 		</a:t>
            </a:r>
            <a:r>
              <a:rPr lang="en-US" dirty="0">
                <a:solidFill>
                  <a:srgbClr val="00B050"/>
                </a:solidFill>
              </a:rPr>
              <a:t>// a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b = ++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 * 2;</a:t>
            </a:r>
            <a:r>
              <a:rPr lang="en-US" dirty="0">
                <a:solidFill>
                  <a:srgbClr val="00B050"/>
                </a:solidFill>
              </a:rPr>
              <a:t>	// b is previously declared</a:t>
            </a:r>
          </a:p>
          <a:p>
            <a:r>
              <a:rPr lang="en-US" dirty="0">
                <a:solidFill>
                  <a:srgbClr val="00B050"/>
                </a:solidFill>
              </a:rPr>
              <a:t>		// a has already a value</a:t>
            </a:r>
          </a:p>
        </p:txBody>
      </p:sp>
      <p:sp>
        <p:nvSpPr>
          <p:cNvPr id="33" name="Content Placeholder 4"/>
          <p:cNvSpPr txBox="1">
            <a:spLocks/>
          </p:cNvSpPr>
          <p:nvPr/>
        </p:nvSpPr>
        <p:spPr>
          <a:xfrm>
            <a:off x="251520" y="4869160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4, 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= ++a % 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is equivalent to the following two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1520" y="627331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a = 6 and b =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23528" y="5518973"/>
            <a:ext cx="7848872" cy="646331"/>
            <a:chOff x="323528" y="5518973"/>
            <a:chExt cx="7848872" cy="646331"/>
          </a:xfrm>
        </p:grpSpPr>
        <p:sp>
          <p:nvSpPr>
            <p:cNvPr id="34" name="TextBox 33"/>
            <p:cNvSpPr txBox="1"/>
            <p:nvPr/>
          </p:nvSpPr>
          <p:spPr>
            <a:xfrm>
              <a:off x="971600" y="5518973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a = a + 1;		</a:t>
              </a:r>
              <a:r>
                <a:rPr lang="en-US" dirty="0">
                  <a:solidFill>
                    <a:srgbClr val="00B050"/>
                  </a:solidFill>
                </a:rPr>
                <a:t>//increment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b = a % 2;		</a:t>
              </a:r>
              <a:r>
                <a:rPr lang="en-US" dirty="0">
                  <a:solidFill>
                    <a:srgbClr val="00B050"/>
                  </a:solidFill>
                </a:rPr>
                <a:t>//act (mod)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3528" y="5518973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00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9" grpId="0" build="p"/>
      <p:bldP spid="23" grpId="0" animBg="1"/>
      <p:bldP spid="31" grpId="0" animBg="1"/>
      <p:bldP spid="32" grpId="0" animBg="1"/>
      <p:bldP spid="33" grpId="0" build="p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 OPERATOR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POST-INCREMENT		(ACT THEN INCREMENT)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91680" y="1340768"/>
            <a:ext cx="727280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variable++;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191683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80" y="1916832"/>
            <a:ext cx="7272808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counter = 0; 	</a:t>
            </a:r>
            <a:r>
              <a:rPr lang="en-US" dirty="0">
                <a:solidFill>
                  <a:srgbClr val="00B050"/>
                </a:solidFill>
              </a:rPr>
              <a:t>// counter is previously declared</a:t>
            </a:r>
          </a:p>
          <a:p>
            <a:r>
              <a:rPr lang="en-US" dirty="0">
                <a:solidFill>
                  <a:srgbClr val="0000FF"/>
                </a:solidFill>
              </a:rPr>
              <a:t>counter++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rgbClr val="00B050"/>
                </a:solidFill>
              </a:rPr>
              <a:t>	// counter = counter + 1</a:t>
            </a:r>
          </a:p>
          <a:p>
            <a:r>
              <a:rPr lang="en-US" dirty="0">
                <a:solidFill>
                  <a:srgbClr val="00B050"/>
                </a:solidFill>
              </a:rPr>
              <a:t>		// counter should previously have a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520" y="3610761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80" y="3610761"/>
            <a:ext cx="727280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3; 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y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++;</a:t>
            </a:r>
            <a:r>
              <a:rPr lang="en-US" dirty="0">
                <a:solidFill>
                  <a:srgbClr val="00B050"/>
                </a:solidFill>
              </a:rPr>
              <a:t>	// y is previously declared</a:t>
            </a:r>
          </a:p>
          <a:p>
            <a:r>
              <a:rPr lang="en-US" dirty="0">
                <a:solidFill>
                  <a:srgbClr val="00B050"/>
                </a:solidFill>
              </a:rPr>
              <a:t>		// x already has a value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79512" y="4761148"/>
            <a:ext cx="8640960" cy="576064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2, (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= x++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is equivalent to the following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337212"/>
            <a:ext cx="7848872" cy="646331"/>
            <a:chOff x="323528" y="1236822"/>
            <a:chExt cx="7848872" cy="646331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y = x;			</a:t>
              </a:r>
              <a:r>
                <a:rPr lang="en-US" dirty="0">
                  <a:solidFill>
                    <a:srgbClr val="00B050"/>
                  </a:solidFill>
                </a:rPr>
                <a:t>//act (assign)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x = x + 1;		</a:t>
              </a:r>
              <a:r>
                <a:rPr lang="en-US" dirty="0">
                  <a:solidFill>
                    <a:srgbClr val="00B050"/>
                  </a:solidFill>
                </a:rPr>
                <a:t>//increment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6044" y="3068960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counter =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520" y="609329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x = 4 and y =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6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 OPERATOR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POST-INCREMENT		(ACT THEN INCREMENT)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80" y="1340768"/>
            <a:ext cx="7272808" cy="6480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 = 7; 				</a:t>
            </a:r>
            <a:r>
              <a:rPr lang="en-US" dirty="0">
                <a:solidFill>
                  <a:srgbClr val="00B050"/>
                </a:solidFill>
              </a:rPr>
              <a:t>// a is previously declared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++);</a:t>
            </a:r>
            <a:r>
              <a:rPr lang="en-US" dirty="0">
                <a:solidFill>
                  <a:srgbClr val="00B050"/>
                </a:solidFill>
              </a:rPr>
              <a:t>	//act (print) then increment</a:t>
            </a:r>
          </a:p>
        </p:txBody>
      </p:sp>
      <p:sp>
        <p:nvSpPr>
          <p:cNvPr id="19" name="Content Placeholder 4"/>
          <p:cNvSpPr txBox="1">
            <a:spLocks/>
          </p:cNvSpPr>
          <p:nvPr/>
        </p:nvSpPr>
        <p:spPr>
          <a:xfrm>
            <a:off x="251520" y="2060848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3, </a:t>
            </a:r>
            <a:r>
              <a:rPr lang="en-US" sz="2000" dirty="0" err="1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System.out.println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(a++)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is equivalent to the following two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23528" y="2672916"/>
            <a:ext cx="7848872" cy="646331"/>
            <a:chOff x="323528" y="1236822"/>
            <a:chExt cx="7848872" cy="646331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(a);	</a:t>
              </a:r>
              <a:r>
                <a:rPr lang="en-US" dirty="0">
                  <a:solidFill>
                    <a:srgbClr val="00B050"/>
                  </a:solidFill>
                </a:rPr>
                <a:t>//act (print)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a = a + 1;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251520" y="339299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program output is</a:t>
            </a:r>
            <a:r>
              <a:rPr lang="en-US" dirty="0">
                <a:solidFill>
                  <a:srgbClr val="FFFF00"/>
                </a:solidFill>
              </a:rPr>
              <a:t>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520" y="400506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91680" y="4005064"/>
            <a:ext cx="7272808" cy="8640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 = 5; 		</a:t>
            </a:r>
            <a:r>
              <a:rPr lang="en-US" dirty="0">
                <a:solidFill>
                  <a:srgbClr val="00B050"/>
                </a:solidFill>
              </a:rPr>
              <a:t>// a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b = 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++ </a:t>
            </a:r>
            <a:r>
              <a:rPr lang="en-US">
                <a:solidFill>
                  <a:schemeClr val="tx1"/>
                </a:solidFill>
              </a:rPr>
              <a:t>* 2 + 4;</a:t>
            </a:r>
            <a:r>
              <a:rPr lang="en-US" dirty="0">
                <a:solidFill>
                  <a:srgbClr val="00B050"/>
                </a:solidFill>
              </a:rPr>
              <a:t>	// b is previously declared</a:t>
            </a:r>
          </a:p>
          <a:p>
            <a:r>
              <a:rPr lang="en-US" dirty="0">
                <a:solidFill>
                  <a:srgbClr val="00B050"/>
                </a:solidFill>
              </a:rPr>
              <a:t>		// a already has a value</a:t>
            </a:r>
          </a:p>
        </p:txBody>
      </p:sp>
      <p:sp>
        <p:nvSpPr>
          <p:cNvPr id="33" name="Content Placeholder 4"/>
          <p:cNvSpPr txBox="1">
            <a:spLocks/>
          </p:cNvSpPr>
          <p:nvPr/>
        </p:nvSpPr>
        <p:spPr>
          <a:xfrm>
            <a:off x="251520" y="4869160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4, 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= a++ % 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is equivalent to the following two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1520" y="627331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a = 6 and b = 1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23528" y="5518973"/>
            <a:ext cx="7848872" cy="646331"/>
            <a:chOff x="323528" y="5518973"/>
            <a:chExt cx="7848872" cy="646331"/>
          </a:xfrm>
        </p:grpSpPr>
        <p:sp>
          <p:nvSpPr>
            <p:cNvPr id="34" name="TextBox 33"/>
            <p:cNvSpPr txBox="1"/>
            <p:nvPr/>
          </p:nvSpPr>
          <p:spPr>
            <a:xfrm>
              <a:off x="971600" y="5518973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b = a % 2;		</a:t>
              </a:r>
              <a:r>
                <a:rPr lang="en-US" dirty="0">
                  <a:solidFill>
                    <a:srgbClr val="00B050"/>
                  </a:solidFill>
                </a:rPr>
                <a:t>//act (mod)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a = a + 1;</a:t>
              </a:r>
              <a:r>
                <a:rPr lang="en-US" dirty="0">
                  <a:solidFill>
                    <a:srgbClr val="00B050"/>
                  </a:solidFill>
                </a:rPr>
                <a:t>		//increment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23528" y="5518973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2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9" grpId="0" build="p"/>
      <p:bldP spid="23" grpId="0" animBg="1"/>
      <p:bldP spid="31" grpId="0" animBg="1"/>
      <p:bldP spid="32" grpId="0" animBg="1"/>
      <p:bldP spid="33" grpId="0" build="p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 OPERATOR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NOTES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/>
          <p:cNvSpPr>
            <a:spLocks noGrp="1"/>
          </p:cNvSpPr>
          <p:nvPr>
            <p:ph idx="1"/>
          </p:nvPr>
        </p:nvSpPr>
        <p:spPr>
          <a:xfrm>
            <a:off x="251520" y="1603648"/>
            <a:ext cx="8640960" cy="136815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variable is used by itself, there is no difference between the post-increment and the pre-increment: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counter++;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++counter;</a:t>
            </a:r>
          </a:p>
        </p:txBody>
      </p:sp>
      <p:sp>
        <p:nvSpPr>
          <p:cNvPr id="29" name="Content Placeholder 4"/>
          <p:cNvSpPr txBox="1">
            <a:spLocks/>
          </p:cNvSpPr>
          <p:nvPr/>
        </p:nvSpPr>
        <p:spPr>
          <a:xfrm>
            <a:off x="251520" y="3276600"/>
            <a:ext cx="8640960" cy="1749152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statements have all the same effect: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= counter + 1;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counter++;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++counter;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+=1;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endParaRPr lang="en-US" sz="22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uiExpand="1" build="p"/>
      <p:bldP spid="2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DECREMENT OPERATOR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720079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same rules of the increment operator. However, it decrements rather than increments.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691680" y="1988840"/>
            <a:ext cx="7200800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--variable;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520" y="198884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520" y="2566645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80" y="2566645"/>
            <a:ext cx="727280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3; 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y = --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rgbClr val="00B050"/>
                </a:solidFill>
              </a:rPr>
              <a:t>	// y is previously declared</a:t>
            </a:r>
          </a:p>
          <a:p>
            <a:r>
              <a:rPr lang="en-US" dirty="0">
                <a:solidFill>
                  <a:srgbClr val="00B050"/>
                </a:solidFill>
              </a:rPr>
              <a:t>		// x already has a value</a:t>
            </a:r>
          </a:p>
        </p:txBody>
      </p:sp>
      <p:sp>
        <p:nvSpPr>
          <p:cNvPr id="15" name="Content Placeholder 4"/>
          <p:cNvSpPr txBox="1">
            <a:spLocks/>
          </p:cNvSpPr>
          <p:nvPr/>
        </p:nvSpPr>
        <p:spPr>
          <a:xfrm>
            <a:off x="179512" y="3717032"/>
            <a:ext cx="8640960" cy="576064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2, (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= --x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is equivalent to the following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4293096"/>
            <a:ext cx="7848872" cy="646331"/>
            <a:chOff x="323528" y="1236822"/>
            <a:chExt cx="7848872" cy="646331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x = x - 1;		</a:t>
              </a:r>
              <a:r>
                <a:rPr lang="en-US" dirty="0">
                  <a:solidFill>
                    <a:srgbClr val="00B050"/>
                  </a:solidFill>
                </a:rPr>
                <a:t>//decrement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y = x;			</a:t>
              </a:r>
              <a:r>
                <a:rPr lang="en-US" dirty="0">
                  <a:solidFill>
                    <a:srgbClr val="00B050"/>
                  </a:solidFill>
                </a:rPr>
                <a:t>//act (assign)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1520" y="5049180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x = 2 and y = 2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PRE-DECREMENT		(DECREMENT THEN ACT)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70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9" grpId="0" animBg="1"/>
      <p:bldP spid="13" grpId="0" animBg="1"/>
      <p:bldP spid="14" grpId="0" animBg="1"/>
      <p:bldP spid="15" grpId="0" build="p"/>
      <p:bldP spid="19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DECREMENT OPERATOR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691680" y="1412776"/>
            <a:ext cx="7200800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variable--;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520" y="141277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520" y="1990581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80" y="1990581"/>
            <a:ext cx="727280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3; 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y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--;</a:t>
            </a:r>
            <a:r>
              <a:rPr lang="en-US" dirty="0">
                <a:solidFill>
                  <a:srgbClr val="00B050"/>
                </a:solidFill>
              </a:rPr>
              <a:t>	// y is previously declared</a:t>
            </a:r>
          </a:p>
          <a:p>
            <a:r>
              <a:rPr lang="en-US" dirty="0">
                <a:solidFill>
                  <a:srgbClr val="00B050"/>
                </a:solidFill>
              </a:rPr>
              <a:t>		// x already has a value</a:t>
            </a:r>
          </a:p>
        </p:txBody>
      </p:sp>
      <p:sp>
        <p:nvSpPr>
          <p:cNvPr id="15" name="Content Placeholder 4"/>
          <p:cNvSpPr txBox="1">
            <a:spLocks/>
          </p:cNvSpPr>
          <p:nvPr/>
        </p:nvSpPr>
        <p:spPr>
          <a:xfrm>
            <a:off x="179512" y="3140968"/>
            <a:ext cx="8640960" cy="576064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2, (</a:t>
            </a:r>
            <a:r>
              <a:rPr lang="en-US" sz="2000" dirty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= x--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is equivalent to the following statements in this order: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3717032"/>
            <a:ext cx="7848872" cy="646331"/>
            <a:chOff x="323528" y="1236822"/>
            <a:chExt cx="7848872" cy="646331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200800" cy="64633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y = x;			</a:t>
              </a:r>
              <a:r>
                <a:rPr lang="en-US" dirty="0">
                  <a:solidFill>
                    <a:srgbClr val="00B050"/>
                  </a:solidFill>
                </a:rPr>
                <a:t>//act (assign)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x = x -1;		</a:t>
              </a:r>
              <a:r>
                <a:rPr lang="en-US" dirty="0">
                  <a:solidFill>
                    <a:srgbClr val="00B050"/>
                  </a:solidFill>
                </a:rPr>
                <a:t>//decrement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1520" y="4473116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this example, </a:t>
            </a:r>
            <a:r>
              <a:rPr lang="en-US" dirty="0">
                <a:solidFill>
                  <a:srgbClr val="FFFF00"/>
                </a:solidFill>
              </a:rPr>
              <a:t>x = 2 and y = 3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POST-DECREMENT		(ACT THEN DECREMENT)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5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5" grpId="0" build="p"/>
      <p:bldP spid="19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DECREMENT OPERATOR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NOTES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/>
          <p:cNvSpPr>
            <a:spLocks noGrp="1"/>
          </p:cNvSpPr>
          <p:nvPr>
            <p:ph idx="1"/>
          </p:nvPr>
        </p:nvSpPr>
        <p:spPr>
          <a:xfrm>
            <a:off x="251520" y="1603648"/>
            <a:ext cx="8640960" cy="136815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variable is used by itself, there is no difference between the post-increment and the pre-increment: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counter--;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--counter;</a:t>
            </a:r>
          </a:p>
        </p:txBody>
      </p:sp>
      <p:sp>
        <p:nvSpPr>
          <p:cNvPr id="29" name="Content Placeholder 4"/>
          <p:cNvSpPr txBox="1">
            <a:spLocks/>
          </p:cNvSpPr>
          <p:nvPr/>
        </p:nvSpPr>
        <p:spPr>
          <a:xfrm>
            <a:off x="251520" y="3584848"/>
            <a:ext cx="8640960" cy="1901552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statements have all the same effect: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= counter – 1;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counter--;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--counter;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-=1;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endParaRPr lang="en-US" sz="22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7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build="p"/>
      <p:bldP spid="2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NOTES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/>
          <p:cNvSpPr>
            <a:spLocks noGrp="1"/>
          </p:cNvSpPr>
          <p:nvPr>
            <p:ph idx="1"/>
          </p:nvPr>
        </p:nvSpPr>
        <p:spPr>
          <a:xfrm>
            <a:off x="251520" y="1603648"/>
            <a:ext cx="8640960" cy="136815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Attempting to use the increment or decrement operator on an expression other than one to which a value can be assigned is a syntax error.</a:t>
            </a:r>
          </a:p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writing ++(x + 1) is a syntax error, because (x + 1) is not a variable.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INCREMENT/DECREMENT</a:t>
            </a:r>
          </a:p>
        </p:txBody>
      </p:sp>
    </p:spTree>
    <p:extLst>
      <p:ext uri="{BB962C8B-B14F-4D97-AF65-F5344CB8AC3E}">
        <p14:creationId xmlns:p14="http://schemas.microsoft.com/office/powerpoint/2010/main" val="423817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RELATIONAL OPERATORS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43204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Relational operators are used to compare items.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251520" y="1196752"/>
            <a:ext cx="8640960" cy="216024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uses the following relational operators: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==			equal to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!=			not equal to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			less than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&lt;=			less than or equal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			greater than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&gt;=			greater than or equal</a:t>
            </a: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251520" y="3284984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relational operators.</a:t>
            </a: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251520" y="3645024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expressions evaluate to either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51520" y="4422010"/>
            <a:ext cx="8640960" cy="2308323"/>
            <a:chOff x="323528" y="1236822"/>
            <a:chExt cx="8640960" cy="1286900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236822"/>
              <a:ext cx="7992888" cy="128690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x = 10, y = 15, z = 10;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char</a:t>
              </a:r>
              <a:r>
                <a:rPr lang="en-US" dirty="0">
                  <a:solidFill>
                    <a:srgbClr val="0000FF"/>
                  </a:solidFill>
                </a:rPr>
                <a:t> ch1 = ‘a’, ch2 = ‘z’; </a:t>
              </a:r>
              <a:r>
                <a:rPr lang="en-US" dirty="0">
                  <a:solidFill>
                    <a:srgbClr val="00B050"/>
                  </a:solidFill>
                </a:rPr>
                <a:t>//Unicode(‘a’) = 97, Unicode(‘z’) = 122</a:t>
              </a:r>
            </a:p>
            <a:p>
              <a:r>
                <a:rPr lang="en-US" dirty="0" err="1">
                  <a:solidFill>
                    <a:srgbClr val="00B0F0"/>
                  </a:solidFill>
                </a:rPr>
                <a:t>boolean</a:t>
              </a:r>
              <a:r>
                <a:rPr lang="en-US" dirty="0">
                  <a:solidFill>
                    <a:srgbClr val="0000FF"/>
                  </a:solidFill>
                </a:rPr>
                <a:t> result;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result = (x &lt; y);		</a:t>
              </a:r>
              <a:r>
                <a:rPr lang="en-US" dirty="0">
                  <a:solidFill>
                    <a:srgbClr val="00B050"/>
                  </a:solidFill>
                </a:rPr>
                <a:t>//result = true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result = (x &lt;= y);</a:t>
              </a:r>
              <a:r>
                <a:rPr lang="en-US" dirty="0">
                  <a:solidFill>
                    <a:srgbClr val="00B050"/>
                  </a:solidFill>
                </a:rPr>
                <a:t>	//result = true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result = (ch1 &gt;= ch2);</a:t>
              </a:r>
              <a:r>
                <a:rPr lang="en-US" dirty="0">
                  <a:solidFill>
                    <a:srgbClr val="00B050"/>
                  </a:solidFill>
                </a:rPr>
                <a:t>	//result = false since Unicode of ‘a’ is less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result = (x != z);</a:t>
              </a:r>
              <a:r>
                <a:rPr lang="en-US" dirty="0">
                  <a:solidFill>
                    <a:srgbClr val="00B050"/>
                  </a:solidFill>
                </a:rPr>
                <a:t>	//result = false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result = (x &gt; y);</a:t>
              </a:r>
              <a:r>
                <a:rPr lang="en-US" dirty="0">
                  <a:solidFill>
                    <a:srgbClr val="00B050"/>
                  </a:solidFill>
                </a:rPr>
                <a:t>		//result = false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236822"/>
              <a:ext cx="576064" cy="1286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" name="Content Placeholder 4"/>
          <p:cNvSpPr txBox="1">
            <a:spLocks/>
          </p:cNvSpPr>
          <p:nvPr/>
        </p:nvSpPr>
        <p:spPr>
          <a:xfrm>
            <a:off x="251520" y="4005064"/>
            <a:ext cx="8640960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result of a logical expression is stored in a variable of type 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347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  <p:bldP spid="10" grpId="0" build="p"/>
      <p:bldP spid="11" grpId="0" build="p"/>
      <p:bldP spid="12" grpId="0" build="p"/>
      <p:bldP spid="1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RELATIONAL OPERATORS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274468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ASCII table, we can form the following rules to compare character variables:</a:t>
            </a:r>
          </a:p>
          <a:p>
            <a:pPr marL="457200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upper-case letter is smaller than any lower-case letter.</a:t>
            </a:r>
          </a:p>
          <a:p>
            <a:pPr marL="457200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two letters are of the same type (upper-case or lower-case) , the former in the alphabetical order is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smaller.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51520" y="3505200"/>
            <a:ext cx="8640960" cy="1754325"/>
            <a:chOff x="323528" y="1236822"/>
            <a:chExt cx="8640960" cy="978044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992888" cy="97804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( 'A' &lt; 'g' );		</a:t>
              </a:r>
              <a:r>
                <a:rPr lang="en-US" dirty="0">
                  <a:solidFill>
                    <a:srgbClr val="00B050"/>
                  </a:solidFill>
                </a:rPr>
                <a:t>// true</a:t>
              </a:r>
            </a:p>
            <a:p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( 'f' &gt;= ‘q' );		</a:t>
              </a:r>
              <a:r>
                <a:rPr lang="en-US" dirty="0">
                  <a:solidFill>
                    <a:srgbClr val="00B050"/>
                  </a:solidFill>
                </a:rPr>
                <a:t>// false</a:t>
              </a:r>
            </a:p>
            <a:p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( 'B' != 'B' );		</a:t>
              </a:r>
              <a:r>
                <a:rPr lang="en-US" dirty="0">
                  <a:solidFill>
                    <a:srgbClr val="00B050"/>
                  </a:solidFill>
                </a:rPr>
                <a:t>// false</a:t>
              </a:r>
            </a:p>
            <a:p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82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347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LOGICAL OPERATORS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43204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operators are used to construct compound logical expressions.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99C2-1AFA-423C-B6C7-2A932FB2B30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251520" y="1196752"/>
            <a:ext cx="8640960" cy="1419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uses the following logical operators: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 			not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&amp;&amp;			and</a:t>
            </a:r>
          </a:p>
          <a:p>
            <a:pPr marL="541782" lvl="1" indent="-28575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||			or</a:t>
            </a: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251520" y="2615952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operators take only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values as operands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251520" y="3200400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logical expressions evaluate to either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 to the following truth tables: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7504" y="3992488"/>
            <a:ext cx="2160240" cy="1584176"/>
            <a:chOff x="251520" y="3717032"/>
            <a:chExt cx="2160240" cy="1584176"/>
          </a:xfrm>
        </p:grpSpPr>
        <p:sp>
          <p:nvSpPr>
            <p:cNvPr id="3" name="Rectangle 2"/>
            <p:cNvSpPr/>
            <p:nvPr/>
          </p:nvSpPr>
          <p:spPr>
            <a:xfrm>
              <a:off x="251520" y="3717032"/>
              <a:ext cx="2160240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NOT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520" y="4077072"/>
              <a:ext cx="1080120" cy="360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Operand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31640" y="4077072"/>
              <a:ext cx="1080120" cy="3600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Result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1520" y="4509120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31640" y="4509120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1520" y="4941168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331640" y="4941168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true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339752" y="3992488"/>
            <a:ext cx="3312368" cy="2448272"/>
            <a:chOff x="2555776" y="3717032"/>
            <a:chExt cx="3312368" cy="2448272"/>
          </a:xfrm>
        </p:grpSpPr>
        <p:sp>
          <p:nvSpPr>
            <p:cNvPr id="23" name="Rectangle 22"/>
            <p:cNvSpPr/>
            <p:nvPr/>
          </p:nvSpPr>
          <p:spPr>
            <a:xfrm>
              <a:off x="2555776" y="3717032"/>
              <a:ext cx="3312368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AND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55776" y="4077072"/>
              <a:ext cx="1080120" cy="360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Operand1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35896" y="4077072"/>
              <a:ext cx="1080120" cy="360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Operand2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55776" y="4509120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35896" y="4509120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55776" y="4941168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635896" y="4941168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555776" y="5373216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35896" y="5373216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55776" y="5805264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635896" y="5805264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788024" y="4077072"/>
              <a:ext cx="1080120" cy="3600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Result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788024" y="4509120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true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88024" y="4941168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788024" y="5373216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88024" y="5805264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false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724128" y="3992488"/>
            <a:ext cx="3312368" cy="2448272"/>
            <a:chOff x="2555776" y="3717032"/>
            <a:chExt cx="3312368" cy="2448272"/>
          </a:xfrm>
        </p:grpSpPr>
        <p:sp>
          <p:nvSpPr>
            <p:cNvPr id="42" name="Rectangle 41"/>
            <p:cNvSpPr/>
            <p:nvPr/>
          </p:nvSpPr>
          <p:spPr>
            <a:xfrm>
              <a:off x="2555776" y="3717032"/>
              <a:ext cx="3312368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OR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555776" y="4077072"/>
              <a:ext cx="1080120" cy="360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Operand1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635896" y="4077072"/>
              <a:ext cx="1080120" cy="360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Operand2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555776" y="4509120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635896" y="4509120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555776" y="4941168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635896" y="4941168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55776" y="5373216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635896" y="5373216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555776" y="5805264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635896" y="5805264"/>
              <a:ext cx="1080120" cy="3600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false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788024" y="4077072"/>
              <a:ext cx="1080120" cy="3600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Result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788024" y="4509120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true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88024" y="4941168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true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88024" y="5373216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true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88024" y="5805264"/>
              <a:ext cx="1080120" cy="36004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513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  <p:bldP spid="10" grpId="0" build="p"/>
      <p:bldP spid="11" grpId="0" build="p"/>
      <p:bldP spid="1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5. LOGICAL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83478" y="1340768"/>
            <a:ext cx="8609002" cy="2585323"/>
            <a:chOff x="323528" y="1236822"/>
            <a:chExt cx="7848872" cy="2585323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200800" cy="258532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x = 24, y = 35, z = 20;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char</a:t>
              </a:r>
              <a:r>
                <a:rPr lang="en-US" dirty="0">
                  <a:solidFill>
                    <a:srgbClr val="0000FF"/>
                  </a:solidFill>
                </a:rPr>
                <a:t> ch1 = ‘a’;			</a:t>
              </a:r>
              <a:r>
                <a:rPr lang="en-US" dirty="0">
                  <a:solidFill>
                    <a:srgbClr val="00B050"/>
                  </a:solidFill>
                </a:rPr>
                <a:t>//Unicode (‘a’) = 97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char</a:t>
              </a:r>
              <a:r>
                <a:rPr lang="en-US" dirty="0">
                  <a:solidFill>
                    <a:srgbClr val="0000FF"/>
                  </a:solidFill>
                </a:rPr>
                <a:t> ch2 = ‘A’; 			</a:t>
              </a:r>
              <a:r>
                <a:rPr lang="en-US" dirty="0">
                  <a:solidFill>
                    <a:srgbClr val="00B050"/>
                  </a:solidFill>
                </a:rPr>
                <a:t>//Unicode (‘A’) = 65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char</a:t>
              </a:r>
              <a:r>
                <a:rPr lang="en-US" dirty="0">
                  <a:solidFill>
                    <a:srgbClr val="0000FF"/>
                  </a:solidFill>
                </a:rPr>
                <a:t> ch3 = ‘&lt;‘;			</a:t>
              </a:r>
              <a:r>
                <a:rPr lang="en-US" dirty="0">
                  <a:solidFill>
                    <a:srgbClr val="00B050"/>
                  </a:solidFill>
                </a:rPr>
                <a:t>//Unicode (‘&lt;‘) = 60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char</a:t>
              </a:r>
              <a:r>
                <a:rPr lang="en-US" dirty="0">
                  <a:solidFill>
                    <a:srgbClr val="0000FF"/>
                  </a:solidFill>
                </a:rPr>
                <a:t> ch4 = ‘5’;			</a:t>
              </a:r>
              <a:r>
                <a:rPr lang="en-US" dirty="0">
                  <a:solidFill>
                    <a:srgbClr val="00B050"/>
                  </a:solidFill>
                </a:rPr>
                <a:t>//Unicode (‘5’) = 53</a:t>
              </a:r>
            </a:p>
            <a:p>
              <a:r>
                <a:rPr lang="en-US" dirty="0" err="1">
                  <a:solidFill>
                    <a:srgbClr val="00B0F0"/>
                  </a:solidFill>
                </a:rPr>
                <a:t>boolean</a:t>
              </a:r>
              <a:r>
                <a:rPr lang="en-US" dirty="0">
                  <a:solidFill>
                    <a:srgbClr val="0000FF"/>
                  </a:solidFill>
                </a:rPr>
                <a:t> result;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result = (x &gt;= y) &amp;&amp; (ch1 &lt; ch3);</a:t>
              </a:r>
              <a:r>
                <a:rPr lang="en-US" dirty="0">
                  <a:solidFill>
                    <a:srgbClr val="00B050"/>
                  </a:solidFill>
                </a:rPr>
                <a:t>// false &amp;&amp; false </a:t>
              </a:r>
              <a:r>
                <a:rPr lang="en-US" dirty="0">
                  <a:solidFill>
                    <a:srgbClr val="00B050"/>
                  </a:solidFill>
                  <a:sym typeface="Wingdings" panose="05000000000000000000" pitchFamily="2" charset="2"/>
                </a:rPr>
                <a:t> result = false</a:t>
              </a:r>
            </a:p>
            <a:p>
              <a:r>
                <a:rPr lang="en-US" dirty="0">
                  <a:solidFill>
                    <a:srgbClr val="0000FF"/>
                  </a:solidFill>
                  <a:sym typeface="Wingdings" panose="05000000000000000000" pitchFamily="2" charset="2"/>
                </a:rPr>
                <a:t>result = (ch2 == ch4) || (x &gt; z); 	</a:t>
              </a:r>
              <a:r>
                <a:rPr lang="en-US" dirty="0">
                  <a:solidFill>
                    <a:srgbClr val="00B050"/>
                  </a:solidFill>
                  <a:sym typeface="Wingdings" panose="05000000000000000000" pitchFamily="2" charset="2"/>
                </a:rPr>
                <a:t>// false || true  result = true</a:t>
              </a:r>
            </a:p>
            <a:p>
              <a:r>
                <a:rPr lang="en-US" dirty="0">
                  <a:solidFill>
                    <a:srgbClr val="0000FF"/>
                  </a:solidFill>
                  <a:sym typeface="Wingdings" panose="05000000000000000000" pitchFamily="2" charset="2"/>
                </a:rPr>
                <a:t>result = !(ch1 &lt; ch2);</a:t>
              </a:r>
              <a:r>
                <a:rPr lang="en-US" dirty="0">
                  <a:solidFill>
                    <a:srgbClr val="00B050"/>
                  </a:solidFill>
                  <a:sym typeface="Wingdings" panose="05000000000000000000" pitchFamily="2" charset="2"/>
                </a:rPr>
                <a:t>		// !(false)  true</a:t>
              </a:r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31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ORDER OF PRECEDENCE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Group 5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76031"/>
              </p:ext>
            </p:extLst>
          </p:nvPr>
        </p:nvGraphicFramePr>
        <p:xfrm>
          <a:off x="304800" y="980728"/>
          <a:ext cx="8515672" cy="36576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484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Parenthesis  ( 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inside-out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Increment (++), Decrement (--)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from left to right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*     /     %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from left to right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     -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from left to right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     &gt;     &lt;=     &gt;=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from left to right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==     !=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from left to right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&amp;&amp;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left to right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||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from left to right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     +=     -=     *=     /=     %=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from left to right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08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7. TYPE CASTING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43204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casting is the conversion from a data type to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80" y="1340768"/>
            <a:ext cx="727280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dataTypeName</a:t>
            </a:r>
            <a:r>
              <a:rPr lang="en-US" dirty="0">
                <a:solidFill>
                  <a:srgbClr val="00B0F0"/>
                </a:solidFill>
              </a:rPr>
              <a:t>) expression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280" y="2204865"/>
            <a:ext cx="8064896" cy="26642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) (7.9);			</a:t>
            </a:r>
            <a:r>
              <a:rPr lang="en-US" dirty="0">
                <a:solidFill>
                  <a:srgbClr val="00B050"/>
                </a:solidFill>
              </a:rPr>
              <a:t>// = 7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) (25);			</a:t>
            </a:r>
            <a:r>
              <a:rPr lang="en-US" dirty="0">
                <a:solidFill>
                  <a:srgbClr val="00B050"/>
                </a:solidFill>
              </a:rPr>
              <a:t>// = 25.0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) (5 + 3);			</a:t>
            </a:r>
            <a:r>
              <a:rPr lang="en-US" dirty="0">
                <a:solidFill>
                  <a:srgbClr val="00B050"/>
                </a:solidFill>
              </a:rPr>
              <a:t>// = (double) (8) = 8.0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rgbClr val="FF0000"/>
                </a:solidFill>
              </a:rPr>
              <a:t>(15)</a:t>
            </a:r>
            <a:r>
              <a:rPr lang="en-US" dirty="0">
                <a:solidFill>
                  <a:schemeClr val="tx1"/>
                </a:solidFill>
              </a:rPr>
              <a:t> / 2;		</a:t>
            </a:r>
            <a:r>
              <a:rPr lang="en-US" dirty="0">
                <a:solidFill>
                  <a:srgbClr val="00B050"/>
                </a:solidFill>
              </a:rPr>
              <a:t>// = 15.0 / 2   = 7.5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rgbClr val="FF0000"/>
                </a:solidFill>
              </a:rPr>
              <a:t>(15 / 2)</a:t>
            </a:r>
            <a:r>
              <a:rPr lang="en-US" dirty="0">
                <a:solidFill>
                  <a:schemeClr val="tx1"/>
                </a:solidFill>
              </a:rPr>
              <a:t>;		</a:t>
            </a:r>
            <a:r>
              <a:rPr lang="en-US" dirty="0">
                <a:solidFill>
                  <a:srgbClr val="00B050"/>
                </a:solidFill>
              </a:rPr>
              <a:t>// = (double) (7)   = 7.0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) (7.8 + (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rgbClr val="FF0000"/>
                </a:solidFill>
              </a:rPr>
              <a:t>(15)</a:t>
            </a:r>
            <a:r>
              <a:rPr lang="en-US" dirty="0">
                <a:solidFill>
                  <a:schemeClr val="tx1"/>
                </a:solidFill>
              </a:rPr>
              <a:t> / 2);								</a:t>
            </a:r>
            <a:r>
              <a:rPr lang="en-US" dirty="0">
                <a:solidFill>
                  <a:srgbClr val="00B050"/>
                </a:solidFill>
              </a:rPr>
              <a:t>//=(</a:t>
            </a:r>
            <a:r>
              <a:rPr lang="en-US" dirty="0" err="1">
                <a:solidFill>
                  <a:srgbClr val="00B050"/>
                </a:solidFill>
              </a:rPr>
              <a:t>int</a:t>
            </a:r>
            <a:r>
              <a:rPr lang="en-US" dirty="0">
                <a:solidFill>
                  <a:srgbClr val="00B050"/>
                </a:solidFill>
              </a:rPr>
              <a:t>)(7.8+15.0/2)=(</a:t>
            </a:r>
            <a:r>
              <a:rPr lang="en-US" dirty="0" err="1">
                <a:solidFill>
                  <a:srgbClr val="00B050"/>
                </a:solidFill>
              </a:rPr>
              <a:t>int</a:t>
            </a:r>
            <a:r>
              <a:rPr lang="en-US" dirty="0">
                <a:solidFill>
                  <a:srgbClr val="00B050"/>
                </a:solidFill>
              </a:rPr>
              <a:t>)(7.8+7.5) = 15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) (7.8 + (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rgbClr val="FF0000"/>
                </a:solidFill>
              </a:rPr>
              <a:t>(15 / 2)</a:t>
            </a:r>
            <a:r>
              <a:rPr lang="en-US" dirty="0">
                <a:solidFill>
                  <a:schemeClr val="tx1"/>
                </a:solidFill>
              </a:rPr>
              <a:t>);</a:t>
            </a:r>
            <a:r>
              <a:rPr lang="en-US" dirty="0">
                <a:solidFill>
                  <a:srgbClr val="00B050"/>
                </a:solidFill>
              </a:rPr>
              <a:t>	//(</a:t>
            </a:r>
            <a:r>
              <a:rPr lang="en-US" dirty="0" err="1">
                <a:solidFill>
                  <a:srgbClr val="00B050"/>
                </a:solidFill>
              </a:rPr>
              <a:t>int</a:t>
            </a:r>
            <a:r>
              <a:rPr lang="en-US" dirty="0">
                <a:solidFill>
                  <a:srgbClr val="00B050"/>
                </a:solidFill>
              </a:rPr>
              <a:t>)(7.8+7.0) =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520" y="191683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13" name="Content Placeholder 4"/>
          <p:cNvSpPr txBox="1">
            <a:spLocks/>
          </p:cNvSpPr>
          <p:nvPr/>
        </p:nvSpPr>
        <p:spPr>
          <a:xfrm>
            <a:off x="251520" y="4941168"/>
            <a:ext cx="8640960" cy="93610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Java, arithmetic expressions may have mixed data types. In this case, Java performs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implicit type coercion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(automatic casting). However, implicit type coercion may generate unexpected results.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9512" y="6057292"/>
            <a:ext cx="8807896" cy="684076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Avoid using expressions with mixed data types without explicit type coercion (explicit type casting).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19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 animBg="1"/>
      <p:bldP spid="12" grpId="0" uiExpand="1" build="p" animBg="1"/>
      <p:bldP spid="9" grpId="0" animBg="1"/>
      <p:bldP spid="13" grpId="0" build="p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7. TYPE CASTING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1280" y="1196753"/>
            <a:ext cx="8064896" cy="16561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 = ‘a’;		</a:t>
            </a:r>
            <a:r>
              <a:rPr lang="en-US" dirty="0">
                <a:solidFill>
                  <a:srgbClr val="00B050"/>
                </a:solidFill>
              </a:rPr>
              <a:t>//Unicode of ‘a’ = 97 </a:t>
            </a:r>
          </a:p>
          <a:p>
            <a:r>
              <a:rPr lang="en-US" dirty="0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unicode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 err="1">
                <a:solidFill>
                  <a:schemeClr val="tx1"/>
                </a:solidFill>
              </a:rPr>
              <a:t>unicode</a:t>
            </a:r>
            <a:r>
              <a:rPr lang="en-US" dirty="0">
                <a:solidFill>
                  <a:schemeClr val="tx1"/>
                </a:solidFill>
              </a:rPr>
              <a:t> = (</a:t>
            </a:r>
            <a:r>
              <a:rPr lang="en-US" dirty="0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)(</a:t>
            </a:r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);	</a:t>
            </a:r>
            <a:r>
              <a:rPr lang="en-US" dirty="0">
                <a:solidFill>
                  <a:srgbClr val="00B050"/>
                </a:solidFill>
              </a:rPr>
              <a:t>//</a:t>
            </a:r>
            <a:r>
              <a:rPr lang="en-US" dirty="0" err="1">
                <a:solidFill>
                  <a:srgbClr val="00B050"/>
                </a:solidFill>
              </a:rPr>
              <a:t>unicode</a:t>
            </a:r>
            <a:r>
              <a:rPr lang="en-US" dirty="0">
                <a:solidFill>
                  <a:srgbClr val="00B050"/>
                </a:solidFill>
              </a:rPr>
              <a:t> = 97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unicode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520" y="90872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280" y="2924944"/>
            <a:ext cx="8064896" cy="307777"/>
          </a:xfrm>
          <a:prstGeom prst="rect">
            <a:avLst/>
          </a:prstGeom>
          <a:solidFill>
            <a:srgbClr val="0000FF"/>
          </a:solidFill>
          <a:ln w="28575" cap="rnd" cmpd="thickThin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280" y="3769296"/>
            <a:ext cx="8064896" cy="16561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98;		</a:t>
            </a:r>
          </a:p>
          <a:p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 = (</a:t>
            </a:r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chemeClr val="tx1"/>
                </a:solidFill>
              </a:rPr>
              <a:t>)(x);	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);	</a:t>
            </a: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1520" y="3481263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280" y="5497487"/>
            <a:ext cx="8064896" cy="307777"/>
          </a:xfrm>
          <a:prstGeom prst="rect">
            <a:avLst/>
          </a:prstGeom>
          <a:solidFill>
            <a:srgbClr val="0000FF"/>
          </a:solidFill>
          <a:ln w="28575" cap="rnd" cmpd="thickThin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12415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animBg="1"/>
      <p:bldP spid="9" grpId="0" animBg="1"/>
      <p:bldP spid="16" grpId="0" animBg="1"/>
      <p:bldP spid="18" grpId="0" build="p" animBg="1"/>
      <p:bldP spid="19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output of the following program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1508006"/>
            <a:ext cx="7848872" cy="3416320"/>
            <a:chOff x="323528" y="1236822"/>
            <a:chExt cx="7848872" cy="3416320"/>
          </a:xfrm>
        </p:grpSpPr>
        <p:sp>
          <p:nvSpPr>
            <p:cNvPr id="9" name="TextBox 8"/>
            <p:cNvSpPr txBox="1"/>
            <p:nvPr/>
          </p:nvSpPr>
          <p:spPr>
            <a:xfrm>
              <a:off x="971600" y="1236822"/>
              <a:ext cx="7200800" cy="341632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>
                  <a:solidFill>
                    <a:srgbClr val="0000FF"/>
                  </a:solidFill>
                </a:rPr>
                <a:t>Increment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>
                  <a:solidFill>
                    <a:srgbClr val="00B0F0"/>
                  </a:solidFill>
                </a:rPr>
                <a:t>   public </a:t>
              </a:r>
              <a:r>
                <a:rPr lang="en-US" dirty="0">
                  <a:solidFill>
                    <a:srgbClr val="00B0F0"/>
                  </a:solidFill>
                </a:rPr>
                <a:t>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sum = 7;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(sum);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(sum++);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(sum);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(++sum);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(sum);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</a:t>
              </a:r>
              <a:endParaRPr lang="en-US" dirty="0"/>
            </a:p>
            <a:p>
              <a:r>
                <a:rPr lang="en-US" dirty="0">
                  <a:solidFill>
                    <a:srgbClr val="0000FF"/>
                  </a:solidFill>
                </a:rPr>
                <a:t>}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W3.3 Operators2</a:t>
            </a:r>
          </a:p>
        </p:txBody>
      </p:sp>
    </p:spTree>
    <p:extLst>
      <p:ext uri="{BB962C8B-B14F-4D97-AF65-F5344CB8AC3E}">
        <p14:creationId xmlns:p14="http://schemas.microsoft.com/office/powerpoint/2010/main" val="745055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216023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Assume x, y, and z are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variables; with x = 9, y = 10, and z = 8. What are the values of the three values after the execution of each of the following statements: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x++;</a:t>
            </a:r>
          </a:p>
          <a:p>
            <a:pPr lvl="1"/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System.out.println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(--y);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 *= ++x;</a:t>
            </a:r>
          </a:p>
          <a:p>
            <a:pPr lvl="1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67544" y="3212977"/>
            <a:ext cx="8229600" cy="216023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Assume x = 7 and y = 9, and z = 22.2. Evaluate the following expressions accordingly: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= x + y +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(z);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 /= x;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+= (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z – x;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*= 2 * y + (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z;</a:t>
            </a:r>
          </a:p>
          <a:p>
            <a:pPr lvl="1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W3.1 Operators2</a:t>
            </a:r>
          </a:p>
        </p:txBody>
      </p:sp>
    </p:spTree>
    <p:extLst>
      <p:ext uri="{BB962C8B-B14F-4D97-AF65-F5344CB8AC3E}">
        <p14:creationId xmlns:p14="http://schemas.microsoft.com/office/powerpoint/2010/main" val="3477554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(3)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216023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Trace the following statements by filling the table below: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3528" y="1508006"/>
            <a:ext cx="7848872" cy="4524315"/>
            <a:chOff x="323528" y="1236822"/>
            <a:chExt cx="7848872" cy="4524315"/>
          </a:xfrm>
        </p:grpSpPr>
        <p:sp>
          <p:nvSpPr>
            <p:cNvPr id="10" name="TextBox 9"/>
            <p:cNvSpPr txBox="1"/>
            <p:nvPr/>
          </p:nvSpPr>
          <p:spPr>
            <a:xfrm>
              <a:off x="971600" y="1236822"/>
              <a:ext cx="7200800" cy="45243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>
                  <a:solidFill>
                    <a:srgbClr val="0000FF"/>
                  </a:solidFill>
                </a:rPr>
                <a:t>Trace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firstNum</a:t>
              </a:r>
              <a:r>
                <a:rPr lang="en-US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int </a:t>
              </a:r>
              <a:r>
                <a:rPr lang="en-US" dirty="0" err="1">
                  <a:solidFill>
                    <a:srgbClr val="0000FF"/>
                  </a:solidFill>
                </a:rPr>
                <a:t>secondNum</a:t>
              </a:r>
              <a:r>
                <a:rPr lang="en-US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char </a:t>
              </a:r>
              <a:r>
                <a:rPr lang="en-US" dirty="0" err="1">
                  <a:solidFill>
                    <a:srgbClr val="0000FF"/>
                  </a:solidFill>
                </a:rPr>
                <a:t>ch</a:t>
              </a:r>
              <a:r>
                <a:rPr lang="en-US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double z;	</a:t>
              </a:r>
            </a:p>
            <a:p>
              <a:pPr lvl="2"/>
              <a:r>
                <a:rPr lang="en-US" dirty="0" err="1">
                  <a:solidFill>
                    <a:srgbClr val="0000FF"/>
                  </a:solidFill>
                </a:rPr>
                <a:t>firstNum</a:t>
              </a:r>
              <a:r>
                <a:rPr lang="en-US" dirty="0">
                  <a:solidFill>
                    <a:srgbClr val="0000FF"/>
                  </a:solidFill>
                </a:rPr>
                <a:t> = 4;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secondNum</a:t>
              </a:r>
              <a:r>
                <a:rPr lang="en-US" dirty="0">
                  <a:solidFill>
                    <a:srgbClr val="0000FF"/>
                  </a:solidFill>
                </a:rPr>
                <a:t> = 2 + </a:t>
              </a:r>
              <a:r>
                <a:rPr lang="en-US" dirty="0" err="1">
                  <a:solidFill>
                    <a:srgbClr val="0000FF"/>
                  </a:solidFill>
                </a:rPr>
                <a:t>firstNum</a:t>
              </a:r>
              <a:r>
                <a:rPr lang="en-US" dirty="0">
                  <a:solidFill>
                    <a:srgbClr val="0000FF"/>
                  </a:solidFill>
                </a:rPr>
                <a:t> * 6;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z = (</a:t>
              </a:r>
              <a:r>
                <a:rPr lang="en-US" dirty="0" err="1">
                  <a:solidFill>
                    <a:srgbClr val="0000FF"/>
                  </a:solidFill>
                </a:rPr>
                <a:t>firstNum</a:t>
              </a:r>
              <a:r>
                <a:rPr lang="en-US" dirty="0">
                  <a:solidFill>
                    <a:srgbClr val="0000FF"/>
                  </a:solidFill>
                </a:rPr>
                <a:t> + 1) / 2.0; 	 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ch</a:t>
              </a:r>
              <a:r>
                <a:rPr lang="en-US" dirty="0">
                  <a:solidFill>
                    <a:srgbClr val="0000FF"/>
                  </a:solidFill>
                </a:rPr>
                <a:t> = ‘A’;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firstNum</a:t>
              </a:r>
              <a:r>
                <a:rPr lang="en-US" dirty="0">
                  <a:solidFill>
                    <a:srgbClr val="0000FF"/>
                  </a:solidFill>
                </a:rPr>
                <a:t> = (int) (z) + 8;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firstNum</a:t>
              </a:r>
              <a:r>
                <a:rPr lang="en-US" dirty="0">
                  <a:solidFill>
                    <a:srgbClr val="0000FF"/>
                  </a:solidFill>
                </a:rPr>
                <a:t> = </a:t>
              </a:r>
              <a:r>
                <a:rPr lang="en-US" dirty="0" err="1">
                  <a:solidFill>
                    <a:srgbClr val="0000FF"/>
                  </a:solidFill>
                </a:rPr>
                <a:t>secondNum</a:t>
              </a:r>
              <a:r>
                <a:rPr lang="en-US" dirty="0">
                  <a:solidFill>
                    <a:srgbClr val="0000FF"/>
                  </a:solidFill>
                </a:rPr>
                <a:t>--;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</a:t>
              </a:r>
              <a:endParaRPr lang="en-US" dirty="0"/>
            </a:p>
            <a:p>
              <a:r>
                <a:rPr lang="en-US" dirty="0">
                  <a:solidFill>
                    <a:srgbClr val="0000FF"/>
                  </a:solidFill>
                </a:rPr>
                <a:t>}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3528" y="1236822"/>
              <a:ext cx="576064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62442"/>
              </p:ext>
            </p:extLst>
          </p:nvPr>
        </p:nvGraphicFramePr>
        <p:xfrm>
          <a:off x="1691680" y="6154504"/>
          <a:ext cx="6096000" cy="37084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firstNum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secondNum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W3.1 </a:t>
            </a:r>
            <a:r>
              <a:rPr lang="en-US" sz="1200" dirty="0"/>
              <a:t>Operators2</a:t>
            </a:r>
          </a:p>
        </p:txBody>
      </p:sp>
    </p:spTree>
    <p:extLst>
      <p:ext uri="{BB962C8B-B14F-4D97-AF65-F5344CB8AC3E}">
        <p14:creationId xmlns:p14="http://schemas.microsoft.com/office/powerpoint/2010/main" val="1430269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1309</TotalTime>
  <Words>2406</Words>
  <Application>Microsoft Macintosh PowerPoint</Application>
  <PresentationFormat>On-screen Show (4:3)</PresentationFormat>
  <Paragraphs>423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Calibri</vt:lpstr>
      <vt:lpstr>Courier New</vt:lpstr>
      <vt:lpstr>Lucida Sans Unicode</vt:lpstr>
      <vt:lpstr>Symbol</vt:lpstr>
      <vt:lpstr>Tahoma</vt:lpstr>
      <vt:lpstr>Verdana</vt:lpstr>
      <vt:lpstr>Wingdings</vt:lpstr>
      <vt:lpstr>Wingdings 2</vt:lpstr>
      <vt:lpstr>Wingdings 3</vt:lpstr>
      <vt:lpstr>Concourse</vt:lpstr>
      <vt:lpstr>  OPERATORS (2)</vt:lpstr>
      <vt:lpstr>Outline</vt:lpstr>
      <vt:lpstr>1. TYPES OF OPERATORS</vt:lpstr>
      <vt:lpstr>2. INCREMENT/DECREMENT</vt:lpstr>
      <vt:lpstr>2. INCREMENT OPERATOR</vt:lpstr>
      <vt:lpstr>2. INCREMENT OPERATOR</vt:lpstr>
      <vt:lpstr>2. INCREMENT OPERATOR</vt:lpstr>
      <vt:lpstr>2. INCREMENT OPERATOR</vt:lpstr>
      <vt:lpstr>2. INCREMENT OPERATOR</vt:lpstr>
      <vt:lpstr>2. DECREMENT OPERATOR</vt:lpstr>
      <vt:lpstr>2. DECREMENT OPERATOR</vt:lpstr>
      <vt:lpstr>2. DECREMENT OPERATOR</vt:lpstr>
      <vt:lpstr>2. INCREMENT/DECREMENT</vt:lpstr>
      <vt:lpstr>3. RELATIONAL OPERATORS</vt:lpstr>
      <vt:lpstr>3. RELATIONAL OPERATORS</vt:lpstr>
      <vt:lpstr>4. LOGICAL OPERATORS</vt:lpstr>
      <vt:lpstr>5. LOGICAL OPERATORS</vt:lpstr>
      <vt:lpstr>6. ORDER OF PRECEDENCE</vt:lpstr>
      <vt:lpstr>7. TYPE CASTING</vt:lpstr>
      <vt:lpstr>7. TYPE CASTING</vt:lpstr>
      <vt:lpstr>Self-Check Exercises (1)</vt:lpstr>
      <vt:lpstr>Self-Check Exercises (2)</vt:lpstr>
      <vt:lpstr>Self-Check Exercises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OPERATORS (2)</dc:title>
  <dc:creator>Soha S.Zaghloul</dc:creator>
  <cp:lastModifiedBy>عبدالعزيز محمد دخيل الحميضي</cp:lastModifiedBy>
  <cp:revision>62</cp:revision>
  <dcterms:created xsi:type="dcterms:W3CDTF">2015-02-02T14:10:01Z</dcterms:created>
  <dcterms:modified xsi:type="dcterms:W3CDTF">2024-09-03T11:38:56Z</dcterms:modified>
</cp:coreProperties>
</file>