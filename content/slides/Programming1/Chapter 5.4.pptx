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87" r:id="rId10"/>
    <p:sldId id="288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yfa" initials="H" lastIdx="8" clrIdx="0">
    <p:extLst/>
  </p:cmAuthor>
  <p:cmAuthor id="2" name="Soha S.Zaghloul" initials="SZ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FF"/>
    <a:srgbClr val="CC00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5" d="100"/>
          <a:sy n="55" d="100"/>
        </p:scale>
        <p:origin x="-9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4CE5-5371-4E63-BCEB-0069C9C00441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812F4-FF93-4B05-95F7-68431D050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960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6992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4811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8660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01807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3912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6094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06822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6094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0682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0825574-E5D2-4BDE-BFB3-FDF071A8F0CB}" type="datetimeFigureOut">
              <a:rPr lang="en-US" smtClean="0"/>
              <a:pPr/>
              <a:t>10/30/2016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20CA51C-10A0-498A-8694-5423B51E2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 </a:t>
            </a:r>
            <a:r>
              <a:rPr lang="en-US" sz="5400" smtClean="0">
                <a:solidFill>
                  <a:srgbClr val="C00000"/>
                </a:solidFill>
              </a:rPr>
              <a:t>REPETITION (4)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95071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44008" y="3861048"/>
            <a:ext cx="4248472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 smtClean="0">
                <a:solidFill>
                  <a:srgbClr val="00B0F0"/>
                </a:solidFill>
              </a:rPr>
              <a:t>Nested </a:t>
            </a:r>
            <a:r>
              <a:rPr lang="en-US" sz="4000" dirty="0" smtClean="0">
                <a:solidFill>
                  <a:srgbClr val="00B0F0"/>
                </a:solidFill>
              </a:rPr>
              <a:t>loops </a:t>
            </a:r>
            <a:endParaRPr lang="en-US" sz="4000" dirty="0" smtClean="0">
              <a:solidFill>
                <a:srgbClr val="00B0F0"/>
              </a:solidFill>
            </a:endParaRPr>
          </a:p>
          <a:p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7284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Tahoma" charset="0"/>
                <a:cs typeface="Arial" charset="0"/>
              </a:rPr>
              <a:t>1. </a:t>
            </a:r>
            <a:r>
              <a:rPr lang="en-US" sz="2400" dirty="0" smtClean="0">
                <a:latin typeface="Tahoma" charset="0"/>
                <a:cs typeface="Arial" charset="0"/>
              </a:rPr>
              <a:t>Nested loops</a:t>
            </a:r>
            <a:endParaRPr lang="en-US" sz="24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	1.1 Syntax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1.2 Flowchart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1.3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sz="2000" dirty="0" smtClean="0">
              <a:solidFill>
                <a:srgbClr val="0000FF"/>
              </a:solidFill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246575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23528" y="6023029"/>
            <a:ext cx="86409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of the statements may be another </a:t>
            </a:r>
            <a:r>
              <a:rPr lang="en-US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statement. The next slide illustrates this.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91679" y="980728"/>
            <a:ext cx="7215369" cy="180020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rgbClr val="00B0F0"/>
                </a:solidFill>
              </a:rPr>
              <a:t>for </a:t>
            </a:r>
            <a:r>
              <a:rPr lang="en-US" sz="1600" dirty="0" smtClean="0">
                <a:solidFill>
                  <a:srgbClr val="0000FF"/>
                </a:solidFill>
              </a:rPr>
              <a:t>(initial expression; logical expression; update expression)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</a:t>
            </a:r>
            <a:r>
              <a:rPr lang="en-US" sz="1600" dirty="0" smtClean="0">
                <a:solidFill>
                  <a:srgbClr val="FF0000"/>
                </a:solidFill>
              </a:rPr>
              <a:t>{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1;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     statement 2;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---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n;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</a:t>
            </a:r>
            <a:r>
              <a:rPr lang="en-US" sz="1600" dirty="0" smtClean="0">
                <a:solidFill>
                  <a:srgbClr val="FF0000"/>
                </a:solidFill>
              </a:rPr>
              <a:t>}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9807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691680" y="6093296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1520" y="3356992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Initialize Counter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7" name="Flowchart: Decision 26"/>
          <p:cNvSpPr/>
          <p:nvPr/>
        </p:nvSpPr>
        <p:spPr>
          <a:xfrm>
            <a:off x="251520" y="4437112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Logical Expression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46405" y="4761148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Statement</a:t>
            </a:r>
            <a:r>
              <a:rPr lang="en-US" b="1" dirty="0" smtClean="0">
                <a:solidFill>
                  <a:srgbClr val="FF0000"/>
                </a:solidFill>
              </a:rPr>
              <a:t>(s)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94677" y="4653136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Update Counter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691680" y="3068960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691680" y="3717032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131840" y="4941168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24128" y="4941168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87824" y="467462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True</a:t>
            </a:r>
            <a:endParaRPr lang="en-US" sz="1600" b="1" dirty="0">
              <a:solidFill>
                <a:srgbClr val="00B050"/>
              </a:solidFill>
            </a:endParaRPr>
          </a:p>
        </p:txBody>
      </p:sp>
      <p:cxnSp>
        <p:nvCxnSpPr>
          <p:cNvPr id="35" name="Straight Arrow Connector 34"/>
          <p:cNvCxnSpPr>
            <a:stCxn id="29" idx="0"/>
          </p:cNvCxnSpPr>
          <p:nvPr/>
        </p:nvCxnSpPr>
        <p:spPr>
          <a:xfrm flipH="1" flipV="1">
            <a:off x="7233538" y="4149080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1691680" y="4149080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691680" y="5445224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511660" y="5805264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99592" y="544522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False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691680" y="1268760"/>
            <a:ext cx="7200800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691680" y="2492896"/>
            <a:ext cx="7200800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511660" y="2780928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6948264" y="548680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REMINDER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1963778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9" grpId="0" animBg="1"/>
      <p:bldP spid="10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34" grpId="0"/>
      <p:bldP spid="38" grpId="0" animBg="1"/>
      <p:bldP spid="39" grpId="0"/>
      <p:bldP spid="41" grpId="0" animBg="1"/>
      <p:bldP spid="42" grpId="0" animBg="1"/>
      <p:bldP spid="40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1.1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33096" y="1362254"/>
            <a:ext cx="7359384" cy="3744416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rgbClr val="00B0F0"/>
                </a:solidFill>
              </a:rPr>
              <a:t>for </a:t>
            </a:r>
            <a:r>
              <a:rPr lang="en-US" sz="1600" dirty="0" smtClean="0">
                <a:solidFill>
                  <a:srgbClr val="0000FF"/>
                </a:solidFill>
              </a:rPr>
              <a:t>(initial expression 1; logical expression 1; update expression 1)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{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</a:t>
            </a:r>
            <a:r>
              <a:rPr lang="en-US" sz="1600" dirty="0" err="1" smtClean="0">
                <a:solidFill>
                  <a:srgbClr val="0000FF"/>
                </a:solidFill>
              </a:rPr>
              <a:t>i</a:t>
            </a:r>
            <a:r>
              <a:rPr lang="en-US" sz="1600" dirty="0" smtClean="0">
                <a:solidFill>
                  <a:srgbClr val="0000FF"/>
                </a:solidFill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i+1;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     </a:t>
            </a:r>
            <a:r>
              <a:rPr lang="en-US" sz="1600" dirty="0" smtClean="0">
                <a:solidFill>
                  <a:schemeClr val="tx1"/>
                </a:solidFill>
              </a:rPr>
              <a:t>for (initial expression 2; logical expression 2; update expression 2)</a:t>
            </a:r>
          </a:p>
          <a:p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         {</a:t>
            </a:r>
          </a:p>
          <a:p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 smtClean="0">
                <a:solidFill>
                  <a:schemeClr val="tx1"/>
                </a:solidFill>
              </a:rPr>
              <a:t>statement j;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 smtClean="0">
                <a:solidFill>
                  <a:schemeClr val="tx1"/>
                </a:solidFill>
              </a:rPr>
              <a:t>statement j+1;</a:t>
            </a:r>
          </a:p>
          <a:p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 smtClean="0">
                <a:solidFill>
                  <a:schemeClr val="tx1"/>
                </a:solidFill>
              </a:rPr>
              <a:t>----</a:t>
            </a:r>
          </a:p>
          <a:p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 smtClean="0">
                <a:solidFill>
                  <a:schemeClr val="tx1"/>
                </a:solidFill>
              </a:rPr>
              <a:t>statement m;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      }             </a:t>
            </a:r>
            <a:r>
              <a:rPr lang="en-US" sz="1600" dirty="0" smtClean="0">
                <a:solidFill>
                  <a:srgbClr val="0000FF"/>
                </a:solidFill>
              </a:rPr>
              <a:t>  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</a:t>
            </a:r>
            <a:r>
              <a:rPr lang="en-US" sz="1600" dirty="0" err="1" smtClean="0">
                <a:solidFill>
                  <a:srgbClr val="0000FF"/>
                </a:solidFill>
              </a:rPr>
              <a:t>i+k</a:t>
            </a:r>
            <a:r>
              <a:rPr lang="en-US" sz="1600" dirty="0" smtClean="0">
                <a:solidFill>
                  <a:srgbClr val="0000FF"/>
                </a:solidFill>
              </a:rPr>
              <a:t>;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     ---;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  statement n;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  }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4" y="136225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533096" y="1434262"/>
            <a:ext cx="7359384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533096" y="2442374"/>
            <a:ext cx="7359384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23528" y="5200164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loop in black is called the </a:t>
            </a:r>
            <a:r>
              <a:rPr lang="en-US" sz="16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inner loop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3528" y="5488196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loop in blue is called the </a:t>
            </a:r>
            <a:r>
              <a:rPr lang="en-US" sz="16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outer loop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3528" y="5754742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loop (inner and outer) has its own counter.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979712" y="2780928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979712" y="2780928"/>
            <a:ext cx="0" cy="12241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979712" y="4005064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619672" y="1857262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619672" y="1866310"/>
            <a:ext cx="0" cy="30748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619672" y="4941168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Callout 56"/>
          <p:cNvSpPr/>
          <p:nvPr/>
        </p:nvSpPr>
        <p:spPr>
          <a:xfrm>
            <a:off x="6156176" y="3353504"/>
            <a:ext cx="2448272" cy="651560"/>
          </a:xfrm>
          <a:prstGeom prst="wedgeEllipseCallout">
            <a:avLst>
              <a:gd name="adj1" fmla="val -125484"/>
              <a:gd name="adj2" fmla="val -75061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NESTING</a:t>
            </a:r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5165595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9" grpId="0" animBg="1"/>
      <p:bldP spid="10" grpId="0" animBg="1"/>
      <p:bldP spid="41" grpId="0" animBg="1"/>
      <p:bldP spid="42" grpId="0" animBg="1"/>
      <p:bldP spid="45" grpId="0"/>
      <p:bldP spid="46" grpId="0"/>
      <p:bldP spid="47" grpId="0"/>
      <p:bldP spid="5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>
            <a:off x="4398919" y="882864"/>
            <a:ext cx="0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398919" y="2134445"/>
            <a:ext cx="1" cy="24188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692696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1.2 FLOWCHART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0" y="1052736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398919" y="4374981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4395449" y="2736365"/>
            <a:ext cx="6940" cy="2160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576064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36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4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58759" y="692696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Initialize </a:t>
            </a:r>
            <a:r>
              <a:rPr lang="en-US" dirty="0" err="1" smtClean="0">
                <a:solidFill>
                  <a:srgbClr val="0000FF"/>
                </a:solidFill>
              </a:rPr>
              <a:t>outCount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" name="Flowchart: Decision 12"/>
          <p:cNvSpPr/>
          <p:nvPr/>
        </p:nvSpPr>
        <p:spPr>
          <a:xfrm>
            <a:off x="2958759" y="1386920"/>
            <a:ext cx="2880320" cy="817944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solidFill>
                  <a:srgbClr val="0000FF"/>
                </a:solidFill>
              </a:rPr>
              <a:t>outCount</a:t>
            </a:r>
            <a:r>
              <a:rPr lang="en-US" sz="1600" dirty="0" smtClean="0">
                <a:solidFill>
                  <a:srgbClr val="0000FF"/>
                </a:solidFill>
              </a:rPr>
              <a:t> &lt; </a:t>
            </a:r>
            <a:r>
              <a:rPr lang="en-US" sz="1600" dirty="0" err="1" smtClean="0">
                <a:solidFill>
                  <a:srgbClr val="0000FF"/>
                </a:solidFill>
              </a:rPr>
              <a:t>outFinal</a:t>
            </a:r>
            <a:r>
              <a:rPr lang="en-US" sz="1600" dirty="0" smtClean="0">
                <a:solidFill>
                  <a:srgbClr val="0000FF"/>
                </a:solidFill>
              </a:rPr>
              <a:t>?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60058" y="2376325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Statement</a:t>
            </a:r>
            <a:r>
              <a:rPr lang="en-US" b="1" dirty="0" smtClean="0">
                <a:solidFill>
                  <a:srgbClr val="FF0000"/>
                </a:solidFill>
              </a:rPr>
              <a:t>(s) </a:t>
            </a:r>
            <a:r>
              <a:rPr lang="en-US" b="1" i="1" dirty="0" err="1" smtClean="0">
                <a:solidFill>
                  <a:srgbClr val="FF0000"/>
                </a:solidFill>
              </a:rPr>
              <a:t>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73404" y="6377423"/>
            <a:ext cx="2451030" cy="313293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outCount</a:t>
            </a:r>
            <a:r>
              <a:rPr lang="en-US" dirty="0" smtClean="0">
                <a:solidFill>
                  <a:srgbClr val="0000FF"/>
                </a:solidFill>
              </a:rPr>
              <a:t>++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398919" y="404664"/>
            <a:ext cx="0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81748" y="206084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True</a:t>
            </a:r>
            <a:endParaRPr lang="en-US" sz="1600" b="1" dirty="0">
              <a:solidFill>
                <a:srgbClr val="00B05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610192" y="6534069"/>
            <a:ext cx="184212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91983" y="1196752"/>
            <a:ext cx="306033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2771800" y="1615872"/>
            <a:ext cx="0" cy="3600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231740" y="1651876"/>
            <a:ext cx="360040" cy="288032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4218899" y="116632"/>
            <a:ext cx="360040" cy="28803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555776" y="134076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False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58759" y="2975762"/>
            <a:ext cx="2880320" cy="360040"/>
          </a:xfrm>
          <a:prstGeom prst="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Initialize </a:t>
            </a:r>
            <a:r>
              <a:rPr lang="en-US" dirty="0" err="1" smtClean="0">
                <a:solidFill>
                  <a:schemeClr val="bg1"/>
                </a:solidFill>
              </a:rPr>
              <a:t>inCount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Flowchart: Decision 27"/>
          <p:cNvSpPr/>
          <p:nvPr/>
        </p:nvSpPr>
        <p:spPr>
          <a:xfrm>
            <a:off x="2958759" y="3582893"/>
            <a:ext cx="2880320" cy="792088"/>
          </a:xfrm>
          <a:prstGeom prst="flowChartDecision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solidFill>
                  <a:schemeClr val="bg1"/>
                </a:solidFill>
              </a:rPr>
              <a:t>inCount</a:t>
            </a:r>
            <a:r>
              <a:rPr lang="en-US" sz="1600" dirty="0" smtClean="0">
                <a:solidFill>
                  <a:schemeClr val="bg1"/>
                </a:solidFill>
              </a:rPr>
              <a:t> &lt; </a:t>
            </a:r>
            <a:r>
              <a:rPr lang="en-US" sz="1600" dirty="0" err="1" smtClean="0">
                <a:solidFill>
                  <a:schemeClr val="bg1"/>
                </a:solidFill>
              </a:rPr>
              <a:t>inFinal</a:t>
            </a:r>
            <a:r>
              <a:rPr lang="en-US" sz="1600" dirty="0" smtClean="0">
                <a:solidFill>
                  <a:schemeClr val="bg1"/>
                </a:solidFill>
              </a:rPr>
              <a:t>?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398919" y="3335802"/>
            <a:ext cx="0" cy="252028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99992" y="4355236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True</a:t>
            </a:r>
            <a:endParaRPr lang="en-US" sz="1400" b="1" dirty="0">
              <a:solidFill>
                <a:srgbClr val="00B050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398918" y="5023053"/>
            <a:ext cx="2" cy="23751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58759" y="5260565"/>
            <a:ext cx="2880320" cy="313293"/>
          </a:xfrm>
          <a:prstGeom prst="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inCount</a:t>
            </a:r>
            <a:r>
              <a:rPr lang="en-US" dirty="0" smtClean="0">
                <a:solidFill>
                  <a:schemeClr val="bg1"/>
                </a:solidFill>
              </a:rPr>
              <a:t>++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958759" y="4663013"/>
            <a:ext cx="2880320" cy="360040"/>
          </a:xfrm>
          <a:prstGeom prst="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In statement</a:t>
            </a:r>
            <a:r>
              <a:rPr lang="en-US" b="1" dirty="0" smtClean="0">
                <a:solidFill>
                  <a:srgbClr val="FFFF00"/>
                </a:solidFill>
              </a:rPr>
              <a:t>(s) </a:t>
            </a:r>
            <a:r>
              <a:rPr lang="en-US" b="1" i="1" dirty="0" smtClean="0">
                <a:solidFill>
                  <a:srgbClr val="FFFF00"/>
                </a:solidFill>
              </a:rPr>
              <a:t>j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411761" y="3429000"/>
            <a:ext cx="1" cy="198821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411760" y="3461816"/>
            <a:ext cx="1947963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6228184" y="3978937"/>
            <a:ext cx="0" cy="193433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59059" y="3573016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False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2411761" y="5417211"/>
            <a:ext cx="546998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186670" y="5733256"/>
            <a:ext cx="2424498" cy="36004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Statement</a:t>
            </a:r>
            <a:r>
              <a:rPr lang="en-US" b="1" dirty="0" smtClean="0">
                <a:solidFill>
                  <a:srgbClr val="FF0000"/>
                </a:solidFill>
              </a:rPr>
              <a:t>(s) </a:t>
            </a:r>
            <a:r>
              <a:rPr lang="en-US" b="1" i="1" dirty="0" err="1" smtClean="0">
                <a:solidFill>
                  <a:srgbClr val="FF0000"/>
                </a:solidFill>
              </a:rPr>
              <a:t>i+k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398919" y="6093296"/>
            <a:ext cx="0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839079" y="3978937"/>
            <a:ext cx="38910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5611168" y="5913276"/>
            <a:ext cx="617016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7452320" y="1196752"/>
            <a:ext cx="0" cy="533731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="" xmlns:p14="http://schemas.microsoft.com/office/powerpoint/2010/main" val="1917233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0"/>
                            </p:stCondLst>
                            <p:childTnLst>
                              <p:par>
                                <p:cTn id="1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2" grpId="0" animBg="1"/>
      <p:bldP spid="13" grpId="0" animBg="1"/>
      <p:bldP spid="14" grpId="0" animBg="1"/>
      <p:bldP spid="15" grpId="0" animBg="1"/>
      <p:bldP spid="19" grpId="0"/>
      <p:bldP spid="23" grpId="0" animBg="1"/>
      <p:bldP spid="24" grpId="0" animBg="1"/>
      <p:bldP spid="26" grpId="0"/>
      <p:bldP spid="27" grpId="0" animBg="1"/>
      <p:bldP spid="28" grpId="0" animBg="1"/>
      <p:bldP spid="31" grpId="0"/>
      <p:bldP spid="33" grpId="0" animBg="1"/>
      <p:bldP spid="37" grpId="0" animBg="1"/>
      <p:bldP spid="49" grpId="0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1688941" y="908720"/>
            <a:ext cx="7275546" cy="3139321"/>
            <a:chOff x="323528" y="1536605"/>
            <a:chExt cx="7848872" cy="2951979"/>
          </a:xfrm>
        </p:grpSpPr>
        <p:sp>
          <p:nvSpPr>
            <p:cNvPr id="15" name="TextBox 14"/>
            <p:cNvSpPr txBox="1"/>
            <p:nvPr/>
          </p:nvSpPr>
          <p:spPr>
            <a:xfrm>
              <a:off x="971600" y="1536605"/>
              <a:ext cx="7200800" cy="295197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, </a:t>
              </a:r>
              <a:r>
                <a:rPr lang="en-US" dirty="0" err="1" smtClean="0">
                  <a:solidFill>
                    <a:srgbClr val="0000FF"/>
                  </a:solidFill>
                </a:rPr>
                <a:t>inCount</a:t>
              </a:r>
              <a:r>
                <a:rPr lang="en-US" smtClean="0">
                  <a:solidFill>
                    <a:srgbClr val="0000FF"/>
                  </a:solidFill>
                </a:rPr>
                <a:t> = 0;</a:t>
              </a:r>
              <a:endParaRPr lang="en-US" dirty="0" smtClean="0">
                <a:solidFill>
                  <a:srgbClr val="0000FF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(“Start the loops”);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for (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 = 0;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 &lt; 2;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(“Outer = %3d%n”,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   </a:t>
              </a:r>
              <a:r>
                <a:rPr lang="en-US" dirty="0" smtClean="0">
                  <a:solidFill>
                    <a:srgbClr val="CC0099"/>
                  </a:solidFill>
                </a:rPr>
                <a:t>for (</a:t>
              </a:r>
              <a:r>
                <a:rPr lang="en-US" dirty="0" err="1" smtClean="0">
                  <a:solidFill>
                    <a:srgbClr val="CC0099"/>
                  </a:solidFill>
                </a:rPr>
                <a:t>inCount</a:t>
              </a:r>
              <a:r>
                <a:rPr lang="en-US" dirty="0">
                  <a:solidFill>
                    <a:srgbClr val="CC0099"/>
                  </a:solidFill>
                </a:rPr>
                <a:t> </a:t>
              </a:r>
              <a:r>
                <a:rPr lang="en-US" dirty="0" smtClean="0">
                  <a:solidFill>
                    <a:srgbClr val="CC0099"/>
                  </a:solidFill>
                </a:rPr>
                <a:t>= 0; </a:t>
              </a:r>
              <a:r>
                <a:rPr lang="en-US" dirty="0" err="1" smtClean="0">
                  <a:solidFill>
                    <a:srgbClr val="CC0099"/>
                  </a:solidFill>
                </a:rPr>
                <a:t>inCount</a:t>
              </a:r>
              <a:r>
                <a:rPr lang="en-US" dirty="0" smtClean="0">
                  <a:solidFill>
                    <a:srgbClr val="CC0099"/>
                  </a:solidFill>
                </a:rPr>
                <a:t> &lt; 3; </a:t>
              </a:r>
              <a:r>
                <a:rPr lang="en-US" dirty="0" err="1" smtClean="0">
                  <a:solidFill>
                    <a:srgbClr val="CC0099"/>
                  </a:solidFill>
                </a:rPr>
                <a:t>inCount</a:t>
              </a:r>
              <a:r>
                <a:rPr lang="en-US" dirty="0" smtClean="0">
                  <a:solidFill>
                    <a:srgbClr val="CC0099"/>
                  </a:solidFill>
                </a:rPr>
                <a:t>++)</a:t>
              </a:r>
            </a:p>
            <a:p>
              <a:r>
                <a:rPr lang="en-US" dirty="0">
                  <a:solidFill>
                    <a:srgbClr val="CC0099"/>
                  </a:solidFill>
                </a:rPr>
                <a:t>	</a:t>
              </a:r>
              <a:r>
                <a:rPr lang="en-US" dirty="0" err="1" smtClean="0">
                  <a:solidFill>
                    <a:srgbClr val="CC0099"/>
                  </a:solidFill>
                </a:rPr>
                <a:t>System.out.printf</a:t>
              </a:r>
              <a:r>
                <a:rPr lang="en-US" dirty="0" smtClean="0">
                  <a:solidFill>
                    <a:srgbClr val="CC0099"/>
                  </a:solidFill>
                </a:rPr>
                <a:t> (“\</a:t>
              </a:r>
              <a:r>
                <a:rPr lang="en-US" dirty="0" err="1" smtClean="0">
                  <a:solidFill>
                    <a:srgbClr val="CC0099"/>
                  </a:solidFill>
                </a:rPr>
                <a:t>tInner</a:t>
              </a:r>
              <a:r>
                <a:rPr lang="en-US" dirty="0" smtClean="0">
                  <a:solidFill>
                    <a:srgbClr val="CC0099"/>
                  </a:solidFill>
                </a:rPr>
                <a:t> = %3d”, </a:t>
              </a:r>
              <a:r>
                <a:rPr lang="en-US" dirty="0" err="1" smtClean="0">
                  <a:solidFill>
                    <a:srgbClr val="CC0099"/>
                  </a:solidFill>
                </a:rPr>
                <a:t>inCount</a:t>
              </a:r>
              <a:r>
                <a:rPr lang="en-US" dirty="0" smtClean="0">
                  <a:solidFill>
                    <a:srgbClr val="CC0099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(“\n\n”);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 } </a:t>
              </a:r>
              <a:r>
                <a:rPr lang="en-US" dirty="0" smtClean="0">
                  <a:solidFill>
                    <a:srgbClr val="00B050"/>
                  </a:solidFill>
                </a:rPr>
                <a:t>//end for </a:t>
              </a:r>
              <a:r>
                <a:rPr lang="en-US" dirty="0" err="1" smtClean="0">
                  <a:solidFill>
                    <a:srgbClr val="00B050"/>
                  </a:solidFill>
                </a:rPr>
                <a:t>outCount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(“After the outer loop ends,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 = %d, </a:t>
              </a:r>
              <a:r>
                <a:rPr lang="en-US" dirty="0" err="1" smtClean="0">
                  <a:solidFill>
                    <a:srgbClr val="0000FF"/>
                  </a:solidFill>
                </a:rPr>
                <a:t>inCount</a:t>
              </a:r>
              <a:r>
                <a:rPr lang="en-US" dirty="0" smtClean="0">
                  <a:solidFill>
                    <a:srgbClr val="0000FF"/>
                  </a:solidFill>
                </a:rPr>
                <a:t> = %d”, </a:t>
              </a:r>
              <a:r>
                <a:rPr lang="en-US" dirty="0" err="1" smtClean="0">
                  <a:solidFill>
                    <a:srgbClr val="0000FF"/>
                  </a:solidFill>
                </a:rPr>
                <a:t>outCount</a:t>
              </a:r>
              <a:r>
                <a:rPr lang="en-US" dirty="0" smtClean="0">
                  <a:solidFill>
                    <a:srgbClr val="0000FF"/>
                  </a:solidFill>
                </a:rPr>
                <a:t>, </a:t>
              </a:r>
              <a:r>
                <a:rPr lang="en-US" dirty="0" err="1" smtClean="0">
                  <a:solidFill>
                    <a:srgbClr val="0000FF"/>
                  </a:solidFill>
                </a:rPr>
                <a:t>inCount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3528" y="1536605"/>
              <a:ext cx="576064" cy="2951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251520" y="90872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Example </a:t>
            </a:r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832956" y="4135720"/>
            <a:ext cx="7131532" cy="2677656"/>
            <a:chOff x="831805" y="1236822"/>
            <a:chExt cx="7340595" cy="2677654"/>
          </a:xfrm>
        </p:grpSpPr>
        <p:sp>
          <p:nvSpPr>
            <p:cNvPr id="21" name="TextBox 20"/>
            <p:cNvSpPr txBox="1"/>
            <p:nvPr/>
          </p:nvSpPr>
          <p:spPr>
            <a:xfrm>
              <a:off x="1301912" y="1236822"/>
              <a:ext cx="6870488" cy="267765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Start the loops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Outer = ~~0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	Inner = ~~0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	</a:t>
              </a:r>
              <a:r>
                <a:rPr lang="en-US" sz="1400" dirty="0" smtClean="0">
                  <a:solidFill>
                    <a:schemeClr val="bg1"/>
                  </a:solidFill>
                </a:rPr>
                <a:t>Inner = ~~1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	Inner = ~~2</a:t>
              </a:r>
            </a:p>
            <a:p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Outer = ~~1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	</a:t>
              </a:r>
              <a:r>
                <a:rPr lang="en-US" sz="1400" dirty="0" smtClean="0">
                  <a:solidFill>
                    <a:schemeClr val="bg1"/>
                  </a:solidFill>
                </a:rPr>
                <a:t>Inner = ~~0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	Inner = ~~1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	</a:t>
              </a:r>
              <a:r>
                <a:rPr lang="en-US" sz="1400" dirty="0" smtClean="0">
                  <a:solidFill>
                    <a:schemeClr val="bg1"/>
                  </a:solidFill>
                </a:rPr>
                <a:t>Inner = ~~2</a:t>
              </a:r>
            </a:p>
            <a:p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After the outer loop ends,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outCount</a:t>
              </a:r>
              <a:r>
                <a:rPr lang="en-US" sz="1400" dirty="0" smtClean="0">
                  <a:solidFill>
                    <a:schemeClr val="bg1"/>
                  </a:solidFill>
                </a:rPr>
                <a:t> = 2,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inCount</a:t>
              </a:r>
              <a:r>
                <a:rPr lang="en-US" sz="1400" dirty="0" smtClean="0">
                  <a:solidFill>
                    <a:schemeClr val="bg1"/>
                  </a:solidFill>
                </a:rPr>
                <a:t> = 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1805" y="1236822"/>
              <a:ext cx="447534" cy="2677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251520" y="4135720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3985173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ANALYSIS 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1944216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Write a program that produces the following output:</a:t>
            </a:r>
          </a:p>
          <a:p>
            <a:r>
              <a:rPr lang="en-US" dirty="0" smtClean="0"/>
              <a:t>*</a:t>
            </a:r>
          </a:p>
          <a:p>
            <a:r>
              <a:rPr lang="en-US" dirty="0" smtClean="0"/>
              <a:t>**</a:t>
            </a:r>
          </a:p>
          <a:p>
            <a:r>
              <a:rPr lang="en-US" dirty="0" smtClean="0"/>
              <a:t>***</a:t>
            </a:r>
          </a:p>
          <a:p>
            <a:r>
              <a:rPr lang="en-US" dirty="0" smtClean="0"/>
              <a:t>****</a:t>
            </a:r>
          </a:p>
          <a:p>
            <a:r>
              <a:rPr lang="en-US" dirty="0" smtClean="0"/>
              <a:t>*****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520" y="3284984"/>
            <a:ext cx="8727537" cy="1944216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Line number		Number of stars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1                                    1</a:t>
            </a: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2</a:t>
            </a: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3</a:t>
            </a: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4</a:t>
            </a:r>
          </a:p>
          <a:p>
            <a:pPr marL="342900" indent="-342900">
              <a:buAutoNum type="arabicPlain" startAt="2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5</a:t>
            </a:r>
          </a:p>
          <a:p>
            <a:pPr marL="342900" indent="-342900">
              <a:buAutoNum type="arabicPlain" startAt="2"/>
            </a:pPr>
            <a:endParaRPr lang="en-US" dirty="0" smtClean="0">
              <a:solidFill>
                <a:srgbClr val="0000FF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1520" y="5301208"/>
            <a:ext cx="8727537" cy="1224136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the line number (</a:t>
            </a:r>
            <a:r>
              <a:rPr lang="en-US" dirty="0" smtClean="0">
                <a:solidFill>
                  <a:srgbClr val="0000FF"/>
                </a:solidFill>
              </a:rPr>
              <a:t>line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the outer counter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   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Initial value =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final value: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line &lt;=5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step: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line++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the number of the stars (</a:t>
            </a:r>
            <a:r>
              <a:rPr lang="en-US" dirty="0" smtClean="0">
                <a:solidFill>
                  <a:srgbClr val="0000FF"/>
                </a:solidFill>
              </a:rPr>
              <a:t>stars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the inner counter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Initial value =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final value: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stars &lt;= line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step: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star++</a:t>
            </a:r>
            <a:endParaRPr lang="en-US" dirty="0" smtClean="0">
              <a:solidFill>
                <a:srgbClr val="0000FF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1368444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31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CODE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79512" y="1412776"/>
            <a:ext cx="8784976" cy="4401205"/>
            <a:chOff x="323528" y="1236822"/>
            <a:chExt cx="7848872" cy="4138558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413855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// import necessary libraries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  <a:r>
                <a:rPr lang="en-US" sz="1400" dirty="0" smtClean="0">
                  <a:solidFill>
                    <a:srgbClr val="0000FF"/>
                  </a:solidFill>
                </a:rPr>
                <a:t>		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nestedFor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public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void</a:t>
              </a:r>
              <a:r>
                <a:rPr lang="en-US" sz="14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      final 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ASTERISK = ‘*’;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/>
                <a:t>// Declaration section: to declare needed variables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line, stars;		</a:t>
              </a:r>
              <a:r>
                <a:rPr lang="en-US" sz="1400" dirty="0" smtClean="0">
                  <a:solidFill>
                    <a:srgbClr val="00B050"/>
                  </a:solidFill>
                </a:rPr>
                <a:t>//loop counters</a:t>
              </a:r>
            </a:p>
            <a:p>
              <a:r>
                <a:rPr lang="en-US" sz="1400" dirty="0" smtClean="0"/>
                <a:t>         // </a:t>
              </a:r>
              <a:r>
                <a:rPr lang="en-US" sz="1400" dirty="0"/>
                <a:t>Input section: to enter values of used variables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     // Processing section: processing statements</a:t>
              </a:r>
            </a:p>
            <a:p>
              <a:r>
                <a:rPr lang="en-US" sz="1400" dirty="0" smtClean="0"/>
                <a:t>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(line = 1; line &lt;= 5; line++)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(stars = 1; stars &lt;= line; stars++)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400" dirty="0" smtClean="0">
                  <a:solidFill>
                    <a:srgbClr val="0000FF"/>
                  </a:solidFill>
                </a:rPr>
                <a:t> (ASTERISK);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(“\n”);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for (line =…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4138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899592" y="40050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99592" y="443711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547664" y="436510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47664" y="4365104"/>
            <a:ext cx="0" cy="7920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547664" y="5157192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619672" y="4517504"/>
            <a:ext cx="0" cy="279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619672" y="4797152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619672" y="451750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="" xmlns:p14="http://schemas.microsoft.com/office/powerpoint/2010/main" val="2103081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</a:t>
            </a:r>
            <a:r>
              <a:rPr lang="en-US" b="1" dirty="0" smtClean="0"/>
              <a:t>2 </a:t>
            </a:r>
            <a:r>
              <a:rPr lang="en-US" b="1" dirty="0" smtClean="0"/>
              <a:t>– ANALYSIS 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1944216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Write a program that produces the following </a:t>
            </a:r>
            <a:r>
              <a:rPr lang="en-US" dirty="0" smtClean="0"/>
              <a:t>output </a:t>
            </a:r>
            <a:r>
              <a:rPr lang="en-US" i="1" dirty="0" smtClean="0"/>
              <a:t>using while loop:</a:t>
            </a:r>
            <a:endParaRPr lang="en-US" i="1" dirty="0" smtClean="0"/>
          </a:p>
          <a:p>
            <a:r>
              <a:rPr lang="en-US" dirty="0" smtClean="0"/>
              <a:t>@@@</a:t>
            </a:r>
            <a:endParaRPr lang="en-US" dirty="0" smtClean="0"/>
          </a:p>
          <a:p>
            <a:r>
              <a:rPr lang="en-US" dirty="0" smtClean="0"/>
              <a:t>@@@</a:t>
            </a:r>
          </a:p>
          <a:p>
            <a:r>
              <a:rPr lang="en-US" dirty="0" smtClean="0"/>
              <a:t>@@@</a:t>
            </a:r>
          </a:p>
          <a:p>
            <a:r>
              <a:rPr lang="en-US" dirty="0" smtClean="0"/>
              <a:t>@@@</a:t>
            </a:r>
          </a:p>
          <a:p>
            <a:r>
              <a:rPr lang="en-US" dirty="0" smtClean="0"/>
              <a:t>@@@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520" y="3284984"/>
            <a:ext cx="8727537" cy="1944216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Line number		Number of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 sign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1                                  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3</a:t>
            </a:r>
          </a:p>
          <a:p>
            <a:pPr marL="342900" indent="-342900">
              <a:buAutoNum type="arabicPlain" startAt="2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lain" startAt="2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lain" startAt="2"/>
            </a:pPr>
            <a:endParaRPr lang="en-US" dirty="0" smtClean="0">
              <a:solidFill>
                <a:srgbClr val="0000FF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1520" y="5301208"/>
            <a:ext cx="8727537" cy="1224136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the line number (</a:t>
            </a:r>
            <a:r>
              <a:rPr lang="en-US" dirty="0" smtClean="0">
                <a:solidFill>
                  <a:srgbClr val="0000FF"/>
                </a:solidFill>
              </a:rPr>
              <a:t>line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the outer counter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   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Initial value =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final value: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line &lt;=5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step: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line++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the number of the stars (</a:t>
            </a:r>
            <a:r>
              <a:rPr lang="en-US" dirty="0" smtClean="0">
                <a:solidFill>
                  <a:srgbClr val="0000FF"/>
                </a:solidFill>
              </a:rPr>
              <a:t>stars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the inner counter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Initial value =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final value: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stars &lt;=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3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, </a:t>
            </a:r>
            <a:r>
              <a:rPr lang="en-US" dirty="0" smtClean="0">
                <a:solidFill>
                  <a:srgbClr val="CC0099"/>
                </a:solidFill>
                <a:sym typeface="Wingdings" panose="05000000000000000000" pitchFamily="2" charset="2"/>
              </a:rPr>
              <a:t>step: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star++</a:t>
            </a:r>
            <a:endParaRPr lang="en-US" dirty="0" smtClean="0">
              <a:solidFill>
                <a:srgbClr val="0000FF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1368444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3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</a:t>
            </a:r>
            <a:r>
              <a:rPr lang="en-US" b="1" dirty="0" smtClean="0"/>
              <a:t>2 </a:t>
            </a:r>
            <a:r>
              <a:rPr lang="en-US" b="1" dirty="0" smtClean="0"/>
              <a:t>– CODE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Nested Loops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8"/>
          <p:cNvGrpSpPr/>
          <p:nvPr/>
        </p:nvGrpSpPr>
        <p:grpSpPr>
          <a:xfrm>
            <a:off x="179512" y="1412776"/>
            <a:ext cx="8431088" cy="4247317"/>
            <a:chOff x="323528" y="1236822"/>
            <a:chExt cx="7532693" cy="3578663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6884621" cy="357866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00FF"/>
                  </a:solidFill>
                </a:rPr>
                <a:t>public class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nestedWhile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public static void main (String[]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6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final char ATSIGN = '@';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600" dirty="0" smtClean="0">
                  <a:solidFill>
                    <a:srgbClr val="0000FF"/>
                  </a:solidFill>
                </a:rPr>
                <a:t> line, stars;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line = 1;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while( line &lt;=5 )        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{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for( stars = 1; stars &lt;= 3; stars++ )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600" dirty="0" smtClean="0">
                  <a:solidFill>
                    <a:srgbClr val="0000FF"/>
                  </a:solidFill>
                </a:rPr>
                <a:t> (ATSIGN);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600" dirty="0" smtClean="0">
                  <a:solidFill>
                    <a:srgbClr val="0000FF"/>
                  </a:solidFill>
                </a:rPr>
                <a:t> ("\n");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line++;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} 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}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}</a:t>
              </a:r>
            </a:p>
            <a:p>
              <a:endParaRPr lang="en-US" sz="1400" dirty="0" smtClean="0">
                <a:solidFill>
                  <a:srgbClr val="00B0F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357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="" xmlns:p14="http://schemas.microsoft.com/office/powerpoint/2010/main" val="2103081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1520" y="1052737"/>
            <a:ext cx="8712968" cy="3528391"/>
          </a:xfrm>
        </p:spPr>
        <p:txBody>
          <a:bodyPr>
            <a:noAutofit/>
          </a:bodyPr>
          <a:lstStyle/>
          <a:p>
            <a:pPr marL="109728" lvl="0" indent="0" algn="just" hangingPunct="0">
              <a:buNone/>
            </a:pP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Write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 program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</a:t>
            </a: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accepts an integer and then outputs both the individual digits of the number and the sum of the digits.</a:t>
            </a:r>
          </a:p>
          <a:p>
            <a:pPr marL="109728" lvl="0" indent="0" algn="just" hangingPunc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9728" lvl="0" indent="0" algn="just" hangingPunct="0">
              <a:buNone/>
            </a:pPr>
            <a:r>
              <a:rPr 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the program should output the individual digits of 3456 as 3 4 5 6 and the sum as 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W6.2 </a:t>
            </a:r>
            <a:r>
              <a:rPr lang="en-US" sz="1200" dirty="0" smtClean="0"/>
              <a:t>Nested for</a:t>
            </a:r>
          </a:p>
        </p:txBody>
      </p:sp>
    </p:spTree>
    <p:extLst>
      <p:ext uri="{BB962C8B-B14F-4D97-AF65-F5344CB8AC3E}">
        <p14:creationId xmlns="" xmlns:p14="http://schemas.microsoft.com/office/powerpoint/2010/main" val="142445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1372</TotalTime>
  <Words>640</Words>
  <Application>Microsoft Office PowerPoint</Application>
  <PresentationFormat>On-screen Show (4:3)</PresentationFormat>
  <Paragraphs>246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   REPETITION (4)</vt:lpstr>
      <vt:lpstr>Outline</vt:lpstr>
      <vt:lpstr>Nested Loops</vt:lpstr>
      <vt:lpstr>Nested Loops</vt:lpstr>
      <vt:lpstr>Nested Loops</vt:lpstr>
      <vt:lpstr>Nested Loops</vt:lpstr>
      <vt:lpstr>Nested Loops</vt:lpstr>
      <vt:lpstr>Nested Loops</vt:lpstr>
      <vt:lpstr>Nested Loops</vt:lpstr>
      <vt:lpstr>Nested Loops</vt:lpstr>
      <vt:lpstr>Self-Check Exercises (1)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 (2)</dc:title>
  <dc:creator>Soha S.Zaghloul</dc:creator>
  <cp:lastModifiedBy>Omar</cp:lastModifiedBy>
  <cp:revision>110</cp:revision>
  <dcterms:created xsi:type="dcterms:W3CDTF">2015-02-28T11:10:39Z</dcterms:created>
  <dcterms:modified xsi:type="dcterms:W3CDTF">2016-10-30T07:26:37Z</dcterms:modified>
</cp:coreProperties>
</file>