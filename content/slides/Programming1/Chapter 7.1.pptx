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6" r:id="rId8"/>
    <p:sldId id="267" r:id="rId9"/>
    <p:sldId id="268" r:id="rId10"/>
    <p:sldId id="269" r:id="rId11"/>
    <p:sldId id="262" r:id="rId12"/>
    <p:sldId id="263" r:id="rId13"/>
    <p:sldId id="264" r:id="rId14"/>
    <p:sldId id="265" r:id="rId15"/>
    <p:sldId id="270" r:id="rId16"/>
    <p:sldId id="272" r:id="rId17"/>
    <p:sldId id="271" r:id="rId18"/>
    <p:sldId id="273" r:id="rId19"/>
    <p:sldId id="274" r:id="rId20"/>
    <p:sldId id="275" r:id="rId21"/>
    <p:sldId id="276" r:id="rId22"/>
    <p:sldId id="279" r:id="rId23"/>
    <p:sldId id="278" r:id="rId24"/>
    <p:sldId id="280"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CC"/>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4"/>
    <p:restoredTop sz="94694"/>
  </p:normalViewPr>
  <p:slideViewPr>
    <p:cSldViewPr>
      <p:cViewPr varScale="1">
        <p:scale>
          <a:sx n="129" d="100"/>
          <a:sy n="129" d="100"/>
        </p:scale>
        <p:origin x="1400" y="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8351978-566A-411B-8C79-618EBABCD6C1}" type="datetimeFigureOut">
              <a:rPr lang="en-US" smtClean="0"/>
              <a:pPr/>
              <a:t>5/7/24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8CBEB9D6-74D6-4C99-B1BC-1528A88150E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8351978-566A-411B-8C79-618EBABCD6C1}" type="datetimeFigureOut">
              <a:rPr lang="en-US" smtClean="0"/>
              <a:pPr/>
              <a:t>5/7/24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EB9D6-74D6-4C99-B1BC-1528A88150EE}"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8351978-566A-411B-8C79-618EBABCD6C1}" type="datetimeFigureOut">
              <a:rPr lang="en-US" smtClean="0"/>
              <a:pPr/>
              <a:t>5/7/24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EB9D6-74D6-4C99-B1BC-1528A88150EE}"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8351978-566A-411B-8C79-618EBABCD6C1}" type="datetimeFigureOut">
              <a:rPr lang="en-US" smtClean="0"/>
              <a:pPr/>
              <a:t>5/7/24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EB9D6-74D6-4C99-B1BC-1528A88150EE}"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8351978-566A-411B-8C79-618EBABCD6C1}" type="datetimeFigureOut">
              <a:rPr lang="en-US" smtClean="0"/>
              <a:pPr/>
              <a:t>5/7/24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EB9D6-74D6-4C99-B1BC-1528A88150E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351978-566A-411B-8C79-618EBABCD6C1}" type="datetimeFigureOut">
              <a:rPr lang="en-US" smtClean="0"/>
              <a:pPr/>
              <a:t>5/7/24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EB9D6-74D6-4C99-B1BC-1528A88150EE}"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351978-566A-411B-8C79-618EBABCD6C1}" type="datetimeFigureOut">
              <a:rPr lang="en-US" smtClean="0"/>
              <a:pPr/>
              <a:t>5/7/24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EB9D6-74D6-4C99-B1BC-1528A88150E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28351978-566A-411B-8C79-618EBABCD6C1}" type="datetimeFigureOut">
              <a:rPr lang="en-US" smtClean="0"/>
              <a:pPr/>
              <a:t>5/7/24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EB9D6-74D6-4C99-B1BC-1528A88150E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8351978-566A-411B-8C79-618EBABCD6C1}" type="datetimeFigureOut">
              <a:rPr lang="en-US" smtClean="0"/>
              <a:pPr/>
              <a:t>5/7/24</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8CBEB9D6-74D6-4C99-B1BC-1528A88150EE}"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8351978-566A-411B-8C79-618EBABCD6C1}" type="datetimeFigureOut">
              <a:rPr lang="en-US" smtClean="0"/>
              <a:pPr/>
              <a:t>5/7/24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EB9D6-74D6-4C99-B1BC-1528A88150E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8351978-566A-411B-8C79-618EBABCD6C1}" type="datetimeFigureOut">
              <a:rPr lang="en-US" smtClean="0"/>
              <a:pPr/>
              <a:t>5/7/24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EB9D6-74D6-4C99-B1BC-1528A88150E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8351978-566A-411B-8C79-618EBABCD6C1}" type="datetimeFigureOut">
              <a:rPr lang="en-US" smtClean="0"/>
              <a:pPr/>
              <a:t>5/7/24</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8CBEB9D6-74D6-4C99-B1BC-1528A88150E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p:cNvSpPr>
          <p:nvPr>
            <p:ph type="ctrTitle"/>
          </p:nvPr>
        </p:nvSpPr>
        <p:spPr>
          <a:xfrm>
            <a:off x="1019543" y="2348880"/>
            <a:ext cx="7872937" cy="1800200"/>
          </a:xfrm>
          <a:ln w="2857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anchor="b">
            <a:normAutofit fontScale="90000"/>
            <a:scene3d>
              <a:camera prst="orthographicFront"/>
              <a:lightRig rig="soft" dir="t"/>
            </a:scene3d>
            <a:sp3d prstMaterial="softEdge">
              <a:bevelT w="25400" h="25400"/>
            </a:sp3d>
          </a:bodyPr>
          <a:lstStyle/>
          <a:p>
            <a:br>
              <a:rPr lang="en-US" sz="5400" dirty="0">
                <a:solidFill>
                  <a:srgbClr val="C00000"/>
                </a:solidFill>
              </a:rPr>
            </a:br>
            <a:br>
              <a:rPr lang="en-US" sz="5400" dirty="0">
                <a:solidFill>
                  <a:srgbClr val="C00000"/>
                </a:solidFill>
              </a:rPr>
            </a:br>
            <a:r>
              <a:rPr lang="en-US" sz="5400" dirty="0">
                <a:solidFill>
                  <a:srgbClr val="C00000"/>
                </a:solidFill>
              </a:rPr>
              <a:t>ARRAYS </a:t>
            </a:r>
          </a:p>
        </p:txBody>
      </p:sp>
      <p:sp>
        <p:nvSpPr>
          <p:cNvPr id="5" name="PPTShape_0"/>
          <p:cNvSpPr txBox="1">
            <a:spLocks/>
          </p:cNvSpPr>
          <p:nvPr/>
        </p:nvSpPr>
        <p:spPr>
          <a:xfrm>
            <a:off x="72008" y="5949280"/>
            <a:ext cx="1869423" cy="646331"/>
          </a:xfrm>
          <a:prstGeom prst="rect">
            <a:avLst/>
          </a:prstGeom>
          <a:noFill/>
          <a:effectLst>
            <a:outerShdw blurRad="50800" dist="38100" dir="10800000" algn="r" rotWithShape="0">
              <a:prstClr val="black">
                <a:alpha val="40000"/>
              </a:prstClr>
            </a:outerShdw>
          </a:effectLst>
        </p:spPr>
        <p:txBody>
          <a:bodyPr wrap="none" rtlCol="0">
            <a:spAutoFit/>
            <a:scene3d>
              <a:camera prst="orthographicFront"/>
              <a:lightRig rig="threePt" dir="t"/>
            </a:scene3d>
            <a:sp3d extrusionH="57150">
              <a:bevelT w="38100" h="38100"/>
            </a:sp3d>
          </a:bodyPr>
          <a:lstStyle>
            <a:defPPr>
              <a:defRPr lang="en-US"/>
            </a:defPPr>
            <a:lvl1pPr fontAlgn="base">
              <a:spcBef>
                <a:spcPct val="0"/>
              </a:spcBef>
              <a:spcAft>
                <a:spcPct val="0"/>
              </a:spcAft>
              <a:defRPr sz="3600">
                <a:solidFill>
                  <a:schemeClr val="bg1"/>
                </a:solidFill>
                <a:effectLst>
                  <a:reflection blurRad="6350" stA="55000" endA="300" endPos="45500" dir="5400000" sy="-100000" algn="bl" rotWithShape="0"/>
                </a:effectLst>
                <a:latin typeface="Tahoma" charset="0"/>
                <a:ea typeface="ＭＳ Ｐゴシック" charset="0"/>
                <a:cs typeface="Arial" charset="0"/>
              </a:defRPr>
            </a:lvl1pPr>
            <a:lvl2pPr fontAlgn="base">
              <a:spcBef>
                <a:spcPct val="0"/>
              </a:spcBef>
              <a:spcAft>
                <a:spcPct val="0"/>
              </a:spcAft>
              <a:defRPr>
                <a:latin typeface="Tahoma" charset="0"/>
                <a:ea typeface="ＭＳ Ｐゴシック" charset="0"/>
                <a:cs typeface="Arial" charset="0"/>
              </a:defRPr>
            </a:lvl2pPr>
            <a:lvl3pPr fontAlgn="base">
              <a:spcBef>
                <a:spcPct val="0"/>
              </a:spcBef>
              <a:spcAft>
                <a:spcPct val="0"/>
              </a:spcAft>
              <a:defRPr>
                <a:latin typeface="Tahoma" charset="0"/>
                <a:ea typeface="ＭＳ Ｐゴシック" charset="0"/>
                <a:cs typeface="Arial" charset="0"/>
              </a:defRPr>
            </a:lvl3pPr>
            <a:lvl4pPr fontAlgn="base">
              <a:spcBef>
                <a:spcPct val="0"/>
              </a:spcBef>
              <a:spcAft>
                <a:spcPct val="0"/>
              </a:spcAft>
              <a:defRPr>
                <a:latin typeface="Tahoma" charset="0"/>
                <a:ea typeface="ＭＳ Ｐゴシック" charset="0"/>
                <a:cs typeface="Arial" charset="0"/>
              </a:defRPr>
            </a:lvl4pPr>
            <a:lvl5pPr fontAlgn="base">
              <a:spcBef>
                <a:spcPct val="0"/>
              </a:spcBef>
              <a:spcAft>
                <a:spcPct val="0"/>
              </a:spcAft>
              <a:defRPr>
                <a:latin typeface="Tahoma" charset="0"/>
                <a:ea typeface="ＭＳ Ｐゴシック" charset="0"/>
                <a:cs typeface="Arial" charset="0"/>
              </a:defRPr>
            </a:lvl5pPr>
            <a:lvl6pPr defTabSz="457200">
              <a:defRPr>
                <a:latin typeface="Tahoma" charset="0"/>
                <a:ea typeface="ＭＳ Ｐゴシック" charset="0"/>
                <a:cs typeface="Arial" charset="0"/>
              </a:defRPr>
            </a:lvl6pPr>
            <a:lvl7pPr defTabSz="457200">
              <a:defRPr>
                <a:latin typeface="Tahoma" charset="0"/>
                <a:ea typeface="ＭＳ Ｐゴシック" charset="0"/>
                <a:cs typeface="Arial" charset="0"/>
              </a:defRPr>
            </a:lvl7pPr>
            <a:lvl8pPr defTabSz="457200">
              <a:defRPr>
                <a:latin typeface="Tahoma" charset="0"/>
                <a:ea typeface="ＭＳ Ｐゴシック" charset="0"/>
                <a:cs typeface="Arial" charset="0"/>
              </a:defRPr>
            </a:lvl8pPr>
            <a:lvl9pPr defTabSz="457200">
              <a:defRPr>
                <a:latin typeface="Tahoma" charset="0"/>
                <a:ea typeface="ＭＳ Ｐゴシック" charset="0"/>
                <a:cs typeface="Arial" charset="0"/>
              </a:defRPr>
            </a:lvl9pPr>
          </a:lstStyle>
          <a:p>
            <a:r>
              <a:rPr lang="en-US" dirty="0"/>
              <a:t>CS 1301</a:t>
            </a:r>
          </a:p>
        </p:txBody>
      </p:sp>
      <p:sp>
        <p:nvSpPr>
          <p:cNvPr id="6" name="Rectangle 5"/>
          <p:cNvSpPr/>
          <p:nvPr/>
        </p:nvSpPr>
        <p:spPr>
          <a:xfrm>
            <a:off x="3131840" y="4005064"/>
            <a:ext cx="5760640"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000" dirty="0">
                <a:solidFill>
                  <a:srgbClr val="00B0F0"/>
                </a:solidFill>
              </a:rPr>
              <a:t>One-Dimensional</a:t>
            </a:r>
          </a:p>
        </p:txBody>
      </p:sp>
    </p:spTree>
    <p:extLst>
      <p:ext uri="{BB962C8B-B14F-4D97-AF65-F5344CB8AC3E}">
        <p14:creationId xmlns:p14="http://schemas.microsoft.com/office/powerpoint/2010/main" val="3780226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3" descr="Rectangle: Click to edit Master text styles&#10;Second level&#10;Third level&#10;Fourth level&#10;Fifth level"/>
          <p:cNvSpPr>
            <a:spLocks noGrp="1" noChangeArrowheads="1"/>
          </p:cNvSpPr>
          <p:nvPr>
            <p:ph idx="1"/>
          </p:nvPr>
        </p:nvSpPr>
        <p:spPr>
          <a:xfrm>
            <a:off x="612648" y="836712"/>
            <a:ext cx="8153400" cy="5832648"/>
          </a:xfrm>
          <a:prstGeom prst="foldedCorner">
            <a:avLst>
              <a:gd name="adj" fmla="val 36304"/>
            </a:avLst>
          </a:prstGeom>
          <a:solidFill>
            <a:schemeClr val="accent1">
              <a:lumMod val="20000"/>
              <a:lumOff val="80000"/>
            </a:schemeClr>
          </a:solidFill>
          <a:ln>
            <a:solidFill>
              <a:schemeClr val="accent5">
                <a:lumMod val="75000"/>
              </a:schemeClr>
            </a:solidFill>
          </a:ln>
          <a:effectLst>
            <a:outerShdw blurRad="63500" sx="102000" sy="102000" algn="ctr" rotWithShape="0">
              <a:prstClr val="black">
                <a:alpha val="40000"/>
              </a:prstClr>
            </a:outerShdw>
          </a:effectLst>
        </p:spPr>
        <p:txBody>
          <a:bodyPr>
            <a:noAutofit/>
          </a:bodyPr>
          <a:lstStyle/>
          <a:p>
            <a:pPr marL="0" indent="0" eaLnBrk="1" hangingPunct="1">
              <a:lnSpc>
                <a:spcPct val="90000"/>
              </a:lnSpc>
              <a:spcBef>
                <a:spcPts val="1200"/>
              </a:spcBef>
              <a:buNone/>
            </a:pPr>
            <a:r>
              <a:rPr lang="en-US" sz="1600" dirty="0">
                <a:latin typeface="Tahoma" charset="0"/>
                <a:cs typeface="Arial" charset="0"/>
              </a:rPr>
              <a:t>1. Introduction</a:t>
            </a:r>
          </a:p>
          <a:p>
            <a:pPr marL="0" indent="0" eaLnBrk="1" hangingPunct="1">
              <a:lnSpc>
                <a:spcPct val="90000"/>
              </a:lnSpc>
              <a:spcBef>
                <a:spcPts val="1200"/>
              </a:spcBef>
              <a:buNone/>
            </a:pPr>
            <a:r>
              <a:rPr lang="en-US" sz="1600" dirty="0">
                <a:latin typeface="Tahoma" charset="0"/>
                <a:cs typeface="Arial" charset="0"/>
              </a:rPr>
              <a:t>2. Properties of an Array</a:t>
            </a:r>
          </a:p>
          <a:p>
            <a:pPr marL="0" indent="0" eaLnBrk="1" hangingPunct="1">
              <a:lnSpc>
                <a:spcPct val="90000"/>
              </a:lnSpc>
              <a:spcBef>
                <a:spcPts val="1200"/>
              </a:spcBef>
              <a:buNone/>
            </a:pPr>
            <a:r>
              <a:rPr lang="en-US" sz="1600" dirty="0">
                <a:latin typeface="Tahoma" charset="0"/>
                <a:cs typeface="Arial" charset="0"/>
              </a:rPr>
              <a:t>3. Arrays Declaration</a:t>
            </a:r>
          </a:p>
          <a:p>
            <a:pPr marL="0" indent="0" eaLnBrk="1" hangingPunct="1">
              <a:lnSpc>
                <a:spcPct val="90000"/>
              </a:lnSpc>
              <a:spcBef>
                <a:spcPts val="1200"/>
              </a:spcBef>
              <a:buNone/>
            </a:pPr>
            <a:r>
              <a:rPr lang="en-US" sz="1600" dirty="0">
                <a:solidFill>
                  <a:srgbClr val="0000FF"/>
                </a:solidFill>
                <a:latin typeface="Tahoma" charset="0"/>
                <a:cs typeface="Arial" charset="0"/>
              </a:rPr>
              <a:t>	3.1 Examples</a:t>
            </a:r>
          </a:p>
          <a:p>
            <a:pPr marL="0" indent="0" eaLnBrk="1" hangingPunct="1">
              <a:lnSpc>
                <a:spcPct val="90000"/>
              </a:lnSpc>
              <a:spcBef>
                <a:spcPts val="1200"/>
              </a:spcBef>
              <a:buNone/>
            </a:pPr>
            <a:r>
              <a:rPr lang="en-US" sz="1600" dirty="0">
                <a:solidFill>
                  <a:srgbClr val="0000FF"/>
                </a:solidFill>
                <a:latin typeface="Tahoma" charset="0"/>
                <a:cs typeface="Arial" charset="0"/>
              </a:rPr>
              <a:t>	3.2 Using constants as sizes</a:t>
            </a:r>
          </a:p>
          <a:p>
            <a:pPr marL="0" indent="0" eaLnBrk="1" hangingPunct="1">
              <a:lnSpc>
                <a:spcPct val="90000"/>
              </a:lnSpc>
              <a:spcBef>
                <a:spcPts val="1200"/>
              </a:spcBef>
              <a:buNone/>
            </a:pPr>
            <a:r>
              <a:rPr lang="en-US" sz="1600" dirty="0">
                <a:solidFill>
                  <a:srgbClr val="0000FF"/>
                </a:solidFill>
                <a:latin typeface="Tahoma" charset="0"/>
                <a:cs typeface="Arial" charset="0"/>
              </a:rPr>
              <a:t>	3.3 Using expressions as sizes</a:t>
            </a:r>
          </a:p>
          <a:p>
            <a:pPr marL="0" indent="0" eaLnBrk="1" hangingPunct="1">
              <a:lnSpc>
                <a:spcPct val="90000"/>
              </a:lnSpc>
              <a:spcBef>
                <a:spcPts val="1200"/>
              </a:spcBef>
              <a:buNone/>
            </a:pPr>
            <a:r>
              <a:rPr lang="en-US" sz="1600" dirty="0">
                <a:solidFill>
                  <a:srgbClr val="0000FF"/>
                </a:solidFill>
                <a:latin typeface="Tahoma" charset="0"/>
                <a:cs typeface="Arial" charset="0"/>
              </a:rPr>
              <a:t>	3.4 Specifying sizes during execution</a:t>
            </a:r>
          </a:p>
          <a:p>
            <a:pPr marL="0" indent="0" eaLnBrk="1" hangingPunct="1">
              <a:lnSpc>
                <a:spcPct val="90000"/>
              </a:lnSpc>
              <a:spcBef>
                <a:spcPts val="1200"/>
              </a:spcBef>
              <a:buNone/>
            </a:pPr>
            <a:r>
              <a:rPr lang="en-US" sz="1600" dirty="0">
                <a:solidFill>
                  <a:srgbClr val="0000FF"/>
                </a:solidFill>
                <a:latin typeface="Tahoma" charset="0"/>
                <a:cs typeface="Arial" charset="0"/>
              </a:rPr>
              <a:t>	3.5 Initialization during declaration </a:t>
            </a:r>
          </a:p>
          <a:p>
            <a:pPr marL="0" indent="0" eaLnBrk="1" hangingPunct="1">
              <a:lnSpc>
                <a:spcPct val="90000"/>
              </a:lnSpc>
              <a:spcBef>
                <a:spcPts val="1200"/>
              </a:spcBef>
              <a:buNone/>
            </a:pPr>
            <a:r>
              <a:rPr lang="en-US" sz="1600" dirty="0">
                <a:latin typeface="Tahoma" charset="0"/>
                <a:cs typeface="Arial" charset="0"/>
              </a:rPr>
              <a:t>4. Accessing Array Elements</a:t>
            </a:r>
          </a:p>
          <a:p>
            <a:pPr marL="0" indent="0" eaLnBrk="1" hangingPunct="1">
              <a:lnSpc>
                <a:spcPct val="90000"/>
              </a:lnSpc>
              <a:spcBef>
                <a:spcPts val="1200"/>
              </a:spcBef>
              <a:buNone/>
            </a:pPr>
            <a:r>
              <a:rPr lang="en-US" sz="1600" dirty="0">
                <a:latin typeface="Tahoma" charset="0"/>
                <a:cs typeface="Arial" charset="0"/>
              </a:rPr>
              <a:t>5. </a:t>
            </a:r>
            <a:r>
              <a:rPr lang="en-US" sz="1600" dirty="0">
                <a:solidFill>
                  <a:srgbClr val="00B0F0"/>
                </a:solidFill>
                <a:latin typeface="Tahoma" charset="0"/>
                <a:cs typeface="Arial" charset="0"/>
              </a:rPr>
              <a:t>length</a:t>
            </a:r>
          </a:p>
          <a:p>
            <a:pPr marL="0" indent="0" eaLnBrk="1" hangingPunct="1">
              <a:lnSpc>
                <a:spcPct val="90000"/>
              </a:lnSpc>
              <a:spcBef>
                <a:spcPts val="1200"/>
              </a:spcBef>
              <a:buNone/>
            </a:pPr>
            <a:r>
              <a:rPr lang="en-US" sz="1600" dirty="0">
                <a:latin typeface="Tahoma" charset="0"/>
                <a:cs typeface="Arial" charset="0"/>
              </a:rPr>
              <a:t>6. Initialization of the array</a:t>
            </a:r>
          </a:p>
          <a:p>
            <a:pPr marL="0" indent="0" eaLnBrk="1" hangingPunct="1">
              <a:lnSpc>
                <a:spcPct val="90000"/>
              </a:lnSpc>
              <a:spcBef>
                <a:spcPts val="1200"/>
              </a:spcBef>
              <a:buNone/>
            </a:pPr>
            <a:r>
              <a:rPr lang="en-US" sz="1600" dirty="0">
                <a:solidFill>
                  <a:srgbClr val="0000FF"/>
                </a:solidFill>
                <a:latin typeface="Tahoma" charset="0"/>
                <a:cs typeface="Arial" charset="0"/>
              </a:rPr>
              <a:t>	6.1 Initialization during declaration</a:t>
            </a:r>
          </a:p>
          <a:p>
            <a:pPr marL="0" indent="0" eaLnBrk="1" hangingPunct="1">
              <a:lnSpc>
                <a:spcPct val="90000"/>
              </a:lnSpc>
              <a:spcBef>
                <a:spcPts val="1200"/>
              </a:spcBef>
              <a:buNone/>
            </a:pPr>
            <a:r>
              <a:rPr lang="en-US" sz="1600" dirty="0">
                <a:solidFill>
                  <a:srgbClr val="0000FF"/>
                </a:solidFill>
                <a:latin typeface="Tahoma" charset="0"/>
                <a:cs typeface="Arial" charset="0"/>
              </a:rPr>
              <a:t>	6.2 Using loops</a:t>
            </a:r>
          </a:p>
          <a:p>
            <a:pPr marL="0" indent="0" eaLnBrk="1" hangingPunct="1">
              <a:lnSpc>
                <a:spcPct val="90000"/>
              </a:lnSpc>
              <a:spcBef>
                <a:spcPts val="1200"/>
              </a:spcBef>
              <a:buNone/>
            </a:pPr>
            <a:r>
              <a:rPr lang="en-US" sz="1600" dirty="0">
                <a:solidFill>
                  <a:srgbClr val="0000FF"/>
                </a:solidFill>
                <a:latin typeface="Tahoma" charset="0"/>
                <a:cs typeface="Arial" charset="0"/>
              </a:rPr>
              <a:t>	6.3 User input</a:t>
            </a:r>
          </a:p>
          <a:p>
            <a:pPr marL="0" indent="0" eaLnBrk="1" hangingPunct="1">
              <a:lnSpc>
                <a:spcPct val="90000"/>
              </a:lnSpc>
              <a:spcBef>
                <a:spcPts val="1200"/>
              </a:spcBef>
              <a:buNone/>
            </a:pPr>
            <a:r>
              <a:rPr lang="en-US" sz="1600" dirty="0">
                <a:latin typeface="Tahoma" charset="0"/>
                <a:cs typeface="Arial" charset="0"/>
              </a:rPr>
              <a:t>7. Programming Hint (1)</a:t>
            </a:r>
          </a:p>
          <a:p>
            <a:pPr marL="0" indent="0" eaLnBrk="1" hangingPunct="1">
              <a:lnSpc>
                <a:spcPct val="90000"/>
              </a:lnSpc>
              <a:spcBef>
                <a:spcPts val="1200"/>
              </a:spcBef>
              <a:buNone/>
            </a:pPr>
            <a:r>
              <a:rPr lang="en-US" sz="1600" dirty="0">
                <a:latin typeface="Tahoma" charset="0"/>
                <a:cs typeface="Arial" charset="0"/>
              </a:rPr>
              <a:t>8. Programming Hint (2)</a:t>
            </a:r>
          </a:p>
        </p:txBody>
      </p: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Outline</a:t>
            </a:r>
          </a:p>
        </p:txBody>
      </p:sp>
      <p:sp>
        <p:nvSpPr>
          <p:cNvPr id="7" name="Slide Number Placeholder 6"/>
          <p:cNvSpPr>
            <a:spLocks noGrp="1"/>
          </p:cNvSpPr>
          <p:nvPr>
            <p:ph type="sldNum" sz="quarter" idx="12"/>
          </p:nvPr>
        </p:nvSpPr>
        <p:spPr/>
        <p:txBody>
          <a:bodyPr/>
          <a:lstStyle/>
          <a:p>
            <a:fld id="{DA934484-767D-4C48-AF0E-A1438A969E59}" type="slidenum">
              <a:rPr lang="en-US" smtClean="0"/>
              <a:pPr/>
              <a:t>2</a:t>
            </a:fld>
            <a:endParaRPr lang="en-US"/>
          </a:p>
        </p:txBody>
      </p:sp>
    </p:spTree>
    <p:extLst>
      <p:ext uri="{BB962C8B-B14F-4D97-AF65-F5344CB8AC3E}">
        <p14:creationId xmlns:p14="http://schemas.microsoft.com/office/powerpoint/2010/main" val="456479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1. INTRODUCTION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3</a:t>
            </a:fld>
            <a:endParaRPr lang="en-US"/>
          </a:p>
        </p:txBody>
      </p:sp>
      <p:sp>
        <p:nvSpPr>
          <p:cNvPr id="35" name="TextBox 34"/>
          <p:cNvSpPr txBox="1"/>
          <p:nvPr/>
        </p:nvSpPr>
        <p:spPr>
          <a:xfrm>
            <a:off x="251520" y="764704"/>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Simple data types (</a:t>
            </a:r>
            <a:r>
              <a:rPr lang="en-US" sz="2000" dirty="0" err="1">
                <a:solidFill>
                  <a:srgbClr val="00B0F0"/>
                </a:solidFill>
                <a:latin typeface="Tahoma" panose="020B0604030504040204" pitchFamily="34" charset="0"/>
                <a:ea typeface="Tahoma" panose="020B0604030504040204" pitchFamily="34" charset="0"/>
                <a:cs typeface="Tahoma" panose="020B0604030504040204" pitchFamily="34" charset="0"/>
              </a:rPr>
              <a:t>int</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double</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char</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solidFill>
                  <a:srgbClr val="00B0F0"/>
                </a:solidFill>
                <a:latin typeface="Tahoma" panose="020B0604030504040204" pitchFamily="34" charset="0"/>
                <a:ea typeface="Tahoma" panose="020B0604030504040204" pitchFamily="34" charset="0"/>
                <a:cs typeface="Tahoma" panose="020B0604030504040204" pitchFamily="34" charset="0"/>
              </a:rPr>
              <a:t>boolean</a:t>
            </a:r>
            <a:r>
              <a:rPr lang="en-US" sz="2000" dirty="0">
                <a:latin typeface="Tahoma" panose="020B0604030504040204" pitchFamily="34" charset="0"/>
                <a:ea typeface="Tahoma" panose="020B0604030504040204" pitchFamily="34" charset="0"/>
                <a:cs typeface="Tahoma" panose="020B0604030504040204" pitchFamily="34" charset="0"/>
              </a:rPr>
              <a:t>) use a single memory cell to store a variable. </a:t>
            </a:r>
          </a:p>
        </p:txBody>
      </p:sp>
      <p:sp>
        <p:nvSpPr>
          <p:cNvPr id="18" name="TextBox 17"/>
          <p:cNvSpPr txBox="1"/>
          <p:nvPr/>
        </p:nvSpPr>
        <p:spPr>
          <a:xfrm>
            <a:off x="251520" y="1412776"/>
            <a:ext cx="8640960" cy="1015663"/>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For example, after the declaration of the following three variables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sum</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choice </a:t>
            </a:r>
            <a:r>
              <a:rPr lang="en-US" sz="2000" dirty="0">
                <a:latin typeface="Tahoma" panose="020B0604030504040204" pitchFamily="34" charset="0"/>
                <a:ea typeface="Tahoma" panose="020B0604030504040204" pitchFamily="34" charset="0"/>
                <a:cs typeface="Tahoma" panose="020B0604030504040204" pitchFamily="34" charset="0"/>
              </a:rPr>
              <a:t>and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average</a:t>
            </a:r>
            <a:r>
              <a:rPr lang="en-US" sz="2000" dirty="0">
                <a:latin typeface="Tahoma" panose="020B0604030504040204" pitchFamily="34" charset="0"/>
                <a:ea typeface="Tahoma" panose="020B0604030504040204" pitchFamily="34" charset="0"/>
                <a:cs typeface="Tahoma" panose="020B0604030504040204" pitchFamily="34" charset="0"/>
              </a:rPr>
              <a:t>), the memory layout may look as shown in the figure:</a:t>
            </a:r>
          </a:p>
        </p:txBody>
      </p:sp>
      <p:grpSp>
        <p:nvGrpSpPr>
          <p:cNvPr id="19" name="Group 18"/>
          <p:cNvGrpSpPr/>
          <p:nvPr/>
        </p:nvGrpSpPr>
        <p:grpSpPr>
          <a:xfrm>
            <a:off x="179512" y="2513221"/>
            <a:ext cx="8784976" cy="923330"/>
            <a:chOff x="323528" y="1236822"/>
            <a:chExt cx="7848872" cy="868227"/>
          </a:xfrm>
        </p:grpSpPr>
        <p:sp>
          <p:nvSpPr>
            <p:cNvPr id="20" name="TextBox 19"/>
            <p:cNvSpPr txBox="1"/>
            <p:nvPr/>
          </p:nvSpPr>
          <p:spPr>
            <a:xfrm>
              <a:off x="971600" y="1236822"/>
              <a:ext cx="7200800" cy="868227"/>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t> </a:t>
              </a:r>
              <a:r>
                <a:rPr lang="en-US" dirty="0">
                  <a:solidFill>
                    <a:srgbClr val="0000FF"/>
                  </a:solidFill>
                </a:rPr>
                <a:t>sum = 0;</a:t>
              </a:r>
            </a:p>
            <a:p>
              <a:r>
                <a:rPr lang="en-US" dirty="0">
                  <a:solidFill>
                    <a:srgbClr val="00B0F0"/>
                  </a:solidFill>
                </a:rPr>
                <a:t>char </a:t>
              </a:r>
              <a:r>
                <a:rPr lang="en-US" dirty="0">
                  <a:solidFill>
                    <a:srgbClr val="0000FF"/>
                  </a:solidFill>
                </a:rPr>
                <a:t>choice = ‘x’;</a:t>
              </a:r>
            </a:p>
            <a:p>
              <a:r>
                <a:rPr lang="en-US" dirty="0">
                  <a:solidFill>
                    <a:srgbClr val="00B0F0"/>
                  </a:solidFill>
                </a:rPr>
                <a:t>double </a:t>
              </a:r>
              <a:r>
                <a:rPr lang="en-US" dirty="0">
                  <a:solidFill>
                    <a:srgbClr val="0000FF"/>
                  </a:solidFill>
                </a:rPr>
                <a:t>average = 0.0;</a:t>
              </a:r>
            </a:p>
          </p:txBody>
        </p:sp>
        <p:sp>
          <p:nvSpPr>
            <p:cNvPr id="21" name="TextBox 20"/>
            <p:cNvSpPr txBox="1"/>
            <p:nvPr/>
          </p:nvSpPr>
          <p:spPr>
            <a:xfrm>
              <a:off x="323528" y="1236822"/>
              <a:ext cx="576064" cy="868227"/>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a:p>
              <a:pPr algn="r"/>
              <a:r>
                <a:rPr lang="en-US" dirty="0">
                  <a:solidFill>
                    <a:srgbClr val="FF0000"/>
                  </a:solidFill>
                </a:rPr>
                <a:t>3</a:t>
              </a:r>
            </a:p>
          </p:txBody>
        </p:sp>
      </p:grpSp>
      <p:sp>
        <p:nvSpPr>
          <p:cNvPr id="22" name="TextBox 21"/>
          <p:cNvSpPr txBox="1"/>
          <p:nvPr/>
        </p:nvSpPr>
        <p:spPr>
          <a:xfrm>
            <a:off x="251520" y="3501008"/>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
            </a:pPr>
            <a:r>
              <a:rPr lang="en-US" sz="2000" dirty="0">
                <a:solidFill>
                  <a:srgbClr val="7030A0"/>
                </a:solidFill>
                <a:latin typeface="Tahoma" panose="020B0604030504040204" pitchFamily="34" charset="0"/>
                <a:ea typeface="Tahoma" panose="020B0604030504040204" pitchFamily="34" charset="0"/>
                <a:cs typeface="Tahoma" panose="020B0604030504040204" pitchFamily="34" charset="0"/>
              </a:rPr>
              <a:t>Variables are dispersed in memory</a:t>
            </a:r>
          </a:p>
        </p:txBody>
      </p:sp>
      <p:sp>
        <p:nvSpPr>
          <p:cNvPr id="23" name="TextBox 22"/>
          <p:cNvSpPr txBox="1"/>
          <p:nvPr/>
        </p:nvSpPr>
        <p:spPr>
          <a:xfrm>
            <a:off x="251520" y="3964994"/>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
            </a:pPr>
            <a:r>
              <a:rPr lang="en-US" sz="2000" dirty="0">
                <a:solidFill>
                  <a:srgbClr val="7030A0"/>
                </a:solidFill>
                <a:latin typeface="Tahoma" panose="020B0604030504040204" pitchFamily="34" charset="0"/>
                <a:ea typeface="Tahoma" panose="020B0604030504040204" pitchFamily="34" charset="0"/>
                <a:cs typeface="Tahoma" panose="020B0604030504040204" pitchFamily="34" charset="0"/>
              </a:rPr>
              <a:t>Names are translated into addresses</a:t>
            </a:r>
          </a:p>
        </p:txBody>
      </p:sp>
      <p:sp>
        <p:nvSpPr>
          <p:cNvPr id="24" name="TextBox 23"/>
          <p:cNvSpPr txBox="1"/>
          <p:nvPr/>
        </p:nvSpPr>
        <p:spPr>
          <a:xfrm>
            <a:off x="251520" y="4409817"/>
            <a:ext cx="8640960" cy="1323439"/>
          </a:xfrm>
          <a:prstGeom prst="rect">
            <a:avLst/>
          </a:prstGeom>
          <a:solidFill>
            <a:schemeClr val="bg1"/>
          </a:solidFill>
        </p:spPr>
        <p:txBody>
          <a:bodyPr wrap="square" rtlCol="0">
            <a:spAutoFit/>
          </a:bodyPr>
          <a:lstStyle/>
          <a:p>
            <a:pPr marL="342900" indent="-342900">
              <a:buClr>
                <a:srgbClr val="FF0000"/>
              </a:buClr>
              <a:buFont typeface="Wingdings" panose="05000000000000000000" pitchFamily="2" charset="2"/>
              <a:buChar char="§"/>
            </a:pPr>
            <a:r>
              <a:rPr lang="en-US" sz="2000" dirty="0">
                <a:solidFill>
                  <a:srgbClr val="7030A0"/>
                </a:solidFill>
                <a:latin typeface="Tahoma" panose="020B0604030504040204" pitchFamily="34" charset="0"/>
                <a:ea typeface="Tahoma" panose="020B0604030504040204" pitchFamily="34" charset="0"/>
                <a:cs typeface="Tahoma" panose="020B0604030504040204" pitchFamily="34" charset="0"/>
              </a:rPr>
              <a:t>The order of declaration is not necessarily</a:t>
            </a:r>
          </a:p>
          <a:p>
            <a:pPr>
              <a:buClr>
                <a:srgbClr val="FF0000"/>
              </a:buClr>
            </a:pPr>
            <a:r>
              <a:rPr lang="en-US" sz="2000" dirty="0">
                <a:solidFill>
                  <a:srgbClr val="7030A0"/>
                </a:solidFill>
                <a:latin typeface="Tahoma" panose="020B0604030504040204" pitchFamily="34" charset="0"/>
                <a:ea typeface="Tahoma" panose="020B0604030504040204" pitchFamily="34" charset="0"/>
                <a:cs typeface="Tahoma" panose="020B0604030504040204" pitchFamily="34" charset="0"/>
              </a:rPr>
              <a:t>the order of storing in the memory. In fact,</a:t>
            </a:r>
          </a:p>
          <a:p>
            <a:pPr>
              <a:buClr>
                <a:srgbClr val="FF0000"/>
              </a:buClr>
            </a:pPr>
            <a:r>
              <a:rPr lang="en-US" sz="2000" dirty="0">
                <a:solidFill>
                  <a:srgbClr val="7030A0"/>
                </a:solidFill>
                <a:latin typeface="Tahoma" panose="020B0604030504040204" pitchFamily="34" charset="0"/>
                <a:ea typeface="Tahoma" panose="020B0604030504040204" pitchFamily="34" charset="0"/>
                <a:cs typeface="Tahoma" panose="020B0604030504040204" pitchFamily="34" charset="0"/>
              </a:rPr>
              <a:t>we don’t have any control on assigning addresses</a:t>
            </a:r>
          </a:p>
          <a:p>
            <a:pPr>
              <a:buClr>
                <a:srgbClr val="FF0000"/>
              </a:buClr>
            </a:pPr>
            <a:r>
              <a:rPr lang="en-US" sz="2000" dirty="0">
                <a:solidFill>
                  <a:srgbClr val="7030A0"/>
                </a:solidFill>
                <a:latin typeface="Tahoma" panose="020B0604030504040204" pitchFamily="34" charset="0"/>
                <a:ea typeface="Tahoma" panose="020B0604030504040204" pitchFamily="34" charset="0"/>
                <a:cs typeface="Tahoma" panose="020B0604030504040204" pitchFamily="34" charset="0"/>
              </a:rPr>
              <a:t>to variables.</a:t>
            </a:r>
          </a:p>
        </p:txBody>
      </p:sp>
      <p:graphicFrame>
        <p:nvGraphicFramePr>
          <p:cNvPr id="2" name="Table 1"/>
          <p:cNvGraphicFramePr>
            <a:graphicFrameLocks noGrp="1"/>
          </p:cNvGraphicFramePr>
          <p:nvPr>
            <p:extLst>
              <p:ext uri="{D42A27DB-BD31-4B8C-83A1-F6EECF244321}">
                <p14:modId xmlns:p14="http://schemas.microsoft.com/office/powerpoint/2010/main" val="3526264570"/>
              </p:ext>
            </p:extLst>
          </p:nvPr>
        </p:nvGraphicFramePr>
        <p:xfrm>
          <a:off x="6372199" y="2651671"/>
          <a:ext cx="2445630" cy="3337560"/>
        </p:xfrm>
        <a:graphic>
          <a:graphicData uri="http://schemas.openxmlformats.org/drawingml/2006/table">
            <a:tbl>
              <a:tblPr firstRow="1" bandRow="1">
                <a:tableStyleId>{5C22544A-7EE6-4342-B048-85BDC9FD1C3A}</a:tableStyleId>
              </a:tblPr>
              <a:tblGrid>
                <a:gridCol w="1365510">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r>
                        <a:rPr lang="en-US" dirty="0"/>
                        <a:t>Address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t>Value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endParaRPr 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r>
                        <a:rPr lang="en-US" dirty="0"/>
                        <a:t>200</a:t>
                      </a:r>
                    </a:p>
                  </a:txBody>
                  <a:tcPr>
                    <a:lnL w="12700" cap="flat" cmpd="sng" algn="ctr">
                      <a:solidFill>
                        <a:schemeClr val="tx1"/>
                      </a:solidFill>
                      <a:prstDash val="solid"/>
                      <a:round/>
                      <a:headEnd type="none" w="med" len="med"/>
                      <a:tailEnd type="none" w="med" len="med"/>
                    </a:lnL>
                  </a:tcPr>
                </a:tc>
                <a:tc>
                  <a:txBody>
                    <a:bodyPr/>
                    <a:lstStyle/>
                    <a:p>
                      <a:r>
                        <a:rPr lang="en-US" dirty="0"/>
                        <a:t>x</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endParaRPr 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r>
                        <a:rPr lang="en-US" dirty="0"/>
                        <a:t>500</a:t>
                      </a:r>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r>
                        <a:rPr lang="en-US" dirty="0"/>
                        <a:t>502</a:t>
                      </a:r>
                    </a:p>
                  </a:txBody>
                  <a:tcPr>
                    <a:lnL w="12700" cap="flat" cmpd="sng" algn="ctr">
                      <a:solidFill>
                        <a:schemeClr val="tx1"/>
                      </a:solidFill>
                      <a:prstDash val="solid"/>
                      <a:round/>
                      <a:headEnd type="none" w="med" len="med"/>
                      <a:tailEnd type="none" w="med" len="med"/>
                    </a:lnL>
                  </a:tcPr>
                </a:tc>
                <a:tc>
                  <a:txBody>
                    <a:bodyPr/>
                    <a:lstStyle/>
                    <a:p>
                      <a:r>
                        <a:rPr lang="en-US" dirty="0"/>
                        <a:t>0.0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endParaRPr 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endParaRPr 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370840">
                <a:tc>
                  <a:txBody>
                    <a:bodyPr/>
                    <a:lstStyle/>
                    <a:p>
                      <a:endParaRPr lang="en-US"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1065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righ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right)">
                                      <p:cBhvr>
                                        <p:cTn id="15" dur="500"/>
                                        <p:tgtEl>
                                          <p:spTgt spid="19"/>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left)">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left)">
                                      <p:cBhvr>
                                        <p:cTn id="3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8" grpId="0"/>
      <p:bldP spid="22" grpId="0"/>
      <p:bldP spid="23" grpId="0"/>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2. PROPERTIES OF AN ARRAY</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4</a:t>
            </a:fld>
            <a:endParaRPr lang="en-US"/>
          </a:p>
        </p:txBody>
      </p:sp>
      <p:sp>
        <p:nvSpPr>
          <p:cNvPr id="35" name="TextBox 34"/>
          <p:cNvSpPr txBox="1"/>
          <p:nvPr/>
        </p:nvSpPr>
        <p:spPr>
          <a:xfrm>
            <a:off x="251520" y="2223736"/>
            <a:ext cx="8640960" cy="70788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An array is a collection of two or more </a:t>
            </a:r>
            <a:r>
              <a:rPr lang="en-US" sz="2000" u="sng" dirty="0">
                <a:latin typeface="Tahoma" panose="020B0604030504040204" pitchFamily="34" charset="0"/>
                <a:ea typeface="Tahoma" panose="020B0604030504040204" pitchFamily="34" charset="0"/>
                <a:cs typeface="Tahoma" panose="020B0604030504040204" pitchFamily="34" charset="0"/>
              </a:rPr>
              <a:t>adjacent</a:t>
            </a:r>
            <a:r>
              <a:rPr lang="en-US" sz="2000" dirty="0">
                <a:latin typeface="Tahoma" panose="020B0604030504040204" pitchFamily="34" charset="0"/>
                <a:ea typeface="Tahoma" panose="020B0604030504040204" pitchFamily="34" charset="0"/>
                <a:cs typeface="Tahoma" panose="020B0604030504040204" pitchFamily="34" charset="0"/>
              </a:rPr>
              <a:t> memory cells called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array elements</a:t>
            </a: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9" name="TextBox 8"/>
          <p:cNvSpPr txBox="1"/>
          <p:nvPr/>
        </p:nvSpPr>
        <p:spPr>
          <a:xfrm>
            <a:off x="251520" y="2915264"/>
            <a:ext cx="8640960" cy="70788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Elements of the same array should be all of the </a:t>
            </a:r>
            <a:r>
              <a:rPr lang="en-US" sz="2000" u="sng" dirty="0">
                <a:latin typeface="Tahoma" panose="020B0604030504040204" pitchFamily="34" charset="0"/>
                <a:ea typeface="Tahoma" panose="020B0604030504040204" pitchFamily="34" charset="0"/>
                <a:cs typeface="Tahoma" panose="020B0604030504040204" pitchFamily="34" charset="0"/>
              </a:rPr>
              <a:t>same type</a:t>
            </a:r>
            <a:r>
              <a:rPr lang="en-US" sz="2000" dirty="0">
                <a:latin typeface="Tahoma" panose="020B0604030504040204" pitchFamily="34" charset="0"/>
                <a:ea typeface="Tahoma" panose="020B0604030504040204" pitchFamily="34" charset="0"/>
                <a:cs typeface="Tahoma" panose="020B0604030504040204" pitchFamily="34" charset="0"/>
              </a:rPr>
              <a:t>: this represents the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type of the array</a:t>
            </a: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10" name="TextBox 9"/>
          <p:cNvSpPr txBox="1"/>
          <p:nvPr/>
        </p:nvSpPr>
        <p:spPr>
          <a:xfrm>
            <a:off x="251520" y="3606792"/>
            <a:ext cx="8640960" cy="1015663"/>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Array elements are associated with a particular symbolic name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identifier name</a:t>
            </a:r>
            <a:r>
              <a:rPr lang="en-US" sz="2000" dirty="0">
                <a:latin typeface="Tahoma" panose="020B0604030504040204" pitchFamily="34" charset="0"/>
                <a:ea typeface="Tahoma" panose="020B0604030504040204" pitchFamily="34" charset="0"/>
                <a:cs typeface="Tahoma" panose="020B0604030504040204" pitchFamily="34" charset="0"/>
              </a:rPr>
              <a:t>) that obeys all rules previously mentioned about identifiers.</a:t>
            </a:r>
          </a:p>
        </p:txBody>
      </p:sp>
      <p:sp>
        <p:nvSpPr>
          <p:cNvPr id="11" name="TextBox 10"/>
          <p:cNvSpPr txBox="1"/>
          <p:nvPr/>
        </p:nvSpPr>
        <p:spPr>
          <a:xfrm>
            <a:off x="251520" y="4606096"/>
            <a:ext cx="8640960" cy="1631216"/>
          </a:xfrm>
          <a:prstGeom prst="rect">
            <a:avLst/>
          </a:prstGeom>
          <a:noFill/>
          <a:ln w="28575">
            <a:solidFill>
              <a:srgbClr val="0000FF"/>
            </a:solidFill>
          </a:ln>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Therefore, to set up an array in memory, we must declare the following:</a:t>
            </a:r>
          </a:p>
          <a:p>
            <a:pPr marL="800100" lvl="1" indent="-342900" algn="just">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The </a:t>
            </a: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type </a:t>
            </a:r>
            <a:r>
              <a:rPr lang="en-US" sz="2000" dirty="0">
                <a:latin typeface="Tahoma" panose="020B0604030504040204" pitchFamily="34" charset="0"/>
                <a:ea typeface="Tahoma" panose="020B0604030504040204" pitchFamily="34" charset="0"/>
                <a:cs typeface="Tahoma" panose="020B0604030504040204" pitchFamily="34" charset="0"/>
              </a:rPr>
              <a:t>of the array: which is the type of its elements</a:t>
            </a:r>
          </a:p>
          <a:p>
            <a:pPr marL="800100" lvl="1" indent="-342900" algn="just">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The </a:t>
            </a: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name</a:t>
            </a:r>
            <a:r>
              <a:rPr lang="en-US" sz="2000" dirty="0">
                <a:latin typeface="Tahoma" panose="020B0604030504040204" pitchFamily="34" charset="0"/>
                <a:ea typeface="Tahoma" panose="020B0604030504040204" pitchFamily="34" charset="0"/>
                <a:cs typeface="Tahoma" panose="020B0604030504040204" pitchFamily="34" charset="0"/>
              </a:rPr>
              <a:t> of the array</a:t>
            </a:r>
          </a:p>
          <a:p>
            <a:pPr marL="800100" lvl="1" indent="-342900" algn="just">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The </a:t>
            </a: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number of elements</a:t>
            </a:r>
            <a:r>
              <a:rPr lang="en-US" sz="2000" dirty="0">
                <a:latin typeface="Tahoma" panose="020B0604030504040204" pitchFamily="34" charset="0"/>
                <a:ea typeface="Tahoma" panose="020B0604030504040204" pitchFamily="34" charset="0"/>
                <a:cs typeface="Tahoma" panose="020B0604030504040204" pitchFamily="34" charset="0"/>
              </a:rPr>
              <a:t> of the array: this is the number of adjacent memory cells associated with the array name</a:t>
            </a:r>
          </a:p>
        </p:txBody>
      </p:sp>
      <p:sp>
        <p:nvSpPr>
          <p:cNvPr id="12" name="TextBox 11"/>
          <p:cNvSpPr txBox="1"/>
          <p:nvPr/>
        </p:nvSpPr>
        <p:spPr>
          <a:xfrm>
            <a:off x="251520" y="764704"/>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However, it is sometimes more efficient to solve problems by grouping data items together for storage in main memory.</a:t>
            </a:r>
          </a:p>
        </p:txBody>
      </p:sp>
      <p:sp>
        <p:nvSpPr>
          <p:cNvPr id="14" name="TextBox 13"/>
          <p:cNvSpPr txBox="1"/>
          <p:nvPr/>
        </p:nvSpPr>
        <p:spPr>
          <a:xfrm>
            <a:off x="251520" y="1839984"/>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For such types of problems, we use an </a:t>
            </a: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array</a:t>
            </a: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13" name="TextBox 12"/>
          <p:cNvSpPr txBox="1"/>
          <p:nvPr/>
        </p:nvSpPr>
        <p:spPr>
          <a:xfrm>
            <a:off x="251520" y="145623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Grouped data items are then processed using a loop.</a:t>
            </a:r>
          </a:p>
        </p:txBody>
      </p:sp>
    </p:spTree>
    <p:extLst>
      <p:ext uri="{BB962C8B-B14F-4D97-AF65-F5344CB8AC3E}">
        <p14:creationId xmlns:p14="http://schemas.microsoft.com/office/powerpoint/2010/main" val="71833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left)">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9" grpId="0"/>
      <p:bldP spid="10" grpId="0"/>
      <p:bldP spid="11" grpId="0" animBg="1"/>
      <p:bldP spid="12" grpId="0"/>
      <p:bldP spid="14"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3. ARRAY DECLARATION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5</a:t>
            </a:fld>
            <a:endParaRPr lang="en-US"/>
          </a:p>
        </p:txBody>
      </p:sp>
      <p:sp>
        <p:nvSpPr>
          <p:cNvPr id="13" name="Rounded Rectangle 12"/>
          <p:cNvSpPr/>
          <p:nvPr/>
        </p:nvSpPr>
        <p:spPr>
          <a:xfrm>
            <a:off x="1677111" y="908720"/>
            <a:ext cx="5832648" cy="504056"/>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0B0F0"/>
                </a:solidFill>
              </a:rPr>
              <a:t>dataType</a:t>
            </a:r>
            <a:r>
              <a:rPr lang="en-US" dirty="0">
                <a:solidFill>
                  <a:srgbClr val="00B0F0"/>
                </a:solidFill>
              </a:rPr>
              <a:t>[] </a:t>
            </a:r>
            <a:r>
              <a:rPr lang="en-US" dirty="0" err="1">
                <a:solidFill>
                  <a:srgbClr val="00B0F0"/>
                </a:solidFill>
              </a:rPr>
              <a:t>arrayName</a:t>
            </a:r>
            <a:r>
              <a:rPr lang="en-US" dirty="0">
                <a:solidFill>
                  <a:srgbClr val="00B0F0"/>
                </a:solidFill>
              </a:rPr>
              <a:t> = new </a:t>
            </a:r>
            <a:r>
              <a:rPr lang="en-US" dirty="0" err="1">
                <a:solidFill>
                  <a:srgbClr val="00B0F0"/>
                </a:solidFill>
              </a:rPr>
              <a:t>dataType</a:t>
            </a:r>
            <a:r>
              <a:rPr lang="en-US" dirty="0">
                <a:solidFill>
                  <a:srgbClr val="00B0F0"/>
                </a:solidFill>
              </a:rPr>
              <a:t>[</a:t>
            </a:r>
            <a:r>
              <a:rPr lang="en-US" dirty="0" err="1">
                <a:solidFill>
                  <a:srgbClr val="00B0F0"/>
                </a:solidFill>
              </a:rPr>
              <a:t>intExp</a:t>
            </a:r>
            <a:r>
              <a:rPr lang="en-US" dirty="0">
                <a:solidFill>
                  <a:srgbClr val="00B0F0"/>
                </a:solidFill>
              </a:rPr>
              <a:t>];</a:t>
            </a:r>
            <a:endParaRPr lang="en-US" dirty="0">
              <a:solidFill>
                <a:schemeClr val="accent1">
                  <a:lumMod val="50000"/>
                </a:schemeClr>
              </a:solidFill>
            </a:endParaRPr>
          </a:p>
        </p:txBody>
      </p:sp>
      <p:sp>
        <p:nvSpPr>
          <p:cNvPr id="15" name="Rounded Rectangle 14"/>
          <p:cNvSpPr/>
          <p:nvPr/>
        </p:nvSpPr>
        <p:spPr>
          <a:xfrm>
            <a:off x="236951" y="908720"/>
            <a:ext cx="1296144"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SYNTAX</a:t>
            </a:r>
          </a:p>
        </p:txBody>
      </p:sp>
      <p:sp>
        <p:nvSpPr>
          <p:cNvPr id="16" name="TextBox 15"/>
          <p:cNvSpPr txBox="1"/>
          <p:nvPr/>
        </p:nvSpPr>
        <p:spPr>
          <a:xfrm>
            <a:off x="251520" y="1496978"/>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In Java, an array is an object that must be instantiated using the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new </a:t>
            </a:r>
            <a:r>
              <a:rPr lang="en-US" sz="2000" dirty="0">
                <a:latin typeface="Tahoma" panose="020B0604030504040204" pitchFamily="34" charset="0"/>
                <a:ea typeface="Tahoma" panose="020B0604030504040204" pitchFamily="34" charset="0"/>
                <a:cs typeface="Tahoma" panose="020B0604030504040204" pitchFamily="34" charset="0"/>
              </a:rPr>
              <a:t>operator.</a:t>
            </a:r>
          </a:p>
        </p:txBody>
      </p:sp>
      <p:sp>
        <p:nvSpPr>
          <p:cNvPr id="18" name="TextBox 17"/>
          <p:cNvSpPr txBox="1"/>
          <p:nvPr/>
        </p:nvSpPr>
        <p:spPr>
          <a:xfrm>
            <a:off x="251520" y="2145050"/>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err="1">
                <a:solidFill>
                  <a:srgbClr val="0000FF"/>
                </a:solidFill>
                <a:latin typeface="Tahoma" panose="020B0604030504040204" pitchFamily="34" charset="0"/>
                <a:ea typeface="Tahoma" panose="020B0604030504040204" pitchFamily="34" charset="0"/>
                <a:cs typeface="Tahoma" panose="020B0604030504040204" pitchFamily="34" charset="0"/>
              </a:rPr>
              <a:t>arrayName</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is the reference variable.</a:t>
            </a:r>
          </a:p>
        </p:txBody>
      </p:sp>
      <p:sp>
        <p:nvSpPr>
          <p:cNvPr id="19" name="TextBox 18"/>
          <p:cNvSpPr txBox="1"/>
          <p:nvPr/>
        </p:nvSpPr>
        <p:spPr>
          <a:xfrm>
            <a:off x="251520" y="2524834"/>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err="1">
                <a:solidFill>
                  <a:srgbClr val="0000FF"/>
                </a:solidFill>
                <a:latin typeface="Tahoma" panose="020B0604030504040204" pitchFamily="34" charset="0"/>
                <a:ea typeface="Tahoma" panose="020B0604030504040204" pitchFamily="34" charset="0"/>
                <a:cs typeface="Tahoma" panose="020B0604030504040204" pitchFamily="34" charset="0"/>
              </a:rPr>
              <a:t>dataType</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is the data type of the array; which is the same type of all elements in the array.</a:t>
            </a:r>
          </a:p>
        </p:txBody>
      </p:sp>
      <p:sp>
        <p:nvSpPr>
          <p:cNvPr id="20" name="TextBox 19"/>
          <p:cNvSpPr txBox="1"/>
          <p:nvPr/>
        </p:nvSpPr>
        <p:spPr>
          <a:xfrm>
            <a:off x="251520" y="315316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err="1">
                <a:solidFill>
                  <a:srgbClr val="0000FF"/>
                </a:solidFill>
                <a:latin typeface="Tahoma" panose="020B0604030504040204" pitchFamily="34" charset="0"/>
                <a:ea typeface="Tahoma" panose="020B0604030504040204" pitchFamily="34" charset="0"/>
                <a:cs typeface="Tahoma" panose="020B0604030504040204" pitchFamily="34" charset="0"/>
              </a:rPr>
              <a:t>intExp</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is any expression that evaluates to a positive </a:t>
            </a:r>
            <a:r>
              <a:rPr lang="en-US" sz="2000" dirty="0" err="1">
                <a:solidFill>
                  <a:srgbClr val="00B0F0"/>
                </a:solidFill>
                <a:latin typeface="Tahoma" panose="020B0604030504040204" pitchFamily="34" charset="0"/>
                <a:ea typeface="Tahoma" panose="020B0604030504040204" pitchFamily="34" charset="0"/>
                <a:cs typeface="Tahoma" panose="020B0604030504040204" pitchFamily="34" charset="0"/>
              </a:rPr>
              <a:t>int</a:t>
            </a:r>
            <a:r>
              <a:rPr lang="en-US" sz="2000" dirty="0">
                <a:latin typeface="Tahoma" panose="020B0604030504040204" pitchFamily="34" charset="0"/>
                <a:ea typeface="Tahoma" panose="020B0604030504040204" pitchFamily="34" charset="0"/>
                <a:cs typeface="Tahoma" panose="020B0604030504040204" pitchFamily="34" charset="0"/>
              </a:rPr>
              <a:t> type. </a:t>
            </a:r>
          </a:p>
        </p:txBody>
      </p:sp>
      <p:sp>
        <p:nvSpPr>
          <p:cNvPr id="21" name="TextBox 20"/>
          <p:cNvSpPr txBox="1"/>
          <p:nvPr/>
        </p:nvSpPr>
        <p:spPr>
          <a:xfrm>
            <a:off x="251520" y="3532946"/>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err="1">
                <a:solidFill>
                  <a:srgbClr val="0000FF"/>
                </a:solidFill>
                <a:latin typeface="Tahoma" panose="020B0604030504040204" pitchFamily="34" charset="0"/>
                <a:ea typeface="Tahoma" panose="020B0604030504040204" pitchFamily="34" charset="0"/>
                <a:cs typeface="Tahoma" panose="020B0604030504040204" pitchFamily="34" charset="0"/>
              </a:rPr>
              <a:t>intExp</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represents the size of the array: this is the number of elements in the array. </a:t>
            </a:r>
          </a:p>
        </p:txBody>
      </p:sp>
    </p:spTree>
    <p:extLst>
      <p:ext uri="{BB962C8B-B14F-4D97-AF65-F5344CB8AC3E}">
        <p14:creationId xmlns:p14="http://schemas.microsoft.com/office/powerpoint/2010/main" val="416202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right)">
                                      <p:cBhvr>
                                        <p:cTn id="7" dur="500"/>
                                        <p:tgtEl>
                                          <p:spTgt spid="1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left)">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p:bldP spid="18" grpId="0"/>
      <p:bldP spid="19"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3. ARRAY DECLARATION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6</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3.1 EXAMPLES</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51520" y="119675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Consider the following array declaration:</a:t>
            </a:r>
          </a:p>
        </p:txBody>
      </p:sp>
      <p:grpSp>
        <p:nvGrpSpPr>
          <p:cNvPr id="23" name="Group 22"/>
          <p:cNvGrpSpPr/>
          <p:nvPr/>
        </p:nvGrpSpPr>
        <p:grpSpPr>
          <a:xfrm>
            <a:off x="179513" y="1628800"/>
            <a:ext cx="8784976" cy="369332"/>
            <a:chOff x="323529" y="1236822"/>
            <a:chExt cx="7848872" cy="347291"/>
          </a:xfrm>
        </p:grpSpPr>
        <p:sp>
          <p:nvSpPr>
            <p:cNvPr id="24" name="TextBox 23"/>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a:t>
              </a:r>
              <a:r>
                <a:rPr lang="en-US" dirty="0">
                  <a:solidFill>
                    <a:srgbClr val="0000FF"/>
                  </a:solidFill>
                </a:rPr>
                <a:t> </a:t>
              </a:r>
              <a:r>
                <a:rPr lang="en-US" dirty="0" err="1">
                  <a:solidFill>
                    <a:srgbClr val="0000FF"/>
                  </a:solidFill>
                </a:rPr>
                <a:t>num</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[5];	</a:t>
              </a:r>
            </a:p>
          </p:txBody>
        </p:sp>
        <p:sp>
          <p:nvSpPr>
            <p:cNvPr id="25" name="TextBox 24"/>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1</a:t>
              </a:r>
            </a:p>
          </p:txBody>
        </p:sp>
      </p:grpSp>
      <p:sp>
        <p:nvSpPr>
          <p:cNvPr id="26" name="TextBox 25"/>
          <p:cNvSpPr txBox="1"/>
          <p:nvPr/>
        </p:nvSpPr>
        <p:spPr>
          <a:xfrm>
            <a:off x="251520" y="2092786"/>
            <a:ext cx="8640960" cy="1323439"/>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From the above statement:</a:t>
            </a:r>
          </a:p>
          <a:p>
            <a:pPr marL="800100" lvl="1" indent="-342900">
              <a:buClr>
                <a:srgbClr val="FF0000"/>
              </a:buClr>
              <a:buFont typeface="Courier New" panose="02070309020205020404" pitchFamily="49" charset="0"/>
              <a:buChar char="o"/>
            </a:pP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num</a:t>
            </a:r>
            <a:r>
              <a:rPr lang="en-US" sz="2000" dirty="0">
                <a:latin typeface="Tahoma" panose="020B0604030504040204" pitchFamily="34" charset="0"/>
                <a:ea typeface="Tahoma" panose="020B0604030504040204" pitchFamily="34" charset="0"/>
                <a:cs typeface="Tahoma" panose="020B0604030504040204" pitchFamily="34" charset="0"/>
              </a:rPr>
              <a:t> is the array name</a:t>
            </a:r>
          </a:p>
          <a:p>
            <a:pPr marL="800100" lvl="1" indent="-342900">
              <a:buClr>
                <a:srgbClr val="FF0000"/>
              </a:buClr>
              <a:buFont typeface="Courier New" panose="02070309020205020404" pitchFamily="49" charset="0"/>
              <a:buChar char="o"/>
            </a:pPr>
            <a:r>
              <a:rPr lang="en-US" sz="2000" dirty="0" err="1">
                <a:solidFill>
                  <a:srgbClr val="0000FF"/>
                </a:solidFill>
                <a:latin typeface="Tahoma" panose="020B0604030504040204" pitchFamily="34" charset="0"/>
                <a:ea typeface="Tahoma" panose="020B0604030504040204" pitchFamily="34" charset="0"/>
                <a:cs typeface="Tahoma" panose="020B0604030504040204" pitchFamily="34" charset="0"/>
              </a:rPr>
              <a:t>num</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consists of 5 elements</a:t>
            </a:r>
          </a:p>
          <a:p>
            <a:pPr marL="800100" lvl="1" indent="-342900">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The type of the elements is </a:t>
            </a:r>
            <a:r>
              <a:rPr lang="en-US" sz="2000" dirty="0" err="1">
                <a:solidFill>
                  <a:srgbClr val="00B0F0"/>
                </a:solidFill>
                <a:latin typeface="Tahoma" panose="020B0604030504040204" pitchFamily="34" charset="0"/>
                <a:ea typeface="Tahoma" panose="020B0604030504040204" pitchFamily="34" charset="0"/>
                <a:cs typeface="Tahoma" panose="020B0604030504040204" pitchFamily="34" charset="0"/>
              </a:rPr>
              <a:t>int</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27" name="TextBox 26"/>
          <p:cNvSpPr txBox="1"/>
          <p:nvPr/>
        </p:nvSpPr>
        <p:spPr>
          <a:xfrm>
            <a:off x="251520" y="3429000"/>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memory layout will be as follows:</a:t>
            </a:r>
          </a:p>
        </p:txBody>
      </p:sp>
      <p:graphicFrame>
        <p:nvGraphicFramePr>
          <p:cNvPr id="28" name="Table 27"/>
          <p:cNvGraphicFramePr>
            <a:graphicFrameLocks noGrp="1"/>
          </p:cNvGraphicFramePr>
          <p:nvPr>
            <p:extLst>
              <p:ext uri="{D42A27DB-BD31-4B8C-83A1-F6EECF244321}">
                <p14:modId xmlns:p14="http://schemas.microsoft.com/office/powerpoint/2010/main" val="2598957668"/>
              </p:ext>
            </p:extLst>
          </p:nvPr>
        </p:nvGraphicFramePr>
        <p:xfrm>
          <a:off x="5148064" y="2932152"/>
          <a:ext cx="2301614" cy="2225040"/>
        </p:xfrm>
        <a:graphic>
          <a:graphicData uri="http://schemas.openxmlformats.org/drawingml/2006/table">
            <a:tbl>
              <a:tblPr firstRow="1" bandRow="1">
                <a:tableStyleId>{5C22544A-7EE6-4342-B048-85BDC9FD1C3A}</a:tableStyleId>
              </a:tblPr>
              <a:tblGrid>
                <a:gridCol w="1221494">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r>
                        <a:rPr lang="en-US" dirty="0"/>
                        <a:t>Address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t>Value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n-US" dirty="0" err="1">
                          <a:solidFill>
                            <a:srgbClr val="0070C0"/>
                          </a:solidFill>
                        </a:rPr>
                        <a:t>num</a:t>
                      </a:r>
                      <a:r>
                        <a:rPr lang="en-US" dirty="0">
                          <a:solidFill>
                            <a:srgbClr val="0070C0"/>
                          </a:solidFill>
                        </a:rPr>
                        <a:t>    </a:t>
                      </a:r>
                      <a:r>
                        <a:rPr lang="en-US" dirty="0">
                          <a:solidFill>
                            <a:srgbClr val="0070C0"/>
                          </a:solidFill>
                          <a:sym typeface="Wingdings" panose="05000000000000000000" pitchFamily="2" charset="2"/>
                        </a:rPr>
                        <a:t></a:t>
                      </a:r>
                      <a:endParaRPr lang="en-US" dirty="0">
                        <a:solidFill>
                          <a:srgbClr val="0070C0"/>
                        </a:solidFill>
                      </a:endParaRPr>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bl>
          </a:graphicData>
        </a:graphic>
      </p:graphicFrame>
      <p:sp>
        <p:nvSpPr>
          <p:cNvPr id="29" name="TextBox 28"/>
          <p:cNvSpPr txBox="1"/>
          <p:nvPr/>
        </p:nvSpPr>
        <p:spPr>
          <a:xfrm>
            <a:off x="251520" y="5261138"/>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As shown, the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array name </a:t>
            </a:r>
            <a:r>
              <a:rPr lang="en-US" sz="2000" dirty="0">
                <a:latin typeface="Tahoma" panose="020B0604030504040204" pitchFamily="34" charset="0"/>
                <a:ea typeface="Tahoma" panose="020B0604030504040204" pitchFamily="34" charset="0"/>
                <a:cs typeface="Tahoma" panose="020B0604030504040204" pitchFamily="34" charset="0"/>
              </a:rPr>
              <a:t>points to the first element in the array.</a:t>
            </a:r>
          </a:p>
        </p:txBody>
      </p:sp>
      <p:sp>
        <p:nvSpPr>
          <p:cNvPr id="15" name="TextBox 14"/>
          <p:cNvSpPr txBox="1"/>
          <p:nvPr/>
        </p:nvSpPr>
        <p:spPr>
          <a:xfrm>
            <a:off x="251520" y="5621178"/>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five elements of the array are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adjacent</a:t>
            </a:r>
            <a:r>
              <a:rPr lang="en-US" sz="2000" dirty="0">
                <a:latin typeface="Tahoma" panose="020B0604030504040204" pitchFamily="34" charset="0"/>
                <a:ea typeface="Tahoma" panose="020B0604030504040204" pitchFamily="34" charset="0"/>
                <a:cs typeface="Tahoma" panose="020B0604030504040204" pitchFamily="34" charset="0"/>
              </a:rPr>
              <a:t> in the memory.</a:t>
            </a:r>
          </a:p>
        </p:txBody>
      </p:sp>
    </p:spTree>
    <p:extLst>
      <p:ext uri="{BB962C8B-B14F-4D97-AF65-F5344CB8AC3E}">
        <p14:creationId xmlns:p14="http://schemas.microsoft.com/office/powerpoint/2010/main" val="1747832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500"/>
                                        <p:tgtEl>
                                          <p:spTgt spid="22"/>
                                        </p:tgtEl>
                                      </p:cBhvr>
                                    </p:animEffect>
                                  </p:childTnLst>
                                </p:cTn>
                              </p:par>
                              <p:par>
                                <p:cTn id="11" presetID="22" presetClass="entr" presetSubtype="2"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right)">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left)">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left)">
                                      <p:cBhvr>
                                        <p:cTn id="23" dur="500"/>
                                        <p:tgtEl>
                                          <p:spTgt spid="27"/>
                                        </p:tgtEl>
                                      </p:cBhvr>
                                    </p:animEffect>
                                  </p:childTnLst>
                                </p:cTn>
                              </p:par>
                            </p:childTnLst>
                          </p:cTn>
                        </p:par>
                        <p:par>
                          <p:cTn id="24" fill="hold">
                            <p:stCondLst>
                              <p:cond delay="500"/>
                            </p:stCondLst>
                            <p:childTnLst>
                              <p:par>
                                <p:cTn id="25" presetID="22" presetClass="entr" presetSubtype="1" fill="hold"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up)">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2" grpId="0"/>
      <p:bldP spid="26" grpId="0"/>
      <p:bldP spid="27" grpId="0"/>
      <p:bldP spid="29"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3. ARRAY DECLARATION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7</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3.2 USING CONSTANTS AS SIZES</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179513" y="1340769"/>
            <a:ext cx="8784976" cy="646331"/>
            <a:chOff x="323529" y="1236822"/>
            <a:chExt cx="7848872" cy="607759"/>
          </a:xfrm>
        </p:grpSpPr>
        <p:sp>
          <p:nvSpPr>
            <p:cNvPr id="23" name="TextBox 22"/>
            <p:cNvSpPr txBox="1"/>
            <p:nvPr/>
          </p:nvSpPr>
          <p:spPr>
            <a:xfrm>
              <a:off x="611561" y="1236822"/>
              <a:ext cx="7560840" cy="607759"/>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B0F0"/>
                  </a:solidFill>
                </a:rPr>
                <a:t>final </a:t>
              </a:r>
              <a:r>
                <a:rPr lang="en-US" dirty="0" err="1">
                  <a:solidFill>
                    <a:srgbClr val="00B0F0"/>
                  </a:solidFill>
                </a:rPr>
                <a:t>int</a:t>
              </a:r>
              <a:r>
                <a:rPr lang="en-US" dirty="0">
                  <a:solidFill>
                    <a:srgbClr val="0000FF"/>
                  </a:solidFill>
                </a:rPr>
                <a:t> ARRAY_SIZE = 5;</a:t>
              </a:r>
            </a:p>
            <a:p>
              <a:r>
                <a:rPr lang="en-US" dirty="0" err="1">
                  <a:solidFill>
                    <a:srgbClr val="00B0F0"/>
                  </a:solidFill>
                </a:rPr>
                <a:t>int</a:t>
              </a:r>
              <a:r>
                <a:rPr lang="en-US" dirty="0">
                  <a:solidFill>
                    <a:srgbClr val="00B0F0"/>
                  </a:solidFill>
                </a:rPr>
                <a:t>[]</a:t>
              </a:r>
              <a:r>
                <a:rPr lang="en-US" dirty="0">
                  <a:solidFill>
                    <a:srgbClr val="0000FF"/>
                  </a:solidFill>
                </a:rPr>
                <a:t> </a:t>
              </a:r>
              <a:r>
                <a:rPr lang="en-US" dirty="0" err="1">
                  <a:solidFill>
                    <a:srgbClr val="0000FF"/>
                  </a:solidFill>
                </a:rPr>
                <a:t>num</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[ARRAY_SIZE];</a:t>
              </a:r>
            </a:p>
          </p:txBody>
        </p:sp>
        <p:sp>
          <p:nvSpPr>
            <p:cNvPr id="24" name="TextBox 23"/>
            <p:cNvSpPr txBox="1"/>
            <p:nvPr/>
          </p:nvSpPr>
          <p:spPr>
            <a:xfrm>
              <a:off x="323529" y="1236822"/>
              <a:ext cx="288032" cy="607759"/>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p:txBody>
        </p:sp>
      </p:grpSp>
      <p:sp>
        <p:nvSpPr>
          <p:cNvPr id="25" name="TextBox 24"/>
          <p:cNvSpPr txBox="1"/>
          <p:nvPr/>
        </p:nvSpPr>
        <p:spPr>
          <a:xfrm>
            <a:off x="251520" y="1988840"/>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has the same effect as:</a:t>
            </a:r>
          </a:p>
        </p:txBody>
      </p:sp>
      <p:grpSp>
        <p:nvGrpSpPr>
          <p:cNvPr id="26" name="Group 25"/>
          <p:cNvGrpSpPr/>
          <p:nvPr/>
        </p:nvGrpSpPr>
        <p:grpSpPr>
          <a:xfrm>
            <a:off x="179512" y="2420887"/>
            <a:ext cx="8784976" cy="369332"/>
            <a:chOff x="323529" y="1236822"/>
            <a:chExt cx="7848872" cy="347291"/>
          </a:xfrm>
        </p:grpSpPr>
        <p:sp>
          <p:nvSpPr>
            <p:cNvPr id="27" name="TextBox 26"/>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a:t>
              </a:r>
              <a:r>
                <a:rPr lang="en-US" dirty="0">
                  <a:solidFill>
                    <a:srgbClr val="0000FF"/>
                  </a:solidFill>
                </a:rPr>
                <a:t> </a:t>
              </a:r>
              <a:r>
                <a:rPr lang="en-US" dirty="0" err="1">
                  <a:solidFill>
                    <a:srgbClr val="0000FF"/>
                  </a:solidFill>
                </a:rPr>
                <a:t>num</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[5];</a:t>
              </a:r>
            </a:p>
          </p:txBody>
        </p:sp>
        <p:sp>
          <p:nvSpPr>
            <p:cNvPr id="28" name="TextBox 27"/>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1</a:t>
              </a:r>
            </a:p>
          </p:txBody>
        </p:sp>
      </p:grpSp>
      <p:grpSp>
        <p:nvGrpSpPr>
          <p:cNvPr id="29" name="Group 28"/>
          <p:cNvGrpSpPr/>
          <p:nvPr/>
        </p:nvGrpSpPr>
        <p:grpSpPr>
          <a:xfrm>
            <a:off x="179512" y="3596823"/>
            <a:ext cx="8784976" cy="1200329"/>
            <a:chOff x="323529" y="1236822"/>
            <a:chExt cx="7848872" cy="1128695"/>
          </a:xfrm>
        </p:grpSpPr>
        <p:sp>
          <p:nvSpPr>
            <p:cNvPr id="30" name="TextBox 29"/>
            <p:cNvSpPr txBox="1"/>
            <p:nvPr/>
          </p:nvSpPr>
          <p:spPr>
            <a:xfrm>
              <a:off x="611561" y="1236822"/>
              <a:ext cx="7560840" cy="1128695"/>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B0F0"/>
                  </a:solidFill>
                </a:rPr>
                <a:t>final </a:t>
              </a:r>
              <a:r>
                <a:rPr lang="en-US" dirty="0" err="1">
                  <a:solidFill>
                    <a:srgbClr val="00B0F0"/>
                  </a:solidFill>
                </a:rPr>
                <a:t>int</a:t>
              </a:r>
              <a:r>
                <a:rPr lang="en-US" dirty="0">
                  <a:solidFill>
                    <a:srgbClr val="0000FF"/>
                  </a:solidFill>
                </a:rPr>
                <a:t> ARRAY_SIZE = 5;</a:t>
              </a:r>
            </a:p>
            <a:p>
              <a:r>
                <a:rPr lang="en-US" dirty="0">
                  <a:solidFill>
                    <a:srgbClr val="00B0F0"/>
                  </a:solidFill>
                </a:rPr>
                <a:t>double[]</a:t>
              </a:r>
              <a:r>
                <a:rPr lang="en-US" dirty="0">
                  <a:solidFill>
                    <a:srgbClr val="0000FF"/>
                  </a:solidFill>
                </a:rPr>
                <a:t> </a:t>
              </a:r>
              <a:r>
                <a:rPr lang="en-US" dirty="0" err="1">
                  <a:solidFill>
                    <a:srgbClr val="0000FF"/>
                  </a:solidFill>
                </a:rPr>
                <a:t>num</a:t>
              </a:r>
              <a:r>
                <a:rPr lang="en-US" dirty="0">
                  <a:solidFill>
                    <a:srgbClr val="0000FF"/>
                  </a:solidFill>
                </a:rPr>
                <a:t> = </a:t>
              </a:r>
              <a:r>
                <a:rPr lang="en-US" dirty="0">
                  <a:solidFill>
                    <a:srgbClr val="00B0F0"/>
                  </a:solidFill>
                </a:rPr>
                <a:t>new double</a:t>
              </a:r>
              <a:r>
                <a:rPr lang="en-US" dirty="0">
                  <a:solidFill>
                    <a:srgbClr val="0000FF"/>
                  </a:solidFill>
                </a:rPr>
                <a:t>[ARRAY_SIZE];</a:t>
              </a:r>
            </a:p>
            <a:p>
              <a:r>
                <a:rPr lang="en-US" dirty="0">
                  <a:solidFill>
                    <a:srgbClr val="00B0F0"/>
                  </a:solidFill>
                </a:rPr>
                <a:t>char[] </a:t>
              </a:r>
              <a:r>
                <a:rPr lang="en-US" dirty="0">
                  <a:solidFill>
                    <a:srgbClr val="0000FF"/>
                  </a:solidFill>
                </a:rPr>
                <a:t>x = </a:t>
              </a:r>
              <a:r>
                <a:rPr lang="en-US" dirty="0">
                  <a:solidFill>
                    <a:srgbClr val="00B0F0"/>
                  </a:solidFill>
                </a:rPr>
                <a:t>new char</a:t>
              </a:r>
              <a:r>
                <a:rPr lang="en-US" dirty="0">
                  <a:solidFill>
                    <a:srgbClr val="0000FF"/>
                  </a:solidFill>
                </a:rPr>
                <a:t>[ARRAY_SIZE];</a:t>
              </a:r>
            </a:p>
            <a:p>
              <a:r>
                <a:rPr lang="en-US" dirty="0" err="1">
                  <a:solidFill>
                    <a:srgbClr val="00B0F0"/>
                  </a:solidFill>
                </a:rPr>
                <a:t>boolean</a:t>
              </a:r>
              <a:r>
                <a:rPr lang="en-US" dirty="0">
                  <a:solidFill>
                    <a:srgbClr val="00B0F0"/>
                  </a:solidFill>
                </a:rPr>
                <a:t>[]</a:t>
              </a:r>
              <a:r>
                <a:rPr lang="en-US" dirty="0">
                  <a:solidFill>
                    <a:srgbClr val="0000FF"/>
                  </a:solidFill>
                </a:rPr>
                <a:t> flags = </a:t>
              </a:r>
              <a:r>
                <a:rPr lang="en-US" dirty="0">
                  <a:solidFill>
                    <a:srgbClr val="00B0F0"/>
                  </a:solidFill>
                </a:rPr>
                <a:t>new </a:t>
              </a:r>
              <a:r>
                <a:rPr lang="en-US" dirty="0" err="1">
                  <a:solidFill>
                    <a:srgbClr val="00B0F0"/>
                  </a:solidFill>
                </a:rPr>
                <a:t>boolean</a:t>
              </a:r>
              <a:r>
                <a:rPr lang="en-US" dirty="0">
                  <a:solidFill>
                    <a:srgbClr val="0000FF"/>
                  </a:solidFill>
                </a:rPr>
                <a:t>[ARRAY_SIZE];</a:t>
              </a:r>
            </a:p>
          </p:txBody>
        </p:sp>
        <p:sp>
          <p:nvSpPr>
            <p:cNvPr id="31" name="TextBox 30"/>
            <p:cNvSpPr txBox="1"/>
            <p:nvPr/>
          </p:nvSpPr>
          <p:spPr>
            <a:xfrm>
              <a:off x="323529" y="1236822"/>
              <a:ext cx="288032" cy="1128695"/>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a:p>
              <a:pPr algn="r"/>
              <a:r>
                <a:rPr lang="en-US" dirty="0">
                  <a:solidFill>
                    <a:srgbClr val="FF0000"/>
                  </a:solidFill>
                </a:rPr>
                <a:t>3</a:t>
              </a:r>
            </a:p>
            <a:p>
              <a:pPr algn="r"/>
              <a:r>
                <a:rPr lang="en-US" dirty="0">
                  <a:solidFill>
                    <a:srgbClr val="FF0000"/>
                  </a:solidFill>
                </a:rPr>
                <a:t>4</a:t>
              </a:r>
            </a:p>
          </p:txBody>
        </p:sp>
      </p:grpSp>
      <p:sp>
        <p:nvSpPr>
          <p:cNvPr id="32" name="TextBox 31"/>
          <p:cNvSpPr txBox="1"/>
          <p:nvPr/>
        </p:nvSpPr>
        <p:spPr>
          <a:xfrm>
            <a:off x="251520" y="319497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More examples:</a:t>
            </a:r>
          </a:p>
        </p:txBody>
      </p:sp>
      <p:sp>
        <p:nvSpPr>
          <p:cNvPr id="18" name="TextBox 17"/>
          <p:cNvSpPr txBox="1"/>
          <p:nvPr/>
        </p:nvSpPr>
        <p:spPr>
          <a:xfrm>
            <a:off x="251520" y="515719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b="1" dirty="0">
                <a:latin typeface="Tahoma" panose="020B0604030504040204" pitchFamily="34" charset="0"/>
                <a:ea typeface="Tahoma" panose="020B0604030504040204" pitchFamily="34" charset="0"/>
                <a:cs typeface="Tahoma" panose="020B0604030504040204" pitchFamily="34" charset="0"/>
              </a:rPr>
              <a:t>The size of the array must be of type </a:t>
            </a:r>
            <a:r>
              <a:rPr lang="en-US" sz="2000" b="1" dirty="0">
                <a:solidFill>
                  <a:srgbClr val="00B0F0"/>
                </a:solidFill>
                <a:latin typeface="Tahoma" panose="020B0604030504040204" pitchFamily="34" charset="0"/>
                <a:ea typeface="Tahoma" panose="020B0604030504040204" pitchFamily="34" charset="0"/>
                <a:cs typeface="Tahoma" panose="020B0604030504040204" pitchFamily="34" charset="0"/>
              </a:rPr>
              <a:t>int</a:t>
            </a:r>
            <a:r>
              <a:rPr lang="en-US" sz="2000" b="1"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387921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par>
                          <p:cTn id="16" fill="hold">
                            <p:stCondLst>
                              <p:cond delay="500"/>
                            </p:stCondLst>
                            <p:childTnLst>
                              <p:par>
                                <p:cTn id="17" presetID="22" presetClass="entr" presetSubtype="2"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right)">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wipe(left)">
                                      <p:cBhvr>
                                        <p:cTn id="24" dur="500"/>
                                        <p:tgtEl>
                                          <p:spTgt spid="32"/>
                                        </p:tgtEl>
                                      </p:cBhvr>
                                    </p:animEffect>
                                  </p:childTnLst>
                                </p:cTn>
                              </p:par>
                              <p:par>
                                <p:cTn id="25" presetID="22" presetClass="entr" presetSubtype="2"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right)">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5" grpId="0"/>
      <p:bldP spid="32"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3. ARRAY DECLARATION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8</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3.3 USING EXPRESSIONS AS SIZES</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179513" y="1340769"/>
            <a:ext cx="8784976" cy="646331"/>
            <a:chOff x="323529" y="1236822"/>
            <a:chExt cx="7848872" cy="607759"/>
          </a:xfrm>
        </p:grpSpPr>
        <p:sp>
          <p:nvSpPr>
            <p:cNvPr id="23" name="TextBox 22"/>
            <p:cNvSpPr txBox="1"/>
            <p:nvPr/>
          </p:nvSpPr>
          <p:spPr>
            <a:xfrm>
              <a:off x="611561" y="1236822"/>
              <a:ext cx="7560840" cy="607759"/>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B0F0"/>
                  </a:solidFill>
                </a:rPr>
                <a:t>final </a:t>
              </a:r>
              <a:r>
                <a:rPr lang="en-US" dirty="0" err="1">
                  <a:solidFill>
                    <a:srgbClr val="00B0F0"/>
                  </a:solidFill>
                </a:rPr>
                <a:t>int</a:t>
              </a:r>
              <a:r>
                <a:rPr lang="en-US" dirty="0">
                  <a:solidFill>
                    <a:srgbClr val="0000FF"/>
                  </a:solidFill>
                </a:rPr>
                <a:t> ARRAY_SIZE = 5;</a:t>
              </a:r>
            </a:p>
            <a:p>
              <a:r>
                <a:rPr lang="en-US" dirty="0" err="1">
                  <a:solidFill>
                    <a:srgbClr val="00B0F0"/>
                  </a:solidFill>
                </a:rPr>
                <a:t>int</a:t>
              </a:r>
              <a:r>
                <a:rPr lang="en-US" dirty="0">
                  <a:solidFill>
                    <a:srgbClr val="00B0F0"/>
                  </a:solidFill>
                </a:rPr>
                <a:t>[]</a:t>
              </a:r>
              <a:r>
                <a:rPr lang="en-US" dirty="0">
                  <a:solidFill>
                    <a:srgbClr val="0000FF"/>
                  </a:solidFill>
                </a:rPr>
                <a:t> </a:t>
              </a:r>
              <a:r>
                <a:rPr lang="en-US" dirty="0" err="1">
                  <a:solidFill>
                    <a:srgbClr val="0000FF"/>
                  </a:solidFill>
                </a:rPr>
                <a:t>num</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[ARRAY_SIZE*5];</a:t>
              </a:r>
            </a:p>
          </p:txBody>
        </p:sp>
        <p:sp>
          <p:nvSpPr>
            <p:cNvPr id="24" name="TextBox 23"/>
            <p:cNvSpPr txBox="1"/>
            <p:nvPr/>
          </p:nvSpPr>
          <p:spPr>
            <a:xfrm>
              <a:off x="323529" y="1236822"/>
              <a:ext cx="288032" cy="607759"/>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p:txBody>
        </p:sp>
      </p:grpSp>
      <p:sp>
        <p:nvSpPr>
          <p:cNvPr id="25" name="TextBox 24"/>
          <p:cNvSpPr txBox="1"/>
          <p:nvPr/>
        </p:nvSpPr>
        <p:spPr>
          <a:xfrm>
            <a:off x="251520" y="1988840"/>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has the same effect as:</a:t>
            </a:r>
          </a:p>
        </p:txBody>
      </p:sp>
      <p:grpSp>
        <p:nvGrpSpPr>
          <p:cNvPr id="26" name="Group 25"/>
          <p:cNvGrpSpPr/>
          <p:nvPr/>
        </p:nvGrpSpPr>
        <p:grpSpPr>
          <a:xfrm>
            <a:off x="179512" y="2420887"/>
            <a:ext cx="8784976" cy="369332"/>
            <a:chOff x="323529" y="1236822"/>
            <a:chExt cx="7848872" cy="347291"/>
          </a:xfrm>
        </p:grpSpPr>
        <p:sp>
          <p:nvSpPr>
            <p:cNvPr id="27" name="TextBox 26"/>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a:t>
              </a:r>
              <a:r>
                <a:rPr lang="en-US" dirty="0">
                  <a:solidFill>
                    <a:srgbClr val="0000FF"/>
                  </a:solidFill>
                </a:rPr>
                <a:t> </a:t>
              </a:r>
              <a:r>
                <a:rPr lang="en-US" dirty="0" err="1">
                  <a:solidFill>
                    <a:srgbClr val="0000FF"/>
                  </a:solidFill>
                </a:rPr>
                <a:t>num</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[25];</a:t>
              </a:r>
            </a:p>
          </p:txBody>
        </p:sp>
        <p:sp>
          <p:nvSpPr>
            <p:cNvPr id="28" name="TextBox 27"/>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1</a:t>
              </a:r>
            </a:p>
          </p:txBody>
        </p:sp>
      </p:grpSp>
      <p:sp>
        <p:nvSpPr>
          <p:cNvPr id="15" name="TextBox 14"/>
          <p:cNvSpPr txBox="1"/>
          <p:nvPr/>
        </p:nvSpPr>
        <p:spPr>
          <a:xfrm>
            <a:off x="251520" y="3275693"/>
            <a:ext cx="8640960" cy="70788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expression may be in terms of an </a:t>
            </a:r>
            <a:r>
              <a:rPr lang="en-US" sz="2000" dirty="0" err="1">
                <a:solidFill>
                  <a:srgbClr val="00B0F0"/>
                </a:solidFill>
                <a:latin typeface="Tahoma" panose="020B0604030504040204" pitchFamily="34" charset="0"/>
                <a:ea typeface="Tahoma" panose="020B0604030504040204" pitchFamily="34" charset="0"/>
                <a:cs typeface="Tahoma" panose="020B0604030504040204" pitchFamily="34" charset="0"/>
              </a:rPr>
              <a:t>int</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variable rather than a constant:</a:t>
            </a:r>
          </a:p>
        </p:txBody>
      </p:sp>
      <p:grpSp>
        <p:nvGrpSpPr>
          <p:cNvPr id="16" name="Group 15"/>
          <p:cNvGrpSpPr/>
          <p:nvPr/>
        </p:nvGrpSpPr>
        <p:grpSpPr>
          <a:xfrm>
            <a:off x="179512" y="4005065"/>
            <a:ext cx="8784976" cy="646331"/>
            <a:chOff x="323529" y="1236822"/>
            <a:chExt cx="7848872" cy="607759"/>
          </a:xfrm>
        </p:grpSpPr>
        <p:sp>
          <p:nvSpPr>
            <p:cNvPr id="18" name="TextBox 17"/>
            <p:cNvSpPr txBox="1"/>
            <p:nvPr/>
          </p:nvSpPr>
          <p:spPr>
            <a:xfrm>
              <a:off x="611561" y="1236822"/>
              <a:ext cx="7560840" cy="607759"/>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 </a:t>
              </a:r>
              <a:r>
                <a:rPr lang="en-US" dirty="0" err="1">
                  <a:solidFill>
                    <a:srgbClr val="0000FF"/>
                  </a:solidFill>
                </a:rPr>
                <a:t>i</a:t>
              </a:r>
              <a:r>
                <a:rPr lang="en-US" dirty="0">
                  <a:solidFill>
                    <a:srgbClr val="0000FF"/>
                  </a:solidFill>
                </a:rPr>
                <a:t> = 8;</a:t>
              </a:r>
            </a:p>
            <a:p>
              <a:r>
                <a:rPr lang="en-US" dirty="0" err="1">
                  <a:solidFill>
                    <a:srgbClr val="00B0F0"/>
                  </a:solidFill>
                </a:rPr>
                <a:t>int</a:t>
              </a:r>
              <a:r>
                <a:rPr lang="en-US" dirty="0">
                  <a:solidFill>
                    <a:srgbClr val="00B0F0"/>
                  </a:solidFill>
                </a:rPr>
                <a:t>[]</a:t>
              </a:r>
              <a:r>
                <a:rPr lang="en-US" dirty="0">
                  <a:solidFill>
                    <a:srgbClr val="0000FF"/>
                  </a:solidFill>
                </a:rPr>
                <a:t> </a:t>
              </a:r>
              <a:r>
                <a:rPr lang="en-US" dirty="0" err="1">
                  <a:solidFill>
                    <a:srgbClr val="0000FF"/>
                  </a:solidFill>
                </a:rPr>
                <a:t>num</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a:t>
              </a:r>
              <a:r>
                <a:rPr lang="en-US" dirty="0" err="1">
                  <a:solidFill>
                    <a:srgbClr val="0000FF"/>
                  </a:solidFill>
                </a:rPr>
                <a:t>i</a:t>
              </a:r>
              <a:r>
                <a:rPr lang="en-US" dirty="0">
                  <a:solidFill>
                    <a:srgbClr val="0000FF"/>
                  </a:solidFill>
                </a:rPr>
                <a:t>*2-1];</a:t>
              </a:r>
            </a:p>
          </p:txBody>
        </p:sp>
        <p:sp>
          <p:nvSpPr>
            <p:cNvPr id="19" name="TextBox 18"/>
            <p:cNvSpPr txBox="1"/>
            <p:nvPr/>
          </p:nvSpPr>
          <p:spPr>
            <a:xfrm>
              <a:off x="323529" y="1236822"/>
              <a:ext cx="288032" cy="607759"/>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p:txBody>
        </p:sp>
      </p:grpSp>
      <p:sp>
        <p:nvSpPr>
          <p:cNvPr id="20" name="TextBox 19"/>
          <p:cNvSpPr txBox="1"/>
          <p:nvPr/>
        </p:nvSpPr>
        <p:spPr>
          <a:xfrm>
            <a:off x="251520" y="4715853"/>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has the same effect as:</a:t>
            </a:r>
          </a:p>
        </p:txBody>
      </p:sp>
      <p:grpSp>
        <p:nvGrpSpPr>
          <p:cNvPr id="21" name="Group 20"/>
          <p:cNvGrpSpPr/>
          <p:nvPr/>
        </p:nvGrpSpPr>
        <p:grpSpPr>
          <a:xfrm>
            <a:off x="179512" y="5147900"/>
            <a:ext cx="8784976" cy="369332"/>
            <a:chOff x="323529" y="1236822"/>
            <a:chExt cx="7848872" cy="347291"/>
          </a:xfrm>
        </p:grpSpPr>
        <p:sp>
          <p:nvSpPr>
            <p:cNvPr id="29" name="TextBox 28"/>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a:t>
              </a:r>
              <a:r>
                <a:rPr lang="en-US" dirty="0">
                  <a:solidFill>
                    <a:srgbClr val="0000FF"/>
                  </a:solidFill>
                </a:rPr>
                <a:t> </a:t>
              </a:r>
              <a:r>
                <a:rPr lang="en-US" dirty="0" err="1">
                  <a:solidFill>
                    <a:srgbClr val="0000FF"/>
                  </a:solidFill>
                </a:rPr>
                <a:t>num</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[15];</a:t>
              </a:r>
            </a:p>
          </p:txBody>
        </p:sp>
        <p:sp>
          <p:nvSpPr>
            <p:cNvPr id="30" name="TextBox 29"/>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1</a:t>
              </a:r>
            </a:p>
          </p:txBody>
        </p:sp>
      </p:grpSp>
    </p:spTree>
    <p:extLst>
      <p:ext uri="{BB962C8B-B14F-4D97-AF65-F5344CB8AC3E}">
        <p14:creationId xmlns:p14="http://schemas.microsoft.com/office/powerpoint/2010/main" val="2780382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par>
                          <p:cTn id="16" fill="hold">
                            <p:stCondLst>
                              <p:cond delay="500"/>
                            </p:stCondLst>
                            <p:childTnLst>
                              <p:par>
                                <p:cTn id="17" presetID="22" presetClass="entr" presetSubtype="2"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right)">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childTnLst>
                          </p:cTn>
                        </p:par>
                        <p:par>
                          <p:cTn id="25" fill="hold">
                            <p:stCondLst>
                              <p:cond delay="500"/>
                            </p:stCondLst>
                            <p:childTnLst>
                              <p:par>
                                <p:cTn id="26" presetID="22" presetClass="entr" presetSubtype="2" fill="hold"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righ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childTnLst>
                          </p:cTn>
                        </p:par>
                        <p:par>
                          <p:cTn id="34" fill="hold">
                            <p:stCondLst>
                              <p:cond delay="500"/>
                            </p:stCondLst>
                            <p:childTnLst>
                              <p:par>
                                <p:cTn id="35" presetID="22" presetClass="entr" presetSubtype="2" fill="hold"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right)">
                                      <p:cBhvr>
                                        <p:cTn id="3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5" grpId="0"/>
      <p:bldP spid="15"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3. ARRAY DECLARATION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9</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3.4 SPECIFYING SIZES DURING EXECUTION</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179513" y="3114834"/>
            <a:ext cx="8784976" cy="1477328"/>
            <a:chOff x="323529" y="1236822"/>
            <a:chExt cx="7848872" cy="1389163"/>
          </a:xfrm>
        </p:grpSpPr>
        <p:sp>
          <p:nvSpPr>
            <p:cNvPr id="23" name="TextBox 22"/>
            <p:cNvSpPr txBox="1"/>
            <p:nvPr/>
          </p:nvSpPr>
          <p:spPr>
            <a:xfrm>
              <a:off x="611561" y="1236822"/>
              <a:ext cx="7560840" cy="1389163"/>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B0F0"/>
                  </a:solidFill>
                </a:rPr>
                <a:t>Scanner </a:t>
              </a:r>
              <a:r>
                <a:rPr lang="en-US" dirty="0">
                  <a:solidFill>
                    <a:srgbClr val="0000FF"/>
                  </a:solidFill>
                </a:rPr>
                <a:t>read = </a:t>
              </a:r>
              <a:r>
                <a:rPr lang="en-US" dirty="0">
                  <a:solidFill>
                    <a:srgbClr val="00B0F0"/>
                  </a:solidFill>
                </a:rPr>
                <a:t>new Scanner</a:t>
              </a:r>
              <a:r>
                <a:rPr lang="en-US" dirty="0">
                  <a:solidFill>
                    <a:srgbClr val="0000FF"/>
                  </a:solidFill>
                </a:rPr>
                <a:t>(System.in);</a:t>
              </a:r>
            </a:p>
            <a:p>
              <a:r>
                <a:rPr lang="en-US" dirty="0" err="1">
                  <a:solidFill>
                    <a:srgbClr val="00B0F0"/>
                  </a:solidFill>
                </a:rPr>
                <a:t>int</a:t>
              </a:r>
              <a:r>
                <a:rPr lang="en-US" dirty="0">
                  <a:solidFill>
                    <a:srgbClr val="0000FF"/>
                  </a:solidFill>
                </a:rPr>
                <a:t> </a:t>
              </a:r>
              <a:r>
                <a:rPr lang="en-US" dirty="0" err="1">
                  <a:solidFill>
                    <a:srgbClr val="0000FF"/>
                  </a:solidFill>
                </a:rPr>
                <a:t>arraySize</a:t>
              </a:r>
              <a:r>
                <a:rPr lang="en-US" dirty="0">
                  <a:solidFill>
                    <a:srgbClr val="0000FF"/>
                  </a:solidFill>
                </a:rPr>
                <a:t>;</a:t>
              </a:r>
            </a:p>
            <a:p>
              <a:r>
                <a:rPr lang="en-US" dirty="0" err="1">
                  <a:solidFill>
                    <a:srgbClr val="0000FF"/>
                  </a:solidFill>
                </a:rPr>
                <a:t>System.out.print</a:t>
              </a:r>
              <a:r>
                <a:rPr lang="en-US" dirty="0">
                  <a:solidFill>
                    <a:srgbClr val="0000FF"/>
                  </a:solidFill>
                </a:rPr>
                <a:t> (“Enter the size of the array&gt; ”);</a:t>
              </a:r>
            </a:p>
            <a:p>
              <a:r>
                <a:rPr lang="en-US" dirty="0" err="1">
                  <a:solidFill>
                    <a:srgbClr val="0000FF"/>
                  </a:solidFill>
                </a:rPr>
                <a:t>arraySize</a:t>
              </a:r>
              <a:r>
                <a:rPr lang="en-US" dirty="0">
                  <a:solidFill>
                    <a:srgbClr val="0000FF"/>
                  </a:solidFill>
                </a:rPr>
                <a:t> = </a:t>
              </a:r>
              <a:r>
                <a:rPr lang="en-US" dirty="0" err="1">
                  <a:solidFill>
                    <a:srgbClr val="0000FF"/>
                  </a:solidFill>
                </a:rPr>
                <a:t>read.</a:t>
              </a:r>
              <a:r>
                <a:rPr lang="en-US" dirty="0" err="1">
                  <a:solidFill>
                    <a:srgbClr val="00B050"/>
                  </a:solidFill>
                </a:rPr>
                <a:t>nextInt</a:t>
              </a:r>
              <a:r>
                <a:rPr lang="en-US" dirty="0">
                  <a:solidFill>
                    <a:srgbClr val="00B050"/>
                  </a:solidFill>
                </a:rPr>
                <a:t>()</a:t>
              </a:r>
              <a:r>
                <a:rPr lang="en-US" dirty="0">
                  <a:solidFill>
                    <a:srgbClr val="0000FF"/>
                  </a:solidFill>
                </a:rPr>
                <a:t>;</a:t>
              </a:r>
            </a:p>
            <a:p>
              <a:r>
                <a:rPr lang="en-US" dirty="0" err="1">
                  <a:solidFill>
                    <a:srgbClr val="00B0F0"/>
                  </a:solidFill>
                </a:rPr>
                <a:t>int</a:t>
              </a:r>
              <a:r>
                <a:rPr lang="en-US" dirty="0">
                  <a:solidFill>
                    <a:srgbClr val="00B0F0"/>
                  </a:solidFill>
                </a:rPr>
                <a:t>[] </a:t>
              </a:r>
              <a:r>
                <a:rPr lang="en-US" dirty="0">
                  <a:solidFill>
                    <a:srgbClr val="0000FF"/>
                  </a:solidFill>
                </a:rPr>
                <a:t>list = </a:t>
              </a:r>
              <a:r>
                <a:rPr lang="en-US" dirty="0">
                  <a:solidFill>
                    <a:srgbClr val="00B0F0"/>
                  </a:solidFill>
                </a:rPr>
                <a:t>new </a:t>
              </a:r>
              <a:r>
                <a:rPr lang="en-US" dirty="0" err="1">
                  <a:solidFill>
                    <a:srgbClr val="00B0F0"/>
                  </a:solidFill>
                </a:rPr>
                <a:t>int</a:t>
              </a:r>
              <a:r>
                <a:rPr lang="en-US" dirty="0">
                  <a:solidFill>
                    <a:srgbClr val="0000FF"/>
                  </a:solidFill>
                </a:rPr>
                <a:t>[</a:t>
              </a:r>
              <a:r>
                <a:rPr lang="en-US" dirty="0" err="1">
                  <a:solidFill>
                    <a:srgbClr val="0000FF"/>
                  </a:solidFill>
                </a:rPr>
                <a:t>arraySize</a:t>
              </a:r>
              <a:r>
                <a:rPr lang="en-US" dirty="0">
                  <a:solidFill>
                    <a:srgbClr val="0000FF"/>
                  </a:solidFill>
                </a:rPr>
                <a:t>];</a:t>
              </a:r>
            </a:p>
          </p:txBody>
        </p:sp>
        <p:sp>
          <p:nvSpPr>
            <p:cNvPr id="24" name="TextBox 23"/>
            <p:cNvSpPr txBox="1"/>
            <p:nvPr/>
          </p:nvSpPr>
          <p:spPr>
            <a:xfrm>
              <a:off x="323529" y="1236822"/>
              <a:ext cx="288032" cy="1389163"/>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a:p>
              <a:pPr algn="r"/>
              <a:r>
                <a:rPr lang="en-US" dirty="0">
                  <a:solidFill>
                    <a:srgbClr val="FF0000"/>
                  </a:solidFill>
                </a:rPr>
                <a:t>3</a:t>
              </a:r>
            </a:p>
            <a:p>
              <a:pPr algn="r"/>
              <a:r>
                <a:rPr lang="en-US" dirty="0">
                  <a:solidFill>
                    <a:srgbClr val="FF0000"/>
                  </a:solidFill>
                </a:rPr>
                <a:t>4</a:t>
              </a:r>
            </a:p>
            <a:p>
              <a:pPr algn="r"/>
              <a:r>
                <a:rPr lang="en-US" dirty="0">
                  <a:solidFill>
                    <a:srgbClr val="FF0000"/>
                  </a:solidFill>
                </a:rPr>
                <a:t>5</a:t>
              </a:r>
            </a:p>
          </p:txBody>
        </p:sp>
      </p:grpSp>
      <p:sp>
        <p:nvSpPr>
          <p:cNvPr id="10" name="TextBox 9"/>
          <p:cNvSpPr txBox="1"/>
          <p:nvPr/>
        </p:nvSpPr>
        <p:spPr>
          <a:xfrm>
            <a:off x="251520" y="1208946"/>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It is not necessary to know the size of the array at compile time.</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1" name="TextBox 10"/>
          <p:cNvSpPr txBox="1"/>
          <p:nvPr/>
        </p:nvSpPr>
        <p:spPr>
          <a:xfrm>
            <a:off x="251520" y="1733037"/>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During program execution, the user may be prompted to enter the size of the array. The object (array) is then instantiated using this value.</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3" name="TextBox 12"/>
          <p:cNvSpPr txBox="1"/>
          <p:nvPr/>
        </p:nvSpPr>
        <p:spPr>
          <a:xfrm>
            <a:off x="251520" y="2564904"/>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Consider the following example:</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6199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par>
                                <p:cTn id="21" presetID="22" presetClass="entr" presetSubtype="2"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right)">
                                      <p:cBhvr>
                                        <p:cTn id="2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p:bldP spid="11"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3. ARRAY DECLARATION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10</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3.5 INITIALIZATION WITH DECLARATION</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179513" y="1700808"/>
            <a:ext cx="8784976" cy="369332"/>
            <a:chOff x="323529" y="1236822"/>
            <a:chExt cx="7848872" cy="347291"/>
          </a:xfrm>
        </p:grpSpPr>
        <p:sp>
          <p:nvSpPr>
            <p:cNvPr id="23" name="TextBox 22"/>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B0F0"/>
                  </a:solidFill>
                </a:rPr>
                <a:t>double[] </a:t>
              </a:r>
              <a:r>
                <a:rPr lang="en-US" dirty="0">
                  <a:solidFill>
                    <a:srgbClr val="0000FF"/>
                  </a:solidFill>
                </a:rPr>
                <a:t>sales = </a:t>
              </a:r>
              <a:r>
                <a:rPr lang="en-US" b="1" dirty="0">
                  <a:solidFill>
                    <a:srgbClr val="FF0000"/>
                  </a:solidFill>
                </a:rPr>
                <a:t>{</a:t>
              </a:r>
              <a:r>
                <a:rPr lang="en-US" dirty="0">
                  <a:solidFill>
                    <a:srgbClr val="0000FF"/>
                  </a:solidFill>
                </a:rPr>
                <a:t>12.25</a:t>
              </a:r>
              <a:r>
                <a:rPr lang="en-US" dirty="0">
                  <a:solidFill>
                    <a:srgbClr val="FF0000"/>
                  </a:solidFill>
                </a:rPr>
                <a:t>,</a:t>
              </a:r>
              <a:r>
                <a:rPr lang="en-US" dirty="0">
                  <a:solidFill>
                    <a:srgbClr val="0000FF"/>
                  </a:solidFill>
                </a:rPr>
                <a:t> 24.2</a:t>
              </a:r>
              <a:r>
                <a:rPr lang="en-US" dirty="0">
                  <a:solidFill>
                    <a:srgbClr val="FF0000"/>
                  </a:solidFill>
                </a:rPr>
                <a:t>,</a:t>
              </a:r>
              <a:r>
                <a:rPr lang="en-US" dirty="0">
                  <a:solidFill>
                    <a:srgbClr val="0000FF"/>
                  </a:solidFill>
                </a:rPr>
                <a:t> 32.55</a:t>
              </a:r>
              <a:r>
                <a:rPr lang="en-US" dirty="0">
                  <a:solidFill>
                    <a:srgbClr val="FF0000"/>
                  </a:solidFill>
                </a:rPr>
                <a:t>,</a:t>
              </a:r>
              <a:r>
                <a:rPr lang="en-US" dirty="0">
                  <a:solidFill>
                    <a:srgbClr val="0000FF"/>
                  </a:solidFill>
                </a:rPr>
                <a:t> 50.33</a:t>
              </a:r>
              <a:r>
                <a:rPr lang="en-US" b="1" dirty="0">
                  <a:solidFill>
                    <a:srgbClr val="FF0000"/>
                  </a:solidFill>
                </a:rPr>
                <a:t>}</a:t>
              </a:r>
              <a:r>
                <a:rPr lang="en-US" dirty="0">
                  <a:solidFill>
                    <a:srgbClr val="0000FF"/>
                  </a:solidFill>
                </a:rPr>
                <a:t>;</a:t>
              </a:r>
            </a:p>
          </p:txBody>
        </p:sp>
        <p:sp>
          <p:nvSpPr>
            <p:cNvPr id="24" name="TextBox 23"/>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1</a:t>
              </a:r>
            </a:p>
          </p:txBody>
        </p:sp>
      </p:grpSp>
      <p:sp>
        <p:nvSpPr>
          <p:cNvPr id="10" name="TextBox 9"/>
          <p:cNvSpPr txBox="1"/>
          <p:nvPr/>
        </p:nvSpPr>
        <p:spPr>
          <a:xfrm>
            <a:off x="251520" y="1259468"/>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An array can also be initialized with specific values when it is declared:</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1" name="TextBox 10"/>
          <p:cNvSpPr txBox="1"/>
          <p:nvPr/>
        </p:nvSpPr>
        <p:spPr>
          <a:xfrm>
            <a:off x="251520" y="2204864"/>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Note that in this case, we use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braces { }</a:t>
            </a:r>
            <a:r>
              <a:rPr lang="en-US" sz="2000" dirty="0">
                <a:latin typeface="Tahoma" panose="020B0604030504040204" pitchFamily="34" charset="0"/>
                <a:ea typeface="Tahoma" panose="020B0604030504040204" pitchFamily="34" charset="0"/>
                <a:cs typeface="Tahoma" panose="020B0604030504040204" pitchFamily="34" charset="0"/>
              </a:rPr>
              <a:t> rather than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parenthesis [ ]</a:t>
            </a:r>
          </a:p>
        </p:txBody>
      </p:sp>
      <p:sp>
        <p:nvSpPr>
          <p:cNvPr id="13" name="TextBox 12"/>
          <p:cNvSpPr txBox="1"/>
          <p:nvPr/>
        </p:nvSpPr>
        <p:spPr>
          <a:xfrm>
            <a:off x="251520" y="3201167"/>
            <a:ext cx="8640960" cy="1015663"/>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When initializing arrays during declaration, the size of the array is determined by the number of initial values in the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initializer list </a:t>
            </a:r>
            <a:r>
              <a:rPr lang="en-US" sz="2000" dirty="0">
                <a:latin typeface="Tahoma" panose="020B0604030504040204" pitchFamily="34" charset="0"/>
                <a:ea typeface="Tahoma" panose="020B0604030504040204" pitchFamily="34" charset="0"/>
                <a:cs typeface="Tahoma" panose="020B0604030504040204" pitchFamily="34" charset="0"/>
              </a:rPr>
              <a:t>within the braces.</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15" name="TextBox 14"/>
          <p:cNvSpPr txBox="1"/>
          <p:nvPr/>
        </p:nvSpPr>
        <p:spPr>
          <a:xfrm>
            <a:off x="251520" y="4277029"/>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Also note that the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new </a:t>
            </a:r>
            <a:r>
              <a:rPr lang="en-US" sz="2000" dirty="0">
                <a:latin typeface="Tahoma" panose="020B0604030504040204" pitchFamily="34" charset="0"/>
                <a:ea typeface="Tahoma" panose="020B0604030504040204" pitchFamily="34" charset="0"/>
                <a:cs typeface="Tahoma" panose="020B0604030504040204" pitchFamily="34" charset="0"/>
              </a:rPr>
              <a:t>operator is not used in this case.</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p:cNvSpPr txBox="1"/>
          <p:nvPr/>
        </p:nvSpPr>
        <p:spPr>
          <a:xfrm>
            <a:off x="251520" y="4737338"/>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So, the above array declaration is equivalent to the following (without giving initial values):</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grpSp>
        <p:nvGrpSpPr>
          <p:cNvPr id="18" name="Group 17"/>
          <p:cNvGrpSpPr/>
          <p:nvPr/>
        </p:nvGrpSpPr>
        <p:grpSpPr>
          <a:xfrm>
            <a:off x="179512" y="5507940"/>
            <a:ext cx="8784976" cy="369332"/>
            <a:chOff x="323529" y="1236822"/>
            <a:chExt cx="7848872" cy="347291"/>
          </a:xfrm>
        </p:grpSpPr>
        <p:sp>
          <p:nvSpPr>
            <p:cNvPr id="19" name="TextBox 18"/>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B0F0"/>
                  </a:solidFill>
                </a:rPr>
                <a:t>double[] </a:t>
              </a:r>
              <a:r>
                <a:rPr lang="en-US" dirty="0">
                  <a:solidFill>
                    <a:srgbClr val="0000FF"/>
                  </a:solidFill>
                </a:rPr>
                <a:t>sales = </a:t>
              </a:r>
              <a:r>
                <a:rPr lang="en-US" dirty="0">
                  <a:solidFill>
                    <a:srgbClr val="00B0F0"/>
                  </a:solidFill>
                </a:rPr>
                <a:t>new double</a:t>
              </a:r>
              <a:r>
                <a:rPr lang="en-US" dirty="0">
                  <a:solidFill>
                    <a:srgbClr val="0000FF"/>
                  </a:solidFill>
                </a:rPr>
                <a:t>[4];</a:t>
              </a:r>
            </a:p>
          </p:txBody>
        </p:sp>
        <p:sp>
          <p:nvSpPr>
            <p:cNvPr id="20" name="TextBox 19"/>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1</a:t>
              </a:r>
            </a:p>
          </p:txBody>
        </p:sp>
      </p:grpSp>
      <p:sp>
        <p:nvSpPr>
          <p:cNvPr id="21" name="TextBox 20"/>
          <p:cNvSpPr txBox="1"/>
          <p:nvPr/>
        </p:nvSpPr>
        <p:spPr>
          <a:xfrm>
            <a:off x="251520" y="263691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Values are separated by commas</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2592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500"/>
                                        <p:tgtEl>
                                          <p:spTgt spid="10"/>
                                        </p:tgtEl>
                                      </p:cBhvr>
                                    </p:animEffect>
                                  </p:childTnLst>
                                </p:cTn>
                              </p:par>
                            </p:childTnLst>
                          </p:cTn>
                        </p:par>
                        <p:par>
                          <p:cTn id="11" fill="hold">
                            <p:stCondLst>
                              <p:cond delay="500"/>
                            </p:stCondLst>
                            <p:childTnLst>
                              <p:par>
                                <p:cTn id="12" presetID="22" presetClass="entr" presetSubtype="2" fill="hold"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righ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childTnLst>
                          </p:cTn>
                        </p:par>
                        <p:par>
                          <p:cTn id="40" fill="hold">
                            <p:stCondLst>
                              <p:cond delay="500"/>
                            </p:stCondLst>
                            <p:childTnLst>
                              <p:par>
                                <p:cTn id="41" presetID="22" presetClass="entr" presetSubtype="2" fill="hold"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right)">
                                      <p:cBhvr>
                                        <p:cTn id="4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p:bldP spid="11" grpId="0"/>
      <p:bldP spid="13" grpId="0"/>
      <p:bldP spid="15" grpId="0"/>
      <p:bldP spid="16"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4. ACCESSING ARRAY ELEMENTS</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11</a:t>
            </a:fld>
            <a:endParaRPr lang="en-US"/>
          </a:p>
        </p:txBody>
      </p:sp>
      <p:sp>
        <p:nvSpPr>
          <p:cNvPr id="22" name="TextBox 21"/>
          <p:cNvSpPr txBox="1"/>
          <p:nvPr/>
        </p:nvSpPr>
        <p:spPr>
          <a:xfrm>
            <a:off x="251520" y="836712"/>
            <a:ext cx="8640960" cy="1323439"/>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To process the data stored in an array, we refer to each individual element by specifying:</a:t>
            </a:r>
          </a:p>
          <a:p>
            <a:pPr marL="800100" lvl="1" indent="-342900" algn="just">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The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array name</a:t>
            </a:r>
          </a:p>
          <a:p>
            <a:pPr marL="800100" lvl="1" indent="-342900" algn="just">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The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order of the element </a:t>
            </a:r>
            <a:r>
              <a:rPr lang="en-US" sz="2000" dirty="0">
                <a:latin typeface="Tahoma" panose="020B0604030504040204" pitchFamily="34" charset="0"/>
                <a:ea typeface="Tahoma" panose="020B0604030504040204" pitchFamily="34" charset="0"/>
                <a:cs typeface="Tahoma" panose="020B0604030504040204" pitchFamily="34" charset="0"/>
              </a:rPr>
              <a:t>in the array: this is known as </a:t>
            </a: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subscript</a:t>
            </a:r>
          </a:p>
        </p:txBody>
      </p:sp>
      <p:graphicFrame>
        <p:nvGraphicFramePr>
          <p:cNvPr id="28" name="Table 27"/>
          <p:cNvGraphicFramePr>
            <a:graphicFrameLocks noGrp="1"/>
          </p:cNvGraphicFramePr>
          <p:nvPr>
            <p:extLst>
              <p:ext uri="{D42A27DB-BD31-4B8C-83A1-F6EECF244321}">
                <p14:modId xmlns:p14="http://schemas.microsoft.com/office/powerpoint/2010/main" val="1030886697"/>
              </p:ext>
            </p:extLst>
          </p:nvPr>
        </p:nvGraphicFramePr>
        <p:xfrm>
          <a:off x="5798778" y="2708920"/>
          <a:ext cx="2301614" cy="2225040"/>
        </p:xfrm>
        <a:graphic>
          <a:graphicData uri="http://schemas.openxmlformats.org/drawingml/2006/table">
            <a:tbl>
              <a:tblPr firstRow="1" bandRow="1">
                <a:tableStyleId>{5C22544A-7EE6-4342-B048-85BDC9FD1C3A}</a:tableStyleId>
              </a:tblPr>
              <a:tblGrid>
                <a:gridCol w="1221494">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r>
                        <a:rPr lang="en-US" dirty="0"/>
                        <a:t>Address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t>Value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n-US" dirty="0" err="1">
                          <a:solidFill>
                            <a:srgbClr val="0070C0"/>
                          </a:solidFill>
                        </a:rPr>
                        <a:t>num</a:t>
                      </a:r>
                      <a:r>
                        <a:rPr lang="en-US" dirty="0">
                          <a:solidFill>
                            <a:srgbClr val="0070C0"/>
                          </a:solidFill>
                        </a:rPr>
                        <a:t>[0]</a:t>
                      </a:r>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r>
                        <a:rPr lang="en-US" dirty="0" err="1">
                          <a:solidFill>
                            <a:srgbClr val="0070C0"/>
                          </a:solidFill>
                        </a:rPr>
                        <a:t>num</a:t>
                      </a:r>
                      <a:r>
                        <a:rPr lang="en-US" dirty="0">
                          <a:solidFill>
                            <a:srgbClr val="0070C0"/>
                          </a:solidFill>
                        </a:rPr>
                        <a:t>[1]</a:t>
                      </a:r>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r>
                        <a:rPr lang="en-US" dirty="0" err="1">
                          <a:solidFill>
                            <a:srgbClr val="0070C0"/>
                          </a:solidFill>
                        </a:rPr>
                        <a:t>num</a:t>
                      </a:r>
                      <a:r>
                        <a:rPr lang="en-US" dirty="0">
                          <a:solidFill>
                            <a:srgbClr val="0070C0"/>
                          </a:solidFill>
                        </a:rPr>
                        <a:t>[2]</a:t>
                      </a:r>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r>
                        <a:rPr lang="en-US" dirty="0" err="1">
                          <a:solidFill>
                            <a:srgbClr val="0070C0"/>
                          </a:solidFill>
                        </a:rPr>
                        <a:t>num</a:t>
                      </a:r>
                      <a:r>
                        <a:rPr lang="en-US" dirty="0">
                          <a:solidFill>
                            <a:srgbClr val="0070C0"/>
                          </a:solidFill>
                        </a:rPr>
                        <a:t>[3]</a:t>
                      </a:r>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r>
                        <a:rPr lang="en-US" dirty="0" err="1">
                          <a:solidFill>
                            <a:srgbClr val="0070C0"/>
                          </a:solidFill>
                        </a:rPr>
                        <a:t>num</a:t>
                      </a:r>
                      <a:r>
                        <a:rPr lang="en-US" dirty="0">
                          <a:solidFill>
                            <a:srgbClr val="0070C0"/>
                          </a:solidFill>
                        </a:rPr>
                        <a:t>[4]</a:t>
                      </a:r>
                    </a:p>
                  </a:txBody>
                  <a:tcPr>
                    <a:lnL w="12700" cap="flat" cmpd="sng" algn="ctr">
                      <a:solidFill>
                        <a:schemeClr val="tx1"/>
                      </a:solidFill>
                      <a:prstDash val="solid"/>
                      <a:round/>
                      <a:headEnd type="none" w="med" len="med"/>
                      <a:tailEnd type="none" w="med" len="med"/>
                    </a:lnL>
                  </a:tcPr>
                </a:tc>
                <a:tc>
                  <a:txBody>
                    <a:bodyPr/>
                    <a:lstStyle/>
                    <a:p>
                      <a:r>
                        <a:rPr lang="en-US"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bl>
          </a:graphicData>
        </a:graphic>
      </p:graphicFrame>
      <p:sp>
        <p:nvSpPr>
          <p:cNvPr id="15" name="TextBox 14"/>
          <p:cNvSpPr txBox="1"/>
          <p:nvPr/>
        </p:nvSpPr>
        <p:spPr>
          <a:xfrm>
            <a:off x="251520" y="2177569"/>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According to the previous example, the addresses of the array elements are shown in the figure:</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p:cNvSpPr txBox="1"/>
          <p:nvPr/>
        </p:nvSpPr>
        <p:spPr>
          <a:xfrm>
            <a:off x="251520" y="299695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subscript of the first element is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zero</a:t>
            </a:r>
            <a:r>
              <a:rPr lang="en-US" sz="2000" dirty="0">
                <a:latin typeface="Tahoma" panose="020B0604030504040204" pitchFamily="34" charset="0"/>
                <a:ea typeface="Tahoma" panose="020B0604030504040204" pitchFamily="34" charset="0"/>
                <a:cs typeface="Tahoma" panose="020B0604030504040204" pitchFamily="34" charset="0"/>
              </a:rPr>
              <a: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8" name="Rectangle 17"/>
          <p:cNvSpPr/>
          <p:nvPr/>
        </p:nvSpPr>
        <p:spPr>
          <a:xfrm>
            <a:off x="530734" y="5517232"/>
            <a:ext cx="8082531" cy="468052"/>
          </a:xfrm>
          <a:prstGeom prst="rect">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subscript must be of type integer</a:t>
            </a:r>
            <a:endParaRPr lang="en-US" dirty="0">
              <a:solidFill>
                <a:srgbClr val="FFFF00"/>
              </a:solidFill>
            </a:endParaRPr>
          </a:p>
        </p:txBody>
      </p:sp>
      <p:sp>
        <p:nvSpPr>
          <p:cNvPr id="19" name="TextBox 18"/>
          <p:cNvSpPr txBox="1"/>
          <p:nvPr/>
        </p:nvSpPr>
        <p:spPr>
          <a:xfrm>
            <a:off x="251520" y="3429000"/>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subscript must be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int</a:t>
            </a:r>
            <a:r>
              <a:rPr lang="en-US" sz="2000" dirty="0">
                <a:latin typeface="Tahoma" panose="020B0604030504040204" pitchFamily="34" charset="0"/>
                <a:ea typeface="Tahoma" panose="020B0604030504040204" pitchFamily="34" charset="0"/>
                <a:cs typeface="Tahoma" panose="020B0604030504040204" pitchFamily="34" charset="0"/>
              </a:rPr>
              <a: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0" name="TextBox 19"/>
          <p:cNvSpPr txBox="1"/>
          <p:nvPr/>
        </p:nvSpPr>
        <p:spPr>
          <a:xfrm>
            <a:off x="251520" y="3861048"/>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 subscript is also known as </a:t>
            </a: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index</a:t>
            </a:r>
            <a:r>
              <a:rPr lang="en-US" sz="2000" dirty="0">
                <a:latin typeface="Tahoma" panose="020B0604030504040204" pitchFamily="34" charset="0"/>
                <a:ea typeface="Tahoma" panose="020B0604030504040204" pitchFamily="34" charset="0"/>
                <a:cs typeface="Tahoma" panose="020B0604030504040204" pitchFamily="34" charset="0"/>
              </a:rPr>
              <a: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3194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wipe(left)">
                                      <p:cBhvr>
                                        <p:cTn id="7" dur="500"/>
                                        <p:tgtEl>
                                          <p:spTgt spid="2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animEffect transition="in" filter="wipe(left)">
                                      <p:cBhvr>
                                        <p:cTn id="11" dur="500"/>
                                        <p:tgtEl>
                                          <p:spTgt spid="2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animEffect transition="in" filter="wipe(left)">
                                      <p:cBhvr>
                                        <p:cTn id="15" dur="500"/>
                                        <p:tgtEl>
                                          <p:spTgt spid="2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up)">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left)">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1000"/>
                                        <p:tgtEl>
                                          <p:spTgt spid="18"/>
                                        </p:tgtEl>
                                      </p:cBhvr>
                                    </p:animEffect>
                                    <p:anim calcmode="lin" valueType="num">
                                      <p:cBhvr>
                                        <p:cTn id="45" dur="1000" fill="hold"/>
                                        <p:tgtEl>
                                          <p:spTgt spid="18"/>
                                        </p:tgtEl>
                                        <p:attrNameLst>
                                          <p:attrName>ppt_x</p:attrName>
                                        </p:attrNameLst>
                                      </p:cBhvr>
                                      <p:tavLst>
                                        <p:tav tm="0">
                                          <p:val>
                                            <p:strVal val="#ppt_x"/>
                                          </p:val>
                                        </p:tav>
                                        <p:tav tm="100000">
                                          <p:val>
                                            <p:strVal val="#ppt_x"/>
                                          </p:val>
                                        </p:tav>
                                      </p:tavLst>
                                    </p:anim>
                                    <p:anim calcmode="lin" valueType="num">
                                      <p:cBhvr>
                                        <p:cTn id="4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uiExpand="1" build="p"/>
      <p:bldP spid="15" grpId="0"/>
      <p:bldP spid="16" grpId="0"/>
      <p:bldP spid="18" grpId="0" animBg="1"/>
      <p:bldP spid="1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4. ACCESSING ARRAY ELEMENTS</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12</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4.1 EXAMPLES</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51520" y="119675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Consider the following statements and their reflection in the memory:</a:t>
            </a:r>
          </a:p>
        </p:txBody>
      </p:sp>
      <p:grpSp>
        <p:nvGrpSpPr>
          <p:cNvPr id="23" name="Group 22"/>
          <p:cNvGrpSpPr/>
          <p:nvPr/>
        </p:nvGrpSpPr>
        <p:grpSpPr>
          <a:xfrm>
            <a:off x="179513" y="1628800"/>
            <a:ext cx="8784976" cy="369332"/>
            <a:chOff x="323529" y="1236822"/>
            <a:chExt cx="7848872" cy="347291"/>
          </a:xfrm>
        </p:grpSpPr>
        <p:sp>
          <p:nvSpPr>
            <p:cNvPr id="24" name="TextBox 23"/>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a:t>
              </a:r>
              <a:r>
                <a:rPr lang="en-US" dirty="0">
                  <a:solidFill>
                    <a:srgbClr val="0000FF"/>
                  </a:solidFill>
                </a:rPr>
                <a:t> </a:t>
              </a:r>
              <a:r>
                <a:rPr lang="en-US" dirty="0" err="1">
                  <a:solidFill>
                    <a:srgbClr val="0000FF"/>
                  </a:solidFill>
                </a:rPr>
                <a:t>num</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[5];</a:t>
              </a:r>
            </a:p>
          </p:txBody>
        </p:sp>
        <p:sp>
          <p:nvSpPr>
            <p:cNvPr id="25" name="TextBox 24"/>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1</a:t>
              </a:r>
            </a:p>
          </p:txBody>
        </p:sp>
      </p:grpSp>
      <p:graphicFrame>
        <p:nvGraphicFramePr>
          <p:cNvPr id="2" name="Table 1"/>
          <p:cNvGraphicFramePr>
            <a:graphicFrameLocks noGrp="1"/>
          </p:cNvGraphicFramePr>
          <p:nvPr>
            <p:extLst>
              <p:ext uri="{D42A27DB-BD31-4B8C-83A1-F6EECF244321}">
                <p14:modId xmlns:p14="http://schemas.microsoft.com/office/powerpoint/2010/main" val="1396932471"/>
              </p:ext>
            </p:extLst>
          </p:nvPr>
        </p:nvGraphicFramePr>
        <p:xfrm>
          <a:off x="539552" y="2060848"/>
          <a:ext cx="5698626" cy="741680"/>
        </p:xfrm>
        <a:graphic>
          <a:graphicData uri="http://schemas.openxmlformats.org/drawingml/2006/table">
            <a:tbl>
              <a:tblPr firstRow="1" bandRow="1">
                <a:tableStyleId>{5C22544A-7EE6-4342-B048-85BDC9FD1C3A}</a:tableStyleId>
              </a:tblPr>
              <a:tblGrid>
                <a:gridCol w="949771">
                  <a:extLst>
                    <a:ext uri="{9D8B030D-6E8A-4147-A177-3AD203B41FA5}">
                      <a16:colId xmlns:a16="http://schemas.microsoft.com/office/drawing/2014/main" val="20000"/>
                    </a:ext>
                  </a:extLst>
                </a:gridCol>
                <a:gridCol w="949771">
                  <a:extLst>
                    <a:ext uri="{9D8B030D-6E8A-4147-A177-3AD203B41FA5}">
                      <a16:colId xmlns:a16="http://schemas.microsoft.com/office/drawing/2014/main" val="20001"/>
                    </a:ext>
                  </a:extLst>
                </a:gridCol>
                <a:gridCol w="949771">
                  <a:extLst>
                    <a:ext uri="{9D8B030D-6E8A-4147-A177-3AD203B41FA5}">
                      <a16:colId xmlns:a16="http://schemas.microsoft.com/office/drawing/2014/main" val="20002"/>
                    </a:ext>
                  </a:extLst>
                </a:gridCol>
                <a:gridCol w="949771">
                  <a:extLst>
                    <a:ext uri="{9D8B030D-6E8A-4147-A177-3AD203B41FA5}">
                      <a16:colId xmlns:a16="http://schemas.microsoft.com/office/drawing/2014/main" val="20003"/>
                    </a:ext>
                  </a:extLst>
                </a:gridCol>
                <a:gridCol w="949771">
                  <a:extLst>
                    <a:ext uri="{9D8B030D-6E8A-4147-A177-3AD203B41FA5}">
                      <a16:colId xmlns:a16="http://schemas.microsoft.com/office/drawing/2014/main" val="20004"/>
                    </a:ext>
                  </a:extLst>
                </a:gridCol>
                <a:gridCol w="949771">
                  <a:extLst>
                    <a:ext uri="{9D8B030D-6E8A-4147-A177-3AD203B41FA5}">
                      <a16:colId xmlns:a16="http://schemas.microsoft.com/office/drawing/2014/main" val="20005"/>
                    </a:ext>
                  </a:extLst>
                </a:gridCol>
              </a:tblGrid>
              <a:tr h="370840">
                <a:tc>
                  <a:txBody>
                    <a:bodyPr/>
                    <a:lstStyle/>
                    <a:p>
                      <a:endParaRPr lang="en-US" sz="16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370840">
                <a:tc>
                  <a:txBody>
                    <a:bodyPr/>
                    <a:lstStyle/>
                    <a:p>
                      <a:r>
                        <a:rPr lang="en-US" b="0" cap="none" spc="0" dirty="0" err="1">
                          <a:ln>
                            <a:noFill/>
                          </a:ln>
                          <a:solidFill>
                            <a:schemeClr val="tx1"/>
                          </a:solidFill>
                          <a:effectLst/>
                        </a:rPr>
                        <a:t>num</a:t>
                      </a:r>
                      <a:r>
                        <a:rPr lang="en-US" b="0" cap="none" spc="0" dirty="0">
                          <a:ln>
                            <a:noFill/>
                          </a:ln>
                          <a:solidFill>
                            <a:schemeClr val="tx1"/>
                          </a:solidFill>
                          <a:effectLst/>
                          <a:sym typeface="Wingdings" panose="05000000000000000000" pitchFamily="2" charset="2"/>
                        </a:rPr>
                        <a:t></a:t>
                      </a:r>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grpSp>
        <p:nvGrpSpPr>
          <p:cNvPr id="16" name="Group 15"/>
          <p:cNvGrpSpPr/>
          <p:nvPr/>
        </p:nvGrpSpPr>
        <p:grpSpPr>
          <a:xfrm>
            <a:off x="179512" y="2953752"/>
            <a:ext cx="8784976" cy="369332"/>
            <a:chOff x="323529" y="1236822"/>
            <a:chExt cx="7848872" cy="347291"/>
          </a:xfrm>
        </p:grpSpPr>
        <p:sp>
          <p:nvSpPr>
            <p:cNvPr id="18" name="TextBox 17"/>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00FF"/>
                  </a:solidFill>
                </a:rPr>
                <a:t>num</a:t>
              </a:r>
              <a:r>
                <a:rPr lang="en-US" dirty="0">
                  <a:solidFill>
                    <a:srgbClr val="0000FF"/>
                  </a:solidFill>
                </a:rPr>
                <a:t>[3] = 35;</a:t>
              </a:r>
            </a:p>
          </p:txBody>
        </p:sp>
        <p:sp>
          <p:nvSpPr>
            <p:cNvPr id="19" name="TextBox 18"/>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2</a:t>
              </a:r>
            </a:p>
          </p:txBody>
        </p:sp>
      </p:grpSp>
      <p:graphicFrame>
        <p:nvGraphicFramePr>
          <p:cNvPr id="20" name="Table 19"/>
          <p:cNvGraphicFramePr>
            <a:graphicFrameLocks noGrp="1"/>
          </p:cNvGraphicFramePr>
          <p:nvPr>
            <p:extLst>
              <p:ext uri="{D42A27DB-BD31-4B8C-83A1-F6EECF244321}">
                <p14:modId xmlns:p14="http://schemas.microsoft.com/office/powerpoint/2010/main" val="503292848"/>
              </p:ext>
            </p:extLst>
          </p:nvPr>
        </p:nvGraphicFramePr>
        <p:xfrm>
          <a:off x="539551" y="3407400"/>
          <a:ext cx="5698626" cy="741680"/>
        </p:xfrm>
        <a:graphic>
          <a:graphicData uri="http://schemas.openxmlformats.org/drawingml/2006/table">
            <a:tbl>
              <a:tblPr firstRow="1" bandRow="1">
                <a:tableStyleId>{5C22544A-7EE6-4342-B048-85BDC9FD1C3A}</a:tableStyleId>
              </a:tblPr>
              <a:tblGrid>
                <a:gridCol w="949771">
                  <a:extLst>
                    <a:ext uri="{9D8B030D-6E8A-4147-A177-3AD203B41FA5}">
                      <a16:colId xmlns:a16="http://schemas.microsoft.com/office/drawing/2014/main" val="20000"/>
                    </a:ext>
                  </a:extLst>
                </a:gridCol>
                <a:gridCol w="949771">
                  <a:extLst>
                    <a:ext uri="{9D8B030D-6E8A-4147-A177-3AD203B41FA5}">
                      <a16:colId xmlns:a16="http://schemas.microsoft.com/office/drawing/2014/main" val="20001"/>
                    </a:ext>
                  </a:extLst>
                </a:gridCol>
                <a:gridCol w="949771">
                  <a:extLst>
                    <a:ext uri="{9D8B030D-6E8A-4147-A177-3AD203B41FA5}">
                      <a16:colId xmlns:a16="http://schemas.microsoft.com/office/drawing/2014/main" val="20002"/>
                    </a:ext>
                  </a:extLst>
                </a:gridCol>
                <a:gridCol w="949771">
                  <a:extLst>
                    <a:ext uri="{9D8B030D-6E8A-4147-A177-3AD203B41FA5}">
                      <a16:colId xmlns:a16="http://schemas.microsoft.com/office/drawing/2014/main" val="20003"/>
                    </a:ext>
                  </a:extLst>
                </a:gridCol>
                <a:gridCol w="949771">
                  <a:extLst>
                    <a:ext uri="{9D8B030D-6E8A-4147-A177-3AD203B41FA5}">
                      <a16:colId xmlns:a16="http://schemas.microsoft.com/office/drawing/2014/main" val="20004"/>
                    </a:ext>
                  </a:extLst>
                </a:gridCol>
                <a:gridCol w="949771">
                  <a:extLst>
                    <a:ext uri="{9D8B030D-6E8A-4147-A177-3AD203B41FA5}">
                      <a16:colId xmlns:a16="http://schemas.microsoft.com/office/drawing/2014/main" val="20005"/>
                    </a:ext>
                  </a:extLst>
                </a:gridCol>
              </a:tblGrid>
              <a:tr h="370840">
                <a:tc>
                  <a:txBody>
                    <a:bodyPr/>
                    <a:lstStyle/>
                    <a:p>
                      <a:endParaRPr lang="en-US" sz="16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370840">
                <a:tc>
                  <a:txBody>
                    <a:bodyPr/>
                    <a:lstStyle/>
                    <a:p>
                      <a:r>
                        <a:rPr lang="en-US" b="0" cap="none" spc="0" dirty="0" err="1">
                          <a:ln>
                            <a:noFill/>
                          </a:ln>
                          <a:solidFill>
                            <a:schemeClr val="tx1"/>
                          </a:solidFill>
                          <a:effectLst/>
                        </a:rPr>
                        <a:t>num</a:t>
                      </a:r>
                      <a:r>
                        <a:rPr lang="en-US" b="0" cap="none" spc="0" dirty="0">
                          <a:ln>
                            <a:noFill/>
                          </a:ln>
                          <a:solidFill>
                            <a:schemeClr val="tx1"/>
                          </a:solidFill>
                          <a:effectLst/>
                          <a:sym typeface="Wingdings" panose="05000000000000000000" pitchFamily="2" charset="2"/>
                        </a:rPr>
                        <a:t></a:t>
                      </a:r>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rgbClr val="0070C0"/>
                          </a:solidFill>
                          <a:effectLst/>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grpSp>
        <p:nvGrpSpPr>
          <p:cNvPr id="21" name="Group 20"/>
          <p:cNvGrpSpPr/>
          <p:nvPr/>
        </p:nvGrpSpPr>
        <p:grpSpPr>
          <a:xfrm>
            <a:off x="179512" y="4321904"/>
            <a:ext cx="8784976" cy="369332"/>
            <a:chOff x="323529" y="1236822"/>
            <a:chExt cx="7848872" cy="347291"/>
          </a:xfrm>
        </p:grpSpPr>
        <p:sp>
          <p:nvSpPr>
            <p:cNvPr id="30" name="TextBox 29"/>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00FF"/>
                  </a:solidFill>
                </a:rPr>
                <a:t>num</a:t>
              </a:r>
              <a:r>
                <a:rPr lang="en-US" dirty="0">
                  <a:solidFill>
                    <a:srgbClr val="0000FF"/>
                  </a:solidFill>
                </a:rPr>
                <a:t>[1] = 77;</a:t>
              </a:r>
            </a:p>
          </p:txBody>
        </p:sp>
        <p:sp>
          <p:nvSpPr>
            <p:cNvPr id="31" name="TextBox 30"/>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3</a:t>
              </a:r>
            </a:p>
          </p:txBody>
        </p:sp>
      </p:grpSp>
      <p:graphicFrame>
        <p:nvGraphicFramePr>
          <p:cNvPr id="32" name="Table 31"/>
          <p:cNvGraphicFramePr>
            <a:graphicFrameLocks noGrp="1"/>
          </p:cNvGraphicFramePr>
          <p:nvPr>
            <p:extLst>
              <p:ext uri="{D42A27DB-BD31-4B8C-83A1-F6EECF244321}">
                <p14:modId xmlns:p14="http://schemas.microsoft.com/office/powerpoint/2010/main" val="1975565458"/>
              </p:ext>
            </p:extLst>
          </p:nvPr>
        </p:nvGraphicFramePr>
        <p:xfrm>
          <a:off x="539551" y="4775552"/>
          <a:ext cx="5698626" cy="741680"/>
        </p:xfrm>
        <a:graphic>
          <a:graphicData uri="http://schemas.openxmlformats.org/drawingml/2006/table">
            <a:tbl>
              <a:tblPr firstRow="1" bandRow="1">
                <a:tableStyleId>{5C22544A-7EE6-4342-B048-85BDC9FD1C3A}</a:tableStyleId>
              </a:tblPr>
              <a:tblGrid>
                <a:gridCol w="949771">
                  <a:extLst>
                    <a:ext uri="{9D8B030D-6E8A-4147-A177-3AD203B41FA5}">
                      <a16:colId xmlns:a16="http://schemas.microsoft.com/office/drawing/2014/main" val="20000"/>
                    </a:ext>
                  </a:extLst>
                </a:gridCol>
                <a:gridCol w="949771">
                  <a:extLst>
                    <a:ext uri="{9D8B030D-6E8A-4147-A177-3AD203B41FA5}">
                      <a16:colId xmlns:a16="http://schemas.microsoft.com/office/drawing/2014/main" val="20001"/>
                    </a:ext>
                  </a:extLst>
                </a:gridCol>
                <a:gridCol w="949771">
                  <a:extLst>
                    <a:ext uri="{9D8B030D-6E8A-4147-A177-3AD203B41FA5}">
                      <a16:colId xmlns:a16="http://schemas.microsoft.com/office/drawing/2014/main" val="20002"/>
                    </a:ext>
                  </a:extLst>
                </a:gridCol>
                <a:gridCol w="949771">
                  <a:extLst>
                    <a:ext uri="{9D8B030D-6E8A-4147-A177-3AD203B41FA5}">
                      <a16:colId xmlns:a16="http://schemas.microsoft.com/office/drawing/2014/main" val="20003"/>
                    </a:ext>
                  </a:extLst>
                </a:gridCol>
                <a:gridCol w="949771">
                  <a:extLst>
                    <a:ext uri="{9D8B030D-6E8A-4147-A177-3AD203B41FA5}">
                      <a16:colId xmlns:a16="http://schemas.microsoft.com/office/drawing/2014/main" val="20004"/>
                    </a:ext>
                  </a:extLst>
                </a:gridCol>
                <a:gridCol w="949771">
                  <a:extLst>
                    <a:ext uri="{9D8B030D-6E8A-4147-A177-3AD203B41FA5}">
                      <a16:colId xmlns:a16="http://schemas.microsoft.com/office/drawing/2014/main" val="20005"/>
                    </a:ext>
                  </a:extLst>
                </a:gridCol>
              </a:tblGrid>
              <a:tr h="370840">
                <a:tc>
                  <a:txBody>
                    <a:bodyPr/>
                    <a:lstStyle/>
                    <a:p>
                      <a:endParaRPr lang="en-US" sz="16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err="1">
                          <a:ln>
                            <a:noFill/>
                          </a:ln>
                          <a:solidFill>
                            <a:schemeClr val="tx1"/>
                          </a:solidFill>
                          <a:effectLst/>
                        </a:rPr>
                        <a:t>num</a:t>
                      </a:r>
                      <a:r>
                        <a:rPr lang="en-US" sz="1600" b="0" cap="none" spc="0" dirty="0">
                          <a:ln>
                            <a:noFill/>
                          </a:ln>
                          <a:solidFill>
                            <a:schemeClr val="tx1"/>
                          </a:solidFill>
                          <a:effectLst/>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370840">
                <a:tc>
                  <a:txBody>
                    <a:bodyPr/>
                    <a:lstStyle/>
                    <a:p>
                      <a:r>
                        <a:rPr lang="en-US" b="0" cap="none" spc="0" dirty="0" err="1">
                          <a:ln>
                            <a:noFill/>
                          </a:ln>
                          <a:solidFill>
                            <a:schemeClr val="tx1"/>
                          </a:solidFill>
                          <a:effectLst/>
                        </a:rPr>
                        <a:t>num</a:t>
                      </a:r>
                      <a:r>
                        <a:rPr lang="en-US" b="0" cap="none" spc="0" dirty="0">
                          <a:ln>
                            <a:noFill/>
                          </a:ln>
                          <a:solidFill>
                            <a:schemeClr val="tx1"/>
                          </a:solidFill>
                          <a:effectLst/>
                          <a:sym typeface="Wingdings" panose="05000000000000000000" pitchFamily="2" charset="2"/>
                        </a:rPr>
                        <a:t></a:t>
                      </a:r>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rgbClr val="0070C0"/>
                          </a:solidFill>
                          <a:effectLst/>
                        </a:rPr>
                        <a:t>77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rgbClr val="0070C0"/>
                          </a:solidFill>
                          <a:effectLst/>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
        <p:nvSpPr>
          <p:cNvPr id="26" name="Rectangle 25"/>
          <p:cNvSpPr/>
          <p:nvPr/>
        </p:nvSpPr>
        <p:spPr>
          <a:xfrm>
            <a:off x="611560" y="5661248"/>
            <a:ext cx="8082531" cy="468052"/>
          </a:xfrm>
          <a:prstGeom prst="rect">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Remember that the array name points to the first element of the array</a:t>
            </a:r>
            <a:endParaRPr lang="en-US" dirty="0">
              <a:solidFill>
                <a:srgbClr val="FFFF00"/>
              </a:solidFill>
            </a:endParaRPr>
          </a:p>
        </p:txBody>
      </p:sp>
      <p:sp>
        <p:nvSpPr>
          <p:cNvPr id="27" name="Rectangle 26"/>
          <p:cNvSpPr/>
          <p:nvPr/>
        </p:nvSpPr>
        <p:spPr>
          <a:xfrm>
            <a:off x="611560" y="6201308"/>
            <a:ext cx="8082531" cy="468052"/>
          </a:xfrm>
          <a:prstGeom prst="rect">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 other words, the base address of </a:t>
            </a:r>
            <a:r>
              <a:rPr lang="en-US" dirty="0" err="1">
                <a:solidFill>
                  <a:srgbClr val="FFFF00"/>
                </a:solidFill>
              </a:rPr>
              <a:t>num</a:t>
            </a:r>
            <a:r>
              <a:rPr lang="en-US" dirty="0"/>
              <a:t> is that of </a:t>
            </a:r>
            <a:r>
              <a:rPr lang="en-US" dirty="0" err="1">
                <a:solidFill>
                  <a:srgbClr val="FFFF00"/>
                </a:solidFill>
              </a:rPr>
              <a:t>num</a:t>
            </a:r>
            <a:r>
              <a:rPr lang="en-US" dirty="0">
                <a:solidFill>
                  <a:srgbClr val="FFFF00"/>
                </a:solidFill>
              </a:rPr>
              <a:t>[0]</a:t>
            </a:r>
          </a:p>
        </p:txBody>
      </p:sp>
    </p:spTree>
    <p:extLst>
      <p:ext uri="{BB962C8B-B14F-4D97-AF65-F5344CB8AC3E}">
        <p14:creationId xmlns:p14="http://schemas.microsoft.com/office/powerpoint/2010/main" val="1119150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500"/>
                                        <p:tgtEl>
                                          <p:spTgt spid="22"/>
                                        </p:tgtEl>
                                      </p:cBhvr>
                                    </p:animEffect>
                                  </p:childTnLst>
                                </p:cTn>
                              </p:par>
                            </p:childTnLst>
                          </p:cTn>
                        </p:par>
                        <p:par>
                          <p:cTn id="11" fill="hold">
                            <p:stCondLst>
                              <p:cond delay="500"/>
                            </p:stCondLst>
                            <p:childTnLst>
                              <p:par>
                                <p:cTn id="12" presetID="22" presetClass="entr" presetSubtype="2"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right)">
                                      <p:cBhvr>
                                        <p:cTn id="14" dur="500"/>
                                        <p:tgtEl>
                                          <p:spTgt spid="23"/>
                                        </p:tgtEl>
                                      </p:cBhvr>
                                    </p:animEffect>
                                  </p:childTnLst>
                                </p:cTn>
                              </p:par>
                              <p:par>
                                <p:cTn id="15" presetID="47"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right)">
                                      <p:cBhvr>
                                        <p:cTn id="24" dur="500"/>
                                        <p:tgtEl>
                                          <p:spTgt spid="16"/>
                                        </p:tgtEl>
                                      </p:cBhvr>
                                    </p:animEffect>
                                  </p:childTnLst>
                                </p:cTn>
                              </p:par>
                              <p:par>
                                <p:cTn id="25" presetID="47"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right)">
                                      <p:cBhvr>
                                        <p:cTn id="34" dur="500"/>
                                        <p:tgtEl>
                                          <p:spTgt spid="21"/>
                                        </p:tgtEl>
                                      </p:cBhvr>
                                    </p:animEffect>
                                  </p:childTnLst>
                                </p:cTn>
                              </p:par>
                              <p:par>
                                <p:cTn id="35" presetID="47"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1000"/>
                                        <p:tgtEl>
                                          <p:spTgt spid="32"/>
                                        </p:tgtEl>
                                      </p:cBhvr>
                                    </p:animEffect>
                                    <p:anim calcmode="lin" valueType="num">
                                      <p:cBhvr>
                                        <p:cTn id="38" dur="1000" fill="hold"/>
                                        <p:tgtEl>
                                          <p:spTgt spid="32"/>
                                        </p:tgtEl>
                                        <p:attrNameLst>
                                          <p:attrName>ppt_x</p:attrName>
                                        </p:attrNameLst>
                                      </p:cBhvr>
                                      <p:tavLst>
                                        <p:tav tm="0">
                                          <p:val>
                                            <p:strVal val="#ppt_x"/>
                                          </p:val>
                                        </p:tav>
                                        <p:tav tm="100000">
                                          <p:val>
                                            <p:strVal val="#ppt_x"/>
                                          </p:val>
                                        </p:tav>
                                      </p:tavLst>
                                    </p:anim>
                                    <p:anim calcmode="lin" valueType="num">
                                      <p:cBhvr>
                                        <p:cTn id="3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1000"/>
                                        <p:tgtEl>
                                          <p:spTgt spid="26"/>
                                        </p:tgtEl>
                                      </p:cBhvr>
                                    </p:animEffect>
                                    <p:anim calcmode="lin" valueType="num">
                                      <p:cBhvr>
                                        <p:cTn id="45" dur="1000" fill="hold"/>
                                        <p:tgtEl>
                                          <p:spTgt spid="26"/>
                                        </p:tgtEl>
                                        <p:attrNameLst>
                                          <p:attrName>ppt_x</p:attrName>
                                        </p:attrNameLst>
                                      </p:cBhvr>
                                      <p:tavLst>
                                        <p:tav tm="0">
                                          <p:val>
                                            <p:strVal val="#ppt_x"/>
                                          </p:val>
                                        </p:tav>
                                        <p:tav tm="100000">
                                          <p:val>
                                            <p:strVal val="#ppt_x"/>
                                          </p:val>
                                        </p:tav>
                                      </p:tavLst>
                                    </p:anim>
                                    <p:anim calcmode="lin" valueType="num">
                                      <p:cBhvr>
                                        <p:cTn id="4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1000"/>
                                        <p:tgtEl>
                                          <p:spTgt spid="27"/>
                                        </p:tgtEl>
                                      </p:cBhvr>
                                    </p:animEffect>
                                    <p:anim calcmode="lin" valueType="num">
                                      <p:cBhvr>
                                        <p:cTn id="52" dur="1000" fill="hold"/>
                                        <p:tgtEl>
                                          <p:spTgt spid="27"/>
                                        </p:tgtEl>
                                        <p:attrNameLst>
                                          <p:attrName>ppt_x</p:attrName>
                                        </p:attrNameLst>
                                      </p:cBhvr>
                                      <p:tavLst>
                                        <p:tav tm="0">
                                          <p:val>
                                            <p:strVal val="#ppt_x"/>
                                          </p:val>
                                        </p:tav>
                                        <p:tav tm="100000">
                                          <p:val>
                                            <p:strVal val="#ppt_x"/>
                                          </p:val>
                                        </p:tav>
                                      </p:tavLst>
                                    </p:anim>
                                    <p:anim calcmode="lin" valueType="num">
                                      <p:cBhvr>
                                        <p:cTn id="5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2" grpId="0"/>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4. ACCESSING ARRAY ELEMENTS</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13</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4.1 EXAMPLES</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51520" y="119675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Consider the following declarations and their reflection in the memory:</a:t>
            </a:r>
          </a:p>
        </p:txBody>
      </p:sp>
      <p:grpSp>
        <p:nvGrpSpPr>
          <p:cNvPr id="23" name="Group 22"/>
          <p:cNvGrpSpPr/>
          <p:nvPr/>
        </p:nvGrpSpPr>
        <p:grpSpPr>
          <a:xfrm>
            <a:off x="179513" y="1628800"/>
            <a:ext cx="8784976" cy="369332"/>
            <a:chOff x="323529" y="1236822"/>
            <a:chExt cx="7848872" cy="347291"/>
          </a:xfrm>
        </p:grpSpPr>
        <p:sp>
          <p:nvSpPr>
            <p:cNvPr id="24" name="TextBox 23"/>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B0F0"/>
                  </a:solidFill>
                </a:rPr>
                <a:t>double[]</a:t>
              </a:r>
              <a:r>
                <a:rPr lang="en-US" dirty="0">
                  <a:solidFill>
                    <a:srgbClr val="0000FF"/>
                  </a:solidFill>
                </a:rPr>
                <a:t>  list = </a:t>
              </a:r>
              <a:r>
                <a:rPr lang="en-US" dirty="0">
                  <a:solidFill>
                    <a:srgbClr val="00B0F0"/>
                  </a:solidFill>
                </a:rPr>
                <a:t>new double</a:t>
              </a:r>
              <a:r>
                <a:rPr lang="en-US" dirty="0">
                  <a:solidFill>
                    <a:srgbClr val="0000FF"/>
                  </a:solidFill>
                </a:rPr>
                <a:t>[10];</a:t>
              </a:r>
            </a:p>
          </p:txBody>
        </p:sp>
        <p:sp>
          <p:nvSpPr>
            <p:cNvPr id="25" name="TextBox 24"/>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1</a:t>
              </a:r>
            </a:p>
          </p:txBody>
        </p:sp>
      </p:grpSp>
      <p:graphicFrame>
        <p:nvGraphicFramePr>
          <p:cNvPr id="3" name="Table 2"/>
          <p:cNvGraphicFramePr>
            <a:graphicFrameLocks noGrp="1"/>
          </p:cNvGraphicFramePr>
          <p:nvPr>
            <p:extLst>
              <p:ext uri="{D42A27DB-BD31-4B8C-83A1-F6EECF244321}">
                <p14:modId xmlns:p14="http://schemas.microsoft.com/office/powerpoint/2010/main" val="2591880532"/>
              </p:ext>
            </p:extLst>
          </p:nvPr>
        </p:nvGraphicFramePr>
        <p:xfrm>
          <a:off x="501896" y="2060848"/>
          <a:ext cx="7757376" cy="741680"/>
        </p:xfrm>
        <a:graphic>
          <a:graphicData uri="http://schemas.openxmlformats.org/drawingml/2006/table">
            <a:tbl>
              <a:tblPr firstRow="1" bandRow="1">
                <a:tableStyleId>{5C22544A-7EE6-4342-B048-85BDC9FD1C3A}</a:tableStyleId>
              </a:tblPr>
              <a:tblGrid>
                <a:gridCol w="705216">
                  <a:extLst>
                    <a:ext uri="{9D8B030D-6E8A-4147-A177-3AD203B41FA5}">
                      <a16:colId xmlns:a16="http://schemas.microsoft.com/office/drawing/2014/main" val="20000"/>
                    </a:ext>
                  </a:extLst>
                </a:gridCol>
                <a:gridCol w="705216">
                  <a:extLst>
                    <a:ext uri="{9D8B030D-6E8A-4147-A177-3AD203B41FA5}">
                      <a16:colId xmlns:a16="http://schemas.microsoft.com/office/drawing/2014/main" val="20001"/>
                    </a:ext>
                  </a:extLst>
                </a:gridCol>
                <a:gridCol w="705216">
                  <a:extLst>
                    <a:ext uri="{9D8B030D-6E8A-4147-A177-3AD203B41FA5}">
                      <a16:colId xmlns:a16="http://schemas.microsoft.com/office/drawing/2014/main" val="20002"/>
                    </a:ext>
                  </a:extLst>
                </a:gridCol>
                <a:gridCol w="705216">
                  <a:extLst>
                    <a:ext uri="{9D8B030D-6E8A-4147-A177-3AD203B41FA5}">
                      <a16:colId xmlns:a16="http://schemas.microsoft.com/office/drawing/2014/main" val="20003"/>
                    </a:ext>
                  </a:extLst>
                </a:gridCol>
                <a:gridCol w="705216">
                  <a:extLst>
                    <a:ext uri="{9D8B030D-6E8A-4147-A177-3AD203B41FA5}">
                      <a16:colId xmlns:a16="http://schemas.microsoft.com/office/drawing/2014/main" val="20004"/>
                    </a:ext>
                  </a:extLst>
                </a:gridCol>
                <a:gridCol w="705216">
                  <a:extLst>
                    <a:ext uri="{9D8B030D-6E8A-4147-A177-3AD203B41FA5}">
                      <a16:colId xmlns:a16="http://schemas.microsoft.com/office/drawing/2014/main" val="20005"/>
                    </a:ext>
                  </a:extLst>
                </a:gridCol>
                <a:gridCol w="705216">
                  <a:extLst>
                    <a:ext uri="{9D8B030D-6E8A-4147-A177-3AD203B41FA5}">
                      <a16:colId xmlns:a16="http://schemas.microsoft.com/office/drawing/2014/main" val="20006"/>
                    </a:ext>
                  </a:extLst>
                </a:gridCol>
                <a:gridCol w="705216">
                  <a:extLst>
                    <a:ext uri="{9D8B030D-6E8A-4147-A177-3AD203B41FA5}">
                      <a16:colId xmlns:a16="http://schemas.microsoft.com/office/drawing/2014/main" val="20007"/>
                    </a:ext>
                  </a:extLst>
                </a:gridCol>
                <a:gridCol w="705216">
                  <a:extLst>
                    <a:ext uri="{9D8B030D-6E8A-4147-A177-3AD203B41FA5}">
                      <a16:colId xmlns:a16="http://schemas.microsoft.com/office/drawing/2014/main" val="20008"/>
                    </a:ext>
                  </a:extLst>
                </a:gridCol>
                <a:gridCol w="705216">
                  <a:extLst>
                    <a:ext uri="{9D8B030D-6E8A-4147-A177-3AD203B41FA5}">
                      <a16:colId xmlns:a16="http://schemas.microsoft.com/office/drawing/2014/main" val="20009"/>
                    </a:ext>
                  </a:extLst>
                </a:gridCol>
                <a:gridCol w="705216">
                  <a:extLst>
                    <a:ext uri="{9D8B030D-6E8A-4147-A177-3AD203B41FA5}">
                      <a16:colId xmlns:a16="http://schemas.microsoft.com/office/drawing/2014/main" val="20010"/>
                    </a:ext>
                  </a:extLst>
                </a:gridCol>
              </a:tblGrid>
              <a:tr h="370840">
                <a:tc>
                  <a:txBody>
                    <a:bodyPr/>
                    <a:lstStyle/>
                    <a:p>
                      <a:endParaRPr lang="en-US" sz="1400" b="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370840">
                <a:tc>
                  <a:txBody>
                    <a:bodyPr/>
                    <a:lstStyle/>
                    <a:p>
                      <a:r>
                        <a:rPr lang="en-US" sz="1600" dirty="0">
                          <a:solidFill>
                            <a:srgbClr val="0070C0"/>
                          </a:solidFill>
                        </a:rPr>
                        <a:t>list</a:t>
                      </a:r>
                      <a:r>
                        <a:rPr lang="en-US" sz="1600" dirty="0">
                          <a:solidFill>
                            <a:srgbClr val="0070C0"/>
                          </a:solidFill>
                          <a:sym typeface="Wingdings" panose="05000000000000000000" pitchFamily="2" charset="2"/>
                        </a:rPr>
                        <a:t></a:t>
                      </a:r>
                      <a:endParaRPr lang="en-US" sz="160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grpSp>
        <p:nvGrpSpPr>
          <p:cNvPr id="26" name="Group 25"/>
          <p:cNvGrpSpPr/>
          <p:nvPr/>
        </p:nvGrpSpPr>
        <p:grpSpPr>
          <a:xfrm>
            <a:off x="179512" y="2852936"/>
            <a:ext cx="8784976" cy="646331"/>
            <a:chOff x="323529" y="1236822"/>
            <a:chExt cx="7848872" cy="607759"/>
          </a:xfrm>
        </p:grpSpPr>
        <p:sp>
          <p:nvSpPr>
            <p:cNvPr id="27" name="TextBox 26"/>
            <p:cNvSpPr txBox="1"/>
            <p:nvPr/>
          </p:nvSpPr>
          <p:spPr>
            <a:xfrm>
              <a:off x="611561" y="1236822"/>
              <a:ext cx="7560840" cy="607759"/>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00FF"/>
                  </a:solidFill>
                </a:rPr>
                <a:t>  </a:t>
              </a:r>
              <a:r>
                <a:rPr lang="en-US" dirty="0" err="1">
                  <a:solidFill>
                    <a:srgbClr val="0000FF"/>
                  </a:solidFill>
                </a:rPr>
                <a:t>i</a:t>
              </a:r>
              <a:r>
                <a:rPr lang="en-US" dirty="0">
                  <a:solidFill>
                    <a:srgbClr val="0000FF"/>
                  </a:solidFill>
                </a:rPr>
                <a:t> = 2;</a:t>
              </a:r>
            </a:p>
            <a:p>
              <a:r>
                <a:rPr lang="en-US" dirty="0">
                  <a:solidFill>
                    <a:srgbClr val="0000FF"/>
                  </a:solidFill>
                </a:rPr>
                <a:t>list[2*i-1] = 46.0;	</a:t>
              </a:r>
              <a:r>
                <a:rPr lang="en-US" dirty="0">
                  <a:solidFill>
                    <a:srgbClr val="00B050"/>
                  </a:solidFill>
                </a:rPr>
                <a:t>//list[3] = 46.0</a:t>
              </a:r>
            </a:p>
          </p:txBody>
        </p:sp>
        <p:sp>
          <p:nvSpPr>
            <p:cNvPr id="28" name="TextBox 27"/>
            <p:cNvSpPr txBox="1"/>
            <p:nvPr/>
          </p:nvSpPr>
          <p:spPr>
            <a:xfrm>
              <a:off x="323529" y="1236822"/>
              <a:ext cx="288032" cy="607759"/>
            </a:xfrm>
            <a:prstGeom prst="rect">
              <a:avLst/>
            </a:prstGeom>
            <a:noFill/>
          </p:spPr>
          <p:txBody>
            <a:bodyPr wrap="square" rtlCol="0">
              <a:spAutoFit/>
            </a:bodyPr>
            <a:lstStyle/>
            <a:p>
              <a:pPr algn="r"/>
              <a:r>
                <a:rPr lang="en-US" dirty="0">
                  <a:solidFill>
                    <a:srgbClr val="FF0000"/>
                  </a:solidFill>
                </a:rPr>
                <a:t>2</a:t>
              </a:r>
            </a:p>
            <a:p>
              <a:pPr algn="r"/>
              <a:r>
                <a:rPr lang="en-US" dirty="0">
                  <a:solidFill>
                    <a:srgbClr val="FF0000"/>
                  </a:solidFill>
                </a:rPr>
                <a:t>3</a:t>
              </a:r>
            </a:p>
          </p:txBody>
        </p:sp>
      </p:grpSp>
      <p:graphicFrame>
        <p:nvGraphicFramePr>
          <p:cNvPr id="29" name="Table 28"/>
          <p:cNvGraphicFramePr>
            <a:graphicFrameLocks noGrp="1"/>
          </p:cNvGraphicFramePr>
          <p:nvPr>
            <p:extLst>
              <p:ext uri="{D42A27DB-BD31-4B8C-83A1-F6EECF244321}">
                <p14:modId xmlns:p14="http://schemas.microsoft.com/office/powerpoint/2010/main" val="3225313770"/>
              </p:ext>
            </p:extLst>
          </p:nvPr>
        </p:nvGraphicFramePr>
        <p:xfrm>
          <a:off x="501895" y="3551416"/>
          <a:ext cx="7757376" cy="741680"/>
        </p:xfrm>
        <a:graphic>
          <a:graphicData uri="http://schemas.openxmlformats.org/drawingml/2006/table">
            <a:tbl>
              <a:tblPr firstRow="1" bandRow="1">
                <a:tableStyleId>{5C22544A-7EE6-4342-B048-85BDC9FD1C3A}</a:tableStyleId>
              </a:tblPr>
              <a:tblGrid>
                <a:gridCol w="705216">
                  <a:extLst>
                    <a:ext uri="{9D8B030D-6E8A-4147-A177-3AD203B41FA5}">
                      <a16:colId xmlns:a16="http://schemas.microsoft.com/office/drawing/2014/main" val="20000"/>
                    </a:ext>
                  </a:extLst>
                </a:gridCol>
                <a:gridCol w="705216">
                  <a:extLst>
                    <a:ext uri="{9D8B030D-6E8A-4147-A177-3AD203B41FA5}">
                      <a16:colId xmlns:a16="http://schemas.microsoft.com/office/drawing/2014/main" val="20001"/>
                    </a:ext>
                  </a:extLst>
                </a:gridCol>
                <a:gridCol w="705216">
                  <a:extLst>
                    <a:ext uri="{9D8B030D-6E8A-4147-A177-3AD203B41FA5}">
                      <a16:colId xmlns:a16="http://schemas.microsoft.com/office/drawing/2014/main" val="20002"/>
                    </a:ext>
                  </a:extLst>
                </a:gridCol>
                <a:gridCol w="705216">
                  <a:extLst>
                    <a:ext uri="{9D8B030D-6E8A-4147-A177-3AD203B41FA5}">
                      <a16:colId xmlns:a16="http://schemas.microsoft.com/office/drawing/2014/main" val="20003"/>
                    </a:ext>
                  </a:extLst>
                </a:gridCol>
                <a:gridCol w="705216">
                  <a:extLst>
                    <a:ext uri="{9D8B030D-6E8A-4147-A177-3AD203B41FA5}">
                      <a16:colId xmlns:a16="http://schemas.microsoft.com/office/drawing/2014/main" val="20004"/>
                    </a:ext>
                  </a:extLst>
                </a:gridCol>
                <a:gridCol w="705216">
                  <a:extLst>
                    <a:ext uri="{9D8B030D-6E8A-4147-A177-3AD203B41FA5}">
                      <a16:colId xmlns:a16="http://schemas.microsoft.com/office/drawing/2014/main" val="20005"/>
                    </a:ext>
                  </a:extLst>
                </a:gridCol>
                <a:gridCol w="705216">
                  <a:extLst>
                    <a:ext uri="{9D8B030D-6E8A-4147-A177-3AD203B41FA5}">
                      <a16:colId xmlns:a16="http://schemas.microsoft.com/office/drawing/2014/main" val="20006"/>
                    </a:ext>
                  </a:extLst>
                </a:gridCol>
                <a:gridCol w="705216">
                  <a:extLst>
                    <a:ext uri="{9D8B030D-6E8A-4147-A177-3AD203B41FA5}">
                      <a16:colId xmlns:a16="http://schemas.microsoft.com/office/drawing/2014/main" val="20007"/>
                    </a:ext>
                  </a:extLst>
                </a:gridCol>
                <a:gridCol w="705216">
                  <a:extLst>
                    <a:ext uri="{9D8B030D-6E8A-4147-A177-3AD203B41FA5}">
                      <a16:colId xmlns:a16="http://schemas.microsoft.com/office/drawing/2014/main" val="20008"/>
                    </a:ext>
                  </a:extLst>
                </a:gridCol>
                <a:gridCol w="705216">
                  <a:extLst>
                    <a:ext uri="{9D8B030D-6E8A-4147-A177-3AD203B41FA5}">
                      <a16:colId xmlns:a16="http://schemas.microsoft.com/office/drawing/2014/main" val="20009"/>
                    </a:ext>
                  </a:extLst>
                </a:gridCol>
                <a:gridCol w="705216">
                  <a:extLst>
                    <a:ext uri="{9D8B030D-6E8A-4147-A177-3AD203B41FA5}">
                      <a16:colId xmlns:a16="http://schemas.microsoft.com/office/drawing/2014/main" val="20010"/>
                    </a:ext>
                  </a:extLst>
                </a:gridCol>
              </a:tblGrid>
              <a:tr h="370840">
                <a:tc>
                  <a:txBody>
                    <a:bodyPr/>
                    <a:lstStyle/>
                    <a:p>
                      <a:endParaRPr lang="en-US" sz="1400" b="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370840">
                <a:tc>
                  <a:txBody>
                    <a:bodyPr/>
                    <a:lstStyle/>
                    <a:p>
                      <a:r>
                        <a:rPr lang="en-US" sz="1600" dirty="0">
                          <a:solidFill>
                            <a:srgbClr val="0070C0"/>
                          </a:solidFill>
                        </a:rPr>
                        <a:t>list</a:t>
                      </a:r>
                      <a:r>
                        <a:rPr lang="en-US" sz="1600" dirty="0">
                          <a:solidFill>
                            <a:srgbClr val="0070C0"/>
                          </a:solidFill>
                          <a:sym typeface="Wingdings" panose="05000000000000000000" pitchFamily="2" charset="2"/>
                        </a:rPr>
                        <a:t></a:t>
                      </a:r>
                      <a:endParaRPr lang="en-US" sz="160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46.0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grpSp>
        <p:nvGrpSpPr>
          <p:cNvPr id="33" name="Group 32"/>
          <p:cNvGrpSpPr/>
          <p:nvPr/>
        </p:nvGrpSpPr>
        <p:grpSpPr>
          <a:xfrm>
            <a:off x="179512" y="4343503"/>
            <a:ext cx="8784976" cy="369332"/>
            <a:chOff x="323529" y="1236822"/>
            <a:chExt cx="7848872" cy="347291"/>
          </a:xfrm>
        </p:grpSpPr>
        <p:sp>
          <p:nvSpPr>
            <p:cNvPr id="34" name="TextBox 33"/>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00FF"/>
                  </a:solidFill>
                </a:rPr>
                <a:t>list[2*i+1] = 20.0;	</a:t>
              </a:r>
              <a:r>
                <a:rPr lang="en-US" dirty="0">
                  <a:solidFill>
                    <a:srgbClr val="00B050"/>
                  </a:solidFill>
                </a:rPr>
                <a:t>// </a:t>
              </a:r>
              <a:r>
                <a:rPr lang="en-US" dirty="0" err="1">
                  <a:solidFill>
                    <a:srgbClr val="00B050"/>
                  </a:solidFill>
                </a:rPr>
                <a:t>i</a:t>
              </a:r>
              <a:r>
                <a:rPr lang="en-US" dirty="0">
                  <a:solidFill>
                    <a:srgbClr val="00B050"/>
                  </a:solidFill>
                </a:rPr>
                <a:t> = 2</a:t>
              </a:r>
            </a:p>
          </p:txBody>
        </p:sp>
        <p:sp>
          <p:nvSpPr>
            <p:cNvPr id="35" name="TextBox 34"/>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4</a:t>
              </a:r>
            </a:p>
          </p:txBody>
        </p:sp>
      </p:grpSp>
      <p:graphicFrame>
        <p:nvGraphicFramePr>
          <p:cNvPr id="36" name="Table 35"/>
          <p:cNvGraphicFramePr>
            <a:graphicFrameLocks noGrp="1"/>
          </p:cNvGraphicFramePr>
          <p:nvPr>
            <p:extLst>
              <p:ext uri="{D42A27DB-BD31-4B8C-83A1-F6EECF244321}">
                <p14:modId xmlns:p14="http://schemas.microsoft.com/office/powerpoint/2010/main" val="201459148"/>
              </p:ext>
            </p:extLst>
          </p:nvPr>
        </p:nvGraphicFramePr>
        <p:xfrm>
          <a:off x="501895" y="4775552"/>
          <a:ext cx="7757376" cy="741680"/>
        </p:xfrm>
        <a:graphic>
          <a:graphicData uri="http://schemas.openxmlformats.org/drawingml/2006/table">
            <a:tbl>
              <a:tblPr firstRow="1" bandRow="1">
                <a:tableStyleId>{5C22544A-7EE6-4342-B048-85BDC9FD1C3A}</a:tableStyleId>
              </a:tblPr>
              <a:tblGrid>
                <a:gridCol w="705216">
                  <a:extLst>
                    <a:ext uri="{9D8B030D-6E8A-4147-A177-3AD203B41FA5}">
                      <a16:colId xmlns:a16="http://schemas.microsoft.com/office/drawing/2014/main" val="20000"/>
                    </a:ext>
                  </a:extLst>
                </a:gridCol>
                <a:gridCol w="705216">
                  <a:extLst>
                    <a:ext uri="{9D8B030D-6E8A-4147-A177-3AD203B41FA5}">
                      <a16:colId xmlns:a16="http://schemas.microsoft.com/office/drawing/2014/main" val="20001"/>
                    </a:ext>
                  </a:extLst>
                </a:gridCol>
                <a:gridCol w="705216">
                  <a:extLst>
                    <a:ext uri="{9D8B030D-6E8A-4147-A177-3AD203B41FA5}">
                      <a16:colId xmlns:a16="http://schemas.microsoft.com/office/drawing/2014/main" val="20002"/>
                    </a:ext>
                  </a:extLst>
                </a:gridCol>
                <a:gridCol w="705216">
                  <a:extLst>
                    <a:ext uri="{9D8B030D-6E8A-4147-A177-3AD203B41FA5}">
                      <a16:colId xmlns:a16="http://schemas.microsoft.com/office/drawing/2014/main" val="20003"/>
                    </a:ext>
                  </a:extLst>
                </a:gridCol>
                <a:gridCol w="705216">
                  <a:extLst>
                    <a:ext uri="{9D8B030D-6E8A-4147-A177-3AD203B41FA5}">
                      <a16:colId xmlns:a16="http://schemas.microsoft.com/office/drawing/2014/main" val="20004"/>
                    </a:ext>
                  </a:extLst>
                </a:gridCol>
                <a:gridCol w="705216">
                  <a:extLst>
                    <a:ext uri="{9D8B030D-6E8A-4147-A177-3AD203B41FA5}">
                      <a16:colId xmlns:a16="http://schemas.microsoft.com/office/drawing/2014/main" val="20005"/>
                    </a:ext>
                  </a:extLst>
                </a:gridCol>
                <a:gridCol w="705216">
                  <a:extLst>
                    <a:ext uri="{9D8B030D-6E8A-4147-A177-3AD203B41FA5}">
                      <a16:colId xmlns:a16="http://schemas.microsoft.com/office/drawing/2014/main" val="20006"/>
                    </a:ext>
                  </a:extLst>
                </a:gridCol>
                <a:gridCol w="705216">
                  <a:extLst>
                    <a:ext uri="{9D8B030D-6E8A-4147-A177-3AD203B41FA5}">
                      <a16:colId xmlns:a16="http://schemas.microsoft.com/office/drawing/2014/main" val="20007"/>
                    </a:ext>
                  </a:extLst>
                </a:gridCol>
                <a:gridCol w="705216">
                  <a:extLst>
                    <a:ext uri="{9D8B030D-6E8A-4147-A177-3AD203B41FA5}">
                      <a16:colId xmlns:a16="http://schemas.microsoft.com/office/drawing/2014/main" val="20008"/>
                    </a:ext>
                  </a:extLst>
                </a:gridCol>
                <a:gridCol w="705216">
                  <a:extLst>
                    <a:ext uri="{9D8B030D-6E8A-4147-A177-3AD203B41FA5}">
                      <a16:colId xmlns:a16="http://schemas.microsoft.com/office/drawing/2014/main" val="20009"/>
                    </a:ext>
                  </a:extLst>
                </a:gridCol>
                <a:gridCol w="705216">
                  <a:extLst>
                    <a:ext uri="{9D8B030D-6E8A-4147-A177-3AD203B41FA5}">
                      <a16:colId xmlns:a16="http://schemas.microsoft.com/office/drawing/2014/main" val="20010"/>
                    </a:ext>
                  </a:extLst>
                </a:gridCol>
              </a:tblGrid>
              <a:tr h="370840">
                <a:tc>
                  <a:txBody>
                    <a:bodyPr/>
                    <a:lstStyle/>
                    <a:p>
                      <a:endParaRPr lang="en-US" sz="1400" b="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370840">
                <a:tc>
                  <a:txBody>
                    <a:bodyPr/>
                    <a:lstStyle/>
                    <a:p>
                      <a:r>
                        <a:rPr lang="en-US" sz="1600" dirty="0">
                          <a:solidFill>
                            <a:srgbClr val="0070C0"/>
                          </a:solidFill>
                        </a:rPr>
                        <a:t>list</a:t>
                      </a:r>
                      <a:r>
                        <a:rPr lang="en-US" sz="1600" dirty="0">
                          <a:solidFill>
                            <a:srgbClr val="0070C0"/>
                          </a:solidFill>
                          <a:sym typeface="Wingdings" panose="05000000000000000000" pitchFamily="2" charset="2"/>
                        </a:rPr>
                        <a:t></a:t>
                      </a:r>
                      <a:endParaRPr lang="en-US" sz="160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46.0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grpSp>
        <p:nvGrpSpPr>
          <p:cNvPr id="37" name="Group 36"/>
          <p:cNvGrpSpPr/>
          <p:nvPr/>
        </p:nvGrpSpPr>
        <p:grpSpPr>
          <a:xfrm>
            <a:off x="179512" y="5567639"/>
            <a:ext cx="8784976" cy="369332"/>
            <a:chOff x="323529" y="1236822"/>
            <a:chExt cx="7848872" cy="347291"/>
          </a:xfrm>
        </p:grpSpPr>
        <p:sp>
          <p:nvSpPr>
            <p:cNvPr id="38" name="TextBox 37"/>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00FF"/>
                  </a:solidFill>
                </a:rPr>
                <a:t>list[7] = list[3] + list[5];	</a:t>
              </a:r>
              <a:r>
                <a:rPr lang="en-US" dirty="0">
                  <a:solidFill>
                    <a:srgbClr val="00B050"/>
                  </a:solidFill>
                </a:rPr>
                <a:t>//list[7] = 46.0 + 20.0 = 66.0</a:t>
              </a:r>
            </a:p>
          </p:txBody>
        </p:sp>
        <p:sp>
          <p:nvSpPr>
            <p:cNvPr id="39" name="TextBox 38"/>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5</a:t>
              </a:r>
            </a:p>
          </p:txBody>
        </p:sp>
      </p:grpSp>
      <p:graphicFrame>
        <p:nvGraphicFramePr>
          <p:cNvPr id="40" name="Table 39"/>
          <p:cNvGraphicFramePr>
            <a:graphicFrameLocks noGrp="1"/>
          </p:cNvGraphicFramePr>
          <p:nvPr>
            <p:extLst>
              <p:ext uri="{D42A27DB-BD31-4B8C-83A1-F6EECF244321}">
                <p14:modId xmlns:p14="http://schemas.microsoft.com/office/powerpoint/2010/main" val="780519108"/>
              </p:ext>
            </p:extLst>
          </p:nvPr>
        </p:nvGraphicFramePr>
        <p:xfrm>
          <a:off x="501895" y="5999688"/>
          <a:ext cx="7757376" cy="741680"/>
        </p:xfrm>
        <a:graphic>
          <a:graphicData uri="http://schemas.openxmlformats.org/drawingml/2006/table">
            <a:tbl>
              <a:tblPr firstRow="1" bandRow="1">
                <a:tableStyleId>{5C22544A-7EE6-4342-B048-85BDC9FD1C3A}</a:tableStyleId>
              </a:tblPr>
              <a:tblGrid>
                <a:gridCol w="705216">
                  <a:extLst>
                    <a:ext uri="{9D8B030D-6E8A-4147-A177-3AD203B41FA5}">
                      <a16:colId xmlns:a16="http://schemas.microsoft.com/office/drawing/2014/main" val="20000"/>
                    </a:ext>
                  </a:extLst>
                </a:gridCol>
                <a:gridCol w="705216">
                  <a:extLst>
                    <a:ext uri="{9D8B030D-6E8A-4147-A177-3AD203B41FA5}">
                      <a16:colId xmlns:a16="http://schemas.microsoft.com/office/drawing/2014/main" val="20001"/>
                    </a:ext>
                  </a:extLst>
                </a:gridCol>
                <a:gridCol w="705216">
                  <a:extLst>
                    <a:ext uri="{9D8B030D-6E8A-4147-A177-3AD203B41FA5}">
                      <a16:colId xmlns:a16="http://schemas.microsoft.com/office/drawing/2014/main" val="20002"/>
                    </a:ext>
                  </a:extLst>
                </a:gridCol>
                <a:gridCol w="705216">
                  <a:extLst>
                    <a:ext uri="{9D8B030D-6E8A-4147-A177-3AD203B41FA5}">
                      <a16:colId xmlns:a16="http://schemas.microsoft.com/office/drawing/2014/main" val="20003"/>
                    </a:ext>
                  </a:extLst>
                </a:gridCol>
                <a:gridCol w="705216">
                  <a:extLst>
                    <a:ext uri="{9D8B030D-6E8A-4147-A177-3AD203B41FA5}">
                      <a16:colId xmlns:a16="http://schemas.microsoft.com/office/drawing/2014/main" val="20004"/>
                    </a:ext>
                  </a:extLst>
                </a:gridCol>
                <a:gridCol w="705216">
                  <a:extLst>
                    <a:ext uri="{9D8B030D-6E8A-4147-A177-3AD203B41FA5}">
                      <a16:colId xmlns:a16="http://schemas.microsoft.com/office/drawing/2014/main" val="20005"/>
                    </a:ext>
                  </a:extLst>
                </a:gridCol>
                <a:gridCol w="705216">
                  <a:extLst>
                    <a:ext uri="{9D8B030D-6E8A-4147-A177-3AD203B41FA5}">
                      <a16:colId xmlns:a16="http://schemas.microsoft.com/office/drawing/2014/main" val="20006"/>
                    </a:ext>
                  </a:extLst>
                </a:gridCol>
                <a:gridCol w="705216">
                  <a:extLst>
                    <a:ext uri="{9D8B030D-6E8A-4147-A177-3AD203B41FA5}">
                      <a16:colId xmlns:a16="http://schemas.microsoft.com/office/drawing/2014/main" val="20007"/>
                    </a:ext>
                  </a:extLst>
                </a:gridCol>
                <a:gridCol w="705216">
                  <a:extLst>
                    <a:ext uri="{9D8B030D-6E8A-4147-A177-3AD203B41FA5}">
                      <a16:colId xmlns:a16="http://schemas.microsoft.com/office/drawing/2014/main" val="20008"/>
                    </a:ext>
                  </a:extLst>
                </a:gridCol>
                <a:gridCol w="705216">
                  <a:extLst>
                    <a:ext uri="{9D8B030D-6E8A-4147-A177-3AD203B41FA5}">
                      <a16:colId xmlns:a16="http://schemas.microsoft.com/office/drawing/2014/main" val="20009"/>
                    </a:ext>
                  </a:extLst>
                </a:gridCol>
                <a:gridCol w="705216">
                  <a:extLst>
                    <a:ext uri="{9D8B030D-6E8A-4147-A177-3AD203B41FA5}">
                      <a16:colId xmlns:a16="http://schemas.microsoft.com/office/drawing/2014/main" val="20010"/>
                    </a:ext>
                  </a:extLst>
                </a:gridCol>
              </a:tblGrid>
              <a:tr h="370840">
                <a:tc>
                  <a:txBody>
                    <a:bodyPr/>
                    <a:lstStyle/>
                    <a:p>
                      <a:endParaRPr lang="en-US" sz="1400" b="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370840">
                <a:tc>
                  <a:txBody>
                    <a:bodyPr/>
                    <a:lstStyle/>
                    <a:p>
                      <a:r>
                        <a:rPr lang="en-US" sz="1600" dirty="0">
                          <a:solidFill>
                            <a:srgbClr val="0070C0"/>
                          </a:solidFill>
                        </a:rPr>
                        <a:t>list</a:t>
                      </a:r>
                      <a:r>
                        <a:rPr lang="en-US" sz="1600" dirty="0">
                          <a:solidFill>
                            <a:srgbClr val="0070C0"/>
                          </a:solidFill>
                          <a:sym typeface="Wingdings" panose="05000000000000000000" pitchFamily="2" charset="2"/>
                        </a:rPr>
                        <a:t></a:t>
                      </a:r>
                      <a:endParaRPr lang="en-US" sz="160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46.0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66.0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67545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right)">
                                      <p:cBhvr>
                                        <p:cTn id="15" dur="500"/>
                                        <p:tgtEl>
                                          <p:spTgt spid="23"/>
                                        </p:tgtEl>
                                      </p:cBhvr>
                                    </p:animEffect>
                                  </p:childTnLst>
                                </p:cTn>
                              </p:par>
                              <p:par>
                                <p:cTn id="16" presetID="47"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right)">
                                      <p:cBhvr>
                                        <p:cTn id="25" dur="500"/>
                                        <p:tgtEl>
                                          <p:spTgt spid="26"/>
                                        </p:tgtEl>
                                      </p:cBhvr>
                                    </p:animEffect>
                                  </p:childTnLst>
                                </p:cTn>
                              </p:par>
                              <p:par>
                                <p:cTn id="26" presetID="47"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wipe(right)">
                                      <p:cBhvr>
                                        <p:cTn id="35" dur="500"/>
                                        <p:tgtEl>
                                          <p:spTgt spid="33"/>
                                        </p:tgtEl>
                                      </p:cBhvr>
                                    </p:animEffect>
                                  </p:childTnLst>
                                </p:cTn>
                              </p:par>
                              <p:par>
                                <p:cTn id="36" presetID="47" presetClass="entr" presetSubtype="0" fill="hold"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1000"/>
                                        <p:tgtEl>
                                          <p:spTgt spid="36"/>
                                        </p:tgtEl>
                                      </p:cBhvr>
                                    </p:animEffect>
                                    <p:anim calcmode="lin" valueType="num">
                                      <p:cBhvr>
                                        <p:cTn id="39" dur="1000" fill="hold"/>
                                        <p:tgtEl>
                                          <p:spTgt spid="36"/>
                                        </p:tgtEl>
                                        <p:attrNameLst>
                                          <p:attrName>ppt_x</p:attrName>
                                        </p:attrNameLst>
                                      </p:cBhvr>
                                      <p:tavLst>
                                        <p:tav tm="0">
                                          <p:val>
                                            <p:strVal val="#ppt_x"/>
                                          </p:val>
                                        </p:tav>
                                        <p:tav tm="100000">
                                          <p:val>
                                            <p:strVal val="#ppt_x"/>
                                          </p:val>
                                        </p:tav>
                                      </p:tavLst>
                                    </p:anim>
                                    <p:anim calcmode="lin" valueType="num">
                                      <p:cBhvr>
                                        <p:cTn id="40"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right)">
                                      <p:cBhvr>
                                        <p:cTn id="45" dur="500"/>
                                        <p:tgtEl>
                                          <p:spTgt spid="37"/>
                                        </p:tgtEl>
                                      </p:cBhvr>
                                    </p:animEffect>
                                  </p:childTnLst>
                                </p:cTn>
                              </p:par>
                              <p:par>
                                <p:cTn id="46" presetID="47" presetClass="entr" presetSubtype="0" fill="hold" nodeType="with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fade">
                                      <p:cBhvr>
                                        <p:cTn id="48" dur="1000"/>
                                        <p:tgtEl>
                                          <p:spTgt spid="40"/>
                                        </p:tgtEl>
                                      </p:cBhvr>
                                    </p:animEffect>
                                    <p:anim calcmode="lin" valueType="num">
                                      <p:cBhvr>
                                        <p:cTn id="49" dur="1000" fill="hold"/>
                                        <p:tgtEl>
                                          <p:spTgt spid="40"/>
                                        </p:tgtEl>
                                        <p:attrNameLst>
                                          <p:attrName>ppt_x</p:attrName>
                                        </p:attrNameLst>
                                      </p:cBhvr>
                                      <p:tavLst>
                                        <p:tav tm="0">
                                          <p:val>
                                            <p:strVal val="#ppt_x"/>
                                          </p:val>
                                        </p:tav>
                                        <p:tav tm="100000">
                                          <p:val>
                                            <p:strVal val="#ppt_x"/>
                                          </p:val>
                                        </p:tav>
                                      </p:tavLst>
                                    </p:anim>
                                    <p:anim calcmode="lin" valueType="num">
                                      <p:cBhvr>
                                        <p:cTn id="50"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4. ACCESSING ARRAY ELEMENTS</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14</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4.1 EXAMPLES</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51520" y="119675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Note the difference between the following two statements:</a:t>
            </a:r>
          </a:p>
        </p:txBody>
      </p:sp>
      <p:grpSp>
        <p:nvGrpSpPr>
          <p:cNvPr id="37" name="Group 36"/>
          <p:cNvGrpSpPr/>
          <p:nvPr/>
        </p:nvGrpSpPr>
        <p:grpSpPr>
          <a:xfrm>
            <a:off x="179512" y="1679209"/>
            <a:ext cx="8784976" cy="646331"/>
            <a:chOff x="323529" y="1236822"/>
            <a:chExt cx="7848872" cy="607759"/>
          </a:xfrm>
        </p:grpSpPr>
        <p:sp>
          <p:nvSpPr>
            <p:cNvPr id="38" name="TextBox 37"/>
            <p:cNvSpPr txBox="1"/>
            <p:nvPr/>
          </p:nvSpPr>
          <p:spPr>
            <a:xfrm>
              <a:off x="611561" y="1236822"/>
              <a:ext cx="7560840" cy="607759"/>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00FF"/>
                  </a:solidFill>
                </a:rPr>
                <a:t>list[7] = list[3] + list[5];	</a:t>
              </a:r>
              <a:r>
                <a:rPr lang="en-US" dirty="0">
                  <a:solidFill>
                    <a:srgbClr val="00B050"/>
                  </a:solidFill>
                </a:rPr>
                <a:t>//list[7] = 46.0 + 20.0 = 66.0</a:t>
              </a:r>
            </a:p>
            <a:p>
              <a:r>
                <a:rPr lang="en-US" dirty="0">
                  <a:solidFill>
                    <a:srgbClr val="0000FF"/>
                  </a:solidFill>
                </a:rPr>
                <a:t>list[3+5] = 10.0;	</a:t>
              </a:r>
              <a:r>
                <a:rPr lang="en-US" dirty="0">
                  <a:solidFill>
                    <a:srgbClr val="00B050"/>
                  </a:solidFill>
                </a:rPr>
                <a:t>//list[8] = 10.0</a:t>
              </a:r>
            </a:p>
          </p:txBody>
        </p:sp>
        <p:sp>
          <p:nvSpPr>
            <p:cNvPr id="39" name="TextBox 38"/>
            <p:cNvSpPr txBox="1"/>
            <p:nvPr/>
          </p:nvSpPr>
          <p:spPr>
            <a:xfrm>
              <a:off x="323529" y="1236822"/>
              <a:ext cx="288032" cy="607759"/>
            </a:xfrm>
            <a:prstGeom prst="rect">
              <a:avLst/>
            </a:prstGeom>
            <a:noFill/>
          </p:spPr>
          <p:txBody>
            <a:bodyPr wrap="square" rtlCol="0">
              <a:spAutoFit/>
            </a:bodyPr>
            <a:lstStyle/>
            <a:p>
              <a:pPr algn="r"/>
              <a:r>
                <a:rPr lang="en-US" dirty="0">
                  <a:solidFill>
                    <a:srgbClr val="FF0000"/>
                  </a:solidFill>
                </a:rPr>
                <a:t>5</a:t>
              </a:r>
            </a:p>
            <a:p>
              <a:pPr algn="r"/>
              <a:r>
                <a:rPr lang="en-US" dirty="0">
                  <a:solidFill>
                    <a:srgbClr val="FF0000"/>
                  </a:solidFill>
                </a:rPr>
                <a:t>6</a:t>
              </a:r>
            </a:p>
          </p:txBody>
        </p:sp>
      </p:grpSp>
      <p:graphicFrame>
        <p:nvGraphicFramePr>
          <p:cNvPr id="40" name="Table 39"/>
          <p:cNvGraphicFramePr>
            <a:graphicFrameLocks noGrp="1"/>
          </p:cNvGraphicFramePr>
          <p:nvPr>
            <p:extLst>
              <p:ext uri="{D42A27DB-BD31-4B8C-83A1-F6EECF244321}">
                <p14:modId xmlns:p14="http://schemas.microsoft.com/office/powerpoint/2010/main" val="424197894"/>
              </p:ext>
            </p:extLst>
          </p:nvPr>
        </p:nvGraphicFramePr>
        <p:xfrm>
          <a:off x="501895" y="2399288"/>
          <a:ext cx="7757376" cy="741680"/>
        </p:xfrm>
        <a:graphic>
          <a:graphicData uri="http://schemas.openxmlformats.org/drawingml/2006/table">
            <a:tbl>
              <a:tblPr firstRow="1" bandRow="1">
                <a:tableStyleId>{5C22544A-7EE6-4342-B048-85BDC9FD1C3A}</a:tableStyleId>
              </a:tblPr>
              <a:tblGrid>
                <a:gridCol w="705216">
                  <a:extLst>
                    <a:ext uri="{9D8B030D-6E8A-4147-A177-3AD203B41FA5}">
                      <a16:colId xmlns:a16="http://schemas.microsoft.com/office/drawing/2014/main" val="20000"/>
                    </a:ext>
                  </a:extLst>
                </a:gridCol>
                <a:gridCol w="705216">
                  <a:extLst>
                    <a:ext uri="{9D8B030D-6E8A-4147-A177-3AD203B41FA5}">
                      <a16:colId xmlns:a16="http://schemas.microsoft.com/office/drawing/2014/main" val="20001"/>
                    </a:ext>
                  </a:extLst>
                </a:gridCol>
                <a:gridCol w="705216">
                  <a:extLst>
                    <a:ext uri="{9D8B030D-6E8A-4147-A177-3AD203B41FA5}">
                      <a16:colId xmlns:a16="http://schemas.microsoft.com/office/drawing/2014/main" val="20002"/>
                    </a:ext>
                  </a:extLst>
                </a:gridCol>
                <a:gridCol w="705216">
                  <a:extLst>
                    <a:ext uri="{9D8B030D-6E8A-4147-A177-3AD203B41FA5}">
                      <a16:colId xmlns:a16="http://schemas.microsoft.com/office/drawing/2014/main" val="20003"/>
                    </a:ext>
                  </a:extLst>
                </a:gridCol>
                <a:gridCol w="705216">
                  <a:extLst>
                    <a:ext uri="{9D8B030D-6E8A-4147-A177-3AD203B41FA5}">
                      <a16:colId xmlns:a16="http://schemas.microsoft.com/office/drawing/2014/main" val="20004"/>
                    </a:ext>
                  </a:extLst>
                </a:gridCol>
                <a:gridCol w="705216">
                  <a:extLst>
                    <a:ext uri="{9D8B030D-6E8A-4147-A177-3AD203B41FA5}">
                      <a16:colId xmlns:a16="http://schemas.microsoft.com/office/drawing/2014/main" val="20005"/>
                    </a:ext>
                  </a:extLst>
                </a:gridCol>
                <a:gridCol w="705216">
                  <a:extLst>
                    <a:ext uri="{9D8B030D-6E8A-4147-A177-3AD203B41FA5}">
                      <a16:colId xmlns:a16="http://schemas.microsoft.com/office/drawing/2014/main" val="20006"/>
                    </a:ext>
                  </a:extLst>
                </a:gridCol>
                <a:gridCol w="705216">
                  <a:extLst>
                    <a:ext uri="{9D8B030D-6E8A-4147-A177-3AD203B41FA5}">
                      <a16:colId xmlns:a16="http://schemas.microsoft.com/office/drawing/2014/main" val="20007"/>
                    </a:ext>
                  </a:extLst>
                </a:gridCol>
                <a:gridCol w="705216">
                  <a:extLst>
                    <a:ext uri="{9D8B030D-6E8A-4147-A177-3AD203B41FA5}">
                      <a16:colId xmlns:a16="http://schemas.microsoft.com/office/drawing/2014/main" val="20008"/>
                    </a:ext>
                  </a:extLst>
                </a:gridCol>
                <a:gridCol w="705216">
                  <a:extLst>
                    <a:ext uri="{9D8B030D-6E8A-4147-A177-3AD203B41FA5}">
                      <a16:colId xmlns:a16="http://schemas.microsoft.com/office/drawing/2014/main" val="20009"/>
                    </a:ext>
                  </a:extLst>
                </a:gridCol>
                <a:gridCol w="705216">
                  <a:extLst>
                    <a:ext uri="{9D8B030D-6E8A-4147-A177-3AD203B41FA5}">
                      <a16:colId xmlns:a16="http://schemas.microsoft.com/office/drawing/2014/main" val="20010"/>
                    </a:ext>
                  </a:extLst>
                </a:gridCol>
              </a:tblGrid>
              <a:tr h="370840">
                <a:tc>
                  <a:txBody>
                    <a:bodyPr/>
                    <a:lstStyle/>
                    <a:p>
                      <a:endParaRPr lang="en-US" sz="1400" b="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400" b="0" dirty="0">
                          <a:solidFill>
                            <a:srgbClr val="0070C0"/>
                          </a:solidFill>
                        </a:rPr>
                        <a:t>list[9]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370840">
                <a:tc>
                  <a:txBody>
                    <a:bodyPr/>
                    <a:lstStyle/>
                    <a:p>
                      <a:r>
                        <a:rPr lang="en-US" sz="1600" dirty="0">
                          <a:solidFill>
                            <a:srgbClr val="0070C0"/>
                          </a:solidFill>
                        </a:rPr>
                        <a:t>list</a:t>
                      </a:r>
                      <a:r>
                        <a:rPr lang="en-US" sz="1600" dirty="0">
                          <a:solidFill>
                            <a:srgbClr val="0070C0"/>
                          </a:solidFill>
                          <a:sym typeface="Wingdings" panose="05000000000000000000" pitchFamily="2" charset="2"/>
                        </a:rPr>
                        <a:t></a:t>
                      </a:r>
                      <a:endParaRPr lang="en-US" sz="1600"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46.0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66.0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1" dirty="0">
                          <a:solidFill>
                            <a:srgbClr val="0070C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sz="16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5335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500"/>
                                        <p:tgtEl>
                                          <p:spTgt spid="22"/>
                                        </p:tgtEl>
                                      </p:cBhvr>
                                    </p:animEffect>
                                  </p:childTnLst>
                                </p:cTn>
                              </p:par>
                              <p:par>
                                <p:cTn id="11" presetID="22" presetClass="entr" presetSubtype="8"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wipe(left)">
                                      <p:cBhvr>
                                        <p:cTn id="13" dur="500"/>
                                        <p:tgtEl>
                                          <p:spTgt spid="37"/>
                                        </p:tgtEl>
                                      </p:cBhvr>
                                    </p:animEffect>
                                  </p:childTnLst>
                                </p:cTn>
                              </p:par>
                              <p:par>
                                <p:cTn id="14" presetID="47" presetClass="entr" presetSubtype="0" fill="hold"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1000"/>
                                        <p:tgtEl>
                                          <p:spTgt spid="40"/>
                                        </p:tgtEl>
                                      </p:cBhvr>
                                    </p:animEffect>
                                    <p:anim calcmode="lin" valueType="num">
                                      <p:cBhvr>
                                        <p:cTn id="17" dur="1000" fill="hold"/>
                                        <p:tgtEl>
                                          <p:spTgt spid="40"/>
                                        </p:tgtEl>
                                        <p:attrNameLst>
                                          <p:attrName>ppt_x</p:attrName>
                                        </p:attrNameLst>
                                      </p:cBhvr>
                                      <p:tavLst>
                                        <p:tav tm="0">
                                          <p:val>
                                            <p:strVal val="#ppt_x"/>
                                          </p:val>
                                        </p:tav>
                                        <p:tav tm="100000">
                                          <p:val>
                                            <p:strVal val="#ppt_x"/>
                                          </p:val>
                                        </p:tav>
                                      </p:tavLst>
                                    </p:anim>
                                    <p:anim calcmode="lin" valueType="num">
                                      <p:cBhvr>
                                        <p:cTn id="18"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5. </a:t>
            </a:r>
            <a:r>
              <a:rPr lang="en-US" sz="4000" dirty="0">
                <a:solidFill>
                  <a:srgbClr val="00B0F0"/>
                </a:solidFill>
                <a:latin typeface="Tahoma" charset="0"/>
                <a:cs typeface="Arial" charset="0"/>
              </a:rPr>
              <a:t>length</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15</a:t>
            </a:fld>
            <a:endParaRPr lang="en-US"/>
          </a:p>
        </p:txBody>
      </p:sp>
      <p:sp>
        <p:nvSpPr>
          <p:cNvPr id="10" name="TextBox 9"/>
          <p:cNvSpPr txBox="1"/>
          <p:nvPr/>
        </p:nvSpPr>
        <p:spPr>
          <a:xfrm>
            <a:off x="251520" y="836712"/>
            <a:ext cx="8640960" cy="70788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With each instantiated array object, Java automatically creates a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public final </a:t>
            </a:r>
            <a:r>
              <a:rPr lang="en-US" sz="2000" dirty="0">
                <a:latin typeface="Tahoma" panose="020B0604030504040204" pitchFamily="34" charset="0"/>
                <a:ea typeface="Tahoma" panose="020B0604030504040204" pitchFamily="34" charset="0"/>
                <a:cs typeface="Tahoma" panose="020B0604030504040204" pitchFamily="34" charset="0"/>
              </a:rPr>
              <a:t>instance variable named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length</a:t>
            </a: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27" name="TextBox 26"/>
          <p:cNvSpPr txBox="1"/>
          <p:nvPr/>
        </p:nvSpPr>
        <p:spPr>
          <a:xfrm>
            <a:off x="251520" y="1556792"/>
            <a:ext cx="8640960" cy="400110"/>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length </a:t>
            </a:r>
            <a:r>
              <a:rPr lang="en-US" sz="2000" dirty="0">
                <a:latin typeface="Tahoma" panose="020B0604030504040204" pitchFamily="34" charset="0"/>
                <a:ea typeface="Tahoma" panose="020B0604030504040204" pitchFamily="34" charset="0"/>
                <a:cs typeface="Tahoma" panose="020B0604030504040204" pitchFamily="34" charset="0"/>
              </a:rPr>
              <a:t>contains the size of the array.</a:t>
            </a:r>
          </a:p>
        </p:txBody>
      </p:sp>
      <p:sp>
        <p:nvSpPr>
          <p:cNvPr id="28" name="TextBox 27"/>
          <p:cNvSpPr txBox="1"/>
          <p:nvPr/>
        </p:nvSpPr>
        <p:spPr>
          <a:xfrm>
            <a:off x="251520" y="1988840"/>
            <a:ext cx="8640960" cy="400110"/>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length </a:t>
            </a:r>
            <a:r>
              <a:rPr lang="en-US" sz="2000" dirty="0">
                <a:latin typeface="Tahoma" panose="020B0604030504040204" pitchFamily="34" charset="0"/>
                <a:ea typeface="Tahoma" panose="020B0604030504040204" pitchFamily="34" charset="0"/>
                <a:cs typeface="Tahoma" panose="020B0604030504040204" pitchFamily="34" charset="0"/>
              </a:rPr>
              <a:t>is accessed using the array name and the dot operator.</a:t>
            </a:r>
          </a:p>
        </p:txBody>
      </p:sp>
      <p:sp>
        <p:nvSpPr>
          <p:cNvPr id="29" name="TextBox 28"/>
          <p:cNvSpPr txBox="1"/>
          <p:nvPr/>
        </p:nvSpPr>
        <p:spPr>
          <a:xfrm>
            <a:off x="251520" y="2380818"/>
            <a:ext cx="8640960" cy="400110"/>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Consider the following examples:</a:t>
            </a:r>
          </a:p>
        </p:txBody>
      </p:sp>
      <p:grpSp>
        <p:nvGrpSpPr>
          <p:cNvPr id="30" name="Group 29"/>
          <p:cNvGrpSpPr/>
          <p:nvPr/>
        </p:nvGrpSpPr>
        <p:grpSpPr>
          <a:xfrm>
            <a:off x="179513" y="2926685"/>
            <a:ext cx="8784976" cy="646331"/>
            <a:chOff x="323529" y="1236822"/>
            <a:chExt cx="7848872" cy="607759"/>
          </a:xfrm>
        </p:grpSpPr>
        <p:sp>
          <p:nvSpPr>
            <p:cNvPr id="31" name="TextBox 30"/>
            <p:cNvSpPr txBox="1"/>
            <p:nvPr/>
          </p:nvSpPr>
          <p:spPr>
            <a:xfrm>
              <a:off x="611561" y="1236822"/>
              <a:ext cx="7560840" cy="607759"/>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B0F0"/>
                  </a:solidFill>
                </a:rPr>
                <a:t>double[] </a:t>
              </a:r>
              <a:r>
                <a:rPr lang="en-US" dirty="0">
                  <a:solidFill>
                    <a:srgbClr val="0000FF"/>
                  </a:solidFill>
                </a:rPr>
                <a:t>sales = {12.25, 24.2, 32.55, 50.33};</a:t>
              </a:r>
            </a:p>
            <a:p>
              <a:r>
                <a:rPr lang="en-US" dirty="0" err="1">
                  <a:solidFill>
                    <a:srgbClr val="0000FF"/>
                  </a:solidFill>
                </a:rPr>
                <a:t>System.out.printf</a:t>
              </a:r>
              <a:r>
                <a:rPr lang="en-US" dirty="0">
                  <a:solidFill>
                    <a:srgbClr val="0000FF"/>
                  </a:solidFill>
                </a:rPr>
                <a:t> (“The length of the sales array = %d”, </a:t>
              </a:r>
              <a:r>
                <a:rPr lang="en-US" dirty="0" err="1">
                  <a:solidFill>
                    <a:srgbClr val="0000FF"/>
                  </a:solidFill>
                </a:rPr>
                <a:t>sales.length</a:t>
              </a:r>
              <a:r>
                <a:rPr lang="en-US" dirty="0">
                  <a:solidFill>
                    <a:srgbClr val="0000FF"/>
                  </a:solidFill>
                </a:rPr>
                <a:t>);</a:t>
              </a:r>
            </a:p>
          </p:txBody>
        </p:sp>
        <p:sp>
          <p:nvSpPr>
            <p:cNvPr id="32" name="TextBox 31"/>
            <p:cNvSpPr txBox="1"/>
            <p:nvPr/>
          </p:nvSpPr>
          <p:spPr>
            <a:xfrm>
              <a:off x="323529" y="1236822"/>
              <a:ext cx="288032" cy="607759"/>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p:txBody>
        </p:sp>
      </p:grpSp>
      <p:grpSp>
        <p:nvGrpSpPr>
          <p:cNvPr id="33" name="Group 32"/>
          <p:cNvGrpSpPr/>
          <p:nvPr/>
        </p:nvGrpSpPr>
        <p:grpSpPr>
          <a:xfrm>
            <a:off x="179512" y="4294837"/>
            <a:ext cx="8784976" cy="646331"/>
            <a:chOff x="323529" y="1236822"/>
            <a:chExt cx="7848872" cy="607759"/>
          </a:xfrm>
        </p:grpSpPr>
        <p:sp>
          <p:nvSpPr>
            <p:cNvPr id="34" name="TextBox 33"/>
            <p:cNvSpPr txBox="1"/>
            <p:nvPr/>
          </p:nvSpPr>
          <p:spPr>
            <a:xfrm>
              <a:off x="611561" y="1236822"/>
              <a:ext cx="7560840" cy="607759"/>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 </a:t>
              </a:r>
              <a:r>
                <a:rPr lang="en-US" dirty="0">
                  <a:solidFill>
                    <a:srgbClr val="0000FF"/>
                  </a:solidFill>
                </a:rPr>
                <a:t>numbers = </a:t>
              </a:r>
              <a:r>
                <a:rPr lang="en-US" dirty="0">
                  <a:solidFill>
                    <a:srgbClr val="00B0F0"/>
                  </a:solidFill>
                </a:rPr>
                <a:t>new </a:t>
              </a:r>
              <a:r>
                <a:rPr lang="en-US" dirty="0" err="1">
                  <a:solidFill>
                    <a:srgbClr val="00B0F0"/>
                  </a:solidFill>
                </a:rPr>
                <a:t>int</a:t>
              </a:r>
              <a:r>
                <a:rPr lang="en-US" dirty="0">
                  <a:solidFill>
                    <a:srgbClr val="0000FF"/>
                  </a:solidFill>
                </a:rPr>
                <a:t>[10];</a:t>
              </a:r>
            </a:p>
            <a:p>
              <a:r>
                <a:rPr lang="en-US" dirty="0" err="1">
                  <a:solidFill>
                    <a:srgbClr val="0000FF"/>
                  </a:solidFill>
                </a:rPr>
                <a:t>System.out.printf</a:t>
              </a:r>
              <a:r>
                <a:rPr lang="en-US" dirty="0">
                  <a:solidFill>
                    <a:srgbClr val="0000FF"/>
                  </a:solidFill>
                </a:rPr>
                <a:t> (“Length of numbers = %d”, </a:t>
              </a:r>
              <a:r>
                <a:rPr lang="en-US" dirty="0" err="1">
                  <a:solidFill>
                    <a:srgbClr val="0000FF"/>
                  </a:solidFill>
                </a:rPr>
                <a:t>numbers.length</a:t>
              </a:r>
              <a:r>
                <a:rPr lang="en-US" dirty="0">
                  <a:solidFill>
                    <a:srgbClr val="0000FF"/>
                  </a:solidFill>
                </a:rPr>
                <a:t>);</a:t>
              </a:r>
            </a:p>
          </p:txBody>
        </p:sp>
        <p:sp>
          <p:nvSpPr>
            <p:cNvPr id="35" name="TextBox 34"/>
            <p:cNvSpPr txBox="1"/>
            <p:nvPr/>
          </p:nvSpPr>
          <p:spPr>
            <a:xfrm>
              <a:off x="323529" y="1236822"/>
              <a:ext cx="288032" cy="607759"/>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p:txBody>
        </p:sp>
      </p:grpSp>
      <p:grpSp>
        <p:nvGrpSpPr>
          <p:cNvPr id="36" name="Group 35"/>
          <p:cNvGrpSpPr/>
          <p:nvPr/>
        </p:nvGrpSpPr>
        <p:grpSpPr>
          <a:xfrm>
            <a:off x="1955934" y="3645022"/>
            <a:ext cx="7008554" cy="307777"/>
            <a:chOff x="683568" y="1236822"/>
            <a:chExt cx="7488832" cy="307777"/>
          </a:xfrm>
        </p:grpSpPr>
        <p:sp>
          <p:nvSpPr>
            <p:cNvPr id="37" name="TextBox 36"/>
            <p:cNvSpPr txBox="1"/>
            <p:nvPr/>
          </p:nvSpPr>
          <p:spPr>
            <a:xfrm>
              <a:off x="971600" y="1236822"/>
              <a:ext cx="7200800" cy="307777"/>
            </a:xfrm>
            <a:prstGeom prst="rect">
              <a:avLst/>
            </a:prstGeom>
            <a:solidFill>
              <a:srgbClr val="0000FF"/>
            </a:solidFill>
            <a:ln w="28575" cap="rnd" cmpd="thickThin">
              <a:solidFill>
                <a:srgbClr val="0000FF"/>
              </a:solidFill>
            </a:ln>
          </p:spPr>
          <p:txBody>
            <a:bodyPr wrap="square" rtlCol="0">
              <a:spAutoFit/>
            </a:bodyPr>
            <a:lstStyle/>
            <a:p>
              <a:r>
                <a:rPr lang="en-US" sz="1400" dirty="0">
                  <a:solidFill>
                    <a:schemeClr val="bg1"/>
                  </a:solidFill>
                </a:rPr>
                <a:t>The length of the sales array = 4</a:t>
              </a:r>
            </a:p>
          </p:txBody>
        </p:sp>
        <p:sp>
          <p:nvSpPr>
            <p:cNvPr id="38" name="TextBox 37"/>
            <p:cNvSpPr txBox="1"/>
            <p:nvPr/>
          </p:nvSpPr>
          <p:spPr>
            <a:xfrm>
              <a:off x="683568" y="1236822"/>
              <a:ext cx="216024" cy="307777"/>
            </a:xfrm>
            <a:prstGeom prst="rect">
              <a:avLst/>
            </a:prstGeom>
            <a:noFill/>
          </p:spPr>
          <p:txBody>
            <a:bodyPr wrap="square" rtlCol="0">
              <a:spAutoFit/>
            </a:bodyPr>
            <a:lstStyle/>
            <a:p>
              <a:r>
                <a:rPr lang="en-US" sz="1400" dirty="0">
                  <a:solidFill>
                    <a:srgbClr val="FF0000"/>
                  </a:solidFill>
                </a:rPr>
                <a:t>1</a:t>
              </a:r>
            </a:p>
          </p:txBody>
        </p:sp>
      </p:grpSp>
      <p:sp>
        <p:nvSpPr>
          <p:cNvPr id="39" name="Rounded Rectangle 38"/>
          <p:cNvSpPr/>
          <p:nvPr/>
        </p:nvSpPr>
        <p:spPr>
          <a:xfrm>
            <a:off x="251520" y="3645024"/>
            <a:ext cx="1296144" cy="331478"/>
          </a:xfrm>
          <a:prstGeom prst="roundRect">
            <a:avLst/>
          </a:prstGeom>
          <a:solidFill>
            <a:srgbClr val="00B0F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Output</a:t>
            </a:r>
          </a:p>
        </p:txBody>
      </p:sp>
      <p:grpSp>
        <p:nvGrpSpPr>
          <p:cNvPr id="40" name="Group 39"/>
          <p:cNvGrpSpPr/>
          <p:nvPr/>
        </p:nvGrpSpPr>
        <p:grpSpPr>
          <a:xfrm>
            <a:off x="1955934" y="5041736"/>
            <a:ext cx="7008554" cy="307777"/>
            <a:chOff x="683568" y="1236822"/>
            <a:chExt cx="7488832" cy="307777"/>
          </a:xfrm>
        </p:grpSpPr>
        <p:sp>
          <p:nvSpPr>
            <p:cNvPr id="41" name="TextBox 40"/>
            <p:cNvSpPr txBox="1"/>
            <p:nvPr/>
          </p:nvSpPr>
          <p:spPr>
            <a:xfrm>
              <a:off x="971600" y="1236822"/>
              <a:ext cx="7200800" cy="307777"/>
            </a:xfrm>
            <a:prstGeom prst="rect">
              <a:avLst/>
            </a:prstGeom>
            <a:solidFill>
              <a:srgbClr val="0000FF"/>
            </a:solidFill>
            <a:ln w="28575" cap="rnd" cmpd="thickThin">
              <a:solidFill>
                <a:srgbClr val="0000FF"/>
              </a:solidFill>
            </a:ln>
          </p:spPr>
          <p:txBody>
            <a:bodyPr wrap="square" rtlCol="0">
              <a:spAutoFit/>
            </a:bodyPr>
            <a:lstStyle/>
            <a:p>
              <a:r>
                <a:rPr lang="en-US" sz="1400" dirty="0">
                  <a:solidFill>
                    <a:schemeClr val="bg1"/>
                  </a:solidFill>
                </a:rPr>
                <a:t>Length of numbers = 10</a:t>
              </a:r>
            </a:p>
          </p:txBody>
        </p:sp>
        <p:sp>
          <p:nvSpPr>
            <p:cNvPr id="42" name="TextBox 41"/>
            <p:cNvSpPr txBox="1"/>
            <p:nvPr/>
          </p:nvSpPr>
          <p:spPr>
            <a:xfrm>
              <a:off x="683568" y="1236822"/>
              <a:ext cx="216024" cy="307777"/>
            </a:xfrm>
            <a:prstGeom prst="rect">
              <a:avLst/>
            </a:prstGeom>
            <a:noFill/>
          </p:spPr>
          <p:txBody>
            <a:bodyPr wrap="square" rtlCol="0">
              <a:spAutoFit/>
            </a:bodyPr>
            <a:lstStyle/>
            <a:p>
              <a:r>
                <a:rPr lang="en-US" sz="1400" dirty="0">
                  <a:solidFill>
                    <a:srgbClr val="FF0000"/>
                  </a:solidFill>
                </a:rPr>
                <a:t>1</a:t>
              </a:r>
            </a:p>
          </p:txBody>
        </p:sp>
      </p:grpSp>
      <p:sp>
        <p:nvSpPr>
          <p:cNvPr id="43" name="Rounded Rectangle 42"/>
          <p:cNvSpPr/>
          <p:nvPr/>
        </p:nvSpPr>
        <p:spPr>
          <a:xfrm>
            <a:off x="251520" y="5041738"/>
            <a:ext cx="1296144" cy="331478"/>
          </a:xfrm>
          <a:prstGeom prst="roundRect">
            <a:avLst/>
          </a:prstGeom>
          <a:solidFill>
            <a:srgbClr val="00B0F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Output</a:t>
            </a:r>
          </a:p>
        </p:txBody>
      </p:sp>
      <p:sp>
        <p:nvSpPr>
          <p:cNvPr id="44" name="Rectangle 43"/>
          <p:cNvSpPr/>
          <p:nvPr/>
        </p:nvSpPr>
        <p:spPr>
          <a:xfrm>
            <a:off x="611560" y="6129300"/>
            <a:ext cx="8082531" cy="468052"/>
          </a:xfrm>
          <a:prstGeom prst="rect">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Maximum index = length - 1</a:t>
            </a:r>
            <a:endParaRPr lang="en-US" dirty="0">
              <a:solidFill>
                <a:srgbClr val="FFFF00"/>
              </a:solidFill>
            </a:endParaRPr>
          </a:p>
        </p:txBody>
      </p:sp>
    </p:spTree>
    <p:extLst>
      <p:ext uri="{BB962C8B-B14F-4D97-AF65-F5344CB8AC3E}">
        <p14:creationId xmlns:p14="http://schemas.microsoft.com/office/powerpoint/2010/main" val="3967698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par>
                                <p:cTn id="23" presetID="22" presetClass="entr" presetSubtype="2"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right)">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left)">
                                      <p:cBhvr>
                                        <p:cTn id="30" dur="500"/>
                                        <p:tgtEl>
                                          <p:spTgt spid="36"/>
                                        </p:tgtEl>
                                      </p:cBhvr>
                                    </p:animEffect>
                                  </p:childTnLst>
                                </p:cTn>
                              </p:par>
                              <p:par>
                                <p:cTn id="31" presetID="22" presetClass="entr" presetSubtype="2"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wipe(right)">
                                      <p:cBhvr>
                                        <p:cTn id="33" dur="500"/>
                                        <p:tgtEl>
                                          <p:spTgt spid="3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wipe(right)">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wipe(right)">
                                      <p:cBhvr>
                                        <p:cTn id="43" dur="500"/>
                                        <p:tgtEl>
                                          <p:spTgt spid="43"/>
                                        </p:tgtEl>
                                      </p:cBhvr>
                                    </p:animEffect>
                                  </p:childTnLst>
                                </p:cTn>
                              </p:par>
                              <p:par>
                                <p:cTn id="44" presetID="22" presetClass="entr" presetSubtype="8" fill="hold"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wipe(left)">
                                      <p:cBhvr>
                                        <p:cTn id="46" dur="5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fade">
                                      <p:cBhvr>
                                        <p:cTn id="51" dur="1000"/>
                                        <p:tgtEl>
                                          <p:spTgt spid="44"/>
                                        </p:tgtEl>
                                      </p:cBhvr>
                                    </p:animEffect>
                                    <p:anim calcmode="lin" valueType="num">
                                      <p:cBhvr>
                                        <p:cTn id="52" dur="1000" fill="hold"/>
                                        <p:tgtEl>
                                          <p:spTgt spid="44"/>
                                        </p:tgtEl>
                                        <p:attrNameLst>
                                          <p:attrName>ppt_x</p:attrName>
                                        </p:attrNameLst>
                                      </p:cBhvr>
                                      <p:tavLst>
                                        <p:tav tm="0">
                                          <p:val>
                                            <p:strVal val="#ppt_x"/>
                                          </p:val>
                                        </p:tav>
                                        <p:tav tm="100000">
                                          <p:val>
                                            <p:strVal val="#ppt_x"/>
                                          </p:val>
                                        </p:tav>
                                      </p:tavLst>
                                    </p:anim>
                                    <p:anim calcmode="lin" valueType="num">
                                      <p:cBhvr>
                                        <p:cTn id="53"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28" grpId="0"/>
      <p:bldP spid="29" grpId="0"/>
      <p:bldP spid="39" grpId="0" animBg="1"/>
      <p:bldP spid="43" grpId="0" animBg="1"/>
      <p:bldP spid="4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6. ARRAY INITIALIZATION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16</a:t>
            </a:fld>
            <a:endParaRPr lang="en-US"/>
          </a:p>
        </p:txBody>
      </p:sp>
      <p:sp>
        <p:nvSpPr>
          <p:cNvPr id="10" name="TextBox 9"/>
          <p:cNvSpPr txBox="1"/>
          <p:nvPr/>
        </p:nvSpPr>
        <p:spPr>
          <a:xfrm>
            <a:off x="251520" y="836712"/>
            <a:ext cx="8640960" cy="267765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400" dirty="0">
                <a:latin typeface="Tahoma" panose="020B0604030504040204" pitchFamily="34" charset="0"/>
                <a:ea typeface="Tahoma" panose="020B0604030504040204" pitchFamily="34" charset="0"/>
                <a:cs typeface="Tahoma" panose="020B0604030504040204" pitchFamily="34" charset="0"/>
              </a:rPr>
              <a:t>When instantiating an array object, the initial values depend on the array type:</a:t>
            </a:r>
          </a:p>
          <a:p>
            <a:pPr marL="800100" lvl="1" indent="-342900">
              <a:buClr>
                <a:srgbClr val="FF0000"/>
              </a:buClr>
              <a:buFont typeface="Courier New" panose="02070309020205020404" pitchFamily="49" charset="0"/>
              <a:buChar char="o"/>
            </a:pP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For numeric types (</a:t>
            </a:r>
            <a:r>
              <a:rPr lang="en-US" sz="2400" dirty="0" err="1">
                <a:solidFill>
                  <a:srgbClr val="00B0F0"/>
                </a:solidFill>
                <a:latin typeface="Tahoma" panose="020B0604030504040204" pitchFamily="34" charset="0"/>
                <a:ea typeface="Tahoma" panose="020B0604030504040204" pitchFamily="34" charset="0"/>
                <a:cs typeface="Tahoma" panose="020B0604030504040204" pitchFamily="34" charset="0"/>
              </a:rPr>
              <a:t>int</a:t>
            </a: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400" dirty="0">
                <a:solidFill>
                  <a:srgbClr val="00B0F0"/>
                </a:solidFill>
                <a:latin typeface="Tahoma" panose="020B0604030504040204" pitchFamily="34" charset="0"/>
                <a:ea typeface="Tahoma" panose="020B0604030504040204" pitchFamily="34" charset="0"/>
                <a:cs typeface="Tahoma" panose="020B0604030504040204" pitchFamily="34" charset="0"/>
              </a:rPr>
              <a:t>double</a:t>
            </a: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 etc…) the elements take the value </a:t>
            </a:r>
            <a:r>
              <a:rPr lang="en-US" sz="2400" dirty="0">
                <a:solidFill>
                  <a:srgbClr val="FF0000"/>
                </a:solidFill>
                <a:latin typeface="Tahoma" panose="020B0604030504040204" pitchFamily="34" charset="0"/>
                <a:ea typeface="Tahoma" panose="020B0604030504040204" pitchFamily="34" charset="0"/>
                <a:cs typeface="Tahoma" panose="020B0604030504040204" pitchFamily="34" charset="0"/>
              </a:rPr>
              <a:t>zero </a:t>
            </a: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by default.</a:t>
            </a:r>
          </a:p>
          <a:p>
            <a:pPr marL="800100" lvl="1" indent="-342900">
              <a:buClr>
                <a:srgbClr val="FF0000"/>
              </a:buClr>
              <a:buFont typeface="Courier New" panose="02070309020205020404" pitchFamily="49" charset="0"/>
              <a:buChar char="o"/>
            </a:pP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For </a:t>
            </a:r>
            <a:r>
              <a:rPr lang="en-US" sz="2400" dirty="0">
                <a:solidFill>
                  <a:srgbClr val="00B0F0"/>
                </a:solidFill>
                <a:latin typeface="Tahoma" panose="020B0604030504040204" pitchFamily="34" charset="0"/>
                <a:ea typeface="Tahoma" panose="020B0604030504040204" pitchFamily="34" charset="0"/>
                <a:cs typeface="Tahoma" panose="020B0604030504040204" pitchFamily="34" charset="0"/>
              </a:rPr>
              <a:t>char </a:t>
            </a: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type, the elements take the value </a:t>
            </a:r>
            <a:r>
              <a:rPr lang="en-US" sz="2400" dirty="0">
                <a:solidFill>
                  <a:srgbClr val="FF0000"/>
                </a:solidFill>
                <a:latin typeface="Tahoma" panose="020B0604030504040204" pitchFamily="34" charset="0"/>
                <a:ea typeface="Tahoma" panose="020B0604030504040204" pitchFamily="34" charset="0"/>
                <a:cs typeface="Tahoma" panose="020B0604030504040204" pitchFamily="34" charset="0"/>
              </a:rPr>
              <a:t>null </a:t>
            </a: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character (‘’).</a:t>
            </a:r>
          </a:p>
          <a:p>
            <a:pPr marL="800100" lvl="1" indent="-342900">
              <a:buClr>
                <a:srgbClr val="FF0000"/>
              </a:buClr>
              <a:buFont typeface="Courier New" panose="02070309020205020404" pitchFamily="49" charset="0"/>
              <a:buChar char="o"/>
            </a:pP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For </a:t>
            </a:r>
            <a:r>
              <a:rPr lang="en-US" sz="2400" dirty="0" err="1">
                <a:solidFill>
                  <a:srgbClr val="00B0F0"/>
                </a:solidFill>
                <a:latin typeface="Tahoma" panose="020B0604030504040204" pitchFamily="34" charset="0"/>
                <a:ea typeface="Tahoma" panose="020B0604030504040204" pitchFamily="34" charset="0"/>
                <a:cs typeface="Tahoma" panose="020B0604030504040204" pitchFamily="34" charset="0"/>
              </a:rPr>
              <a:t>boolean</a:t>
            </a:r>
            <a:r>
              <a:rPr lang="en-US" sz="2400" dirty="0">
                <a:solidFill>
                  <a:srgbClr val="00B0F0"/>
                </a:solidFill>
                <a:latin typeface="Tahoma" panose="020B0604030504040204" pitchFamily="34" charset="0"/>
                <a:ea typeface="Tahoma" panose="020B0604030504040204" pitchFamily="34" charset="0"/>
                <a:cs typeface="Tahoma" panose="020B0604030504040204" pitchFamily="34" charset="0"/>
              </a:rPr>
              <a:t> </a:t>
            </a: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type, the elements take the value </a:t>
            </a:r>
            <a:r>
              <a:rPr lang="en-US" sz="2400" dirty="0">
                <a:solidFill>
                  <a:srgbClr val="FF0000"/>
                </a:solidFill>
                <a:latin typeface="Tahoma" panose="020B0604030504040204" pitchFamily="34" charset="0"/>
                <a:ea typeface="Tahoma" panose="020B0604030504040204" pitchFamily="34" charset="0"/>
                <a:cs typeface="Tahoma" panose="020B0604030504040204" pitchFamily="34" charset="0"/>
              </a:rPr>
              <a:t>false</a:t>
            </a:r>
            <a:r>
              <a:rPr lang="en-US" sz="2400" dirty="0">
                <a:solidFill>
                  <a:srgbClr val="0000FF"/>
                </a:solidFill>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389725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left)">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left)">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wipe(left)">
                                      <p:cBhvr>
                                        <p:cTn id="2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6. ARRAY INITIALIZATION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17</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6.1 INITIALIZATION DURING DECLARATION</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179513" y="2051556"/>
            <a:ext cx="8784976" cy="369332"/>
            <a:chOff x="323529" y="1236822"/>
            <a:chExt cx="7848872" cy="347291"/>
          </a:xfrm>
        </p:grpSpPr>
        <p:sp>
          <p:nvSpPr>
            <p:cNvPr id="23" name="TextBox 22"/>
            <p:cNvSpPr txBox="1"/>
            <p:nvPr/>
          </p:nvSpPr>
          <p:spPr>
            <a:xfrm>
              <a:off x="611561" y="1236822"/>
              <a:ext cx="7560840" cy="347291"/>
            </a:xfrm>
            <a:prstGeom prst="rect">
              <a:avLst/>
            </a:prstGeom>
            <a:solidFill>
              <a:schemeClr val="bg2"/>
            </a:solidFill>
            <a:ln w="28575" cap="rnd" cmpd="thickThin">
              <a:solidFill>
                <a:srgbClr val="0000FF"/>
              </a:solidFill>
            </a:ln>
          </p:spPr>
          <p:txBody>
            <a:bodyPr wrap="square" rtlCol="0">
              <a:spAutoFit/>
            </a:bodyPr>
            <a:lstStyle/>
            <a:p>
              <a:r>
                <a:rPr lang="en-US" dirty="0">
                  <a:solidFill>
                    <a:srgbClr val="00B0F0"/>
                  </a:solidFill>
                </a:rPr>
                <a:t>double[] </a:t>
              </a:r>
              <a:r>
                <a:rPr lang="en-US" dirty="0">
                  <a:solidFill>
                    <a:srgbClr val="0000FF"/>
                  </a:solidFill>
                </a:rPr>
                <a:t>sales = {12.25, 24.2, 32.55, 50.33};</a:t>
              </a:r>
            </a:p>
          </p:txBody>
        </p:sp>
        <p:sp>
          <p:nvSpPr>
            <p:cNvPr id="24" name="TextBox 23"/>
            <p:cNvSpPr txBox="1"/>
            <p:nvPr/>
          </p:nvSpPr>
          <p:spPr>
            <a:xfrm>
              <a:off x="323529" y="1236822"/>
              <a:ext cx="288032" cy="347291"/>
            </a:xfrm>
            <a:prstGeom prst="rect">
              <a:avLst/>
            </a:prstGeom>
            <a:noFill/>
          </p:spPr>
          <p:txBody>
            <a:bodyPr wrap="square" rtlCol="0">
              <a:spAutoFit/>
            </a:bodyPr>
            <a:lstStyle/>
            <a:p>
              <a:pPr algn="r"/>
              <a:r>
                <a:rPr lang="en-US" dirty="0">
                  <a:solidFill>
                    <a:srgbClr val="FF0000"/>
                  </a:solidFill>
                </a:rPr>
                <a:t>1</a:t>
              </a:r>
            </a:p>
          </p:txBody>
        </p:sp>
      </p:grpSp>
      <p:sp>
        <p:nvSpPr>
          <p:cNvPr id="10" name="TextBox 9"/>
          <p:cNvSpPr txBox="1"/>
          <p:nvPr/>
        </p:nvSpPr>
        <p:spPr>
          <a:xfrm>
            <a:off x="251520" y="1259468"/>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As previously seen, an array can be initialized with specific values when it is declared:</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p:cNvSpPr txBox="1"/>
          <p:nvPr/>
        </p:nvSpPr>
        <p:spPr>
          <a:xfrm>
            <a:off x="251520" y="2492896"/>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i="1" dirty="0">
                <a:latin typeface="Tahoma" panose="020B0604030504040204" pitchFamily="34" charset="0"/>
                <a:ea typeface="Tahoma" panose="020B0604030504040204" pitchFamily="34" charset="0"/>
                <a:cs typeface="Tahoma" panose="020B0604030504040204" pitchFamily="34" charset="0"/>
              </a:rPr>
              <a:t>Refer to slide 10.</a:t>
            </a:r>
            <a:endParaRPr lang="en-US" sz="2000" i="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25" name="Table 24"/>
          <p:cNvGraphicFramePr>
            <a:graphicFrameLocks noGrp="1"/>
          </p:cNvGraphicFramePr>
          <p:nvPr>
            <p:extLst>
              <p:ext uri="{D42A27DB-BD31-4B8C-83A1-F6EECF244321}">
                <p14:modId xmlns:p14="http://schemas.microsoft.com/office/powerpoint/2010/main" val="2728593876"/>
              </p:ext>
            </p:extLst>
          </p:nvPr>
        </p:nvGraphicFramePr>
        <p:xfrm>
          <a:off x="539552" y="3407400"/>
          <a:ext cx="5688631" cy="741680"/>
        </p:xfrm>
        <a:graphic>
          <a:graphicData uri="http://schemas.openxmlformats.org/drawingml/2006/table">
            <a:tbl>
              <a:tblPr firstRow="1" bandRow="1">
                <a:tableStyleId>{5C22544A-7EE6-4342-B048-85BDC9FD1C3A}</a:tableStyleId>
              </a:tblPr>
              <a:tblGrid>
                <a:gridCol w="1380129">
                  <a:extLst>
                    <a:ext uri="{9D8B030D-6E8A-4147-A177-3AD203B41FA5}">
                      <a16:colId xmlns:a16="http://schemas.microsoft.com/office/drawing/2014/main" val="20000"/>
                    </a:ext>
                  </a:extLst>
                </a:gridCol>
                <a:gridCol w="1121354">
                  <a:extLst>
                    <a:ext uri="{9D8B030D-6E8A-4147-A177-3AD203B41FA5}">
                      <a16:colId xmlns:a16="http://schemas.microsoft.com/office/drawing/2014/main" val="20001"/>
                    </a:ext>
                  </a:extLst>
                </a:gridCol>
                <a:gridCol w="1121354">
                  <a:extLst>
                    <a:ext uri="{9D8B030D-6E8A-4147-A177-3AD203B41FA5}">
                      <a16:colId xmlns:a16="http://schemas.microsoft.com/office/drawing/2014/main" val="20002"/>
                    </a:ext>
                  </a:extLst>
                </a:gridCol>
                <a:gridCol w="1121354">
                  <a:extLst>
                    <a:ext uri="{9D8B030D-6E8A-4147-A177-3AD203B41FA5}">
                      <a16:colId xmlns:a16="http://schemas.microsoft.com/office/drawing/2014/main" val="20003"/>
                    </a:ext>
                  </a:extLst>
                </a:gridCol>
                <a:gridCol w="944440">
                  <a:extLst>
                    <a:ext uri="{9D8B030D-6E8A-4147-A177-3AD203B41FA5}">
                      <a16:colId xmlns:a16="http://schemas.microsoft.com/office/drawing/2014/main" val="20004"/>
                    </a:ext>
                  </a:extLst>
                </a:gridCol>
              </a:tblGrid>
              <a:tr h="370840">
                <a:tc>
                  <a:txBody>
                    <a:bodyPr/>
                    <a:lstStyle/>
                    <a:p>
                      <a:endParaRPr lang="en-US" sz="16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a:ln>
                            <a:noFill/>
                          </a:ln>
                          <a:solidFill>
                            <a:schemeClr val="tx1"/>
                          </a:solidFill>
                          <a:effectLst/>
                        </a:rPr>
                        <a:t>sales[0]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a:ln>
                            <a:noFill/>
                          </a:ln>
                          <a:solidFill>
                            <a:schemeClr val="tx1"/>
                          </a:solidFill>
                          <a:effectLst/>
                        </a:rPr>
                        <a:t>sales[1]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a:ln>
                            <a:noFill/>
                          </a:ln>
                          <a:solidFill>
                            <a:schemeClr val="tx1"/>
                          </a:solidFill>
                          <a:effectLst/>
                        </a:rPr>
                        <a:t>sales[2]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1600" b="0" cap="none" spc="0" dirty="0">
                          <a:ln>
                            <a:noFill/>
                          </a:ln>
                          <a:solidFill>
                            <a:schemeClr val="tx1"/>
                          </a:solidFill>
                          <a:effectLst/>
                        </a:rPr>
                        <a:t>sales[3]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370840">
                <a:tc>
                  <a:txBody>
                    <a:bodyPr/>
                    <a:lstStyle/>
                    <a:p>
                      <a:r>
                        <a:rPr lang="en-US" b="0" cap="none" spc="0" dirty="0">
                          <a:ln>
                            <a:noFill/>
                          </a:ln>
                          <a:solidFill>
                            <a:schemeClr val="tx1"/>
                          </a:solidFill>
                          <a:effectLst/>
                          <a:sym typeface="Wingdings" panose="05000000000000000000" pitchFamily="2" charset="2"/>
                        </a:rPr>
                        <a:t>sales</a:t>
                      </a:r>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12.25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24.2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32.55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b="0" cap="none" spc="0" dirty="0">
                          <a:ln>
                            <a:noFill/>
                          </a:ln>
                          <a:solidFill>
                            <a:schemeClr val="tx1"/>
                          </a:solidFill>
                          <a:effectLst/>
                        </a:rPr>
                        <a:t>50.33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
        <p:nvSpPr>
          <p:cNvPr id="26" name="TextBox 25"/>
          <p:cNvSpPr txBox="1"/>
          <p:nvPr/>
        </p:nvSpPr>
        <p:spPr>
          <a:xfrm>
            <a:off x="251520" y="2852936"/>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memory layout is as follows:</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1478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500"/>
                                        <p:tgtEl>
                                          <p:spTgt spid="10"/>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500"/>
                                        <p:tgtEl>
                                          <p:spTgt spid="26"/>
                                        </p:tgtEl>
                                      </p:cBhvr>
                                    </p:animEffect>
                                  </p:childTnLst>
                                </p:cTn>
                              </p:par>
                            </p:childTnLst>
                          </p:cTn>
                        </p:par>
                        <p:par>
                          <p:cTn id="25" fill="hold">
                            <p:stCondLst>
                              <p:cond delay="500"/>
                            </p:stCondLst>
                            <p:childTnLst>
                              <p:par>
                                <p:cTn id="26" presetID="47" presetClass="entr" presetSubtype="0"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1000"/>
                                        <p:tgtEl>
                                          <p:spTgt spid="25"/>
                                        </p:tgtEl>
                                      </p:cBhvr>
                                    </p:animEffect>
                                    <p:anim calcmode="lin" valueType="num">
                                      <p:cBhvr>
                                        <p:cTn id="29" dur="1000" fill="hold"/>
                                        <p:tgtEl>
                                          <p:spTgt spid="25"/>
                                        </p:tgtEl>
                                        <p:attrNameLst>
                                          <p:attrName>ppt_x</p:attrName>
                                        </p:attrNameLst>
                                      </p:cBhvr>
                                      <p:tavLst>
                                        <p:tav tm="0">
                                          <p:val>
                                            <p:strVal val="#ppt_x"/>
                                          </p:val>
                                        </p:tav>
                                        <p:tav tm="100000">
                                          <p:val>
                                            <p:strVal val="#ppt_x"/>
                                          </p:val>
                                        </p:tav>
                                      </p:tavLst>
                                    </p:anim>
                                    <p:anim calcmode="lin" valueType="num">
                                      <p:cBhvr>
                                        <p:cTn id="3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p:bldP spid="21" grpId="0"/>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6. ARRAY INITIALIZATION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18</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6.2 USING LOOPS</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179513" y="2012647"/>
            <a:ext cx="8784976" cy="1200329"/>
            <a:chOff x="323529" y="1236822"/>
            <a:chExt cx="7848872" cy="1128695"/>
          </a:xfrm>
        </p:grpSpPr>
        <p:sp>
          <p:nvSpPr>
            <p:cNvPr id="23" name="TextBox 22"/>
            <p:cNvSpPr txBox="1"/>
            <p:nvPr/>
          </p:nvSpPr>
          <p:spPr>
            <a:xfrm>
              <a:off x="611561" y="1236822"/>
              <a:ext cx="7560840" cy="1128695"/>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 </a:t>
              </a:r>
              <a:r>
                <a:rPr lang="en-US" dirty="0" err="1">
                  <a:solidFill>
                    <a:srgbClr val="0000FF"/>
                  </a:solidFill>
                </a:rPr>
                <a:t>numList</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[10];</a:t>
              </a:r>
            </a:p>
            <a:p>
              <a:r>
                <a:rPr lang="en-US" dirty="0" err="1">
                  <a:solidFill>
                    <a:srgbClr val="00B0F0"/>
                  </a:solidFill>
                </a:rPr>
                <a:t>int</a:t>
              </a:r>
              <a:r>
                <a:rPr lang="en-US" dirty="0">
                  <a:solidFill>
                    <a:srgbClr val="0000FF"/>
                  </a:solidFill>
                </a:rPr>
                <a:t> </a:t>
              </a:r>
              <a:r>
                <a:rPr lang="en-US" dirty="0" err="1">
                  <a:solidFill>
                    <a:srgbClr val="0000FF"/>
                  </a:solidFill>
                </a:rPr>
                <a:t>i</a:t>
              </a:r>
              <a:r>
                <a:rPr lang="en-US" dirty="0">
                  <a:solidFill>
                    <a:srgbClr val="0000FF"/>
                  </a:solidFill>
                </a:rPr>
                <a:t>;</a:t>
              </a:r>
            </a:p>
            <a:p>
              <a:r>
                <a:rPr lang="en-US" dirty="0">
                  <a:solidFill>
                    <a:srgbClr val="00B0F0"/>
                  </a:solidFill>
                </a:rPr>
                <a:t>for</a:t>
              </a:r>
              <a:r>
                <a:rPr lang="en-US" dirty="0">
                  <a:solidFill>
                    <a:srgbClr val="0000FF"/>
                  </a:solidFill>
                </a:rPr>
                <a:t> (</a:t>
              </a:r>
              <a:r>
                <a:rPr lang="en-US" dirty="0" err="1">
                  <a:solidFill>
                    <a:srgbClr val="0000FF"/>
                  </a:solidFill>
                </a:rPr>
                <a:t>i</a:t>
              </a:r>
              <a:r>
                <a:rPr lang="en-US" dirty="0">
                  <a:solidFill>
                    <a:srgbClr val="0000FF"/>
                  </a:solidFill>
                </a:rPr>
                <a:t> = 0; </a:t>
              </a:r>
              <a:r>
                <a:rPr lang="en-US" dirty="0" err="1">
                  <a:solidFill>
                    <a:srgbClr val="0000FF"/>
                  </a:solidFill>
                </a:rPr>
                <a:t>i</a:t>
              </a:r>
              <a:r>
                <a:rPr lang="en-US" dirty="0">
                  <a:solidFill>
                    <a:srgbClr val="0000FF"/>
                  </a:solidFill>
                </a:rPr>
                <a:t> &lt; </a:t>
              </a:r>
              <a:r>
                <a:rPr lang="en-US" dirty="0" err="1">
                  <a:solidFill>
                    <a:srgbClr val="0000FF"/>
                  </a:solidFill>
                </a:rPr>
                <a:t>numList.</a:t>
              </a:r>
              <a:r>
                <a:rPr lang="en-US" dirty="0" err="1">
                  <a:solidFill>
                    <a:srgbClr val="00B0F0"/>
                  </a:solidFill>
                </a:rPr>
                <a:t>length</a:t>
              </a:r>
              <a:r>
                <a:rPr lang="en-US" dirty="0">
                  <a:solidFill>
                    <a:srgbClr val="0000FF"/>
                  </a:solidFill>
                </a:rPr>
                <a:t>; </a:t>
              </a:r>
              <a:r>
                <a:rPr lang="en-US" dirty="0" err="1">
                  <a:solidFill>
                    <a:srgbClr val="0000FF"/>
                  </a:solidFill>
                </a:rPr>
                <a:t>i</a:t>
              </a:r>
              <a:r>
                <a:rPr lang="en-US" dirty="0">
                  <a:solidFill>
                    <a:srgbClr val="0000FF"/>
                  </a:solidFill>
                </a:rPr>
                <a:t>++)</a:t>
              </a:r>
            </a:p>
            <a:p>
              <a:r>
                <a:rPr lang="en-US" dirty="0">
                  <a:solidFill>
                    <a:srgbClr val="0000FF"/>
                  </a:solidFill>
                </a:rPr>
                <a:t>    </a:t>
              </a:r>
              <a:r>
                <a:rPr lang="en-US" dirty="0" err="1">
                  <a:solidFill>
                    <a:srgbClr val="0000FF"/>
                  </a:solidFill>
                </a:rPr>
                <a:t>numList</a:t>
              </a:r>
              <a:r>
                <a:rPr lang="en-US" dirty="0">
                  <a:solidFill>
                    <a:srgbClr val="0000FF"/>
                  </a:solidFill>
                </a:rPr>
                <a:t>[</a:t>
              </a:r>
              <a:r>
                <a:rPr lang="en-US" dirty="0" err="1">
                  <a:solidFill>
                    <a:srgbClr val="0000FF"/>
                  </a:solidFill>
                </a:rPr>
                <a:t>i</a:t>
              </a:r>
              <a:r>
                <a:rPr lang="en-US" dirty="0">
                  <a:solidFill>
                    <a:srgbClr val="0000FF"/>
                  </a:solidFill>
                </a:rPr>
                <a:t>] = 5;</a:t>
              </a:r>
            </a:p>
          </p:txBody>
        </p:sp>
        <p:sp>
          <p:nvSpPr>
            <p:cNvPr id="24" name="TextBox 23"/>
            <p:cNvSpPr txBox="1"/>
            <p:nvPr/>
          </p:nvSpPr>
          <p:spPr>
            <a:xfrm>
              <a:off x="323529" y="1236822"/>
              <a:ext cx="288032" cy="1128695"/>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a:p>
              <a:pPr algn="r"/>
              <a:r>
                <a:rPr lang="en-US" dirty="0">
                  <a:solidFill>
                    <a:srgbClr val="FF0000"/>
                  </a:solidFill>
                </a:rPr>
                <a:t>3</a:t>
              </a:r>
            </a:p>
            <a:p>
              <a:pPr algn="r"/>
              <a:r>
                <a:rPr lang="en-US" dirty="0">
                  <a:solidFill>
                    <a:srgbClr val="FF0000"/>
                  </a:solidFill>
                </a:rPr>
                <a:t>4</a:t>
              </a:r>
            </a:p>
          </p:txBody>
        </p:sp>
      </p:grpSp>
      <p:sp>
        <p:nvSpPr>
          <p:cNvPr id="10" name="TextBox 9"/>
          <p:cNvSpPr txBox="1"/>
          <p:nvPr/>
        </p:nvSpPr>
        <p:spPr>
          <a:xfrm>
            <a:off x="251520" y="1259468"/>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following example initializes all elements to the value “5” using the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for</a:t>
            </a:r>
            <a:r>
              <a:rPr lang="en-US" sz="2000" dirty="0">
                <a:latin typeface="Tahoma" panose="020B0604030504040204" pitchFamily="34" charset="0"/>
                <a:ea typeface="Tahoma" panose="020B0604030504040204" pitchFamily="34" charset="0"/>
                <a:cs typeface="Tahoma" panose="020B0604030504040204" pitchFamily="34" charset="0"/>
              </a:rPr>
              <a:t> statement: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nvGrpSpPr>
          <p:cNvPr id="15" name="Group 14"/>
          <p:cNvGrpSpPr/>
          <p:nvPr/>
        </p:nvGrpSpPr>
        <p:grpSpPr>
          <a:xfrm>
            <a:off x="179512" y="4494019"/>
            <a:ext cx="8784976" cy="2031325"/>
            <a:chOff x="323529" y="1236822"/>
            <a:chExt cx="7848872" cy="1910098"/>
          </a:xfrm>
        </p:grpSpPr>
        <p:sp>
          <p:nvSpPr>
            <p:cNvPr id="16" name="TextBox 15"/>
            <p:cNvSpPr txBox="1"/>
            <p:nvPr/>
          </p:nvSpPr>
          <p:spPr>
            <a:xfrm>
              <a:off x="611561" y="1236822"/>
              <a:ext cx="7560840" cy="1910098"/>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 </a:t>
              </a:r>
              <a:r>
                <a:rPr lang="en-US" dirty="0" err="1">
                  <a:solidFill>
                    <a:srgbClr val="0000FF"/>
                  </a:solidFill>
                </a:rPr>
                <a:t>numList</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[10];</a:t>
              </a:r>
            </a:p>
            <a:p>
              <a:r>
                <a:rPr lang="en-US" dirty="0" err="1">
                  <a:solidFill>
                    <a:srgbClr val="00B0F0"/>
                  </a:solidFill>
                </a:rPr>
                <a:t>int</a:t>
              </a:r>
              <a:r>
                <a:rPr lang="en-US" dirty="0">
                  <a:solidFill>
                    <a:srgbClr val="0000FF"/>
                  </a:solidFill>
                </a:rPr>
                <a:t> </a:t>
              </a:r>
              <a:r>
                <a:rPr lang="en-US" dirty="0" err="1">
                  <a:solidFill>
                    <a:srgbClr val="0000FF"/>
                  </a:solidFill>
                </a:rPr>
                <a:t>i</a:t>
              </a:r>
              <a:r>
                <a:rPr lang="en-US" dirty="0">
                  <a:solidFill>
                    <a:srgbClr val="0000FF"/>
                  </a:solidFill>
                </a:rPr>
                <a:t> = 0;</a:t>
              </a:r>
            </a:p>
            <a:p>
              <a:r>
                <a:rPr lang="en-US" dirty="0">
                  <a:solidFill>
                    <a:srgbClr val="00B0F0"/>
                  </a:solidFill>
                </a:rPr>
                <a:t>while</a:t>
              </a:r>
              <a:r>
                <a:rPr lang="en-US" dirty="0">
                  <a:solidFill>
                    <a:srgbClr val="0000FF"/>
                  </a:solidFill>
                </a:rPr>
                <a:t> (</a:t>
              </a:r>
              <a:r>
                <a:rPr lang="en-US" dirty="0" err="1">
                  <a:solidFill>
                    <a:srgbClr val="0000FF"/>
                  </a:solidFill>
                </a:rPr>
                <a:t>i</a:t>
              </a:r>
              <a:r>
                <a:rPr lang="en-US" dirty="0">
                  <a:solidFill>
                    <a:srgbClr val="0000FF"/>
                  </a:solidFill>
                </a:rPr>
                <a:t> &lt; </a:t>
              </a:r>
              <a:r>
                <a:rPr lang="en-US" dirty="0" err="1">
                  <a:solidFill>
                    <a:srgbClr val="0000FF"/>
                  </a:solidFill>
                </a:rPr>
                <a:t>numList.</a:t>
              </a:r>
              <a:r>
                <a:rPr lang="en-US" dirty="0" err="1">
                  <a:solidFill>
                    <a:srgbClr val="00B0F0"/>
                  </a:solidFill>
                </a:rPr>
                <a:t>length</a:t>
              </a:r>
              <a:r>
                <a:rPr lang="en-US" dirty="0">
                  <a:solidFill>
                    <a:srgbClr val="0000FF"/>
                  </a:solidFill>
                </a:rPr>
                <a:t>)</a:t>
              </a:r>
            </a:p>
            <a:p>
              <a:r>
                <a:rPr lang="en-US" dirty="0">
                  <a:solidFill>
                    <a:srgbClr val="0000FF"/>
                  </a:solidFill>
                </a:rPr>
                <a:t>   {</a:t>
              </a:r>
            </a:p>
            <a:p>
              <a:r>
                <a:rPr lang="en-US" dirty="0">
                  <a:solidFill>
                    <a:srgbClr val="0000FF"/>
                  </a:solidFill>
                </a:rPr>
                <a:t>    </a:t>
              </a:r>
              <a:r>
                <a:rPr lang="en-US" dirty="0" err="1">
                  <a:solidFill>
                    <a:srgbClr val="0000FF"/>
                  </a:solidFill>
                </a:rPr>
                <a:t>numList</a:t>
              </a:r>
              <a:r>
                <a:rPr lang="en-US" dirty="0">
                  <a:solidFill>
                    <a:srgbClr val="0000FF"/>
                  </a:solidFill>
                </a:rPr>
                <a:t>[</a:t>
              </a:r>
              <a:r>
                <a:rPr lang="en-US" dirty="0" err="1">
                  <a:solidFill>
                    <a:srgbClr val="0000FF"/>
                  </a:solidFill>
                </a:rPr>
                <a:t>i</a:t>
              </a:r>
              <a:r>
                <a:rPr lang="en-US" dirty="0">
                  <a:solidFill>
                    <a:srgbClr val="0000FF"/>
                  </a:solidFill>
                </a:rPr>
                <a:t>] = 5;</a:t>
              </a:r>
            </a:p>
            <a:p>
              <a:r>
                <a:rPr lang="en-US" dirty="0">
                  <a:solidFill>
                    <a:srgbClr val="0000FF"/>
                  </a:solidFill>
                </a:rPr>
                <a:t>    </a:t>
              </a:r>
              <a:r>
                <a:rPr lang="en-US" dirty="0" err="1">
                  <a:solidFill>
                    <a:srgbClr val="0000FF"/>
                  </a:solidFill>
                </a:rPr>
                <a:t>i</a:t>
              </a:r>
              <a:r>
                <a:rPr lang="en-US" dirty="0">
                  <a:solidFill>
                    <a:srgbClr val="0000FF"/>
                  </a:solidFill>
                </a:rPr>
                <a:t>++;</a:t>
              </a:r>
            </a:p>
            <a:p>
              <a:r>
                <a:rPr lang="en-US" dirty="0">
                  <a:solidFill>
                    <a:srgbClr val="0000FF"/>
                  </a:solidFill>
                </a:rPr>
                <a:t>   } </a:t>
              </a:r>
              <a:r>
                <a:rPr lang="en-US" dirty="0">
                  <a:solidFill>
                    <a:srgbClr val="00B050"/>
                  </a:solidFill>
                </a:rPr>
                <a:t>//end while</a:t>
              </a:r>
            </a:p>
          </p:txBody>
        </p:sp>
        <p:sp>
          <p:nvSpPr>
            <p:cNvPr id="18" name="TextBox 17"/>
            <p:cNvSpPr txBox="1"/>
            <p:nvPr/>
          </p:nvSpPr>
          <p:spPr>
            <a:xfrm>
              <a:off x="323529" y="1236822"/>
              <a:ext cx="288032" cy="1910098"/>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a:p>
              <a:pPr algn="r"/>
              <a:r>
                <a:rPr lang="en-US" dirty="0">
                  <a:solidFill>
                    <a:srgbClr val="FF0000"/>
                  </a:solidFill>
                </a:rPr>
                <a:t>3</a:t>
              </a:r>
            </a:p>
            <a:p>
              <a:pPr algn="r"/>
              <a:r>
                <a:rPr lang="en-US" dirty="0">
                  <a:solidFill>
                    <a:srgbClr val="FF0000"/>
                  </a:solidFill>
                </a:rPr>
                <a:t>4</a:t>
              </a:r>
            </a:p>
            <a:p>
              <a:pPr algn="r"/>
              <a:r>
                <a:rPr lang="en-US" dirty="0">
                  <a:solidFill>
                    <a:srgbClr val="FF0000"/>
                  </a:solidFill>
                </a:rPr>
                <a:t>5</a:t>
              </a:r>
            </a:p>
            <a:p>
              <a:pPr algn="r"/>
              <a:r>
                <a:rPr lang="en-US" dirty="0">
                  <a:solidFill>
                    <a:srgbClr val="FF0000"/>
                  </a:solidFill>
                </a:rPr>
                <a:t>6</a:t>
              </a:r>
            </a:p>
            <a:p>
              <a:pPr algn="r"/>
              <a:r>
                <a:rPr lang="en-US" dirty="0">
                  <a:solidFill>
                    <a:srgbClr val="FF0000"/>
                  </a:solidFill>
                </a:rPr>
                <a:t>7</a:t>
              </a:r>
            </a:p>
          </p:txBody>
        </p:sp>
      </p:grpSp>
      <p:sp>
        <p:nvSpPr>
          <p:cNvPr id="19" name="TextBox 18"/>
          <p:cNvSpPr txBox="1"/>
          <p:nvPr/>
        </p:nvSpPr>
        <p:spPr>
          <a:xfrm>
            <a:off x="251519" y="3740840"/>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following example initializes all elements to the value “5” using the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while</a:t>
            </a:r>
            <a:r>
              <a:rPr lang="en-US" sz="2000" dirty="0">
                <a:latin typeface="Tahoma" panose="020B0604030504040204" pitchFamily="34" charset="0"/>
                <a:ea typeface="Tahoma" panose="020B0604030504040204" pitchFamily="34" charset="0"/>
                <a:cs typeface="Tahoma" panose="020B0604030504040204" pitchFamily="34" charset="0"/>
              </a:rPr>
              <a:t> statement: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481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500"/>
                                        <p:tgtEl>
                                          <p:spTgt spid="10"/>
                                        </p:tgtEl>
                                      </p:cBhvr>
                                    </p:animEffect>
                                  </p:childTnLst>
                                </p:cTn>
                              </p:par>
                            </p:childTnLst>
                          </p:cTn>
                        </p:par>
                        <p:par>
                          <p:cTn id="11" fill="hold">
                            <p:stCondLst>
                              <p:cond delay="500"/>
                            </p:stCondLst>
                            <p:childTnLst>
                              <p:par>
                                <p:cTn id="12" presetID="22" presetClass="entr" presetSubtype="2" fill="hold"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righ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childTnLst>
                          </p:cTn>
                        </p:par>
                        <p:par>
                          <p:cTn id="20" fill="hold">
                            <p:stCondLst>
                              <p:cond delay="500"/>
                            </p:stCondLst>
                            <p:childTnLst>
                              <p:par>
                                <p:cTn id="21" presetID="22" presetClass="entr" presetSubtype="2"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righ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6. ARRAY INITIALIZATION</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19</a:t>
            </a:fld>
            <a:endParaRPr lang="en-US"/>
          </a:p>
        </p:txBody>
      </p:sp>
      <p:sp>
        <p:nvSpPr>
          <p:cNvPr id="12" name="Rectangle 11"/>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6.3 USER INPUT</a:t>
            </a:r>
          </a:p>
        </p:txBody>
      </p:sp>
      <p:cxnSp>
        <p:nvCxnSpPr>
          <p:cNvPr id="14" name="Straight Connector 13"/>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179513" y="2012647"/>
            <a:ext cx="8784976" cy="2031325"/>
            <a:chOff x="323529" y="1236822"/>
            <a:chExt cx="7848872" cy="1910098"/>
          </a:xfrm>
        </p:grpSpPr>
        <p:sp>
          <p:nvSpPr>
            <p:cNvPr id="23" name="TextBox 22"/>
            <p:cNvSpPr txBox="1"/>
            <p:nvPr/>
          </p:nvSpPr>
          <p:spPr>
            <a:xfrm>
              <a:off x="611561" y="1236822"/>
              <a:ext cx="7560840" cy="1910098"/>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 </a:t>
              </a:r>
              <a:r>
                <a:rPr lang="en-US" dirty="0" err="1">
                  <a:solidFill>
                    <a:srgbClr val="0000FF"/>
                  </a:solidFill>
                </a:rPr>
                <a:t>numList</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[10];</a:t>
              </a:r>
            </a:p>
            <a:p>
              <a:r>
                <a:rPr lang="en-US" dirty="0" err="1">
                  <a:solidFill>
                    <a:srgbClr val="00B0F0"/>
                  </a:solidFill>
                </a:rPr>
                <a:t>int</a:t>
              </a:r>
              <a:r>
                <a:rPr lang="en-US" dirty="0">
                  <a:solidFill>
                    <a:srgbClr val="0000FF"/>
                  </a:solidFill>
                </a:rPr>
                <a:t> </a:t>
              </a:r>
              <a:r>
                <a:rPr lang="en-US" dirty="0" err="1">
                  <a:solidFill>
                    <a:srgbClr val="0000FF"/>
                  </a:solidFill>
                </a:rPr>
                <a:t>i</a:t>
              </a:r>
              <a:r>
                <a:rPr lang="en-US" dirty="0">
                  <a:solidFill>
                    <a:srgbClr val="0000FF"/>
                  </a:solidFill>
                </a:rPr>
                <a:t>;</a:t>
              </a:r>
            </a:p>
            <a:p>
              <a:r>
                <a:rPr lang="en-US" dirty="0">
                  <a:solidFill>
                    <a:srgbClr val="00B0F0"/>
                  </a:solidFill>
                </a:rPr>
                <a:t>for</a:t>
              </a:r>
              <a:r>
                <a:rPr lang="en-US" dirty="0">
                  <a:solidFill>
                    <a:srgbClr val="0000FF"/>
                  </a:solidFill>
                </a:rPr>
                <a:t> (</a:t>
              </a:r>
              <a:r>
                <a:rPr lang="en-US" dirty="0" err="1">
                  <a:solidFill>
                    <a:srgbClr val="0000FF"/>
                  </a:solidFill>
                </a:rPr>
                <a:t>i</a:t>
              </a:r>
              <a:r>
                <a:rPr lang="en-US" dirty="0">
                  <a:solidFill>
                    <a:srgbClr val="0000FF"/>
                  </a:solidFill>
                </a:rPr>
                <a:t> = 0; </a:t>
              </a:r>
              <a:r>
                <a:rPr lang="en-US" dirty="0" err="1">
                  <a:solidFill>
                    <a:srgbClr val="0000FF"/>
                  </a:solidFill>
                </a:rPr>
                <a:t>i</a:t>
              </a:r>
              <a:r>
                <a:rPr lang="en-US" dirty="0">
                  <a:solidFill>
                    <a:srgbClr val="0000FF"/>
                  </a:solidFill>
                </a:rPr>
                <a:t> &lt; </a:t>
              </a:r>
              <a:r>
                <a:rPr lang="en-US" dirty="0" err="1">
                  <a:solidFill>
                    <a:srgbClr val="0000FF"/>
                  </a:solidFill>
                </a:rPr>
                <a:t>numList.</a:t>
              </a:r>
              <a:r>
                <a:rPr lang="en-US" dirty="0" err="1">
                  <a:solidFill>
                    <a:srgbClr val="00B0F0"/>
                  </a:solidFill>
                </a:rPr>
                <a:t>length</a:t>
              </a:r>
              <a:r>
                <a:rPr lang="en-US" dirty="0">
                  <a:solidFill>
                    <a:srgbClr val="0000FF"/>
                  </a:solidFill>
                </a:rPr>
                <a:t>; </a:t>
              </a:r>
              <a:r>
                <a:rPr lang="en-US" dirty="0" err="1">
                  <a:solidFill>
                    <a:srgbClr val="0000FF"/>
                  </a:solidFill>
                </a:rPr>
                <a:t>i</a:t>
              </a:r>
              <a:r>
                <a:rPr lang="en-US" dirty="0">
                  <a:solidFill>
                    <a:srgbClr val="0000FF"/>
                  </a:solidFill>
                </a:rPr>
                <a:t>++)</a:t>
              </a:r>
            </a:p>
            <a:p>
              <a:r>
                <a:rPr lang="en-US" dirty="0">
                  <a:solidFill>
                    <a:srgbClr val="0000FF"/>
                  </a:solidFill>
                </a:rPr>
                <a:t>    {</a:t>
              </a:r>
            </a:p>
            <a:p>
              <a:r>
                <a:rPr lang="en-US" dirty="0">
                  <a:solidFill>
                    <a:srgbClr val="0000FF"/>
                  </a:solidFill>
                </a:rPr>
                <a:t>      </a:t>
              </a:r>
              <a:r>
                <a:rPr lang="en-US" dirty="0" err="1">
                  <a:solidFill>
                    <a:srgbClr val="0000FF"/>
                  </a:solidFill>
                </a:rPr>
                <a:t>System.out.println</a:t>
              </a:r>
              <a:r>
                <a:rPr lang="en-US" dirty="0">
                  <a:solidFill>
                    <a:srgbClr val="0000FF"/>
                  </a:solidFill>
                </a:rPr>
                <a:t> (“Enter the value of the next element”);</a:t>
              </a:r>
              <a:r>
                <a:rPr lang="en-US" dirty="0">
                  <a:solidFill>
                    <a:srgbClr val="00B050"/>
                  </a:solidFill>
                </a:rPr>
                <a:t> //prompt</a:t>
              </a:r>
            </a:p>
            <a:p>
              <a:r>
                <a:rPr lang="en-US" dirty="0">
                  <a:solidFill>
                    <a:srgbClr val="0000FF"/>
                  </a:solidFill>
                </a:rPr>
                <a:t>      </a:t>
              </a:r>
              <a:r>
                <a:rPr lang="en-US" dirty="0" err="1">
                  <a:solidFill>
                    <a:srgbClr val="0000FF"/>
                  </a:solidFill>
                </a:rPr>
                <a:t>numList</a:t>
              </a:r>
              <a:r>
                <a:rPr lang="en-US" dirty="0">
                  <a:solidFill>
                    <a:srgbClr val="0000FF"/>
                  </a:solidFill>
                </a:rPr>
                <a:t>[</a:t>
              </a:r>
              <a:r>
                <a:rPr lang="en-US" dirty="0" err="1">
                  <a:solidFill>
                    <a:srgbClr val="0000FF"/>
                  </a:solidFill>
                </a:rPr>
                <a:t>i</a:t>
              </a:r>
              <a:r>
                <a:rPr lang="en-US" dirty="0">
                  <a:solidFill>
                    <a:srgbClr val="0000FF"/>
                  </a:solidFill>
                </a:rPr>
                <a:t>] = </a:t>
              </a:r>
              <a:r>
                <a:rPr lang="en-US" dirty="0" err="1">
                  <a:solidFill>
                    <a:srgbClr val="0000FF"/>
                  </a:solidFill>
                </a:rPr>
                <a:t>read.</a:t>
              </a:r>
              <a:r>
                <a:rPr lang="en-US" dirty="0" err="1">
                  <a:solidFill>
                    <a:srgbClr val="00B050"/>
                  </a:solidFill>
                </a:rPr>
                <a:t>nextInt</a:t>
              </a:r>
              <a:r>
                <a:rPr lang="en-US" dirty="0">
                  <a:solidFill>
                    <a:srgbClr val="00B050"/>
                  </a:solidFill>
                </a:rPr>
                <a:t>()</a:t>
              </a:r>
              <a:r>
                <a:rPr lang="en-US" dirty="0">
                  <a:solidFill>
                    <a:srgbClr val="0000FF"/>
                  </a:solidFill>
                </a:rPr>
                <a:t>; </a:t>
              </a:r>
              <a:r>
                <a:rPr lang="en-US" dirty="0">
                  <a:solidFill>
                    <a:srgbClr val="00B050"/>
                  </a:solidFill>
                </a:rPr>
                <a:t> //read is a Scanner object</a:t>
              </a:r>
            </a:p>
            <a:p>
              <a:r>
                <a:rPr lang="en-US" dirty="0">
                  <a:solidFill>
                    <a:srgbClr val="0000FF"/>
                  </a:solidFill>
                </a:rPr>
                <a:t>    }</a:t>
              </a:r>
              <a:r>
                <a:rPr lang="en-US" dirty="0">
                  <a:solidFill>
                    <a:srgbClr val="00B050"/>
                  </a:solidFill>
                </a:rPr>
                <a:t> //end for</a:t>
              </a:r>
            </a:p>
          </p:txBody>
        </p:sp>
        <p:sp>
          <p:nvSpPr>
            <p:cNvPr id="24" name="TextBox 23"/>
            <p:cNvSpPr txBox="1"/>
            <p:nvPr/>
          </p:nvSpPr>
          <p:spPr>
            <a:xfrm>
              <a:off x="323529" y="1236822"/>
              <a:ext cx="288032" cy="1910098"/>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a:p>
              <a:pPr algn="r"/>
              <a:r>
                <a:rPr lang="en-US" dirty="0">
                  <a:solidFill>
                    <a:srgbClr val="FF0000"/>
                  </a:solidFill>
                </a:rPr>
                <a:t>3</a:t>
              </a:r>
            </a:p>
            <a:p>
              <a:pPr algn="r"/>
              <a:r>
                <a:rPr lang="en-US" dirty="0">
                  <a:solidFill>
                    <a:srgbClr val="FF0000"/>
                  </a:solidFill>
                </a:rPr>
                <a:t>4</a:t>
              </a:r>
            </a:p>
            <a:p>
              <a:pPr algn="r"/>
              <a:r>
                <a:rPr lang="en-US" dirty="0">
                  <a:solidFill>
                    <a:srgbClr val="FF0000"/>
                  </a:solidFill>
                </a:rPr>
                <a:t>5</a:t>
              </a:r>
            </a:p>
            <a:p>
              <a:pPr algn="r"/>
              <a:r>
                <a:rPr lang="en-US" dirty="0">
                  <a:solidFill>
                    <a:srgbClr val="FF0000"/>
                  </a:solidFill>
                </a:rPr>
                <a:t>6</a:t>
              </a:r>
            </a:p>
            <a:p>
              <a:pPr algn="r"/>
              <a:r>
                <a:rPr lang="en-US" dirty="0">
                  <a:solidFill>
                    <a:srgbClr val="FF0000"/>
                  </a:solidFill>
                </a:rPr>
                <a:t>7</a:t>
              </a:r>
            </a:p>
          </p:txBody>
        </p:sp>
      </p:grpSp>
      <p:sp>
        <p:nvSpPr>
          <p:cNvPr id="10" name="TextBox 9"/>
          <p:cNvSpPr txBox="1"/>
          <p:nvPr/>
        </p:nvSpPr>
        <p:spPr>
          <a:xfrm>
            <a:off x="251520" y="1259468"/>
            <a:ext cx="8640960"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following example initializes all elements by getting their values from the user:</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nvGrpSpPr>
          <p:cNvPr id="26" name="Group 25"/>
          <p:cNvGrpSpPr/>
          <p:nvPr/>
        </p:nvGrpSpPr>
        <p:grpSpPr>
          <a:xfrm>
            <a:off x="179512" y="4221088"/>
            <a:ext cx="8784976" cy="2308324"/>
            <a:chOff x="323529" y="1236822"/>
            <a:chExt cx="7848872" cy="2170566"/>
          </a:xfrm>
        </p:grpSpPr>
        <p:sp>
          <p:nvSpPr>
            <p:cNvPr id="27" name="TextBox 26"/>
            <p:cNvSpPr txBox="1"/>
            <p:nvPr/>
          </p:nvSpPr>
          <p:spPr>
            <a:xfrm>
              <a:off x="611561" y="1236822"/>
              <a:ext cx="7560840" cy="2170566"/>
            </a:xfrm>
            <a:prstGeom prst="rect">
              <a:avLst/>
            </a:prstGeom>
            <a:solidFill>
              <a:schemeClr val="bg2"/>
            </a:solidFill>
            <a:ln w="28575" cap="rnd" cmpd="thickThin">
              <a:solidFill>
                <a:srgbClr val="0000FF"/>
              </a:solidFill>
            </a:ln>
          </p:spPr>
          <p:txBody>
            <a:bodyPr wrap="square" rtlCol="0">
              <a:spAutoFit/>
            </a:bodyPr>
            <a:lstStyle/>
            <a:p>
              <a:r>
                <a:rPr lang="en-US" dirty="0" err="1">
                  <a:solidFill>
                    <a:srgbClr val="00B0F0"/>
                  </a:solidFill>
                </a:rPr>
                <a:t>int</a:t>
              </a:r>
              <a:r>
                <a:rPr lang="en-US" dirty="0">
                  <a:solidFill>
                    <a:srgbClr val="00B0F0"/>
                  </a:solidFill>
                </a:rPr>
                <a:t>[] </a:t>
              </a:r>
              <a:r>
                <a:rPr lang="en-US" dirty="0" err="1">
                  <a:solidFill>
                    <a:srgbClr val="0000FF"/>
                  </a:solidFill>
                </a:rPr>
                <a:t>numList</a:t>
              </a:r>
              <a:r>
                <a:rPr lang="en-US" dirty="0">
                  <a:solidFill>
                    <a:srgbClr val="0000FF"/>
                  </a:solidFill>
                </a:rPr>
                <a:t> = </a:t>
              </a:r>
              <a:r>
                <a:rPr lang="en-US" dirty="0">
                  <a:solidFill>
                    <a:srgbClr val="00B0F0"/>
                  </a:solidFill>
                </a:rPr>
                <a:t>new </a:t>
              </a:r>
              <a:r>
                <a:rPr lang="en-US" dirty="0" err="1">
                  <a:solidFill>
                    <a:srgbClr val="00B0F0"/>
                  </a:solidFill>
                </a:rPr>
                <a:t>int</a:t>
              </a:r>
              <a:r>
                <a:rPr lang="en-US" dirty="0">
                  <a:solidFill>
                    <a:srgbClr val="0000FF"/>
                  </a:solidFill>
                </a:rPr>
                <a:t>[10];</a:t>
              </a:r>
            </a:p>
            <a:p>
              <a:r>
                <a:rPr lang="en-US" dirty="0" err="1">
                  <a:solidFill>
                    <a:srgbClr val="00B0F0"/>
                  </a:solidFill>
                </a:rPr>
                <a:t>int</a:t>
              </a:r>
              <a:r>
                <a:rPr lang="en-US" dirty="0">
                  <a:solidFill>
                    <a:srgbClr val="0000FF"/>
                  </a:solidFill>
                </a:rPr>
                <a:t> </a:t>
              </a:r>
              <a:r>
                <a:rPr lang="en-US" dirty="0" err="1">
                  <a:solidFill>
                    <a:srgbClr val="0000FF"/>
                  </a:solidFill>
                </a:rPr>
                <a:t>i</a:t>
              </a:r>
              <a:r>
                <a:rPr lang="en-US" dirty="0">
                  <a:solidFill>
                    <a:srgbClr val="0000FF"/>
                  </a:solidFill>
                </a:rPr>
                <a:t> = 0;</a:t>
              </a:r>
            </a:p>
            <a:p>
              <a:r>
                <a:rPr lang="en-US" dirty="0">
                  <a:solidFill>
                    <a:srgbClr val="00B0F0"/>
                  </a:solidFill>
                </a:rPr>
                <a:t>while</a:t>
              </a:r>
              <a:r>
                <a:rPr lang="en-US" dirty="0">
                  <a:solidFill>
                    <a:srgbClr val="0000FF"/>
                  </a:solidFill>
                </a:rPr>
                <a:t> (</a:t>
              </a:r>
              <a:r>
                <a:rPr lang="en-US" dirty="0" err="1">
                  <a:solidFill>
                    <a:srgbClr val="0000FF"/>
                  </a:solidFill>
                </a:rPr>
                <a:t>i</a:t>
              </a:r>
              <a:r>
                <a:rPr lang="en-US" dirty="0">
                  <a:solidFill>
                    <a:srgbClr val="0000FF"/>
                  </a:solidFill>
                </a:rPr>
                <a:t> &lt; </a:t>
              </a:r>
              <a:r>
                <a:rPr lang="en-US" dirty="0" err="1">
                  <a:solidFill>
                    <a:srgbClr val="0000FF"/>
                  </a:solidFill>
                </a:rPr>
                <a:t>numList.</a:t>
              </a:r>
              <a:r>
                <a:rPr lang="en-US" dirty="0" err="1">
                  <a:solidFill>
                    <a:srgbClr val="00B0F0"/>
                  </a:solidFill>
                </a:rPr>
                <a:t>length</a:t>
              </a:r>
              <a:r>
                <a:rPr lang="en-US" dirty="0">
                  <a:solidFill>
                    <a:srgbClr val="0000FF"/>
                  </a:solidFill>
                </a:rPr>
                <a:t>)</a:t>
              </a:r>
            </a:p>
            <a:p>
              <a:r>
                <a:rPr lang="en-US" dirty="0">
                  <a:solidFill>
                    <a:srgbClr val="0000FF"/>
                  </a:solidFill>
                </a:rPr>
                <a:t>   {</a:t>
              </a:r>
            </a:p>
            <a:p>
              <a:r>
                <a:rPr lang="en-US" dirty="0">
                  <a:solidFill>
                    <a:srgbClr val="0000FF"/>
                  </a:solidFill>
                </a:rPr>
                <a:t>    </a:t>
              </a:r>
              <a:r>
                <a:rPr lang="en-US" dirty="0" err="1">
                  <a:solidFill>
                    <a:srgbClr val="0000FF"/>
                  </a:solidFill>
                </a:rPr>
                <a:t>System.out.println</a:t>
              </a:r>
              <a:r>
                <a:rPr lang="en-US" dirty="0">
                  <a:solidFill>
                    <a:srgbClr val="0000FF"/>
                  </a:solidFill>
                </a:rPr>
                <a:t> (“Enter the value of the next element”);   </a:t>
              </a:r>
              <a:r>
                <a:rPr lang="en-US" dirty="0">
                  <a:solidFill>
                    <a:srgbClr val="00B050"/>
                  </a:solidFill>
                </a:rPr>
                <a:t>//prompt</a:t>
              </a:r>
            </a:p>
            <a:p>
              <a:r>
                <a:rPr lang="en-US" dirty="0">
                  <a:solidFill>
                    <a:srgbClr val="0000FF"/>
                  </a:solidFill>
                </a:rPr>
                <a:t>    </a:t>
              </a:r>
              <a:r>
                <a:rPr lang="en-US" dirty="0" err="1">
                  <a:solidFill>
                    <a:srgbClr val="0000FF"/>
                  </a:solidFill>
                </a:rPr>
                <a:t>numList</a:t>
              </a:r>
              <a:r>
                <a:rPr lang="en-US" dirty="0">
                  <a:solidFill>
                    <a:srgbClr val="0000FF"/>
                  </a:solidFill>
                </a:rPr>
                <a:t>[</a:t>
              </a:r>
              <a:r>
                <a:rPr lang="en-US" dirty="0" err="1">
                  <a:solidFill>
                    <a:srgbClr val="0000FF"/>
                  </a:solidFill>
                </a:rPr>
                <a:t>i</a:t>
              </a:r>
              <a:r>
                <a:rPr lang="en-US" dirty="0">
                  <a:solidFill>
                    <a:srgbClr val="0000FF"/>
                  </a:solidFill>
                </a:rPr>
                <a:t>] = </a:t>
              </a:r>
              <a:r>
                <a:rPr lang="en-US" dirty="0" err="1">
                  <a:solidFill>
                    <a:srgbClr val="0000FF"/>
                  </a:solidFill>
                </a:rPr>
                <a:t>read.</a:t>
              </a:r>
              <a:r>
                <a:rPr lang="en-US" dirty="0" err="1">
                  <a:solidFill>
                    <a:srgbClr val="00B050"/>
                  </a:solidFill>
                </a:rPr>
                <a:t>nextInt</a:t>
              </a:r>
              <a:r>
                <a:rPr lang="en-US" dirty="0">
                  <a:solidFill>
                    <a:srgbClr val="00B050"/>
                  </a:solidFill>
                </a:rPr>
                <a:t>()</a:t>
              </a:r>
              <a:r>
                <a:rPr lang="en-US" dirty="0">
                  <a:solidFill>
                    <a:srgbClr val="0000FF"/>
                  </a:solidFill>
                </a:rPr>
                <a:t>;   </a:t>
              </a:r>
              <a:r>
                <a:rPr lang="en-US" dirty="0">
                  <a:solidFill>
                    <a:srgbClr val="00B050"/>
                  </a:solidFill>
                </a:rPr>
                <a:t>//read is a Scanner object</a:t>
              </a:r>
            </a:p>
            <a:p>
              <a:r>
                <a:rPr lang="en-US" dirty="0">
                  <a:solidFill>
                    <a:srgbClr val="0000FF"/>
                  </a:solidFill>
                </a:rPr>
                <a:t>    </a:t>
              </a:r>
              <a:r>
                <a:rPr lang="en-US" dirty="0" err="1">
                  <a:solidFill>
                    <a:srgbClr val="0000FF"/>
                  </a:solidFill>
                </a:rPr>
                <a:t>i</a:t>
              </a:r>
              <a:r>
                <a:rPr lang="en-US" dirty="0">
                  <a:solidFill>
                    <a:srgbClr val="0000FF"/>
                  </a:solidFill>
                </a:rPr>
                <a:t>++;</a:t>
              </a:r>
            </a:p>
            <a:p>
              <a:r>
                <a:rPr lang="en-US" dirty="0">
                  <a:solidFill>
                    <a:srgbClr val="0000FF"/>
                  </a:solidFill>
                </a:rPr>
                <a:t>   } </a:t>
              </a:r>
              <a:r>
                <a:rPr lang="en-US" dirty="0">
                  <a:solidFill>
                    <a:srgbClr val="00B050"/>
                  </a:solidFill>
                </a:rPr>
                <a:t>//end while</a:t>
              </a:r>
            </a:p>
          </p:txBody>
        </p:sp>
        <p:sp>
          <p:nvSpPr>
            <p:cNvPr id="28" name="TextBox 27"/>
            <p:cNvSpPr txBox="1"/>
            <p:nvPr/>
          </p:nvSpPr>
          <p:spPr>
            <a:xfrm>
              <a:off x="323529" y="1236822"/>
              <a:ext cx="288032" cy="2170566"/>
            </a:xfrm>
            <a:prstGeom prst="rect">
              <a:avLst/>
            </a:prstGeom>
            <a:noFill/>
          </p:spPr>
          <p:txBody>
            <a:bodyPr wrap="square" rtlCol="0">
              <a:spAutoFit/>
            </a:bodyPr>
            <a:lstStyle/>
            <a:p>
              <a:pPr algn="r"/>
              <a:r>
                <a:rPr lang="en-US" dirty="0">
                  <a:solidFill>
                    <a:srgbClr val="FF0000"/>
                  </a:solidFill>
                </a:rPr>
                <a:t>1</a:t>
              </a:r>
            </a:p>
            <a:p>
              <a:pPr algn="r"/>
              <a:r>
                <a:rPr lang="en-US" dirty="0">
                  <a:solidFill>
                    <a:srgbClr val="FF0000"/>
                  </a:solidFill>
                </a:rPr>
                <a:t>2</a:t>
              </a:r>
            </a:p>
            <a:p>
              <a:pPr algn="r"/>
              <a:r>
                <a:rPr lang="en-US" dirty="0">
                  <a:solidFill>
                    <a:srgbClr val="FF0000"/>
                  </a:solidFill>
                </a:rPr>
                <a:t>3</a:t>
              </a:r>
            </a:p>
            <a:p>
              <a:pPr algn="r"/>
              <a:r>
                <a:rPr lang="en-US" dirty="0">
                  <a:solidFill>
                    <a:srgbClr val="FF0000"/>
                  </a:solidFill>
                </a:rPr>
                <a:t>4</a:t>
              </a:r>
            </a:p>
            <a:p>
              <a:pPr algn="r"/>
              <a:r>
                <a:rPr lang="en-US" dirty="0">
                  <a:solidFill>
                    <a:srgbClr val="FF0000"/>
                  </a:solidFill>
                </a:rPr>
                <a:t>5</a:t>
              </a:r>
            </a:p>
            <a:p>
              <a:pPr algn="r"/>
              <a:r>
                <a:rPr lang="en-US" dirty="0">
                  <a:solidFill>
                    <a:srgbClr val="FF0000"/>
                  </a:solidFill>
                </a:rPr>
                <a:t>6</a:t>
              </a:r>
            </a:p>
            <a:p>
              <a:pPr algn="r"/>
              <a:r>
                <a:rPr lang="en-US" dirty="0">
                  <a:solidFill>
                    <a:srgbClr val="FF0000"/>
                  </a:solidFill>
                </a:rPr>
                <a:t>7</a:t>
              </a:r>
            </a:p>
            <a:p>
              <a:pPr algn="r"/>
              <a:r>
                <a:rPr lang="en-US" dirty="0">
                  <a:solidFill>
                    <a:srgbClr val="FF0000"/>
                  </a:solidFill>
                </a:rPr>
                <a:t>8</a:t>
              </a:r>
            </a:p>
          </p:txBody>
        </p:sp>
      </p:grpSp>
    </p:spTree>
    <p:extLst>
      <p:ext uri="{BB962C8B-B14F-4D97-AF65-F5344CB8AC3E}">
        <p14:creationId xmlns:p14="http://schemas.microsoft.com/office/powerpoint/2010/main" val="130074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500"/>
                                        <p:tgtEl>
                                          <p:spTgt spid="10"/>
                                        </p:tgtEl>
                                      </p:cBhvr>
                                    </p:animEffect>
                                  </p:childTnLst>
                                </p:cTn>
                              </p:par>
                            </p:childTnLst>
                          </p:cTn>
                        </p:par>
                        <p:par>
                          <p:cTn id="11" fill="hold">
                            <p:stCondLst>
                              <p:cond delay="500"/>
                            </p:stCondLst>
                            <p:childTnLst>
                              <p:par>
                                <p:cTn id="12" presetID="22" presetClass="entr" presetSubtype="2" fill="hold"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righ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right)">
                                      <p:cBhvr>
                                        <p:cTn id="1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7. PROGRAMMING HINT</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20</a:t>
            </a:fld>
            <a:endParaRPr lang="en-US"/>
          </a:p>
        </p:txBody>
      </p:sp>
      <p:sp>
        <p:nvSpPr>
          <p:cNvPr id="10" name="TextBox 9"/>
          <p:cNvSpPr txBox="1"/>
          <p:nvPr/>
        </p:nvSpPr>
        <p:spPr>
          <a:xfrm>
            <a:off x="251520" y="836712"/>
            <a:ext cx="8640960" cy="400110"/>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size of the array specified during instantiation cannot be changed.</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5" name="TextBox 14"/>
          <p:cNvSpPr txBox="1"/>
          <p:nvPr/>
        </p:nvSpPr>
        <p:spPr>
          <a:xfrm>
            <a:off x="251520" y="1280954"/>
            <a:ext cx="8640960" cy="70788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Sometimes, the programmer does not know how much elements will be needed.</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p:cNvSpPr txBox="1"/>
          <p:nvPr/>
        </p:nvSpPr>
        <p:spPr>
          <a:xfrm>
            <a:off x="251520" y="1988840"/>
            <a:ext cx="8640960" cy="70788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Therefore, it is common to specify a large size and use only the elements which were actually filled by the user.</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8" name="TextBox 17"/>
          <p:cNvSpPr txBox="1"/>
          <p:nvPr/>
        </p:nvSpPr>
        <p:spPr>
          <a:xfrm>
            <a:off x="251520" y="2708920"/>
            <a:ext cx="8640960" cy="70788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Assume that </a:t>
            </a:r>
            <a:r>
              <a:rPr lang="en-US" sz="2000" dirty="0" err="1">
                <a:solidFill>
                  <a:srgbClr val="0000FF"/>
                </a:solidFill>
                <a:latin typeface="Tahoma" panose="020B0604030504040204" pitchFamily="34" charset="0"/>
                <a:ea typeface="Tahoma" panose="020B0604030504040204" pitchFamily="34" charset="0"/>
                <a:cs typeface="Tahoma" panose="020B0604030504040204" pitchFamily="34" charset="0"/>
              </a:rPr>
              <a:t>numOfElements</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is a variable that represents the number of actually filled elements within the array (</a:t>
            </a:r>
            <a:r>
              <a:rPr lang="en-US" sz="2000" dirty="0" err="1">
                <a:solidFill>
                  <a:srgbClr val="0000FF"/>
                </a:solidFill>
                <a:latin typeface="Tahoma" panose="020B0604030504040204" pitchFamily="34" charset="0"/>
                <a:ea typeface="Tahoma" panose="020B0604030504040204" pitchFamily="34" charset="0"/>
                <a:cs typeface="Tahoma" panose="020B0604030504040204" pitchFamily="34" charset="0"/>
              </a:rPr>
              <a:t>numOfElements</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&lt;=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length</a:t>
            </a:r>
            <a:r>
              <a:rPr lang="en-US" sz="2000" dirty="0">
                <a:latin typeface="Tahoma" panose="020B0604030504040204" pitchFamily="34" charset="0"/>
                <a:ea typeface="Tahoma" panose="020B0604030504040204" pitchFamily="34" charset="0"/>
                <a:cs typeface="Tahoma" panose="020B0604030504040204" pitchFamily="34" charset="0"/>
              </a:rPr>
              <a: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p:cNvSpPr txBox="1"/>
          <p:nvPr/>
        </p:nvSpPr>
        <p:spPr>
          <a:xfrm>
            <a:off x="251520" y="3429000"/>
            <a:ext cx="8640960" cy="70788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value of </a:t>
            </a:r>
            <a:r>
              <a:rPr lang="en-US" sz="2000" dirty="0" err="1">
                <a:solidFill>
                  <a:srgbClr val="0000FF"/>
                </a:solidFill>
                <a:latin typeface="Tahoma" panose="020B0604030504040204" pitchFamily="34" charset="0"/>
                <a:ea typeface="Tahoma" panose="020B0604030504040204" pitchFamily="34" charset="0"/>
                <a:cs typeface="Tahoma" panose="020B0604030504040204" pitchFamily="34" charset="0"/>
              </a:rPr>
              <a:t>numOfElements</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is used as a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counter</a:t>
            </a:r>
            <a:r>
              <a:rPr lang="en-US" sz="2000" dirty="0">
                <a:latin typeface="Tahoma" panose="020B0604030504040204" pitchFamily="34" charset="0"/>
                <a:ea typeface="Tahoma" panose="020B0604030504040204" pitchFamily="34" charset="0"/>
                <a:cs typeface="Tahoma" panose="020B0604030504040204" pitchFamily="34" charset="0"/>
              </a:rPr>
              <a:t>: it is initialized to zero, and then incremented with each new element filled in the array.</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0" name="TextBox 19"/>
          <p:cNvSpPr txBox="1"/>
          <p:nvPr/>
        </p:nvSpPr>
        <p:spPr>
          <a:xfrm>
            <a:off x="251520" y="4149080"/>
            <a:ext cx="8640960" cy="400110"/>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Consider the example in the next slide:</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0406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6" grpId="0"/>
      <p:bldP spid="18" grpId="0"/>
      <p:bldP spid="19" grpId="0"/>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7. PROGRAMMING HINT</a:t>
            </a:r>
          </a:p>
        </p:txBody>
      </p:sp>
      <p:sp>
        <p:nvSpPr>
          <p:cNvPr id="11" name="Rectangle 10"/>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PROGRAM 1 – ANALYSIS </a:t>
            </a:r>
          </a:p>
        </p:txBody>
      </p:sp>
      <p:cxnSp>
        <p:nvCxnSpPr>
          <p:cNvPr id="12" name="Straight Connector 11"/>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251520" y="1268760"/>
            <a:ext cx="8712968" cy="720080"/>
          </a:xfrm>
          <a:prstGeom prst="roundRect">
            <a:avLst>
              <a:gd name="adj" fmla="val 4976"/>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t>Write a program that finds the sum and the average of positive integers stored in an array of integers.</a:t>
            </a:r>
          </a:p>
        </p:txBody>
      </p:sp>
      <p:sp>
        <p:nvSpPr>
          <p:cNvPr id="14" name="Rounded Rectangle 13"/>
          <p:cNvSpPr/>
          <p:nvPr/>
        </p:nvSpPr>
        <p:spPr>
          <a:xfrm>
            <a:off x="236951" y="2132856"/>
            <a:ext cx="1296144"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21" name="Rounded Rectangle 20"/>
          <p:cNvSpPr/>
          <p:nvPr/>
        </p:nvSpPr>
        <p:spPr>
          <a:xfrm>
            <a:off x="1619672" y="2132856"/>
            <a:ext cx="7344816" cy="106754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accent1">
                    <a:lumMod val="50000"/>
                  </a:schemeClr>
                </a:solidFill>
              </a:rPr>
              <a:t>1. Array size		</a:t>
            </a:r>
            <a:endParaRPr lang="en-US" dirty="0">
              <a:solidFill>
                <a:srgbClr val="0000FF"/>
              </a:solidFill>
            </a:endParaRPr>
          </a:p>
          <a:p>
            <a:r>
              <a:rPr lang="en-US" dirty="0">
                <a:solidFill>
                  <a:schemeClr val="accent1">
                    <a:lumMod val="50000"/>
                  </a:schemeClr>
                </a:solidFill>
              </a:rPr>
              <a:t>2. An array of </a:t>
            </a:r>
            <a:r>
              <a:rPr lang="en-US" dirty="0" err="1">
                <a:solidFill>
                  <a:srgbClr val="00B0F0"/>
                </a:solidFill>
              </a:rPr>
              <a:t>int</a:t>
            </a:r>
            <a:r>
              <a:rPr lang="en-US" dirty="0">
                <a:solidFill>
                  <a:schemeClr val="accent1">
                    <a:lumMod val="50000"/>
                  </a:schemeClr>
                </a:solidFill>
              </a:rPr>
              <a:t> numbers </a:t>
            </a:r>
            <a:r>
              <a:rPr lang="en-US" dirty="0">
                <a:solidFill>
                  <a:srgbClr val="CC0099"/>
                </a:solidFill>
              </a:rPr>
              <a:t>(variable: </a:t>
            </a:r>
            <a:r>
              <a:rPr lang="en-US" dirty="0" err="1">
                <a:solidFill>
                  <a:srgbClr val="0000FF"/>
                </a:solidFill>
              </a:rPr>
              <a:t>numList</a:t>
            </a:r>
            <a:r>
              <a:rPr lang="en-US" dirty="0">
                <a:solidFill>
                  <a:srgbClr val="CC0099"/>
                </a:solidFill>
              </a:rPr>
              <a:t>, type: </a:t>
            </a:r>
            <a:r>
              <a:rPr lang="en-US" dirty="0" err="1">
                <a:solidFill>
                  <a:srgbClr val="00B0F0"/>
                </a:solidFill>
              </a:rPr>
              <a:t>int</a:t>
            </a:r>
            <a:r>
              <a:rPr lang="en-US" dirty="0">
                <a:solidFill>
                  <a:srgbClr val="00B0F0"/>
                </a:solidFill>
              </a:rPr>
              <a:t>[]</a:t>
            </a:r>
            <a:r>
              <a:rPr lang="en-US" dirty="0">
                <a:solidFill>
                  <a:srgbClr val="CC0099"/>
                </a:solidFill>
              </a:rPr>
              <a:t>)</a:t>
            </a:r>
          </a:p>
        </p:txBody>
      </p:sp>
      <p:sp>
        <p:nvSpPr>
          <p:cNvPr id="22" name="Rounded Rectangle 21"/>
          <p:cNvSpPr/>
          <p:nvPr/>
        </p:nvSpPr>
        <p:spPr>
          <a:xfrm>
            <a:off x="251520" y="3933056"/>
            <a:ext cx="1296144"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OUTPUT</a:t>
            </a:r>
          </a:p>
        </p:txBody>
      </p:sp>
      <p:sp>
        <p:nvSpPr>
          <p:cNvPr id="23" name="Rounded Rectangle 22"/>
          <p:cNvSpPr/>
          <p:nvPr/>
        </p:nvSpPr>
        <p:spPr>
          <a:xfrm>
            <a:off x="1634241" y="3933056"/>
            <a:ext cx="7344816" cy="165618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dirty="0">
                <a:solidFill>
                  <a:schemeClr val="accent1">
                    <a:lumMod val="50000"/>
                  </a:schemeClr>
                </a:solidFill>
              </a:rPr>
              <a:t>The sum of the numbers in the array (</a:t>
            </a:r>
            <a:r>
              <a:rPr lang="en-US" dirty="0">
                <a:solidFill>
                  <a:srgbClr val="FF33CC"/>
                </a:solidFill>
              </a:rPr>
              <a:t>variable:</a:t>
            </a:r>
            <a:r>
              <a:rPr lang="en-US" dirty="0">
                <a:solidFill>
                  <a:schemeClr val="accent1">
                    <a:lumMod val="50000"/>
                  </a:schemeClr>
                </a:solidFill>
              </a:rPr>
              <a:t> </a:t>
            </a:r>
            <a:r>
              <a:rPr lang="en-US" dirty="0">
                <a:solidFill>
                  <a:srgbClr val="0000FF"/>
                </a:solidFill>
              </a:rPr>
              <a:t>sum</a:t>
            </a:r>
            <a:r>
              <a:rPr lang="en-US" dirty="0">
                <a:solidFill>
                  <a:schemeClr val="accent1">
                    <a:lumMod val="50000"/>
                  </a:schemeClr>
                </a:solidFill>
              </a:rPr>
              <a:t>, </a:t>
            </a:r>
            <a:r>
              <a:rPr lang="en-US" dirty="0">
                <a:solidFill>
                  <a:srgbClr val="FF33CC"/>
                </a:solidFill>
              </a:rPr>
              <a:t>type:</a:t>
            </a:r>
            <a:r>
              <a:rPr lang="en-US" dirty="0">
                <a:solidFill>
                  <a:schemeClr val="accent1">
                    <a:lumMod val="50000"/>
                  </a:schemeClr>
                </a:solidFill>
              </a:rPr>
              <a:t> </a:t>
            </a:r>
            <a:r>
              <a:rPr lang="en-US" dirty="0" err="1">
                <a:solidFill>
                  <a:srgbClr val="00B0F0"/>
                </a:solidFill>
              </a:rPr>
              <a:t>int</a:t>
            </a:r>
            <a:r>
              <a:rPr lang="en-US" dirty="0">
                <a:solidFill>
                  <a:schemeClr val="accent1">
                    <a:lumMod val="50000"/>
                  </a:schemeClr>
                </a:solidFill>
              </a:rPr>
              <a:t>)</a:t>
            </a:r>
          </a:p>
          <a:p>
            <a:pPr marL="342900" indent="-342900">
              <a:buAutoNum type="arabicPeriod"/>
            </a:pPr>
            <a:r>
              <a:rPr lang="en-US" dirty="0">
                <a:solidFill>
                  <a:schemeClr val="accent1">
                    <a:lumMod val="50000"/>
                  </a:schemeClr>
                </a:solidFill>
              </a:rPr>
              <a:t>The average of the numbers in the array (</a:t>
            </a:r>
            <a:r>
              <a:rPr lang="en-US" dirty="0">
                <a:solidFill>
                  <a:srgbClr val="FF33CC"/>
                </a:solidFill>
              </a:rPr>
              <a:t>variable:</a:t>
            </a:r>
            <a:r>
              <a:rPr lang="en-US" dirty="0">
                <a:solidFill>
                  <a:schemeClr val="accent1">
                    <a:lumMod val="50000"/>
                  </a:schemeClr>
                </a:solidFill>
              </a:rPr>
              <a:t> </a:t>
            </a:r>
            <a:r>
              <a:rPr lang="en-US" dirty="0">
                <a:solidFill>
                  <a:srgbClr val="0000FF"/>
                </a:solidFill>
              </a:rPr>
              <a:t>average</a:t>
            </a:r>
            <a:r>
              <a:rPr lang="en-US" dirty="0">
                <a:solidFill>
                  <a:schemeClr val="accent1">
                    <a:lumMod val="50000"/>
                  </a:schemeClr>
                </a:solidFill>
              </a:rPr>
              <a:t>, </a:t>
            </a:r>
            <a:r>
              <a:rPr lang="en-US" dirty="0">
                <a:solidFill>
                  <a:srgbClr val="FF33CC"/>
                </a:solidFill>
              </a:rPr>
              <a:t>type:</a:t>
            </a:r>
            <a:r>
              <a:rPr lang="en-US" dirty="0">
                <a:solidFill>
                  <a:schemeClr val="accent1">
                    <a:lumMod val="50000"/>
                  </a:schemeClr>
                </a:solidFill>
              </a:rPr>
              <a:t> </a:t>
            </a:r>
            <a:r>
              <a:rPr lang="en-US" dirty="0">
                <a:solidFill>
                  <a:srgbClr val="00B0F0"/>
                </a:solidFill>
              </a:rPr>
              <a:t>double</a:t>
            </a:r>
            <a:r>
              <a:rPr lang="en-US" dirty="0">
                <a:solidFill>
                  <a:schemeClr val="accent1">
                    <a:lumMod val="50000"/>
                  </a:schemeClr>
                </a:solidFill>
              </a:rPr>
              <a:t>)</a:t>
            </a:r>
          </a:p>
        </p:txBody>
      </p:sp>
      <p:sp>
        <p:nvSpPr>
          <p:cNvPr id="17" name="Slide Number Placeholder 16"/>
          <p:cNvSpPr>
            <a:spLocks noGrp="1"/>
          </p:cNvSpPr>
          <p:nvPr>
            <p:ph type="sldNum" sz="quarter" idx="12"/>
          </p:nvPr>
        </p:nvSpPr>
        <p:spPr/>
        <p:txBody>
          <a:bodyPr/>
          <a:lstStyle/>
          <a:p>
            <a:fld id="{DA934484-767D-4C48-AF0E-A1438A969E59}" type="slidenum">
              <a:rPr lang="en-US" smtClean="0"/>
              <a:pPr/>
              <a:t>21</a:t>
            </a:fld>
            <a:endParaRPr lang="en-US" dirty="0"/>
          </a:p>
        </p:txBody>
      </p:sp>
    </p:spTree>
    <p:extLst>
      <p:ext uri="{BB962C8B-B14F-4D97-AF65-F5344CB8AC3E}">
        <p14:creationId xmlns:p14="http://schemas.microsoft.com/office/powerpoint/2010/main" val="12464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right)">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21" grpId="0" animBg="1"/>
      <p:bldP spid="22"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7. PROGRAMMING HINT</a:t>
            </a:r>
          </a:p>
        </p:txBody>
      </p:sp>
      <p:sp>
        <p:nvSpPr>
          <p:cNvPr id="11" name="Rectangle 10"/>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PROGRAM 1 – CODE(1)</a:t>
            </a:r>
          </a:p>
        </p:txBody>
      </p:sp>
      <p:cxnSp>
        <p:nvCxnSpPr>
          <p:cNvPr id="12" name="Straight Connector 11"/>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7" name="Slide Number Placeholder 16"/>
          <p:cNvSpPr>
            <a:spLocks noGrp="1"/>
          </p:cNvSpPr>
          <p:nvPr>
            <p:ph type="sldNum" sz="quarter" idx="12"/>
          </p:nvPr>
        </p:nvSpPr>
        <p:spPr/>
        <p:txBody>
          <a:bodyPr/>
          <a:lstStyle/>
          <a:p>
            <a:fld id="{DA934484-767D-4C48-AF0E-A1438A969E59}" type="slidenum">
              <a:rPr lang="en-US" smtClean="0"/>
              <a:pPr/>
              <a:t>22</a:t>
            </a:fld>
            <a:endParaRPr lang="en-US" dirty="0"/>
          </a:p>
        </p:txBody>
      </p:sp>
      <p:grpSp>
        <p:nvGrpSpPr>
          <p:cNvPr id="15" name="Group 14"/>
          <p:cNvGrpSpPr/>
          <p:nvPr/>
        </p:nvGrpSpPr>
        <p:grpSpPr>
          <a:xfrm>
            <a:off x="179512" y="1379577"/>
            <a:ext cx="8794499" cy="3878223"/>
            <a:chOff x="323528" y="1215438"/>
            <a:chExt cx="7857380" cy="4746316"/>
          </a:xfrm>
        </p:grpSpPr>
        <p:sp>
          <p:nvSpPr>
            <p:cNvPr id="16" name="TextBox 15"/>
            <p:cNvSpPr txBox="1"/>
            <p:nvPr/>
          </p:nvSpPr>
          <p:spPr>
            <a:xfrm>
              <a:off x="980108" y="1215438"/>
              <a:ext cx="7200800" cy="4746316"/>
            </a:xfrm>
            <a:prstGeom prst="rect">
              <a:avLst/>
            </a:prstGeom>
            <a:solidFill>
              <a:schemeClr val="bg2"/>
            </a:solidFill>
            <a:ln w="28575" cap="rnd" cmpd="thickThin">
              <a:solidFill>
                <a:srgbClr val="0000FF"/>
              </a:solidFill>
            </a:ln>
          </p:spPr>
          <p:txBody>
            <a:bodyPr wrap="square" rtlCol="0">
              <a:spAutoFit/>
            </a:bodyPr>
            <a:lstStyle/>
            <a:p>
              <a:r>
                <a:rPr lang="en-US" sz="1400" dirty="0"/>
                <a:t>// import necessary libraries</a:t>
              </a:r>
            </a:p>
            <a:p>
              <a:r>
                <a:rPr lang="en-US" sz="1400" dirty="0">
                  <a:solidFill>
                    <a:srgbClr val="0000FF"/>
                  </a:solidFill>
                </a:rPr>
                <a:t>import </a:t>
              </a:r>
              <a:r>
                <a:rPr lang="en-US" sz="1400" dirty="0" err="1">
                  <a:solidFill>
                    <a:srgbClr val="0000FF"/>
                  </a:solidFill>
                </a:rPr>
                <a:t>java.util.Scanner</a:t>
              </a:r>
              <a:r>
                <a:rPr lang="en-US" sz="1400" dirty="0">
                  <a:solidFill>
                    <a:srgbClr val="0000FF"/>
                  </a:solidFill>
                </a:rPr>
                <a:t>;</a:t>
              </a:r>
            </a:p>
            <a:p>
              <a:r>
                <a:rPr lang="en-US" sz="1400" dirty="0">
                  <a:solidFill>
                    <a:srgbClr val="0000FF"/>
                  </a:solidFill>
                </a:rPr>
                <a:t>public class array1</a:t>
              </a:r>
            </a:p>
            <a:p>
              <a:r>
                <a:rPr lang="en-US" sz="1400" dirty="0">
                  <a:solidFill>
                    <a:srgbClr val="0000FF"/>
                  </a:solidFill>
                </a:rPr>
                <a:t>{</a:t>
              </a:r>
            </a:p>
            <a:p>
              <a:r>
                <a:rPr lang="en-US" sz="1400" dirty="0">
                  <a:solidFill>
                    <a:srgbClr val="0000FF"/>
                  </a:solidFill>
                </a:rPr>
                <a:t>    static Scanner read  = new Scanner (</a:t>
              </a:r>
              <a:r>
                <a:rPr lang="en-US" sz="1400" dirty="0" err="1">
                  <a:solidFill>
                    <a:srgbClr val="0000FF"/>
                  </a:solidFill>
                </a:rPr>
                <a:t>System.in</a:t>
              </a:r>
              <a:r>
                <a:rPr lang="en-US" sz="1400" dirty="0">
                  <a:solidFill>
                    <a:srgbClr val="0000FF"/>
                  </a:solidFill>
                </a:rPr>
                <a:t>);</a:t>
              </a:r>
            </a:p>
            <a:p>
              <a:r>
                <a:rPr lang="en-US" sz="1400" dirty="0">
                  <a:solidFill>
                    <a:srgbClr val="0000FF"/>
                  </a:solidFill>
                </a:rPr>
                <a:t>    public static void main (String[] </a:t>
              </a:r>
              <a:r>
                <a:rPr lang="en-US" sz="1400" dirty="0" err="1">
                  <a:solidFill>
                    <a:srgbClr val="0000FF"/>
                  </a:solidFill>
                </a:rPr>
                <a:t>args</a:t>
              </a:r>
              <a:r>
                <a:rPr lang="en-US" sz="1400" dirty="0">
                  <a:solidFill>
                    <a:srgbClr val="0000FF"/>
                  </a:solidFill>
                </a:rPr>
                <a:t>)</a:t>
              </a:r>
            </a:p>
            <a:p>
              <a:r>
                <a:rPr lang="en-US" sz="1400" dirty="0">
                  <a:solidFill>
                    <a:srgbClr val="0000FF"/>
                  </a:solidFill>
                </a:rPr>
                <a:t>    {</a:t>
              </a:r>
            </a:p>
            <a:p>
              <a:r>
                <a:rPr lang="en-US" sz="1400" dirty="0">
                  <a:solidFill>
                    <a:srgbClr val="0000FF"/>
                  </a:solidFill>
                </a:rPr>
                <a:t>            // Declaration section: to declare needed variables</a:t>
              </a:r>
            </a:p>
            <a:p>
              <a:r>
                <a:rPr lang="en-US" sz="1400" dirty="0">
                  <a:solidFill>
                    <a:srgbClr val="0000FF"/>
                  </a:solidFill>
                </a:rPr>
                <a:t>             </a:t>
              </a:r>
              <a:r>
                <a:rPr lang="en-US" sz="1400" dirty="0" err="1">
                  <a:solidFill>
                    <a:srgbClr val="0000FF"/>
                  </a:solidFill>
                </a:rPr>
                <a:t>int</a:t>
              </a:r>
              <a:r>
                <a:rPr lang="en-US" sz="1400" dirty="0">
                  <a:solidFill>
                    <a:srgbClr val="0000FF"/>
                  </a:solidFill>
                </a:rPr>
                <a:t> </a:t>
              </a:r>
              <a:r>
                <a:rPr lang="en-US" sz="1400" dirty="0" err="1">
                  <a:solidFill>
                    <a:srgbClr val="0000FF"/>
                  </a:solidFill>
                </a:rPr>
                <a:t>arraySize</a:t>
              </a:r>
              <a:r>
                <a:rPr lang="en-US" sz="1400" dirty="0">
                  <a:solidFill>
                    <a:srgbClr val="0000FF"/>
                  </a:solidFill>
                </a:rPr>
                <a:t>;</a:t>
              </a:r>
            </a:p>
            <a:p>
              <a:r>
                <a:rPr lang="en-US" sz="1400" dirty="0">
                  <a:solidFill>
                    <a:srgbClr val="0000FF"/>
                  </a:solidFill>
                </a:rPr>
                <a:t>             </a:t>
              </a:r>
              <a:r>
                <a:rPr lang="en-US" sz="1400" dirty="0" err="1">
                  <a:solidFill>
                    <a:srgbClr val="0000FF"/>
                  </a:solidFill>
                </a:rPr>
                <a:t>int</a:t>
              </a:r>
              <a:r>
                <a:rPr lang="en-US" sz="1400" dirty="0">
                  <a:solidFill>
                    <a:srgbClr val="0000FF"/>
                  </a:solidFill>
                </a:rPr>
                <a:t>[] </a:t>
              </a:r>
              <a:r>
                <a:rPr lang="en-US" sz="1400" dirty="0" err="1">
                  <a:solidFill>
                    <a:srgbClr val="0000FF"/>
                  </a:solidFill>
                </a:rPr>
                <a:t>numList</a:t>
              </a:r>
              <a:r>
                <a:rPr lang="en-US" sz="1400" dirty="0">
                  <a:solidFill>
                    <a:srgbClr val="0000FF"/>
                  </a:solidFill>
                </a:rPr>
                <a:t>;             </a:t>
              </a:r>
            </a:p>
            <a:p>
              <a:r>
                <a:rPr lang="en-US" sz="1400" dirty="0">
                  <a:solidFill>
                    <a:srgbClr val="0000FF"/>
                  </a:solidFill>
                </a:rPr>
                <a:t>             </a:t>
              </a:r>
              <a:r>
                <a:rPr lang="en-US" sz="1400" dirty="0" err="1">
                  <a:solidFill>
                    <a:srgbClr val="0000FF"/>
                  </a:solidFill>
                </a:rPr>
                <a:t>int</a:t>
              </a:r>
              <a:r>
                <a:rPr lang="en-US" sz="1400" dirty="0">
                  <a:solidFill>
                    <a:srgbClr val="0000FF"/>
                  </a:solidFill>
                </a:rPr>
                <a:t> sum = 0; // accumulator</a:t>
              </a:r>
            </a:p>
            <a:p>
              <a:r>
                <a:rPr lang="en-US" sz="1400" dirty="0">
                  <a:solidFill>
                    <a:srgbClr val="0000FF"/>
                  </a:solidFill>
                </a:rPr>
                <a:t>             </a:t>
              </a:r>
              <a:r>
                <a:rPr lang="en-US" sz="1400" dirty="0" err="1">
                  <a:solidFill>
                    <a:srgbClr val="0000FF"/>
                  </a:solidFill>
                </a:rPr>
                <a:t>int</a:t>
              </a:r>
              <a:r>
                <a:rPr lang="en-US" sz="1400" dirty="0">
                  <a:solidFill>
                    <a:srgbClr val="0000FF"/>
                  </a:solidFill>
                </a:rPr>
                <a:t> counter = 0; // counter of positive numbers</a:t>
              </a:r>
            </a:p>
            <a:p>
              <a:r>
                <a:rPr lang="en-US" sz="1400" dirty="0">
                  <a:solidFill>
                    <a:srgbClr val="0000FF"/>
                  </a:solidFill>
                </a:rPr>
                <a:t>             double average;</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("How many numbers you have" );</a:t>
              </a:r>
            </a:p>
            <a:p>
              <a:r>
                <a:rPr lang="en-US" sz="1400" dirty="0">
                  <a:solidFill>
                    <a:srgbClr val="0000FF"/>
                  </a:solidFill>
                </a:rPr>
                <a:t>             </a:t>
              </a:r>
              <a:r>
                <a:rPr lang="en-US" sz="1400" dirty="0" err="1">
                  <a:solidFill>
                    <a:srgbClr val="0000FF"/>
                  </a:solidFill>
                </a:rPr>
                <a:t>arraySize</a:t>
              </a:r>
              <a:r>
                <a:rPr lang="en-US" sz="1400" dirty="0">
                  <a:solidFill>
                    <a:srgbClr val="0000FF"/>
                  </a:solidFill>
                </a:rPr>
                <a:t> = </a:t>
              </a:r>
              <a:r>
                <a:rPr lang="en-US" sz="1400" dirty="0" err="1">
                  <a:solidFill>
                    <a:srgbClr val="0000FF"/>
                  </a:solidFill>
                </a:rPr>
                <a:t>read.nextInt</a:t>
              </a:r>
              <a:r>
                <a:rPr lang="en-US" sz="1400" dirty="0">
                  <a:solidFill>
                    <a:srgbClr val="0000FF"/>
                  </a:solidFill>
                </a:rPr>
                <a:t>();   </a:t>
              </a:r>
            </a:p>
            <a:p>
              <a:r>
                <a:rPr lang="en-US" sz="1400" dirty="0">
                  <a:solidFill>
                    <a:srgbClr val="0000FF"/>
                  </a:solidFill>
                </a:rPr>
                <a:t>             // Instantiate the array object with array size</a:t>
              </a:r>
            </a:p>
            <a:p>
              <a:r>
                <a:rPr lang="en-US" sz="1400" dirty="0">
                  <a:solidFill>
                    <a:srgbClr val="0000FF"/>
                  </a:solidFill>
                </a:rPr>
                <a:t>             </a:t>
              </a:r>
              <a:r>
                <a:rPr lang="en-US" sz="1400" dirty="0" err="1">
                  <a:solidFill>
                    <a:srgbClr val="0000FF"/>
                  </a:solidFill>
                </a:rPr>
                <a:t>numList</a:t>
              </a:r>
              <a:r>
                <a:rPr lang="en-US" sz="1400" dirty="0">
                  <a:solidFill>
                    <a:srgbClr val="0000FF"/>
                  </a:solidFill>
                </a:rPr>
                <a:t> = new </a:t>
              </a:r>
              <a:r>
                <a:rPr lang="en-US" sz="1400" dirty="0" err="1">
                  <a:solidFill>
                    <a:srgbClr val="0000FF"/>
                  </a:solidFill>
                </a:rPr>
                <a:t>int</a:t>
              </a:r>
              <a:r>
                <a:rPr lang="en-US" sz="1400" dirty="0">
                  <a:solidFill>
                    <a:srgbClr val="0000FF"/>
                  </a:solidFill>
                </a:rPr>
                <a:t>[</a:t>
              </a:r>
              <a:r>
                <a:rPr lang="en-US" sz="1400" dirty="0" err="1">
                  <a:solidFill>
                    <a:srgbClr val="0000FF"/>
                  </a:solidFill>
                </a:rPr>
                <a:t>arraySize</a:t>
              </a:r>
              <a:r>
                <a:rPr lang="en-US" sz="1400" dirty="0">
                  <a:solidFill>
                    <a:srgbClr val="0000FF"/>
                  </a:solidFill>
                </a:rPr>
                <a:t>];</a:t>
              </a:r>
            </a:p>
            <a:p>
              <a:endParaRPr lang="en-US" sz="1400" dirty="0">
                <a:solidFill>
                  <a:srgbClr val="0000FF"/>
                </a:solidFill>
              </a:endParaRPr>
            </a:p>
            <a:p>
              <a:endParaRPr lang="en-US" sz="1400" dirty="0">
                <a:solidFill>
                  <a:srgbClr val="0000FF"/>
                </a:solidFill>
              </a:endParaRPr>
            </a:p>
            <a:p>
              <a:endParaRPr lang="en-US" sz="1400" dirty="0">
                <a:solidFill>
                  <a:srgbClr val="0000FF"/>
                </a:solidFill>
              </a:endParaRPr>
            </a:p>
            <a:p>
              <a:endParaRPr lang="en-US" sz="1400" dirty="0">
                <a:solidFill>
                  <a:srgbClr val="0000FF"/>
                </a:solidFill>
              </a:endParaRPr>
            </a:p>
            <a:p>
              <a:endParaRPr lang="en-US" sz="1400" dirty="0">
                <a:solidFill>
                  <a:srgbClr val="0000FF"/>
                </a:solidFill>
              </a:endParaRPr>
            </a:p>
            <a:p>
              <a:endParaRPr lang="en-US" sz="1400" dirty="0">
                <a:solidFill>
                  <a:srgbClr val="0000FF"/>
                </a:solidFill>
              </a:endParaRPr>
            </a:p>
          </p:txBody>
        </p:sp>
        <p:sp>
          <p:nvSpPr>
            <p:cNvPr id="18" name="TextBox 17"/>
            <p:cNvSpPr txBox="1"/>
            <p:nvPr/>
          </p:nvSpPr>
          <p:spPr>
            <a:xfrm>
              <a:off x="323528" y="1236822"/>
              <a:ext cx="576064" cy="3530797"/>
            </a:xfrm>
            <a:prstGeom prst="rect">
              <a:avLst/>
            </a:prstGeom>
            <a:noFill/>
          </p:spPr>
          <p:txBody>
            <a:bodyPr wrap="square" rtlCol="0">
              <a:spAutoFit/>
            </a:bodyPr>
            <a:lstStyle/>
            <a:p>
              <a:pPr algn="r"/>
              <a:r>
                <a:rPr lang="en-US" sz="1400" dirty="0">
                  <a:solidFill>
                    <a:srgbClr val="FF0000"/>
                  </a:solidFill>
                </a:rPr>
                <a:t>1</a:t>
              </a:r>
            </a:p>
            <a:p>
              <a:pPr algn="r"/>
              <a:r>
                <a:rPr lang="en-US" sz="1400" dirty="0">
                  <a:solidFill>
                    <a:srgbClr val="FF0000"/>
                  </a:solidFill>
                </a:rPr>
                <a:t>2</a:t>
              </a:r>
            </a:p>
            <a:p>
              <a:pPr algn="r"/>
              <a:r>
                <a:rPr lang="en-US" sz="1400" dirty="0">
                  <a:solidFill>
                    <a:srgbClr val="FF0000"/>
                  </a:solidFill>
                </a:rPr>
                <a:t>3</a:t>
              </a:r>
            </a:p>
            <a:p>
              <a:pPr algn="r"/>
              <a:r>
                <a:rPr lang="en-US" sz="1400" dirty="0">
                  <a:solidFill>
                    <a:srgbClr val="FF0000"/>
                  </a:solidFill>
                </a:rPr>
                <a:t>4</a:t>
              </a:r>
            </a:p>
            <a:p>
              <a:pPr algn="r"/>
              <a:r>
                <a:rPr lang="en-US" sz="1400" dirty="0">
                  <a:solidFill>
                    <a:srgbClr val="FF0000"/>
                  </a:solidFill>
                </a:rPr>
                <a:t>5</a:t>
              </a:r>
            </a:p>
            <a:p>
              <a:pPr algn="r"/>
              <a:r>
                <a:rPr lang="en-US" sz="1400" dirty="0">
                  <a:solidFill>
                    <a:srgbClr val="FF0000"/>
                  </a:solidFill>
                </a:rPr>
                <a:t>6</a:t>
              </a:r>
            </a:p>
            <a:p>
              <a:pPr algn="r"/>
              <a:r>
                <a:rPr lang="en-US" sz="1400" dirty="0">
                  <a:solidFill>
                    <a:srgbClr val="FF0000"/>
                  </a:solidFill>
                </a:rPr>
                <a:t>7</a:t>
              </a:r>
            </a:p>
            <a:p>
              <a:pPr algn="r"/>
              <a:r>
                <a:rPr lang="en-US" sz="1400" dirty="0">
                  <a:solidFill>
                    <a:srgbClr val="FF0000"/>
                  </a:solidFill>
                </a:rPr>
                <a:t>8</a:t>
              </a:r>
            </a:p>
            <a:p>
              <a:pPr algn="r"/>
              <a:r>
                <a:rPr lang="en-US" sz="1400" dirty="0">
                  <a:solidFill>
                    <a:srgbClr val="FF0000"/>
                  </a:solidFill>
                </a:rPr>
                <a:t>9</a:t>
              </a:r>
            </a:p>
            <a:p>
              <a:pPr algn="r"/>
              <a:r>
                <a:rPr lang="en-US" sz="1400" dirty="0">
                  <a:solidFill>
                    <a:srgbClr val="FF0000"/>
                  </a:solidFill>
                </a:rPr>
                <a:t>10</a:t>
              </a:r>
            </a:p>
            <a:p>
              <a:pPr algn="r"/>
              <a:r>
                <a:rPr lang="en-US" sz="1400" dirty="0">
                  <a:solidFill>
                    <a:srgbClr val="FF0000"/>
                  </a:solidFill>
                </a:rPr>
                <a:t>11</a:t>
              </a:r>
            </a:p>
            <a:p>
              <a:pPr algn="r"/>
              <a:r>
                <a:rPr lang="en-US" sz="1400" dirty="0">
                  <a:solidFill>
                    <a:srgbClr val="FF0000"/>
                  </a:solidFill>
                </a:rPr>
                <a:t>12</a:t>
              </a:r>
            </a:p>
            <a:p>
              <a:pPr algn="r"/>
              <a:r>
                <a:rPr lang="en-US" sz="1400" dirty="0">
                  <a:solidFill>
                    <a:srgbClr val="FF0000"/>
                  </a:solidFill>
                </a:rPr>
                <a:t>13</a:t>
              </a:r>
            </a:p>
            <a:p>
              <a:pPr algn="r"/>
              <a:r>
                <a:rPr lang="en-US" sz="1400" dirty="0">
                  <a:solidFill>
                    <a:srgbClr val="FF0000"/>
                  </a:solidFill>
                </a:rPr>
                <a:t>14</a:t>
              </a:r>
            </a:p>
            <a:p>
              <a:pPr algn="r"/>
              <a:r>
                <a:rPr lang="en-US" sz="1400" dirty="0">
                  <a:solidFill>
                    <a:srgbClr val="FF0000"/>
                  </a:solidFill>
                </a:rPr>
                <a:t>15</a:t>
              </a:r>
            </a:p>
            <a:p>
              <a:pPr algn="r"/>
              <a:r>
                <a:rPr lang="en-US" sz="1400" dirty="0">
                  <a:solidFill>
                    <a:srgbClr val="FF0000"/>
                  </a:solidFill>
                </a:rPr>
                <a:t>16</a:t>
              </a:r>
            </a:p>
            <a:p>
              <a:pPr algn="r"/>
              <a:r>
                <a:rPr lang="en-US" sz="1400" dirty="0">
                  <a:solidFill>
                    <a:srgbClr val="FF0000"/>
                  </a:solidFill>
                </a:rPr>
                <a:t>17</a:t>
              </a:r>
            </a:p>
          </p:txBody>
        </p:sp>
      </p:grpSp>
    </p:spTree>
    <p:extLst>
      <p:ext uri="{BB962C8B-B14F-4D97-AF65-F5344CB8AC3E}">
        <p14:creationId xmlns:p14="http://schemas.microsoft.com/office/powerpoint/2010/main" val="402285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up)">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2"/>
          <p:cNvSpPr>
            <a:spLocks noGrp="1" noChangeArrowheads="1"/>
          </p:cNvSpPr>
          <p:nvPr>
            <p:ph type="title"/>
          </p:nvPr>
        </p:nvSpPr>
        <p:spPr>
          <a:xfrm>
            <a:off x="228600" y="152400"/>
            <a:ext cx="8663880" cy="598488"/>
          </a:xfrm>
        </p:spPr>
        <p:txBody>
          <a:bodyPr>
            <a:noAutofit/>
          </a:bodyPr>
          <a:lstStyle/>
          <a:p>
            <a:pPr eaLnBrk="1" hangingPunct="1"/>
            <a:r>
              <a:rPr lang="en-US" sz="4000" dirty="0">
                <a:solidFill>
                  <a:schemeClr val="accent2"/>
                </a:solidFill>
                <a:latin typeface="Tahoma" charset="0"/>
                <a:cs typeface="Arial" charset="0"/>
              </a:rPr>
              <a:t>7. PROGRAMMING HINT</a:t>
            </a:r>
          </a:p>
        </p:txBody>
      </p:sp>
      <p:sp>
        <p:nvSpPr>
          <p:cNvPr id="11" name="Rectangle 10"/>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PROGRAM 1 – CODE(2)</a:t>
            </a:r>
          </a:p>
        </p:txBody>
      </p:sp>
      <p:cxnSp>
        <p:nvCxnSpPr>
          <p:cNvPr id="12" name="Straight Connector 11"/>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7" name="Slide Number Placeholder 16"/>
          <p:cNvSpPr>
            <a:spLocks noGrp="1"/>
          </p:cNvSpPr>
          <p:nvPr>
            <p:ph type="sldNum" sz="quarter" idx="12"/>
          </p:nvPr>
        </p:nvSpPr>
        <p:spPr/>
        <p:txBody>
          <a:bodyPr/>
          <a:lstStyle/>
          <a:p>
            <a:fld id="{DA934484-767D-4C48-AF0E-A1438A969E59}" type="slidenum">
              <a:rPr lang="en-US" smtClean="0"/>
              <a:pPr/>
              <a:t>23</a:t>
            </a:fld>
            <a:endParaRPr lang="en-US" dirty="0"/>
          </a:p>
        </p:txBody>
      </p:sp>
      <p:grpSp>
        <p:nvGrpSpPr>
          <p:cNvPr id="15" name="Group 14"/>
          <p:cNvGrpSpPr/>
          <p:nvPr/>
        </p:nvGrpSpPr>
        <p:grpSpPr>
          <a:xfrm>
            <a:off x="179512" y="1326247"/>
            <a:ext cx="8784976" cy="4401205"/>
            <a:chOff x="323528" y="1236822"/>
            <a:chExt cx="7848872" cy="4138557"/>
          </a:xfrm>
        </p:grpSpPr>
        <p:sp>
          <p:nvSpPr>
            <p:cNvPr id="16" name="TextBox 15"/>
            <p:cNvSpPr txBox="1"/>
            <p:nvPr/>
          </p:nvSpPr>
          <p:spPr>
            <a:xfrm>
              <a:off x="971600" y="1236822"/>
              <a:ext cx="7200800" cy="4138557"/>
            </a:xfrm>
            <a:prstGeom prst="rect">
              <a:avLst/>
            </a:prstGeom>
            <a:solidFill>
              <a:schemeClr val="bg2"/>
            </a:solidFill>
            <a:ln w="28575" cap="rnd" cmpd="thickThin">
              <a:solidFill>
                <a:srgbClr val="0000FF"/>
              </a:solidFill>
            </a:ln>
          </p:spPr>
          <p:txBody>
            <a:bodyPr wrap="square" rtlCol="0">
              <a:spAutoFit/>
            </a:bodyPr>
            <a:lstStyle/>
            <a:p>
              <a:r>
                <a:rPr lang="en-US" sz="1400" dirty="0">
                  <a:solidFill>
                    <a:srgbClr val="0000FF"/>
                  </a:solidFill>
                </a:rPr>
                <a:t>             for( </a:t>
              </a:r>
              <a:r>
                <a:rPr lang="en-US" sz="1400" dirty="0" err="1">
                  <a:solidFill>
                    <a:srgbClr val="0000FF"/>
                  </a:solidFill>
                </a:rPr>
                <a:t>int</a:t>
              </a:r>
              <a:r>
                <a:rPr lang="en-US" sz="1400" dirty="0">
                  <a:solidFill>
                    <a:srgbClr val="0000FF"/>
                  </a:solidFill>
                </a:rPr>
                <a:t> </a:t>
              </a:r>
              <a:r>
                <a:rPr lang="en-US" sz="1400" dirty="0" err="1">
                  <a:solidFill>
                    <a:srgbClr val="0000FF"/>
                  </a:solidFill>
                </a:rPr>
                <a:t>i</a:t>
              </a:r>
              <a:r>
                <a:rPr lang="en-US" sz="1400" dirty="0">
                  <a:solidFill>
                    <a:srgbClr val="0000FF"/>
                  </a:solidFill>
                </a:rPr>
                <a:t>=0; </a:t>
              </a:r>
              <a:r>
                <a:rPr lang="en-US" sz="1400" dirty="0" err="1">
                  <a:solidFill>
                    <a:srgbClr val="0000FF"/>
                  </a:solidFill>
                </a:rPr>
                <a:t>i</a:t>
              </a:r>
              <a:r>
                <a:rPr lang="en-US" sz="1400" dirty="0">
                  <a:solidFill>
                    <a:srgbClr val="0000FF"/>
                  </a:solidFill>
                </a:rPr>
                <a:t>&lt;</a:t>
              </a:r>
              <a:r>
                <a:rPr lang="en-US" sz="1400" dirty="0" err="1">
                  <a:solidFill>
                    <a:srgbClr val="0000FF"/>
                  </a:solidFill>
                </a:rPr>
                <a:t>numList.length</a:t>
              </a:r>
              <a:r>
                <a:rPr lang="en-US" sz="1400" dirty="0">
                  <a:solidFill>
                    <a:srgbClr val="0000FF"/>
                  </a:solidFill>
                </a:rPr>
                <a:t>; </a:t>
              </a:r>
              <a:r>
                <a:rPr lang="en-US" sz="1400" dirty="0" err="1">
                  <a:solidFill>
                    <a:srgbClr val="0000FF"/>
                  </a:solidFill>
                </a:rPr>
                <a:t>i</a:t>
              </a:r>
              <a:r>
                <a:rPr lang="en-US" sz="1400" dirty="0">
                  <a:solidFill>
                    <a:srgbClr val="0000FF"/>
                  </a:solidFill>
                </a:rPr>
                <a:t>++ )</a:t>
              </a:r>
            </a:p>
            <a:p>
              <a:r>
                <a:rPr lang="en-US" sz="1400" dirty="0">
                  <a:solidFill>
                    <a:srgbClr val="0000FF"/>
                  </a:solidFill>
                </a:rPr>
                <a:t>             {</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("Enter number " );</a:t>
              </a:r>
            </a:p>
            <a:p>
              <a:r>
                <a:rPr lang="en-US" sz="1400" dirty="0">
                  <a:solidFill>
                    <a:srgbClr val="0000FF"/>
                  </a:solidFill>
                </a:rPr>
                <a:t>                 </a:t>
              </a:r>
              <a:r>
                <a:rPr lang="en-US" sz="1400" dirty="0" err="1">
                  <a:solidFill>
                    <a:srgbClr val="0000FF"/>
                  </a:solidFill>
                </a:rPr>
                <a:t>numList</a:t>
              </a:r>
              <a:r>
                <a:rPr lang="en-US" sz="1400" dirty="0">
                  <a:solidFill>
                    <a:srgbClr val="0000FF"/>
                  </a:solidFill>
                </a:rPr>
                <a:t>[</a:t>
              </a:r>
              <a:r>
                <a:rPr lang="en-US" sz="1400" dirty="0" err="1">
                  <a:solidFill>
                    <a:srgbClr val="0000FF"/>
                  </a:solidFill>
                </a:rPr>
                <a:t>i</a:t>
              </a:r>
              <a:r>
                <a:rPr lang="en-US" sz="1400" dirty="0">
                  <a:solidFill>
                    <a:srgbClr val="0000FF"/>
                  </a:solidFill>
                </a:rPr>
                <a:t>] = </a:t>
              </a:r>
              <a:r>
                <a:rPr lang="en-US" sz="1400" dirty="0" err="1">
                  <a:solidFill>
                    <a:srgbClr val="0000FF"/>
                  </a:solidFill>
                </a:rPr>
                <a:t>read.nextInt</a:t>
              </a:r>
              <a:r>
                <a:rPr lang="en-US" sz="1400" dirty="0">
                  <a:solidFill>
                    <a:srgbClr val="0000FF"/>
                  </a:solidFill>
                </a:rPr>
                <a:t>();  </a:t>
              </a:r>
            </a:p>
            <a:p>
              <a:r>
                <a:rPr lang="en-US" sz="1400" dirty="0">
                  <a:solidFill>
                    <a:srgbClr val="0000FF"/>
                  </a:solidFill>
                </a:rPr>
                <a:t>                 if( </a:t>
              </a:r>
              <a:r>
                <a:rPr lang="en-US" sz="1400" dirty="0" err="1">
                  <a:solidFill>
                    <a:srgbClr val="0000FF"/>
                  </a:solidFill>
                </a:rPr>
                <a:t>numList</a:t>
              </a:r>
              <a:r>
                <a:rPr lang="en-US" sz="1400" dirty="0">
                  <a:solidFill>
                    <a:srgbClr val="0000FF"/>
                  </a:solidFill>
                </a:rPr>
                <a:t>[</a:t>
              </a:r>
              <a:r>
                <a:rPr lang="en-US" sz="1400" dirty="0" err="1">
                  <a:solidFill>
                    <a:srgbClr val="0000FF"/>
                  </a:solidFill>
                </a:rPr>
                <a:t>i</a:t>
              </a:r>
              <a:r>
                <a:rPr lang="en-US" sz="1400" dirty="0">
                  <a:solidFill>
                    <a:srgbClr val="0000FF"/>
                  </a:solidFill>
                </a:rPr>
                <a:t>] &gt; 0 )</a:t>
              </a:r>
            </a:p>
            <a:p>
              <a:r>
                <a:rPr lang="en-US" sz="1400" dirty="0">
                  <a:solidFill>
                    <a:srgbClr val="0000FF"/>
                  </a:solidFill>
                </a:rPr>
                <a:t>                 {</a:t>
              </a:r>
            </a:p>
            <a:p>
              <a:r>
                <a:rPr lang="en-US" sz="1400" dirty="0">
                  <a:solidFill>
                    <a:srgbClr val="0000FF"/>
                  </a:solidFill>
                </a:rPr>
                <a:t>                     sum += </a:t>
              </a:r>
              <a:r>
                <a:rPr lang="en-US" sz="1400" dirty="0" err="1">
                  <a:solidFill>
                    <a:srgbClr val="0000FF"/>
                  </a:solidFill>
                </a:rPr>
                <a:t>numList</a:t>
              </a:r>
              <a:r>
                <a:rPr lang="en-US" sz="1400" dirty="0">
                  <a:solidFill>
                    <a:srgbClr val="0000FF"/>
                  </a:solidFill>
                </a:rPr>
                <a:t>[</a:t>
              </a:r>
              <a:r>
                <a:rPr lang="en-US" sz="1400" dirty="0" err="1">
                  <a:solidFill>
                    <a:srgbClr val="0000FF"/>
                  </a:solidFill>
                </a:rPr>
                <a:t>i</a:t>
              </a:r>
              <a:r>
                <a:rPr lang="en-US" sz="1400" dirty="0">
                  <a:solidFill>
                    <a:srgbClr val="0000FF"/>
                  </a:solidFill>
                </a:rPr>
                <a:t>];                </a:t>
              </a:r>
            </a:p>
            <a:p>
              <a:r>
                <a:rPr lang="en-US" sz="1400" dirty="0">
                  <a:solidFill>
                    <a:srgbClr val="0000FF"/>
                  </a:solidFill>
                </a:rPr>
                <a:t>                     counter++;</a:t>
              </a:r>
            </a:p>
            <a:p>
              <a:r>
                <a:rPr lang="en-US" sz="1400" dirty="0">
                  <a:solidFill>
                    <a:srgbClr val="0000FF"/>
                  </a:solidFill>
                </a:rPr>
                <a:t>                 }</a:t>
              </a:r>
            </a:p>
            <a:p>
              <a:r>
                <a:rPr lang="en-US" sz="1400" dirty="0">
                  <a:solidFill>
                    <a:srgbClr val="0000FF"/>
                  </a:solidFill>
                </a:rPr>
                <a:t>             }</a:t>
              </a:r>
            </a:p>
            <a:p>
              <a:r>
                <a:rPr lang="en-US" sz="1400" dirty="0">
                  <a:solidFill>
                    <a:srgbClr val="0000FF"/>
                  </a:solidFill>
                </a:rPr>
                <a:t>             //output section</a:t>
              </a:r>
            </a:p>
            <a:p>
              <a:r>
                <a:rPr lang="en-US" sz="1400" dirty="0">
                  <a:solidFill>
                    <a:srgbClr val="0000FF"/>
                  </a:solidFill>
                </a:rPr>
                <a:t>             if( counter != 0 )</a:t>
              </a:r>
            </a:p>
            <a:p>
              <a:r>
                <a:rPr lang="en-US" sz="1400" dirty="0">
                  <a:solidFill>
                    <a:srgbClr val="0000FF"/>
                  </a:solidFill>
                </a:rPr>
                <a:t>             {</a:t>
              </a:r>
            </a:p>
            <a:p>
              <a:r>
                <a:rPr lang="en-US" sz="1400" dirty="0">
                  <a:solidFill>
                    <a:srgbClr val="0000FF"/>
                  </a:solidFill>
                </a:rPr>
                <a:t>                 average = (double)(sum) / counter; //to avoid integer division</a:t>
              </a:r>
            </a:p>
            <a:p>
              <a:r>
                <a:rPr lang="en-US" sz="1400" dirty="0">
                  <a:solidFill>
                    <a:srgbClr val="0000FF"/>
                  </a:solidFill>
                </a:rPr>
                <a:t>                 </a:t>
              </a:r>
              <a:r>
                <a:rPr lang="en-US" sz="1400" dirty="0" err="1">
                  <a:solidFill>
                    <a:srgbClr val="0000FF"/>
                  </a:solidFill>
                </a:rPr>
                <a:t>System.out.printf</a:t>
              </a:r>
              <a:r>
                <a:rPr lang="en-US" sz="1400" dirty="0">
                  <a:solidFill>
                    <a:srgbClr val="0000FF"/>
                  </a:solidFill>
                </a:rPr>
                <a:t> ("Sum = %3d, Average = %.2f%n", sum, average);</a:t>
              </a:r>
            </a:p>
            <a:p>
              <a:r>
                <a:rPr lang="en-US" sz="1400" dirty="0">
                  <a:solidFill>
                    <a:srgbClr val="0000FF"/>
                  </a:solidFill>
                </a:rPr>
                <a:t>             }</a:t>
              </a:r>
            </a:p>
            <a:p>
              <a:r>
                <a:rPr lang="en-US" sz="1400" dirty="0">
                  <a:solidFill>
                    <a:srgbClr val="0000FF"/>
                  </a:solidFill>
                </a:rPr>
                <a:t>             else</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("No positive numbers");</a:t>
              </a:r>
            </a:p>
            <a:p>
              <a:r>
                <a:rPr lang="en-US" sz="1400" dirty="0">
                  <a:solidFill>
                    <a:srgbClr val="0000FF"/>
                  </a:solidFill>
                </a:rPr>
                <a:t>    }</a:t>
              </a:r>
            </a:p>
            <a:p>
              <a:r>
                <a:rPr lang="en-US" sz="1400" dirty="0">
                  <a:solidFill>
                    <a:srgbClr val="0000FF"/>
                  </a:solidFill>
                </a:rPr>
                <a:t>}      </a:t>
              </a:r>
            </a:p>
          </p:txBody>
        </p:sp>
        <p:sp>
          <p:nvSpPr>
            <p:cNvPr id="18" name="TextBox 17"/>
            <p:cNvSpPr txBox="1"/>
            <p:nvPr/>
          </p:nvSpPr>
          <p:spPr>
            <a:xfrm>
              <a:off x="323528" y="1236822"/>
              <a:ext cx="576064" cy="4138557"/>
            </a:xfrm>
            <a:prstGeom prst="rect">
              <a:avLst/>
            </a:prstGeom>
            <a:noFill/>
          </p:spPr>
          <p:txBody>
            <a:bodyPr wrap="square" rtlCol="0">
              <a:spAutoFit/>
            </a:bodyPr>
            <a:lstStyle/>
            <a:p>
              <a:pPr algn="r"/>
              <a:r>
                <a:rPr lang="en-US" sz="1400" dirty="0">
                  <a:solidFill>
                    <a:srgbClr val="FF0000"/>
                  </a:solidFill>
                </a:rPr>
                <a:t>18</a:t>
              </a:r>
            </a:p>
            <a:p>
              <a:pPr algn="r"/>
              <a:r>
                <a:rPr lang="en-US" sz="1400" dirty="0">
                  <a:solidFill>
                    <a:srgbClr val="FF0000"/>
                  </a:solidFill>
                </a:rPr>
                <a:t>19</a:t>
              </a:r>
            </a:p>
            <a:p>
              <a:pPr algn="r"/>
              <a:r>
                <a:rPr lang="en-US" sz="1400" dirty="0">
                  <a:solidFill>
                    <a:srgbClr val="FF0000"/>
                  </a:solidFill>
                </a:rPr>
                <a:t>20</a:t>
              </a:r>
            </a:p>
            <a:p>
              <a:pPr algn="r"/>
              <a:r>
                <a:rPr lang="en-US" sz="1400" dirty="0">
                  <a:solidFill>
                    <a:srgbClr val="FF0000"/>
                  </a:solidFill>
                </a:rPr>
                <a:t>21</a:t>
              </a:r>
            </a:p>
            <a:p>
              <a:pPr algn="r"/>
              <a:r>
                <a:rPr lang="en-US" sz="1400" dirty="0">
                  <a:solidFill>
                    <a:srgbClr val="FF0000"/>
                  </a:solidFill>
                </a:rPr>
                <a:t>22</a:t>
              </a:r>
            </a:p>
            <a:p>
              <a:pPr algn="r"/>
              <a:r>
                <a:rPr lang="en-US" sz="1400" dirty="0">
                  <a:solidFill>
                    <a:srgbClr val="FF0000"/>
                  </a:solidFill>
                </a:rPr>
                <a:t>23</a:t>
              </a:r>
            </a:p>
            <a:p>
              <a:pPr algn="r"/>
              <a:r>
                <a:rPr lang="en-US" sz="1400" dirty="0">
                  <a:solidFill>
                    <a:srgbClr val="FF0000"/>
                  </a:solidFill>
                </a:rPr>
                <a:t>24</a:t>
              </a:r>
            </a:p>
            <a:p>
              <a:pPr algn="r"/>
              <a:r>
                <a:rPr lang="en-US" sz="1400" dirty="0">
                  <a:solidFill>
                    <a:srgbClr val="FF0000"/>
                  </a:solidFill>
                </a:rPr>
                <a:t>25</a:t>
              </a:r>
            </a:p>
            <a:p>
              <a:pPr algn="r"/>
              <a:r>
                <a:rPr lang="en-US" sz="1400" dirty="0">
                  <a:solidFill>
                    <a:srgbClr val="FF0000"/>
                  </a:solidFill>
                </a:rPr>
                <a:t>26</a:t>
              </a:r>
            </a:p>
            <a:p>
              <a:pPr algn="r"/>
              <a:r>
                <a:rPr lang="en-US" sz="1400" dirty="0">
                  <a:solidFill>
                    <a:srgbClr val="FF0000"/>
                  </a:solidFill>
                </a:rPr>
                <a:t>27</a:t>
              </a:r>
            </a:p>
            <a:p>
              <a:pPr algn="r"/>
              <a:r>
                <a:rPr lang="en-US" sz="1400" dirty="0">
                  <a:solidFill>
                    <a:srgbClr val="FF0000"/>
                  </a:solidFill>
                </a:rPr>
                <a:t>28</a:t>
              </a:r>
            </a:p>
            <a:p>
              <a:pPr algn="r"/>
              <a:r>
                <a:rPr lang="en-US" sz="1400" dirty="0">
                  <a:solidFill>
                    <a:srgbClr val="FF0000"/>
                  </a:solidFill>
                </a:rPr>
                <a:t>29</a:t>
              </a:r>
            </a:p>
            <a:p>
              <a:pPr algn="r"/>
              <a:r>
                <a:rPr lang="en-US" sz="1400" dirty="0">
                  <a:solidFill>
                    <a:srgbClr val="FF0000"/>
                  </a:solidFill>
                </a:rPr>
                <a:t>30</a:t>
              </a:r>
            </a:p>
            <a:p>
              <a:pPr algn="r"/>
              <a:r>
                <a:rPr lang="en-US" sz="1400" dirty="0">
                  <a:solidFill>
                    <a:srgbClr val="FF0000"/>
                  </a:solidFill>
                </a:rPr>
                <a:t>31</a:t>
              </a:r>
            </a:p>
            <a:p>
              <a:pPr algn="r"/>
              <a:r>
                <a:rPr lang="en-US" sz="1400" dirty="0">
                  <a:solidFill>
                    <a:srgbClr val="FF0000"/>
                  </a:solidFill>
                </a:rPr>
                <a:t>32</a:t>
              </a:r>
            </a:p>
            <a:p>
              <a:pPr algn="r"/>
              <a:r>
                <a:rPr lang="en-US" sz="1400" dirty="0">
                  <a:solidFill>
                    <a:srgbClr val="FF0000"/>
                  </a:solidFill>
                </a:rPr>
                <a:t>33</a:t>
              </a:r>
            </a:p>
            <a:p>
              <a:pPr algn="r"/>
              <a:r>
                <a:rPr lang="en-US" sz="1400" dirty="0">
                  <a:solidFill>
                    <a:srgbClr val="FF0000"/>
                  </a:solidFill>
                </a:rPr>
                <a:t>34</a:t>
              </a:r>
            </a:p>
            <a:p>
              <a:pPr algn="r"/>
              <a:r>
                <a:rPr lang="en-US" sz="1400" dirty="0">
                  <a:solidFill>
                    <a:srgbClr val="FF0000"/>
                  </a:solidFill>
                </a:rPr>
                <a:t>35</a:t>
              </a:r>
            </a:p>
            <a:p>
              <a:pPr algn="r"/>
              <a:r>
                <a:rPr lang="en-US" sz="1400" dirty="0">
                  <a:solidFill>
                    <a:srgbClr val="FF0000"/>
                  </a:solidFill>
                </a:rPr>
                <a:t>36</a:t>
              </a:r>
            </a:p>
            <a:p>
              <a:pPr algn="r"/>
              <a:r>
                <a:rPr lang="en-US" sz="1400" dirty="0">
                  <a:solidFill>
                    <a:srgbClr val="FF0000"/>
                  </a:solidFill>
                </a:rPr>
                <a:t>37</a:t>
              </a:r>
            </a:p>
          </p:txBody>
        </p:sp>
      </p:grpSp>
    </p:spTree>
    <p:extLst>
      <p:ext uri="{BB962C8B-B14F-4D97-AF65-F5344CB8AC3E}">
        <p14:creationId xmlns:p14="http://schemas.microsoft.com/office/powerpoint/2010/main" val="770560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up)">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0" y="1"/>
            <a:ext cx="9144000" cy="6858000"/>
          </a:xfrm>
          <a:prstGeom prst="rect">
            <a:avLst/>
          </a:prstGeom>
        </p:spPr>
      </p:pic>
      <p:sp>
        <p:nvSpPr>
          <p:cNvPr id="3" name="Slide Number Placeholder 2"/>
          <p:cNvSpPr>
            <a:spLocks noGrp="1"/>
          </p:cNvSpPr>
          <p:nvPr>
            <p:ph type="sldNum" sz="quarter" idx="12"/>
          </p:nvPr>
        </p:nvSpPr>
        <p:spPr/>
        <p:txBody>
          <a:bodyPr/>
          <a:lstStyle/>
          <a:p>
            <a:r>
              <a:rPr lang="en-US"/>
              <a:t> </a:t>
            </a:r>
            <a:fld id="{D8D24581-BA14-4640-B752-9AB0FD1B9A37}" type="slidenum">
              <a:rPr lang="en-US" smtClean="0"/>
              <a:pPr/>
              <a:t>24</a:t>
            </a:fld>
            <a:endParaRPr lang="en-US" dirty="0"/>
          </a:p>
        </p:txBody>
      </p:sp>
      <p:sp>
        <p:nvSpPr>
          <p:cNvPr id="4" name="Title 3"/>
          <p:cNvSpPr>
            <a:spLocks noGrp="1"/>
          </p:cNvSpPr>
          <p:nvPr>
            <p:ph type="title"/>
          </p:nvPr>
        </p:nvSpPr>
        <p:spPr>
          <a:xfrm>
            <a:off x="457200" y="116558"/>
            <a:ext cx="8229600" cy="792162"/>
          </a:xfrm>
        </p:spPr>
        <p:txBody>
          <a:bodyPr vert="horz" rtlCol="0" anchor="ctr">
            <a:norm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Self-Check Exercises </a:t>
            </a:r>
          </a:p>
        </p:txBody>
      </p:sp>
      <p:cxnSp>
        <p:nvCxnSpPr>
          <p:cNvPr id="5" name="Straight Connector 4"/>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79512" y="908720"/>
            <a:ext cx="8640960" cy="163121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Write a complete Java program that does the following:</a:t>
            </a:r>
          </a:p>
          <a:p>
            <a:pPr marL="800100" lvl="1" indent="-342900" algn="just">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Initializes all array elements with the value ‘*’</a:t>
            </a:r>
          </a:p>
          <a:p>
            <a:pPr marL="800100" lvl="1" indent="-342900" algn="just">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Accepts a set of Strings, takes the first character of the String and fills it in the array in sequence.</a:t>
            </a:r>
          </a:p>
          <a:p>
            <a:pPr marL="800100" lvl="1" indent="-342900" algn="just">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Prints the array.</a:t>
            </a:r>
          </a:p>
        </p:txBody>
      </p:sp>
      <p:sp>
        <p:nvSpPr>
          <p:cNvPr id="10" name="TextBox 9"/>
          <p:cNvSpPr txBox="1"/>
          <p:nvPr/>
        </p:nvSpPr>
        <p:spPr>
          <a:xfrm>
            <a:off x="71406" y="6496070"/>
            <a:ext cx="4000528" cy="276999"/>
          </a:xfrm>
          <a:prstGeom prst="rect">
            <a:avLst/>
          </a:prstGeom>
          <a:noFill/>
        </p:spPr>
        <p:txBody>
          <a:bodyPr wrap="square" rtlCol="0">
            <a:spAutoFit/>
          </a:bodyPr>
          <a:lstStyle/>
          <a:p>
            <a:r>
              <a:rPr lang="en-US" sz="1200" dirty="0"/>
              <a:t>W9.1 Arrays (1)</a:t>
            </a:r>
          </a:p>
        </p:txBody>
      </p:sp>
      <p:sp>
        <p:nvSpPr>
          <p:cNvPr id="8" name="TextBox 7"/>
          <p:cNvSpPr txBox="1"/>
          <p:nvPr/>
        </p:nvSpPr>
        <p:spPr>
          <a:xfrm>
            <a:off x="179512" y="4121785"/>
            <a:ext cx="8640960" cy="1323439"/>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Write a complete Java program that stores the user input of integers into an array, and then initializes another array of the same size. The program then adds the corresponding elements of both arrays and puts the result in a third one.</a:t>
            </a:r>
          </a:p>
        </p:txBody>
      </p:sp>
      <p:sp>
        <p:nvSpPr>
          <p:cNvPr id="9" name="TextBox 8"/>
          <p:cNvSpPr txBox="1"/>
          <p:nvPr/>
        </p:nvSpPr>
        <p:spPr>
          <a:xfrm>
            <a:off x="179512" y="2976918"/>
            <a:ext cx="8640960" cy="707886"/>
          </a:xfrm>
          <a:prstGeom prst="rect">
            <a:avLst/>
          </a:prstGeom>
          <a:noFill/>
        </p:spPr>
        <p:txBody>
          <a:bodyPr wrap="square" rtlCol="0">
            <a:spAutoFit/>
          </a:bodyPr>
          <a:lstStyle/>
          <a:p>
            <a:pPr marL="342900" indent="-342900" algn="just">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Write a complete Java program that stores the user input of integers into an array, and then prints it in the reverse order.</a:t>
            </a:r>
          </a:p>
        </p:txBody>
      </p:sp>
    </p:spTree>
    <p:extLst>
      <p:ext uri="{BB962C8B-B14F-4D97-AF65-F5344CB8AC3E}">
        <p14:creationId xmlns:p14="http://schemas.microsoft.com/office/powerpoint/2010/main" val="31535297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1841</TotalTime>
  <Words>2874</Words>
  <Application>Microsoft Macintosh PowerPoint</Application>
  <PresentationFormat>On-screen Show (4:3)</PresentationFormat>
  <Paragraphs>564</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Courier New</vt:lpstr>
      <vt:lpstr>Lucida Sans Unicode</vt:lpstr>
      <vt:lpstr>Tahoma</vt:lpstr>
      <vt:lpstr>Verdana</vt:lpstr>
      <vt:lpstr>Wingdings</vt:lpstr>
      <vt:lpstr>Wingdings 2</vt:lpstr>
      <vt:lpstr>Wingdings 3</vt:lpstr>
      <vt:lpstr>Concourse</vt:lpstr>
      <vt:lpstr>  ARRAYS </vt:lpstr>
      <vt:lpstr>Outline</vt:lpstr>
      <vt:lpstr>1. INTRODUCTION</vt:lpstr>
      <vt:lpstr>2. PROPERTIES OF AN ARRAY</vt:lpstr>
      <vt:lpstr>3. ARRAY DECLARATION</vt:lpstr>
      <vt:lpstr>3. ARRAY DECLARATION</vt:lpstr>
      <vt:lpstr>3. ARRAY DECLARATION</vt:lpstr>
      <vt:lpstr>3. ARRAY DECLARATION</vt:lpstr>
      <vt:lpstr>3. ARRAY DECLARATION</vt:lpstr>
      <vt:lpstr>3. ARRAY DECLARATION</vt:lpstr>
      <vt:lpstr>4. ACCESSING ARRAY ELEMENTS</vt:lpstr>
      <vt:lpstr>4. ACCESSING ARRAY ELEMENTS</vt:lpstr>
      <vt:lpstr>4. ACCESSING ARRAY ELEMENTS</vt:lpstr>
      <vt:lpstr>4. ACCESSING ARRAY ELEMENTS</vt:lpstr>
      <vt:lpstr>5. length</vt:lpstr>
      <vt:lpstr>6. ARRAY INITIALIZATION</vt:lpstr>
      <vt:lpstr>6. ARRAY INITIALIZATION</vt:lpstr>
      <vt:lpstr>6. ARRAY INITIALIZATION</vt:lpstr>
      <vt:lpstr>6. ARRAY INITIALIZATION</vt:lpstr>
      <vt:lpstr>7. PROGRAMMING HINT</vt:lpstr>
      <vt:lpstr>7. PROGRAMMING HINT</vt:lpstr>
      <vt:lpstr>7. PROGRAMMING HINT</vt:lpstr>
      <vt:lpstr>7. PROGRAMMING HINT</vt:lpstr>
      <vt:lpstr>Self-Check Exercises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(1)</dc:title>
  <dc:creator>Soha S.Zaghloul</dc:creator>
  <cp:lastModifiedBy>عبدالعزيز محمد دخيل الحميضي</cp:lastModifiedBy>
  <cp:revision>66</cp:revision>
  <dcterms:created xsi:type="dcterms:W3CDTF">2015-03-16T15:14:25Z</dcterms:created>
  <dcterms:modified xsi:type="dcterms:W3CDTF">2024-05-07T21:48:27Z</dcterms:modified>
</cp:coreProperties>
</file>