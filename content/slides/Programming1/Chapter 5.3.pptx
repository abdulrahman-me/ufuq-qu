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0.xml" ContentType="application/vnd.openxmlformats-officedocument.presentationml.notesSlide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80" r:id="rId14"/>
    <p:sldId id="271" r:id="rId15"/>
    <p:sldId id="272" r:id="rId16"/>
    <p:sldId id="273" r:id="rId17"/>
    <p:sldId id="274" r:id="rId18"/>
    <p:sldId id="276" r:id="rId19"/>
    <p:sldId id="277" r:id="rId20"/>
    <p:sldId id="275" r:id="rId21"/>
    <p:sldId id="279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62"/>
    <p:restoredTop sz="94719"/>
  </p:normalViewPr>
  <p:slideViewPr>
    <p:cSldViewPr>
      <p:cViewPr varScale="1">
        <p:scale>
          <a:sx n="148" d="100"/>
          <a:sy n="148" d="100"/>
        </p:scale>
        <p:origin x="24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645A-D7AA-4A0B-BA84-1B57B9A64A7C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8041A-F2AB-49CD-A8C2-9DAF94057A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7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6A1F8-6CFC-444B-93A4-4FF3FC87BBEB}" type="datetimeFigureOut">
              <a:rPr lang="en-US" smtClean="0"/>
              <a:pPr/>
              <a:t>3/27/24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FA536EF-8B0A-49B1-AF4E-4F98B512BF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 REPETITION (3)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95071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44008" y="3861048"/>
            <a:ext cx="4248472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00B0F0"/>
                </a:solidFill>
              </a:rPr>
              <a:t>do…while</a:t>
            </a:r>
          </a:p>
        </p:txBody>
      </p:sp>
    </p:spTree>
    <p:extLst>
      <p:ext uri="{BB962C8B-B14F-4D97-AF65-F5344CB8AC3E}">
        <p14:creationId xmlns:p14="http://schemas.microsoft.com/office/powerpoint/2010/main" val="347837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1. The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</a:t>
            </a:r>
            <a:endParaRPr lang="en-US" sz="2400" dirty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1.1 Syntax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1.2 Flowchart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1.3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2. Programming Hint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3.The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break </a:t>
            </a:r>
            <a:r>
              <a:rPr lang="en-US" sz="2400" dirty="0">
                <a:latin typeface="Tahoma" charset="0"/>
                <a:cs typeface="Arial" charset="0"/>
              </a:rPr>
              <a:t>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4.The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 </a:t>
            </a:r>
            <a:r>
              <a:rPr lang="en-US" sz="2400" dirty="0">
                <a:latin typeface="Tahoma" charset="0"/>
                <a:cs typeface="Arial" charset="0"/>
              </a:rPr>
              <a:t>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5.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break </a:t>
            </a:r>
            <a:r>
              <a:rPr lang="en-US" sz="2400" dirty="0">
                <a:latin typeface="Tahoma" charset="0"/>
                <a:cs typeface="Arial" charset="0"/>
              </a:rPr>
              <a:t>vs.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sz="2400" dirty="0"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967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 err="1">
                <a:solidFill>
                  <a:srgbClr val="00B0F0"/>
                </a:solidFill>
                <a:latin typeface="Tahoma" charset="0"/>
                <a:cs typeface="Arial" charset="0"/>
              </a:rPr>
              <a:t>do..while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91679" y="1340768"/>
            <a:ext cx="7215369" cy="936104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do {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statement; </a:t>
            </a:r>
          </a:p>
          <a:p>
            <a:r>
              <a:rPr lang="en-US" sz="1600" dirty="0">
                <a:solidFill>
                  <a:srgbClr val="00B0F0"/>
                </a:solidFill>
              </a:rPr>
              <a:t>} while </a:t>
            </a:r>
            <a:r>
              <a:rPr lang="en-US" sz="1600" dirty="0">
                <a:solidFill>
                  <a:srgbClr val="0000FF"/>
                </a:solidFill>
              </a:rPr>
              <a:t>(logical expression);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4" y="1340768"/>
            <a:ext cx="144016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79" y="2924944"/>
            <a:ext cx="7215369" cy="2304256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do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{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1;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2;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---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n;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} </a:t>
            </a:r>
            <a:r>
              <a:rPr lang="en-US" sz="1600" dirty="0">
                <a:solidFill>
                  <a:srgbClr val="00B0F0"/>
                </a:solidFill>
              </a:rPr>
              <a:t>while </a:t>
            </a:r>
            <a:r>
              <a:rPr lang="en-US" sz="1600" dirty="0">
                <a:solidFill>
                  <a:srgbClr val="0000FF"/>
                </a:solidFill>
              </a:rPr>
              <a:t>(logical expression);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4" y="2924944"/>
            <a:ext cx="144016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439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1.2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 err="1">
                <a:solidFill>
                  <a:srgbClr val="00B0F0"/>
                </a:solidFill>
                <a:latin typeface="Tahoma" charset="0"/>
                <a:cs typeface="Arial" charset="0"/>
              </a:rPr>
              <a:t>do..while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85227" y="1412776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Initialize Variable(s)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6525" y="2420888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Statement</a:t>
            </a:r>
            <a:r>
              <a:rPr lang="en-US" b="1" dirty="0">
                <a:solidFill>
                  <a:srgbClr val="FF0000"/>
                </a:solidFill>
              </a:rPr>
              <a:t>(s)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425387" y="1124744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4" idx="0"/>
          </p:cNvCxnSpPr>
          <p:nvPr/>
        </p:nvCxnSpPr>
        <p:spPr>
          <a:xfrm>
            <a:off x="3425387" y="1772816"/>
            <a:ext cx="0" cy="64807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45367" y="836712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Decision 19"/>
          <p:cNvSpPr/>
          <p:nvPr/>
        </p:nvSpPr>
        <p:spPr>
          <a:xfrm>
            <a:off x="1985227" y="4077072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Logical Expression</a:t>
            </a:r>
          </a:p>
        </p:txBody>
      </p:sp>
      <p:cxnSp>
        <p:nvCxnSpPr>
          <p:cNvPr id="21" name="Straight Arrow Connector 20"/>
          <p:cNvCxnSpPr>
            <a:stCxn id="14" idx="2"/>
          </p:cNvCxnSpPr>
          <p:nvPr/>
        </p:nvCxnSpPr>
        <p:spPr>
          <a:xfrm>
            <a:off x="3425387" y="2780928"/>
            <a:ext cx="1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865547" y="4581128"/>
            <a:ext cx="3306674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76056" y="431458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1799692" y="4401108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275791" y="4437112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637871" y="4145305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6524" y="3068960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Update Variable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8172219" y="1988840"/>
            <a:ext cx="0" cy="2592288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425388" y="1988840"/>
            <a:ext cx="4746831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9512" y="4964975"/>
            <a:ext cx="8807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main difference between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that: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tests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 executes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statements accordingly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executes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statements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 tests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If the condition is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another iteration takes place.</a:t>
            </a:r>
          </a:p>
        </p:txBody>
      </p:sp>
      <p:cxnSp>
        <p:nvCxnSpPr>
          <p:cNvPr id="31" name="Straight Arrow Connector 30"/>
          <p:cNvCxnSpPr>
            <a:endCxn id="20" idx="0"/>
          </p:cNvCxnSpPr>
          <p:nvPr/>
        </p:nvCxnSpPr>
        <p:spPr>
          <a:xfrm>
            <a:off x="3425384" y="3717032"/>
            <a:ext cx="3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97488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  <p:bldP spid="14" grpId="0" animBg="1"/>
      <p:bldP spid="19" grpId="0" animBg="1"/>
      <p:bldP spid="20" grpId="0" animBg="1"/>
      <p:bldP spid="23" grpId="0"/>
      <p:bldP spid="25" grpId="0" animBg="1"/>
      <p:bldP spid="26" grpId="0"/>
      <p:bldP spid="27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1.3 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688941" y="1268760"/>
            <a:ext cx="7275546" cy="2308324"/>
            <a:chOff x="323528" y="1536605"/>
            <a:chExt cx="7848872" cy="2170572"/>
          </a:xfrm>
        </p:grpSpPr>
        <p:sp>
          <p:nvSpPr>
            <p:cNvPr id="37" name="TextBox 36"/>
            <p:cNvSpPr txBox="1"/>
            <p:nvPr/>
          </p:nvSpPr>
          <p:spPr>
            <a:xfrm>
              <a:off x="792577" y="1536605"/>
              <a:ext cx="7379823" cy="21416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iteration = 0;       </a:t>
              </a:r>
              <a:r>
                <a:rPr lang="en-US" sz="1600" dirty="0">
                  <a:solidFill>
                    <a:srgbClr val="00B050"/>
                  </a:solidFill>
                </a:rPr>
                <a:t>//initialize the control loop variable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B0F0"/>
                  </a:solidFill>
                </a:rPr>
                <a:t>do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(“Iteration = “ + iteration);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iteration = iteration + 5;  </a:t>
              </a:r>
              <a:r>
                <a:rPr lang="en-US" sz="1600" dirty="0">
                  <a:solidFill>
                    <a:srgbClr val="00B050"/>
                  </a:solidFill>
                </a:rPr>
                <a:t>//update the control loop variable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}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while</a:t>
              </a:r>
              <a:r>
                <a:rPr lang="en-US" dirty="0">
                  <a:solidFill>
                    <a:srgbClr val="0000FF"/>
                  </a:solidFill>
                </a:rPr>
                <a:t> (iteration &lt;= 20); </a:t>
              </a:r>
              <a:r>
                <a:rPr lang="en-US" sz="1400" dirty="0">
                  <a:solidFill>
                    <a:srgbClr val="00B050"/>
                  </a:solidFill>
                </a:rPr>
                <a:t>//test the condition at the end of the loop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(“After the loop, iteration = “ + iteration);</a:t>
              </a:r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3528" y="1536605"/>
              <a:ext cx="469049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251520" y="126876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832956" y="3645024"/>
            <a:ext cx="7131532" cy="1384995"/>
            <a:chOff x="831805" y="1236822"/>
            <a:chExt cx="7340595" cy="1384993"/>
          </a:xfrm>
        </p:grpSpPr>
        <p:sp>
          <p:nvSpPr>
            <p:cNvPr id="41" name="TextBox 40"/>
            <p:cNvSpPr txBox="1"/>
            <p:nvPr/>
          </p:nvSpPr>
          <p:spPr>
            <a:xfrm>
              <a:off x="1301912" y="1236822"/>
              <a:ext cx="6870488" cy="138499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10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15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iteration = 25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1805" y="1236822"/>
              <a:ext cx="447534" cy="138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251520" y="3645024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970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9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1.3 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688941" y="1268760"/>
            <a:ext cx="7275546" cy="2308324"/>
            <a:chOff x="323528" y="1536605"/>
            <a:chExt cx="7848872" cy="2170572"/>
          </a:xfrm>
        </p:grpSpPr>
        <p:sp>
          <p:nvSpPr>
            <p:cNvPr id="37" name="TextBox 36"/>
            <p:cNvSpPr txBox="1"/>
            <p:nvPr/>
          </p:nvSpPr>
          <p:spPr>
            <a:xfrm>
              <a:off x="792577" y="1536605"/>
              <a:ext cx="7379823" cy="21416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iteration = 0;       </a:t>
              </a:r>
              <a:r>
                <a:rPr lang="en-US" sz="1600" dirty="0">
                  <a:solidFill>
                    <a:srgbClr val="00B050"/>
                  </a:solidFill>
                </a:rPr>
                <a:t>//initialize the control loop variable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B0F0"/>
                  </a:solidFill>
                </a:rPr>
                <a:t>do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(“Iteration = “ + iteration);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iteration = iteration + 5;  </a:t>
              </a:r>
              <a:r>
                <a:rPr lang="en-US" sz="1600" dirty="0">
                  <a:solidFill>
                    <a:srgbClr val="00B050"/>
                  </a:solidFill>
                </a:rPr>
                <a:t>//update the control loop variable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}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while</a:t>
              </a:r>
              <a:r>
                <a:rPr lang="en-US" dirty="0">
                  <a:solidFill>
                    <a:srgbClr val="0000FF"/>
                  </a:solidFill>
                </a:rPr>
                <a:t> (iteration &lt;= </a:t>
              </a:r>
              <a:r>
                <a:rPr lang="en-US" dirty="0">
                  <a:solidFill>
                    <a:srgbClr val="FF0000"/>
                  </a:solidFill>
                </a:rPr>
                <a:t>-1</a:t>
              </a:r>
              <a:r>
                <a:rPr lang="en-US" dirty="0">
                  <a:solidFill>
                    <a:srgbClr val="0000FF"/>
                  </a:solidFill>
                </a:rPr>
                <a:t>); </a:t>
              </a:r>
              <a:r>
                <a:rPr lang="en-US" sz="1400" dirty="0">
                  <a:solidFill>
                    <a:srgbClr val="00B050"/>
                  </a:solidFill>
                </a:rPr>
                <a:t>//test the condition at the end of the loop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(“After the loop, iteration = “ + iteration);</a:t>
              </a:r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3528" y="1536605"/>
              <a:ext cx="469049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251520" y="126876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832956" y="3645025"/>
            <a:ext cx="7131532" cy="523220"/>
            <a:chOff x="831805" y="1236822"/>
            <a:chExt cx="7340595" cy="523219"/>
          </a:xfrm>
        </p:grpSpPr>
        <p:sp>
          <p:nvSpPr>
            <p:cNvPr id="41" name="TextBox 40"/>
            <p:cNvSpPr txBox="1"/>
            <p:nvPr/>
          </p:nvSpPr>
          <p:spPr>
            <a:xfrm>
              <a:off x="1301912" y="1236822"/>
              <a:ext cx="6870488" cy="523219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iteration = 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1805" y="1236822"/>
              <a:ext cx="447534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251520" y="3645024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79512" y="4293096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statements in the loop body of a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 </a:t>
            </a:r>
            <a:r>
              <a:rPr lang="en-US" u="sng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executed at least once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9512" y="4643844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Displaying a menu for the user and taking action according to the user’s input is better implemented using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 next slide illustrates this.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10106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9" grpId="0" animBg="1"/>
      <p:bldP spid="43" grpId="0" animBg="1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-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179512" y="1340768"/>
            <a:ext cx="8784976" cy="1224136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complete program that displays a menu to perform an arithmetic operation between two non-integer numbers. The user should select one of the following symbols: +, -, *, /, and %. The menu should contain an option to exit from the program.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6951" y="270892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19672" y="2708920"/>
            <a:ext cx="7344816" cy="720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User’s selection </a:t>
            </a:r>
            <a:r>
              <a:rPr lang="en-US" dirty="0">
                <a:solidFill>
                  <a:srgbClr val="FF3399"/>
                </a:solidFill>
              </a:rPr>
              <a:t>(variable: selection, type: 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Two numbers </a:t>
            </a:r>
            <a:r>
              <a:rPr lang="en-US" dirty="0">
                <a:solidFill>
                  <a:srgbClr val="FF3399"/>
                </a:solidFill>
              </a:rPr>
              <a:t>(variable: num1, num2,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520" y="350100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34241" y="3501008"/>
            <a:ext cx="7344816" cy="720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Result of the operation </a:t>
            </a:r>
            <a:r>
              <a:rPr lang="en-US" dirty="0">
                <a:solidFill>
                  <a:srgbClr val="FF3399"/>
                </a:solidFill>
              </a:rPr>
              <a:t>(variable: result,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981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-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79512" y="1434255"/>
            <a:ext cx="8784976" cy="5047536"/>
            <a:chOff x="323528" y="1236822"/>
            <a:chExt cx="7848872" cy="4883868"/>
          </a:xfrm>
        </p:grpSpPr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4883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88386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doWhile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	static </a:t>
              </a:r>
              <a:r>
                <a:rPr lang="en-US" sz="1400" dirty="0">
                  <a:solidFill>
                    <a:srgbClr val="0000FF"/>
                  </a:solidFill>
                </a:rPr>
                <a:t>Scanner read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</a:t>
              </a:r>
              <a:r>
                <a:rPr lang="en-US" sz="1400" dirty="0"/>
                <a:t>// Declaration section</a:t>
              </a:r>
            </a:p>
            <a:p>
              <a:r>
                <a:rPr lang="en-US" sz="1400" dirty="0"/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double</a:t>
              </a:r>
              <a:r>
                <a:rPr lang="en-US" sz="1400" dirty="0">
                  <a:solidFill>
                    <a:srgbClr val="0000FF"/>
                  </a:solidFill>
                </a:rPr>
                <a:t> num1, num2, result;  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char </a:t>
              </a:r>
              <a:r>
                <a:rPr lang="en-US" sz="1400" dirty="0">
                  <a:solidFill>
                    <a:srgbClr val="0000FF"/>
                  </a:solidFill>
                </a:rPr>
                <a:t>selection;</a:t>
              </a:r>
            </a:p>
            <a:p>
              <a:endParaRPr lang="en-US" sz="1400" dirty="0"/>
            </a:p>
            <a:p>
              <a:r>
                <a:rPr lang="en-US" sz="1400" dirty="0"/>
                <a:t>           </a:t>
              </a:r>
              <a:r>
                <a:rPr lang="en-US" sz="1400" dirty="0">
                  <a:solidFill>
                    <a:srgbClr val="00B0F0"/>
                  </a:solidFill>
                </a:rPr>
                <a:t>do</a:t>
              </a:r>
            </a:p>
            <a:p>
              <a:r>
                <a:rPr lang="en-US" sz="1400" dirty="0"/>
                <a:t>          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/>
                <a:t>	//Display Menu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(“+: addition”);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(“-: subtraction”);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(“*: multiplication”);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(“/: division”);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(“%: modulus”);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(“x: exit”);</a:t>
              </a:r>
            </a:p>
            <a:p>
              <a:r>
                <a:rPr lang="en-US" sz="1400" dirty="0"/>
                <a:t>	//Get user’s selection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(“Enter selection 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selection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</a:t>
              </a:r>
              <a:r>
                <a:rPr lang="en-US" sz="1400" dirty="0">
                  <a:solidFill>
                    <a:srgbClr val="00B050"/>
                  </a:solidFill>
                </a:rPr>
                <a:t>().</a:t>
              </a:r>
              <a:r>
                <a:rPr lang="en-US" sz="1400" dirty="0" err="1">
                  <a:solidFill>
                    <a:srgbClr val="00B050"/>
                  </a:solidFill>
                </a:rPr>
                <a:t>charAt</a:t>
              </a:r>
              <a:r>
                <a:rPr lang="en-US" sz="1400" dirty="0">
                  <a:solidFill>
                    <a:srgbClr val="00B050"/>
                  </a:solidFill>
                </a:rPr>
                <a:t>(0)</a:t>
              </a:r>
              <a:r>
                <a:rPr lang="en-US" sz="1400" dirty="0">
                  <a:solidFill>
                    <a:srgbClr val="0000FF"/>
                  </a:solidFill>
                </a:rPr>
                <a:t>;  </a:t>
              </a:r>
              <a:r>
                <a:rPr lang="en-US" sz="1400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38753" y="4437112"/>
            <a:ext cx="8059611" cy="129614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7" y="6165304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Callout 18"/>
          <p:cNvSpPr/>
          <p:nvPr/>
        </p:nvSpPr>
        <p:spPr>
          <a:xfrm>
            <a:off x="6444208" y="3573016"/>
            <a:ext cx="2448272" cy="1008112"/>
          </a:xfrm>
          <a:prstGeom prst="wedgeEllipseCallout">
            <a:avLst>
              <a:gd name="adj1" fmla="val -96271"/>
              <a:gd name="adj2" fmla="val 7644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 menu is displayed at least once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115616" y="3931988"/>
            <a:ext cx="432048" cy="106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115616" y="3933056"/>
            <a:ext cx="0" cy="2520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47143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-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79512" y="908720"/>
            <a:ext cx="8784976" cy="5816977"/>
            <a:chOff x="323528" y="1236822"/>
            <a:chExt cx="7848872" cy="5845438"/>
          </a:xfrm>
        </p:grpSpPr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5845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84543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</a:rPr>
                <a:t>                 </a:t>
              </a:r>
              <a:r>
                <a:rPr lang="en-US" sz="1200" dirty="0">
                  <a:solidFill>
                    <a:srgbClr val="00B0F0"/>
                  </a:solidFill>
                </a:rPr>
                <a:t>if</a:t>
              </a:r>
              <a:r>
                <a:rPr lang="en-US" sz="1200" dirty="0">
                  <a:solidFill>
                    <a:srgbClr val="0000FF"/>
                  </a:solidFill>
                </a:rPr>
                <a:t> ((selection != ‘x’) &amp;&amp; (selection !=‘X’))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(“Enter two double numbers”);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num1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num2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</a:t>
              </a:r>
              <a:r>
                <a:rPr lang="en-US" sz="1200" dirty="0">
                  <a:solidFill>
                    <a:srgbClr val="00B0F0"/>
                  </a:solidFill>
                </a:rPr>
                <a:t>switch</a:t>
              </a:r>
              <a:r>
                <a:rPr lang="en-US" sz="1200" dirty="0">
                  <a:solidFill>
                    <a:srgbClr val="0000FF"/>
                  </a:solidFill>
                </a:rPr>
                <a:t> (selection)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‘+’: result = num1 +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‘-’: result = num1 –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‘*’: result = num1 *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‘/’: 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 0)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num1 /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‘%’: 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!=0)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)(num1) %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)(num2);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default</a:t>
              </a:r>
              <a:r>
                <a:rPr lang="en-US" sz="1200" dirty="0">
                  <a:solidFill>
                    <a:srgbClr val="0000FF"/>
                  </a:solidFill>
                </a:rPr>
                <a:t>: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Input”);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} </a:t>
              </a:r>
              <a:r>
                <a:rPr lang="en-US" sz="1200" dirty="0">
                  <a:solidFill>
                    <a:srgbClr val="00B050"/>
                  </a:solidFill>
                </a:rPr>
                <a:t>//end switch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(“Result = %.2f”, result);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} </a:t>
              </a:r>
              <a:r>
                <a:rPr lang="en-US" sz="12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} </a:t>
              </a:r>
              <a:r>
                <a:rPr lang="en-US" sz="1200" dirty="0">
                  <a:solidFill>
                    <a:srgbClr val="00B0F0"/>
                  </a:solidFill>
                </a:rPr>
                <a:t>while </a:t>
              </a:r>
              <a:r>
                <a:rPr lang="en-US" sz="1200" dirty="0">
                  <a:solidFill>
                    <a:srgbClr val="0000FF"/>
                  </a:solidFill>
                </a:rPr>
                <a:t>((selection != ‘x’) &amp;&amp; (selection != ‘X’));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(“End of program”);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1691680" y="2132856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691680" y="2132856"/>
            <a:ext cx="0" cy="32759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91680" y="5408835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403648" y="1233141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403648" y="1233141"/>
            <a:ext cx="0" cy="450011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403648" y="5733256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15616" y="908720"/>
            <a:ext cx="0" cy="50405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115616" y="5949280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2627784" y="3861048"/>
            <a:ext cx="504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627784" y="3429000"/>
            <a:ext cx="0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784" y="3429000"/>
            <a:ext cx="18002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2627784" y="4797152"/>
            <a:ext cx="504056" cy="0"/>
          </a:xfrm>
          <a:prstGeom prst="line">
            <a:avLst/>
          </a:prstGeom>
          <a:ln w="1270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2627784" y="4365104"/>
            <a:ext cx="0" cy="432048"/>
          </a:xfrm>
          <a:prstGeom prst="line">
            <a:avLst/>
          </a:prstGeom>
          <a:ln w="1270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627784" y="4365104"/>
            <a:ext cx="180020" cy="0"/>
          </a:xfrm>
          <a:prstGeom prst="straightConnector1">
            <a:avLst/>
          </a:prstGeom>
          <a:ln w="12700">
            <a:solidFill>
              <a:srgbClr val="CC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711918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-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do…while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79512" y="908720"/>
            <a:ext cx="8784976" cy="5816977"/>
            <a:chOff x="323528" y="1236822"/>
            <a:chExt cx="7848872" cy="5845438"/>
          </a:xfrm>
        </p:grpSpPr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5845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84543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</a:rPr>
                <a:t>                 </a:t>
              </a:r>
              <a:r>
                <a:rPr lang="en-US" sz="1200" dirty="0">
                  <a:solidFill>
                    <a:srgbClr val="00B0F0"/>
                  </a:solidFill>
                </a:rPr>
                <a:t>if</a:t>
              </a:r>
              <a:r>
                <a:rPr lang="en-US" sz="1200" dirty="0">
                  <a:solidFill>
                    <a:srgbClr val="0000FF"/>
                  </a:solidFill>
                </a:rPr>
                <a:t> ((selection != ‘x’) &amp;&amp; (selection !=‘X’))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(“Enter two double numbers”);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num1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num2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</a:t>
              </a:r>
              <a:r>
                <a:rPr lang="en-US" sz="1200" dirty="0">
                  <a:solidFill>
                    <a:srgbClr val="00B0F0"/>
                  </a:solidFill>
                </a:rPr>
                <a:t>switch</a:t>
              </a:r>
              <a:r>
                <a:rPr lang="en-US" sz="1200" dirty="0">
                  <a:solidFill>
                    <a:srgbClr val="0000FF"/>
                  </a:solidFill>
                </a:rPr>
                <a:t> (selection)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‘+’: result = num1 +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‘-’: result = num1 –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‘*’: result = num1 *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‘/’: 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 0)	</a:t>
              </a:r>
              <a:r>
                <a:rPr lang="en-US" sz="1200" dirty="0">
                  <a:solidFill>
                    <a:srgbClr val="00B050"/>
                  </a:solidFill>
                </a:rPr>
                <a:t>//we cannot divide by zero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num1 /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‘%’: 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!=0)                </a:t>
              </a:r>
              <a:r>
                <a:rPr lang="en-US" sz="1200" dirty="0">
                  <a:solidFill>
                    <a:srgbClr val="00B050"/>
                  </a:solidFill>
                </a:rPr>
                <a:t>//we cannot divide by zero</a:t>
              </a:r>
              <a:endParaRPr lang="en-US" sz="1200" dirty="0">
                <a:solidFill>
                  <a:srgbClr val="0000FF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)(num1) %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)(num2);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  </a:t>
              </a:r>
              <a:r>
                <a:rPr lang="en-US" sz="1200" dirty="0">
                  <a:solidFill>
                    <a:srgbClr val="00B0F0"/>
                  </a:solidFill>
                </a:rPr>
                <a:t>default</a:t>
              </a:r>
              <a:r>
                <a:rPr lang="en-US" sz="1200" dirty="0">
                  <a:solidFill>
                    <a:srgbClr val="0000FF"/>
                  </a:solidFill>
                </a:rPr>
                <a:t>: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Input”);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 } </a:t>
              </a:r>
              <a:r>
                <a:rPr lang="en-US" sz="1200" dirty="0">
                  <a:solidFill>
                    <a:srgbClr val="00B050"/>
                  </a:solidFill>
                </a:rPr>
                <a:t>//end switch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(“Result = %.2f”, result);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} </a:t>
              </a:r>
              <a:r>
                <a:rPr lang="en-US" sz="12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} </a:t>
              </a:r>
              <a:r>
                <a:rPr lang="en-US" sz="1200" dirty="0">
                  <a:solidFill>
                    <a:srgbClr val="00B0F0"/>
                  </a:solidFill>
                </a:rPr>
                <a:t>while </a:t>
              </a:r>
              <a:r>
                <a:rPr lang="en-US" sz="1200" dirty="0">
                  <a:solidFill>
                    <a:srgbClr val="0000FF"/>
                  </a:solidFill>
                </a:rPr>
                <a:t>((selection != ‘x’) &amp;&amp; (selection != ‘X’));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(“End of program”);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904877" y="928670"/>
            <a:ext cx="8059611" cy="26808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Callout 28"/>
          <p:cNvSpPr/>
          <p:nvPr/>
        </p:nvSpPr>
        <p:spPr>
          <a:xfrm>
            <a:off x="6421304" y="1233140"/>
            <a:ext cx="2448272" cy="1547787"/>
          </a:xfrm>
          <a:prstGeom prst="wedgeEllipseCallout">
            <a:avLst>
              <a:gd name="adj1" fmla="val -97750"/>
              <a:gd name="adj2" fmla="val -6685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No need to proceed if the user wants to exit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0" name="Oval Callout 29"/>
          <p:cNvSpPr/>
          <p:nvPr/>
        </p:nvSpPr>
        <p:spPr>
          <a:xfrm>
            <a:off x="6512258" y="4365104"/>
            <a:ext cx="2448272" cy="1547787"/>
          </a:xfrm>
          <a:prstGeom prst="wedgeEllipseCallout">
            <a:avLst>
              <a:gd name="adj1" fmla="val -98490"/>
              <a:gd name="adj2" fmla="val 5129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 condition is tested at the end of the loop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4877" y="5905924"/>
            <a:ext cx="8059611" cy="16628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403648" y="1052736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403648" y="1052736"/>
            <a:ext cx="0" cy="47525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403648" y="5805264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Callout 18"/>
          <p:cNvSpPr/>
          <p:nvPr/>
        </p:nvSpPr>
        <p:spPr>
          <a:xfrm>
            <a:off x="6573704" y="2529285"/>
            <a:ext cx="2448272" cy="1547787"/>
          </a:xfrm>
          <a:prstGeom prst="wedgeEllipseCallout">
            <a:avLst>
              <a:gd name="adj1" fmla="val -109953"/>
              <a:gd name="adj2" fmla="val -144654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Important to test the first input</a:t>
            </a:r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497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  <p:bldP spid="29" grpId="0" animBg="1"/>
      <p:bldP spid="30" grpId="0" animBg="1"/>
      <p:bldP spid="34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USER INPUT VALIDATION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51693" y="1205222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statement is convenient to use to validate the user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592" y="1619508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segment forces the user to enter a number between 0 and 100.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79512" y="2404045"/>
            <a:ext cx="8784976" cy="1384995"/>
            <a:chOff x="323528" y="1236822"/>
            <a:chExt cx="7848872" cy="1340086"/>
          </a:xfrm>
        </p:grpSpPr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34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1600" y="1236822"/>
              <a:ext cx="7200800" cy="13400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score;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do</a:t>
              </a: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the student’s score”);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score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F0"/>
                  </a:solidFill>
                </a:rPr>
                <a:t>while</a:t>
              </a:r>
              <a:r>
                <a:rPr lang="en-US" sz="1400" dirty="0">
                  <a:solidFill>
                    <a:srgbClr val="0000FF"/>
                  </a:solidFill>
                </a:rPr>
                <a:t> ((score &lt;0) || (score &gt; 100);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51693" y="3933056"/>
            <a:ext cx="8807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above loop ends only when the two conditions are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not less than zero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&gt;= 0), and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not greater than 100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&lt;=100)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8459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WHICH LOOP STATEMENT TO USE?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51693" y="1205222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know the number of required iterations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use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for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statement:</a:t>
            </a:r>
            <a:endParaRPr lang="en-US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2400" y="1971997"/>
            <a:ext cx="8784976" cy="1384995"/>
            <a:chOff x="323528" y="1236822"/>
            <a:chExt cx="7848872" cy="1340086"/>
          </a:xfrm>
        </p:grpSpPr>
        <p:sp>
          <p:nvSpPr>
            <p:cNvPr id="14" name="TextBox 13"/>
            <p:cNvSpPr txBox="1"/>
            <p:nvPr/>
          </p:nvSpPr>
          <p:spPr>
            <a:xfrm>
              <a:off x="323528" y="1236822"/>
              <a:ext cx="576064" cy="134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1600" y="1236822"/>
              <a:ext cx="7200800" cy="13400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counter, score;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for </a:t>
              </a:r>
              <a:r>
                <a:rPr lang="en-US" sz="1400" dirty="0">
                  <a:solidFill>
                    <a:srgbClr val="0000FF"/>
                  </a:solidFill>
                </a:rPr>
                <a:t>(counter = 0; counter &lt; 10; counter++)</a:t>
              </a:r>
              <a:endParaRPr lang="en-US" sz="1400" dirty="0">
                <a:solidFill>
                  <a:srgbClr val="00B0F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the student’s score”);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score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//end for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51693" y="1547500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accepts 10 values for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6592" y="3645024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final value of counter may be entered by the user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use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for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statement</a:t>
            </a:r>
            <a:endParaRPr lang="en-US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47299" y="4717593"/>
            <a:ext cx="8784976" cy="1815882"/>
            <a:chOff x="323528" y="1236822"/>
            <a:chExt cx="7848872" cy="1757001"/>
          </a:xfrm>
        </p:grpSpPr>
        <p:sp>
          <p:nvSpPr>
            <p:cNvPr id="27" name="TextBox 26"/>
            <p:cNvSpPr txBox="1"/>
            <p:nvPr/>
          </p:nvSpPr>
          <p:spPr>
            <a:xfrm>
              <a:off x="323528" y="1236822"/>
              <a:ext cx="576064" cy="1757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1600" y="1236822"/>
              <a:ext cx="7200800" cy="175700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counter, score, </a:t>
              </a:r>
              <a:r>
                <a:rPr lang="en-US" sz="1400" dirty="0" err="1">
                  <a:solidFill>
                    <a:srgbClr val="0000FF"/>
                  </a:solidFill>
                </a:rPr>
                <a:t>numberOfStudents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</a:t>
              </a:r>
              <a:r>
                <a:rPr lang="en-US" sz="1400" dirty="0">
                  <a:solidFill>
                    <a:srgbClr val="0000FF"/>
                  </a:solidFill>
                </a:rPr>
                <a:t> (“Enter the number of students);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numberOfStudents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for </a:t>
              </a:r>
              <a:r>
                <a:rPr lang="en-US" sz="1400" dirty="0">
                  <a:solidFill>
                    <a:srgbClr val="0000FF"/>
                  </a:solidFill>
                </a:rPr>
                <a:t>(counter = 0; counter &lt; </a:t>
              </a:r>
              <a:r>
                <a:rPr lang="en-US" sz="1400" dirty="0" err="1">
                  <a:solidFill>
                    <a:srgbClr val="0000FF"/>
                  </a:solidFill>
                </a:rPr>
                <a:t>numberOfStudents</a:t>
              </a:r>
              <a:r>
                <a:rPr lang="en-US" sz="1400" dirty="0">
                  <a:solidFill>
                    <a:srgbClr val="0000FF"/>
                  </a:solidFill>
                </a:rPr>
                <a:t>; counter++)</a:t>
              </a: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the student’s score”);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score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//end for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156592" y="4014356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asks the user for the number of students for which the program should accept their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055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16" grpId="0"/>
      <p:bldP spid="25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WHICH LOOP STATEMENT TO USE?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56592" y="3995772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don’t know the number of required iterations, and the loop should execute at least once 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use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do…while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statement:</a:t>
            </a:r>
            <a:endParaRPr lang="en-US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47299" y="5068341"/>
            <a:ext cx="8784976" cy="1384995"/>
            <a:chOff x="323528" y="1236822"/>
            <a:chExt cx="7848872" cy="1340086"/>
          </a:xfrm>
        </p:grpSpPr>
        <p:sp>
          <p:nvSpPr>
            <p:cNvPr id="27" name="TextBox 26"/>
            <p:cNvSpPr txBox="1"/>
            <p:nvPr/>
          </p:nvSpPr>
          <p:spPr>
            <a:xfrm>
              <a:off x="323528" y="1236822"/>
              <a:ext cx="576064" cy="134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1600" y="1236822"/>
              <a:ext cx="7200800" cy="13400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score;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do</a:t>
              </a: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the student’s score. Enter -1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score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(score != -1);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156592" y="4643844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accepts values for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until the user enters -1: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592" y="1268760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don’t know the number of required iterations, and the loop may not execute at all 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use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while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statement:</a:t>
            </a:r>
            <a:endParaRPr lang="en-US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47299" y="2404045"/>
            <a:ext cx="8784976" cy="1384995"/>
            <a:chOff x="323528" y="1236822"/>
            <a:chExt cx="7848872" cy="1340086"/>
          </a:xfrm>
        </p:grpSpPr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34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1600" y="1236822"/>
              <a:ext cx="7200800" cy="13400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score = 0; 	</a:t>
              </a:r>
              <a:r>
                <a:rPr lang="en-US" sz="1400" dirty="0">
                  <a:solidFill>
                    <a:srgbClr val="00B050"/>
                  </a:solidFill>
                </a:rPr>
                <a:t>//any initial value OTHER THAN -1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(score !=-1)</a:t>
              </a:r>
              <a:endParaRPr lang="en-US" sz="1400" dirty="0">
                <a:solidFill>
                  <a:srgbClr val="00B0F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the student’s score. Enter -1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score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56592" y="1916832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accepts values for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until the user enters -1: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2459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" grpId="0"/>
      <p:bldP spid="29" grpId="0"/>
      <p:bldP spid="20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break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56592" y="908720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is typically used for two purposes: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592" y="1187460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skip the remainder of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switch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2" y="1412776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exit early from a loop (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6592" y="1844824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statement, the remaining of the statements inside the loop are skipped. Then, execution continues starting at the first statement after the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592" y="2564904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is associated with an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inside a loop.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2" y="2935977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segment sums up a set of positive integers. This program does not allow to sum negative numbers: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47299" y="3704252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	</a:t>
              </a:r>
              <a:r>
                <a:rPr lang="en-US" sz="1400" dirty="0">
                  <a:solidFill>
                    <a:srgbClr val="00B050"/>
                  </a:solidFill>
                </a:rPr>
                <a:t>//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is used as a sentinel</a:t>
              </a:r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break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847460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2" grpId="0"/>
      <p:bldP spid="13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break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7299" y="1472004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break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331640" y="2336100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31640" y="363224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4379" y="1041697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user enters a non-zero positive number: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1640" y="256490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0639" y="1700808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31640" y="2132856"/>
            <a:ext cx="475252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Callout 13"/>
          <p:cNvSpPr/>
          <p:nvPr/>
        </p:nvSpPr>
        <p:spPr>
          <a:xfrm>
            <a:off x="6512258" y="4365104"/>
            <a:ext cx="2448272" cy="1547787"/>
          </a:xfrm>
          <a:prstGeom prst="wedgeEllipseCallout">
            <a:avLst>
              <a:gd name="adj1" fmla="val -172078"/>
              <a:gd name="adj2" fmla="val -8908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All entered numbers are added</a:t>
            </a:r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430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 animBg="1"/>
      <p:bldP spid="26" grpId="0" animBg="1"/>
      <p:bldP spid="36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break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7299" y="1472004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	</a:t>
              </a:r>
              <a:r>
                <a:rPr lang="en-US" sz="1400" dirty="0">
                  <a:solidFill>
                    <a:srgbClr val="00B050"/>
                  </a:solidFill>
                </a:rPr>
                <a:t>//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is used as a sentinel</a:t>
              </a:r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break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331640" y="2336100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619672" y="2996952"/>
            <a:ext cx="4968552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4379" y="1041697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user enters a negative number: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1640" y="256490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0639" y="1700808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619672" y="3212976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3588" y="4077072"/>
            <a:ext cx="4968552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31640" y="2132856"/>
            <a:ext cx="475252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Callout 15"/>
          <p:cNvSpPr/>
          <p:nvPr/>
        </p:nvSpPr>
        <p:spPr>
          <a:xfrm>
            <a:off x="6512258" y="4365104"/>
            <a:ext cx="2448272" cy="1547787"/>
          </a:xfrm>
          <a:prstGeom prst="wedgeEllipseCallout">
            <a:avLst>
              <a:gd name="adj1" fmla="val -189458"/>
              <a:gd name="adj2" fmla="val -8908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 last entered –</a:t>
            </a:r>
            <a:r>
              <a:rPr lang="en-US" dirty="0" err="1">
                <a:solidFill>
                  <a:srgbClr val="0000FF"/>
                </a:solidFill>
              </a:rPr>
              <a:t>ve</a:t>
            </a:r>
            <a:r>
              <a:rPr lang="en-US" dirty="0">
                <a:solidFill>
                  <a:srgbClr val="0000FF"/>
                </a:solidFill>
              </a:rPr>
              <a:t> number is not added</a:t>
            </a:r>
            <a:endParaRPr lang="en-US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96079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 animBg="1"/>
      <p:bldP spid="26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56592" y="908720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may be used in all loop statements (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6592" y="1268760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skips the remaining statements inside the loop; and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proceeds with the next iteration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if any.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592" y="2420888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statement, the counter is updated after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statement; and then the logical expression is evaluated.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2" y="2998693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segment sums up a set of positive integers. If a negative number is encountered, it is skipped and a new iteration begins.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47299" y="3704252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!=0)		</a:t>
              </a:r>
              <a:r>
                <a:rPr lang="en-US" sz="1400" dirty="0">
                  <a:solidFill>
                    <a:srgbClr val="00B050"/>
                  </a:solidFill>
                </a:rPr>
                <a:t>//</a:t>
              </a:r>
              <a:r>
                <a:rPr lang="en-US" sz="1400" dirty="0" err="1">
                  <a:solidFill>
                    <a:srgbClr val="00B050"/>
                  </a:solidFill>
                </a:rPr>
                <a:t>num</a:t>
              </a:r>
              <a:r>
                <a:rPr lang="en-US" sz="1400" dirty="0">
                  <a:solidFill>
                    <a:srgbClr val="00B050"/>
                  </a:solidFill>
                </a:rPr>
                <a:t> is used as a sentinel</a:t>
              </a:r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continue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56592" y="1844824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do…while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 logical expression is evaluated immediately after the </a:t>
            </a:r>
            <a:r>
              <a:rPr lang="en-US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6573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4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7299" y="1472004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continue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331640" y="2336100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31640" y="363224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4379" y="1041697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user enters a non-zero positive number: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1640" y="256490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0639" y="1700808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331640" y="2132856"/>
            <a:ext cx="475252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0096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 animBg="1"/>
      <p:bldP spid="26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7299" y="1472004"/>
            <a:ext cx="8784976" cy="2893100"/>
            <a:chOff x="323528" y="1236822"/>
            <a:chExt cx="7848872" cy="2799289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continue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331640" y="2336100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619672" y="2996952"/>
            <a:ext cx="4968552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4379" y="1041697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user enters a negative number: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1640" y="2564904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0639" y="1700808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619672" y="3212976"/>
            <a:ext cx="2016224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331640" y="2132856"/>
            <a:ext cx="4752528" cy="21602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8356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 animBg="1"/>
      <p:bldP spid="26" grpId="0" animBg="1"/>
      <p:bldP spid="26" grpId="1" animBg="1"/>
      <p:bldP spid="13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break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 vs.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continue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7299" y="3704252"/>
            <a:ext cx="8784976" cy="3037116"/>
            <a:chOff x="323528" y="1236822"/>
            <a:chExt cx="7848872" cy="2938635"/>
          </a:xfrm>
        </p:grpSpPr>
        <p:sp>
          <p:nvSpPr>
            <p:cNvPr id="20" name="TextBox 19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71600" y="1376168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continue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47299" y="811152"/>
            <a:ext cx="8784976" cy="2893100"/>
            <a:chOff x="323528" y="1236822"/>
            <a:chExt cx="7848872" cy="2799289"/>
          </a:xfrm>
        </p:grpSpPr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2799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1600" y="1236822"/>
              <a:ext cx="7200800" cy="279928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-1, sum = 0; 	</a:t>
              </a:r>
              <a:r>
                <a:rPr lang="en-US" sz="1400" dirty="0">
                  <a:solidFill>
                    <a:srgbClr val="00B050"/>
                  </a:solidFill>
                </a:rPr>
                <a:t>//initialize the accumulator sum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while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!= 0)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</a:t>
              </a:r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integer, 0 to exit”);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(“Negative numbers are not allowed”);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break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} </a:t>
              </a:r>
              <a:r>
                <a:rPr lang="en-US" sz="1400" dirty="0">
                  <a:solidFill>
                    <a:srgbClr val="00B050"/>
                  </a:solidFill>
                </a:rPr>
                <a:t>//end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sum =sum +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} </a:t>
              </a:r>
              <a:r>
                <a:rPr lang="en-US" sz="1400" dirty="0">
                  <a:solidFill>
                    <a:srgbClr val="00B050"/>
                  </a:solidFill>
                </a:rPr>
                <a:t>// end while</a:t>
              </a:r>
            </a:p>
            <a:p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(“Sum = “ + sum);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971600" y="1412776"/>
            <a:ext cx="1800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71600" y="1412776"/>
            <a:ext cx="0" cy="18722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71600" y="3284984"/>
            <a:ext cx="1800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71600" y="4437112"/>
            <a:ext cx="1800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71600" y="4437112"/>
            <a:ext cx="0" cy="18722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71600" y="6309320"/>
            <a:ext cx="18002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51520" y="2708920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51520" y="2708920"/>
            <a:ext cx="0" cy="792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51520" y="3501008"/>
            <a:ext cx="68407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287524" y="5661248"/>
            <a:ext cx="1368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87524" y="4149080"/>
            <a:ext cx="0" cy="15121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98852" y="4153941"/>
            <a:ext cx="68407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01976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-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84976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The calculator program </a:t>
            </a:r>
            <a:r>
              <a:rPr lang="en-US" sz="2400" dirty="0">
                <a:solidFill>
                  <a:schemeClr val="accent2"/>
                </a:solidFill>
                <a:latin typeface="Tahoma" charset="0"/>
                <a:cs typeface="Arial" charset="0"/>
              </a:rPr>
              <a:t>(revisited)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79512" y="908720"/>
            <a:ext cx="8784976" cy="5816977"/>
            <a:chOff x="323528" y="1236822"/>
            <a:chExt cx="7848872" cy="5845438"/>
          </a:xfrm>
        </p:grpSpPr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5845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65986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00FF"/>
                  </a:solidFill>
                </a:rPr>
                <a:t>                 </a:t>
              </a:r>
              <a:r>
                <a:rPr lang="en-US" sz="1200" dirty="0">
                  <a:solidFill>
                    <a:srgbClr val="00B0F0"/>
                  </a:solidFill>
                </a:rPr>
                <a:t>if</a:t>
              </a:r>
              <a:r>
                <a:rPr lang="en-US" sz="1200" dirty="0">
                  <a:solidFill>
                    <a:srgbClr val="0000FF"/>
                  </a:solidFill>
                </a:rPr>
                <a:t> ((selection == ‘x’) || (selection ==‘X’))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</a:t>
              </a:r>
              <a:r>
                <a:rPr lang="en-US" sz="1200" dirty="0">
                  <a:solidFill>
                    <a:srgbClr val="00B0F0"/>
                  </a:solidFill>
                </a:rPr>
                <a:t>break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(“Enter two double numbers”);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num1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num2 = </a:t>
              </a:r>
              <a:r>
                <a:rPr lang="en-US" sz="1200" dirty="0" err="1">
                  <a:solidFill>
                    <a:srgbClr val="0000FF"/>
                  </a:solidFill>
                </a:rPr>
                <a:t>read.</a:t>
              </a:r>
              <a:r>
                <a:rPr lang="en-US" sz="1200" dirty="0" err="1">
                  <a:solidFill>
                    <a:srgbClr val="00B050"/>
                  </a:solidFill>
                </a:rPr>
                <a:t>nextDouble</a:t>
              </a:r>
              <a:r>
                <a:rPr lang="en-US" sz="1200" dirty="0">
                  <a:solidFill>
                    <a:srgbClr val="00B050"/>
                  </a:solidFill>
                </a:rPr>
                <a:t>()</a:t>
              </a:r>
              <a:r>
                <a:rPr lang="en-US" sz="12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</a:t>
              </a:r>
              <a:r>
                <a:rPr lang="en-US" sz="1200" dirty="0">
                  <a:solidFill>
                    <a:srgbClr val="00B0F0"/>
                  </a:solidFill>
                </a:rPr>
                <a:t>switch</a:t>
              </a:r>
              <a:r>
                <a:rPr lang="en-US" sz="1200" dirty="0">
                  <a:solidFill>
                    <a:srgbClr val="0000FF"/>
                  </a:solidFill>
                </a:rPr>
                <a:t> (selection)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‘+’: 	result = num1 +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‘-’: 	result = num1 –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‘*’: 	result = num1 *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‘/’: 	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 0)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num1 / num2;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case</a:t>
              </a:r>
              <a:r>
                <a:rPr lang="en-US" sz="1200" dirty="0">
                  <a:solidFill>
                    <a:srgbClr val="0000FF"/>
                  </a:solidFill>
                </a:rPr>
                <a:t> ‘%’: 	</a:t>
              </a:r>
              <a:r>
                <a:rPr lang="en-US" sz="1200" dirty="0">
                  <a:solidFill>
                    <a:srgbClr val="00B0F0"/>
                  </a:solidFill>
                </a:rPr>
                <a:t>if </a:t>
              </a:r>
              <a:r>
                <a:rPr lang="en-US" sz="1200" dirty="0">
                  <a:solidFill>
                    <a:srgbClr val="0000FF"/>
                  </a:solidFill>
                </a:rPr>
                <a:t>(num2 !=0)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result =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)(num1) % (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)(num2);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divisor”);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	</a:t>
              </a:r>
              <a:r>
                <a:rPr lang="en-US" sz="1200" dirty="0">
                  <a:solidFill>
                    <a:srgbClr val="00B0F0"/>
                  </a:solidFill>
                </a:rPr>
                <a:t>break;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  </a:t>
              </a:r>
              <a:r>
                <a:rPr lang="en-US" sz="1200" dirty="0">
                  <a:solidFill>
                    <a:srgbClr val="00B0F0"/>
                  </a:solidFill>
                </a:rPr>
                <a:t>default</a:t>
              </a:r>
              <a:r>
                <a:rPr lang="en-US" sz="1200" dirty="0">
                  <a:solidFill>
                    <a:srgbClr val="0000FF"/>
                  </a:solidFill>
                </a:rPr>
                <a:t>: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(“Invalid Input”);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 } </a:t>
              </a:r>
              <a:r>
                <a:rPr lang="en-US" sz="1200" dirty="0">
                  <a:solidFill>
                    <a:srgbClr val="00B050"/>
                  </a:solidFill>
                </a:rPr>
                <a:t>//end switch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200" dirty="0">
                  <a:solidFill>
                    <a:srgbClr val="0000FF"/>
                  </a:solidFill>
                </a:rPr>
                <a:t> (“Result = %.2f”, result);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 } </a:t>
              </a:r>
              <a:r>
                <a:rPr lang="en-US" sz="1200" dirty="0">
                  <a:solidFill>
                    <a:srgbClr val="00B0F0"/>
                  </a:solidFill>
                </a:rPr>
                <a:t>while </a:t>
              </a:r>
              <a:r>
                <a:rPr lang="en-US" sz="1200" dirty="0">
                  <a:solidFill>
                    <a:srgbClr val="0000FF"/>
                  </a:solidFill>
                </a:rPr>
                <a:t>((selection != ‘x’) &amp;&amp; (selection != ‘X’));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     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(“End of program”);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>
                  <a:solidFill>
                    <a:srgbClr val="00B050"/>
                  </a:solidFill>
                </a:rPr>
                <a:t>// end class</a:t>
              </a: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1331640" y="2132856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331640" y="2132856"/>
            <a:ext cx="0" cy="32759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331640" y="5408835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15616" y="908720"/>
            <a:ext cx="0" cy="48965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115616" y="5805264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2627784" y="3861048"/>
            <a:ext cx="504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627784" y="3429000"/>
            <a:ext cx="0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784" y="3429000"/>
            <a:ext cx="18002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2627784" y="4797152"/>
            <a:ext cx="504056" cy="0"/>
          </a:xfrm>
          <a:prstGeom prst="line">
            <a:avLst/>
          </a:prstGeom>
          <a:ln w="1270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2627784" y="4365104"/>
            <a:ext cx="0" cy="432048"/>
          </a:xfrm>
          <a:prstGeom prst="line">
            <a:avLst/>
          </a:prstGeom>
          <a:ln w="1270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627784" y="4365104"/>
            <a:ext cx="180020" cy="0"/>
          </a:xfrm>
          <a:prstGeom prst="straightConnector1">
            <a:avLst/>
          </a:prstGeom>
          <a:ln w="12700">
            <a:solidFill>
              <a:srgbClr val="CC00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4877" y="1124744"/>
            <a:ext cx="8059611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483768" y="1232756"/>
            <a:ext cx="352839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6012160" y="1232756"/>
            <a:ext cx="8325" cy="471652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4572000" y="5951687"/>
            <a:ext cx="144016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33872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1520" y="1052737"/>
            <a:ext cx="8712968" cy="3528391"/>
          </a:xfrm>
        </p:spPr>
        <p:txBody>
          <a:bodyPr>
            <a:noAutofit/>
          </a:bodyPr>
          <a:lstStyle/>
          <a:p>
            <a:pPr marL="109728" lvl="0" indent="0" algn="just" hangingPunc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Write a complete program that outputs the sum of odd numbers, and the sum of even numbers. If the number is multiple of 5 skip it. The user should enter 0 to end his data entry. Your program should not allow the user to enter negative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W6.1 </a:t>
            </a:r>
            <a:r>
              <a:rPr lang="en-US" sz="1200" dirty="0"/>
              <a:t>do…while, break, continue</a:t>
            </a:r>
          </a:p>
        </p:txBody>
      </p:sp>
    </p:spTree>
    <p:extLst>
      <p:ext uri="{BB962C8B-B14F-4D97-AF65-F5344CB8AC3E}">
        <p14:creationId xmlns:p14="http://schemas.microsoft.com/office/powerpoint/2010/main" val="3244885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614</TotalTime>
  <Words>3552</Words>
  <Application>Microsoft Macintosh PowerPoint</Application>
  <PresentationFormat>On-screen Show (4:3)</PresentationFormat>
  <Paragraphs>705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 REPETITION (3)</vt:lpstr>
      <vt:lpstr>Outline</vt:lpstr>
      <vt:lpstr>1. The do..while Statement</vt:lpstr>
      <vt:lpstr>1. The do..while Statement</vt:lpstr>
      <vt:lpstr>1. The do…while Statement</vt:lpstr>
      <vt:lpstr>1. The do…while Statement</vt:lpstr>
      <vt:lpstr>1. The do…while Statement</vt:lpstr>
      <vt:lpstr>1. The do…while Statement</vt:lpstr>
      <vt:lpstr>1. The do…while Statement</vt:lpstr>
      <vt:lpstr>1. The do…while Statement</vt:lpstr>
      <vt:lpstr>2. PROGRAMMING HINT</vt:lpstr>
      <vt:lpstr>2. PROGRAMMING HINT</vt:lpstr>
      <vt:lpstr>2. PROGRAMMING HINT</vt:lpstr>
      <vt:lpstr>3. THE break STATEMENT</vt:lpstr>
      <vt:lpstr>3. THE break STATEMENT</vt:lpstr>
      <vt:lpstr>3. THE break STATEMENT</vt:lpstr>
      <vt:lpstr>4. THE continue STATEMENT</vt:lpstr>
      <vt:lpstr>4. THE continue STATEMENT</vt:lpstr>
      <vt:lpstr>4. THE continue STATEMENT</vt:lpstr>
      <vt:lpstr>5. break vs. continue</vt:lpstr>
      <vt:lpstr>4. The calculator program (revisited)</vt:lpstr>
      <vt:lpstr>Self-Check Exercises (1)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 (3)</dc:title>
  <dc:creator>Soha S.Zaghloul</dc:creator>
  <cp:lastModifiedBy>عبدالعزيز محمد دخيل الحميضي</cp:lastModifiedBy>
  <cp:revision>55</cp:revision>
  <dcterms:created xsi:type="dcterms:W3CDTF">2015-03-04T13:57:40Z</dcterms:created>
  <dcterms:modified xsi:type="dcterms:W3CDTF">2024-03-27T08:51:21Z</dcterms:modified>
</cp:coreProperties>
</file>