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86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33C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94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31CC19CC-3A0A-4F40-A2E4-13DE9328257D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D963DBD-AE2B-4DE1-8F5F-9BECC11789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1CC19CC-3A0A-4F40-A2E4-13DE9328257D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D963DBD-AE2B-4DE1-8F5F-9BECC117898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1CC19CC-3A0A-4F40-A2E4-13DE9328257D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D963DBD-AE2B-4DE1-8F5F-9BECC117898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1CC19CC-3A0A-4F40-A2E4-13DE9328257D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D963DBD-AE2B-4DE1-8F5F-9BECC117898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1CC19CC-3A0A-4F40-A2E4-13DE9328257D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D963DBD-AE2B-4DE1-8F5F-9BECC11789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1CC19CC-3A0A-4F40-A2E4-13DE9328257D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D963DBD-AE2B-4DE1-8F5F-9BECC117898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1CC19CC-3A0A-4F40-A2E4-13DE9328257D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D963DBD-AE2B-4DE1-8F5F-9BECC11789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31CC19CC-3A0A-4F40-A2E4-13DE9328257D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D963DBD-AE2B-4DE1-8F5F-9BECC11789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31CC19CC-3A0A-4F40-A2E4-13DE9328257D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D963DBD-AE2B-4DE1-8F5F-9BECC117898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1CC19CC-3A0A-4F40-A2E4-13DE9328257D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D963DBD-AE2B-4DE1-8F5F-9BECC11789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1CC19CC-3A0A-4F40-A2E4-13DE9328257D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D963DBD-AE2B-4DE1-8F5F-9BECC117898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31CC19CC-3A0A-4F40-A2E4-13DE9328257D}" type="datetimeFigureOut">
              <a:rPr lang="en-US" smtClean="0"/>
              <a:pPr/>
              <a:t>11/20/2016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2D963DBD-AE2B-4DE1-8F5F-9BECC117898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/>
          </p:cNvSpPr>
          <p:nvPr>
            <p:ph type="ctrTitle"/>
          </p:nvPr>
        </p:nvSpPr>
        <p:spPr>
          <a:xfrm>
            <a:off x="1019543" y="2276872"/>
            <a:ext cx="7872937" cy="1800200"/>
          </a:xfrm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anchor="b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5400" dirty="0">
                <a:solidFill>
                  <a:srgbClr val="C00000"/>
                </a:solidFill>
              </a:rPr>
              <a:t/>
            </a:r>
            <a:br>
              <a:rPr lang="en-US" sz="5400" dirty="0">
                <a:solidFill>
                  <a:srgbClr val="C00000"/>
                </a:solidFill>
              </a:rPr>
            </a:br>
            <a:r>
              <a:rPr lang="en-US" sz="5400" dirty="0">
                <a:solidFill>
                  <a:srgbClr val="C00000"/>
                </a:solidFill>
              </a:rPr>
              <a:t/>
            </a:r>
            <a:br>
              <a:rPr lang="en-US" sz="5400" dirty="0">
                <a:solidFill>
                  <a:srgbClr val="C00000"/>
                </a:solidFill>
              </a:rPr>
            </a:br>
            <a:r>
              <a:rPr lang="en-US" sz="5400" dirty="0" smtClean="0">
                <a:solidFill>
                  <a:srgbClr val="C00000"/>
                </a:solidFill>
              </a:rPr>
              <a:t>USER-DEFINED METHODS</a:t>
            </a:r>
            <a:endParaRPr lang="en-US" sz="5400" dirty="0">
              <a:solidFill>
                <a:srgbClr val="C00000"/>
              </a:solidFill>
            </a:endParaRPr>
          </a:p>
        </p:txBody>
      </p:sp>
      <p:sp>
        <p:nvSpPr>
          <p:cNvPr id="5" name="PPTShape_0"/>
          <p:cNvSpPr txBox="1">
            <a:spLocks/>
          </p:cNvSpPr>
          <p:nvPr/>
        </p:nvSpPr>
        <p:spPr>
          <a:xfrm>
            <a:off x="72008" y="5949280"/>
            <a:ext cx="1869423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defPPr>
              <a:defRPr lang="en-US"/>
            </a:defPPr>
            <a:lvl1pPr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Tahoma" charset="0"/>
                <a:ea typeface="ＭＳ Ｐゴシック" charset="0"/>
                <a:cs typeface="Arial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5pPr>
            <a:lvl6pPr defTabSz="457200">
              <a:defRPr>
                <a:latin typeface="Tahoma" charset="0"/>
                <a:ea typeface="ＭＳ Ｐゴシック" charset="0"/>
                <a:cs typeface="Arial" charset="0"/>
              </a:defRPr>
            </a:lvl6pPr>
            <a:lvl7pPr defTabSz="457200">
              <a:defRPr>
                <a:latin typeface="Tahoma" charset="0"/>
                <a:ea typeface="ＭＳ Ｐゴシック" charset="0"/>
                <a:cs typeface="Arial" charset="0"/>
              </a:defRPr>
            </a:lvl7pPr>
            <a:lvl8pPr defTabSz="457200">
              <a:defRPr>
                <a:latin typeface="Tahoma" charset="0"/>
                <a:ea typeface="ＭＳ Ｐゴシック" charset="0"/>
                <a:cs typeface="Arial" charset="0"/>
              </a:defRPr>
            </a:lvl8pPr>
            <a:lvl9pPr defTabSz="457200">
              <a:defRPr>
                <a:latin typeface="Tahoma" charset="0"/>
                <a:ea typeface="ＭＳ Ｐゴシック" charset="0"/>
                <a:cs typeface="Arial" charset="0"/>
              </a:defRPr>
            </a:lvl9pPr>
          </a:lstStyle>
          <a:p>
            <a:r>
              <a:rPr lang="en-US" dirty="0" smtClean="0"/>
              <a:t>CS 1301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131840" y="3933056"/>
            <a:ext cx="5760640" cy="1224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4000" dirty="0" smtClean="0">
                <a:solidFill>
                  <a:srgbClr val="00B0F0"/>
                </a:solidFill>
              </a:rPr>
              <a:t>Passing Parameters</a:t>
            </a:r>
            <a:endParaRPr lang="en-US" sz="40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53690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32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PRIMITIVE DATATYPES AS PARAMETERS</a:t>
            </a:r>
            <a:endParaRPr lang="en-US" sz="32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>
          <a:xfrm>
            <a:off x="8647272" y="6324600"/>
            <a:ext cx="365760" cy="365125"/>
          </a:xfrm>
        </p:spPr>
        <p:txBody>
          <a:bodyPr/>
          <a:lstStyle/>
          <a:p>
            <a:fld id="{DA934484-767D-4C48-AF0E-A1438A969E5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23528" y="1002035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When a method is called, the value of the actual parameter is 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copied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into the corresponding formal parameter.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3528" y="1732761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After copying the value of the actual parameter to the formal parameter, there is no connection between them any more.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3528" y="2463487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other words, the formal parameter has its own copy of data.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23528" y="2886437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Therefore, any change performed on the copy inside the method is NOT reflected on the original copy (of the actual parameter).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23528" y="3594323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the next slides, the memory layout is drawn to understand this concept.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1706960" y="4746451"/>
            <a:ext cx="2160240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Caller method</a:t>
            </a:r>
          </a:p>
          <a:p>
            <a:pPr algn="ctr"/>
            <a:r>
              <a:rPr lang="en-US" dirty="0" smtClean="0">
                <a:solidFill>
                  <a:srgbClr val="FFFF00"/>
                </a:solidFill>
              </a:rPr>
              <a:t>(ex. main)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307360" y="4746451"/>
            <a:ext cx="2160240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Called method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3867200" y="4890467"/>
            <a:ext cx="144016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67200" y="4628857"/>
            <a:ext cx="1440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solidFill>
                  <a:srgbClr val="0000FF"/>
                </a:solidFill>
              </a:rPr>
              <a:t>Actual parameters</a:t>
            </a:r>
            <a:endParaRPr lang="en-US" sz="1100" dirty="0">
              <a:solidFill>
                <a:srgbClr val="0000FF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867200" y="5250507"/>
            <a:ext cx="144016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893840" y="5250507"/>
            <a:ext cx="144016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solidFill>
                  <a:srgbClr val="0000FF"/>
                </a:solidFill>
              </a:rPr>
              <a:t>Returned value </a:t>
            </a:r>
          </a:p>
          <a:p>
            <a:pPr algn="ctr"/>
            <a:r>
              <a:rPr lang="en-US" sz="1100" dirty="0">
                <a:solidFill>
                  <a:srgbClr val="0000FF"/>
                </a:solidFill>
              </a:rPr>
              <a:t>f</a:t>
            </a:r>
            <a:r>
              <a:rPr lang="en-US" sz="1100" dirty="0" smtClean="0">
                <a:solidFill>
                  <a:srgbClr val="0000FF"/>
                </a:solidFill>
              </a:rPr>
              <a:t>or non-void methods</a:t>
            </a:r>
            <a:endParaRPr lang="en-US" sz="11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819173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8" grpId="0"/>
      <p:bldP spid="25" grpId="0"/>
      <p:bldP spid="26" grpId="0"/>
      <p:bldP spid="2" grpId="0" animBg="1"/>
      <p:bldP spid="27" grpId="0" animBg="1"/>
      <p:bldP spid="7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r>
              <a:rPr lang="en-US" sz="32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PRIMITIVE DATATYPES AS PARAMETERS</a:t>
            </a:r>
            <a:endParaRPr lang="en-US" sz="32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EXAMPLE 1</a:t>
            </a:r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>
            <a:off x="179512" y="1340768"/>
            <a:ext cx="8784977" cy="4524315"/>
            <a:chOff x="323528" y="1236822"/>
            <a:chExt cx="7848873" cy="4254313"/>
          </a:xfrm>
        </p:grpSpPr>
        <p:sp>
          <p:nvSpPr>
            <p:cNvPr id="13" name="TextBox 12"/>
            <p:cNvSpPr txBox="1"/>
            <p:nvPr/>
          </p:nvSpPr>
          <p:spPr>
            <a:xfrm>
              <a:off x="788528" y="1236822"/>
              <a:ext cx="7383873" cy="4254313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600" dirty="0" smtClean="0"/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public class </a:t>
              </a:r>
              <a:r>
                <a:rPr lang="en-US" sz="1600" dirty="0" smtClean="0">
                  <a:solidFill>
                    <a:srgbClr val="0000FF"/>
                  </a:solidFill>
                </a:rPr>
                <a:t>primitiveDatatypesAsParameters1</a:t>
              </a:r>
            </a:p>
            <a:p>
              <a:r>
                <a:rPr lang="en-US" sz="1600" dirty="0" smtClean="0"/>
                <a:t>{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</a:t>
              </a:r>
              <a:r>
                <a:rPr lang="en-US" sz="1600" dirty="0" smtClean="0">
                  <a:solidFill>
                    <a:srgbClr val="00B0F0"/>
                  </a:solidFill>
                </a:rPr>
                <a:t>public static void main </a:t>
              </a:r>
              <a:r>
                <a:rPr lang="en-US" sz="1600" dirty="0" smtClean="0"/>
                <a:t>(</a:t>
              </a:r>
              <a:r>
                <a:rPr lang="en-US" sz="1600" dirty="0" smtClean="0">
                  <a:solidFill>
                    <a:srgbClr val="00B0F0"/>
                  </a:solidFill>
                </a:rPr>
                <a:t>String[]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args</a:t>
              </a:r>
              <a:r>
                <a:rPr lang="en-US" sz="1600" dirty="0" smtClean="0"/>
                <a:t>)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{</a:t>
              </a: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    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number </a:t>
              </a:r>
              <a:r>
                <a:rPr lang="en-US" sz="1600" dirty="0" smtClean="0"/>
                <a:t>= 6;</a:t>
              </a:r>
            </a:p>
            <a:p>
              <a:r>
                <a:rPr lang="en-US" sz="1600" dirty="0" smtClean="0"/>
                <a:t>     </a:t>
              </a:r>
              <a:r>
                <a:rPr lang="en-US" sz="1600" dirty="0" err="1" smtClean="0"/>
                <a:t>System.out.printf</a:t>
              </a:r>
              <a:r>
                <a:rPr lang="en-US" sz="1600" dirty="0" smtClean="0"/>
                <a:t> (“Line 7: Before calling, number = %d”,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number</a:t>
              </a:r>
              <a:r>
                <a:rPr lang="en-US" sz="1600" dirty="0" smtClean="0"/>
                <a:t>);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</a:t>
              </a:r>
              <a:r>
                <a:rPr lang="en-US" sz="1600" dirty="0" smtClean="0">
                  <a:solidFill>
                    <a:srgbClr val="0000FF"/>
                  </a:solidFill>
                </a:rPr>
                <a:t>method1</a:t>
              </a:r>
              <a:r>
                <a:rPr lang="en-US" sz="1600" dirty="0" smtClean="0"/>
                <a:t>(</a:t>
              </a:r>
              <a:r>
                <a:rPr lang="en-US" sz="1600" dirty="0" smtClean="0">
                  <a:solidFill>
                    <a:srgbClr val="0000FF"/>
                  </a:solidFill>
                </a:rPr>
                <a:t>number</a:t>
              </a:r>
              <a:r>
                <a:rPr lang="en-US" sz="1600" dirty="0" smtClean="0"/>
                <a:t>);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</a:t>
              </a:r>
              <a:r>
                <a:rPr lang="en-US" sz="1600" dirty="0" err="1" smtClean="0"/>
                <a:t>System.out.printf</a:t>
              </a:r>
              <a:r>
                <a:rPr lang="en-US" sz="1600" dirty="0" smtClean="0"/>
                <a:t> (“Line 9: After calling, number = %d”, </a:t>
              </a:r>
              <a:r>
                <a:rPr lang="en-US" sz="1600" dirty="0" smtClean="0">
                  <a:solidFill>
                    <a:srgbClr val="0000FF"/>
                  </a:solidFill>
                </a:rPr>
                <a:t>number</a:t>
              </a:r>
              <a:r>
                <a:rPr lang="en-US" sz="1600" dirty="0" smtClean="0"/>
                <a:t>);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}</a:t>
              </a:r>
              <a:r>
                <a:rPr lang="en-US" sz="1600" dirty="0" smtClean="0">
                  <a:solidFill>
                    <a:srgbClr val="00B050"/>
                  </a:solidFill>
                </a:rPr>
                <a:t> //end main</a:t>
              </a:r>
            </a:p>
            <a:p>
              <a:r>
                <a:rPr lang="en-US" sz="1600" dirty="0" smtClean="0">
                  <a:solidFill>
                    <a:srgbClr val="00B050"/>
                  </a:solidFill>
                </a:rPr>
                <a:t>// tests number</a:t>
              </a:r>
              <a:endParaRPr lang="en-US" sz="1600" dirty="0">
                <a:solidFill>
                  <a:srgbClr val="00B050"/>
                </a:solidFill>
              </a:endParaRP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   public static void </a:t>
              </a:r>
              <a:r>
                <a:rPr lang="en-US" sz="1600" dirty="0" smtClean="0">
                  <a:solidFill>
                    <a:srgbClr val="0000FF"/>
                  </a:solidFill>
                </a:rPr>
                <a:t>method1</a:t>
              </a:r>
              <a:r>
                <a:rPr lang="en-US" sz="1600" dirty="0" smtClean="0"/>
                <a:t>(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err="1" smtClean="0">
                  <a:solidFill>
                    <a:srgbClr val="FF33CC"/>
                  </a:solidFill>
                </a:rPr>
                <a:t>num</a:t>
              </a:r>
              <a:r>
                <a:rPr lang="en-US" sz="1600" dirty="0" smtClean="0"/>
                <a:t>)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{</a:t>
              </a:r>
            </a:p>
            <a:p>
              <a:r>
                <a:rPr lang="en-US" sz="1600" dirty="0" smtClean="0"/>
                <a:t>     </a:t>
              </a:r>
              <a:r>
                <a:rPr lang="en-US" sz="1600" dirty="0" err="1" smtClean="0"/>
                <a:t>System.out.printf</a:t>
              </a:r>
              <a:r>
                <a:rPr lang="en-US" sz="1600" dirty="0" smtClean="0"/>
                <a:t> (“Line 14: Inside method before change, </a:t>
              </a:r>
              <a:r>
                <a:rPr lang="en-US" sz="1600" dirty="0" err="1" smtClean="0"/>
                <a:t>num</a:t>
              </a:r>
              <a:r>
                <a:rPr lang="en-US" sz="1600" dirty="0" smtClean="0"/>
                <a:t> = %d”, </a:t>
              </a:r>
              <a:r>
                <a:rPr lang="en-US" sz="1600" dirty="0" err="1" smtClean="0">
                  <a:solidFill>
                    <a:srgbClr val="FF33CC"/>
                  </a:solidFill>
                </a:rPr>
                <a:t>num</a:t>
              </a:r>
              <a:r>
                <a:rPr lang="en-US" sz="1600" dirty="0" smtClean="0"/>
                <a:t>);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</a:t>
              </a:r>
              <a:r>
                <a:rPr lang="en-US" sz="1600" dirty="0" err="1" smtClean="0">
                  <a:solidFill>
                    <a:srgbClr val="FF33CC"/>
                  </a:solidFill>
                </a:rPr>
                <a:t>num</a:t>
              </a:r>
              <a:r>
                <a:rPr lang="en-US" sz="1600" dirty="0" smtClean="0">
                  <a:solidFill>
                    <a:srgbClr val="FF33CC"/>
                  </a:solidFill>
                </a:rPr>
                <a:t> </a:t>
              </a:r>
              <a:r>
                <a:rPr lang="en-US" sz="1600" dirty="0" smtClean="0"/>
                <a:t>= 15;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</a:t>
              </a:r>
              <a:r>
                <a:rPr lang="en-US" sz="1600" dirty="0" err="1" smtClean="0"/>
                <a:t>System.out.prinf</a:t>
              </a:r>
              <a:r>
                <a:rPr lang="en-US" sz="1600" dirty="0" smtClean="0"/>
                <a:t> (“Line 16: Inside method after change, </a:t>
              </a:r>
              <a:r>
                <a:rPr lang="en-US" sz="1600" dirty="0" err="1" smtClean="0"/>
                <a:t>num</a:t>
              </a:r>
              <a:r>
                <a:rPr lang="en-US" sz="1600" dirty="0" smtClean="0"/>
                <a:t> = %d”,</a:t>
              </a:r>
              <a:r>
                <a:rPr lang="en-US" sz="1600" dirty="0" smtClean="0">
                  <a:solidFill>
                    <a:srgbClr val="FF33CC"/>
                  </a:solidFill>
                </a:rPr>
                <a:t> </a:t>
              </a:r>
              <a:r>
                <a:rPr lang="en-US" sz="1600" dirty="0" err="1" smtClean="0">
                  <a:solidFill>
                    <a:srgbClr val="FF33CC"/>
                  </a:solidFill>
                </a:rPr>
                <a:t>num</a:t>
              </a:r>
              <a:r>
                <a:rPr lang="en-US" sz="1600" dirty="0" smtClean="0"/>
                <a:t>);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</a:t>
              </a:r>
              <a:r>
                <a:rPr lang="en-US" sz="1600" dirty="0" smtClean="0"/>
                <a:t>}</a:t>
              </a:r>
              <a:r>
                <a:rPr lang="en-US" sz="1600" dirty="0" smtClean="0">
                  <a:solidFill>
                    <a:srgbClr val="00B050"/>
                  </a:solidFill>
                </a:rPr>
                <a:t> //end method1</a:t>
              </a:r>
            </a:p>
            <a:p>
              <a:r>
                <a:rPr lang="en-US" sz="1600" dirty="0" smtClean="0"/>
                <a:t>}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50"/>
                  </a:solidFill>
                </a:rPr>
                <a:t>//end class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23528" y="1236822"/>
              <a:ext cx="450344" cy="4254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1516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18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251520" y="5733256"/>
            <a:ext cx="8712967" cy="954107"/>
            <a:chOff x="683568" y="1236822"/>
            <a:chExt cx="7488831" cy="954107"/>
          </a:xfrm>
        </p:grpSpPr>
        <p:sp>
          <p:nvSpPr>
            <p:cNvPr id="16" name="TextBox 15"/>
            <p:cNvSpPr txBox="1"/>
            <p:nvPr/>
          </p:nvSpPr>
          <p:spPr>
            <a:xfrm>
              <a:off x="1069013" y="1236822"/>
              <a:ext cx="7103386" cy="954107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Line 7: Before calling, </a:t>
              </a:r>
              <a:r>
                <a:rPr lang="en-US" sz="1400" b="1" dirty="0" smtClean="0">
                  <a:solidFill>
                    <a:srgbClr val="FFFF00"/>
                  </a:solidFill>
                </a:rPr>
                <a:t>number = 6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Line 14: Inside method before change, </a:t>
              </a:r>
              <a:r>
                <a:rPr lang="en-US" sz="1400" b="1" dirty="0" err="1" smtClean="0">
                  <a:solidFill>
                    <a:srgbClr val="FFFF00"/>
                  </a:solidFill>
                </a:rPr>
                <a:t>num</a:t>
              </a:r>
              <a:r>
                <a:rPr lang="en-US" sz="1400" b="1" dirty="0" smtClean="0">
                  <a:solidFill>
                    <a:srgbClr val="FFFF00"/>
                  </a:solidFill>
                </a:rPr>
                <a:t> = 6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Line 16: Inside method after change, </a:t>
              </a:r>
              <a:r>
                <a:rPr lang="en-US" sz="1400" b="1" dirty="0" err="1" smtClean="0">
                  <a:solidFill>
                    <a:srgbClr val="FFFF00"/>
                  </a:solidFill>
                </a:rPr>
                <a:t>num</a:t>
              </a:r>
              <a:r>
                <a:rPr lang="en-US" sz="1400" b="1" dirty="0" smtClean="0">
                  <a:solidFill>
                    <a:srgbClr val="FFFF00"/>
                  </a:solidFill>
                </a:rPr>
                <a:t> = 15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Line 9: After calling, </a:t>
              </a:r>
              <a:r>
                <a:rPr lang="en-US" sz="1400" b="1" dirty="0" smtClean="0">
                  <a:solidFill>
                    <a:srgbClr val="FFFF00"/>
                  </a:solidFill>
                </a:rPr>
                <a:t>number = 6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83568" y="1236822"/>
              <a:ext cx="21602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 smtClean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 smtClean="0">
                  <a:solidFill>
                    <a:srgbClr val="FF0000"/>
                  </a:solidFill>
                </a:rPr>
                <a:t>3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4</a:t>
              </a:r>
              <a:endParaRPr lang="en-US" sz="1400" dirty="0" smtClean="0">
                <a:solidFill>
                  <a:srgbClr val="FF0000"/>
                </a:solidFill>
              </a:endParaRPr>
            </a:p>
          </p:txBody>
        </p:sp>
      </p:grpSp>
      <p:cxnSp>
        <p:nvCxnSpPr>
          <p:cNvPr id="22" name="Straight Connector 21"/>
          <p:cNvCxnSpPr/>
          <p:nvPr/>
        </p:nvCxnSpPr>
        <p:spPr>
          <a:xfrm flipV="1">
            <a:off x="899592" y="2744924"/>
            <a:ext cx="0" cy="447291"/>
          </a:xfrm>
          <a:prstGeom prst="line">
            <a:avLst/>
          </a:prstGeom>
          <a:ln w="28575">
            <a:solidFill>
              <a:schemeClr val="tx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251520" y="3212976"/>
            <a:ext cx="6480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251520" y="3212976"/>
            <a:ext cx="0" cy="100811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51520" y="4221088"/>
            <a:ext cx="0" cy="1224136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2843808" y="5373216"/>
            <a:ext cx="5890673" cy="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8734481" y="3429000"/>
            <a:ext cx="0" cy="1944216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7596336" y="3429000"/>
            <a:ext cx="1152128" cy="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83568" y="4077072"/>
            <a:ext cx="8280919" cy="180020"/>
          </a:xfrm>
          <a:prstGeom prst="rect">
            <a:avLst/>
          </a:prstGeom>
          <a:solidFill>
            <a:schemeClr val="accent1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683568" y="3099447"/>
            <a:ext cx="8280919" cy="185537"/>
          </a:xfrm>
          <a:prstGeom prst="rect">
            <a:avLst/>
          </a:prstGeom>
          <a:solidFill>
            <a:schemeClr val="accent2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25962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3" grpId="0" animBg="1"/>
      <p:bldP spid="3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r>
              <a:rPr lang="en-US" sz="32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PRIMITIVE DATATYPES AS PARAMETERS</a:t>
            </a:r>
            <a:endParaRPr lang="en-US" sz="32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EXAMPLE 1 - MEMORY LAYOUT(1)</a:t>
            </a:r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>
            <a:off x="179512" y="1268760"/>
            <a:ext cx="8784977" cy="338554"/>
            <a:chOff x="323528" y="1236822"/>
            <a:chExt cx="7848873" cy="318350"/>
          </a:xfrm>
        </p:grpSpPr>
        <p:sp>
          <p:nvSpPr>
            <p:cNvPr id="13" name="TextBox 12"/>
            <p:cNvSpPr txBox="1"/>
            <p:nvPr/>
          </p:nvSpPr>
          <p:spPr>
            <a:xfrm>
              <a:off x="788528" y="1236822"/>
              <a:ext cx="7383873" cy="31835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rgbClr val="00B0F0"/>
                  </a:solidFill>
                </a:rPr>
                <a:t>public static void main </a:t>
              </a:r>
              <a:r>
                <a:rPr lang="en-US" sz="1600" dirty="0" smtClean="0"/>
                <a:t>(</a:t>
              </a:r>
              <a:r>
                <a:rPr lang="en-US" sz="1600" dirty="0" smtClean="0">
                  <a:solidFill>
                    <a:srgbClr val="00B0F0"/>
                  </a:solidFill>
                </a:rPr>
                <a:t>String[]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args</a:t>
              </a:r>
              <a:r>
                <a:rPr lang="en-US" sz="1600" dirty="0" smtClean="0"/>
                <a:t>)  </a:t>
              </a:r>
              <a:r>
                <a:rPr lang="en-US" sz="1600" dirty="0" smtClean="0">
                  <a:solidFill>
                    <a:srgbClr val="00B050"/>
                  </a:solidFill>
                </a:rPr>
                <a:t>//</a:t>
              </a:r>
              <a:r>
                <a:rPr lang="en-US" sz="1600" dirty="0" smtClean="0">
                  <a:solidFill>
                    <a:srgbClr val="00B0F0"/>
                  </a:solidFill>
                </a:rPr>
                <a:t>main</a:t>
              </a:r>
              <a:r>
                <a:rPr lang="en-US" sz="1600" dirty="0" smtClean="0">
                  <a:solidFill>
                    <a:srgbClr val="00B050"/>
                  </a:solidFill>
                </a:rPr>
                <a:t> is loaded into memory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23528" y="1236822"/>
              <a:ext cx="450344" cy="31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4</a:t>
              </a:r>
              <a:endParaRPr lang="en-US" sz="1600" dirty="0" smtClean="0">
                <a:solidFill>
                  <a:srgbClr val="FF0000"/>
                </a:solidFill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251520" y="4707141"/>
            <a:ext cx="8712967" cy="307777"/>
            <a:chOff x="683568" y="1236822"/>
            <a:chExt cx="7488831" cy="307777"/>
          </a:xfrm>
        </p:grpSpPr>
        <p:sp>
          <p:nvSpPr>
            <p:cNvPr id="16" name="TextBox 15"/>
            <p:cNvSpPr txBox="1"/>
            <p:nvPr/>
          </p:nvSpPr>
          <p:spPr>
            <a:xfrm>
              <a:off x="1069013" y="1236822"/>
              <a:ext cx="7103386" cy="307777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Line 7: Before calling, </a:t>
              </a:r>
              <a:r>
                <a:rPr lang="en-US" sz="1400" b="1" dirty="0" smtClean="0">
                  <a:solidFill>
                    <a:srgbClr val="FFFF00"/>
                  </a:solidFill>
                </a:rPr>
                <a:t>number = 6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83568" y="1236822"/>
              <a:ext cx="2160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51520" y="1700809"/>
            <a:ext cx="8712969" cy="1008112"/>
            <a:chOff x="251520" y="1988840"/>
            <a:chExt cx="8712969" cy="1008112"/>
          </a:xfrm>
        </p:grpSpPr>
        <p:sp>
          <p:nvSpPr>
            <p:cNvPr id="2" name="Rectangle 1"/>
            <p:cNvSpPr/>
            <p:nvPr/>
          </p:nvSpPr>
          <p:spPr>
            <a:xfrm>
              <a:off x="251520" y="1988840"/>
              <a:ext cx="8712969" cy="7200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51520" y="2708920"/>
              <a:ext cx="8712969" cy="2880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 smtClean="0">
                  <a:solidFill>
                    <a:schemeClr val="tx1"/>
                  </a:solidFill>
                </a:rPr>
                <a:t>0	100	200	300	400	500	600	700	800	…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</p:grpSp>
      <p:sp>
        <p:nvSpPr>
          <p:cNvPr id="7" name="Rectangle 6"/>
          <p:cNvSpPr/>
          <p:nvPr/>
        </p:nvSpPr>
        <p:spPr>
          <a:xfrm>
            <a:off x="971600" y="1700808"/>
            <a:ext cx="1440160" cy="720080"/>
          </a:xfrm>
          <a:prstGeom prst="rect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 smtClean="0"/>
              <a:t>main</a:t>
            </a:r>
            <a:endParaRPr lang="en-US" sz="1200" dirty="0"/>
          </a:p>
        </p:txBody>
      </p:sp>
      <p:grpSp>
        <p:nvGrpSpPr>
          <p:cNvPr id="31" name="Group 30"/>
          <p:cNvGrpSpPr/>
          <p:nvPr/>
        </p:nvGrpSpPr>
        <p:grpSpPr>
          <a:xfrm>
            <a:off x="179512" y="2780928"/>
            <a:ext cx="8784977" cy="338554"/>
            <a:chOff x="323528" y="1236822"/>
            <a:chExt cx="7848873" cy="318350"/>
          </a:xfrm>
        </p:grpSpPr>
        <p:sp>
          <p:nvSpPr>
            <p:cNvPr id="32" name="TextBox 31"/>
            <p:cNvSpPr txBox="1"/>
            <p:nvPr/>
          </p:nvSpPr>
          <p:spPr>
            <a:xfrm>
              <a:off x="788528" y="1236822"/>
              <a:ext cx="7383873" cy="31835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number </a:t>
              </a:r>
              <a:r>
                <a:rPr lang="en-US" sz="1600" dirty="0" smtClean="0"/>
                <a:t>= 6;	</a:t>
              </a:r>
              <a:r>
                <a:rPr lang="en-US" sz="1600" dirty="0" smtClean="0">
                  <a:solidFill>
                    <a:srgbClr val="00B050"/>
                  </a:solidFill>
                </a:rPr>
                <a:t>// A memory cell is allocated to number inside</a:t>
              </a:r>
              <a:r>
                <a:rPr lang="en-US" sz="1600" dirty="0" smtClean="0"/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main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23528" y="1236822"/>
              <a:ext cx="450344" cy="31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6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251520" y="3212976"/>
            <a:ext cx="8712969" cy="1008112"/>
            <a:chOff x="251520" y="1988840"/>
            <a:chExt cx="8712969" cy="1008112"/>
          </a:xfrm>
        </p:grpSpPr>
        <p:sp>
          <p:nvSpPr>
            <p:cNvPr id="37" name="Rectangle 36"/>
            <p:cNvSpPr/>
            <p:nvPr/>
          </p:nvSpPr>
          <p:spPr>
            <a:xfrm>
              <a:off x="251520" y="1988840"/>
              <a:ext cx="8712969" cy="7200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51520" y="2708920"/>
              <a:ext cx="8712969" cy="2880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 smtClean="0">
                  <a:solidFill>
                    <a:schemeClr val="tx1"/>
                  </a:solidFill>
                </a:rPr>
                <a:t>0	100	200	300	400	500	600	700	800	…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971600" y="3212976"/>
            <a:ext cx="1440160" cy="720080"/>
            <a:chOff x="971600" y="3501008"/>
            <a:chExt cx="1440160" cy="720080"/>
          </a:xfrm>
        </p:grpSpPr>
        <p:sp>
          <p:nvSpPr>
            <p:cNvPr id="39" name="Rectangle 38"/>
            <p:cNvSpPr/>
            <p:nvPr/>
          </p:nvSpPr>
          <p:spPr>
            <a:xfrm>
              <a:off x="971600" y="3501008"/>
              <a:ext cx="1440160" cy="720080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 smtClean="0"/>
                <a:t>main</a:t>
              </a:r>
            </a:p>
            <a:p>
              <a:endParaRPr lang="en-US" sz="1200" dirty="0" smtClean="0"/>
            </a:p>
            <a:p>
              <a:r>
                <a:rPr lang="en-US" sz="1200" dirty="0" smtClean="0"/>
                <a:t>number</a:t>
              </a:r>
              <a:endParaRPr lang="en-US" sz="1200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691680" y="3861048"/>
              <a:ext cx="648072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6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179512" y="4293096"/>
            <a:ext cx="8784977" cy="338554"/>
            <a:chOff x="323528" y="1236822"/>
            <a:chExt cx="7848873" cy="318350"/>
          </a:xfrm>
        </p:grpSpPr>
        <p:sp>
          <p:nvSpPr>
            <p:cNvPr id="41" name="TextBox 40"/>
            <p:cNvSpPr txBox="1"/>
            <p:nvPr/>
          </p:nvSpPr>
          <p:spPr>
            <a:xfrm>
              <a:off x="788528" y="1236822"/>
              <a:ext cx="7383873" cy="31835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 </a:t>
              </a:r>
              <a:r>
                <a:rPr lang="en-US" sz="1600" dirty="0" err="1" smtClean="0"/>
                <a:t>System.out.printf</a:t>
              </a:r>
              <a:r>
                <a:rPr lang="en-US" sz="1600" dirty="0" smtClean="0"/>
                <a:t> (“Line 7: Before calling, number = %d”,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number</a:t>
              </a:r>
              <a:r>
                <a:rPr lang="en-US" sz="1600" dirty="0" smtClean="0"/>
                <a:t>); </a:t>
              </a:r>
              <a:r>
                <a:rPr lang="en-US" sz="1600" dirty="0" smtClean="0">
                  <a:solidFill>
                    <a:srgbClr val="00B050"/>
                  </a:solidFill>
                </a:rPr>
                <a:t>//on screen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23528" y="1236822"/>
              <a:ext cx="450344" cy="31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7</a:t>
              </a:r>
              <a:endParaRPr lang="en-US" sz="1600" dirty="0" smtClean="0">
                <a:solidFill>
                  <a:srgbClr val="FF0000"/>
                </a:solidFill>
              </a:endParaRP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179512" y="5106670"/>
            <a:ext cx="8784977" cy="584775"/>
            <a:chOff x="323528" y="1236822"/>
            <a:chExt cx="7848873" cy="549877"/>
          </a:xfrm>
        </p:grpSpPr>
        <p:sp>
          <p:nvSpPr>
            <p:cNvPr id="44" name="TextBox 43"/>
            <p:cNvSpPr txBox="1"/>
            <p:nvPr/>
          </p:nvSpPr>
          <p:spPr>
            <a:xfrm>
              <a:off x="788528" y="1236822"/>
              <a:ext cx="7383873" cy="549877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method1 </a:t>
              </a:r>
              <a:r>
                <a:rPr lang="en-US" sz="1600" dirty="0" smtClean="0"/>
                <a:t>(</a:t>
              </a:r>
              <a:r>
                <a:rPr lang="en-US" sz="1600" dirty="0" smtClean="0">
                  <a:solidFill>
                    <a:srgbClr val="0000FF"/>
                  </a:solidFill>
                </a:rPr>
                <a:t>number</a:t>
              </a:r>
              <a:r>
                <a:rPr lang="en-US" sz="1600" dirty="0" smtClean="0"/>
                <a:t>); </a:t>
              </a:r>
              <a:r>
                <a:rPr lang="en-US" sz="1600" dirty="0" smtClean="0">
                  <a:solidFill>
                    <a:srgbClr val="00B050"/>
                  </a:solidFill>
                </a:rPr>
                <a:t>/*control is transferred to </a:t>
              </a:r>
              <a:r>
                <a:rPr lang="en-US" sz="1600" dirty="0" smtClean="0">
                  <a:solidFill>
                    <a:srgbClr val="0000FF"/>
                  </a:solidFill>
                </a:rPr>
                <a:t>method1</a:t>
              </a:r>
              <a:r>
                <a:rPr lang="en-US" sz="1600" dirty="0" smtClean="0">
                  <a:solidFill>
                    <a:srgbClr val="00B050"/>
                  </a:solidFill>
                </a:rPr>
                <a:t>. The value of </a:t>
              </a:r>
              <a:r>
                <a:rPr lang="en-US" sz="1600" dirty="0" smtClean="0">
                  <a:solidFill>
                    <a:srgbClr val="0000FF"/>
                  </a:solidFill>
                </a:rPr>
                <a:t>number </a:t>
              </a:r>
              <a:r>
                <a:rPr lang="en-US" sz="1600" dirty="0" smtClean="0">
                  <a:solidFill>
                    <a:srgbClr val="00B050"/>
                  </a:solidFill>
                </a:rPr>
                <a:t>is </a:t>
              </a:r>
            </a:p>
            <a:p>
              <a:r>
                <a:rPr lang="en-US" sz="1600" dirty="0">
                  <a:solidFill>
                    <a:srgbClr val="00B050"/>
                  </a:solidFill>
                </a:rPr>
                <a:t>		</a:t>
              </a:r>
              <a:r>
                <a:rPr lang="en-US" sz="1600" dirty="0" smtClean="0">
                  <a:solidFill>
                    <a:srgbClr val="00B050"/>
                  </a:solidFill>
                </a:rPr>
                <a:t>      copied to </a:t>
              </a:r>
              <a:r>
                <a:rPr lang="en-US" sz="1600" dirty="0" smtClean="0">
                  <a:solidFill>
                    <a:srgbClr val="0000FF"/>
                  </a:solidFill>
                </a:rPr>
                <a:t>method1</a:t>
              </a:r>
              <a:r>
                <a:rPr lang="en-US" sz="1600" dirty="0" smtClean="0">
                  <a:solidFill>
                    <a:srgbClr val="00B050"/>
                  </a:solidFill>
                </a:rPr>
                <a:t>. </a:t>
              </a:r>
              <a:r>
                <a:rPr lang="en-US" sz="1600" dirty="0" smtClean="0">
                  <a:solidFill>
                    <a:srgbClr val="00B0F0"/>
                  </a:solidFill>
                </a:rPr>
                <a:t>main </a:t>
              </a:r>
              <a:r>
                <a:rPr lang="en-US" sz="1600" dirty="0" smtClean="0">
                  <a:solidFill>
                    <a:srgbClr val="00B050"/>
                  </a:solidFill>
                </a:rPr>
                <a:t>is suspended.*/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23528" y="1236822"/>
              <a:ext cx="450344" cy="31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8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251520" y="5733256"/>
            <a:ext cx="8712969" cy="1008112"/>
            <a:chOff x="251520" y="1988840"/>
            <a:chExt cx="8712969" cy="1008112"/>
          </a:xfrm>
        </p:grpSpPr>
        <p:sp>
          <p:nvSpPr>
            <p:cNvPr id="47" name="Rectangle 46"/>
            <p:cNvSpPr/>
            <p:nvPr/>
          </p:nvSpPr>
          <p:spPr>
            <a:xfrm>
              <a:off x="251520" y="1988840"/>
              <a:ext cx="8712969" cy="7200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251520" y="2708920"/>
              <a:ext cx="8712969" cy="2880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 smtClean="0">
                  <a:solidFill>
                    <a:schemeClr val="tx1"/>
                  </a:solidFill>
                </a:rPr>
                <a:t>0	100	200	300	400	500	600	700	800	…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971600" y="5733256"/>
            <a:ext cx="1440160" cy="720080"/>
            <a:chOff x="971600" y="3501008"/>
            <a:chExt cx="1440160" cy="720080"/>
          </a:xfrm>
          <a:solidFill>
            <a:schemeClr val="bg1">
              <a:lumMod val="65000"/>
            </a:schemeClr>
          </a:solidFill>
        </p:grpSpPr>
        <p:sp>
          <p:nvSpPr>
            <p:cNvPr id="50" name="Rectangle 49"/>
            <p:cNvSpPr/>
            <p:nvPr/>
          </p:nvSpPr>
          <p:spPr>
            <a:xfrm>
              <a:off x="971600" y="3501008"/>
              <a:ext cx="1440160" cy="720080"/>
            </a:xfrm>
            <a:prstGeom prst="rect">
              <a:avLst/>
            </a:prstGeom>
            <a:grp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 smtClean="0"/>
                <a:t>main</a:t>
              </a:r>
            </a:p>
            <a:p>
              <a:endParaRPr lang="en-US" sz="1200" dirty="0" smtClean="0"/>
            </a:p>
            <a:p>
              <a:r>
                <a:rPr lang="en-US" sz="1200" dirty="0" smtClean="0"/>
                <a:t>number</a:t>
              </a:r>
              <a:endParaRPr lang="en-US" sz="1200" dirty="0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691680" y="3861048"/>
              <a:ext cx="648072" cy="288032"/>
            </a:xfrm>
            <a:prstGeom prst="rect">
              <a:avLst/>
            </a:prstGeom>
            <a:grpFill/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6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6012160" y="5733256"/>
            <a:ext cx="1440160" cy="720080"/>
            <a:chOff x="971600" y="3501008"/>
            <a:chExt cx="1440160" cy="720080"/>
          </a:xfrm>
        </p:grpSpPr>
        <p:sp>
          <p:nvSpPr>
            <p:cNvPr id="53" name="Rectangle 52"/>
            <p:cNvSpPr/>
            <p:nvPr/>
          </p:nvSpPr>
          <p:spPr>
            <a:xfrm>
              <a:off x="971600" y="3501008"/>
              <a:ext cx="1440160" cy="720080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 smtClean="0"/>
                <a:t>method1</a:t>
              </a:r>
            </a:p>
            <a:p>
              <a:endParaRPr lang="en-US" sz="1200" dirty="0" smtClean="0"/>
            </a:p>
            <a:p>
              <a:r>
                <a:rPr lang="en-US" sz="1200" dirty="0" err="1" smtClean="0"/>
                <a:t>num</a:t>
              </a:r>
              <a:endParaRPr lang="en-US" sz="1200" dirty="0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1691680" y="3861048"/>
              <a:ext cx="648072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6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2011297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r>
              <a:rPr lang="en-US" sz="32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PRIMITIVE DATATYPES AS PARAMETERS</a:t>
            </a:r>
            <a:endParaRPr lang="en-US" sz="32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EXAMPLE 1 - MEMORY LAYOUT(2)</a:t>
            </a:r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>
            <a:off x="179512" y="1268760"/>
            <a:ext cx="8784977" cy="338554"/>
            <a:chOff x="323528" y="1236822"/>
            <a:chExt cx="7848873" cy="318350"/>
          </a:xfrm>
        </p:grpSpPr>
        <p:sp>
          <p:nvSpPr>
            <p:cNvPr id="13" name="TextBox 12"/>
            <p:cNvSpPr txBox="1"/>
            <p:nvPr/>
          </p:nvSpPr>
          <p:spPr>
            <a:xfrm>
              <a:off x="788528" y="1236822"/>
              <a:ext cx="7383873" cy="31835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err="1" smtClean="0"/>
                <a:t>System.out.printf</a:t>
              </a:r>
              <a:r>
                <a:rPr lang="en-US" sz="1600" dirty="0" smtClean="0"/>
                <a:t> (“Line 14: Inside method before change, </a:t>
              </a:r>
              <a:r>
                <a:rPr lang="en-US" sz="1600" dirty="0" err="1" smtClean="0"/>
                <a:t>num</a:t>
              </a:r>
              <a:r>
                <a:rPr lang="en-US" sz="1600" dirty="0" smtClean="0"/>
                <a:t> = %d”, </a:t>
              </a:r>
              <a:r>
                <a:rPr lang="en-US" sz="1600" dirty="0" err="1" smtClean="0">
                  <a:solidFill>
                    <a:srgbClr val="FF33CC"/>
                  </a:solidFill>
                </a:rPr>
                <a:t>num</a:t>
              </a:r>
              <a:r>
                <a:rPr lang="en-US" sz="1600" dirty="0" smtClean="0"/>
                <a:t>);</a:t>
              </a:r>
              <a:endParaRPr lang="en-US" sz="1600" dirty="0" smtClean="0">
                <a:solidFill>
                  <a:srgbClr val="00B050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23528" y="1236822"/>
              <a:ext cx="450344" cy="31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14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79512" y="2348880"/>
            <a:ext cx="8784977" cy="338554"/>
            <a:chOff x="323528" y="1236822"/>
            <a:chExt cx="7848873" cy="318350"/>
          </a:xfrm>
        </p:grpSpPr>
        <p:sp>
          <p:nvSpPr>
            <p:cNvPr id="32" name="TextBox 31"/>
            <p:cNvSpPr txBox="1"/>
            <p:nvPr/>
          </p:nvSpPr>
          <p:spPr>
            <a:xfrm>
              <a:off x="788528" y="1236822"/>
              <a:ext cx="7383873" cy="31835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err="1" smtClean="0">
                  <a:solidFill>
                    <a:srgbClr val="FF33CC"/>
                  </a:solidFill>
                </a:rPr>
                <a:t>num</a:t>
              </a:r>
              <a:r>
                <a:rPr lang="en-US" sz="1600" dirty="0" smtClean="0">
                  <a:solidFill>
                    <a:srgbClr val="FF33CC"/>
                  </a:solidFill>
                </a:rPr>
                <a:t> </a:t>
              </a:r>
              <a:r>
                <a:rPr lang="en-US" sz="1600" dirty="0" smtClean="0"/>
                <a:t>= 15; </a:t>
              </a:r>
              <a:r>
                <a:rPr lang="en-US" sz="1600" dirty="0" smtClean="0">
                  <a:solidFill>
                    <a:srgbClr val="00B050"/>
                  </a:solidFill>
                </a:rPr>
                <a:t>//change the value of </a:t>
              </a:r>
              <a:r>
                <a:rPr lang="en-US" sz="1600" dirty="0" err="1" smtClean="0">
                  <a:solidFill>
                    <a:srgbClr val="FF33CC"/>
                  </a:solidFill>
                </a:rPr>
                <a:t>num</a:t>
              </a:r>
              <a:r>
                <a:rPr lang="en-US" sz="1600" dirty="0" smtClean="0">
                  <a:solidFill>
                    <a:srgbClr val="00B050"/>
                  </a:solidFill>
                </a:rPr>
                <a:t> inside </a:t>
              </a:r>
              <a:r>
                <a:rPr lang="en-US" sz="1600" dirty="0" smtClean="0">
                  <a:solidFill>
                    <a:srgbClr val="0000FF"/>
                  </a:solidFill>
                </a:rPr>
                <a:t>method1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23528" y="1236822"/>
              <a:ext cx="450344" cy="31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15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179512" y="3861048"/>
            <a:ext cx="8784977" cy="338554"/>
            <a:chOff x="323528" y="1236822"/>
            <a:chExt cx="7848873" cy="318350"/>
          </a:xfrm>
        </p:grpSpPr>
        <p:sp>
          <p:nvSpPr>
            <p:cNvPr id="41" name="TextBox 40"/>
            <p:cNvSpPr txBox="1"/>
            <p:nvPr/>
          </p:nvSpPr>
          <p:spPr>
            <a:xfrm>
              <a:off x="788528" y="1236822"/>
              <a:ext cx="7383873" cy="31835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err="1" smtClean="0"/>
                <a:t>System.out.prinf</a:t>
              </a:r>
              <a:r>
                <a:rPr lang="en-US" sz="1600" dirty="0" smtClean="0"/>
                <a:t> (“Line 16: Inside method after change, </a:t>
              </a:r>
              <a:r>
                <a:rPr lang="en-US" sz="1600" dirty="0" err="1" smtClean="0"/>
                <a:t>num</a:t>
              </a:r>
              <a:r>
                <a:rPr lang="en-US" sz="1600" dirty="0" smtClean="0"/>
                <a:t> = %d”,</a:t>
              </a:r>
              <a:r>
                <a:rPr lang="en-US" sz="1600" dirty="0" smtClean="0">
                  <a:solidFill>
                    <a:srgbClr val="FF33CC"/>
                  </a:solidFill>
                </a:rPr>
                <a:t> </a:t>
              </a:r>
              <a:r>
                <a:rPr lang="en-US" sz="1600" dirty="0" err="1" smtClean="0">
                  <a:solidFill>
                    <a:srgbClr val="FF33CC"/>
                  </a:solidFill>
                </a:rPr>
                <a:t>num</a:t>
              </a:r>
              <a:r>
                <a:rPr lang="en-US" sz="1600" dirty="0" smtClean="0"/>
                <a:t>);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23528" y="1236822"/>
              <a:ext cx="450344" cy="31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16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179512" y="5106670"/>
            <a:ext cx="8784977" cy="338554"/>
            <a:chOff x="323528" y="1236822"/>
            <a:chExt cx="7848873" cy="318350"/>
          </a:xfrm>
        </p:grpSpPr>
        <p:sp>
          <p:nvSpPr>
            <p:cNvPr id="44" name="TextBox 43"/>
            <p:cNvSpPr txBox="1"/>
            <p:nvPr/>
          </p:nvSpPr>
          <p:spPr>
            <a:xfrm>
              <a:off x="788528" y="1236822"/>
              <a:ext cx="7383873" cy="31835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 }</a:t>
              </a:r>
              <a:r>
                <a:rPr lang="en-US" sz="1600" dirty="0" smtClean="0">
                  <a:solidFill>
                    <a:srgbClr val="00B050"/>
                  </a:solidFill>
                </a:rPr>
                <a:t> //end </a:t>
              </a:r>
              <a:r>
                <a:rPr lang="en-US" sz="1600" dirty="0" smtClean="0">
                  <a:solidFill>
                    <a:srgbClr val="0000FF"/>
                  </a:solidFill>
                </a:rPr>
                <a:t>method1 </a:t>
              </a:r>
              <a:r>
                <a:rPr lang="en-US" sz="1600" dirty="0" smtClean="0">
                  <a:solidFill>
                    <a:srgbClr val="00B050"/>
                  </a:solidFill>
                  <a:sym typeface="Wingdings" panose="05000000000000000000" pitchFamily="2" charset="2"/>
                </a:rPr>
                <a:t> control is transferred back to </a:t>
              </a:r>
              <a:r>
                <a:rPr lang="en-US" sz="1600" dirty="0" smtClean="0">
                  <a:solidFill>
                    <a:srgbClr val="00B0F0"/>
                  </a:solidFill>
                  <a:sym typeface="Wingdings" panose="05000000000000000000" pitchFamily="2" charset="2"/>
                </a:rPr>
                <a:t>main</a:t>
              </a:r>
              <a:r>
                <a:rPr lang="en-US" sz="1600" dirty="0" smtClean="0">
                  <a:solidFill>
                    <a:srgbClr val="00B050"/>
                  </a:solidFill>
                  <a:sym typeface="Wingdings" panose="05000000000000000000" pitchFamily="2" charset="2"/>
                </a:rPr>
                <a:t>. </a:t>
              </a:r>
              <a:r>
                <a:rPr lang="en-US" sz="1600" dirty="0" smtClean="0">
                  <a:solidFill>
                    <a:srgbClr val="0000FF"/>
                  </a:solidFill>
                  <a:sym typeface="Wingdings" panose="05000000000000000000" pitchFamily="2" charset="2"/>
                </a:rPr>
                <a:t>method1 </a:t>
              </a:r>
              <a:r>
                <a:rPr lang="en-US" sz="1600" dirty="0" smtClean="0">
                  <a:solidFill>
                    <a:srgbClr val="00B050"/>
                  </a:solidFill>
                  <a:sym typeface="Wingdings" panose="05000000000000000000" pitchFamily="2" charset="2"/>
                </a:rPr>
                <a:t>is </a:t>
              </a:r>
              <a:r>
                <a:rPr lang="en-US" sz="1600" dirty="0" err="1" smtClean="0">
                  <a:solidFill>
                    <a:srgbClr val="00B050"/>
                  </a:solidFill>
                  <a:sym typeface="Wingdings" panose="05000000000000000000" pitchFamily="2" charset="2"/>
                </a:rPr>
                <a:t>deallocated</a:t>
              </a:r>
              <a:r>
                <a:rPr lang="en-US" sz="1600" dirty="0" smtClean="0">
                  <a:solidFill>
                    <a:srgbClr val="00B050"/>
                  </a:solidFill>
                  <a:sym typeface="Wingdings" panose="05000000000000000000" pitchFamily="2" charset="2"/>
                </a:rPr>
                <a:t>.</a:t>
              </a:r>
              <a:endParaRPr lang="en-US" sz="1600" dirty="0" smtClean="0">
                <a:solidFill>
                  <a:srgbClr val="00B050"/>
                </a:solidFill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23528" y="1236822"/>
              <a:ext cx="450344" cy="31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17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251520" y="2780928"/>
            <a:ext cx="8712969" cy="1008112"/>
            <a:chOff x="251520" y="1988840"/>
            <a:chExt cx="8712969" cy="1008112"/>
          </a:xfrm>
        </p:grpSpPr>
        <p:sp>
          <p:nvSpPr>
            <p:cNvPr id="47" name="Rectangle 46"/>
            <p:cNvSpPr/>
            <p:nvPr/>
          </p:nvSpPr>
          <p:spPr>
            <a:xfrm>
              <a:off x="251520" y="1988840"/>
              <a:ext cx="8712969" cy="7200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251520" y="2708920"/>
              <a:ext cx="8712969" cy="2880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 smtClean="0">
                  <a:solidFill>
                    <a:schemeClr val="tx1"/>
                  </a:solidFill>
                </a:rPr>
                <a:t>0	100	200	300	400	500	600	700	800	…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971600" y="2780928"/>
            <a:ext cx="1440160" cy="720080"/>
            <a:chOff x="971600" y="3501008"/>
            <a:chExt cx="1440160" cy="720080"/>
          </a:xfrm>
          <a:solidFill>
            <a:schemeClr val="bg1">
              <a:lumMod val="65000"/>
            </a:schemeClr>
          </a:solidFill>
        </p:grpSpPr>
        <p:sp>
          <p:nvSpPr>
            <p:cNvPr id="50" name="Rectangle 49"/>
            <p:cNvSpPr/>
            <p:nvPr/>
          </p:nvSpPr>
          <p:spPr>
            <a:xfrm>
              <a:off x="971600" y="3501008"/>
              <a:ext cx="1440160" cy="720080"/>
            </a:xfrm>
            <a:prstGeom prst="rect">
              <a:avLst/>
            </a:prstGeom>
            <a:grp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 smtClean="0"/>
                <a:t>main</a:t>
              </a:r>
            </a:p>
            <a:p>
              <a:endParaRPr lang="en-US" sz="1200" dirty="0" smtClean="0"/>
            </a:p>
            <a:p>
              <a:r>
                <a:rPr lang="en-US" sz="1200" dirty="0" smtClean="0"/>
                <a:t>number</a:t>
              </a:r>
              <a:endParaRPr lang="en-US" sz="1200" dirty="0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691680" y="3861048"/>
              <a:ext cx="648072" cy="288032"/>
            </a:xfrm>
            <a:prstGeom prst="rect">
              <a:avLst/>
            </a:prstGeom>
            <a:grpFill/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6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6012160" y="2780928"/>
            <a:ext cx="1440160" cy="720080"/>
            <a:chOff x="971600" y="3501008"/>
            <a:chExt cx="1440160" cy="720080"/>
          </a:xfrm>
        </p:grpSpPr>
        <p:sp>
          <p:nvSpPr>
            <p:cNvPr id="53" name="Rectangle 52"/>
            <p:cNvSpPr/>
            <p:nvPr/>
          </p:nvSpPr>
          <p:spPr>
            <a:xfrm>
              <a:off x="971600" y="3501008"/>
              <a:ext cx="1440160" cy="720080"/>
            </a:xfrm>
            <a:prstGeom prst="rect">
              <a:avLst/>
            </a:prstGeom>
            <a:solidFill>
              <a:schemeClr val="accent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 smtClean="0"/>
                <a:t>method1</a:t>
              </a:r>
            </a:p>
            <a:p>
              <a:endParaRPr lang="en-US" sz="1200" dirty="0" smtClean="0"/>
            </a:p>
            <a:p>
              <a:r>
                <a:rPr lang="en-US" sz="1200" dirty="0" err="1" smtClean="0"/>
                <a:t>num</a:t>
              </a:r>
              <a:endParaRPr lang="en-US" sz="1200" dirty="0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1691680" y="3861048"/>
              <a:ext cx="648072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15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251520" y="1700808"/>
            <a:ext cx="8712967" cy="523220"/>
            <a:chOff x="683568" y="1236822"/>
            <a:chExt cx="7488831" cy="523220"/>
          </a:xfrm>
        </p:grpSpPr>
        <p:sp>
          <p:nvSpPr>
            <p:cNvPr id="56" name="TextBox 55"/>
            <p:cNvSpPr txBox="1"/>
            <p:nvPr/>
          </p:nvSpPr>
          <p:spPr>
            <a:xfrm>
              <a:off x="1069013" y="1236822"/>
              <a:ext cx="7103386" cy="523220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Line 7: Before calling, </a:t>
              </a:r>
              <a:r>
                <a:rPr lang="en-US" sz="1400" b="1" dirty="0" smtClean="0">
                  <a:solidFill>
                    <a:srgbClr val="FFFF00"/>
                  </a:solidFill>
                </a:rPr>
                <a:t>number = 6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Line 14: Inside method before change, </a:t>
              </a:r>
              <a:r>
                <a:rPr lang="en-US" sz="1400" b="1" dirty="0" err="1" smtClean="0">
                  <a:solidFill>
                    <a:srgbClr val="FFFF00"/>
                  </a:solidFill>
                </a:rPr>
                <a:t>num</a:t>
              </a:r>
              <a:r>
                <a:rPr lang="en-US" sz="1400" b="1" dirty="0" smtClean="0">
                  <a:solidFill>
                    <a:srgbClr val="FFFF00"/>
                  </a:solidFill>
                </a:rPr>
                <a:t> = 6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83568" y="1236822"/>
              <a:ext cx="2160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 smtClean="0">
                  <a:solidFill>
                    <a:srgbClr val="FF0000"/>
                  </a:solidFill>
                </a:rPr>
                <a:t>2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251520" y="4293096"/>
            <a:ext cx="8712967" cy="738664"/>
            <a:chOff x="683568" y="1236822"/>
            <a:chExt cx="7488831" cy="738664"/>
          </a:xfrm>
        </p:grpSpPr>
        <p:sp>
          <p:nvSpPr>
            <p:cNvPr id="59" name="TextBox 58"/>
            <p:cNvSpPr txBox="1"/>
            <p:nvPr/>
          </p:nvSpPr>
          <p:spPr>
            <a:xfrm>
              <a:off x="1069013" y="1236822"/>
              <a:ext cx="7103386" cy="738664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Line 7: Before calling, </a:t>
              </a:r>
              <a:r>
                <a:rPr lang="en-US" sz="1400" b="1" dirty="0" smtClean="0">
                  <a:solidFill>
                    <a:srgbClr val="FFFF00"/>
                  </a:solidFill>
                </a:rPr>
                <a:t>number = 6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Line 14: Inside method before change, </a:t>
              </a:r>
              <a:r>
                <a:rPr lang="en-US" sz="1400" b="1" dirty="0" err="1" smtClean="0">
                  <a:solidFill>
                    <a:srgbClr val="FFFF00"/>
                  </a:solidFill>
                </a:rPr>
                <a:t>num</a:t>
              </a:r>
              <a:r>
                <a:rPr lang="en-US" sz="1400" b="1" dirty="0" smtClean="0">
                  <a:solidFill>
                    <a:srgbClr val="FFFF00"/>
                  </a:solidFill>
                </a:rPr>
                <a:t> = 6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Line 16: Inside method after change, </a:t>
              </a:r>
              <a:r>
                <a:rPr lang="en-US" sz="1400" b="1" dirty="0" err="1" smtClean="0">
                  <a:solidFill>
                    <a:srgbClr val="FFFF00"/>
                  </a:solidFill>
                </a:rPr>
                <a:t>num</a:t>
              </a:r>
              <a:r>
                <a:rPr lang="en-US" sz="1400" b="1" dirty="0" smtClean="0">
                  <a:solidFill>
                    <a:srgbClr val="FFFF00"/>
                  </a:solidFill>
                </a:rPr>
                <a:t> = 15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83568" y="1236822"/>
              <a:ext cx="21602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 smtClean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 smtClean="0">
                  <a:solidFill>
                    <a:srgbClr val="FF0000"/>
                  </a:solidFill>
                </a:rPr>
                <a:t>3</a:t>
              </a: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251520" y="5517232"/>
            <a:ext cx="8712969" cy="1008112"/>
            <a:chOff x="251520" y="1988840"/>
            <a:chExt cx="8712969" cy="1008112"/>
          </a:xfrm>
        </p:grpSpPr>
        <p:sp>
          <p:nvSpPr>
            <p:cNvPr id="62" name="Rectangle 61"/>
            <p:cNvSpPr/>
            <p:nvPr/>
          </p:nvSpPr>
          <p:spPr>
            <a:xfrm>
              <a:off x="251520" y="1988840"/>
              <a:ext cx="8712969" cy="7200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251520" y="2708920"/>
              <a:ext cx="8712969" cy="2880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 smtClean="0">
                  <a:solidFill>
                    <a:schemeClr val="tx1"/>
                  </a:solidFill>
                </a:rPr>
                <a:t>0	100	200	300	400	500	600	700	800	…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971600" y="5517232"/>
            <a:ext cx="1440160" cy="720080"/>
            <a:chOff x="971600" y="3501008"/>
            <a:chExt cx="1440160" cy="720080"/>
          </a:xfrm>
          <a:solidFill>
            <a:schemeClr val="bg1">
              <a:lumMod val="65000"/>
            </a:schemeClr>
          </a:solidFill>
        </p:grpSpPr>
        <p:sp>
          <p:nvSpPr>
            <p:cNvPr id="65" name="Rectangle 64"/>
            <p:cNvSpPr/>
            <p:nvPr/>
          </p:nvSpPr>
          <p:spPr>
            <a:xfrm>
              <a:off x="971600" y="3501008"/>
              <a:ext cx="1440160" cy="720080"/>
            </a:xfrm>
            <a:prstGeom prst="rect">
              <a:avLst/>
            </a:prstGeom>
            <a:solidFill>
              <a:schemeClr val="accent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dirty="0" smtClean="0"/>
                <a:t>main</a:t>
              </a:r>
            </a:p>
            <a:p>
              <a:endParaRPr lang="en-US" sz="1200" dirty="0" smtClean="0"/>
            </a:p>
            <a:p>
              <a:r>
                <a:rPr lang="en-US" sz="1200" dirty="0" smtClean="0"/>
                <a:t>number</a:t>
              </a:r>
              <a:endParaRPr lang="en-US" sz="1200" dirty="0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691680" y="3861048"/>
              <a:ext cx="648072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6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3258091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r>
              <a:rPr lang="en-US" sz="32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PRIMITIVE DATATYPES AS PARAMETERS</a:t>
            </a:r>
            <a:endParaRPr lang="en-US" sz="32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EXAMPLE 1 - MEMORY LAYOUT(3)</a:t>
            </a:r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>
            <a:off x="179512" y="1268760"/>
            <a:ext cx="8784977" cy="338554"/>
            <a:chOff x="323528" y="1236822"/>
            <a:chExt cx="7848873" cy="318350"/>
          </a:xfrm>
        </p:grpSpPr>
        <p:sp>
          <p:nvSpPr>
            <p:cNvPr id="13" name="TextBox 12"/>
            <p:cNvSpPr txBox="1"/>
            <p:nvPr/>
          </p:nvSpPr>
          <p:spPr>
            <a:xfrm>
              <a:off x="788528" y="1236822"/>
              <a:ext cx="7383873" cy="31835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 </a:t>
              </a:r>
              <a:r>
                <a:rPr lang="en-US" sz="1600" dirty="0" err="1" smtClean="0"/>
                <a:t>System.out.printf</a:t>
              </a:r>
              <a:r>
                <a:rPr lang="en-US" sz="1600" dirty="0" smtClean="0"/>
                <a:t> (“Line 9: After calling, number = %d”, </a:t>
              </a:r>
              <a:r>
                <a:rPr lang="en-US" sz="1600" dirty="0" smtClean="0">
                  <a:solidFill>
                    <a:srgbClr val="0000FF"/>
                  </a:solidFill>
                </a:rPr>
                <a:t>number</a:t>
              </a:r>
              <a:r>
                <a:rPr lang="en-US" sz="1600" dirty="0" smtClean="0"/>
                <a:t>); </a:t>
              </a:r>
              <a:r>
                <a:rPr lang="en-US" sz="1600" dirty="0" smtClean="0">
                  <a:solidFill>
                    <a:srgbClr val="00B050"/>
                  </a:solidFill>
                </a:rPr>
                <a:t>//on screen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23528" y="1236822"/>
              <a:ext cx="450344" cy="31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9</a:t>
              </a:r>
              <a:endParaRPr lang="en-US" sz="1600" dirty="0" smtClean="0">
                <a:solidFill>
                  <a:srgbClr val="FF0000"/>
                </a:solidFill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179512" y="2780928"/>
            <a:ext cx="8784977" cy="338554"/>
            <a:chOff x="323528" y="1236822"/>
            <a:chExt cx="7848873" cy="318350"/>
          </a:xfrm>
        </p:grpSpPr>
        <p:sp>
          <p:nvSpPr>
            <p:cNvPr id="41" name="TextBox 40"/>
            <p:cNvSpPr txBox="1"/>
            <p:nvPr/>
          </p:nvSpPr>
          <p:spPr>
            <a:xfrm>
              <a:off x="788528" y="1236822"/>
              <a:ext cx="7383873" cy="31835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 }</a:t>
              </a:r>
              <a:r>
                <a:rPr lang="en-US" sz="1600" dirty="0" smtClean="0">
                  <a:solidFill>
                    <a:srgbClr val="00B050"/>
                  </a:solidFill>
                </a:rPr>
                <a:t> //end main </a:t>
              </a:r>
              <a:r>
                <a:rPr lang="en-US" sz="1600" dirty="0" smtClean="0">
                  <a:solidFill>
                    <a:srgbClr val="00B050"/>
                  </a:solidFill>
                  <a:sym typeface="Wingdings" panose="05000000000000000000" pitchFamily="2" charset="2"/>
                </a:rPr>
                <a:t> </a:t>
              </a:r>
              <a:r>
                <a:rPr lang="en-US" sz="1600" dirty="0" smtClean="0">
                  <a:solidFill>
                    <a:srgbClr val="00B0F0"/>
                  </a:solidFill>
                  <a:sym typeface="Wingdings" panose="05000000000000000000" pitchFamily="2" charset="2"/>
                </a:rPr>
                <a:t>main </a:t>
              </a:r>
              <a:r>
                <a:rPr lang="en-US" sz="1600" dirty="0" smtClean="0">
                  <a:solidFill>
                    <a:srgbClr val="00B050"/>
                  </a:solidFill>
                  <a:sym typeface="Wingdings" panose="05000000000000000000" pitchFamily="2" charset="2"/>
                </a:rPr>
                <a:t>is </a:t>
              </a:r>
              <a:r>
                <a:rPr lang="en-US" sz="1600" dirty="0" err="1" smtClean="0">
                  <a:solidFill>
                    <a:srgbClr val="00B050"/>
                  </a:solidFill>
                  <a:sym typeface="Wingdings" panose="05000000000000000000" pitchFamily="2" charset="2"/>
                </a:rPr>
                <a:t>deallocated</a:t>
              </a:r>
              <a:r>
                <a:rPr lang="en-US" sz="1600" dirty="0" smtClean="0">
                  <a:solidFill>
                    <a:srgbClr val="00B050"/>
                  </a:solidFill>
                  <a:sym typeface="Wingdings" panose="05000000000000000000" pitchFamily="2" charset="2"/>
                </a:rPr>
                <a:t> from memory</a:t>
              </a:r>
              <a:endParaRPr lang="en-US" sz="1600" dirty="0" smtClean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23528" y="1236822"/>
              <a:ext cx="450344" cy="31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10</a:t>
              </a: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251520" y="3212976"/>
            <a:ext cx="8712969" cy="1008112"/>
            <a:chOff x="251520" y="1988840"/>
            <a:chExt cx="8712969" cy="1008112"/>
          </a:xfrm>
        </p:grpSpPr>
        <p:sp>
          <p:nvSpPr>
            <p:cNvPr id="62" name="Rectangle 61"/>
            <p:cNvSpPr/>
            <p:nvPr/>
          </p:nvSpPr>
          <p:spPr>
            <a:xfrm>
              <a:off x="251520" y="1988840"/>
              <a:ext cx="8712969" cy="7200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251520" y="2708920"/>
              <a:ext cx="8712969" cy="2880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 smtClean="0">
                  <a:solidFill>
                    <a:schemeClr val="tx1"/>
                  </a:solidFill>
                </a:rPr>
                <a:t>0	100	200	300	400	500	600	700	800	…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251521" y="1700808"/>
            <a:ext cx="8712967" cy="954107"/>
            <a:chOff x="683568" y="1236822"/>
            <a:chExt cx="7488831" cy="954107"/>
          </a:xfrm>
        </p:grpSpPr>
        <p:sp>
          <p:nvSpPr>
            <p:cNvPr id="68" name="TextBox 67"/>
            <p:cNvSpPr txBox="1"/>
            <p:nvPr/>
          </p:nvSpPr>
          <p:spPr>
            <a:xfrm>
              <a:off x="1069013" y="1236822"/>
              <a:ext cx="7103386" cy="954107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Line 7: Before calling, </a:t>
              </a:r>
              <a:r>
                <a:rPr lang="en-US" sz="1400" b="1" dirty="0" smtClean="0">
                  <a:solidFill>
                    <a:srgbClr val="FFFF00"/>
                  </a:solidFill>
                </a:rPr>
                <a:t>number = 6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Line 14: Inside method before change, </a:t>
              </a:r>
              <a:r>
                <a:rPr lang="en-US" sz="1400" b="1" dirty="0" err="1" smtClean="0">
                  <a:solidFill>
                    <a:srgbClr val="FFFF00"/>
                  </a:solidFill>
                </a:rPr>
                <a:t>num</a:t>
              </a:r>
              <a:r>
                <a:rPr lang="en-US" sz="1400" b="1" dirty="0" smtClean="0">
                  <a:solidFill>
                    <a:srgbClr val="FFFF00"/>
                  </a:solidFill>
                </a:rPr>
                <a:t> = 6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Line 16: Inside method after change, </a:t>
              </a:r>
              <a:r>
                <a:rPr lang="en-US" sz="1400" b="1" dirty="0" err="1" smtClean="0">
                  <a:solidFill>
                    <a:srgbClr val="FFFF00"/>
                  </a:solidFill>
                </a:rPr>
                <a:t>num</a:t>
              </a:r>
              <a:r>
                <a:rPr lang="en-US" sz="1400" b="1" dirty="0" smtClean="0">
                  <a:solidFill>
                    <a:srgbClr val="FFFF00"/>
                  </a:solidFill>
                </a:rPr>
                <a:t> = 15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</a:rPr>
                <a:t>Line 9: After calling, </a:t>
              </a:r>
              <a:r>
                <a:rPr lang="en-US" sz="1400" b="1" dirty="0" smtClean="0">
                  <a:solidFill>
                    <a:srgbClr val="FFFF00"/>
                  </a:solidFill>
                </a:rPr>
                <a:t>number = 6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683568" y="1236822"/>
              <a:ext cx="21602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 sz="1400" dirty="0" smtClean="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 sz="1400" dirty="0" smtClean="0">
                  <a:solidFill>
                    <a:srgbClr val="FF0000"/>
                  </a:solidFill>
                </a:rPr>
                <a:t>3</a:t>
              </a:r>
            </a:p>
            <a:p>
              <a:r>
                <a:rPr lang="en-US" sz="1400" dirty="0">
                  <a:solidFill>
                    <a:srgbClr val="FF0000"/>
                  </a:solidFill>
                </a:rPr>
                <a:t>4</a:t>
              </a:r>
              <a:endParaRPr lang="en-US" sz="1400" dirty="0" smtClean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3101823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r>
              <a:rPr lang="en-US" sz="32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PRIMITIVE DATATYPES AS PARAMETERS</a:t>
            </a:r>
            <a:endParaRPr lang="en-US" sz="32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EXAMPLE 2</a:t>
            </a:r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179512" y="1196752"/>
            <a:ext cx="8784977" cy="5262979"/>
            <a:chOff x="323528" y="1236822"/>
            <a:chExt cx="7848873" cy="4948895"/>
          </a:xfrm>
        </p:grpSpPr>
        <p:sp>
          <p:nvSpPr>
            <p:cNvPr id="26" name="TextBox 25"/>
            <p:cNvSpPr txBox="1"/>
            <p:nvPr/>
          </p:nvSpPr>
          <p:spPr>
            <a:xfrm>
              <a:off x="788528" y="1236822"/>
              <a:ext cx="7383873" cy="494889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600" dirty="0" smtClean="0"/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public class </a:t>
              </a:r>
              <a:r>
                <a:rPr lang="en-US" sz="1600" dirty="0" smtClean="0">
                  <a:solidFill>
                    <a:srgbClr val="0000FF"/>
                  </a:solidFill>
                </a:rPr>
                <a:t>primitiveDatatypeAsParameters2</a:t>
              </a:r>
            </a:p>
            <a:p>
              <a:r>
                <a:rPr lang="en-US" sz="1600" dirty="0" smtClean="0"/>
                <a:t>{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</a:t>
              </a:r>
              <a:r>
                <a:rPr lang="en-US" sz="1600" dirty="0" smtClean="0">
                  <a:solidFill>
                    <a:srgbClr val="00B0F0"/>
                  </a:solidFill>
                </a:rPr>
                <a:t>public static void main </a:t>
              </a:r>
              <a:r>
                <a:rPr lang="en-US" sz="1600" dirty="0" smtClean="0"/>
                <a:t>(</a:t>
              </a:r>
              <a:r>
                <a:rPr lang="en-US" sz="1600" dirty="0" smtClean="0">
                  <a:solidFill>
                    <a:srgbClr val="00B0F0"/>
                  </a:solidFill>
                </a:rPr>
                <a:t>String[]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args</a:t>
              </a:r>
              <a:r>
                <a:rPr lang="en-US" sz="1600" dirty="0" smtClean="0"/>
                <a:t>)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{</a:t>
              </a: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    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x </a:t>
              </a:r>
              <a:r>
                <a:rPr lang="en-US" sz="1600" dirty="0" smtClean="0"/>
                <a:t>= 5,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y</a:t>
              </a:r>
              <a:r>
                <a:rPr lang="en-US" sz="1600" dirty="0" smtClean="0"/>
                <a:t> = -3, </a:t>
              </a:r>
              <a:r>
                <a:rPr lang="en-US" sz="1600" dirty="0" smtClean="0">
                  <a:solidFill>
                    <a:srgbClr val="0000FF"/>
                  </a:solidFill>
                </a:rPr>
                <a:t>z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/>
                <a:t>= 0;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 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smallest</a:t>
              </a:r>
              <a:r>
                <a:rPr lang="en-US" sz="1600" dirty="0" smtClean="0"/>
                <a:t>;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  </a:t>
              </a:r>
              <a:r>
                <a:rPr lang="en-US" sz="1600" dirty="0" smtClean="0">
                  <a:solidFill>
                    <a:srgbClr val="0000FF"/>
                  </a:solidFill>
                </a:rPr>
                <a:t>smallest </a:t>
              </a:r>
              <a:r>
                <a:rPr lang="en-US" sz="1600" dirty="0" smtClean="0"/>
                <a:t>=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minimum</a:t>
              </a:r>
              <a:r>
                <a:rPr lang="en-US" sz="1600" dirty="0" smtClean="0"/>
                <a:t>(</a:t>
              </a:r>
              <a:r>
                <a:rPr lang="en-US" sz="1600" dirty="0" smtClean="0">
                  <a:solidFill>
                    <a:srgbClr val="0000FF"/>
                  </a:solidFill>
                </a:rPr>
                <a:t>x</a:t>
              </a:r>
              <a:r>
                <a:rPr lang="en-US" sz="1600" dirty="0" smtClean="0"/>
                <a:t>,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y</a:t>
              </a:r>
              <a:r>
                <a:rPr lang="en-US" sz="1600" dirty="0" smtClean="0"/>
                <a:t>,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z</a:t>
              </a:r>
              <a:r>
                <a:rPr lang="en-US" sz="1600" dirty="0" smtClean="0"/>
                <a:t>);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  </a:t>
              </a:r>
              <a:r>
                <a:rPr lang="en-US" sz="1600" dirty="0" err="1" smtClean="0"/>
                <a:t>System.out.printf</a:t>
              </a:r>
              <a:r>
                <a:rPr lang="en-US" sz="1600" dirty="0" smtClean="0"/>
                <a:t> (“Smallest number = %d”,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smallest</a:t>
              </a:r>
              <a:r>
                <a:rPr lang="en-US" sz="1600" dirty="0" smtClean="0"/>
                <a:t>);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}</a:t>
              </a:r>
              <a:r>
                <a:rPr lang="en-US" sz="1600" dirty="0" smtClean="0">
                  <a:solidFill>
                    <a:srgbClr val="00B050"/>
                  </a:solidFill>
                </a:rPr>
                <a:t> //end main</a:t>
              </a:r>
            </a:p>
            <a:p>
              <a:r>
                <a:rPr lang="en-US" sz="1600" dirty="0" smtClean="0">
                  <a:solidFill>
                    <a:srgbClr val="00B050"/>
                  </a:solidFill>
                </a:rPr>
                <a:t>// returns the minimum of three integers</a:t>
              </a:r>
              <a:endParaRPr lang="en-US" sz="1600" dirty="0">
                <a:solidFill>
                  <a:srgbClr val="00B050"/>
                </a:solidFill>
              </a:endParaRP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   public static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minimum</a:t>
              </a:r>
              <a:r>
                <a:rPr lang="en-US" sz="1600" dirty="0" smtClean="0"/>
                <a:t>(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num1</a:t>
              </a:r>
              <a:r>
                <a:rPr lang="en-US" sz="1600" dirty="0" smtClean="0"/>
                <a:t>,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num2</a:t>
              </a:r>
              <a:r>
                <a:rPr lang="en-US" sz="1600" dirty="0" smtClean="0"/>
                <a:t>,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num3</a:t>
              </a:r>
              <a:r>
                <a:rPr lang="en-US" sz="1600" dirty="0" smtClean="0"/>
                <a:t>)</a:t>
              </a:r>
            </a:p>
            <a:p>
              <a:r>
                <a:rPr lang="en-US" sz="1600" dirty="0"/>
                <a:t> </a:t>
              </a:r>
              <a:r>
                <a:rPr lang="en-US" sz="1600" dirty="0" smtClean="0"/>
                <a:t>  {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 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min</a:t>
              </a:r>
              <a:r>
                <a:rPr lang="en-US" sz="1600" dirty="0" smtClean="0"/>
                <a:t> =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num1</a:t>
              </a:r>
              <a:r>
                <a:rPr lang="en-US" sz="1600" dirty="0" smtClean="0"/>
                <a:t>;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  if </a:t>
              </a:r>
              <a:r>
                <a:rPr lang="en-US" sz="1600" dirty="0" smtClean="0"/>
                <a:t>(</a:t>
              </a:r>
              <a:r>
                <a:rPr lang="en-US" sz="1600" dirty="0" smtClean="0">
                  <a:solidFill>
                    <a:srgbClr val="FF33CC"/>
                  </a:solidFill>
                </a:rPr>
                <a:t>num2 </a:t>
              </a:r>
              <a:r>
                <a:rPr lang="en-US" sz="1600" dirty="0" smtClean="0"/>
                <a:t>&lt;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min</a:t>
              </a:r>
              <a:r>
                <a:rPr lang="en-US" sz="1600" dirty="0" smtClean="0"/>
                <a:t>)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     </a:t>
              </a:r>
              <a:r>
                <a:rPr lang="en-US" sz="1600" dirty="0" smtClean="0">
                  <a:solidFill>
                    <a:srgbClr val="0000FF"/>
                  </a:solidFill>
                </a:rPr>
                <a:t>min </a:t>
              </a:r>
              <a:r>
                <a:rPr lang="en-US" sz="1600" dirty="0" smtClean="0"/>
                <a:t>= </a:t>
              </a:r>
              <a:r>
                <a:rPr lang="en-US" sz="1600" dirty="0" smtClean="0">
                  <a:solidFill>
                    <a:srgbClr val="FF33CC"/>
                  </a:solidFill>
                </a:rPr>
                <a:t>num2</a:t>
              </a:r>
              <a:r>
                <a:rPr lang="en-US" sz="1600" dirty="0" smtClean="0"/>
                <a:t>;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  if </a:t>
              </a:r>
              <a:r>
                <a:rPr lang="en-US" sz="1600" dirty="0" smtClean="0"/>
                <a:t>(</a:t>
              </a:r>
              <a:r>
                <a:rPr lang="en-US" sz="1600" dirty="0" smtClean="0">
                  <a:solidFill>
                    <a:srgbClr val="FF33CC"/>
                  </a:solidFill>
                </a:rPr>
                <a:t>num3 </a:t>
              </a:r>
              <a:r>
                <a:rPr lang="en-US" sz="1600" dirty="0" smtClean="0"/>
                <a:t>&lt; </a:t>
              </a:r>
              <a:r>
                <a:rPr lang="en-US" sz="1600" dirty="0" smtClean="0">
                  <a:solidFill>
                    <a:srgbClr val="0000FF"/>
                  </a:solidFill>
                </a:rPr>
                <a:t>min</a:t>
              </a:r>
              <a:r>
                <a:rPr lang="en-US" sz="1600" dirty="0" smtClean="0"/>
                <a:t>)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     </a:t>
              </a:r>
              <a:r>
                <a:rPr lang="en-US" sz="1600" dirty="0" smtClean="0">
                  <a:solidFill>
                    <a:srgbClr val="0000FF"/>
                  </a:solidFill>
                </a:rPr>
                <a:t>min </a:t>
              </a:r>
              <a:r>
                <a:rPr lang="en-US" sz="1600" dirty="0" smtClean="0"/>
                <a:t>=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num3</a:t>
              </a:r>
              <a:r>
                <a:rPr lang="en-US" sz="1600" dirty="0" smtClean="0"/>
                <a:t>;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  return </a:t>
              </a:r>
              <a:r>
                <a:rPr lang="en-US" sz="1600" dirty="0" smtClean="0">
                  <a:solidFill>
                    <a:srgbClr val="0000FF"/>
                  </a:solidFill>
                </a:rPr>
                <a:t>min</a:t>
              </a:r>
              <a:r>
                <a:rPr lang="en-US" sz="1600" dirty="0" smtClean="0"/>
                <a:t>;</a:t>
              </a:r>
            </a:p>
            <a:p>
              <a:r>
                <a:rPr lang="en-US" sz="1600" dirty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F0"/>
                  </a:solidFill>
                </a:rPr>
                <a:t>  </a:t>
              </a:r>
              <a:r>
                <a:rPr lang="en-US" sz="1600" dirty="0" smtClean="0"/>
                <a:t>}</a:t>
              </a:r>
              <a:r>
                <a:rPr lang="en-US" sz="1600" dirty="0" smtClean="0">
                  <a:solidFill>
                    <a:srgbClr val="00B050"/>
                  </a:solidFill>
                </a:rPr>
                <a:t> //end minimum</a:t>
              </a:r>
            </a:p>
            <a:p>
              <a:r>
                <a:rPr lang="en-US" sz="1600" dirty="0" smtClean="0"/>
                <a:t>}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B050"/>
                  </a:solidFill>
                </a:rPr>
                <a:t>//end class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23528" y="1236822"/>
              <a:ext cx="450344" cy="4948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1516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21</a:t>
              </a:r>
            </a:p>
          </p:txBody>
        </p:sp>
      </p:grpSp>
      <p:sp>
        <p:nvSpPr>
          <p:cNvPr id="32" name="Rectangle 31"/>
          <p:cNvSpPr/>
          <p:nvPr/>
        </p:nvSpPr>
        <p:spPr>
          <a:xfrm>
            <a:off x="683568" y="3922896"/>
            <a:ext cx="8280919" cy="22618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683568" y="2955431"/>
            <a:ext cx="8280919" cy="185537"/>
          </a:xfrm>
          <a:prstGeom prst="rect">
            <a:avLst/>
          </a:prstGeom>
          <a:solidFill>
            <a:schemeClr val="accent2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/>
          <p:cNvCxnSpPr/>
          <p:nvPr/>
        </p:nvCxnSpPr>
        <p:spPr>
          <a:xfrm flipV="1">
            <a:off x="899592" y="2600908"/>
            <a:ext cx="0" cy="447291"/>
          </a:xfrm>
          <a:prstGeom prst="line">
            <a:avLst/>
          </a:prstGeom>
          <a:ln w="28575">
            <a:solidFill>
              <a:schemeClr val="tx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H="1">
            <a:off x="251520" y="3068960"/>
            <a:ext cx="6480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251520" y="3068960"/>
            <a:ext cx="0" cy="100811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251520" y="4077072"/>
            <a:ext cx="0" cy="1944216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2843808" y="5949280"/>
            <a:ext cx="5890673" cy="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8734481" y="3284984"/>
            <a:ext cx="13983" cy="2664296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6732240" y="3284984"/>
            <a:ext cx="2016224" cy="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42"/>
          <p:cNvGrpSpPr/>
          <p:nvPr/>
        </p:nvGrpSpPr>
        <p:grpSpPr>
          <a:xfrm>
            <a:off x="251520" y="6433591"/>
            <a:ext cx="8712967" cy="307777"/>
            <a:chOff x="683568" y="1236822"/>
            <a:chExt cx="7488831" cy="307777"/>
          </a:xfrm>
        </p:grpSpPr>
        <p:sp>
          <p:nvSpPr>
            <p:cNvPr id="44" name="TextBox 43"/>
            <p:cNvSpPr txBox="1"/>
            <p:nvPr/>
          </p:nvSpPr>
          <p:spPr>
            <a:xfrm>
              <a:off x="1069013" y="1236822"/>
              <a:ext cx="7103386" cy="307777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Smallest number = -3</a:t>
              </a:r>
              <a:endParaRPr lang="en-US" sz="1400" b="1" dirty="0" smtClean="0">
                <a:solidFill>
                  <a:srgbClr val="FFFF00"/>
                </a:solidFill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83568" y="1236822"/>
              <a:ext cx="2160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</p:txBody>
        </p:sp>
      </p:grpSp>
    </p:spTree>
    <p:extLst>
      <p:ext uri="{BB962C8B-B14F-4D97-AF65-F5344CB8AC3E}">
        <p14:creationId xmlns="" xmlns:p14="http://schemas.microsoft.com/office/powerpoint/2010/main" val="636722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2" grpId="0" animBg="1"/>
      <p:bldP spid="3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r>
              <a:rPr lang="en-US" sz="32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PRIMITIVE DATATYPES AS PARAMETERS</a:t>
            </a:r>
            <a:endParaRPr lang="en-US" sz="32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EXAMPLE 2 - MEMORY LAYOUT(1)</a:t>
            </a:r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>
            <a:off x="179512" y="1268760"/>
            <a:ext cx="8784977" cy="338554"/>
            <a:chOff x="323528" y="1236822"/>
            <a:chExt cx="7848873" cy="318350"/>
          </a:xfrm>
        </p:grpSpPr>
        <p:sp>
          <p:nvSpPr>
            <p:cNvPr id="13" name="TextBox 12"/>
            <p:cNvSpPr txBox="1"/>
            <p:nvPr/>
          </p:nvSpPr>
          <p:spPr>
            <a:xfrm>
              <a:off x="788528" y="1236822"/>
              <a:ext cx="7383873" cy="31835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rgbClr val="00B0F0"/>
                  </a:solidFill>
                </a:rPr>
                <a:t>public static void main </a:t>
              </a:r>
              <a:r>
                <a:rPr lang="en-US" sz="1600" dirty="0" smtClean="0"/>
                <a:t>(</a:t>
              </a:r>
              <a:r>
                <a:rPr lang="en-US" sz="1600" dirty="0" smtClean="0">
                  <a:solidFill>
                    <a:srgbClr val="00B0F0"/>
                  </a:solidFill>
                </a:rPr>
                <a:t>String[]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args</a:t>
              </a:r>
              <a:r>
                <a:rPr lang="en-US" sz="1600" dirty="0" smtClean="0"/>
                <a:t>)  </a:t>
              </a:r>
              <a:r>
                <a:rPr lang="en-US" sz="1600" dirty="0" smtClean="0">
                  <a:solidFill>
                    <a:srgbClr val="00B050"/>
                  </a:solidFill>
                </a:rPr>
                <a:t>//</a:t>
              </a:r>
              <a:r>
                <a:rPr lang="en-US" sz="1600" dirty="0" smtClean="0">
                  <a:solidFill>
                    <a:srgbClr val="00B0F0"/>
                  </a:solidFill>
                </a:rPr>
                <a:t>main</a:t>
              </a:r>
              <a:r>
                <a:rPr lang="en-US" sz="1600" dirty="0" smtClean="0">
                  <a:solidFill>
                    <a:srgbClr val="00B050"/>
                  </a:solidFill>
                </a:rPr>
                <a:t> is loaded into memory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23528" y="1236822"/>
              <a:ext cx="450344" cy="31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4</a:t>
              </a:r>
              <a:endParaRPr lang="en-US" sz="1600" dirty="0" smtClean="0">
                <a:solidFill>
                  <a:srgbClr val="FF0000"/>
                </a:solidFill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51520" y="1700807"/>
            <a:ext cx="8712969" cy="1481308"/>
            <a:chOff x="251520" y="1988840"/>
            <a:chExt cx="8712969" cy="864097"/>
          </a:xfrm>
        </p:grpSpPr>
        <p:sp>
          <p:nvSpPr>
            <p:cNvPr id="2" name="Rectangle 1"/>
            <p:cNvSpPr/>
            <p:nvPr/>
          </p:nvSpPr>
          <p:spPr>
            <a:xfrm>
              <a:off x="251520" y="1988840"/>
              <a:ext cx="8712969" cy="7200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51520" y="2708921"/>
              <a:ext cx="8712969" cy="14401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 smtClean="0">
                  <a:solidFill>
                    <a:schemeClr val="tx1"/>
                  </a:solidFill>
                </a:rPr>
                <a:t>0	100	200	300	400	500	600	700	800	…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</p:grpSp>
      <p:sp>
        <p:nvSpPr>
          <p:cNvPr id="7" name="Rectangle 6"/>
          <p:cNvSpPr/>
          <p:nvPr/>
        </p:nvSpPr>
        <p:spPr>
          <a:xfrm>
            <a:off x="2411760" y="1700808"/>
            <a:ext cx="1440160" cy="1234422"/>
          </a:xfrm>
          <a:prstGeom prst="rect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 smtClean="0"/>
              <a:t>main</a:t>
            </a:r>
            <a:endParaRPr lang="en-US" sz="1200" dirty="0"/>
          </a:p>
        </p:txBody>
      </p:sp>
      <p:grpSp>
        <p:nvGrpSpPr>
          <p:cNvPr id="55" name="Group 54"/>
          <p:cNvGrpSpPr/>
          <p:nvPr/>
        </p:nvGrpSpPr>
        <p:grpSpPr>
          <a:xfrm>
            <a:off x="179512" y="3284982"/>
            <a:ext cx="8784977" cy="338554"/>
            <a:chOff x="323528" y="1236822"/>
            <a:chExt cx="7848873" cy="318350"/>
          </a:xfrm>
        </p:grpSpPr>
        <p:sp>
          <p:nvSpPr>
            <p:cNvPr id="56" name="TextBox 55"/>
            <p:cNvSpPr txBox="1"/>
            <p:nvPr/>
          </p:nvSpPr>
          <p:spPr>
            <a:xfrm>
              <a:off x="788528" y="1236822"/>
              <a:ext cx="7383873" cy="31835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x </a:t>
              </a:r>
              <a:r>
                <a:rPr lang="en-US" sz="1600" dirty="0" smtClean="0"/>
                <a:t>= 5,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y</a:t>
              </a:r>
              <a:r>
                <a:rPr lang="en-US" sz="1600" dirty="0" smtClean="0"/>
                <a:t> = -3, </a:t>
              </a:r>
              <a:r>
                <a:rPr lang="en-US" sz="1600" dirty="0" smtClean="0">
                  <a:solidFill>
                    <a:srgbClr val="0000FF"/>
                  </a:solidFill>
                </a:rPr>
                <a:t>z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/>
                <a:t>= 0; </a:t>
              </a:r>
              <a:r>
                <a:rPr lang="en-US" sz="1600" dirty="0" smtClean="0">
                  <a:solidFill>
                    <a:srgbClr val="00B050"/>
                  </a:solidFill>
                </a:rPr>
                <a:t>//memory cells allocated to </a:t>
              </a:r>
              <a:r>
                <a:rPr lang="en-US" sz="1600" dirty="0" err="1" smtClean="0">
                  <a:solidFill>
                    <a:srgbClr val="0000FF"/>
                  </a:solidFill>
                </a:rPr>
                <a:t>x,y,z</a:t>
              </a:r>
              <a:r>
                <a:rPr lang="en-US" sz="1600" dirty="0" smtClean="0">
                  <a:solidFill>
                    <a:srgbClr val="0000FF"/>
                  </a:solidFill>
                </a:rPr>
                <a:t> </a:t>
              </a:r>
              <a:r>
                <a:rPr lang="en-US" sz="1600" dirty="0" smtClean="0">
                  <a:solidFill>
                    <a:srgbClr val="00B050"/>
                  </a:solidFill>
                </a:rPr>
                <a:t>with declared values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23528" y="1236822"/>
              <a:ext cx="450344" cy="31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6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251520" y="3717032"/>
            <a:ext cx="8712969" cy="1584176"/>
            <a:chOff x="251520" y="1988840"/>
            <a:chExt cx="8712969" cy="924103"/>
          </a:xfrm>
        </p:grpSpPr>
        <p:sp>
          <p:nvSpPr>
            <p:cNvPr id="59" name="Rectangle 58"/>
            <p:cNvSpPr/>
            <p:nvPr/>
          </p:nvSpPr>
          <p:spPr>
            <a:xfrm>
              <a:off x="251520" y="1988840"/>
              <a:ext cx="8712969" cy="7200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51520" y="2708920"/>
              <a:ext cx="8712969" cy="2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 smtClean="0">
                  <a:solidFill>
                    <a:schemeClr val="tx1"/>
                  </a:solidFill>
                </a:rPr>
                <a:t>0	100	200	300	400	500	600	700	800	…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411760" y="3717032"/>
            <a:ext cx="1440160" cy="1234423"/>
            <a:chOff x="2411760" y="3933055"/>
            <a:chExt cx="1440160" cy="1234423"/>
          </a:xfrm>
        </p:grpSpPr>
        <p:grpSp>
          <p:nvGrpSpPr>
            <p:cNvPr id="62" name="Group 61"/>
            <p:cNvGrpSpPr/>
            <p:nvPr/>
          </p:nvGrpSpPr>
          <p:grpSpPr>
            <a:xfrm>
              <a:off x="2411760" y="3933055"/>
              <a:ext cx="1440160" cy="1234423"/>
              <a:chOff x="971600" y="3501008"/>
              <a:chExt cx="1440160" cy="720080"/>
            </a:xfrm>
          </p:grpSpPr>
          <p:sp>
            <p:nvSpPr>
              <p:cNvPr id="63" name="Rectangle 62"/>
              <p:cNvSpPr/>
              <p:nvPr/>
            </p:nvSpPr>
            <p:spPr>
              <a:xfrm>
                <a:off x="971600" y="3501008"/>
                <a:ext cx="1440160" cy="720080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200" dirty="0" smtClean="0"/>
                  <a:t>main</a:t>
                </a:r>
              </a:p>
              <a:p>
                <a:r>
                  <a:rPr lang="en-US" sz="1200" dirty="0" smtClean="0"/>
                  <a:t>x</a:t>
                </a:r>
              </a:p>
              <a:p>
                <a:endParaRPr lang="en-US" sz="1200" dirty="0" smtClean="0"/>
              </a:p>
              <a:p>
                <a:r>
                  <a:rPr lang="en-US" sz="1200" dirty="0" smtClean="0"/>
                  <a:t>y</a:t>
                </a:r>
              </a:p>
              <a:p>
                <a:endParaRPr lang="en-US" sz="1200" dirty="0" smtClean="0"/>
              </a:p>
              <a:p>
                <a:r>
                  <a:rPr lang="en-US" sz="1200" dirty="0"/>
                  <a:t>z</a:t>
                </a:r>
              </a:p>
            </p:txBody>
          </p:sp>
          <p:sp>
            <p:nvSpPr>
              <p:cNvPr id="64" name="Rectangle 63"/>
              <p:cNvSpPr/>
              <p:nvPr/>
            </p:nvSpPr>
            <p:spPr>
              <a:xfrm>
                <a:off x="1691680" y="3627023"/>
                <a:ext cx="648072" cy="16201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tx1"/>
                    </a:solidFill>
                  </a:rPr>
                  <a:t>5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5" name="Rectangle 64"/>
            <p:cNvSpPr/>
            <p:nvPr/>
          </p:nvSpPr>
          <p:spPr>
            <a:xfrm>
              <a:off x="3131840" y="4511025"/>
              <a:ext cx="648072" cy="27774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-3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3131840" y="4879449"/>
              <a:ext cx="648072" cy="27774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0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2357432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251520" y="4642849"/>
            <a:ext cx="8712969" cy="2098519"/>
            <a:chOff x="251520" y="1988840"/>
            <a:chExt cx="8712969" cy="864096"/>
          </a:xfrm>
        </p:grpSpPr>
        <p:sp>
          <p:nvSpPr>
            <p:cNvPr id="33" name="Rectangle 32"/>
            <p:cNvSpPr/>
            <p:nvPr/>
          </p:nvSpPr>
          <p:spPr>
            <a:xfrm>
              <a:off x="251520" y="1988840"/>
              <a:ext cx="8712969" cy="7200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51520" y="2708920"/>
              <a:ext cx="8712969" cy="14401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 smtClean="0">
                  <a:solidFill>
                    <a:schemeClr val="tx1"/>
                  </a:solidFill>
                </a:rPr>
                <a:t>0	100	200	300	400	500	600	700	800	…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r>
              <a:rPr lang="en-US" sz="32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PRIMITIVE DATATYPES AS PARAMETERS</a:t>
            </a:r>
            <a:endParaRPr lang="en-US" sz="32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EXAMPLE 2 - MEMORY LAYOUT(2)</a:t>
            </a:r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>
            <a:off x="179512" y="1268760"/>
            <a:ext cx="8784977" cy="338554"/>
            <a:chOff x="323528" y="1236822"/>
            <a:chExt cx="7848873" cy="318350"/>
          </a:xfrm>
        </p:grpSpPr>
        <p:sp>
          <p:nvSpPr>
            <p:cNvPr id="13" name="TextBox 12"/>
            <p:cNvSpPr txBox="1"/>
            <p:nvPr/>
          </p:nvSpPr>
          <p:spPr>
            <a:xfrm>
              <a:off x="788528" y="1236822"/>
              <a:ext cx="7383873" cy="31835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/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smallest</a:t>
              </a:r>
              <a:r>
                <a:rPr lang="en-US" sz="1600" dirty="0" smtClean="0"/>
                <a:t>; </a:t>
              </a:r>
              <a:r>
                <a:rPr lang="en-US" sz="1600" dirty="0" smtClean="0">
                  <a:solidFill>
                    <a:srgbClr val="00B050"/>
                  </a:solidFill>
                </a:rPr>
                <a:t>//memory cell allocated in </a:t>
              </a:r>
              <a:r>
                <a:rPr lang="en-US" sz="1600" b="1" dirty="0" smtClean="0">
                  <a:solidFill>
                    <a:srgbClr val="00B0F0"/>
                  </a:solidFill>
                </a:rPr>
                <a:t>main</a:t>
              </a:r>
              <a:r>
                <a:rPr lang="en-US" sz="1600" dirty="0" smtClean="0">
                  <a:solidFill>
                    <a:srgbClr val="00B050"/>
                  </a:solidFill>
                </a:rPr>
                <a:t> with unknown value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23528" y="1236822"/>
              <a:ext cx="450344" cy="31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7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251520" y="1700808"/>
            <a:ext cx="8712969" cy="2098519"/>
            <a:chOff x="251520" y="1988840"/>
            <a:chExt cx="8712969" cy="864096"/>
          </a:xfrm>
        </p:grpSpPr>
        <p:sp>
          <p:nvSpPr>
            <p:cNvPr id="59" name="Rectangle 58"/>
            <p:cNvSpPr/>
            <p:nvPr/>
          </p:nvSpPr>
          <p:spPr>
            <a:xfrm>
              <a:off x="251520" y="1988840"/>
              <a:ext cx="8712969" cy="7200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51520" y="2708920"/>
              <a:ext cx="8712969" cy="14401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 smtClean="0">
                  <a:solidFill>
                    <a:schemeClr val="tx1"/>
                  </a:solidFill>
                </a:rPr>
                <a:t>0	100	200	300	400	500	600	700	800	…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411760" y="1700807"/>
            <a:ext cx="1440160" cy="1748767"/>
            <a:chOff x="2411760" y="1700807"/>
            <a:chExt cx="1440160" cy="1748767"/>
          </a:xfrm>
        </p:grpSpPr>
        <p:grpSp>
          <p:nvGrpSpPr>
            <p:cNvPr id="3" name="Group 2"/>
            <p:cNvGrpSpPr/>
            <p:nvPr/>
          </p:nvGrpSpPr>
          <p:grpSpPr>
            <a:xfrm>
              <a:off x="2411760" y="1700807"/>
              <a:ext cx="1440160" cy="1748767"/>
              <a:chOff x="2411760" y="3933055"/>
              <a:chExt cx="1440160" cy="1234423"/>
            </a:xfrm>
          </p:grpSpPr>
          <p:grpSp>
            <p:nvGrpSpPr>
              <p:cNvPr id="62" name="Group 61"/>
              <p:cNvGrpSpPr/>
              <p:nvPr/>
            </p:nvGrpSpPr>
            <p:grpSpPr>
              <a:xfrm>
                <a:off x="2411760" y="3933055"/>
                <a:ext cx="1440160" cy="1234423"/>
                <a:chOff x="971600" y="3501008"/>
                <a:chExt cx="1440160" cy="720080"/>
              </a:xfrm>
            </p:grpSpPr>
            <p:sp>
              <p:nvSpPr>
                <p:cNvPr id="63" name="Rectangle 62"/>
                <p:cNvSpPr/>
                <p:nvPr/>
              </p:nvSpPr>
              <p:spPr>
                <a:xfrm>
                  <a:off x="971600" y="3501008"/>
                  <a:ext cx="1440160" cy="720080"/>
                </a:xfrm>
                <a:prstGeom prst="rect">
                  <a:avLst/>
                </a:prstGeom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r>
                    <a:rPr lang="en-US" sz="1200" dirty="0" smtClean="0"/>
                    <a:t>main</a:t>
                  </a:r>
                </a:p>
                <a:p>
                  <a:r>
                    <a:rPr lang="en-US" sz="1200" dirty="0" smtClean="0"/>
                    <a:t>x</a:t>
                  </a:r>
                </a:p>
                <a:p>
                  <a:endParaRPr lang="en-US" sz="1200" dirty="0" smtClean="0"/>
                </a:p>
                <a:p>
                  <a:r>
                    <a:rPr lang="en-US" sz="1200" dirty="0" smtClean="0"/>
                    <a:t>y</a:t>
                  </a:r>
                </a:p>
                <a:p>
                  <a:endParaRPr lang="en-US" sz="1200" dirty="0" smtClean="0"/>
                </a:p>
                <a:p>
                  <a:r>
                    <a:rPr lang="en-US" sz="1200" dirty="0" smtClean="0"/>
                    <a:t>z</a:t>
                  </a:r>
                </a:p>
                <a:p>
                  <a:endParaRPr lang="en-US" sz="1200" dirty="0" smtClean="0"/>
                </a:p>
                <a:p>
                  <a:r>
                    <a:rPr lang="en-US" sz="1200" dirty="0" smtClean="0"/>
                    <a:t>smallest</a:t>
                  </a:r>
                  <a:endParaRPr lang="en-US" sz="1200" dirty="0"/>
                </a:p>
              </p:txBody>
            </p:sp>
            <p:sp>
              <p:nvSpPr>
                <p:cNvPr id="64" name="Rectangle 63"/>
                <p:cNvSpPr/>
                <p:nvPr/>
              </p:nvSpPr>
              <p:spPr>
                <a:xfrm>
                  <a:off x="1691680" y="3589959"/>
                  <a:ext cx="648072" cy="8100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 smtClean="0">
                      <a:solidFill>
                        <a:schemeClr val="tx1"/>
                      </a:solidFill>
                    </a:rPr>
                    <a:t>5</a:t>
                  </a:r>
                  <a:endParaRPr lang="en-US" sz="12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65" name="Rectangle 64"/>
              <p:cNvSpPr/>
              <p:nvPr/>
            </p:nvSpPr>
            <p:spPr>
              <a:xfrm>
                <a:off x="3131840" y="4353305"/>
                <a:ext cx="648072" cy="13887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tx1"/>
                    </a:solidFill>
                  </a:rPr>
                  <a:t>-3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Rectangle 65"/>
              <p:cNvSpPr/>
              <p:nvPr/>
            </p:nvSpPr>
            <p:spPr>
              <a:xfrm>
                <a:off x="3131840" y="4607451"/>
                <a:ext cx="648072" cy="13887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tx1"/>
                    </a:solidFill>
                  </a:rPr>
                  <a:t>0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7" name="Rectangle 26"/>
            <p:cNvSpPr/>
            <p:nvPr/>
          </p:nvSpPr>
          <p:spPr>
            <a:xfrm>
              <a:off x="3131840" y="3212976"/>
              <a:ext cx="648072" cy="1967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?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179512" y="3933056"/>
            <a:ext cx="8784977" cy="584775"/>
            <a:chOff x="323528" y="1236822"/>
            <a:chExt cx="7848873" cy="549877"/>
          </a:xfrm>
        </p:grpSpPr>
        <p:sp>
          <p:nvSpPr>
            <p:cNvPr id="29" name="TextBox 28"/>
            <p:cNvSpPr txBox="1"/>
            <p:nvPr/>
          </p:nvSpPr>
          <p:spPr>
            <a:xfrm>
              <a:off x="788528" y="1236822"/>
              <a:ext cx="7383873" cy="549877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rgbClr val="0000FF"/>
                  </a:solidFill>
                </a:rPr>
                <a:t>smallest</a:t>
              </a:r>
              <a:r>
                <a:rPr lang="en-US" sz="1600" dirty="0" smtClean="0"/>
                <a:t> = </a:t>
              </a:r>
              <a:r>
                <a:rPr lang="en-US" sz="1600" dirty="0" smtClean="0">
                  <a:solidFill>
                    <a:srgbClr val="0000FF"/>
                  </a:solidFill>
                </a:rPr>
                <a:t>minimum </a:t>
              </a:r>
              <a:r>
                <a:rPr lang="en-US" sz="1600" dirty="0" smtClean="0"/>
                <a:t>(</a:t>
              </a:r>
              <a:r>
                <a:rPr lang="en-US" sz="1600" dirty="0" smtClean="0">
                  <a:solidFill>
                    <a:srgbClr val="0000FF"/>
                  </a:solidFill>
                </a:rPr>
                <a:t>x</a:t>
              </a:r>
              <a:r>
                <a:rPr lang="en-US" sz="1600" dirty="0" smtClean="0"/>
                <a:t>, </a:t>
              </a:r>
              <a:r>
                <a:rPr lang="en-US" sz="1600" dirty="0" smtClean="0">
                  <a:solidFill>
                    <a:srgbClr val="0000FF"/>
                  </a:solidFill>
                </a:rPr>
                <a:t>y</a:t>
              </a:r>
              <a:r>
                <a:rPr lang="en-US" sz="1600" dirty="0" smtClean="0"/>
                <a:t>, </a:t>
              </a:r>
              <a:r>
                <a:rPr lang="en-US" sz="1600" dirty="0" smtClean="0">
                  <a:solidFill>
                    <a:srgbClr val="0000FF"/>
                  </a:solidFill>
                </a:rPr>
                <a:t>z</a:t>
              </a:r>
              <a:r>
                <a:rPr lang="en-US" sz="1600" dirty="0" smtClean="0"/>
                <a:t>); </a:t>
              </a:r>
              <a:r>
                <a:rPr lang="en-US" sz="1600" dirty="0" smtClean="0">
                  <a:solidFill>
                    <a:srgbClr val="00B050"/>
                  </a:solidFill>
                </a:rPr>
                <a:t>/*control is transferred to </a:t>
              </a:r>
              <a:r>
                <a:rPr lang="en-US" sz="1600" dirty="0" smtClean="0">
                  <a:solidFill>
                    <a:srgbClr val="0000FF"/>
                  </a:solidFill>
                </a:rPr>
                <a:t>minimum</a:t>
              </a:r>
              <a:r>
                <a:rPr lang="en-US" sz="1600" dirty="0" smtClean="0">
                  <a:solidFill>
                    <a:srgbClr val="00B050"/>
                  </a:solidFill>
                </a:rPr>
                <a:t>. Actual parameters are copied into formal parameters. </a:t>
              </a:r>
              <a:r>
                <a:rPr lang="en-US" sz="1600" dirty="0" smtClean="0">
                  <a:solidFill>
                    <a:srgbClr val="00B0F0"/>
                  </a:solidFill>
                </a:rPr>
                <a:t>main </a:t>
              </a:r>
              <a:r>
                <a:rPr lang="en-US" sz="1600" dirty="0" smtClean="0">
                  <a:solidFill>
                    <a:srgbClr val="00B050"/>
                  </a:solidFill>
                </a:rPr>
                <a:t>is suspended.*/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23528" y="1236822"/>
              <a:ext cx="450344" cy="31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</a:rPr>
                <a:t>8</a:t>
              </a:r>
              <a:endParaRPr lang="en-US" sz="1600" dirty="0" smtClean="0">
                <a:solidFill>
                  <a:srgbClr val="FF0000"/>
                </a:solidFill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2411760" y="4642849"/>
            <a:ext cx="1440160" cy="1748767"/>
            <a:chOff x="2411760" y="1700807"/>
            <a:chExt cx="1440160" cy="1748767"/>
          </a:xfrm>
          <a:solidFill>
            <a:schemeClr val="bg1">
              <a:lumMod val="65000"/>
            </a:schemeClr>
          </a:solidFill>
        </p:grpSpPr>
        <p:grpSp>
          <p:nvGrpSpPr>
            <p:cNvPr id="36" name="Group 35"/>
            <p:cNvGrpSpPr/>
            <p:nvPr/>
          </p:nvGrpSpPr>
          <p:grpSpPr>
            <a:xfrm>
              <a:off x="2411760" y="1700807"/>
              <a:ext cx="1440160" cy="1748767"/>
              <a:chOff x="2411760" y="3933055"/>
              <a:chExt cx="1440160" cy="1234423"/>
            </a:xfrm>
            <a:grpFill/>
          </p:grpSpPr>
          <p:grpSp>
            <p:nvGrpSpPr>
              <p:cNvPr id="38" name="Group 37"/>
              <p:cNvGrpSpPr/>
              <p:nvPr/>
            </p:nvGrpSpPr>
            <p:grpSpPr>
              <a:xfrm>
                <a:off x="2411760" y="3933055"/>
                <a:ext cx="1440160" cy="1234423"/>
                <a:chOff x="971600" y="3501008"/>
                <a:chExt cx="1440160" cy="720080"/>
              </a:xfrm>
              <a:grpFill/>
            </p:grpSpPr>
            <p:sp>
              <p:nvSpPr>
                <p:cNvPr id="41" name="Rectangle 40"/>
                <p:cNvSpPr/>
                <p:nvPr/>
              </p:nvSpPr>
              <p:spPr>
                <a:xfrm>
                  <a:off x="971600" y="3501008"/>
                  <a:ext cx="1440160" cy="720080"/>
                </a:xfrm>
                <a:prstGeom prst="rect">
                  <a:avLst/>
                </a:prstGeom>
                <a:grpFill/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r>
                    <a:rPr lang="en-US" sz="1200" dirty="0" smtClean="0"/>
                    <a:t>main</a:t>
                  </a:r>
                </a:p>
                <a:p>
                  <a:r>
                    <a:rPr lang="en-US" sz="1200" dirty="0" smtClean="0"/>
                    <a:t>x</a:t>
                  </a:r>
                </a:p>
                <a:p>
                  <a:endParaRPr lang="en-US" sz="1200" dirty="0" smtClean="0"/>
                </a:p>
                <a:p>
                  <a:r>
                    <a:rPr lang="en-US" sz="1200" dirty="0" smtClean="0"/>
                    <a:t>y</a:t>
                  </a:r>
                </a:p>
                <a:p>
                  <a:endParaRPr lang="en-US" sz="1200" dirty="0" smtClean="0"/>
                </a:p>
                <a:p>
                  <a:r>
                    <a:rPr lang="en-US" sz="1200" dirty="0" smtClean="0"/>
                    <a:t>z</a:t>
                  </a:r>
                </a:p>
                <a:p>
                  <a:endParaRPr lang="en-US" sz="1200" dirty="0" smtClean="0"/>
                </a:p>
                <a:p>
                  <a:r>
                    <a:rPr lang="en-US" sz="1200" dirty="0" smtClean="0"/>
                    <a:t>smallest</a:t>
                  </a:r>
                  <a:endParaRPr lang="en-US" sz="1200" dirty="0"/>
                </a:p>
              </p:txBody>
            </p:sp>
            <p:sp>
              <p:nvSpPr>
                <p:cNvPr id="42" name="Rectangle 41"/>
                <p:cNvSpPr/>
                <p:nvPr/>
              </p:nvSpPr>
              <p:spPr>
                <a:xfrm>
                  <a:off x="1691680" y="3589959"/>
                  <a:ext cx="648072" cy="81008"/>
                </a:xfrm>
                <a:prstGeom prst="rect">
                  <a:avLst/>
                </a:prstGeom>
                <a:grpFill/>
                <a:ln w="12700"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 smtClean="0">
                      <a:solidFill>
                        <a:schemeClr val="tx1"/>
                      </a:solidFill>
                    </a:rPr>
                    <a:t>5</a:t>
                  </a:r>
                  <a:endParaRPr lang="en-US" sz="12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9" name="Rectangle 38"/>
              <p:cNvSpPr/>
              <p:nvPr/>
            </p:nvSpPr>
            <p:spPr>
              <a:xfrm>
                <a:off x="3131840" y="4353305"/>
                <a:ext cx="648072" cy="138871"/>
              </a:xfrm>
              <a:prstGeom prst="rect">
                <a:avLst/>
              </a:prstGeom>
              <a:grpFill/>
              <a:ln w="1270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tx1"/>
                    </a:solidFill>
                  </a:rPr>
                  <a:t>-3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3131840" y="4607451"/>
                <a:ext cx="648072" cy="138871"/>
              </a:xfrm>
              <a:prstGeom prst="rect">
                <a:avLst/>
              </a:prstGeom>
              <a:grpFill/>
              <a:ln w="1270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tx1"/>
                    </a:solidFill>
                  </a:rPr>
                  <a:t>0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7" name="Rectangle 36"/>
            <p:cNvSpPr/>
            <p:nvPr/>
          </p:nvSpPr>
          <p:spPr>
            <a:xfrm>
              <a:off x="3131840" y="3212976"/>
              <a:ext cx="648072" cy="196734"/>
            </a:xfrm>
            <a:prstGeom prst="rect">
              <a:avLst/>
            </a:prstGeom>
            <a:grpFill/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?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4572000" y="4642849"/>
            <a:ext cx="1440160" cy="1748767"/>
            <a:chOff x="2411760" y="3933055"/>
            <a:chExt cx="1440160" cy="1234423"/>
          </a:xfrm>
        </p:grpSpPr>
        <p:grpSp>
          <p:nvGrpSpPr>
            <p:cNvPr id="46" name="Group 45"/>
            <p:cNvGrpSpPr/>
            <p:nvPr/>
          </p:nvGrpSpPr>
          <p:grpSpPr>
            <a:xfrm>
              <a:off x="2411760" y="3933055"/>
              <a:ext cx="1440160" cy="1234423"/>
              <a:chOff x="971600" y="3501008"/>
              <a:chExt cx="1440160" cy="720080"/>
            </a:xfrm>
          </p:grpSpPr>
          <p:sp>
            <p:nvSpPr>
              <p:cNvPr id="49" name="Rectangle 48"/>
              <p:cNvSpPr/>
              <p:nvPr/>
            </p:nvSpPr>
            <p:spPr>
              <a:xfrm>
                <a:off x="971600" y="3501008"/>
                <a:ext cx="1440160" cy="720080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200" dirty="0" smtClean="0"/>
                  <a:t>minimum</a:t>
                </a:r>
              </a:p>
              <a:p>
                <a:r>
                  <a:rPr lang="en-US" sz="1200" dirty="0" smtClean="0"/>
                  <a:t>num1</a:t>
                </a:r>
              </a:p>
              <a:p>
                <a:endParaRPr lang="en-US" sz="1200" dirty="0" smtClean="0"/>
              </a:p>
              <a:p>
                <a:r>
                  <a:rPr lang="en-US" sz="1200" dirty="0" smtClean="0"/>
                  <a:t>num2</a:t>
                </a:r>
              </a:p>
              <a:p>
                <a:endParaRPr lang="en-US" sz="1200" dirty="0" smtClean="0"/>
              </a:p>
              <a:p>
                <a:r>
                  <a:rPr lang="en-US" sz="1200" dirty="0" smtClean="0"/>
                  <a:t>num3</a:t>
                </a:r>
              </a:p>
              <a:p>
                <a:endParaRPr lang="en-US" sz="1200" dirty="0" smtClean="0"/>
              </a:p>
            </p:txBody>
          </p:sp>
          <p:sp>
            <p:nvSpPr>
              <p:cNvPr id="50" name="Rectangle 49"/>
              <p:cNvSpPr/>
              <p:nvPr/>
            </p:nvSpPr>
            <p:spPr>
              <a:xfrm>
                <a:off x="1691680" y="3589959"/>
                <a:ext cx="648072" cy="8100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tx1"/>
                    </a:solidFill>
                  </a:rPr>
                  <a:t>5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7" name="Rectangle 46"/>
            <p:cNvSpPr/>
            <p:nvPr/>
          </p:nvSpPr>
          <p:spPr>
            <a:xfrm>
              <a:off x="3131840" y="4353305"/>
              <a:ext cx="648072" cy="13887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-3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3131840" y="4607451"/>
              <a:ext cx="648072" cy="13887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0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398849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251520" y="1700808"/>
            <a:ext cx="8712969" cy="2098519"/>
            <a:chOff x="251520" y="1988840"/>
            <a:chExt cx="8712969" cy="864096"/>
          </a:xfrm>
        </p:grpSpPr>
        <p:sp>
          <p:nvSpPr>
            <p:cNvPr id="33" name="Rectangle 32"/>
            <p:cNvSpPr/>
            <p:nvPr/>
          </p:nvSpPr>
          <p:spPr>
            <a:xfrm>
              <a:off x="251520" y="1988840"/>
              <a:ext cx="8712969" cy="7200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51520" y="2708920"/>
              <a:ext cx="8712969" cy="14401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 smtClean="0">
                  <a:solidFill>
                    <a:schemeClr val="tx1"/>
                  </a:solidFill>
                </a:rPr>
                <a:t>0	100	200	300	400	500	600	700	800	…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r>
              <a:rPr lang="en-US" sz="32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PRIMITIVE DATATYPES AS PARAMETERS</a:t>
            </a:r>
            <a:endParaRPr lang="en-US" sz="32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EXAMPLE 2 - MEMORY LAYOUT(3)</a:t>
            </a:r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>
            <a:off x="179512" y="1268760"/>
            <a:ext cx="8784977" cy="338554"/>
            <a:chOff x="323528" y="1236822"/>
            <a:chExt cx="7848873" cy="318350"/>
          </a:xfrm>
        </p:grpSpPr>
        <p:sp>
          <p:nvSpPr>
            <p:cNvPr id="13" name="TextBox 12"/>
            <p:cNvSpPr txBox="1"/>
            <p:nvPr/>
          </p:nvSpPr>
          <p:spPr>
            <a:xfrm>
              <a:off x="788528" y="1236822"/>
              <a:ext cx="7383873" cy="31835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err="1" smtClean="0">
                  <a:solidFill>
                    <a:srgbClr val="00B0F0"/>
                  </a:solidFill>
                </a:rPr>
                <a:t>int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min</a:t>
              </a:r>
              <a:r>
                <a:rPr lang="en-US" sz="1600" dirty="0" smtClean="0"/>
                <a:t> =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num1</a:t>
              </a:r>
              <a:r>
                <a:rPr lang="en-US" sz="1600" dirty="0" smtClean="0"/>
                <a:t>;</a:t>
              </a:r>
              <a:r>
                <a:rPr lang="en-US" sz="1600" dirty="0" smtClean="0">
                  <a:solidFill>
                    <a:srgbClr val="00B050"/>
                  </a:solidFill>
                </a:rPr>
                <a:t>//memory cell allocated to </a:t>
              </a:r>
              <a:r>
                <a:rPr lang="en-US" sz="1600" dirty="0" smtClean="0">
                  <a:solidFill>
                    <a:srgbClr val="0000FF"/>
                  </a:solidFill>
                </a:rPr>
                <a:t>min </a:t>
              </a:r>
              <a:r>
                <a:rPr lang="en-US" sz="1600" dirty="0" smtClean="0">
                  <a:solidFill>
                    <a:srgbClr val="00B050"/>
                  </a:solidFill>
                </a:rPr>
                <a:t>in memory space of </a:t>
              </a:r>
              <a:r>
                <a:rPr lang="en-US" sz="1600" dirty="0" smtClean="0">
                  <a:solidFill>
                    <a:srgbClr val="0000FF"/>
                  </a:solidFill>
                </a:rPr>
                <a:t>minimum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23528" y="1236822"/>
              <a:ext cx="450344" cy="31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14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2411760" y="1700808"/>
            <a:ext cx="1440160" cy="1748767"/>
            <a:chOff x="2411760" y="1700807"/>
            <a:chExt cx="1440160" cy="1748767"/>
          </a:xfrm>
          <a:solidFill>
            <a:schemeClr val="bg1">
              <a:lumMod val="65000"/>
            </a:schemeClr>
          </a:solidFill>
        </p:grpSpPr>
        <p:grpSp>
          <p:nvGrpSpPr>
            <p:cNvPr id="36" name="Group 35"/>
            <p:cNvGrpSpPr/>
            <p:nvPr/>
          </p:nvGrpSpPr>
          <p:grpSpPr>
            <a:xfrm>
              <a:off x="2411760" y="1700807"/>
              <a:ext cx="1440160" cy="1748767"/>
              <a:chOff x="2411760" y="3933055"/>
              <a:chExt cx="1440160" cy="1234423"/>
            </a:xfrm>
            <a:grpFill/>
          </p:grpSpPr>
          <p:grpSp>
            <p:nvGrpSpPr>
              <p:cNvPr id="38" name="Group 37"/>
              <p:cNvGrpSpPr/>
              <p:nvPr/>
            </p:nvGrpSpPr>
            <p:grpSpPr>
              <a:xfrm>
                <a:off x="2411760" y="3933055"/>
                <a:ext cx="1440160" cy="1234423"/>
                <a:chOff x="971600" y="3501008"/>
                <a:chExt cx="1440160" cy="720080"/>
              </a:xfrm>
              <a:grpFill/>
            </p:grpSpPr>
            <p:sp>
              <p:nvSpPr>
                <p:cNvPr id="41" name="Rectangle 40"/>
                <p:cNvSpPr/>
                <p:nvPr/>
              </p:nvSpPr>
              <p:spPr>
                <a:xfrm>
                  <a:off x="971600" y="3501008"/>
                  <a:ext cx="1440160" cy="720080"/>
                </a:xfrm>
                <a:prstGeom prst="rect">
                  <a:avLst/>
                </a:prstGeom>
                <a:grpFill/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r>
                    <a:rPr lang="en-US" sz="1200" dirty="0" smtClean="0"/>
                    <a:t>main</a:t>
                  </a:r>
                </a:p>
                <a:p>
                  <a:r>
                    <a:rPr lang="en-US" sz="1200" dirty="0" smtClean="0"/>
                    <a:t>x</a:t>
                  </a:r>
                </a:p>
                <a:p>
                  <a:endParaRPr lang="en-US" sz="1200" dirty="0" smtClean="0"/>
                </a:p>
                <a:p>
                  <a:r>
                    <a:rPr lang="en-US" sz="1200" dirty="0" smtClean="0"/>
                    <a:t>y</a:t>
                  </a:r>
                </a:p>
                <a:p>
                  <a:endParaRPr lang="en-US" sz="1200" dirty="0" smtClean="0"/>
                </a:p>
                <a:p>
                  <a:r>
                    <a:rPr lang="en-US" sz="1200" dirty="0" smtClean="0"/>
                    <a:t>z</a:t>
                  </a:r>
                </a:p>
                <a:p>
                  <a:endParaRPr lang="en-US" sz="1200" dirty="0" smtClean="0"/>
                </a:p>
                <a:p>
                  <a:r>
                    <a:rPr lang="en-US" sz="1200" dirty="0" smtClean="0"/>
                    <a:t>smallest</a:t>
                  </a:r>
                  <a:endParaRPr lang="en-US" sz="1200" dirty="0"/>
                </a:p>
              </p:txBody>
            </p:sp>
            <p:sp>
              <p:nvSpPr>
                <p:cNvPr id="42" name="Rectangle 41"/>
                <p:cNvSpPr/>
                <p:nvPr/>
              </p:nvSpPr>
              <p:spPr>
                <a:xfrm>
                  <a:off x="1691680" y="3589959"/>
                  <a:ext cx="648072" cy="81008"/>
                </a:xfrm>
                <a:prstGeom prst="rect">
                  <a:avLst/>
                </a:prstGeom>
                <a:grpFill/>
                <a:ln w="12700"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 smtClean="0">
                      <a:solidFill>
                        <a:schemeClr val="tx1"/>
                      </a:solidFill>
                    </a:rPr>
                    <a:t>5</a:t>
                  </a:r>
                  <a:endParaRPr lang="en-US" sz="12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9" name="Rectangle 38"/>
              <p:cNvSpPr/>
              <p:nvPr/>
            </p:nvSpPr>
            <p:spPr>
              <a:xfrm>
                <a:off x="3131840" y="4353305"/>
                <a:ext cx="648072" cy="138871"/>
              </a:xfrm>
              <a:prstGeom prst="rect">
                <a:avLst/>
              </a:prstGeom>
              <a:grpFill/>
              <a:ln w="1270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tx1"/>
                    </a:solidFill>
                  </a:rPr>
                  <a:t>-3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3131840" y="4607451"/>
                <a:ext cx="648072" cy="138871"/>
              </a:xfrm>
              <a:prstGeom prst="rect">
                <a:avLst/>
              </a:prstGeom>
              <a:grpFill/>
              <a:ln w="1270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tx1"/>
                    </a:solidFill>
                  </a:rPr>
                  <a:t>0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7" name="Rectangle 36"/>
            <p:cNvSpPr/>
            <p:nvPr/>
          </p:nvSpPr>
          <p:spPr>
            <a:xfrm>
              <a:off x="3131840" y="3212976"/>
              <a:ext cx="648072" cy="196734"/>
            </a:xfrm>
            <a:prstGeom prst="rect">
              <a:avLst/>
            </a:prstGeom>
            <a:grpFill/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?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4572000" y="1700808"/>
            <a:ext cx="1440160" cy="1748767"/>
            <a:chOff x="4572000" y="1700808"/>
            <a:chExt cx="1440160" cy="1748767"/>
          </a:xfrm>
        </p:grpSpPr>
        <p:grpSp>
          <p:nvGrpSpPr>
            <p:cNvPr id="44" name="Group 43"/>
            <p:cNvGrpSpPr/>
            <p:nvPr/>
          </p:nvGrpSpPr>
          <p:grpSpPr>
            <a:xfrm>
              <a:off x="4572000" y="1700808"/>
              <a:ext cx="1440160" cy="1748767"/>
              <a:chOff x="2411760" y="3933055"/>
              <a:chExt cx="1440160" cy="1234423"/>
            </a:xfrm>
          </p:grpSpPr>
          <p:grpSp>
            <p:nvGrpSpPr>
              <p:cNvPr id="46" name="Group 45"/>
              <p:cNvGrpSpPr/>
              <p:nvPr/>
            </p:nvGrpSpPr>
            <p:grpSpPr>
              <a:xfrm>
                <a:off x="2411760" y="3933055"/>
                <a:ext cx="1440160" cy="1234423"/>
                <a:chOff x="971600" y="3501008"/>
                <a:chExt cx="1440160" cy="720080"/>
              </a:xfrm>
            </p:grpSpPr>
            <p:sp>
              <p:nvSpPr>
                <p:cNvPr id="49" name="Rectangle 48"/>
                <p:cNvSpPr/>
                <p:nvPr/>
              </p:nvSpPr>
              <p:spPr>
                <a:xfrm>
                  <a:off x="971600" y="3501008"/>
                  <a:ext cx="1440160" cy="720080"/>
                </a:xfrm>
                <a:prstGeom prst="rect">
                  <a:avLst/>
                </a:prstGeom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r>
                    <a:rPr lang="en-US" sz="1200" dirty="0" smtClean="0"/>
                    <a:t>minimum</a:t>
                  </a:r>
                </a:p>
                <a:p>
                  <a:r>
                    <a:rPr lang="en-US" sz="1200" dirty="0" smtClean="0"/>
                    <a:t>num1</a:t>
                  </a:r>
                </a:p>
                <a:p>
                  <a:endParaRPr lang="en-US" sz="1200" dirty="0" smtClean="0"/>
                </a:p>
                <a:p>
                  <a:r>
                    <a:rPr lang="en-US" sz="1200" dirty="0" smtClean="0"/>
                    <a:t>num2</a:t>
                  </a:r>
                </a:p>
                <a:p>
                  <a:endParaRPr lang="en-US" sz="1200" dirty="0" smtClean="0"/>
                </a:p>
                <a:p>
                  <a:r>
                    <a:rPr lang="en-US" sz="1200" dirty="0" smtClean="0"/>
                    <a:t>num3</a:t>
                  </a:r>
                </a:p>
                <a:p>
                  <a:endParaRPr lang="en-US" sz="1200" dirty="0" smtClean="0"/>
                </a:p>
                <a:p>
                  <a:r>
                    <a:rPr lang="en-US" sz="1200" dirty="0" smtClean="0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a:rPr>
                    <a:t>min</a:t>
                  </a:r>
                </a:p>
                <a:p>
                  <a:endParaRPr lang="en-US" sz="1200" dirty="0" smtClean="0"/>
                </a:p>
              </p:txBody>
            </p:sp>
            <p:sp>
              <p:nvSpPr>
                <p:cNvPr id="50" name="Rectangle 49"/>
                <p:cNvSpPr/>
                <p:nvPr/>
              </p:nvSpPr>
              <p:spPr>
                <a:xfrm>
                  <a:off x="1691680" y="3589959"/>
                  <a:ext cx="648072" cy="8100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 smtClean="0">
                      <a:solidFill>
                        <a:schemeClr val="tx1"/>
                      </a:solidFill>
                    </a:rPr>
                    <a:t>5</a:t>
                  </a:r>
                  <a:endParaRPr lang="en-US" sz="12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7" name="Rectangle 46"/>
              <p:cNvSpPr/>
              <p:nvPr/>
            </p:nvSpPr>
            <p:spPr>
              <a:xfrm>
                <a:off x="3131840" y="4353305"/>
                <a:ext cx="648072" cy="13887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tx1"/>
                    </a:solidFill>
                  </a:rPr>
                  <a:t>-3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Rectangle 47"/>
              <p:cNvSpPr/>
              <p:nvPr/>
            </p:nvSpPr>
            <p:spPr>
              <a:xfrm>
                <a:off x="3131840" y="4607451"/>
                <a:ext cx="648072" cy="13887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tx1"/>
                    </a:solidFill>
                  </a:rPr>
                  <a:t>0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3" name="Rectangle 42"/>
            <p:cNvSpPr/>
            <p:nvPr/>
          </p:nvSpPr>
          <p:spPr>
            <a:xfrm>
              <a:off x="5292080" y="3016242"/>
              <a:ext cx="648072" cy="19673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251520" y="4714857"/>
            <a:ext cx="8712969" cy="2098519"/>
            <a:chOff x="251520" y="1988840"/>
            <a:chExt cx="8712969" cy="864096"/>
          </a:xfrm>
        </p:grpSpPr>
        <p:sp>
          <p:nvSpPr>
            <p:cNvPr id="57" name="Rectangle 56"/>
            <p:cNvSpPr/>
            <p:nvPr/>
          </p:nvSpPr>
          <p:spPr>
            <a:xfrm>
              <a:off x="251520" y="1988840"/>
              <a:ext cx="8712969" cy="7200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251520" y="2708920"/>
              <a:ext cx="8712969" cy="14401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 smtClean="0">
                  <a:solidFill>
                    <a:schemeClr val="tx1"/>
                  </a:solidFill>
                </a:rPr>
                <a:t>0	100	200	300	400	500	600	700	800	…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2411760" y="4714857"/>
            <a:ext cx="1440160" cy="1748767"/>
            <a:chOff x="2411760" y="1700807"/>
            <a:chExt cx="1440160" cy="1748767"/>
          </a:xfrm>
          <a:solidFill>
            <a:schemeClr val="bg1">
              <a:lumMod val="65000"/>
            </a:schemeClr>
          </a:solidFill>
        </p:grpSpPr>
        <p:grpSp>
          <p:nvGrpSpPr>
            <p:cNvPr id="68" name="Group 67"/>
            <p:cNvGrpSpPr/>
            <p:nvPr/>
          </p:nvGrpSpPr>
          <p:grpSpPr>
            <a:xfrm>
              <a:off x="2411760" y="1700807"/>
              <a:ext cx="1440160" cy="1748767"/>
              <a:chOff x="2411760" y="3933055"/>
              <a:chExt cx="1440160" cy="1234423"/>
            </a:xfrm>
            <a:grpFill/>
          </p:grpSpPr>
          <p:grpSp>
            <p:nvGrpSpPr>
              <p:cNvPr id="70" name="Group 69"/>
              <p:cNvGrpSpPr/>
              <p:nvPr/>
            </p:nvGrpSpPr>
            <p:grpSpPr>
              <a:xfrm>
                <a:off x="2411760" y="3933055"/>
                <a:ext cx="1440160" cy="1234423"/>
                <a:chOff x="971600" y="3501008"/>
                <a:chExt cx="1440160" cy="720080"/>
              </a:xfrm>
              <a:grpFill/>
            </p:grpSpPr>
            <p:sp>
              <p:nvSpPr>
                <p:cNvPr id="73" name="Rectangle 72"/>
                <p:cNvSpPr/>
                <p:nvPr/>
              </p:nvSpPr>
              <p:spPr>
                <a:xfrm>
                  <a:off x="971600" y="3501008"/>
                  <a:ext cx="1440160" cy="720080"/>
                </a:xfrm>
                <a:prstGeom prst="rect">
                  <a:avLst/>
                </a:prstGeom>
                <a:grpFill/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r>
                    <a:rPr lang="en-US" sz="1200" dirty="0" smtClean="0"/>
                    <a:t>main</a:t>
                  </a:r>
                </a:p>
                <a:p>
                  <a:r>
                    <a:rPr lang="en-US" sz="1200" dirty="0" smtClean="0"/>
                    <a:t>x</a:t>
                  </a:r>
                </a:p>
                <a:p>
                  <a:endParaRPr lang="en-US" sz="1200" dirty="0" smtClean="0"/>
                </a:p>
                <a:p>
                  <a:r>
                    <a:rPr lang="en-US" sz="1200" dirty="0" smtClean="0"/>
                    <a:t>y</a:t>
                  </a:r>
                </a:p>
                <a:p>
                  <a:endParaRPr lang="en-US" sz="1200" dirty="0" smtClean="0"/>
                </a:p>
                <a:p>
                  <a:r>
                    <a:rPr lang="en-US" sz="1200" dirty="0" smtClean="0"/>
                    <a:t>z</a:t>
                  </a:r>
                </a:p>
                <a:p>
                  <a:endParaRPr lang="en-US" sz="1200" dirty="0" smtClean="0"/>
                </a:p>
                <a:p>
                  <a:r>
                    <a:rPr lang="en-US" sz="1200" dirty="0" smtClean="0"/>
                    <a:t>smallest</a:t>
                  </a:r>
                  <a:endParaRPr lang="en-US" sz="1200" dirty="0"/>
                </a:p>
              </p:txBody>
            </p:sp>
            <p:sp>
              <p:nvSpPr>
                <p:cNvPr id="74" name="Rectangle 73"/>
                <p:cNvSpPr/>
                <p:nvPr/>
              </p:nvSpPr>
              <p:spPr>
                <a:xfrm>
                  <a:off x="1691680" y="3589959"/>
                  <a:ext cx="648072" cy="81008"/>
                </a:xfrm>
                <a:prstGeom prst="rect">
                  <a:avLst/>
                </a:prstGeom>
                <a:grpFill/>
                <a:ln w="12700"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 smtClean="0">
                      <a:solidFill>
                        <a:schemeClr val="tx1"/>
                      </a:solidFill>
                    </a:rPr>
                    <a:t>5</a:t>
                  </a:r>
                  <a:endParaRPr lang="en-US" sz="12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71" name="Rectangle 70"/>
              <p:cNvSpPr/>
              <p:nvPr/>
            </p:nvSpPr>
            <p:spPr>
              <a:xfrm>
                <a:off x="3131840" y="4353305"/>
                <a:ext cx="648072" cy="138871"/>
              </a:xfrm>
              <a:prstGeom prst="rect">
                <a:avLst/>
              </a:prstGeom>
              <a:grpFill/>
              <a:ln w="1270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tx1"/>
                    </a:solidFill>
                  </a:rPr>
                  <a:t>-3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Rectangle 71"/>
              <p:cNvSpPr/>
              <p:nvPr/>
            </p:nvSpPr>
            <p:spPr>
              <a:xfrm>
                <a:off x="3131840" y="4607451"/>
                <a:ext cx="648072" cy="138871"/>
              </a:xfrm>
              <a:prstGeom prst="rect">
                <a:avLst/>
              </a:prstGeom>
              <a:grpFill/>
              <a:ln w="1270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tx1"/>
                    </a:solidFill>
                  </a:rPr>
                  <a:t>0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9" name="Rectangle 68"/>
            <p:cNvSpPr/>
            <p:nvPr/>
          </p:nvSpPr>
          <p:spPr>
            <a:xfrm>
              <a:off x="3131840" y="3212976"/>
              <a:ext cx="648072" cy="196734"/>
            </a:xfrm>
            <a:prstGeom prst="rect">
              <a:avLst/>
            </a:prstGeom>
            <a:grpFill/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?</a:t>
              </a: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4572000" y="4714857"/>
            <a:ext cx="1440160" cy="1748767"/>
            <a:chOff x="4572000" y="1700808"/>
            <a:chExt cx="1440160" cy="1748767"/>
          </a:xfrm>
        </p:grpSpPr>
        <p:grpSp>
          <p:nvGrpSpPr>
            <p:cNvPr id="76" name="Group 75"/>
            <p:cNvGrpSpPr/>
            <p:nvPr/>
          </p:nvGrpSpPr>
          <p:grpSpPr>
            <a:xfrm>
              <a:off x="4572000" y="1700808"/>
              <a:ext cx="1440160" cy="1748767"/>
              <a:chOff x="2411760" y="3933055"/>
              <a:chExt cx="1440160" cy="1234423"/>
            </a:xfrm>
          </p:grpSpPr>
          <p:grpSp>
            <p:nvGrpSpPr>
              <p:cNvPr id="78" name="Group 77"/>
              <p:cNvGrpSpPr/>
              <p:nvPr/>
            </p:nvGrpSpPr>
            <p:grpSpPr>
              <a:xfrm>
                <a:off x="2411760" y="3933055"/>
                <a:ext cx="1440160" cy="1234423"/>
                <a:chOff x="971600" y="3501008"/>
                <a:chExt cx="1440160" cy="72008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71600" y="3501008"/>
                  <a:ext cx="1440160" cy="720080"/>
                </a:xfrm>
                <a:prstGeom prst="rect">
                  <a:avLst/>
                </a:prstGeom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r>
                    <a:rPr lang="en-US" sz="1200" dirty="0" smtClean="0"/>
                    <a:t>minimum</a:t>
                  </a:r>
                </a:p>
                <a:p>
                  <a:r>
                    <a:rPr lang="en-US" sz="1200" dirty="0" smtClean="0"/>
                    <a:t>num1</a:t>
                  </a:r>
                </a:p>
                <a:p>
                  <a:endParaRPr lang="en-US" sz="1200" dirty="0" smtClean="0"/>
                </a:p>
                <a:p>
                  <a:r>
                    <a:rPr lang="en-US" sz="1200" dirty="0" smtClean="0"/>
                    <a:t>num2</a:t>
                  </a:r>
                </a:p>
                <a:p>
                  <a:endParaRPr lang="en-US" sz="1200" dirty="0" smtClean="0"/>
                </a:p>
                <a:p>
                  <a:r>
                    <a:rPr lang="en-US" sz="1200" dirty="0" smtClean="0"/>
                    <a:t>num3</a:t>
                  </a:r>
                </a:p>
                <a:p>
                  <a:endParaRPr lang="en-US" sz="1200" dirty="0" smtClean="0"/>
                </a:p>
                <a:p>
                  <a:r>
                    <a:rPr lang="en-US" sz="1200" dirty="0" smtClean="0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a:rPr>
                    <a:t>min</a:t>
                  </a:r>
                </a:p>
                <a:p>
                  <a:endParaRPr lang="en-US" sz="1200" dirty="0" smtClean="0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1691680" y="3589959"/>
                  <a:ext cx="648072" cy="8100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 smtClean="0">
                      <a:solidFill>
                        <a:schemeClr val="tx1"/>
                      </a:solidFill>
                    </a:rPr>
                    <a:t>5</a:t>
                  </a:r>
                  <a:endParaRPr lang="en-US" sz="12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79" name="Rectangle 78"/>
              <p:cNvSpPr/>
              <p:nvPr/>
            </p:nvSpPr>
            <p:spPr>
              <a:xfrm>
                <a:off x="3131840" y="4353305"/>
                <a:ext cx="648072" cy="13887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tx1"/>
                    </a:solidFill>
                  </a:rPr>
                  <a:t>-3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31840" y="4607451"/>
                <a:ext cx="648072" cy="13887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tx1"/>
                    </a:solidFill>
                  </a:rPr>
                  <a:t>0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7" name="Rectangle 76"/>
            <p:cNvSpPr/>
            <p:nvPr/>
          </p:nvSpPr>
          <p:spPr>
            <a:xfrm>
              <a:off x="5292080" y="3016242"/>
              <a:ext cx="648072" cy="19673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-3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179512" y="3719933"/>
            <a:ext cx="8784977" cy="1077219"/>
            <a:chOff x="323528" y="1236822"/>
            <a:chExt cx="7848873" cy="1012933"/>
          </a:xfrm>
        </p:grpSpPr>
        <p:sp>
          <p:nvSpPr>
            <p:cNvPr id="51" name="TextBox 50"/>
            <p:cNvSpPr txBox="1"/>
            <p:nvPr/>
          </p:nvSpPr>
          <p:spPr>
            <a:xfrm>
              <a:off x="788528" y="1236822"/>
              <a:ext cx="7383873" cy="1012933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rgbClr val="00B0F0"/>
                  </a:solidFill>
                </a:rPr>
                <a:t> if </a:t>
              </a:r>
              <a:r>
                <a:rPr lang="en-US" sz="1600" dirty="0" smtClean="0"/>
                <a:t>(</a:t>
              </a:r>
              <a:r>
                <a:rPr lang="en-US" sz="1600" dirty="0" smtClean="0">
                  <a:solidFill>
                    <a:srgbClr val="FF33CC"/>
                  </a:solidFill>
                </a:rPr>
                <a:t>num2 </a:t>
              </a:r>
              <a:r>
                <a:rPr lang="en-US" sz="1600" dirty="0" smtClean="0"/>
                <a:t>&lt;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min</a:t>
              </a:r>
              <a:r>
                <a:rPr lang="en-US" sz="1600" dirty="0" smtClean="0"/>
                <a:t>)</a:t>
              </a: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        </a:t>
              </a:r>
              <a:r>
                <a:rPr lang="en-US" sz="1600" dirty="0" smtClean="0">
                  <a:solidFill>
                    <a:srgbClr val="0000FF"/>
                  </a:solidFill>
                </a:rPr>
                <a:t>min </a:t>
              </a:r>
              <a:r>
                <a:rPr lang="en-US" sz="1600" dirty="0" smtClean="0"/>
                <a:t>= </a:t>
              </a:r>
              <a:r>
                <a:rPr lang="en-US" sz="1600" dirty="0" smtClean="0">
                  <a:solidFill>
                    <a:srgbClr val="FF33CC"/>
                  </a:solidFill>
                </a:rPr>
                <a:t>num2</a:t>
              </a:r>
              <a:r>
                <a:rPr lang="en-US" sz="1600" dirty="0" smtClean="0"/>
                <a:t>;</a:t>
              </a: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 if </a:t>
              </a:r>
              <a:r>
                <a:rPr lang="en-US" sz="1600" dirty="0" smtClean="0"/>
                <a:t>(</a:t>
              </a:r>
              <a:r>
                <a:rPr lang="en-US" sz="1600" dirty="0" smtClean="0">
                  <a:solidFill>
                    <a:srgbClr val="FF33CC"/>
                  </a:solidFill>
                </a:rPr>
                <a:t>num3 </a:t>
              </a:r>
              <a:r>
                <a:rPr lang="en-US" sz="1600" dirty="0" smtClean="0"/>
                <a:t>&lt; </a:t>
              </a:r>
              <a:r>
                <a:rPr lang="en-US" sz="1600" dirty="0" smtClean="0">
                  <a:solidFill>
                    <a:srgbClr val="0000FF"/>
                  </a:solidFill>
                </a:rPr>
                <a:t>min</a:t>
              </a:r>
              <a:r>
                <a:rPr lang="en-US" sz="1600" dirty="0" smtClean="0"/>
                <a:t>)</a:t>
              </a:r>
            </a:p>
            <a:p>
              <a:r>
                <a:rPr lang="en-US" sz="1600" dirty="0" smtClean="0">
                  <a:solidFill>
                    <a:srgbClr val="00B0F0"/>
                  </a:solidFill>
                </a:rPr>
                <a:t>        </a:t>
              </a:r>
              <a:r>
                <a:rPr lang="en-US" sz="1600" dirty="0" smtClean="0">
                  <a:solidFill>
                    <a:srgbClr val="0000FF"/>
                  </a:solidFill>
                </a:rPr>
                <a:t>min </a:t>
              </a:r>
              <a:r>
                <a:rPr lang="en-US" sz="1600" dirty="0" smtClean="0"/>
                <a:t>=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FF33CC"/>
                  </a:solidFill>
                </a:rPr>
                <a:t>num3</a:t>
              </a:r>
              <a:r>
                <a:rPr lang="en-US" sz="1600" dirty="0" smtClean="0"/>
                <a:t>;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23528" y="1236822"/>
              <a:ext cx="450344" cy="1012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16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18</a:t>
              </a:r>
            </a:p>
          </p:txBody>
        </p:sp>
      </p:grpSp>
    </p:spTree>
    <p:extLst>
      <p:ext uri="{BB962C8B-B14F-4D97-AF65-F5344CB8AC3E}">
        <p14:creationId xmlns="" xmlns:p14="http://schemas.microsoft.com/office/powerpoint/2010/main" val="1143022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251520" y="1700808"/>
            <a:ext cx="8712969" cy="2098519"/>
            <a:chOff x="251520" y="1988840"/>
            <a:chExt cx="8712969" cy="864096"/>
          </a:xfrm>
        </p:grpSpPr>
        <p:sp>
          <p:nvSpPr>
            <p:cNvPr id="33" name="Rectangle 32"/>
            <p:cNvSpPr/>
            <p:nvPr/>
          </p:nvSpPr>
          <p:spPr>
            <a:xfrm>
              <a:off x="251520" y="1988840"/>
              <a:ext cx="8712969" cy="7200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51520" y="2708920"/>
              <a:ext cx="8712969" cy="14401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 smtClean="0">
                  <a:solidFill>
                    <a:schemeClr val="tx1"/>
                  </a:solidFill>
                </a:rPr>
                <a:t>0	100	200	300	400	500	600	700	800	…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r>
              <a:rPr lang="en-US" sz="32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PRIMITIVE DATATYPES AS PARAMETERS</a:t>
            </a:r>
            <a:endParaRPr lang="en-US" sz="32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EXAMPLE 2 - MEMORY LAYOUT(4)</a:t>
            </a:r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>
            <a:off x="179512" y="1268760"/>
            <a:ext cx="8784977" cy="338554"/>
            <a:chOff x="323528" y="1236822"/>
            <a:chExt cx="7848873" cy="318350"/>
          </a:xfrm>
        </p:grpSpPr>
        <p:sp>
          <p:nvSpPr>
            <p:cNvPr id="13" name="TextBox 12"/>
            <p:cNvSpPr txBox="1"/>
            <p:nvPr/>
          </p:nvSpPr>
          <p:spPr>
            <a:xfrm>
              <a:off x="788528" y="1236822"/>
              <a:ext cx="7383873" cy="31835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rgbClr val="00B0F0"/>
                  </a:solidFill>
                </a:rPr>
                <a:t> return </a:t>
              </a:r>
              <a:r>
                <a:rPr lang="en-US" sz="1600" dirty="0" smtClean="0">
                  <a:solidFill>
                    <a:srgbClr val="0000FF"/>
                  </a:solidFill>
                </a:rPr>
                <a:t>min</a:t>
              </a:r>
              <a:r>
                <a:rPr lang="en-US" sz="1600" dirty="0" smtClean="0"/>
                <a:t>; </a:t>
              </a:r>
              <a:r>
                <a:rPr lang="en-US" sz="1600" dirty="0" smtClean="0">
                  <a:solidFill>
                    <a:srgbClr val="00B050"/>
                  </a:solidFill>
                </a:rPr>
                <a:t>//copy </a:t>
              </a:r>
              <a:r>
                <a:rPr lang="en-US" sz="1600" dirty="0" smtClean="0">
                  <a:solidFill>
                    <a:srgbClr val="0000FF"/>
                  </a:solidFill>
                </a:rPr>
                <a:t>min </a:t>
              </a:r>
              <a:r>
                <a:rPr lang="en-US" sz="1600" dirty="0" smtClean="0">
                  <a:solidFill>
                    <a:srgbClr val="00B050"/>
                  </a:solidFill>
                </a:rPr>
                <a:t>from the memory space of </a:t>
              </a:r>
              <a:r>
                <a:rPr lang="en-US" sz="1600" dirty="0" smtClean="0">
                  <a:solidFill>
                    <a:srgbClr val="0000FF"/>
                  </a:solidFill>
                </a:rPr>
                <a:t>minimum </a:t>
              </a:r>
              <a:r>
                <a:rPr lang="en-US" sz="1600" dirty="0" smtClean="0">
                  <a:solidFill>
                    <a:srgbClr val="00B050"/>
                  </a:solidFill>
                </a:rPr>
                <a:t>to that of </a:t>
              </a:r>
              <a:r>
                <a:rPr lang="en-US" sz="1600" dirty="0" smtClean="0">
                  <a:solidFill>
                    <a:srgbClr val="00B0F0"/>
                  </a:solidFill>
                </a:rPr>
                <a:t>main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23528" y="1236822"/>
              <a:ext cx="450344" cy="31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19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2411760" y="1700808"/>
            <a:ext cx="1440160" cy="1748767"/>
            <a:chOff x="2411760" y="1700807"/>
            <a:chExt cx="1440160" cy="1748767"/>
          </a:xfrm>
          <a:solidFill>
            <a:schemeClr val="bg1">
              <a:lumMod val="65000"/>
            </a:schemeClr>
          </a:solidFill>
        </p:grpSpPr>
        <p:grpSp>
          <p:nvGrpSpPr>
            <p:cNvPr id="36" name="Group 35"/>
            <p:cNvGrpSpPr/>
            <p:nvPr/>
          </p:nvGrpSpPr>
          <p:grpSpPr>
            <a:xfrm>
              <a:off x="2411760" y="1700807"/>
              <a:ext cx="1440160" cy="1748767"/>
              <a:chOff x="2411760" y="3933055"/>
              <a:chExt cx="1440160" cy="1234423"/>
            </a:xfrm>
            <a:grpFill/>
          </p:grpSpPr>
          <p:grpSp>
            <p:nvGrpSpPr>
              <p:cNvPr id="38" name="Group 37"/>
              <p:cNvGrpSpPr/>
              <p:nvPr/>
            </p:nvGrpSpPr>
            <p:grpSpPr>
              <a:xfrm>
                <a:off x="2411760" y="3933055"/>
                <a:ext cx="1440160" cy="1234423"/>
                <a:chOff x="971600" y="3501008"/>
                <a:chExt cx="1440160" cy="720080"/>
              </a:xfrm>
              <a:grpFill/>
            </p:grpSpPr>
            <p:sp>
              <p:nvSpPr>
                <p:cNvPr id="41" name="Rectangle 40"/>
                <p:cNvSpPr/>
                <p:nvPr/>
              </p:nvSpPr>
              <p:spPr>
                <a:xfrm>
                  <a:off x="971600" y="3501008"/>
                  <a:ext cx="1440160" cy="720080"/>
                </a:xfrm>
                <a:prstGeom prst="rect">
                  <a:avLst/>
                </a:prstGeom>
                <a:grpFill/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r>
                    <a:rPr lang="en-US" sz="1200" dirty="0" smtClean="0"/>
                    <a:t>main</a:t>
                  </a:r>
                </a:p>
                <a:p>
                  <a:r>
                    <a:rPr lang="en-US" sz="1200" dirty="0" smtClean="0"/>
                    <a:t>x</a:t>
                  </a:r>
                </a:p>
                <a:p>
                  <a:endParaRPr lang="en-US" sz="1200" dirty="0" smtClean="0"/>
                </a:p>
                <a:p>
                  <a:r>
                    <a:rPr lang="en-US" sz="1200" dirty="0" smtClean="0"/>
                    <a:t>y</a:t>
                  </a:r>
                </a:p>
                <a:p>
                  <a:endParaRPr lang="en-US" sz="1200" dirty="0" smtClean="0"/>
                </a:p>
                <a:p>
                  <a:r>
                    <a:rPr lang="en-US" sz="1200" dirty="0" smtClean="0"/>
                    <a:t>z</a:t>
                  </a:r>
                </a:p>
                <a:p>
                  <a:endParaRPr lang="en-US" sz="1200" dirty="0" smtClean="0"/>
                </a:p>
                <a:p>
                  <a:r>
                    <a:rPr lang="en-US" sz="1200" dirty="0" smtClean="0"/>
                    <a:t>smallest</a:t>
                  </a:r>
                  <a:endParaRPr lang="en-US" sz="1200" dirty="0"/>
                </a:p>
              </p:txBody>
            </p:sp>
            <p:sp>
              <p:nvSpPr>
                <p:cNvPr id="42" name="Rectangle 41"/>
                <p:cNvSpPr/>
                <p:nvPr/>
              </p:nvSpPr>
              <p:spPr>
                <a:xfrm>
                  <a:off x="1691680" y="3589959"/>
                  <a:ext cx="648072" cy="81008"/>
                </a:xfrm>
                <a:prstGeom prst="rect">
                  <a:avLst/>
                </a:prstGeom>
                <a:grpFill/>
                <a:ln w="12700"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 smtClean="0">
                      <a:solidFill>
                        <a:schemeClr val="tx1"/>
                      </a:solidFill>
                    </a:rPr>
                    <a:t>5</a:t>
                  </a:r>
                  <a:endParaRPr lang="en-US" sz="12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9" name="Rectangle 38"/>
              <p:cNvSpPr/>
              <p:nvPr/>
            </p:nvSpPr>
            <p:spPr>
              <a:xfrm>
                <a:off x="3131840" y="4353305"/>
                <a:ext cx="648072" cy="138871"/>
              </a:xfrm>
              <a:prstGeom prst="rect">
                <a:avLst/>
              </a:prstGeom>
              <a:grpFill/>
              <a:ln w="1270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tx1"/>
                    </a:solidFill>
                  </a:rPr>
                  <a:t>-3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3131840" y="4607451"/>
                <a:ext cx="648072" cy="138871"/>
              </a:xfrm>
              <a:prstGeom prst="rect">
                <a:avLst/>
              </a:prstGeom>
              <a:grpFill/>
              <a:ln w="1270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tx1"/>
                    </a:solidFill>
                  </a:rPr>
                  <a:t>0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7" name="Rectangle 36"/>
            <p:cNvSpPr/>
            <p:nvPr/>
          </p:nvSpPr>
          <p:spPr>
            <a:xfrm>
              <a:off x="3131840" y="3212976"/>
              <a:ext cx="648072" cy="196734"/>
            </a:xfrm>
            <a:prstGeom prst="rect">
              <a:avLst/>
            </a:prstGeom>
            <a:grpFill/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-3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4572000" y="1700808"/>
            <a:ext cx="1440160" cy="1748767"/>
            <a:chOff x="4572000" y="1700808"/>
            <a:chExt cx="1440160" cy="1748767"/>
          </a:xfrm>
        </p:grpSpPr>
        <p:grpSp>
          <p:nvGrpSpPr>
            <p:cNvPr id="44" name="Group 43"/>
            <p:cNvGrpSpPr/>
            <p:nvPr/>
          </p:nvGrpSpPr>
          <p:grpSpPr>
            <a:xfrm>
              <a:off x="4572000" y="1700808"/>
              <a:ext cx="1440160" cy="1748767"/>
              <a:chOff x="2411760" y="3933055"/>
              <a:chExt cx="1440160" cy="1234423"/>
            </a:xfrm>
          </p:grpSpPr>
          <p:grpSp>
            <p:nvGrpSpPr>
              <p:cNvPr id="46" name="Group 45"/>
              <p:cNvGrpSpPr/>
              <p:nvPr/>
            </p:nvGrpSpPr>
            <p:grpSpPr>
              <a:xfrm>
                <a:off x="2411760" y="3933055"/>
                <a:ext cx="1440160" cy="1234423"/>
                <a:chOff x="971600" y="3501008"/>
                <a:chExt cx="1440160" cy="720080"/>
              </a:xfrm>
            </p:grpSpPr>
            <p:sp>
              <p:nvSpPr>
                <p:cNvPr id="49" name="Rectangle 48"/>
                <p:cNvSpPr/>
                <p:nvPr/>
              </p:nvSpPr>
              <p:spPr>
                <a:xfrm>
                  <a:off x="971600" y="3501008"/>
                  <a:ext cx="1440160" cy="720080"/>
                </a:xfrm>
                <a:prstGeom prst="rect">
                  <a:avLst/>
                </a:prstGeom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r>
                    <a:rPr lang="en-US" sz="1200" dirty="0" smtClean="0"/>
                    <a:t>minimum</a:t>
                  </a:r>
                </a:p>
                <a:p>
                  <a:r>
                    <a:rPr lang="en-US" sz="1200" dirty="0" smtClean="0"/>
                    <a:t>num1</a:t>
                  </a:r>
                </a:p>
                <a:p>
                  <a:endParaRPr lang="en-US" sz="1200" dirty="0" smtClean="0"/>
                </a:p>
                <a:p>
                  <a:r>
                    <a:rPr lang="en-US" sz="1200" dirty="0" smtClean="0"/>
                    <a:t>num2</a:t>
                  </a:r>
                </a:p>
                <a:p>
                  <a:endParaRPr lang="en-US" sz="1200" dirty="0" smtClean="0"/>
                </a:p>
                <a:p>
                  <a:r>
                    <a:rPr lang="en-US" sz="1200" dirty="0" smtClean="0"/>
                    <a:t>num3</a:t>
                  </a:r>
                </a:p>
                <a:p>
                  <a:endParaRPr lang="en-US" sz="1200" dirty="0" smtClean="0"/>
                </a:p>
                <a:p>
                  <a:r>
                    <a:rPr lang="en-US" sz="1200" dirty="0" smtClean="0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a:rPr>
                    <a:t>min</a:t>
                  </a:r>
                </a:p>
                <a:p>
                  <a:endParaRPr lang="en-US" sz="1200" dirty="0" smtClean="0"/>
                </a:p>
              </p:txBody>
            </p:sp>
            <p:sp>
              <p:nvSpPr>
                <p:cNvPr id="50" name="Rectangle 49"/>
                <p:cNvSpPr/>
                <p:nvPr/>
              </p:nvSpPr>
              <p:spPr>
                <a:xfrm>
                  <a:off x="1691680" y="3589959"/>
                  <a:ext cx="648072" cy="8100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 smtClean="0">
                      <a:solidFill>
                        <a:schemeClr val="tx1"/>
                      </a:solidFill>
                    </a:rPr>
                    <a:t>5</a:t>
                  </a:r>
                  <a:endParaRPr lang="en-US" sz="12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7" name="Rectangle 46"/>
              <p:cNvSpPr/>
              <p:nvPr/>
            </p:nvSpPr>
            <p:spPr>
              <a:xfrm>
                <a:off x="3131840" y="4353305"/>
                <a:ext cx="648072" cy="13887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tx1"/>
                    </a:solidFill>
                  </a:rPr>
                  <a:t>-3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Rectangle 47"/>
              <p:cNvSpPr/>
              <p:nvPr/>
            </p:nvSpPr>
            <p:spPr>
              <a:xfrm>
                <a:off x="3131840" y="4607451"/>
                <a:ext cx="648072" cy="13887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tx1"/>
                    </a:solidFill>
                  </a:rPr>
                  <a:t>0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3" name="Rectangle 42"/>
            <p:cNvSpPr/>
            <p:nvPr/>
          </p:nvSpPr>
          <p:spPr>
            <a:xfrm>
              <a:off x="5292080" y="3016242"/>
              <a:ext cx="648072" cy="19673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-3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251520" y="4293096"/>
            <a:ext cx="8712969" cy="2098519"/>
            <a:chOff x="251520" y="1988840"/>
            <a:chExt cx="8712969" cy="864096"/>
          </a:xfrm>
        </p:grpSpPr>
        <p:sp>
          <p:nvSpPr>
            <p:cNvPr id="57" name="Rectangle 56"/>
            <p:cNvSpPr/>
            <p:nvPr/>
          </p:nvSpPr>
          <p:spPr>
            <a:xfrm>
              <a:off x="251520" y="1988840"/>
              <a:ext cx="8712969" cy="7200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251520" y="2708920"/>
              <a:ext cx="8712969" cy="14401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 smtClean="0">
                  <a:solidFill>
                    <a:schemeClr val="tx1"/>
                  </a:solidFill>
                </a:rPr>
                <a:t>0	100	200	300	400	500	600	700	800	…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2411760" y="4293096"/>
            <a:ext cx="1440160" cy="1748767"/>
            <a:chOff x="2411760" y="1700807"/>
            <a:chExt cx="1440160" cy="1748767"/>
          </a:xfrm>
          <a:solidFill>
            <a:schemeClr val="accent1"/>
          </a:solidFill>
        </p:grpSpPr>
        <p:grpSp>
          <p:nvGrpSpPr>
            <p:cNvPr id="68" name="Group 67"/>
            <p:cNvGrpSpPr/>
            <p:nvPr/>
          </p:nvGrpSpPr>
          <p:grpSpPr>
            <a:xfrm>
              <a:off x="2411760" y="1700807"/>
              <a:ext cx="1440160" cy="1748767"/>
              <a:chOff x="2411760" y="3933055"/>
              <a:chExt cx="1440160" cy="1234423"/>
            </a:xfrm>
            <a:grpFill/>
          </p:grpSpPr>
          <p:grpSp>
            <p:nvGrpSpPr>
              <p:cNvPr id="70" name="Group 69"/>
              <p:cNvGrpSpPr/>
              <p:nvPr/>
            </p:nvGrpSpPr>
            <p:grpSpPr>
              <a:xfrm>
                <a:off x="2411760" y="3933055"/>
                <a:ext cx="1440160" cy="1234423"/>
                <a:chOff x="971600" y="3501008"/>
                <a:chExt cx="1440160" cy="720080"/>
              </a:xfrm>
              <a:grpFill/>
            </p:grpSpPr>
            <p:sp>
              <p:nvSpPr>
                <p:cNvPr id="73" name="Rectangle 72"/>
                <p:cNvSpPr/>
                <p:nvPr/>
              </p:nvSpPr>
              <p:spPr>
                <a:xfrm>
                  <a:off x="971600" y="3501008"/>
                  <a:ext cx="1440160" cy="720080"/>
                </a:xfrm>
                <a:prstGeom prst="rect">
                  <a:avLst/>
                </a:prstGeom>
                <a:grpFill/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r>
                    <a:rPr lang="en-US" sz="1200" dirty="0" smtClean="0"/>
                    <a:t>main</a:t>
                  </a:r>
                </a:p>
                <a:p>
                  <a:r>
                    <a:rPr lang="en-US" sz="1200" dirty="0" smtClean="0"/>
                    <a:t>x</a:t>
                  </a:r>
                </a:p>
                <a:p>
                  <a:endParaRPr lang="en-US" sz="1200" dirty="0" smtClean="0"/>
                </a:p>
                <a:p>
                  <a:r>
                    <a:rPr lang="en-US" sz="1200" dirty="0" smtClean="0"/>
                    <a:t>y</a:t>
                  </a:r>
                </a:p>
                <a:p>
                  <a:endParaRPr lang="en-US" sz="1200" dirty="0" smtClean="0"/>
                </a:p>
                <a:p>
                  <a:r>
                    <a:rPr lang="en-US" sz="1200" dirty="0" smtClean="0"/>
                    <a:t>z</a:t>
                  </a:r>
                </a:p>
                <a:p>
                  <a:endParaRPr lang="en-US" sz="1200" dirty="0" smtClean="0"/>
                </a:p>
                <a:p>
                  <a:r>
                    <a:rPr lang="en-US" sz="1200" dirty="0" smtClean="0"/>
                    <a:t>smallest</a:t>
                  </a:r>
                  <a:endParaRPr lang="en-US" sz="1200" dirty="0"/>
                </a:p>
              </p:txBody>
            </p:sp>
            <p:sp>
              <p:nvSpPr>
                <p:cNvPr id="74" name="Rectangle 73"/>
                <p:cNvSpPr/>
                <p:nvPr/>
              </p:nvSpPr>
              <p:spPr>
                <a:xfrm>
                  <a:off x="1691680" y="3589959"/>
                  <a:ext cx="648072" cy="81008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 smtClean="0">
                      <a:solidFill>
                        <a:schemeClr val="tx1"/>
                      </a:solidFill>
                    </a:rPr>
                    <a:t>5</a:t>
                  </a:r>
                  <a:endParaRPr lang="en-US" sz="12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71" name="Rectangle 70"/>
              <p:cNvSpPr/>
              <p:nvPr/>
            </p:nvSpPr>
            <p:spPr>
              <a:xfrm>
                <a:off x="3131840" y="4353305"/>
                <a:ext cx="648072" cy="13887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tx1"/>
                    </a:solidFill>
                  </a:rPr>
                  <a:t>-3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Rectangle 71"/>
              <p:cNvSpPr/>
              <p:nvPr/>
            </p:nvSpPr>
            <p:spPr>
              <a:xfrm>
                <a:off x="3131840" y="4607451"/>
                <a:ext cx="648072" cy="13887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tx1"/>
                    </a:solidFill>
                  </a:rPr>
                  <a:t>0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9" name="Rectangle 68"/>
            <p:cNvSpPr/>
            <p:nvPr/>
          </p:nvSpPr>
          <p:spPr>
            <a:xfrm>
              <a:off x="3131840" y="3212976"/>
              <a:ext cx="648072" cy="1967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tx1"/>
                  </a:solidFill>
                </a:rPr>
                <a:t>-3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179512" y="3882534"/>
            <a:ext cx="8784977" cy="338554"/>
            <a:chOff x="323528" y="1236822"/>
            <a:chExt cx="7848873" cy="318350"/>
          </a:xfrm>
        </p:grpSpPr>
        <p:sp>
          <p:nvSpPr>
            <p:cNvPr id="51" name="TextBox 50"/>
            <p:cNvSpPr txBox="1"/>
            <p:nvPr/>
          </p:nvSpPr>
          <p:spPr>
            <a:xfrm>
              <a:off x="788528" y="1236822"/>
              <a:ext cx="7383873" cy="31835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rgbClr val="00B0F0"/>
                  </a:solidFill>
                </a:rPr>
                <a:t>  </a:t>
              </a:r>
              <a:r>
                <a:rPr lang="en-US" sz="1600" dirty="0" smtClean="0"/>
                <a:t>}</a:t>
              </a:r>
              <a:r>
                <a:rPr lang="en-US" sz="1600" dirty="0" smtClean="0">
                  <a:solidFill>
                    <a:srgbClr val="00B050"/>
                  </a:solidFill>
                </a:rPr>
                <a:t> //end </a:t>
              </a:r>
              <a:r>
                <a:rPr lang="en-US" sz="1600" dirty="0" smtClean="0">
                  <a:solidFill>
                    <a:srgbClr val="0000FF"/>
                  </a:solidFill>
                </a:rPr>
                <a:t>minimum </a:t>
              </a:r>
              <a:r>
                <a:rPr lang="en-US" sz="1600" dirty="0" smtClean="0">
                  <a:solidFill>
                    <a:srgbClr val="00B050"/>
                  </a:solidFill>
                  <a:sym typeface="Wingdings" panose="05000000000000000000" pitchFamily="2" charset="2"/>
                </a:rPr>
                <a:t> </a:t>
              </a:r>
              <a:r>
                <a:rPr lang="en-US" sz="1600" dirty="0" smtClean="0">
                  <a:solidFill>
                    <a:srgbClr val="0000FF"/>
                  </a:solidFill>
                  <a:sym typeface="Wingdings" panose="05000000000000000000" pitchFamily="2" charset="2"/>
                </a:rPr>
                <a:t>minimum </a:t>
              </a:r>
              <a:r>
                <a:rPr lang="en-US" sz="1600" dirty="0" smtClean="0">
                  <a:solidFill>
                    <a:srgbClr val="00B050"/>
                  </a:solidFill>
                  <a:sym typeface="Wingdings" panose="05000000000000000000" pitchFamily="2" charset="2"/>
                </a:rPr>
                <a:t>is freed (</a:t>
              </a:r>
              <a:r>
                <a:rPr lang="en-US" sz="1600" dirty="0" err="1" smtClean="0">
                  <a:solidFill>
                    <a:srgbClr val="00B050"/>
                  </a:solidFill>
                  <a:sym typeface="Wingdings" panose="05000000000000000000" pitchFamily="2" charset="2"/>
                </a:rPr>
                <a:t>deallocated</a:t>
              </a:r>
              <a:r>
                <a:rPr lang="en-US" sz="1600" dirty="0" smtClean="0">
                  <a:solidFill>
                    <a:srgbClr val="00B050"/>
                  </a:solidFill>
                  <a:sym typeface="Wingdings" panose="05000000000000000000" pitchFamily="2" charset="2"/>
                </a:rPr>
                <a:t>) from memory</a:t>
              </a:r>
              <a:endParaRPr lang="en-US" sz="1600" dirty="0" smtClean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23528" y="1236822"/>
              <a:ext cx="450344" cy="31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20</a:t>
              </a:r>
            </a:p>
          </p:txBody>
        </p:sp>
      </p:grpSp>
    </p:spTree>
    <p:extLst>
      <p:ext uri="{BB962C8B-B14F-4D97-AF65-F5344CB8AC3E}">
        <p14:creationId xmlns="" xmlns:p14="http://schemas.microsoft.com/office/powerpoint/2010/main" val="2695121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r>
              <a:rPr lang="en-US" sz="32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PRIMITIVE DATATYPES AS PARAMETERS</a:t>
            </a:r>
            <a:endParaRPr lang="en-US" sz="32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EXAMPLE 2 - MEMORY LAYOUT(5)</a:t>
            </a:r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>
            <a:off x="179512" y="1268760"/>
            <a:ext cx="8784977" cy="338554"/>
            <a:chOff x="323528" y="1236822"/>
            <a:chExt cx="7848873" cy="318350"/>
          </a:xfrm>
        </p:grpSpPr>
        <p:sp>
          <p:nvSpPr>
            <p:cNvPr id="13" name="TextBox 12"/>
            <p:cNvSpPr txBox="1"/>
            <p:nvPr/>
          </p:nvSpPr>
          <p:spPr>
            <a:xfrm>
              <a:off x="788528" y="1236822"/>
              <a:ext cx="7383873" cy="31835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 </a:t>
              </a:r>
              <a:r>
                <a:rPr lang="en-US" sz="1600" dirty="0" err="1" smtClean="0"/>
                <a:t>System.out.printf</a:t>
              </a:r>
              <a:r>
                <a:rPr lang="en-US" sz="1600" dirty="0" smtClean="0"/>
                <a:t> (“Smallest number = %d”,</a:t>
              </a:r>
              <a:r>
                <a:rPr lang="en-US" sz="1600" dirty="0" smtClean="0">
                  <a:solidFill>
                    <a:srgbClr val="00B0F0"/>
                  </a:solidFill>
                </a:rPr>
                <a:t> </a:t>
              </a:r>
              <a:r>
                <a:rPr lang="en-US" sz="1600" dirty="0" smtClean="0">
                  <a:solidFill>
                    <a:srgbClr val="0000FF"/>
                  </a:solidFill>
                </a:rPr>
                <a:t>smallest</a:t>
              </a:r>
              <a:r>
                <a:rPr lang="en-US" sz="1600" dirty="0" smtClean="0"/>
                <a:t>); </a:t>
              </a:r>
              <a:r>
                <a:rPr lang="en-US" sz="1600" dirty="0" smtClean="0">
                  <a:solidFill>
                    <a:srgbClr val="00B050"/>
                  </a:solidFill>
                </a:rPr>
                <a:t>//on screen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23528" y="1236822"/>
              <a:ext cx="450344" cy="31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9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251522" y="1681063"/>
            <a:ext cx="8712967" cy="307777"/>
            <a:chOff x="683568" y="1236822"/>
            <a:chExt cx="7488831" cy="307777"/>
          </a:xfrm>
        </p:grpSpPr>
        <p:sp>
          <p:nvSpPr>
            <p:cNvPr id="54" name="TextBox 53"/>
            <p:cNvSpPr txBox="1"/>
            <p:nvPr/>
          </p:nvSpPr>
          <p:spPr>
            <a:xfrm>
              <a:off x="1069013" y="1236822"/>
              <a:ext cx="7103386" cy="307777"/>
            </a:xfrm>
            <a:prstGeom prst="rect">
              <a:avLst/>
            </a:prstGeom>
            <a:solidFill>
              <a:srgbClr val="0000FF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</a:rPr>
                <a:t>Smallest number = -3</a:t>
              </a:r>
              <a:endParaRPr lang="en-US" sz="1400" b="1" dirty="0" smtClean="0">
                <a:solidFill>
                  <a:srgbClr val="FFFF00"/>
                </a:solidFill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83568" y="1236822"/>
              <a:ext cx="2160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1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179512" y="2060848"/>
            <a:ext cx="8784977" cy="338554"/>
            <a:chOff x="323528" y="1236822"/>
            <a:chExt cx="7848873" cy="318350"/>
          </a:xfrm>
        </p:grpSpPr>
        <p:sp>
          <p:nvSpPr>
            <p:cNvPr id="59" name="TextBox 58"/>
            <p:cNvSpPr txBox="1"/>
            <p:nvPr/>
          </p:nvSpPr>
          <p:spPr>
            <a:xfrm>
              <a:off x="788528" y="1236822"/>
              <a:ext cx="7383873" cy="318350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 }</a:t>
              </a:r>
              <a:r>
                <a:rPr lang="en-US" sz="1600" dirty="0" smtClean="0">
                  <a:solidFill>
                    <a:srgbClr val="00B050"/>
                  </a:solidFill>
                </a:rPr>
                <a:t> //end </a:t>
              </a:r>
              <a:r>
                <a:rPr lang="en-US" sz="1600" dirty="0" smtClean="0">
                  <a:solidFill>
                    <a:srgbClr val="00B0F0"/>
                  </a:solidFill>
                </a:rPr>
                <a:t>main </a:t>
              </a:r>
              <a:r>
                <a:rPr lang="en-US" sz="1600" dirty="0" smtClean="0">
                  <a:solidFill>
                    <a:srgbClr val="00B050"/>
                  </a:solidFill>
                  <a:sym typeface="Wingdings" panose="05000000000000000000" pitchFamily="2" charset="2"/>
                </a:rPr>
                <a:t> </a:t>
              </a:r>
              <a:r>
                <a:rPr lang="en-US" sz="1600" dirty="0" smtClean="0">
                  <a:solidFill>
                    <a:srgbClr val="00B0F0"/>
                  </a:solidFill>
                  <a:sym typeface="Wingdings" panose="05000000000000000000" pitchFamily="2" charset="2"/>
                </a:rPr>
                <a:t>main </a:t>
              </a:r>
              <a:r>
                <a:rPr lang="en-US" sz="1600" dirty="0" smtClean="0">
                  <a:solidFill>
                    <a:srgbClr val="00B050"/>
                  </a:solidFill>
                  <a:sym typeface="Wingdings" panose="05000000000000000000" pitchFamily="2" charset="2"/>
                </a:rPr>
                <a:t>is freed (</a:t>
              </a:r>
              <a:r>
                <a:rPr lang="en-US" sz="1600" dirty="0" err="1" smtClean="0">
                  <a:solidFill>
                    <a:srgbClr val="00B050"/>
                  </a:solidFill>
                  <a:sym typeface="Wingdings" panose="05000000000000000000" pitchFamily="2" charset="2"/>
                </a:rPr>
                <a:t>deallocated</a:t>
              </a:r>
              <a:r>
                <a:rPr lang="en-US" sz="1600" dirty="0" smtClean="0">
                  <a:solidFill>
                    <a:srgbClr val="00B050"/>
                  </a:solidFill>
                  <a:sym typeface="Wingdings" panose="05000000000000000000" pitchFamily="2" charset="2"/>
                </a:rPr>
                <a:t>) from memory</a:t>
              </a:r>
              <a:endParaRPr lang="en-US" sz="1600" dirty="0" smtClean="0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23528" y="1236822"/>
              <a:ext cx="450344" cy="31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>
                  <a:solidFill>
                    <a:srgbClr val="FF0000"/>
                  </a:solidFill>
                </a:rPr>
                <a:t>10</a:t>
              </a: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251519" y="2492896"/>
            <a:ext cx="8712969" cy="2098519"/>
            <a:chOff x="251520" y="1988840"/>
            <a:chExt cx="8712969" cy="864096"/>
          </a:xfrm>
        </p:grpSpPr>
        <p:sp>
          <p:nvSpPr>
            <p:cNvPr id="63" name="Rectangle 62"/>
            <p:cNvSpPr/>
            <p:nvPr/>
          </p:nvSpPr>
          <p:spPr>
            <a:xfrm>
              <a:off x="251520" y="1988840"/>
              <a:ext cx="8712969" cy="72008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251520" y="2708920"/>
              <a:ext cx="8712969" cy="14401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 smtClean="0">
                  <a:solidFill>
                    <a:schemeClr val="tx1"/>
                  </a:solidFill>
                </a:rPr>
                <a:t>0	100	200	300	400	500	600	700	800	…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1550922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 </a:t>
            </a:r>
            <a:fld id="{D8D24581-BA14-4640-B752-9AB0FD1B9A37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558"/>
            <a:ext cx="8229600" cy="792162"/>
          </a:xfr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Self-Check Exercises  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406" y="6496070"/>
            <a:ext cx="4000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W7.3 User-defined methods: Passing Parameters</a:t>
            </a:r>
            <a:endParaRPr lang="en-US" sz="1200" dirty="0"/>
          </a:p>
        </p:txBody>
      </p:sp>
      <p:sp>
        <p:nvSpPr>
          <p:cNvPr id="11" name="Rounded Rectangle 10"/>
          <p:cNvSpPr/>
          <p:nvPr/>
        </p:nvSpPr>
        <p:spPr>
          <a:xfrm>
            <a:off x="107504" y="1219200"/>
            <a:ext cx="8856984" cy="1600438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</a:pPr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a </a:t>
            </a:r>
            <a:r>
              <a:rPr lang="en-US" sz="20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 to check if an integer is a prime number. Test your program. </a:t>
            </a:r>
          </a:p>
          <a:p>
            <a:pPr algn="just">
              <a:buClr>
                <a:srgbClr val="FF0000"/>
              </a:buClr>
            </a:pPr>
            <a:r>
              <a:rPr lang="en-US" sz="1600" i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prime number is divisible by 1 and itself only. For example, 7, 11, 13 are prime numbers because they are divisible only by 1 and themselves. 9 is not a prime number since it is divisible by 3 too.</a:t>
            </a:r>
            <a:endParaRPr lang="en-US" sz="1600" i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94626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720</TotalTime>
  <Words>1243</Words>
  <Application>Microsoft Office PowerPoint</Application>
  <PresentationFormat>On-screen Show (4:3)</PresentationFormat>
  <Paragraphs>373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Concourse</vt:lpstr>
      <vt:lpstr>  USER-DEFINED METHODS</vt:lpstr>
      <vt:lpstr>PRIMITIVE DATATYPES AS PARAMETERS</vt:lpstr>
      <vt:lpstr>PRIMITIVE DATATYPES AS PARAMETERS</vt:lpstr>
      <vt:lpstr>PRIMITIVE DATATYPES AS PARAMETERS</vt:lpstr>
      <vt:lpstr>PRIMITIVE DATATYPES AS PARAMETERS</vt:lpstr>
      <vt:lpstr>PRIMITIVE DATATYPES AS PARAMETERS</vt:lpstr>
      <vt:lpstr>PRIMITIVE DATATYPES AS PARAMETERS</vt:lpstr>
      <vt:lpstr>PRIMITIVE DATATYPES AS PARAMETERS</vt:lpstr>
      <vt:lpstr>PRIMITIVE DATATYPES AS PARAMETERS</vt:lpstr>
      <vt:lpstr>PRIMITIVE DATATYPES AS PARAMETERS</vt:lpstr>
      <vt:lpstr>PRIMITIVE DATATYPES AS PARAMETERS</vt:lpstr>
      <vt:lpstr>PRIMITIVE DATATYPES AS PARAMETERS</vt:lpstr>
      <vt:lpstr>Self-Check Exercises 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USER-DEFINED METHODS</dc:title>
  <dc:creator>Soha S.Zaghloul</dc:creator>
  <cp:lastModifiedBy>Omar</cp:lastModifiedBy>
  <cp:revision>69</cp:revision>
  <dcterms:created xsi:type="dcterms:W3CDTF">2015-04-12T13:57:13Z</dcterms:created>
  <dcterms:modified xsi:type="dcterms:W3CDTF">2016-11-20T11:30:44Z</dcterms:modified>
</cp:coreProperties>
</file>