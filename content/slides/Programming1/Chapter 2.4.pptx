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7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65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19"/>
  </p:normalViewPr>
  <p:slideViewPr>
    <p:cSldViewPr>
      <p:cViewPr varScale="1">
        <p:scale>
          <a:sx n="148" d="100"/>
          <a:sy n="148" d="100"/>
        </p:scale>
        <p:origin x="242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56EE03B-2AB4-4E09-ADDA-3E4244B49109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FE97B43-1940-4FB3-A423-B9E23360FF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996952"/>
            <a:ext cx="7872937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OPERATORS (1)</a:t>
            </a: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/>
              <a:t>CS 1301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76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1. Types of Operators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2. Assignment Operator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3. Arithmetic Operators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4. Compound Operators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43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TYPES OF OPERATORS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489086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five types of operators</a:t>
            </a:r>
          </a:p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None/>
            </a:pPr>
            <a:endParaRPr lang="en-US" sz="32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Assignment</a:t>
            </a: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endParaRPr lang="en-US" sz="24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Arithmetic</a:t>
            </a: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endParaRPr lang="en-US" sz="24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Increment/Decrement</a:t>
            </a: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endParaRPr lang="en-US" sz="24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Relational</a:t>
            </a: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endParaRPr lang="en-US" sz="24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13232" lvl="1" indent="-457200" algn="just">
              <a:lnSpc>
                <a:spcPct val="9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en-US" sz="2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</a:t>
            </a:r>
            <a:endParaRPr lang="en-US" sz="16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2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ASSIGNMENT OPERATORS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648071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a variable is declared, a memory space is allocated for it according to its type.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51520" y="1484785"/>
            <a:ext cx="8640960" cy="64807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However, it does NOT have a value yet.</a:t>
            </a:r>
          </a:p>
        </p:txBody>
      </p:sp>
      <p:sp>
        <p:nvSpPr>
          <p:cNvPr id="13" name="Content Placeholder 4"/>
          <p:cNvSpPr txBox="1">
            <a:spLocks/>
          </p:cNvSpPr>
          <p:nvPr/>
        </p:nvSpPr>
        <p:spPr>
          <a:xfrm>
            <a:off x="251520" y="1844825"/>
            <a:ext cx="8640960" cy="72008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Assignment operators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used to “assign” (give) values to variables.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80" y="2348880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variable = literal;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1520" y="234888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520" y="2924944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1680" y="2924944"/>
            <a:ext cx="5832648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10; 		</a:t>
            </a:r>
            <a:r>
              <a:rPr lang="en-US" dirty="0">
                <a:solidFill>
                  <a:srgbClr val="00B050"/>
                </a:solidFill>
              </a:rPr>
              <a:t>// x is previously declared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1680" y="3573016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variable1 = variable2;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51520" y="357301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520" y="4149080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80" y="4149080"/>
            <a:ext cx="5832648" cy="936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10;		</a:t>
            </a:r>
            <a:r>
              <a:rPr lang="en-US" dirty="0">
                <a:solidFill>
                  <a:srgbClr val="00B050"/>
                </a:solidFill>
              </a:rPr>
              <a:t>// x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y = 15;</a:t>
            </a:r>
            <a:r>
              <a:rPr lang="en-US" dirty="0">
                <a:solidFill>
                  <a:srgbClr val="00B050"/>
                </a:solidFill>
              </a:rPr>
              <a:t> 		// y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x = </a:t>
            </a:r>
            <a:r>
              <a:rPr lang="en-US" dirty="0">
                <a:solidFill>
                  <a:srgbClr val="0000FF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;</a:t>
            </a:r>
            <a:r>
              <a:rPr lang="en-US" dirty="0">
                <a:solidFill>
                  <a:srgbClr val="00B050"/>
                </a:solidFill>
              </a:rPr>
              <a:t>   		// x=15      y=15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80" y="5229200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variable = expression;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51520" y="522920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520" y="5805264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80" y="5805264"/>
            <a:ext cx="5832648" cy="936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10;		</a:t>
            </a:r>
            <a:r>
              <a:rPr lang="en-US" dirty="0">
                <a:solidFill>
                  <a:srgbClr val="00B050"/>
                </a:solidFill>
              </a:rPr>
              <a:t>// x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y = 15;</a:t>
            </a:r>
            <a:r>
              <a:rPr lang="en-US" dirty="0">
                <a:solidFill>
                  <a:srgbClr val="00B050"/>
                </a:solidFill>
              </a:rPr>
              <a:t>		// y is previously declared</a:t>
            </a:r>
          </a:p>
          <a:p>
            <a:r>
              <a:rPr lang="en-US" dirty="0">
                <a:solidFill>
                  <a:schemeClr val="tx1"/>
                </a:solidFill>
              </a:rPr>
              <a:t>x =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* </a:t>
            </a:r>
            <a:r>
              <a:rPr lang="en-US" dirty="0">
                <a:solidFill>
                  <a:srgbClr val="0000FF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;</a:t>
            </a:r>
            <a:r>
              <a:rPr lang="en-US" dirty="0">
                <a:solidFill>
                  <a:srgbClr val="00B050"/>
                </a:solidFill>
              </a:rPr>
              <a:t>	// x=10*15 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 x=150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82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13" grpId="0" build="p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ASSIGNMENT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79512" y="1772816"/>
            <a:ext cx="7848872" cy="4247317"/>
            <a:chOff x="323528" y="1236822"/>
            <a:chExt cx="7848872" cy="4247317"/>
          </a:xfrm>
        </p:grpSpPr>
        <p:sp>
          <p:nvSpPr>
            <p:cNvPr id="15" name="TextBox 14"/>
            <p:cNvSpPr txBox="1"/>
            <p:nvPr/>
          </p:nvSpPr>
          <p:spPr>
            <a:xfrm>
              <a:off x="971600" y="1236822"/>
              <a:ext cx="7200800" cy="424731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public class </a:t>
              </a:r>
              <a:r>
                <a:rPr lang="en-US" dirty="0" err="1">
                  <a:solidFill>
                    <a:srgbClr val="0000FF"/>
                  </a:solidFill>
                </a:rPr>
                <a:t>AssignmentOperator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  public static void </a:t>
              </a:r>
              <a:r>
                <a:rPr lang="en-US" dirty="0">
                  <a:solidFill>
                    <a:srgbClr val="0000FF"/>
                  </a:solidFill>
                </a:rPr>
                <a:t>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      final double</a:t>
              </a:r>
              <a:r>
                <a:rPr lang="en-US" dirty="0">
                  <a:solidFill>
                    <a:srgbClr val="0000FF"/>
                  </a:solidFill>
                </a:rPr>
                <a:t> PI = 3.14159;</a:t>
              </a:r>
              <a:r>
                <a:rPr lang="en-US" dirty="0">
                  <a:solidFill>
                    <a:srgbClr val="00B050"/>
                  </a:solidFill>
                </a:rPr>
                <a:t>//constant declaration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>
                  <a:solidFill>
                    <a:srgbClr val="00B0F0"/>
                  </a:solidFill>
                </a:rPr>
                <a:t>double</a:t>
              </a:r>
              <a:r>
                <a:rPr lang="en-US" dirty="0">
                  <a:solidFill>
                    <a:srgbClr val="0000FF"/>
                  </a:solidFill>
                </a:rPr>
                <a:t> radius, area;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radius = 2.5;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	</a:t>
              </a:r>
              <a:r>
                <a:rPr lang="en-US" dirty="0">
                  <a:solidFill>
                    <a:srgbClr val="0000FF"/>
                  </a:solidFill>
                </a:rPr>
                <a:t>area = PI * radius * radius;</a:t>
              </a:r>
            </a:p>
            <a:p>
              <a:r>
                <a:rPr lang="en-US" dirty="0"/>
                <a:t> 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(“Area= “ + area);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3528" y="1236822"/>
              <a:ext cx="576064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15</a:t>
              </a:r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4"/>
          <p:cNvSpPr>
            <a:spLocks noGrp="1"/>
          </p:cNvSpPr>
          <p:nvPr>
            <p:ph idx="1"/>
          </p:nvPr>
        </p:nvSpPr>
        <p:spPr>
          <a:xfrm>
            <a:off x="251520" y="1268761"/>
            <a:ext cx="8640960" cy="648071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Trace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(draw the memory layout) the following program:</a:t>
            </a:r>
          </a:p>
        </p:txBody>
      </p:sp>
    </p:spTree>
    <p:extLst>
      <p:ext uri="{BB962C8B-B14F-4D97-AF65-F5344CB8AC3E}">
        <p14:creationId xmlns:p14="http://schemas.microsoft.com/office/powerpoint/2010/main" val="380052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ASSIGNMENT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79512" y="1340768"/>
            <a:ext cx="7848872" cy="369332"/>
            <a:chOff x="323528" y="1236822"/>
            <a:chExt cx="7848872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971600" y="1236822"/>
              <a:ext cx="7200800" cy="36933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final double</a:t>
              </a:r>
              <a:r>
                <a:rPr lang="en-US" dirty="0">
                  <a:solidFill>
                    <a:srgbClr val="0000FF"/>
                  </a:solidFill>
                </a:rPr>
                <a:t> PI = 3.14159;	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3528" y="1236822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SOLUTION 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3095836" y="1772816"/>
            <a:ext cx="2952328" cy="1368152"/>
            <a:chOff x="179512" y="1988840"/>
            <a:chExt cx="2952328" cy="1368152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971600" y="2888940"/>
              <a:ext cx="216024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1547664" y="2708920"/>
              <a:ext cx="1008112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64 bits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3.14159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97160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13184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PI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79512" y="3140968"/>
            <a:ext cx="7848872" cy="369332"/>
            <a:chOff x="323528" y="1236822"/>
            <a:chExt cx="7848872" cy="369332"/>
          </a:xfrm>
        </p:grpSpPr>
        <p:sp>
          <p:nvSpPr>
            <p:cNvPr id="29" name="TextBox 28"/>
            <p:cNvSpPr txBox="1"/>
            <p:nvPr/>
          </p:nvSpPr>
          <p:spPr>
            <a:xfrm>
              <a:off x="971600" y="1236822"/>
              <a:ext cx="7200800" cy="36933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>
                  <a:solidFill>
                    <a:srgbClr val="00B0F0"/>
                  </a:solidFill>
                </a:rPr>
                <a:t>double</a:t>
              </a:r>
              <a:r>
                <a:rPr lang="en-US" dirty="0">
                  <a:solidFill>
                    <a:srgbClr val="0000FF"/>
                  </a:solidFill>
                </a:rPr>
                <a:t> radius, area;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3528" y="1236822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899592" y="3573016"/>
            <a:ext cx="2952328" cy="1368152"/>
            <a:chOff x="179512" y="1988840"/>
            <a:chExt cx="2952328" cy="1368152"/>
          </a:xfrm>
        </p:grpSpPr>
        <p:cxnSp>
          <p:nvCxnSpPr>
            <p:cNvPr id="42" name="Straight Arrow Connector 41"/>
            <p:cNvCxnSpPr/>
            <p:nvPr/>
          </p:nvCxnSpPr>
          <p:spPr>
            <a:xfrm>
              <a:off x="971600" y="2895393"/>
              <a:ext cx="216024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1547664" y="2715373"/>
              <a:ext cx="1008112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64 bits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Undefined Value</a:t>
              </a: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97160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13184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ounded Rectangle 43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radius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004048" y="3573016"/>
            <a:ext cx="2952328" cy="1368152"/>
            <a:chOff x="179512" y="1988840"/>
            <a:chExt cx="2952328" cy="1368152"/>
          </a:xfrm>
        </p:grpSpPr>
        <p:cxnSp>
          <p:nvCxnSpPr>
            <p:cNvPr id="49" name="Straight Arrow Connector 48"/>
            <p:cNvCxnSpPr/>
            <p:nvPr/>
          </p:nvCxnSpPr>
          <p:spPr>
            <a:xfrm>
              <a:off x="971600" y="2895393"/>
              <a:ext cx="216024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/>
            <p:cNvSpPr/>
            <p:nvPr/>
          </p:nvSpPr>
          <p:spPr>
            <a:xfrm>
              <a:off x="1547664" y="2715373"/>
              <a:ext cx="1008112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64 bits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Undefined Value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97160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13184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ounded Rectangle 50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area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179512" y="4941168"/>
            <a:ext cx="7848872" cy="369332"/>
            <a:chOff x="323528" y="1236822"/>
            <a:chExt cx="7848872" cy="369332"/>
          </a:xfrm>
        </p:grpSpPr>
        <p:sp>
          <p:nvSpPr>
            <p:cNvPr id="53" name="TextBox 52"/>
            <p:cNvSpPr txBox="1"/>
            <p:nvPr/>
          </p:nvSpPr>
          <p:spPr>
            <a:xfrm>
              <a:off x="971600" y="1236822"/>
              <a:ext cx="7200800" cy="36933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	radius = 2.5;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3528" y="1236822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899592" y="5373216"/>
            <a:ext cx="2952328" cy="1368152"/>
            <a:chOff x="179512" y="1988840"/>
            <a:chExt cx="2952328" cy="1368152"/>
          </a:xfrm>
        </p:grpSpPr>
        <p:cxnSp>
          <p:nvCxnSpPr>
            <p:cNvPr id="59" name="Straight Arrow Connector 58"/>
            <p:cNvCxnSpPr/>
            <p:nvPr/>
          </p:nvCxnSpPr>
          <p:spPr>
            <a:xfrm>
              <a:off x="971600" y="2901845"/>
              <a:ext cx="216024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>
              <a:off x="1547664" y="2721825"/>
              <a:ext cx="1008112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64 bits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2.5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>
              <a:off x="97160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13184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ounded Rectangle 60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radius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004048" y="5373216"/>
            <a:ext cx="2952328" cy="1368152"/>
            <a:chOff x="179512" y="1988840"/>
            <a:chExt cx="2952328" cy="1368152"/>
          </a:xfrm>
        </p:grpSpPr>
        <p:cxnSp>
          <p:nvCxnSpPr>
            <p:cNvPr id="66" name="Straight Arrow Connector 65"/>
            <p:cNvCxnSpPr/>
            <p:nvPr/>
          </p:nvCxnSpPr>
          <p:spPr>
            <a:xfrm>
              <a:off x="971600" y="2901845"/>
              <a:ext cx="216024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/>
            <p:cNvSpPr/>
            <p:nvPr/>
          </p:nvSpPr>
          <p:spPr>
            <a:xfrm>
              <a:off x="1547664" y="2721825"/>
              <a:ext cx="1008112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64 bits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Undefined Value</a:t>
              </a:r>
            </a:p>
          </p:txBody>
        </p:sp>
        <p:cxnSp>
          <p:nvCxnSpPr>
            <p:cNvPr id="64" name="Straight Connector 63"/>
            <p:cNvCxnSpPr/>
            <p:nvPr/>
          </p:nvCxnSpPr>
          <p:spPr>
            <a:xfrm>
              <a:off x="97160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313184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ounded Rectangle 67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area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00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ASSIGNMENT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79512" y="1340768"/>
            <a:ext cx="7848872" cy="369332"/>
            <a:chOff x="323528" y="1236822"/>
            <a:chExt cx="7848872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971600" y="1236822"/>
              <a:ext cx="7200800" cy="36933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area = PI * radius * radius;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3528" y="1236822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1 - SOLUTION (Cont.)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899592" y="1772816"/>
            <a:ext cx="2952328" cy="1368152"/>
            <a:chOff x="179512" y="1988840"/>
            <a:chExt cx="2952328" cy="1368152"/>
          </a:xfrm>
        </p:grpSpPr>
        <p:sp>
          <p:nvSpPr>
            <p:cNvPr id="56" name="Rounded Rectangle 55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2.5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>
              <a:off x="97160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13184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>
              <a:off x="971600" y="3032956"/>
              <a:ext cx="216024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>
              <a:off x="1547664" y="2852936"/>
              <a:ext cx="1008112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64 bits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radius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004048" y="1772816"/>
            <a:ext cx="2952328" cy="1368152"/>
            <a:chOff x="179512" y="1988840"/>
            <a:chExt cx="2952328" cy="1368152"/>
          </a:xfrm>
        </p:grpSpPr>
        <p:sp>
          <p:nvSpPr>
            <p:cNvPr id="63" name="Rounded Rectangle 62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19.6349375</a:t>
              </a:r>
            </a:p>
          </p:txBody>
        </p:sp>
        <p:cxnSp>
          <p:nvCxnSpPr>
            <p:cNvPr id="64" name="Straight Connector 63"/>
            <p:cNvCxnSpPr/>
            <p:nvPr/>
          </p:nvCxnSpPr>
          <p:spPr>
            <a:xfrm>
              <a:off x="97160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313184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971600" y="3032956"/>
              <a:ext cx="216024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/>
            <p:cNvSpPr/>
            <p:nvPr/>
          </p:nvSpPr>
          <p:spPr>
            <a:xfrm>
              <a:off x="1547664" y="2852936"/>
              <a:ext cx="1008112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64 bits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79512" y="1988840"/>
              <a:ext cx="720080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area</a:t>
              </a:r>
            </a:p>
          </p:txBody>
        </p:sp>
      </p:grpSp>
      <p:sp>
        <p:nvSpPr>
          <p:cNvPr id="69" name="Rectangle 68"/>
          <p:cNvSpPr/>
          <p:nvPr/>
        </p:nvSpPr>
        <p:spPr>
          <a:xfrm>
            <a:off x="179512" y="5661248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 sure that </a:t>
            </a:r>
            <a:r>
              <a:rPr lang="en-US" dirty="0">
                <a:solidFill>
                  <a:srgbClr val="FFFF00"/>
                </a:solidFill>
              </a:rPr>
              <a:t>ALL</a:t>
            </a:r>
            <a:r>
              <a:rPr lang="en-US" dirty="0"/>
              <a:t> used variables are already declared.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Variables on </a:t>
            </a:r>
            <a:r>
              <a:rPr lang="en-US" dirty="0">
                <a:solidFill>
                  <a:srgbClr val="FFFF00"/>
                </a:solidFill>
              </a:rPr>
              <a:t>both sides </a:t>
            </a:r>
            <a:r>
              <a:rPr lang="en-US" dirty="0">
                <a:solidFill>
                  <a:schemeClr val="bg1"/>
                </a:solidFill>
              </a:rPr>
              <a:t>of the equation must be previously declared.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9512" y="4581128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 sure that variables on the Right Hand Side already have values</a:t>
            </a:r>
            <a:endParaRPr lang="en-US" dirty="0">
              <a:solidFill>
                <a:srgbClr val="FFFF0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677110" y="3193231"/>
            <a:ext cx="6351273" cy="307777"/>
            <a:chOff x="683568" y="1236822"/>
            <a:chExt cx="7488832" cy="307777"/>
          </a:xfrm>
        </p:grpSpPr>
        <p:sp>
          <p:nvSpPr>
            <p:cNvPr id="27" name="TextBox 26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Area= 19.6349375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251520" y="3211815"/>
            <a:ext cx="141139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2096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9" grpId="0" animBg="1"/>
      <p:bldP spid="70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ASSIGNMENT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79512" y="1772816"/>
            <a:ext cx="7848872" cy="3970318"/>
            <a:chOff x="323528" y="1236822"/>
            <a:chExt cx="7848872" cy="3970318"/>
          </a:xfrm>
        </p:grpSpPr>
        <p:sp>
          <p:nvSpPr>
            <p:cNvPr id="15" name="TextBox 14"/>
            <p:cNvSpPr txBox="1"/>
            <p:nvPr/>
          </p:nvSpPr>
          <p:spPr>
            <a:xfrm>
              <a:off x="971600" y="1236822"/>
              <a:ext cx="7200800" cy="397031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public class </a:t>
              </a:r>
              <a:r>
                <a:rPr lang="en-US" dirty="0" err="1">
                  <a:solidFill>
                    <a:srgbClr val="0000FF"/>
                  </a:solidFill>
                </a:rPr>
                <a:t>AssignmentOperator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public static void </a:t>
              </a:r>
              <a:r>
                <a:rPr lang="en-US" dirty="0">
                  <a:solidFill>
                    <a:srgbClr val="0000FF"/>
                  </a:solidFill>
                </a:rPr>
                <a:t>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00FF"/>
                  </a:solidFill>
                </a:rPr>
                <a:t> counter;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counter = 0;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	</a:t>
              </a:r>
              <a:r>
                <a:rPr lang="en-US" dirty="0">
                  <a:solidFill>
                    <a:srgbClr val="0000FF"/>
                  </a:solidFill>
                </a:rPr>
                <a:t>counter = counter + 1;</a:t>
              </a:r>
            </a:p>
            <a:p>
              <a:r>
                <a:rPr lang="en-US" dirty="0"/>
                <a:t> 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(“counter= “ + counter);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3528" y="1236822"/>
              <a:ext cx="576064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4"/>
          <p:cNvSpPr>
            <a:spLocks noGrp="1"/>
          </p:cNvSpPr>
          <p:nvPr>
            <p:ph idx="1"/>
          </p:nvPr>
        </p:nvSpPr>
        <p:spPr>
          <a:xfrm>
            <a:off x="251520" y="1268761"/>
            <a:ext cx="8640960" cy="648071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 state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the following program:</a:t>
            </a:r>
          </a:p>
        </p:txBody>
      </p:sp>
    </p:spTree>
    <p:extLst>
      <p:ext uri="{BB962C8B-B14F-4D97-AF65-F5344CB8AC3E}">
        <p14:creationId xmlns:p14="http://schemas.microsoft.com/office/powerpoint/2010/main" val="169673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ASSIGNMENT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79512" y="1412776"/>
            <a:ext cx="7848872" cy="369332"/>
            <a:chOff x="323528" y="1236822"/>
            <a:chExt cx="7848872" cy="369332"/>
          </a:xfrm>
        </p:grpSpPr>
        <p:sp>
          <p:nvSpPr>
            <p:cNvPr id="15" name="TextBox 14"/>
            <p:cNvSpPr txBox="1"/>
            <p:nvPr/>
          </p:nvSpPr>
          <p:spPr>
            <a:xfrm>
              <a:off x="971600" y="1236822"/>
              <a:ext cx="7200800" cy="36933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00FF"/>
                  </a:solidFill>
                </a:rPr>
                <a:t> counter;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3528" y="1236822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2 - SOLUTION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2411760" y="1916832"/>
            <a:ext cx="3384376" cy="1368152"/>
            <a:chOff x="-252536" y="1988840"/>
            <a:chExt cx="3384376" cy="1368152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971600" y="2895393"/>
              <a:ext cx="216024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1547664" y="2715373"/>
              <a:ext cx="1008112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Undefined Value</a:t>
              </a: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97160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13184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>
              <a:off x="-252536" y="1988840"/>
              <a:ext cx="1152128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counter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79512" y="3068960"/>
            <a:ext cx="7848872" cy="369332"/>
            <a:chOff x="323528" y="1236822"/>
            <a:chExt cx="7848872" cy="369332"/>
          </a:xfrm>
        </p:grpSpPr>
        <p:sp>
          <p:nvSpPr>
            <p:cNvPr id="27" name="TextBox 26"/>
            <p:cNvSpPr txBox="1"/>
            <p:nvPr/>
          </p:nvSpPr>
          <p:spPr>
            <a:xfrm>
              <a:off x="971600" y="1236822"/>
              <a:ext cx="7200800" cy="36933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	counter = 0;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3528" y="1236822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411760" y="3573016"/>
            <a:ext cx="3384376" cy="1368152"/>
            <a:chOff x="-252536" y="1988840"/>
            <a:chExt cx="3384376" cy="1368152"/>
          </a:xfrm>
        </p:grpSpPr>
        <p:cxnSp>
          <p:nvCxnSpPr>
            <p:cNvPr id="30" name="Straight Arrow Connector 29"/>
            <p:cNvCxnSpPr/>
            <p:nvPr/>
          </p:nvCxnSpPr>
          <p:spPr>
            <a:xfrm>
              <a:off x="971600" y="2895393"/>
              <a:ext cx="216024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1547664" y="2715373"/>
              <a:ext cx="1008112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97160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313184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-252536" y="1988840"/>
              <a:ext cx="1152128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counter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79512" y="4797152"/>
            <a:ext cx="7848872" cy="369332"/>
            <a:chOff x="323528" y="1236822"/>
            <a:chExt cx="7848872" cy="369332"/>
          </a:xfrm>
        </p:grpSpPr>
        <p:sp>
          <p:nvSpPr>
            <p:cNvPr id="37" name="TextBox 36"/>
            <p:cNvSpPr txBox="1"/>
            <p:nvPr/>
          </p:nvSpPr>
          <p:spPr>
            <a:xfrm>
              <a:off x="971600" y="1236822"/>
              <a:ext cx="7200800" cy="36933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	counter = counter + 1; </a:t>
              </a:r>
              <a:r>
                <a:rPr lang="en-US" dirty="0">
                  <a:solidFill>
                    <a:srgbClr val="00B050"/>
                  </a:solidFill>
                </a:rPr>
                <a:t>// update the value of counter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3528" y="1236822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2411760" y="5301208"/>
            <a:ext cx="3384376" cy="1368152"/>
            <a:chOff x="-252536" y="1988840"/>
            <a:chExt cx="3384376" cy="1368152"/>
          </a:xfrm>
        </p:grpSpPr>
        <p:cxnSp>
          <p:nvCxnSpPr>
            <p:cNvPr id="40" name="Straight Arrow Connector 39"/>
            <p:cNvCxnSpPr/>
            <p:nvPr/>
          </p:nvCxnSpPr>
          <p:spPr>
            <a:xfrm>
              <a:off x="971600" y="2895393"/>
              <a:ext cx="216024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1547664" y="2715373"/>
              <a:ext cx="1008112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971600" y="1988840"/>
              <a:ext cx="216024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97160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131840" y="2708920"/>
              <a:ext cx="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-252536" y="1988840"/>
              <a:ext cx="1152128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counter</a:t>
              </a: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6012160" y="5301208"/>
            <a:ext cx="2016224" cy="7200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UPDATED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4211960" y="3573016"/>
            <a:ext cx="1008112" cy="7200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11960" y="3573016"/>
            <a:ext cx="1008112" cy="7200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72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ASSIGNMENT OPERATORS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– TRACING (Formal Solution)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251520" y="1916832"/>
            <a:ext cx="4176464" cy="360040"/>
            <a:chOff x="683568" y="1988840"/>
            <a:chExt cx="3456384" cy="360040"/>
          </a:xfrm>
          <a:solidFill>
            <a:schemeClr val="bg2">
              <a:lumMod val="90000"/>
            </a:schemeClr>
          </a:solidFill>
        </p:grpSpPr>
        <p:sp>
          <p:nvSpPr>
            <p:cNvPr id="2" name="Rectangle 1"/>
            <p:cNvSpPr/>
            <p:nvPr/>
          </p:nvSpPr>
          <p:spPr>
            <a:xfrm>
              <a:off x="683568" y="1988840"/>
              <a:ext cx="1728192" cy="360040"/>
            </a:xfrm>
            <a:prstGeom prst="rect">
              <a:avLst/>
            </a:prstGeom>
            <a:grp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Program Line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411760" y="1988840"/>
              <a:ext cx="1728192" cy="360040"/>
            </a:xfrm>
            <a:prstGeom prst="rect">
              <a:avLst/>
            </a:prstGeom>
            <a:grp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counter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51520" y="2276872"/>
            <a:ext cx="4176464" cy="360040"/>
            <a:chOff x="683568" y="1988840"/>
            <a:chExt cx="3456384" cy="360040"/>
          </a:xfrm>
        </p:grpSpPr>
        <p:sp>
          <p:nvSpPr>
            <p:cNvPr id="48" name="Rectangle 47"/>
            <p:cNvSpPr/>
            <p:nvPr/>
          </p:nvSpPr>
          <p:spPr>
            <a:xfrm>
              <a:off x="683568" y="1988840"/>
              <a:ext cx="1728192" cy="3600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0000FF"/>
                  </a:solidFill>
                </a:rPr>
                <a:t>1 to 5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411760" y="1988840"/>
              <a:ext cx="1728192" cy="3600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Undeclared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251520" y="2636912"/>
            <a:ext cx="4176464" cy="360040"/>
            <a:chOff x="683568" y="1988840"/>
            <a:chExt cx="3456384" cy="360040"/>
          </a:xfrm>
        </p:grpSpPr>
        <p:sp>
          <p:nvSpPr>
            <p:cNvPr id="52" name="Rectangle 51"/>
            <p:cNvSpPr/>
            <p:nvPr/>
          </p:nvSpPr>
          <p:spPr>
            <a:xfrm>
              <a:off x="683568" y="1988840"/>
              <a:ext cx="1728192" cy="3600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0000FF"/>
                  </a:solidFill>
                </a:rPr>
                <a:t>6, 7	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411760" y="1988840"/>
              <a:ext cx="1728192" cy="3600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Undefined Value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251520" y="2996952"/>
            <a:ext cx="4176464" cy="360040"/>
            <a:chOff x="683568" y="1988840"/>
            <a:chExt cx="3456384" cy="360040"/>
          </a:xfrm>
        </p:grpSpPr>
        <p:sp>
          <p:nvSpPr>
            <p:cNvPr id="55" name="Rectangle 54"/>
            <p:cNvSpPr/>
            <p:nvPr/>
          </p:nvSpPr>
          <p:spPr>
            <a:xfrm>
              <a:off x="683568" y="1988840"/>
              <a:ext cx="1728192" cy="3600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0000FF"/>
                  </a:solidFill>
                </a:rPr>
                <a:t>8	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411760" y="1988840"/>
              <a:ext cx="1728192" cy="3600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0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251520" y="3356992"/>
            <a:ext cx="4176464" cy="360040"/>
            <a:chOff x="683568" y="1988840"/>
            <a:chExt cx="3456384" cy="360040"/>
          </a:xfrm>
        </p:grpSpPr>
        <p:sp>
          <p:nvSpPr>
            <p:cNvPr id="58" name="Rectangle 57"/>
            <p:cNvSpPr/>
            <p:nvPr/>
          </p:nvSpPr>
          <p:spPr>
            <a:xfrm>
              <a:off x="683568" y="1988840"/>
              <a:ext cx="1728192" cy="3600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0000FF"/>
                  </a:solidFill>
                </a:rPr>
                <a:t>9	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411760" y="1988840"/>
              <a:ext cx="1728192" cy="3600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0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251520" y="3717032"/>
            <a:ext cx="4176464" cy="360040"/>
            <a:chOff x="683568" y="1988840"/>
            <a:chExt cx="3456384" cy="360040"/>
          </a:xfrm>
        </p:grpSpPr>
        <p:sp>
          <p:nvSpPr>
            <p:cNvPr id="61" name="Rectangle 60"/>
            <p:cNvSpPr/>
            <p:nvPr/>
          </p:nvSpPr>
          <p:spPr>
            <a:xfrm>
              <a:off x="683568" y="1988840"/>
              <a:ext cx="1728192" cy="3600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0000FF"/>
                  </a:solidFill>
                </a:rPr>
                <a:t>10	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411760" y="1988840"/>
              <a:ext cx="1728192" cy="3600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1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251520" y="4077072"/>
            <a:ext cx="4176464" cy="360040"/>
            <a:chOff x="683568" y="1988840"/>
            <a:chExt cx="3456384" cy="360040"/>
          </a:xfrm>
        </p:grpSpPr>
        <p:sp>
          <p:nvSpPr>
            <p:cNvPr id="64" name="Rectangle 63"/>
            <p:cNvSpPr/>
            <p:nvPr/>
          </p:nvSpPr>
          <p:spPr>
            <a:xfrm>
              <a:off x="683568" y="1988840"/>
              <a:ext cx="1728192" cy="3600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0000FF"/>
                  </a:solidFill>
                </a:rPr>
                <a:t>11 to 14	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411760" y="1988840"/>
              <a:ext cx="1728192" cy="3600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1</a:t>
              </a:r>
            </a:p>
          </p:txBody>
        </p:sp>
      </p:grpSp>
      <p:sp>
        <p:nvSpPr>
          <p:cNvPr id="68" name="Rectangle 67"/>
          <p:cNvSpPr/>
          <p:nvPr/>
        </p:nvSpPr>
        <p:spPr>
          <a:xfrm>
            <a:off x="2339752" y="1556792"/>
            <a:ext cx="2088232" cy="36004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Final value of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3707904" y="4063712"/>
            <a:ext cx="5328592" cy="2677656"/>
            <a:chOff x="74357" y="1236822"/>
            <a:chExt cx="8098043" cy="4798003"/>
          </a:xfrm>
        </p:grpSpPr>
        <p:sp>
          <p:nvSpPr>
            <p:cNvPr id="70" name="TextBox 69"/>
            <p:cNvSpPr txBox="1"/>
            <p:nvPr/>
          </p:nvSpPr>
          <p:spPr>
            <a:xfrm>
              <a:off x="971600" y="1236822"/>
              <a:ext cx="7200800" cy="479800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B0F0"/>
                  </a:solidFill>
                </a:rPr>
                <a:t>public class </a:t>
              </a:r>
              <a:r>
                <a:rPr lang="en-US" sz="1200" dirty="0" err="1">
                  <a:solidFill>
                    <a:srgbClr val="0000FF"/>
                  </a:solidFill>
                </a:rPr>
                <a:t>AssignmentOperator</a:t>
              </a:r>
              <a:endParaRPr lang="en-US" sz="1200" dirty="0">
                <a:solidFill>
                  <a:srgbClr val="0000FF"/>
                </a:solidFill>
              </a:endParaRPr>
            </a:p>
            <a:p>
              <a:r>
                <a:rPr lang="en-US" sz="12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200" dirty="0">
                  <a:solidFill>
                    <a:srgbClr val="00B0F0"/>
                  </a:solidFill>
                </a:rPr>
                <a:t>public static void </a:t>
              </a:r>
              <a:r>
                <a:rPr lang="en-US" sz="1200" dirty="0">
                  <a:solidFill>
                    <a:srgbClr val="0000FF"/>
                  </a:solidFill>
                </a:rPr>
                <a:t>main (String[] </a:t>
              </a:r>
              <a:r>
                <a:rPr lang="en-US" sz="1200" dirty="0" err="1">
                  <a:solidFill>
                    <a:srgbClr val="0000FF"/>
                  </a:solidFill>
                </a:rPr>
                <a:t>args</a:t>
              </a:r>
              <a:r>
                <a:rPr lang="en-US" sz="12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   </a:t>
              </a:r>
              <a:r>
                <a:rPr lang="en-US" sz="1200" dirty="0"/>
                <a:t>// Declaration section: to declare needed variables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 err="1">
                  <a:solidFill>
                    <a:srgbClr val="00B0F0"/>
                  </a:solidFill>
                </a:rPr>
                <a:t>int</a:t>
              </a:r>
              <a:r>
                <a:rPr lang="en-US" sz="1200" dirty="0">
                  <a:solidFill>
                    <a:srgbClr val="0000FF"/>
                  </a:solidFill>
                </a:rPr>
                <a:t> counter;</a:t>
              </a:r>
            </a:p>
            <a:p>
              <a:r>
                <a:rPr lang="en-US" sz="1200" dirty="0"/>
                <a:t>         // Input section: to enter values of used variables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counter = 0;</a:t>
              </a:r>
            </a:p>
            <a:p>
              <a:r>
                <a:rPr lang="en-US" sz="1200" dirty="0"/>
                <a:t>         // Processing section: processing statements</a:t>
              </a:r>
            </a:p>
            <a:p>
              <a:r>
                <a:rPr lang="en-US" sz="1200" dirty="0"/>
                <a:t>	</a:t>
              </a:r>
              <a:r>
                <a:rPr lang="en-US" sz="1200" dirty="0">
                  <a:solidFill>
                    <a:srgbClr val="0000FF"/>
                  </a:solidFill>
                </a:rPr>
                <a:t>counter = counter + 1;</a:t>
              </a:r>
            </a:p>
            <a:p>
              <a:r>
                <a:rPr lang="en-US" sz="1200" dirty="0"/>
                <a:t>         // Output section: display program output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	</a:t>
              </a:r>
              <a:r>
                <a:rPr lang="en-US" sz="12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200" dirty="0">
                  <a:solidFill>
                    <a:srgbClr val="0000FF"/>
                  </a:solidFill>
                </a:rPr>
                <a:t> (“counter= “ + counter);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     } </a:t>
              </a:r>
              <a:r>
                <a:rPr lang="en-US" sz="1200" dirty="0"/>
                <a:t>// end main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} </a:t>
              </a:r>
              <a:r>
                <a:rPr lang="en-US" sz="1200" dirty="0"/>
                <a:t>// end class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4357" y="1236822"/>
              <a:ext cx="825234" cy="3975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200" dirty="0">
                  <a:solidFill>
                    <a:srgbClr val="FF0000"/>
                  </a:solidFill>
                </a:rPr>
                <a:t>14</a:t>
              </a: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Explosion 2 6"/>
          <p:cNvSpPr/>
          <p:nvPr/>
        </p:nvSpPr>
        <p:spPr>
          <a:xfrm>
            <a:off x="7164288" y="764704"/>
            <a:ext cx="1584176" cy="1080120"/>
          </a:xfrm>
          <a:prstGeom prst="irregularSeal2">
            <a:avLst/>
          </a:prstGeom>
          <a:solidFill>
            <a:srgbClr val="FFFF00"/>
          </a:solidFill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72519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ARITHMETIC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9" name="Content Placeholder 4"/>
          <p:cNvSpPr>
            <a:spLocks noGrp="1"/>
          </p:cNvSpPr>
          <p:nvPr>
            <p:ph idx="1"/>
          </p:nvPr>
        </p:nvSpPr>
        <p:spPr>
          <a:xfrm>
            <a:off x="251520" y="1052737"/>
            <a:ext cx="8640960" cy="1728192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5 arithmetic operators in Java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Addition (+)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Subtraction (-)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Multiplication (*)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Division (/)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Modulus (%)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endParaRPr lang="en-US" sz="16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691680" y="2852935"/>
            <a:ext cx="6408712" cy="59570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variable = operand1 operator operand2;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51520" y="285293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520" y="3573015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1680" y="3573015"/>
            <a:ext cx="6408712" cy="5957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10 + 5; 	</a:t>
            </a:r>
            <a:r>
              <a:rPr lang="en-US" dirty="0">
                <a:solidFill>
                  <a:srgbClr val="00B050"/>
                </a:solidFill>
              </a:rPr>
              <a:t>// 10 and 5 are called operands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520" y="4293096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91680" y="4293096"/>
            <a:ext cx="6408712" cy="7659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10;</a:t>
            </a:r>
          </a:p>
          <a:p>
            <a:r>
              <a:rPr lang="en-US" dirty="0">
                <a:solidFill>
                  <a:schemeClr val="tx1"/>
                </a:solidFill>
              </a:rPr>
              <a:t>y =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* 10;	</a:t>
            </a:r>
            <a:r>
              <a:rPr lang="en-US" dirty="0">
                <a:solidFill>
                  <a:srgbClr val="00B050"/>
                </a:solidFill>
              </a:rPr>
              <a:t>// x and 10 are the operands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520" y="515719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91680" y="5157192"/>
            <a:ext cx="6408712" cy="936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10;</a:t>
            </a:r>
          </a:p>
          <a:p>
            <a:r>
              <a:rPr lang="en-US" dirty="0">
                <a:solidFill>
                  <a:schemeClr val="tx1"/>
                </a:solidFill>
              </a:rPr>
              <a:t>y =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* 10 + 5;	</a:t>
            </a:r>
            <a:r>
              <a:rPr lang="en-US" dirty="0">
                <a:solidFill>
                  <a:srgbClr val="00B050"/>
                </a:solidFill>
              </a:rPr>
              <a:t>// x and 10 are the operands of *</a:t>
            </a:r>
          </a:p>
          <a:p>
            <a:r>
              <a:rPr lang="en-US" dirty="0">
                <a:solidFill>
                  <a:srgbClr val="00B050"/>
                </a:solidFill>
              </a:rPr>
              <a:t>		// x*10 and 5 are the operands of +</a:t>
            </a:r>
          </a:p>
        </p:txBody>
      </p:sp>
    </p:spTree>
    <p:extLst>
      <p:ext uri="{BB962C8B-B14F-4D97-AF65-F5344CB8AC3E}">
        <p14:creationId xmlns:p14="http://schemas.microsoft.com/office/powerpoint/2010/main" val="285493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uiExpand="1" build="p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ARITHMETIC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255478" y="1412776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5638" y="1412776"/>
            <a:ext cx="7128792" cy="9622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x = 15;</a:t>
            </a:r>
          </a:p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y = 2;</a:t>
            </a:r>
          </a:p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z =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>
                <a:solidFill>
                  <a:srgbClr val="0000FF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;   </a:t>
            </a:r>
            <a:r>
              <a:rPr lang="en-US" dirty="0">
                <a:solidFill>
                  <a:srgbClr val="00B050"/>
                </a:solidFill>
              </a:rPr>
              <a:t>// z = 7 (the decimal part is truncated)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DIVISION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79512" y="5661248"/>
            <a:ext cx="8807896" cy="46805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division of two integers truncate the decimal part of the result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51520" y="246671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80" y="2466712"/>
            <a:ext cx="7128792" cy="9622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x = 15;</a:t>
            </a:r>
          </a:p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y = 2;</a:t>
            </a:r>
          </a:p>
          <a:p>
            <a:r>
              <a:rPr lang="en-US" dirty="0">
                <a:solidFill>
                  <a:srgbClr val="00B0F0"/>
                </a:solidFill>
              </a:rPr>
              <a:t>double </a:t>
            </a:r>
            <a:r>
              <a:rPr lang="en-US" dirty="0">
                <a:solidFill>
                  <a:schemeClr val="tx1"/>
                </a:solidFill>
              </a:rPr>
              <a:t> z =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>
                <a:solidFill>
                  <a:srgbClr val="0000FF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;   </a:t>
            </a:r>
            <a:r>
              <a:rPr lang="en-US" dirty="0">
                <a:solidFill>
                  <a:srgbClr val="00B050"/>
                </a:solidFill>
              </a:rPr>
              <a:t>// z = 7.0 (since x &amp; y are integers)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1520" y="354683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91680" y="3546832"/>
            <a:ext cx="7128792" cy="9622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x = 15;</a:t>
            </a:r>
          </a:p>
          <a:p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 y = 2.0;</a:t>
            </a:r>
          </a:p>
          <a:p>
            <a:r>
              <a:rPr lang="en-US" dirty="0">
                <a:solidFill>
                  <a:srgbClr val="00B0F0"/>
                </a:solidFill>
              </a:rPr>
              <a:t>double </a:t>
            </a:r>
            <a:r>
              <a:rPr lang="en-US" dirty="0">
                <a:solidFill>
                  <a:schemeClr val="tx1"/>
                </a:solidFill>
              </a:rPr>
              <a:t> z =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>
                <a:solidFill>
                  <a:srgbClr val="0000FF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;   </a:t>
            </a:r>
            <a:r>
              <a:rPr lang="en-US" dirty="0">
                <a:solidFill>
                  <a:srgbClr val="00B050"/>
                </a:solidFill>
              </a:rPr>
              <a:t>// z = 7.5 (since y is double)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1520" y="462695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91680" y="4626952"/>
            <a:ext cx="7128792" cy="9622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 x = 15.0;</a:t>
            </a:r>
          </a:p>
          <a:p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 y = 2.0;</a:t>
            </a:r>
          </a:p>
          <a:p>
            <a:r>
              <a:rPr lang="en-US" dirty="0">
                <a:solidFill>
                  <a:srgbClr val="00B0F0"/>
                </a:solidFill>
              </a:rPr>
              <a:t>double </a:t>
            </a:r>
            <a:r>
              <a:rPr lang="en-US" dirty="0">
                <a:solidFill>
                  <a:schemeClr val="tx1"/>
                </a:solidFill>
              </a:rPr>
              <a:t> z =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>
                <a:solidFill>
                  <a:srgbClr val="0000FF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;   </a:t>
            </a:r>
            <a:r>
              <a:rPr lang="en-US" dirty="0">
                <a:solidFill>
                  <a:srgbClr val="00B050"/>
                </a:solidFill>
              </a:rPr>
              <a:t>// z = 7.5 (since x &amp; y are double)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9512" y="6201308"/>
            <a:ext cx="8807896" cy="46805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 the </a:t>
            </a:r>
            <a:r>
              <a:rPr lang="en-US" dirty="0">
                <a:solidFill>
                  <a:srgbClr val="FFFF00"/>
                </a:solidFill>
              </a:rPr>
              <a:t>.0</a:t>
            </a:r>
            <a:r>
              <a:rPr lang="en-US" dirty="0"/>
              <a:t> that we have to write with double numbers 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77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15" grpId="0" animBg="1"/>
      <p:bldP spid="25" grpId="0" animBg="1"/>
      <p:bldP spid="27" grpId="0" animBg="1"/>
      <p:bldP spid="28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ARITHMETIC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9" name="Content Placeholder 4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0405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Modulus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remainder of the division of two numbers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55478" y="1772816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5638" y="1772816"/>
            <a:ext cx="6408712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5 %  2; 	</a:t>
            </a:r>
            <a:r>
              <a:rPr lang="en-US" dirty="0">
                <a:solidFill>
                  <a:srgbClr val="00B050"/>
                </a:solidFill>
              </a:rPr>
              <a:t>// x = 1      (1 &lt; 2)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520" y="2375064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91680" y="2375064"/>
            <a:ext cx="6408712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24 % 2;	</a:t>
            </a:r>
            <a:r>
              <a:rPr lang="en-US" dirty="0">
                <a:solidFill>
                  <a:srgbClr val="00B050"/>
                </a:solidFill>
              </a:rPr>
              <a:t>// x = 0      (0 &lt; 2)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MODULUS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1520" y="299695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80" y="2996952"/>
            <a:ext cx="6408712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21 % 7;	</a:t>
            </a:r>
            <a:r>
              <a:rPr lang="en-US" dirty="0">
                <a:solidFill>
                  <a:srgbClr val="00B050"/>
                </a:solidFill>
              </a:rPr>
              <a:t>// x = 0      (0 &lt; 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520" y="3573016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1680" y="3573016"/>
            <a:ext cx="6408712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x = 8 % 3;	</a:t>
            </a:r>
            <a:r>
              <a:rPr lang="en-US" dirty="0">
                <a:solidFill>
                  <a:srgbClr val="00B050"/>
                </a:solidFill>
              </a:rPr>
              <a:t>// x = 2      (2 &lt; 3)</a:t>
            </a:r>
          </a:p>
        </p:txBody>
      </p:sp>
      <p:sp>
        <p:nvSpPr>
          <p:cNvPr id="21" name="Content Placeholder 4"/>
          <p:cNvSpPr txBox="1">
            <a:spLocks/>
          </p:cNvSpPr>
          <p:nvPr/>
        </p:nvSpPr>
        <p:spPr>
          <a:xfrm>
            <a:off x="179512" y="4149080"/>
            <a:ext cx="8856984" cy="5040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result of a modulus (or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operation is always less than the divisor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Content Placeholder 4"/>
          <p:cNvSpPr txBox="1">
            <a:spLocks/>
          </p:cNvSpPr>
          <p:nvPr/>
        </p:nvSpPr>
        <p:spPr>
          <a:xfrm>
            <a:off x="179512" y="4509120"/>
            <a:ext cx="8856984" cy="5040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even number mod 2 is always zero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(Ex. 2)</a:t>
            </a:r>
            <a:endParaRPr lang="en-US" sz="16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Content Placeholder 4"/>
          <p:cNvSpPr txBox="1">
            <a:spLocks/>
          </p:cNvSpPr>
          <p:nvPr/>
        </p:nvSpPr>
        <p:spPr>
          <a:xfrm>
            <a:off x="179512" y="4989173"/>
            <a:ext cx="8856984" cy="5040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odd number mod 2 is always 1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(Ex. 1)</a:t>
            </a:r>
            <a:endParaRPr lang="en-US" sz="16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Content Placeholder 4"/>
          <p:cNvSpPr txBox="1">
            <a:spLocks/>
          </p:cNvSpPr>
          <p:nvPr/>
        </p:nvSpPr>
        <p:spPr>
          <a:xfrm>
            <a:off x="179512" y="5469227"/>
            <a:ext cx="8856984" cy="5040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mod Y, where X is multiple of Y, is always zero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(Ex. 3)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9512" y="6273316"/>
            <a:ext cx="8807896" cy="46805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operands of a mod operator must be of </a:t>
            </a:r>
            <a:r>
              <a:rPr lang="en-US" dirty="0">
                <a:solidFill>
                  <a:srgbClr val="FFFF00"/>
                </a:solidFill>
              </a:rPr>
              <a:t>integer </a:t>
            </a:r>
            <a:r>
              <a:rPr lang="en-US" dirty="0"/>
              <a:t>type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6" name="Content Placeholder 4"/>
          <p:cNvSpPr txBox="1">
            <a:spLocks/>
          </p:cNvSpPr>
          <p:nvPr/>
        </p:nvSpPr>
        <p:spPr>
          <a:xfrm>
            <a:off x="179512" y="5829267"/>
            <a:ext cx="8856984" cy="5040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mod operation is not commutative; i.e. X mod Y ǂ Y mod X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94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  <p:bldP spid="32" grpId="0" animBg="1"/>
      <p:bldP spid="33" grpId="0" animBg="1"/>
      <p:bldP spid="34" grpId="0" animBg="1"/>
      <p:bldP spid="35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build="p"/>
      <p:bldP spid="22" grpId="0" build="p"/>
      <p:bldP spid="23" grpId="0" build="p"/>
      <p:bldP spid="24" grpId="0" build="p"/>
      <p:bldP spid="25" grpId="0" animBg="1"/>
      <p:bldP spid="2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ARITHMETIC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ORDER OF PRECEDENCE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4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1800200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order of precedence of the arithmetic operators is as follows: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Parenthesis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the highest priority: they are evaluated from inside to outside.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Multiplication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Division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</a:t>
            </a: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Modulus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the same priority rules. They are evaluated from left to right.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Addition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Subtraction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the same priority rules. They are evaluated from left to right.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5478" y="3140968"/>
            <a:ext cx="1296144" cy="36004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5638" y="3140968"/>
            <a:ext cx="3092386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3 * 7 – 6 + 2 * 5 / 4 + 6	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60032" y="3140968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No parenthesis, look for * / %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3510" y="3573016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91680" y="3573016"/>
            <a:ext cx="3092386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3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7 – 6 + 2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5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>
                <a:solidFill>
                  <a:schemeClr val="tx1"/>
                </a:solidFill>
              </a:rPr>
              <a:t> 4 + 6	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860032" y="3573016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Evaluate from left to right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39552" y="4005064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87722" y="4005064"/>
            <a:ext cx="3092386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21</a:t>
            </a:r>
            <a:r>
              <a:rPr lang="en-US" dirty="0">
                <a:solidFill>
                  <a:schemeClr val="tx1"/>
                </a:solidFill>
              </a:rPr>
              <a:t> – 6 + </a:t>
            </a:r>
            <a:r>
              <a:rPr lang="en-US" dirty="0">
                <a:solidFill>
                  <a:srgbClr val="FF0000"/>
                </a:solidFill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>
                <a:solidFill>
                  <a:schemeClr val="tx1"/>
                </a:solidFill>
              </a:rPr>
              <a:t> 4 + 6	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856074" y="4005064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This is an integer division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39552" y="4437112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87722" y="4437112"/>
            <a:ext cx="3092386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21 – 6 +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+ 6	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856074" y="4437112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Evaluate from left to right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39552" y="4869160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87722" y="4869160"/>
            <a:ext cx="3092386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21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US" dirty="0">
                <a:solidFill>
                  <a:schemeClr val="tx1"/>
                </a:solidFill>
              </a:rPr>
              <a:t> 6 + 2 + 6	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856074" y="4869160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Evaluate from left to right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39552" y="5301208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687722" y="5301208"/>
            <a:ext cx="3092386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15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US" dirty="0">
                <a:solidFill>
                  <a:schemeClr val="tx1"/>
                </a:solidFill>
              </a:rPr>
              <a:t> 2 + 6	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856074" y="5301208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Evaluate from left to right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539552" y="5733256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87722" y="5733256"/>
            <a:ext cx="3092386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17 +</a:t>
            </a:r>
            <a:r>
              <a:rPr lang="en-US" dirty="0">
                <a:solidFill>
                  <a:schemeClr val="tx1"/>
                </a:solidFill>
              </a:rPr>
              <a:t> 6	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856074" y="5733256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Evaluate from left to right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39552" y="6165304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687722" y="6165304"/>
            <a:ext cx="3092386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23</a:t>
            </a:r>
            <a:r>
              <a:rPr lang="en-US" dirty="0">
                <a:solidFill>
                  <a:schemeClr val="tx1"/>
                </a:solidFill>
              </a:rPr>
              <a:t>	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856074" y="6165304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Final result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79512" y="6237312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equivalent to:		</a:t>
            </a:r>
            <a:r>
              <a:rPr lang="en-US" dirty="0">
                <a:solidFill>
                  <a:srgbClr val="FFFF00"/>
                </a:solidFill>
              </a:rPr>
              <a:t>(((3*7)-6)+((2*5)/4))+6</a:t>
            </a:r>
          </a:p>
        </p:txBody>
      </p:sp>
    </p:spTree>
    <p:extLst>
      <p:ext uri="{BB962C8B-B14F-4D97-AF65-F5344CB8AC3E}">
        <p14:creationId xmlns:p14="http://schemas.microsoft.com/office/powerpoint/2010/main" val="106554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6" grpId="0" uiExpand="1" build="p"/>
      <p:bldP spid="27" grpId="0" animBg="1"/>
      <p:bldP spid="28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ARITHMETIC OPERATORS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ORDER OF PRECEDENCE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79512" y="1412776"/>
            <a:ext cx="1296144" cy="36004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27588" y="1412776"/>
            <a:ext cx="3244318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3 *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7 – 6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+ 2 * 5 /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4 + 6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04048" y="1412776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Evaluate parenthesis first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67544" y="1844824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23630" y="1844824"/>
            <a:ext cx="3244318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3 *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+ 2 * 5 / </a:t>
            </a:r>
            <a:r>
              <a:rPr lang="en-US" dirty="0">
                <a:solidFill>
                  <a:srgbClr val="FF0000"/>
                </a:solidFill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04048" y="1844824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Look for * / %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63586" y="2276872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19672" y="2276872"/>
            <a:ext cx="3244318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3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1 + 2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5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>
                <a:solidFill>
                  <a:schemeClr val="tx1"/>
                </a:solidFill>
              </a:rPr>
              <a:t> 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00090" y="2276872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Evaluate from left to right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3586" y="2708920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19672" y="2708920"/>
            <a:ext cx="3244318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 + </a:t>
            </a:r>
            <a:r>
              <a:rPr lang="en-US" dirty="0">
                <a:solidFill>
                  <a:srgbClr val="FF0000"/>
                </a:solidFill>
              </a:rPr>
              <a:t>10 /</a:t>
            </a:r>
            <a:r>
              <a:rPr lang="en-US" dirty="0">
                <a:solidFill>
                  <a:schemeClr val="tx1"/>
                </a:solidFill>
              </a:rPr>
              <a:t> 10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00090" y="2708920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Evaluate division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3586" y="3140968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19672" y="3140968"/>
            <a:ext cx="3244318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3 </a:t>
            </a:r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00090" y="3140968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Evaluate division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3586" y="3573016"/>
            <a:ext cx="1008112" cy="360040"/>
          </a:xfrm>
          <a:prstGeom prst="round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619672" y="3573016"/>
            <a:ext cx="3244318" cy="3600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00090" y="3573016"/>
            <a:ext cx="4032448" cy="36004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Final result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9512" y="4689140"/>
            <a:ext cx="8807896" cy="4680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equivalent to:		</a:t>
            </a:r>
            <a:r>
              <a:rPr lang="en-US" dirty="0">
                <a:solidFill>
                  <a:srgbClr val="FFFF00"/>
                </a:solidFill>
              </a:rPr>
              <a:t>(3*(7-6))+((2*5)/(4+6))</a:t>
            </a:r>
          </a:p>
        </p:txBody>
      </p:sp>
    </p:spTree>
    <p:extLst>
      <p:ext uri="{BB962C8B-B14F-4D97-AF65-F5344CB8AC3E}">
        <p14:creationId xmlns:p14="http://schemas.microsoft.com/office/powerpoint/2010/main" val="228198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7" grpId="0" animBg="1"/>
      <p:bldP spid="28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9" name="Content Placeholder 4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1995263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provides five compound operators (</a:t>
            </a:r>
            <a:r>
              <a:rPr lang="en-US" sz="2000" u="sng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arithmetic assignment operators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):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+=	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 += y    equivalent to 	</a:t>
            </a:r>
            <a:r>
              <a:rPr lang="en-US" sz="1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</a:t>
            </a:r>
            <a:r>
              <a:rPr lang="en-US" sz="1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+ y)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-=		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 -= y     equivalent to 	</a:t>
            </a:r>
            <a:r>
              <a:rPr lang="en-US" sz="1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</a:t>
            </a:r>
            <a:r>
              <a:rPr lang="en-US" sz="1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y)</a:t>
            </a: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*=		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 *= y     equivalent to 	</a:t>
            </a:r>
            <a:r>
              <a:rPr lang="en-US" sz="1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</a:t>
            </a:r>
            <a:r>
              <a:rPr lang="en-US" sz="1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* y)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/=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(x /= y     equivalent to 	</a:t>
            </a:r>
            <a:r>
              <a:rPr lang="en-US" sz="1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</a:t>
            </a:r>
            <a:r>
              <a:rPr lang="en-US" sz="1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y)</a:t>
            </a:r>
            <a:endParaRPr lang="en-US" sz="18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%=	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 %= y   equivalent to 	</a:t>
            </a:r>
            <a:r>
              <a:rPr lang="en-US" sz="1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</a:t>
            </a:r>
            <a:r>
              <a:rPr lang="en-US" sz="1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% y)</a:t>
            </a:r>
            <a:endParaRPr lang="en-US" sz="18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endParaRPr lang="en-US" sz="16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51520" y="318559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1680" y="3185592"/>
            <a:ext cx="4392488" cy="10801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x = 10; </a:t>
            </a:r>
          </a:p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y = 5;</a:t>
            </a:r>
          </a:p>
          <a:p>
            <a:r>
              <a:rPr lang="en-US" dirty="0">
                <a:solidFill>
                  <a:schemeClr val="tx1"/>
                </a:solidFill>
              </a:rPr>
              <a:t>x*= </a:t>
            </a:r>
            <a:r>
              <a:rPr lang="en-US" dirty="0">
                <a:solidFill>
                  <a:srgbClr val="0000FF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;		</a:t>
            </a:r>
            <a:r>
              <a:rPr lang="en-US" dirty="0">
                <a:solidFill>
                  <a:srgbClr val="00B050"/>
                </a:solidFill>
              </a:rPr>
              <a:t>//x = x * y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691680" y="4409728"/>
            <a:ext cx="1800200" cy="1152128"/>
            <a:chOff x="251520" y="4149080"/>
            <a:chExt cx="1800200" cy="1152128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971600" y="5055633"/>
              <a:ext cx="108012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1115616" y="4875613"/>
              <a:ext cx="792088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71600" y="4149080"/>
              <a:ext cx="108012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205172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251520" y="4149080"/>
              <a:ext cx="648072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97160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283968" y="4409728"/>
            <a:ext cx="1800200" cy="1152128"/>
            <a:chOff x="251520" y="4149080"/>
            <a:chExt cx="1800200" cy="1152128"/>
          </a:xfrm>
        </p:grpSpPr>
        <p:cxnSp>
          <p:nvCxnSpPr>
            <p:cNvPr id="40" name="Straight Arrow Connector 39"/>
            <p:cNvCxnSpPr/>
            <p:nvPr/>
          </p:nvCxnSpPr>
          <p:spPr>
            <a:xfrm>
              <a:off x="971600" y="5055633"/>
              <a:ext cx="108012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1115616" y="4875613"/>
              <a:ext cx="792088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971600" y="4149080"/>
              <a:ext cx="108012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</a:t>
              </a:r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205172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ounded Rectangle 43"/>
            <p:cNvSpPr/>
            <p:nvPr/>
          </p:nvSpPr>
          <p:spPr>
            <a:xfrm>
              <a:off x="251520" y="4149080"/>
              <a:ext cx="648072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</a:t>
              </a: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97160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1691680" y="5705872"/>
            <a:ext cx="1800200" cy="1152128"/>
            <a:chOff x="251520" y="4149080"/>
            <a:chExt cx="1800200" cy="1152128"/>
          </a:xfrm>
        </p:grpSpPr>
        <p:cxnSp>
          <p:nvCxnSpPr>
            <p:cNvPr id="47" name="Straight Arrow Connector 46"/>
            <p:cNvCxnSpPr/>
            <p:nvPr/>
          </p:nvCxnSpPr>
          <p:spPr>
            <a:xfrm>
              <a:off x="971600" y="5055633"/>
              <a:ext cx="108012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1115616" y="4875613"/>
              <a:ext cx="792088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971600" y="4149080"/>
              <a:ext cx="108012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50</a:t>
              </a:r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205172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ounded Rectangle 50"/>
            <p:cNvSpPr/>
            <p:nvPr/>
          </p:nvSpPr>
          <p:spPr>
            <a:xfrm>
              <a:off x="251520" y="4149080"/>
              <a:ext cx="648072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cxnSp>
          <p:nvCxnSpPr>
            <p:cNvPr id="52" name="Straight Connector 51"/>
            <p:cNvCxnSpPr/>
            <p:nvPr/>
          </p:nvCxnSpPr>
          <p:spPr>
            <a:xfrm>
              <a:off x="97160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ounded Rectangle 52"/>
          <p:cNvSpPr/>
          <p:nvPr/>
        </p:nvSpPr>
        <p:spPr>
          <a:xfrm>
            <a:off x="207302" y="5725050"/>
            <a:ext cx="1332148" cy="7200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UPDATED</a:t>
            </a:r>
          </a:p>
        </p:txBody>
      </p:sp>
      <p:cxnSp>
        <p:nvCxnSpPr>
          <p:cNvPr id="54" name="Straight Connector 53"/>
          <p:cNvCxnSpPr/>
          <p:nvPr/>
        </p:nvCxnSpPr>
        <p:spPr>
          <a:xfrm flipH="1">
            <a:off x="2447764" y="4416181"/>
            <a:ext cx="1008112" cy="7200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2447764" y="4416181"/>
            <a:ext cx="1008112" cy="7200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4283968" y="5705872"/>
            <a:ext cx="1800200" cy="1152128"/>
            <a:chOff x="251520" y="4149080"/>
            <a:chExt cx="1800200" cy="1152128"/>
          </a:xfrm>
        </p:grpSpPr>
        <p:cxnSp>
          <p:nvCxnSpPr>
            <p:cNvPr id="35" name="Straight Arrow Connector 34"/>
            <p:cNvCxnSpPr/>
            <p:nvPr/>
          </p:nvCxnSpPr>
          <p:spPr>
            <a:xfrm>
              <a:off x="971600" y="5055633"/>
              <a:ext cx="108012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1115616" y="4875613"/>
              <a:ext cx="792088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71600" y="4149080"/>
              <a:ext cx="108012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</a:t>
              </a:r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205172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ounded Rectangle 56"/>
            <p:cNvSpPr/>
            <p:nvPr/>
          </p:nvSpPr>
          <p:spPr>
            <a:xfrm>
              <a:off x="251520" y="4149080"/>
              <a:ext cx="648072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</a:t>
              </a:r>
            </a:p>
          </p:txBody>
        </p:sp>
        <p:cxnSp>
          <p:nvCxnSpPr>
            <p:cNvPr id="58" name="Straight Connector 57"/>
            <p:cNvCxnSpPr/>
            <p:nvPr/>
          </p:nvCxnSpPr>
          <p:spPr>
            <a:xfrm>
              <a:off x="97160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ounded Rectangle 58"/>
          <p:cNvSpPr/>
          <p:nvPr/>
        </p:nvSpPr>
        <p:spPr>
          <a:xfrm>
            <a:off x="6156176" y="5712325"/>
            <a:ext cx="1656184" cy="7200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Unchanged</a:t>
            </a:r>
          </a:p>
        </p:txBody>
      </p:sp>
      <p:sp>
        <p:nvSpPr>
          <p:cNvPr id="6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COMPOUND OPERATORS</a:t>
            </a:r>
          </a:p>
        </p:txBody>
      </p:sp>
    </p:spTree>
    <p:extLst>
      <p:ext uri="{BB962C8B-B14F-4D97-AF65-F5344CB8AC3E}">
        <p14:creationId xmlns:p14="http://schemas.microsoft.com/office/powerpoint/2010/main" val="201657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uiExpand="1" build="p"/>
      <p:bldP spid="32" grpId="0" animBg="1"/>
      <p:bldP spid="33" grpId="0" animBg="1"/>
      <p:bldP spid="53" grpId="0" animBg="1"/>
      <p:bldP spid="5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251520" y="1052736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1680" y="1052736"/>
            <a:ext cx="4392488" cy="10801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x = 10; </a:t>
            </a:r>
          </a:p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y = 5;</a:t>
            </a:r>
          </a:p>
          <a:p>
            <a:r>
              <a:rPr lang="en-US" dirty="0">
                <a:solidFill>
                  <a:schemeClr val="tx1"/>
                </a:solidFill>
              </a:rPr>
              <a:t>x*= </a:t>
            </a:r>
            <a:r>
              <a:rPr lang="en-US" dirty="0">
                <a:solidFill>
                  <a:srgbClr val="0000FF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 + 7;	</a:t>
            </a:r>
            <a:r>
              <a:rPr lang="en-US" dirty="0">
                <a:solidFill>
                  <a:srgbClr val="00B050"/>
                </a:solidFill>
              </a:rPr>
              <a:t>//x = x * (y + 7)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691680" y="2276872"/>
            <a:ext cx="1800200" cy="1152128"/>
            <a:chOff x="251520" y="4149080"/>
            <a:chExt cx="1800200" cy="1152128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971600" y="5055633"/>
              <a:ext cx="108012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1115616" y="4875613"/>
              <a:ext cx="792088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71600" y="4149080"/>
              <a:ext cx="108012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205172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251520" y="4149080"/>
              <a:ext cx="648072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97160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283968" y="2276872"/>
            <a:ext cx="1800200" cy="1152128"/>
            <a:chOff x="251520" y="4149080"/>
            <a:chExt cx="1800200" cy="1152128"/>
          </a:xfrm>
        </p:grpSpPr>
        <p:cxnSp>
          <p:nvCxnSpPr>
            <p:cNvPr id="40" name="Straight Arrow Connector 39"/>
            <p:cNvCxnSpPr/>
            <p:nvPr/>
          </p:nvCxnSpPr>
          <p:spPr>
            <a:xfrm>
              <a:off x="971600" y="5055633"/>
              <a:ext cx="108012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1115616" y="4875613"/>
              <a:ext cx="792088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971600" y="4149080"/>
              <a:ext cx="108012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</a:t>
              </a:r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205172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ounded Rectangle 43"/>
            <p:cNvSpPr/>
            <p:nvPr/>
          </p:nvSpPr>
          <p:spPr>
            <a:xfrm>
              <a:off x="251520" y="4149080"/>
              <a:ext cx="648072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</a:t>
              </a: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97160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1691680" y="3573016"/>
            <a:ext cx="1800200" cy="1152128"/>
            <a:chOff x="251520" y="4149080"/>
            <a:chExt cx="1800200" cy="1152128"/>
          </a:xfrm>
        </p:grpSpPr>
        <p:cxnSp>
          <p:nvCxnSpPr>
            <p:cNvPr id="47" name="Straight Arrow Connector 46"/>
            <p:cNvCxnSpPr/>
            <p:nvPr/>
          </p:nvCxnSpPr>
          <p:spPr>
            <a:xfrm>
              <a:off x="971600" y="5055633"/>
              <a:ext cx="108012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1115616" y="4875613"/>
              <a:ext cx="792088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971600" y="4149080"/>
              <a:ext cx="108012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120</a:t>
              </a:r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205172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ounded Rectangle 50"/>
            <p:cNvSpPr/>
            <p:nvPr/>
          </p:nvSpPr>
          <p:spPr>
            <a:xfrm>
              <a:off x="251520" y="4149080"/>
              <a:ext cx="648072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cxnSp>
          <p:nvCxnSpPr>
            <p:cNvPr id="52" name="Straight Connector 51"/>
            <p:cNvCxnSpPr/>
            <p:nvPr/>
          </p:nvCxnSpPr>
          <p:spPr>
            <a:xfrm>
              <a:off x="97160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ounded Rectangle 52"/>
          <p:cNvSpPr/>
          <p:nvPr/>
        </p:nvSpPr>
        <p:spPr>
          <a:xfrm>
            <a:off x="207302" y="3592194"/>
            <a:ext cx="1332148" cy="7200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UPDATED</a:t>
            </a:r>
          </a:p>
        </p:txBody>
      </p:sp>
      <p:cxnSp>
        <p:nvCxnSpPr>
          <p:cNvPr id="54" name="Straight Connector 53"/>
          <p:cNvCxnSpPr/>
          <p:nvPr/>
        </p:nvCxnSpPr>
        <p:spPr>
          <a:xfrm flipH="1">
            <a:off x="2447764" y="2276872"/>
            <a:ext cx="1008112" cy="7200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2447764" y="2276872"/>
            <a:ext cx="1008112" cy="7200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4283968" y="3573016"/>
            <a:ext cx="1800200" cy="1152128"/>
            <a:chOff x="251520" y="4149080"/>
            <a:chExt cx="1800200" cy="1152128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971600" y="5055633"/>
              <a:ext cx="108012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1115616" y="4875613"/>
              <a:ext cx="792088" cy="36004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</a:rPr>
                <a:t>32 bits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71600" y="4149080"/>
              <a:ext cx="1080120" cy="7200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5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205172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ounded Rectangle 55"/>
            <p:cNvSpPr/>
            <p:nvPr/>
          </p:nvSpPr>
          <p:spPr>
            <a:xfrm>
              <a:off x="251520" y="4149080"/>
              <a:ext cx="648072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>
              <a:off x="971600" y="4818639"/>
              <a:ext cx="0" cy="482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ounded Rectangle 57"/>
          <p:cNvSpPr/>
          <p:nvPr/>
        </p:nvSpPr>
        <p:spPr>
          <a:xfrm>
            <a:off x="6179798" y="3592194"/>
            <a:ext cx="1656184" cy="7200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Unchanged</a:t>
            </a:r>
          </a:p>
        </p:txBody>
      </p:sp>
      <p:sp>
        <p:nvSpPr>
          <p:cNvPr id="6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COMPOUND OPERATORS</a:t>
            </a:r>
          </a:p>
        </p:txBody>
      </p:sp>
    </p:spTree>
    <p:extLst>
      <p:ext uri="{BB962C8B-B14F-4D97-AF65-F5344CB8AC3E}">
        <p14:creationId xmlns:p14="http://schemas.microsoft.com/office/powerpoint/2010/main" val="218637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53" grpId="0" animBg="1"/>
      <p:bldP spid="5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43204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memory state of the following program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23528" y="1508006"/>
            <a:ext cx="7848872" cy="3139321"/>
            <a:chOff x="323528" y="1236822"/>
            <a:chExt cx="7848872" cy="3139321"/>
          </a:xfrm>
        </p:grpSpPr>
        <p:sp>
          <p:nvSpPr>
            <p:cNvPr id="9" name="TextBox 8"/>
            <p:cNvSpPr txBox="1"/>
            <p:nvPr/>
          </p:nvSpPr>
          <p:spPr>
            <a:xfrm>
              <a:off x="971600" y="1236822"/>
              <a:ext cx="7200800" cy="313932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public class </a:t>
              </a:r>
              <a:r>
                <a:rPr lang="en-US" dirty="0">
                  <a:solidFill>
                    <a:srgbClr val="0000FF"/>
                  </a:solidFill>
                </a:rPr>
                <a:t>Accumulator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public static void </a:t>
              </a:r>
              <a:r>
                <a:rPr lang="en-US" dirty="0">
                  <a:solidFill>
                    <a:srgbClr val="0000FF"/>
                  </a:solidFill>
                </a:rPr>
                <a:t>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00FF"/>
                  </a:solidFill>
                </a:rPr>
                <a:t> a, sum;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a = 10;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sum = 0;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sum = sum + a;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(“sum = “ + sum);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</a:t>
              </a:r>
              <a:endParaRPr lang="en-US" dirty="0"/>
            </a:p>
            <a:p>
              <a:r>
                <a:rPr lang="en-US" dirty="0">
                  <a:solidFill>
                    <a:srgbClr val="0000FF"/>
                  </a:solidFill>
                </a:rPr>
                <a:t>}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3528" y="1236822"/>
              <a:ext cx="576064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sp>
        <p:nvSpPr>
          <p:cNvPr id="11" name="Content Placeholder 5"/>
          <p:cNvSpPr txBox="1">
            <a:spLocks/>
          </p:cNvSpPr>
          <p:nvPr/>
        </p:nvSpPr>
        <p:spPr>
          <a:xfrm>
            <a:off x="467544" y="4869161"/>
            <a:ext cx="8229600" cy="165618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Evaluate the following expressions: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23 + 7 % 2 – 3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15.0 + 3.0 * 2.0 / 5.0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30.0 % 6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W2.3 Operators1</a:t>
            </a:r>
          </a:p>
        </p:txBody>
      </p:sp>
    </p:spTree>
    <p:extLst>
      <p:ext uri="{BB962C8B-B14F-4D97-AF65-F5344CB8AC3E}">
        <p14:creationId xmlns:p14="http://schemas.microsoft.com/office/powerpoint/2010/main" val="943836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(2)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115212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Given x=5, y=7 and z=10. Evaluate the following expressions: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*= 2 * x + 5 – z;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 %= x;</a:t>
            </a:r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457200" y="2204864"/>
            <a:ext cx="8229600" cy="1008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program that exchanges the values of two numbers. (This is known as swapping). For example, if x = 5 and y = 7; after swapping, they become x = 7 and y = 5.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W2.3 Operators1</a:t>
            </a:r>
          </a:p>
        </p:txBody>
      </p:sp>
    </p:spTree>
    <p:extLst>
      <p:ext uri="{BB962C8B-B14F-4D97-AF65-F5344CB8AC3E}">
        <p14:creationId xmlns:p14="http://schemas.microsoft.com/office/powerpoint/2010/main" val="14465389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916</TotalTime>
  <Words>1887</Words>
  <Application>Microsoft Macintosh PowerPoint</Application>
  <PresentationFormat>On-screen Show (4:3)</PresentationFormat>
  <Paragraphs>410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Courier New</vt:lpstr>
      <vt:lpstr>Lucida Sans Unicode</vt:lpstr>
      <vt:lpstr>Tahoma</vt:lpstr>
      <vt:lpstr>Verdana</vt:lpstr>
      <vt:lpstr>Wingdings</vt:lpstr>
      <vt:lpstr>Wingdings 2</vt:lpstr>
      <vt:lpstr>Wingdings 3</vt:lpstr>
      <vt:lpstr>Concourse</vt:lpstr>
      <vt:lpstr>  OPERATORS (1)</vt:lpstr>
      <vt:lpstr>Outline</vt:lpstr>
      <vt:lpstr>1. TYPES OF OPERATORS</vt:lpstr>
      <vt:lpstr>2. ASSIGNMENT OPERATORS</vt:lpstr>
      <vt:lpstr>2. ASSIGNMENT OPERATORS</vt:lpstr>
      <vt:lpstr>2. ASSIGNMENT OPERATORS</vt:lpstr>
      <vt:lpstr>2. ASSIGNMENT OPERATORS</vt:lpstr>
      <vt:lpstr>2. ASSIGNMENT OPERATORS</vt:lpstr>
      <vt:lpstr>2. ASSIGNMENT OPERATORS</vt:lpstr>
      <vt:lpstr>2. ASSIGNMENT OPERATORS</vt:lpstr>
      <vt:lpstr>3. ARITHMETIC OPERATORS</vt:lpstr>
      <vt:lpstr>3. ARITHMETIC OPERATORS</vt:lpstr>
      <vt:lpstr>3. ARITHMETIC OPERATORS</vt:lpstr>
      <vt:lpstr>3. ARITHMETIC OPERATORS</vt:lpstr>
      <vt:lpstr>3. ARITHMETIC OPERATORS</vt:lpstr>
      <vt:lpstr>4. COMPOUND OPERATORS</vt:lpstr>
      <vt:lpstr>4. COMPOUND OPERATORS</vt:lpstr>
      <vt:lpstr>Self-Check Exercises (1)</vt:lpstr>
      <vt:lpstr>Self-Check Exercises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</dc:title>
  <dc:creator>Soha S.Zaghloul</dc:creator>
  <cp:lastModifiedBy>عبدالعزيز محمد دخيل الحميضي</cp:lastModifiedBy>
  <cp:revision>58</cp:revision>
  <dcterms:created xsi:type="dcterms:W3CDTF">2015-02-01T17:02:17Z</dcterms:created>
  <dcterms:modified xsi:type="dcterms:W3CDTF">2025-01-22T07:05:15Z</dcterms:modified>
</cp:coreProperties>
</file>