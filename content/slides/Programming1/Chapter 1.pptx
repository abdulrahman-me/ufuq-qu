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43" r:id="rId1"/>
  </p:sldMasterIdLst>
  <p:notesMasterIdLst>
    <p:notesMasterId r:id="rId34"/>
  </p:notesMasterIdLst>
  <p:handoutMasterIdLst>
    <p:handoutMasterId r:id="rId35"/>
  </p:handoutMasterIdLst>
  <p:sldIdLst>
    <p:sldId id="328" r:id="rId2"/>
    <p:sldId id="258" r:id="rId3"/>
    <p:sldId id="259" r:id="rId4"/>
    <p:sldId id="327" r:id="rId5"/>
    <p:sldId id="323" r:id="rId6"/>
    <p:sldId id="324" r:id="rId7"/>
    <p:sldId id="325" r:id="rId8"/>
    <p:sldId id="326" r:id="rId9"/>
    <p:sldId id="285" r:id="rId10"/>
    <p:sldId id="264" r:id="rId11"/>
    <p:sldId id="288" r:id="rId12"/>
    <p:sldId id="289" r:id="rId13"/>
    <p:sldId id="290" r:id="rId14"/>
    <p:sldId id="292" r:id="rId15"/>
    <p:sldId id="293" r:id="rId16"/>
    <p:sldId id="294" r:id="rId17"/>
    <p:sldId id="295" r:id="rId18"/>
    <p:sldId id="296" r:id="rId19"/>
    <p:sldId id="297" r:id="rId20"/>
    <p:sldId id="310" r:id="rId21"/>
    <p:sldId id="321" r:id="rId22"/>
    <p:sldId id="322" r:id="rId23"/>
    <p:sldId id="315" r:id="rId24"/>
    <p:sldId id="306" r:id="rId25"/>
    <p:sldId id="303" r:id="rId26"/>
    <p:sldId id="283" r:id="rId27"/>
    <p:sldId id="319" r:id="rId28"/>
    <p:sldId id="320" r:id="rId29"/>
    <p:sldId id="308" r:id="rId30"/>
    <p:sldId id="309" r:id="rId31"/>
    <p:sldId id="280" r:id="rId32"/>
    <p:sldId id="291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Arial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Arial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Arial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Arial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5050"/>
    <a:srgbClr val="339933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86"/>
    <p:restoredTop sz="93401"/>
  </p:normalViewPr>
  <p:slideViewPr>
    <p:cSldViewPr>
      <p:cViewPr varScale="1">
        <p:scale>
          <a:sx n="119" d="100"/>
          <a:sy n="119" d="100"/>
        </p:scale>
        <p:origin x="16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3EEC1-E1D9-4842-B0EE-17C7647A44CC}" type="datetimeFigureOut">
              <a:rPr lang="en-US" smtClean="0"/>
              <a:pPr/>
              <a:t>1/30/24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F92B8-0E8D-C040-A060-26DC4018D3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31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BFBB024-3325-1041-BEE2-947A14FF6244}" type="datetimeFigureOut">
              <a:rPr lang="en-US"/>
              <a:pPr/>
              <a:t>1/30/24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2A03BC7-43F1-864C-8738-304B4C35C8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255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2F04DF9-66D8-BB47-9205-7DEDF2C8B24D}" type="slidenum">
              <a:rPr lang="en-US"/>
              <a:pPr eaLnBrk="1" hangingPunct="1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EB1CE9E-14A5-EF44-BB5B-041378CB05A0}" type="slidenum">
              <a:rPr lang="en-US"/>
              <a:pPr eaLnBrk="1" hangingPunct="1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F743E59-998E-624A-BFD3-84327E73D60E}" type="slidenum">
              <a:rPr lang="en-US"/>
              <a:pPr eaLnBrk="1" hangingPunct="1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8F78542-8F38-4248-8E6D-748587904D59}" type="slidenum">
              <a:rPr lang="ar-SA"/>
              <a:pPr eaLnBrk="1" hangingPunct="1"/>
              <a:t>5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8F78542-8F38-4248-8E6D-748587904D59}" type="slidenum">
              <a:rPr lang="ar-SA"/>
              <a:pPr eaLnBrk="1" hangingPunct="1"/>
              <a:t>6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8F78542-8F38-4248-8E6D-748587904D59}" type="slidenum">
              <a:rPr lang="ar-SA"/>
              <a:pPr eaLnBrk="1" hangingPunct="1"/>
              <a:t>7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8F78542-8F38-4248-8E6D-748587904D59}" type="slidenum">
              <a:rPr lang="ar-SA"/>
              <a:pPr eaLnBrk="1" hangingPunct="1"/>
              <a:t>8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5DF5F3AC-CDD6-374A-9F5F-CFBB0F752EE8}" type="slidenum">
              <a:rPr lang="ar-SA"/>
              <a:pPr eaLnBrk="1" hangingPunct="1"/>
              <a:t>9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4067820-B468-3346-A7C3-B261F0F73F28}" type="slidenum">
              <a:rPr lang="en-US"/>
              <a:pPr eaLnBrk="1" hangingPunct="1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05DA2C5-76E2-794E-839F-72974864958B}" type="slidenum">
              <a:rPr lang="en-US"/>
              <a:pPr eaLnBrk="1" hangingPunct="1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72EEF88-825B-A042-A7DC-D5AA2761E5CF}" type="slidenum">
              <a:rPr lang="en-US"/>
              <a:pPr eaLnBrk="1" hangingPunct="1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00E518F-5B50-0541-BD6D-8250A5A73E0C}" type="slidenum">
              <a:rPr lang="en-US"/>
              <a:pPr eaLnBrk="1" hangingPunct="1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ar-SA" altLang="ar-SA"/>
          </a:p>
        </p:txBody>
      </p:sp>
      <p:sp>
        <p:nvSpPr>
          <p:cNvPr id="160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C00178-5973-4BFA-825C-1524587E358D}" type="slidenum">
              <a:rPr lang="en-US" altLang="ar-SA">
                <a:cs typeface="Arial" pitchFamily="34" charset="0"/>
              </a:rPr>
              <a:pPr/>
              <a:t>16</a:t>
            </a:fld>
            <a:endParaRPr lang="en-US" altLang="ar-SA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47D50F0-0B18-FD47-99D5-BFEFD6910DD3}" type="slidenum">
              <a:rPr lang="en-US"/>
              <a:pPr eaLnBrk="1" hangingPunct="1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164C0CA-7EB3-5E4B-ABE7-410979697FED}" type="slidenum">
              <a:rPr lang="en-US"/>
              <a:pPr eaLnBrk="1" hangingPunct="1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69C0B4E-B408-CC4E-B955-761F66C8758E}" type="slidenum">
              <a:rPr lang="en-US"/>
              <a:pPr eaLnBrk="1" hangingPunct="1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CF8C8CD5-80B8-E94D-AB17-BFBF1C2C74AE}" type="slidenum">
              <a:rPr lang="en-US"/>
              <a:pPr eaLnBrk="1" hangingPunct="1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5F26057-F836-DA41-A99D-48B8D5ADABD3}" type="slidenum">
              <a:rPr lang="en-US"/>
              <a:pPr eaLnBrk="1" hangingPunct="1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ar-SA" altLang="ar-SA"/>
          </a:p>
        </p:txBody>
      </p:sp>
      <p:sp>
        <p:nvSpPr>
          <p:cNvPr id="150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E2A8FA-F05F-4AF1-AE02-E61CE5699C78}" type="slidenum">
              <a:rPr lang="en-US" altLang="ar-SA">
                <a:cs typeface="Arial" pitchFamily="34" charset="0"/>
              </a:rPr>
              <a:pPr/>
              <a:t>25</a:t>
            </a:fld>
            <a:endParaRPr lang="en-US" altLang="ar-SA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6ADA234-6403-4645-B27D-0689F97C4EF4}" type="slidenum">
              <a:rPr lang="en-US"/>
              <a:pPr eaLnBrk="1" hangingPunct="1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C82A745B-54DB-3648-BCE1-941448BF167D}" type="slidenum">
              <a:rPr lang="ar-SA"/>
              <a:pPr eaLnBrk="1" hangingPunct="1"/>
              <a:t>27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C2F89ACF-9E90-7F4D-988E-105B668F42AF}" type="slidenum">
              <a:rPr lang="en-US"/>
              <a:pPr eaLnBrk="1" hangingPunct="1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44C49E8-D2E9-DC4B-B2A4-7EEF5368FCA2}" type="slidenum">
              <a:rPr lang="en-US"/>
              <a:pPr eaLnBrk="1" hangingPunct="1"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5BBC35B-A44B-4119-B8DA-DE9E3DFADA20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8FB4-A1A9-9C41-AB0D-0C94C4E5DC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C7412C4C-2568-224C-B096-8F8DE0624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5D0D2004-B77A-F847-985F-94C9A127A6E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4A9A5D22-E72F-FA44-B8B5-DC1FBBAD17E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2657-9563-2F43-A46C-2C2EA12FC8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45FA3-A579-4E4B-9C69-027460A73EB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9097F53-1851-B14C-8A5B-89670C2B2C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36619-DC14-B142-BBFC-5D506E9FB5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1981200"/>
            <a:ext cx="40005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40005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73152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229600" y="6248400"/>
            <a:ext cx="762000" cy="381000"/>
          </a:xfrm>
        </p:spPr>
        <p:txBody>
          <a:bodyPr/>
          <a:lstStyle>
            <a:lvl1pPr>
              <a:defRPr/>
            </a:lvl1pPr>
          </a:lstStyle>
          <a:p>
            <a:fld id="{232B18D1-D437-6544-A384-A8C369125EB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6645FA3-A579-4E4B-9C69-027460A73EB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racle.com/technetwork/java/javase/downloads/index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1821160" y="2996952"/>
            <a:ext cx="7071320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6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/>
              <a:t>CS 1301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990600"/>
            <a:ext cx="8153400" cy="5486400"/>
          </a:xfrm>
          <a:prstGeom prst="foldedCorner">
            <a:avLst>
              <a:gd name="adj" fmla="val 2755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1. Computer Organization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2. Machine Languages, Assembly Languages,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    and High-Level Languages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3. Program Solving Cycle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4. Program Components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5. Introduction to Java (Why Java?)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5.1 History of Java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ar-SA" sz="20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5.2 Some Characteristics of Java</a:t>
            </a:r>
            <a:br>
              <a:rPr lang="en-US" sz="20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20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5.3 Java programs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5.4 Java Editions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6. Java and a Typical Java Development Environment</a:t>
            </a:r>
            <a:endParaRPr lang="en-US" sz="2000" dirty="0">
              <a:latin typeface="Tahoma" charset="0"/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7. Program Compilation</a:t>
            </a:r>
          </a:p>
          <a:p>
            <a:pPr marL="320040" lvl="1" indent="0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6.1 Java Program Compilation</a:t>
            </a:r>
          </a:p>
          <a:p>
            <a:pPr marL="320040" lvl="1" indent="0">
              <a:lnSpc>
                <a:spcPct val="9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  6.2 Java Virtual Machine (JVM)</a:t>
            </a:r>
          </a:p>
          <a:p>
            <a:pPr marL="0" lvl="1" indent="0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ea typeface="Tahoma" pitchFamily="34" charset="0"/>
                <a:cs typeface="Arial" charset="0"/>
              </a:rPr>
              <a:t>8. 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Difference between Java and C++</a:t>
            </a:r>
            <a:endParaRPr lang="en-US" sz="2000" dirty="0">
              <a:latin typeface="Tahoma" charset="0"/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9. Program Testing &amp; Debugging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ahoma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458200" cy="5334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Computer Organization</a:t>
            </a:r>
          </a:p>
        </p:txBody>
      </p:sp>
      <p:sp>
        <p:nvSpPr>
          <p:cNvPr id="512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05800" cy="1905000"/>
          </a:xfrm>
        </p:spPr>
        <p:txBody>
          <a:bodyPr>
            <a:normAutofit/>
          </a:bodyPr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A computer consists of:</a:t>
            </a:r>
          </a:p>
          <a:p>
            <a:pPr lvl="1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Hardware:</a:t>
            </a:r>
            <a:r>
              <a:rPr lang="en-US" sz="2000" dirty="0">
                <a:solidFill>
                  <a:schemeClr val="tx2"/>
                </a:solidFill>
                <a:latin typeface="Tahoma" charset="0"/>
                <a:cs typeface="Arial" charset="0"/>
              </a:rPr>
              <a:t> </a:t>
            </a:r>
            <a:r>
              <a:rPr lang="en-US" sz="2000" dirty="0">
                <a:latin typeface="Tahoma" charset="0"/>
                <a:cs typeface="Arial" charset="0"/>
              </a:rPr>
              <a:t>Physical devices of computer system</a:t>
            </a:r>
          </a:p>
          <a:p>
            <a:pPr lvl="1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Software:</a:t>
            </a:r>
            <a:r>
              <a:rPr lang="en-US" sz="2000" dirty="0">
                <a:solidFill>
                  <a:schemeClr val="tx2"/>
                </a:solidFill>
                <a:latin typeface="Tahoma" charset="0"/>
                <a:cs typeface="Arial" charset="0"/>
              </a:rPr>
              <a:t> </a:t>
            </a:r>
            <a:r>
              <a:rPr lang="en-US" sz="2000" dirty="0">
                <a:latin typeface="Tahoma" charset="0"/>
                <a:cs typeface="Arial" charset="0"/>
              </a:rPr>
              <a:t>Programs that run on computers</a:t>
            </a:r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0070C0"/>
                </a:solidFill>
                <a:latin typeface="Tahoma" charset="0"/>
                <a:cs typeface="Arial" charset="0"/>
              </a:rPr>
              <a:t>A program is a set of instructions written in a high programming language (such as C/C++ or Java) to do a specific task.</a:t>
            </a:r>
          </a:p>
        </p:txBody>
      </p:sp>
      <p:graphicFrame>
        <p:nvGraphicFramePr>
          <p:cNvPr id="5127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82512538"/>
              </p:ext>
            </p:extLst>
          </p:nvPr>
        </p:nvGraphicFramePr>
        <p:xfrm>
          <a:off x="1295400" y="3429000"/>
          <a:ext cx="6515100" cy="295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037247" imgH="2281123" progId="">
                  <p:embed/>
                </p:oleObj>
              </mc:Choice>
              <mc:Fallback>
                <p:oleObj r:id="rId3" imgW="5037247" imgH="2281123" progId="">
                  <p:embed/>
                  <p:pic>
                    <p:nvPicPr>
                      <p:cNvPr id="0" name="Picture 6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429000"/>
                        <a:ext cx="6515100" cy="295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2B18D1-D437-6544-A384-A8C369125EB4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52400" y="1371600"/>
            <a:ext cx="8915400" cy="4800600"/>
          </a:xfrm>
        </p:spPr>
        <p:txBody>
          <a:bodyPr>
            <a:normAutofit/>
          </a:bodyPr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Tahoma" charset="0"/>
                <a:cs typeface="Arial" charset="0"/>
              </a:rPr>
              <a:t>The main components of a computer system are:</a:t>
            </a:r>
          </a:p>
          <a:p>
            <a:pPr eaLnBrk="1" hangingPunct="1">
              <a:buClr>
                <a:srgbClr val="FF0000"/>
              </a:buClr>
              <a:buNone/>
            </a:pPr>
            <a:endParaRPr lang="en-US" sz="2400" dirty="0">
              <a:solidFill>
                <a:srgbClr val="FF0000"/>
              </a:solidFill>
              <a:latin typeface="Tahoma" charset="0"/>
              <a:cs typeface="Arial" charset="0"/>
            </a:endParaRPr>
          </a:p>
          <a:p>
            <a:pPr marL="822960" lvl="1" indent="-457200">
              <a:buNone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1. </a:t>
            </a: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Input</a:t>
            </a:r>
            <a:r>
              <a:rPr lang="en-US" sz="2000" dirty="0">
                <a:solidFill>
                  <a:schemeClr val="tx2"/>
                </a:solidFill>
                <a:latin typeface="Tahoma" charset="0"/>
                <a:cs typeface="Arial" charset="0"/>
              </a:rPr>
              <a:t> </a:t>
            </a:r>
            <a:r>
              <a:rPr lang="en-US" sz="2000" dirty="0">
                <a:latin typeface="Tahoma" charset="0"/>
                <a:cs typeface="Arial" charset="0"/>
              </a:rPr>
              <a:t>unit (mouse, keyboard)</a:t>
            </a:r>
          </a:p>
          <a:p>
            <a:pPr marL="822960" lvl="1" indent="-457200" eaLnBrk="1" hangingPunct="1">
              <a:buNone/>
            </a:pPr>
            <a:endParaRPr lang="en-US" sz="2000" dirty="0">
              <a:latin typeface="Tahoma" charset="0"/>
              <a:cs typeface="Arial" charset="0"/>
            </a:endParaRPr>
          </a:p>
          <a:p>
            <a:pPr marL="365760" lvl="1" indent="0" eaLnBrk="1" hangingPunct="1">
              <a:buNone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2. </a:t>
            </a: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Output </a:t>
            </a:r>
            <a:r>
              <a:rPr lang="en-US" sz="2000" dirty="0">
                <a:latin typeface="Tahoma" charset="0"/>
                <a:cs typeface="Arial" charset="0"/>
              </a:rPr>
              <a:t>unit (printer, monitor, audio speakers)</a:t>
            </a:r>
          </a:p>
          <a:p>
            <a:pPr marL="365760" lvl="1" indent="0" eaLnBrk="1" hangingPunct="1">
              <a:buNone/>
            </a:pPr>
            <a:endParaRPr lang="en-US" sz="2000" dirty="0">
              <a:latin typeface="Tahoma" charset="0"/>
              <a:cs typeface="Arial" charset="0"/>
            </a:endParaRPr>
          </a:p>
          <a:p>
            <a:pPr marL="365760" lvl="1" indent="0" eaLnBrk="1" hangingPunct="1">
              <a:buNone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3. </a:t>
            </a: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Memory </a:t>
            </a:r>
            <a:r>
              <a:rPr lang="en-US" sz="2000" dirty="0">
                <a:latin typeface="Tahoma" charset="0"/>
                <a:cs typeface="Arial" charset="0"/>
              </a:rPr>
              <a:t>unit (retains input data, calculated data and instructions)</a:t>
            </a:r>
          </a:p>
          <a:p>
            <a:pPr marL="365760" lvl="1" indent="0" eaLnBrk="1" hangingPunct="1">
              <a:buNone/>
            </a:pPr>
            <a:endParaRPr lang="en-US" sz="2000" dirty="0">
              <a:latin typeface="Tahoma" charset="0"/>
              <a:cs typeface="Arial" charset="0"/>
            </a:endParaRPr>
          </a:p>
          <a:p>
            <a:pPr marL="365760" lvl="1" indent="0" eaLnBrk="1" hangingPunct="1">
              <a:buNone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4. </a:t>
            </a: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Central processing unit (CPU) </a:t>
            </a:r>
            <a:r>
              <a:rPr lang="en-US" sz="2000" dirty="0">
                <a:latin typeface="Tahoma" charset="0"/>
                <a:cs typeface="Arial" charset="0"/>
              </a:rPr>
              <a:t>which consists of:</a:t>
            </a:r>
          </a:p>
          <a:p>
            <a:pPr marL="685800" lvl="2" indent="0" eaLnBrk="1" hangingPunct="1">
              <a:buNone/>
            </a:pPr>
            <a:r>
              <a:rPr lang="en-US" sz="2000" dirty="0">
                <a:solidFill>
                  <a:srgbClr val="FF5050"/>
                </a:solidFill>
                <a:latin typeface="Tahoma" charset="0"/>
                <a:cs typeface="Arial" charset="0"/>
              </a:rPr>
              <a:t>4.1 </a:t>
            </a:r>
            <a:r>
              <a:rPr lang="en-US" sz="2000" dirty="0">
                <a:solidFill>
                  <a:srgbClr val="0070C0"/>
                </a:solidFill>
                <a:latin typeface="Tahoma" charset="0"/>
                <a:cs typeface="Arial" charset="0"/>
              </a:rPr>
              <a:t>Control unit (supervises the operation of other devices)</a:t>
            </a:r>
          </a:p>
          <a:p>
            <a:pPr marL="685800" lvl="2" indent="0" eaLnBrk="1" hangingPunct="1">
              <a:buNone/>
            </a:pPr>
            <a:r>
              <a:rPr lang="en-US" sz="2000" dirty="0">
                <a:solidFill>
                  <a:srgbClr val="FF5050"/>
                </a:solidFill>
                <a:latin typeface="Tahoma" charset="0"/>
                <a:cs typeface="Arial" charset="0"/>
              </a:rPr>
              <a:t>4.2 </a:t>
            </a:r>
            <a:r>
              <a:rPr lang="en-US" sz="2000" dirty="0">
                <a:solidFill>
                  <a:srgbClr val="0070C0"/>
                </a:solidFill>
                <a:latin typeface="Tahoma" charset="0"/>
                <a:cs typeface="Arial" charset="0"/>
              </a:rPr>
              <a:t>Arithmetic and Logic unit (ALU) (performs calculations)</a:t>
            </a:r>
          </a:p>
          <a:p>
            <a:pPr marL="685800" lvl="2" indent="0" eaLnBrk="1" hangingPunct="1">
              <a:buNone/>
            </a:pPr>
            <a:endParaRPr lang="en-US" sz="2000" dirty="0">
              <a:solidFill>
                <a:srgbClr val="0070C0"/>
              </a:solidFill>
              <a:latin typeface="Tahoma" charset="0"/>
              <a:cs typeface="Arial" charset="0"/>
            </a:endParaRPr>
          </a:p>
          <a:p>
            <a:pPr marL="365760" lvl="1" indent="0" eaLnBrk="1" hangingPunct="1">
              <a:buNone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5. </a:t>
            </a: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Secondary storage </a:t>
            </a:r>
            <a:r>
              <a:rPr lang="en-US" sz="2000" dirty="0">
                <a:latin typeface="Tahoma" charset="0"/>
                <a:cs typeface="Arial" charset="0"/>
              </a:rPr>
              <a:t>(hard drives, floppy drives)</a:t>
            </a: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8382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Computer Organization (Cont.)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686800" cy="46482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Programmers write instructions in various programming languages, some directly understandable by computers and others requiring intermediate 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</a:rPr>
              <a:t>translation steps.</a:t>
            </a:r>
          </a:p>
          <a:p>
            <a:endParaRPr lang="en-US" sz="2400" i="1" dirty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ahoma" charset="0"/>
                <a:cs typeface="Arial" charset="0"/>
              </a:rPr>
              <a:t>These may be divided into three general types: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Machine languages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Assembly languages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High-level languages</a:t>
            </a: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153400" cy="685800"/>
          </a:xfrm>
        </p:spPr>
        <p:txBody>
          <a:bodyPr>
            <a:noAutofit/>
          </a:bodyPr>
          <a:lstStyle/>
          <a:p>
            <a:r>
              <a:rPr lang="en-US" sz="2500" dirty="0">
                <a:solidFill>
                  <a:schemeClr val="accent2"/>
                </a:solidFill>
                <a:latin typeface="Tahoma" charset="0"/>
                <a:cs typeface="Arial" charset="0"/>
              </a:rPr>
              <a:t>2. Machine Languages, Assembly Languages and High-Level Languages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2590800" y="6407944"/>
            <a:ext cx="4139953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©1992-2012 by Pearson Education, Inc.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153400" cy="685800"/>
          </a:xfrm>
        </p:spPr>
        <p:txBody>
          <a:bodyPr>
            <a:noAutofit/>
          </a:bodyPr>
          <a:lstStyle/>
          <a:p>
            <a:r>
              <a:rPr lang="en-US" sz="2500" dirty="0">
                <a:solidFill>
                  <a:schemeClr val="accent2"/>
                </a:solidFill>
                <a:latin typeface="Tahoma" charset="0"/>
                <a:cs typeface="Arial" charset="0"/>
              </a:rPr>
              <a:t>2. Machine Languages, Assembly Languages and High-Level Languages (Cont.)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/>
          <p:cNvSpPr txBox="1">
            <a:spLocks/>
          </p:cNvSpPr>
          <p:nvPr/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Any computer can directly understand only its own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machine language</a:t>
            </a: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, defined by its hardware design.</a:t>
            </a:r>
          </a:p>
          <a:p>
            <a:pPr marL="621792" marR="0" lvl="1" indent="-228600" algn="l" defTabSz="914400" rtl="0" eaLnBrk="1" fontAlgn="auto" latinLnBrk="0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Generally consist of strings of numbers (ultimately reduced to 1s and 0s) that instruct computers to perform their most elementary operations one at a time.</a:t>
            </a:r>
          </a:p>
          <a:p>
            <a:pPr marL="621792" marR="0" lvl="1" indent="-228600" algn="l" defTabSz="914400" rtl="0" eaLnBrk="1" fontAlgn="auto" latinLnBrk="0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Machine dependent—a particular ma-chine language can be used on only one type of computer.</a:t>
            </a: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English-like abbreviations that represent elementary operations  formed the basis of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assembly languages</a:t>
            </a: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.</a:t>
            </a: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Translator programs called </a:t>
            </a: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assemblers</a:t>
            </a: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convert early assembly-language programs to machine language.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2590800" y="6407944"/>
            <a:ext cx="4139953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©1992-2012 by Pearson Education, Inc.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153400" cy="685800"/>
          </a:xfrm>
        </p:spPr>
        <p:txBody>
          <a:bodyPr>
            <a:noAutofit/>
          </a:bodyPr>
          <a:lstStyle/>
          <a:p>
            <a:r>
              <a:rPr lang="en-US" sz="2500" dirty="0">
                <a:solidFill>
                  <a:schemeClr val="accent2"/>
                </a:solidFill>
                <a:latin typeface="Tahoma" charset="0"/>
                <a:cs typeface="Arial" charset="0"/>
              </a:rPr>
              <a:t>2. Machine Languages, Assembly Languages and High-Level Languages (Cont.)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2590800" y="6407944"/>
            <a:ext cx="4139953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©1992-2012 by Pearson Education, Inc. All Rights Reserved.</a:t>
            </a: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High-level languages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</a:t>
            </a:r>
          </a:p>
          <a:p>
            <a:pPr marL="621792" marR="0" lvl="1" indent="-228600" algn="l" defTabSz="914400" rtl="0" eaLnBrk="1" fontAlgn="auto" latinLnBrk="0" hangingPunct="1">
              <a:lnSpc>
                <a:spcPct val="8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Single statements accomplish substantial tasks.</a:t>
            </a:r>
          </a:p>
          <a:p>
            <a:pPr marL="621792" marR="0" lvl="1" indent="-228600" algn="l" defTabSz="914400" rtl="0" eaLnBrk="1" fontAlgn="auto" latinLnBrk="0" hangingPunct="1">
              <a:lnSpc>
                <a:spcPct val="8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Compilers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convert high-level language programs into machine language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.</a:t>
            </a:r>
          </a:p>
          <a:p>
            <a:pPr marL="621792" marR="0" lvl="1" indent="-228600" algn="l" defTabSz="914400" rtl="0" eaLnBrk="1" fontAlgn="auto" latinLnBrk="0" hangingPunct="1">
              <a:lnSpc>
                <a:spcPct val="8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Allow you to write instructions that look almost like everyday English and contain commonly used mathematical notations.</a:t>
            </a:r>
          </a:p>
          <a:p>
            <a:pPr marL="621792" marR="0" lvl="1" indent="-228600" algn="l" defTabSz="914400" rtl="0" eaLnBrk="1" fontAlgn="auto" latinLnBrk="0" hangingPunct="1">
              <a:lnSpc>
                <a:spcPct val="8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A payroll program written in a high-level language might contain a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single statement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such as</a:t>
            </a:r>
          </a:p>
          <a:p>
            <a:pPr marL="859536" marR="0" lvl="2" indent="-228600" algn="l" defTabSz="914400" rtl="0" eaLnBrk="1" fontAlgn="auto" latinLnBrk="0" hangingPunct="1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 2"/>
              <a:buChar char="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  <a:ea typeface="+mn-ea"/>
                <a:cs typeface="+mn-cs"/>
              </a:rPr>
              <a:t>grossPay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  <a:ea typeface="+mn-ea"/>
                <a:cs typeface="+mn-cs"/>
              </a:rPr>
              <a:t> =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  <a:ea typeface="+mn-ea"/>
                <a:cs typeface="+mn-cs"/>
              </a:rPr>
              <a:t>basePay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  <a:ea typeface="+mn-ea"/>
                <a:cs typeface="+mn-cs"/>
              </a:rPr>
              <a:t> +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  <a:ea typeface="+mn-ea"/>
                <a:cs typeface="+mn-cs"/>
              </a:rPr>
              <a:t>overTimePay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itchFamily="49" charset="0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Compiling a high-level language program into machine language can take a considerable amount of computer time.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Interpreter programs execute high-level language programs directly, although slower than compiled programs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04800" y="990600"/>
            <a:ext cx="8686800" cy="4648200"/>
          </a:xfrm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5050"/>
                </a:solidFill>
                <a:latin typeface="Tahoma" charset="0"/>
                <a:cs typeface="Arial" charset="0"/>
              </a:rPr>
              <a:t>Solving a program goes through the following main steps: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1.</a:t>
            </a:r>
            <a:r>
              <a:rPr lang="en-US" sz="2000" dirty="0">
                <a:latin typeface="Tahoma" charset="0"/>
                <a:cs typeface="Arial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Analysis</a:t>
            </a:r>
            <a:r>
              <a:rPr lang="en-US" sz="2000" dirty="0">
                <a:latin typeface="Tahoma" charset="0"/>
                <a:cs typeface="Arial" charset="0"/>
              </a:rPr>
              <a:t>: Outline the solution requirements 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2.</a:t>
            </a:r>
            <a:r>
              <a:rPr lang="en-US" sz="2000" dirty="0">
                <a:latin typeface="Tahoma" charset="0"/>
                <a:cs typeface="Arial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Design</a:t>
            </a:r>
            <a:r>
              <a:rPr lang="en-US" sz="2000" dirty="0">
                <a:latin typeface="Tahoma" charset="0"/>
                <a:cs typeface="Arial" charset="0"/>
              </a:rPr>
              <a:t> an appropriate algorithm or a flowchart.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3. Code</a:t>
            </a:r>
            <a:r>
              <a:rPr lang="en-US" sz="2000" dirty="0">
                <a:latin typeface="Tahoma" charset="0"/>
                <a:cs typeface="Arial" charset="0"/>
              </a:rPr>
              <a:t> the solution in a high programming language (such as Java) 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4. Compile </a:t>
            </a:r>
            <a:r>
              <a:rPr lang="en-US" sz="2000" dirty="0">
                <a:latin typeface="Tahoma" charset="0"/>
                <a:cs typeface="Arial" charset="0"/>
              </a:rPr>
              <a:t>the code into machine language. Verify that the program works: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sz="2000" dirty="0">
                <a:latin typeface="Tahoma" charset="0"/>
                <a:cs typeface="Arial" charset="0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Tahoma" charset="0"/>
                <a:cs typeface="Arial" charset="0"/>
              </a:rPr>
              <a:t>4.1 If there is an error, correct it by going to step 3.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sz="2000" dirty="0">
                <a:solidFill>
                  <a:srgbClr val="0070C0"/>
                </a:solidFill>
                <a:latin typeface="Tahoma" charset="0"/>
                <a:cs typeface="Arial" charset="0"/>
              </a:rPr>
              <a:t>	4.2 If there is no error, proceed to step 5.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5. Run </a:t>
            </a:r>
            <a:r>
              <a:rPr lang="en-US" sz="2000" dirty="0">
                <a:latin typeface="Tahoma" charset="0"/>
                <a:cs typeface="Arial" charset="0"/>
              </a:rPr>
              <a:t>the program. Verify the results: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sz="2000" dirty="0">
                <a:latin typeface="Tahoma" charset="0"/>
                <a:cs typeface="Arial" charset="0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Tahoma" charset="0"/>
                <a:cs typeface="Arial" charset="0"/>
              </a:rPr>
              <a:t>5.1 If the output does not give the required results, go to step 1.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sz="2000" dirty="0">
                <a:solidFill>
                  <a:srgbClr val="0070C0"/>
                </a:solidFill>
                <a:latin typeface="Tahoma" charset="0"/>
                <a:cs typeface="Arial" charset="0"/>
              </a:rPr>
              <a:t>	5.2 If the output matches the required result, you are done. 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endParaRPr lang="en-US" sz="2000" dirty="0">
              <a:latin typeface="Tahoma" charset="0"/>
              <a:cs typeface="Arial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153400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 Solving Cycle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5" name="Picture 5" descr="Fig01-04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62"/>
          <a:stretch/>
        </p:blipFill>
        <p:spPr>
          <a:xfrm>
            <a:off x="914400" y="1371600"/>
            <a:ext cx="7315200" cy="4760414"/>
          </a:xfrm>
          <a:ln w="38100">
            <a:solidFill>
              <a:schemeClr val="accent5">
                <a:lumMod val="75000"/>
              </a:schemeClr>
            </a:solidFill>
          </a:ln>
        </p:spPr>
      </p:pic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 Solving Cycle (</a:t>
            </a:r>
            <a:r>
              <a:rPr lang="en-US" sz="4000" dirty="0" err="1">
                <a:solidFill>
                  <a:schemeClr val="accent2"/>
                </a:solidFill>
                <a:latin typeface="Tahoma" charset="0"/>
                <a:cs typeface="Arial" charset="0"/>
              </a:rPr>
              <a:t>cnt’d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)</a:t>
            </a:r>
          </a:p>
        </p:txBody>
      </p:sp>
      <p:sp>
        <p:nvSpPr>
          <p:cNvPr id="3" name="Right Arrow 2"/>
          <p:cNvSpPr/>
          <p:nvPr/>
        </p:nvSpPr>
        <p:spPr>
          <a:xfrm>
            <a:off x="5562600" y="3962400"/>
            <a:ext cx="2438400" cy="6858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 Error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67400" y="4800600"/>
            <a:ext cx="3048000" cy="9144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Logical or Run-time Error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8686800" cy="2667000"/>
          </a:xfrm>
          <a:noFill/>
        </p:spPr>
        <p:txBody>
          <a:bodyPr>
            <a:normAutofit/>
          </a:bodyPr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A program consists of the following:</a:t>
            </a:r>
          </a:p>
          <a:p>
            <a:pPr lvl="1" eaLnBrk="1" hangingPunct="1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Input:</a:t>
            </a:r>
            <a:r>
              <a:rPr lang="en-US" sz="2000" dirty="0">
                <a:solidFill>
                  <a:srgbClr val="0070C0"/>
                </a:solidFill>
                <a:latin typeface="Tahoma" charset="0"/>
                <a:cs typeface="Arial" charset="0"/>
              </a:rPr>
              <a:t> </a:t>
            </a:r>
            <a:r>
              <a:rPr lang="en-US" sz="2000" dirty="0">
                <a:latin typeface="Tahoma" charset="0"/>
                <a:cs typeface="Arial" charset="0"/>
              </a:rPr>
              <a:t>Data to begin with to solve the program. </a:t>
            </a:r>
          </a:p>
          <a:p>
            <a:pPr lvl="1" eaLnBrk="1" hangingPunct="1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Output:</a:t>
            </a:r>
            <a:r>
              <a:rPr lang="en-US" sz="2000" dirty="0">
                <a:solidFill>
                  <a:srgbClr val="0070C0"/>
                </a:solidFill>
                <a:latin typeface="Tahoma" charset="0"/>
                <a:cs typeface="Arial" charset="0"/>
              </a:rPr>
              <a:t> </a:t>
            </a:r>
            <a:r>
              <a:rPr lang="en-US" sz="2000" dirty="0">
                <a:latin typeface="Tahoma" charset="0"/>
                <a:cs typeface="Arial" charset="0"/>
              </a:rPr>
              <a:t>The target of the problem. This is the expected result.</a:t>
            </a:r>
          </a:p>
          <a:p>
            <a:pPr lvl="2" eaLnBrk="1" hangingPunct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charset="0"/>
                <a:cs typeface="Arial" charset="0"/>
              </a:rPr>
              <a:t>Nouns in the problem statement suggest input and output data.</a:t>
            </a:r>
          </a:p>
          <a:p>
            <a:pPr lvl="1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Processing: </a:t>
            </a:r>
            <a:r>
              <a:rPr lang="en-US" sz="2000" dirty="0">
                <a:latin typeface="Tahoma" charset="0"/>
                <a:cs typeface="Arial" charset="0"/>
              </a:rPr>
              <a:t>This is the set of instructions that drive from the input to the output. </a:t>
            </a:r>
          </a:p>
          <a:p>
            <a:pPr lvl="2" eaLnBrk="1" hangingPunct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charset="0"/>
                <a:cs typeface="Arial" charset="0"/>
              </a:rPr>
              <a:t>Verbs in the problem suggest the processing steps.</a:t>
            </a:r>
          </a:p>
          <a:p>
            <a:pPr eaLnBrk="1" hangingPunct="1"/>
            <a:endParaRPr lang="en-US" sz="2000" dirty="0">
              <a:solidFill>
                <a:srgbClr val="0070C0"/>
              </a:solidFill>
              <a:latin typeface="Tahoma" charset="0"/>
              <a:cs typeface="Arial" charset="0"/>
            </a:endParaRPr>
          </a:p>
          <a:p>
            <a:pPr eaLnBrk="1" hangingPunct="1"/>
            <a:endParaRPr lang="en-US" sz="2000" dirty="0">
              <a:solidFill>
                <a:srgbClr val="0070C0"/>
              </a:solidFill>
              <a:latin typeface="Tahoma" charset="0"/>
              <a:cs typeface="Arial" charset="0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292100" y="228600"/>
            <a:ext cx="8547100" cy="7620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Program Components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333500" y="4495800"/>
            <a:ext cx="6477000" cy="1828800"/>
            <a:chOff x="990600" y="4495800"/>
            <a:chExt cx="6477000" cy="1828800"/>
          </a:xfrm>
        </p:grpSpPr>
        <p:sp>
          <p:nvSpPr>
            <p:cNvPr id="3" name="Rectangle 2"/>
            <p:cNvSpPr/>
            <p:nvPr/>
          </p:nvSpPr>
          <p:spPr>
            <a:xfrm>
              <a:off x="990600" y="5067300"/>
              <a:ext cx="1447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Input Data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019800" y="5067300"/>
              <a:ext cx="1447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Output Data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3124200" y="4495800"/>
              <a:ext cx="2209800" cy="18288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Processing</a:t>
              </a: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2362200" y="5181600"/>
              <a:ext cx="838200" cy="457200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5257800" y="5181600"/>
              <a:ext cx="838200" cy="457200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3505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Input</a:t>
            </a:r>
            <a:r>
              <a:rPr lang="en-US" sz="2000" dirty="0">
                <a:latin typeface="Tahoma" charset="0"/>
                <a:cs typeface="Arial" charset="0"/>
              </a:rPr>
              <a:t> </a:t>
            </a: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Width = 5 cm</a:t>
            </a: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Length = 3 cm</a:t>
            </a: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Output</a:t>
            </a:r>
          </a:p>
          <a:p>
            <a:pPr marL="365760" lvl="1" indent="0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Area = ?</a:t>
            </a:r>
          </a:p>
          <a:p>
            <a:pPr marL="365760" lvl="1" indent="0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Perimeter = ?</a:t>
            </a: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Processing (Input </a:t>
            </a: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  <a:sym typeface="Wingdings" panose="05000000000000000000" pitchFamily="2" charset="2"/>
              </a:rPr>
              <a:t> Output)</a:t>
            </a:r>
            <a:endParaRPr lang="en-US" sz="2000" dirty="0">
              <a:solidFill>
                <a:srgbClr val="FF0000"/>
              </a:solidFill>
              <a:latin typeface="Tahoma" charset="0"/>
              <a:cs typeface="Arial" charset="0"/>
            </a:endParaRP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Area = length*width = 5 * 3 = 15 cm</a:t>
            </a:r>
            <a:r>
              <a:rPr lang="en-US" sz="2000" baseline="30000" dirty="0">
                <a:latin typeface="Tahoma" charset="0"/>
                <a:cs typeface="Arial" charset="0"/>
              </a:rPr>
              <a:t>2</a:t>
            </a:r>
            <a:r>
              <a:rPr lang="en-US" sz="2000" dirty="0">
                <a:latin typeface="Tahoma" charset="0"/>
                <a:cs typeface="Arial" charset="0"/>
              </a:rPr>
              <a:t> </a:t>
            </a: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Perimeter = 2*( length + width) = 2*(3 + 5) = 16 cm</a:t>
            </a: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915400" cy="762000"/>
          </a:xfrm>
          <a:noFill/>
        </p:spPr>
        <p:txBody>
          <a:bodyPr vert="horz" anchor="ctr">
            <a:normAutofit fontScale="90000"/>
          </a:bodyPr>
          <a:lstStyle/>
          <a:p>
            <a:r>
              <a:rPr lang="en-US" sz="3000" dirty="0">
                <a:solidFill>
                  <a:schemeClr val="accent3"/>
                </a:solidFill>
                <a:latin typeface="Tahoma" charset="0"/>
                <a:cs typeface="Arial" charset="0"/>
              </a:rPr>
              <a:t>Example 1 - Area and Perimeter of a Rectangle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257800"/>
            <a:ext cx="86868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the values of the input data are not given in the problem statement, they may be read from the user through the keyboard.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52400" y="914400"/>
            <a:ext cx="8686800" cy="685800"/>
          </a:xfrm>
          <a:prstGeom prst="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fontAlgn="auto">
              <a:lnSpc>
                <a:spcPct val="90000"/>
              </a:lnSpc>
              <a:buFont typeface="Wingdings 3"/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Write a program that calculates the area and the perimeter of a rectangle of width and length 5 cm and 3 cm respectively.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80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 uiExpand="1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686800" cy="3352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Input</a:t>
            </a: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Radius = 2.5 cm</a:t>
            </a: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PI = 3.14</a:t>
            </a:r>
          </a:p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Output</a:t>
            </a:r>
          </a:p>
          <a:p>
            <a:pPr marL="365760" lvl="1" indent="0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Area = ?</a:t>
            </a:r>
          </a:p>
          <a:p>
            <a:pPr marL="365760" lvl="1" indent="0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Perimeter = ?</a:t>
            </a: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Processing (Input </a:t>
            </a: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  <a:sym typeface="Wingdings" panose="05000000000000000000" pitchFamily="2" charset="2"/>
              </a:rPr>
              <a:t> Output)</a:t>
            </a:r>
            <a:endParaRPr lang="en-US" sz="2000" dirty="0">
              <a:solidFill>
                <a:srgbClr val="FF0000"/>
              </a:solidFill>
              <a:latin typeface="Tahoma" charset="0"/>
              <a:cs typeface="Arial" charset="0"/>
            </a:endParaRP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Area = PI * Radius * Radius = 3.14*6.25 = 19.625 cm</a:t>
            </a:r>
            <a:r>
              <a:rPr lang="en-US" sz="2000" baseline="30000" dirty="0">
                <a:latin typeface="Tahoma" charset="0"/>
                <a:cs typeface="Arial" charset="0"/>
              </a:rPr>
              <a:t>2</a:t>
            </a: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Perimeter = 2 * PI * Radius = 2*3.14*2.5 = 15.7 cm</a:t>
            </a: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  <a:noFill/>
        </p:spPr>
        <p:txBody>
          <a:bodyPr vert="horz" anchor="ctr">
            <a:noAutofit/>
          </a:bodyPr>
          <a:lstStyle/>
          <a:p>
            <a:r>
              <a:rPr lang="en-US" sz="3000" dirty="0">
                <a:solidFill>
                  <a:schemeClr val="accent3"/>
                </a:solidFill>
                <a:latin typeface="Tahoma" charset="0"/>
                <a:cs typeface="Arial" charset="0"/>
              </a:rPr>
              <a:t>Example 2 - Area and Perimeter of a Circle 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5257800"/>
            <a:ext cx="86868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the values of the input data are not given in the problem statement, they may be read from the user through the keyboard.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304800" y="914400"/>
            <a:ext cx="8305800" cy="457200"/>
          </a:xfrm>
          <a:prstGeom prst="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fontAlgn="auto">
              <a:lnSpc>
                <a:spcPct val="90000"/>
              </a:lnSpc>
              <a:buFont typeface="Wingdings 3"/>
              <a:buNone/>
            </a:pPr>
            <a:r>
              <a:rPr lang="en-US" sz="2000">
                <a:solidFill>
                  <a:srgbClr val="0000FF"/>
                </a:solidFill>
                <a:latin typeface="Tahoma" charset="0"/>
                <a:cs typeface="Arial" charset="0"/>
              </a:rPr>
              <a:t>Calculate the area and the perimeter of a circle of radius = 2.5 cm.</a:t>
            </a:r>
            <a:endParaRPr lang="en-US" sz="2000" dirty="0">
              <a:solidFill>
                <a:srgbClr val="0000FF"/>
              </a:solidFill>
              <a:latin typeface="Tahoma" charset="0"/>
              <a:cs typeface="Arial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61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3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build="p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537448" cy="3200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Input</a:t>
            </a: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Five numbers =  x1, x2, x3, x4, x5</a:t>
            </a:r>
          </a:p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Output</a:t>
            </a:r>
          </a:p>
          <a:p>
            <a:pPr marL="365760" lvl="1" indent="0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Sum = ?</a:t>
            </a:r>
          </a:p>
          <a:p>
            <a:pPr marL="365760" lvl="1" indent="0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Average = ?</a:t>
            </a:r>
          </a:p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Processing (Input </a:t>
            </a: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  <a:sym typeface="Wingdings" panose="05000000000000000000" pitchFamily="2" charset="2"/>
              </a:rPr>
              <a:t> Output)</a:t>
            </a:r>
            <a:endParaRPr lang="en-US" sz="2000" dirty="0">
              <a:solidFill>
                <a:srgbClr val="FF0000"/>
              </a:solidFill>
              <a:latin typeface="Tahoma" charset="0"/>
              <a:cs typeface="Arial" charset="0"/>
            </a:endParaRP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Sum = x1+x2+x3+x4+x5 =10+20+30+40+50= 150</a:t>
            </a:r>
          </a:p>
          <a:p>
            <a:pPr marL="365760" lvl="1" indent="0" eaLnBrk="1" hangingPunct="1">
              <a:lnSpc>
                <a:spcPct val="90000"/>
              </a:lnSpc>
              <a:buNone/>
            </a:pPr>
            <a:r>
              <a:rPr lang="en-US" sz="2000" dirty="0">
                <a:latin typeface="Tahoma" charset="0"/>
                <a:cs typeface="Arial" charset="0"/>
              </a:rPr>
              <a:t>Average = Sum/5 = 150/5 = 30</a:t>
            </a:r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915400" cy="609600"/>
          </a:xfrm>
          <a:noFill/>
        </p:spPr>
        <p:txBody>
          <a:bodyPr vert="horz" anchor="ctr">
            <a:normAutofit/>
          </a:bodyPr>
          <a:lstStyle/>
          <a:p>
            <a:r>
              <a:rPr lang="en-US" sz="3000" dirty="0">
                <a:solidFill>
                  <a:schemeClr val="accent3"/>
                </a:solidFill>
                <a:latin typeface="Tahoma" charset="0"/>
                <a:cs typeface="Arial" charset="0"/>
              </a:rPr>
              <a:t>Example 3 - Sum and Average of 5 Numbers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5257800"/>
            <a:ext cx="86868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the values of the input data are not given in the problem statement, they may be read from the user through the keyboard.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52400" y="914400"/>
            <a:ext cx="8613648" cy="457200"/>
          </a:xfrm>
          <a:prstGeom prst="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fontAlgn="auto">
              <a:lnSpc>
                <a:spcPct val="90000"/>
              </a:lnSpc>
              <a:buFont typeface="Wingdings 3"/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Calculate the sum and the average of the numbers 10, 20, 30, 40 and 50.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86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build="p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1481138"/>
            <a:ext cx="8495731" cy="4525962"/>
          </a:xfrm>
        </p:spPr>
        <p:txBody>
          <a:bodyPr>
            <a:normAutofit/>
          </a:bodyPr>
          <a:lstStyle/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latin typeface="AGaramond"/>
              </a:rPr>
              <a:t>Java is the world’s most widely used computer programming language. 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latin typeface="AGaramond"/>
              </a:rPr>
              <a:t>In use today are more than a billion general- purpose computers and billions more Java-enabled cell phones, smart phones and handheld devices (such as tablet computers). 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latin typeface="AGaramond"/>
              </a:rPr>
              <a:t>Java has become the language of choice for implementing Internet-based applications and software for devices that communicate over a network.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latin typeface="AGaramond"/>
              </a:rPr>
              <a:t>Java is Object-Oriented (OO)- today’s key programming methodology.</a:t>
            </a:r>
            <a:endParaRPr lang="ar-SA" sz="2400" dirty="0">
              <a:latin typeface="AGaramond"/>
            </a:endParaRPr>
          </a:p>
        </p:txBody>
      </p:sp>
      <p:sp>
        <p:nvSpPr>
          <p:cNvPr id="4096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FEEECAE3-DE80-4ED5-BFF9-94E698811F88}" type="slidenum">
              <a:rPr lang="en-US"/>
              <a:pPr/>
              <a:t>14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0"/>
            <a:ext cx="8301608" cy="1143000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5. Introduction to Java (Why Java?)</a:t>
            </a:r>
            <a:endParaRPr lang="ar-SA" sz="34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1"/>
          <p:cNvSpPr>
            <a:spLocks noGrp="1"/>
          </p:cNvSpPr>
          <p:nvPr>
            <p:ph idx="1"/>
          </p:nvPr>
        </p:nvSpPr>
        <p:spPr>
          <a:xfrm>
            <a:off x="0" y="1201738"/>
            <a:ext cx="9144001" cy="4818062"/>
          </a:xfrm>
        </p:spPr>
        <p:txBody>
          <a:bodyPr/>
          <a:lstStyle/>
          <a:p>
            <a:pPr algn="l" rtl="0">
              <a:buFont typeface="Wingdings 3" pitchFamily="18" charset="2"/>
              <a:buNone/>
            </a:pPr>
            <a:r>
              <a:rPr lang="en-US" altLang="en-US" sz="2200" dirty="0">
                <a:latin typeface="AGaramond"/>
                <a:cs typeface="Times New Roman" pitchFamily="18" charset="0"/>
              </a:rPr>
              <a:t>Developed by Sun Microsystems – a company known for its workstations.</a:t>
            </a:r>
            <a:endParaRPr lang="en-US" sz="2200" b="1" dirty="0">
              <a:latin typeface="AGaramond"/>
            </a:endParaRPr>
          </a:p>
          <a:p>
            <a:pPr algn="l" rtl="0">
              <a:spcBef>
                <a:spcPct val="70000"/>
              </a:spcBef>
            </a:pPr>
            <a:r>
              <a:rPr lang="en-US" altLang="en-US" sz="2200" dirty="0">
                <a:latin typeface="AGaramond"/>
                <a:cs typeface="Times New Roman" pitchFamily="18" charset="0"/>
              </a:rPr>
              <a:t>Java is well known for developing internet applications. it is used to :</a:t>
            </a:r>
          </a:p>
          <a:p>
            <a:pPr lvl="1" algn="l" rtl="0">
              <a:buFont typeface="Wingdings" pitchFamily="2" charset="2"/>
              <a:buChar char="§"/>
            </a:pPr>
            <a:r>
              <a:rPr lang="en-US" altLang="en-US" sz="2200" dirty="0">
                <a:latin typeface="AGaramond"/>
                <a:cs typeface="Times New Roman" pitchFamily="18" charset="0"/>
              </a:rPr>
              <a:t>Create web pages with dynamic and interactive content.</a:t>
            </a:r>
          </a:p>
          <a:p>
            <a:pPr lvl="1" algn="l" rtl="0">
              <a:buFont typeface="Wingdings" pitchFamily="2" charset="2"/>
              <a:buChar char="§"/>
            </a:pPr>
            <a:r>
              <a:rPr lang="en-US" altLang="en-US" sz="2200" dirty="0">
                <a:latin typeface="AGaramond"/>
                <a:cs typeface="Times New Roman" pitchFamily="18" charset="0"/>
              </a:rPr>
              <a:t>Develop large –scale enterprise applications.</a:t>
            </a:r>
          </a:p>
          <a:p>
            <a:pPr lvl="1" algn="l" rtl="0">
              <a:buFont typeface="Wingdings" pitchFamily="2" charset="2"/>
              <a:buChar char="§"/>
            </a:pPr>
            <a:r>
              <a:rPr lang="en-US" altLang="en-US" sz="2200" dirty="0">
                <a:latin typeface="AGaramond"/>
                <a:cs typeface="Times New Roman" pitchFamily="18" charset="0"/>
              </a:rPr>
              <a:t>Enhance the functionality of WWW servers .</a:t>
            </a:r>
          </a:p>
          <a:p>
            <a:pPr lvl="1" algn="l" rtl="0">
              <a:buFont typeface="Wingdings" pitchFamily="2" charset="2"/>
              <a:buChar char="§"/>
            </a:pPr>
            <a:r>
              <a:rPr lang="en-US" altLang="en-US" sz="2200" dirty="0">
                <a:latin typeface="AGaramond"/>
                <a:cs typeface="Times New Roman" pitchFamily="18" charset="0"/>
              </a:rPr>
              <a:t>Provide applications for customer devices (ex. Cell phones) </a:t>
            </a:r>
          </a:p>
          <a:p>
            <a:pPr algn="l" rtl="0">
              <a:spcBef>
                <a:spcPct val="70000"/>
              </a:spcBef>
            </a:pPr>
            <a:r>
              <a:rPr lang="en-US" altLang="en-US" sz="2200" dirty="0">
                <a:latin typeface="AGaramond"/>
                <a:cs typeface="Times New Roman" pitchFamily="18" charset="0"/>
              </a:rPr>
              <a:t>Java programs can run from a web browser.</a:t>
            </a:r>
          </a:p>
          <a:p>
            <a:pPr algn="l" rtl="0">
              <a:buFont typeface="Wingdings 3" pitchFamily="18" charset="2"/>
              <a:buNone/>
            </a:pPr>
            <a:r>
              <a:rPr lang="en-US" altLang="en-US" sz="2200" dirty="0">
                <a:latin typeface="AGaramond"/>
                <a:cs typeface="Times New Roman" pitchFamily="18" charset="0"/>
              </a:rPr>
              <a:t> </a:t>
            </a:r>
          </a:p>
          <a:p>
            <a:pPr algn="l" rtl="0">
              <a:buFont typeface="Wingdings 3" pitchFamily="18" charset="2"/>
              <a:buNone/>
            </a:pPr>
            <a:endParaRPr lang="fr-FR" sz="2200" b="1" dirty="0">
              <a:latin typeface="AGaramond"/>
            </a:endParaRPr>
          </a:p>
          <a:p>
            <a:pPr algn="l" rtl="0"/>
            <a:endParaRPr lang="ar-SA" sz="2200" dirty="0">
              <a:latin typeface="AGaramond"/>
            </a:endParaRPr>
          </a:p>
        </p:txBody>
      </p:sp>
      <p:sp>
        <p:nvSpPr>
          <p:cNvPr id="4198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CD68B64B-1CB9-4F84-85F4-18F8DF72168C}" type="slidenum">
              <a:rPr lang="en-US"/>
              <a:pPr/>
              <a:t>15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5.1 History of Java</a:t>
            </a:r>
            <a:br>
              <a:rPr lang="en-US" sz="4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endParaRPr lang="ar-SA" sz="40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81971"/>
            <a:ext cx="8892479" cy="465730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ar-SA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5.2 Some Characteristics of Java</a:t>
            </a:r>
          </a:p>
        </p:txBody>
      </p:sp>
      <p:sp>
        <p:nvSpPr>
          <p:cNvPr id="6144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9534" y="723899"/>
            <a:ext cx="8715653" cy="5905501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endParaRPr lang="en-US" altLang="ar-SA" sz="2300" dirty="0">
              <a:latin typeface="AGaramond"/>
            </a:endParaRPr>
          </a:p>
          <a:p>
            <a:pPr algn="l" rtl="0">
              <a:lnSpc>
                <a:spcPct val="90000"/>
              </a:lnSpc>
            </a:pPr>
            <a:r>
              <a:rPr lang="en-US" altLang="ar-SA" sz="2300" dirty="0">
                <a:latin typeface="AGaramond"/>
              </a:rPr>
              <a:t>Object-Oriented Programming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>
                <a:latin typeface="AGaramond"/>
              </a:rPr>
              <a:t>a program is a collection of interacting objects.</a:t>
            </a:r>
          </a:p>
          <a:p>
            <a:pPr lvl="1">
              <a:lnSpc>
                <a:spcPct val="90000"/>
              </a:lnSpc>
            </a:pPr>
            <a:r>
              <a:rPr lang="en-US" altLang="ar-SA" sz="1600" dirty="0">
                <a:latin typeface="AGaramond"/>
              </a:rPr>
              <a:t>Combines data and behavior into one unit</a:t>
            </a:r>
            <a:r>
              <a:rPr lang="en-US" altLang="ar-SA" sz="1600" dirty="0">
                <a:latin typeface="AGaramond"/>
                <a:sym typeface="Wingdings" pitchFamily="2" charset="2"/>
              </a:rPr>
              <a:t> </a:t>
            </a:r>
            <a:r>
              <a:rPr lang="en-US" altLang="ar-SA" sz="1600" b="1" dirty="0">
                <a:solidFill>
                  <a:srgbClr val="CC3300"/>
                </a:solidFill>
                <a:latin typeface="AGaramond"/>
                <a:sym typeface="Wingdings" pitchFamily="2" charset="2"/>
              </a:rPr>
              <a:t>object</a:t>
            </a:r>
            <a:endParaRPr lang="en-US" altLang="en-US" sz="1600" dirty="0">
              <a:latin typeface="AGaramond"/>
              <a:cs typeface="Times New Roman" pitchFamily="18" charset="0"/>
            </a:endParaRPr>
          </a:p>
          <a:p>
            <a:pPr lvl="1" algn="l" rtl="0">
              <a:lnSpc>
                <a:spcPct val="90000"/>
              </a:lnSpc>
            </a:pPr>
            <a:r>
              <a:rPr lang="en-US" sz="1600" dirty="0">
                <a:latin typeface="AGaramond"/>
              </a:rPr>
              <a:t>Essential for large programs, Analyze program requirements, then develop</a:t>
            </a:r>
            <a:endParaRPr lang="en-US" altLang="ar-SA" sz="1600" dirty="0">
              <a:latin typeface="AGaramond"/>
            </a:endParaRPr>
          </a:p>
          <a:p>
            <a:pPr algn="l" rtl="0">
              <a:lnSpc>
                <a:spcPct val="90000"/>
              </a:lnSpc>
            </a:pPr>
            <a:r>
              <a:rPr lang="en-US" altLang="ar-SA" sz="2300" dirty="0">
                <a:latin typeface="AGaramond"/>
              </a:rPr>
              <a:t>Java is Platform-independent </a:t>
            </a:r>
          </a:p>
          <a:p>
            <a:pPr lvl="1" algn="l" rtl="0">
              <a:lnSpc>
                <a:spcPct val="90000"/>
              </a:lnSpc>
            </a:pPr>
            <a:r>
              <a:rPr lang="en-US" altLang="ar-SA" sz="1600" dirty="0">
                <a:latin typeface="AGaramond"/>
              </a:rPr>
              <a:t> Portable</a:t>
            </a:r>
          </a:p>
          <a:p>
            <a:pPr lvl="1" algn="l" rtl="0">
              <a:lnSpc>
                <a:spcPct val="90000"/>
              </a:lnSpc>
            </a:pPr>
            <a:r>
              <a:rPr lang="en-US" altLang="ar-SA" sz="1600" dirty="0">
                <a:latin typeface="AGaramond"/>
              </a:rPr>
              <a:t> ”Write-once, run-anywhere” </a:t>
            </a:r>
          </a:p>
          <a:p>
            <a:pPr algn="l" rtl="0">
              <a:lnSpc>
                <a:spcPct val="90000"/>
              </a:lnSpc>
            </a:pPr>
            <a:r>
              <a:rPr lang="en-GB" sz="2300" dirty="0">
                <a:latin typeface="AGaramond"/>
              </a:rPr>
              <a:t>Create program for Graphical User Interface Program</a:t>
            </a:r>
            <a:endParaRPr lang="en-US" altLang="ar-SA" sz="2300" dirty="0">
              <a:latin typeface="AGaramond"/>
            </a:endParaRPr>
          </a:p>
          <a:p>
            <a:pPr algn="l" rtl="0">
              <a:lnSpc>
                <a:spcPct val="90000"/>
              </a:lnSpc>
            </a:pPr>
            <a:r>
              <a:rPr lang="en-US" altLang="ar-SA" sz="2300" dirty="0">
                <a:latin typeface="AGaramond"/>
              </a:rPr>
              <a:t>Secure</a:t>
            </a:r>
          </a:p>
          <a:p>
            <a:pPr lvl="1" algn="l" rtl="0">
              <a:lnSpc>
                <a:spcPct val="90000"/>
              </a:lnSpc>
            </a:pPr>
            <a:r>
              <a:rPr lang="en-US" altLang="ar-SA" sz="1600" dirty="0">
                <a:latin typeface="AGaramond"/>
              </a:rPr>
              <a:t>The </a:t>
            </a:r>
            <a:r>
              <a:rPr lang="en-US" altLang="ar-SA" sz="1600" dirty="0" err="1">
                <a:latin typeface="AGaramond"/>
              </a:rPr>
              <a:t>bytecode</a:t>
            </a:r>
            <a:r>
              <a:rPr lang="en-US" altLang="ar-SA" sz="1600" dirty="0">
                <a:latin typeface="AGaramond"/>
              </a:rPr>
              <a:t> verifier of the JVM :</a:t>
            </a:r>
          </a:p>
          <a:p>
            <a:pPr lvl="1" algn="l" rtl="0">
              <a:lnSpc>
                <a:spcPct val="90000"/>
              </a:lnSpc>
            </a:pPr>
            <a:r>
              <a:rPr lang="en-US" altLang="ar-SA" sz="1600" dirty="0">
                <a:latin typeface="AGaramond"/>
              </a:rPr>
              <a:t>checks </a:t>
            </a:r>
            <a:r>
              <a:rPr lang="en-US" altLang="ar-SA" sz="1600" dirty="0" err="1">
                <a:latin typeface="AGaramond"/>
              </a:rPr>
              <a:t>untrusted</a:t>
            </a:r>
            <a:r>
              <a:rPr lang="en-US" altLang="ar-SA" sz="1600" dirty="0">
                <a:latin typeface="AGaramond"/>
              </a:rPr>
              <a:t> </a:t>
            </a:r>
            <a:r>
              <a:rPr lang="en-US" altLang="ar-SA" sz="1600" dirty="0" err="1">
                <a:latin typeface="AGaramond"/>
              </a:rPr>
              <a:t>bytecode</a:t>
            </a:r>
            <a:endParaRPr lang="en-US" altLang="ar-SA" sz="1600" dirty="0">
              <a:latin typeface="AGaramond"/>
            </a:endParaRPr>
          </a:p>
          <a:p>
            <a:pPr algn="l" rtl="0">
              <a:spcBef>
                <a:spcPct val="70000"/>
              </a:spcBef>
            </a:pPr>
            <a:r>
              <a:rPr lang="en-US" altLang="en-US" sz="2400" dirty="0">
                <a:latin typeface="AGaramond"/>
                <a:cs typeface="Times New Roman" pitchFamily="18" charset="0"/>
              </a:rPr>
              <a:t>Developing internet applications. it is used to :</a:t>
            </a:r>
          </a:p>
          <a:p>
            <a:pPr lvl="1" algn="l" rtl="0">
              <a:buFont typeface="Wingdings" pitchFamily="2" charset="2"/>
              <a:buChar char="§"/>
            </a:pPr>
            <a:r>
              <a:rPr lang="en-US" altLang="en-US" sz="1600" dirty="0">
                <a:latin typeface="AGaramond"/>
                <a:cs typeface="Times New Roman" pitchFamily="18" charset="0"/>
              </a:rPr>
              <a:t>Create web pages with dynamic and interactive content.</a:t>
            </a:r>
          </a:p>
          <a:p>
            <a:pPr lvl="1" rtl="0">
              <a:buFont typeface="Wingdings" pitchFamily="2" charset="2"/>
              <a:buChar char="§"/>
            </a:pPr>
            <a:r>
              <a:rPr lang="en-US" altLang="en-US" sz="1600" dirty="0">
                <a:latin typeface="AGaramond"/>
                <a:cs typeface="Times New Roman" pitchFamily="18" charset="0"/>
              </a:rPr>
              <a:t>Develop large –scale enterprise applications.</a:t>
            </a:r>
          </a:p>
          <a:p>
            <a:pPr lvl="1" rtl="0">
              <a:buFont typeface="Wingdings" pitchFamily="2" charset="2"/>
              <a:buChar char="§"/>
            </a:pPr>
            <a:r>
              <a:rPr lang="en-US" altLang="en-US" sz="1600" dirty="0">
                <a:latin typeface="AGaramond"/>
                <a:cs typeface="Times New Roman" pitchFamily="18" charset="0"/>
              </a:rPr>
              <a:t>Provide applications for customer devices (ex. Cell phones)</a:t>
            </a:r>
          </a:p>
          <a:p>
            <a:pPr lvl="1" rtl="0">
              <a:buFont typeface="Wingdings" pitchFamily="2" charset="2"/>
              <a:buChar char="§"/>
            </a:pPr>
            <a:r>
              <a:rPr lang="en-US" altLang="en-US" sz="1600" dirty="0">
                <a:latin typeface="AGaramond"/>
                <a:cs typeface="Times New Roman" pitchFamily="18" charset="0"/>
              </a:rPr>
              <a:t>Dynamic and strong language.</a:t>
            </a:r>
            <a:endParaRPr lang="en-US" altLang="ar-SA" sz="1600" dirty="0">
              <a:latin typeface="AGaramond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799" y="1167239"/>
            <a:ext cx="8661779" cy="4525962"/>
          </a:xfrm>
        </p:spPr>
        <p:txBody>
          <a:bodyPr>
            <a:noAutofit/>
          </a:bodyPr>
          <a:lstStyle/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200" dirty="0">
                <a:latin typeface="AGaramond"/>
              </a:rPr>
              <a:t>Java programs may be divided into:</a:t>
            </a:r>
          </a:p>
          <a:p>
            <a:pPr marL="621792" lvl="1" algn="l" rtl="0" fontAlgn="auto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200" u="sng" dirty="0">
                <a:solidFill>
                  <a:srgbClr val="0070C0"/>
                </a:solidFill>
                <a:latin typeface="AGaramond"/>
              </a:rPr>
              <a:t>Standalone/desktop applications</a:t>
            </a:r>
            <a:r>
              <a:rPr lang="en-US" sz="2200" dirty="0">
                <a:latin typeface="AGaramond"/>
              </a:rPr>
              <a:t> (do not need a web browser to run)</a:t>
            </a:r>
          </a:p>
          <a:p>
            <a:pPr marL="621792" lvl="1" algn="l" rtl="0" fontAlgn="auto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200" dirty="0">
                <a:latin typeface="AGaramond"/>
              </a:rPr>
              <a:t>Applets (need a web browser to run)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200" dirty="0">
                <a:latin typeface="AGaramond"/>
              </a:rPr>
              <a:t>To write Java programs, you need to download and install the </a:t>
            </a:r>
            <a:r>
              <a:rPr lang="en-US" sz="2200" b="1" u="sng" dirty="0">
                <a:latin typeface="AGaramond"/>
              </a:rPr>
              <a:t>Java Development Kit (JDK),</a:t>
            </a:r>
            <a:r>
              <a:rPr lang="en-US" sz="2200" dirty="0">
                <a:latin typeface="AGaramond"/>
              </a:rPr>
              <a:t> which is a development environment includes tools useful for this purpose.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200" dirty="0">
                <a:latin typeface="AGaramond"/>
              </a:rPr>
              <a:t>JDK could be found in various editions. 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200" dirty="0">
                <a:latin typeface="AGaramond"/>
              </a:rPr>
              <a:t> Java Standard Edition (Java SE)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200" dirty="0">
                <a:latin typeface="AGaramond"/>
              </a:rPr>
              <a:t>Java Enterprise Edition (Java EE)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200" dirty="0">
                <a:latin typeface="AGaramond"/>
              </a:rPr>
              <a:t>Java Micro Edition (Java ME) </a:t>
            </a:r>
            <a:endParaRPr lang="ar-SA" sz="2200" dirty="0">
              <a:latin typeface="AGaramond"/>
            </a:endParaRPr>
          </a:p>
        </p:txBody>
      </p:sp>
      <p:sp>
        <p:nvSpPr>
          <p:cNvPr id="4301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A20F0EE8-54D6-45EE-BF3A-987FA161B27A}" type="slidenum">
              <a:rPr lang="en-US"/>
              <a:pPr/>
              <a:t>17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5.3  Java programs</a:t>
            </a:r>
            <a:endParaRPr lang="ar-SA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52736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4024" y="750627"/>
            <a:ext cx="8679975" cy="6107373"/>
          </a:xfrm>
        </p:spPr>
        <p:txBody>
          <a:bodyPr>
            <a:noAutofit/>
          </a:bodyPr>
          <a:lstStyle/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endParaRPr lang="en-US" sz="2400" b="1" dirty="0">
              <a:solidFill>
                <a:srgbClr val="1B22A5"/>
              </a:solidFill>
              <a:latin typeface="AGaramond"/>
            </a:endParaRP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b="1" dirty="0">
                <a:solidFill>
                  <a:srgbClr val="1B22A5"/>
                </a:solidFill>
                <a:latin typeface="AGaramond"/>
              </a:rPr>
              <a:t>Java Standard Edition (Java SE)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latin typeface="AGaramond"/>
              </a:rPr>
              <a:t>Used for developing cross-platform, general- purpose applications.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None/>
              <a:defRPr/>
            </a:pPr>
            <a:r>
              <a:rPr lang="en-US" sz="2000" dirty="0">
                <a:latin typeface="AGaramond"/>
              </a:rPr>
              <a:t>You can download the JDK and its documentation from 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u="sng" dirty="0">
                <a:solidFill>
                  <a:srgbClr val="FF0000"/>
                </a:solidFill>
                <a:latin typeface="AGaramond"/>
                <a:hlinkClick r:id="rId2"/>
              </a:rPr>
              <a:t>www.oracle.com/technetwork/java/javase/downloads/index.html</a:t>
            </a:r>
            <a:endParaRPr lang="en-US" sz="2000" u="sng" dirty="0">
              <a:solidFill>
                <a:srgbClr val="FF0000"/>
              </a:solidFill>
              <a:latin typeface="AGaramond"/>
            </a:endParaRP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b="1" dirty="0">
                <a:solidFill>
                  <a:srgbClr val="1B22A5"/>
                </a:solidFill>
                <a:latin typeface="AGaramond"/>
              </a:rPr>
              <a:t>Java Enterprise Edition (Java EE)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None/>
              <a:defRPr/>
            </a:pPr>
            <a:r>
              <a:rPr lang="en-US" sz="2400" dirty="0">
                <a:latin typeface="AGaramond"/>
              </a:rPr>
              <a:t>     Geared toward developing large-scale, distributed networking applications and web-based applications.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b="1" dirty="0">
                <a:solidFill>
                  <a:srgbClr val="1B22A5"/>
                </a:solidFill>
                <a:latin typeface="AGaramond"/>
              </a:rPr>
              <a:t>Java Micro Edition (Java ME)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None/>
              <a:defRPr/>
            </a:pPr>
            <a:r>
              <a:rPr lang="en-US" sz="2400" dirty="0">
                <a:latin typeface="AGaramond"/>
              </a:rPr>
              <a:t>     Geared toward developing applications for small,  memory-constrained devices, such as BlackBerry smart phones.</a:t>
            </a:r>
            <a:endParaRPr lang="en-US" sz="1800" dirty="0">
              <a:latin typeface="AGaramond"/>
            </a:endParaRPr>
          </a:p>
          <a:p>
            <a:pPr marL="365760" indent="-256032" algn="l" rtl="0" fontAlgn="auto">
              <a:spcAft>
                <a:spcPts val="0"/>
              </a:spcAft>
              <a:buFont typeface="Wingdings 3"/>
              <a:buNone/>
              <a:defRPr/>
            </a:pPr>
            <a:endParaRPr lang="en-US" sz="2400" dirty="0">
              <a:latin typeface="AGaramond"/>
            </a:endParaRPr>
          </a:p>
          <a:p>
            <a:pPr marL="365760" indent="-256032" algn="l" rtl="0" fontAlgn="auto">
              <a:spcAft>
                <a:spcPts val="0"/>
              </a:spcAft>
              <a:buFont typeface="Wingdings 3"/>
              <a:buNone/>
              <a:defRPr/>
            </a:pPr>
            <a:endParaRPr lang="ar-SA" sz="2400" dirty="0">
              <a:latin typeface="AGaramond"/>
            </a:endParaRPr>
          </a:p>
        </p:txBody>
      </p:sp>
      <p:sp>
        <p:nvSpPr>
          <p:cNvPr id="4403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71391A32-6511-4317-94B4-709B49548714}" type="slidenum">
              <a:rPr lang="en-US"/>
              <a:pPr/>
              <a:t>18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5.4  Java Editions</a:t>
            </a:r>
            <a:endParaRPr lang="ar-SA" sz="40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Autofit/>
          </a:bodyPr>
          <a:lstStyle/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dirty="0">
                <a:latin typeface="AGaramond"/>
              </a:rPr>
              <a:t>Java programs normally go through five phases: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b="1" u="sng" dirty="0">
                <a:latin typeface="AGaramond"/>
              </a:rPr>
              <a:t>Edit:</a:t>
            </a:r>
          </a:p>
          <a:p>
            <a:pPr marL="621792" lvl="1" algn="l" rtl="0" fontAlgn="auto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000" dirty="0">
                <a:latin typeface="AGaramond"/>
              </a:rPr>
              <a:t>Using a text editor like </a:t>
            </a:r>
            <a:r>
              <a:rPr lang="en-US" sz="2000" dirty="0">
                <a:solidFill>
                  <a:srgbClr val="0000FF"/>
                </a:solidFill>
                <a:latin typeface="AGaramond"/>
              </a:rPr>
              <a:t>Notepad</a:t>
            </a:r>
            <a:r>
              <a:rPr lang="en-US" sz="2000" dirty="0">
                <a:latin typeface="AGaramond"/>
              </a:rPr>
              <a:t> or an(</a:t>
            </a:r>
            <a:r>
              <a:rPr lang="en-US" sz="2000" dirty="0">
                <a:solidFill>
                  <a:srgbClr val="0000FF"/>
                </a:solidFill>
                <a:latin typeface="AGaramond"/>
              </a:rPr>
              <a:t>Integrated development environment</a:t>
            </a:r>
            <a:r>
              <a:rPr lang="en-US" sz="2000" dirty="0">
                <a:latin typeface="AGaramond"/>
              </a:rPr>
              <a:t>) IDE like </a:t>
            </a:r>
            <a:r>
              <a:rPr lang="en-US" sz="2000" dirty="0" err="1">
                <a:solidFill>
                  <a:srgbClr val="0000FF"/>
                </a:solidFill>
                <a:latin typeface="AGaramond"/>
              </a:rPr>
              <a:t>NetBeans</a:t>
            </a:r>
            <a:r>
              <a:rPr lang="en-US" sz="2000" dirty="0">
                <a:latin typeface="AGaramond"/>
              </a:rPr>
              <a:t> to write the program.</a:t>
            </a:r>
          </a:p>
          <a:p>
            <a:pPr marL="621792" lvl="1" algn="l" rtl="0" fontAlgn="auto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000" dirty="0">
                <a:latin typeface="AGaramond"/>
              </a:rPr>
              <a:t>Saving the program (</a:t>
            </a:r>
            <a:r>
              <a:rPr lang="en-US" sz="2000" dirty="0">
                <a:solidFill>
                  <a:srgbClr val="FF0000"/>
                </a:solidFill>
                <a:latin typeface="AGaramond"/>
              </a:rPr>
              <a:t>source code</a:t>
            </a:r>
            <a:r>
              <a:rPr lang="en-US" sz="2000" dirty="0">
                <a:latin typeface="AGaramond"/>
              </a:rPr>
              <a:t>) in </a:t>
            </a:r>
            <a:r>
              <a:rPr lang="en-US" sz="2000" u="sng" dirty="0">
                <a:solidFill>
                  <a:srgbClr val="FF0000"/>
                </a:solidFill>
                <a:latin typeface="AGaramond"/>
              </a:rPr>
              <a:t>.java file</a:t>
            </a: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b="1" u="sng" dirty="0">
                <a:latin typeface="AGaramond"/>
              </a:rPr>
              <a:t>Compile:</a:t>
            </a:r>
          </a:p>
          <a:p>
            <a:pPr marL="621792" lvl="1" algn="l" rtl="0" fontAlgn="auto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000" dirty="0">
                <a:latin typeface="AGaramond"/>
              </a:rPr>
              <a:t>Using the command </a:t>
            </a:r>
            <a:r>
              <a:rPr lang="en-US" sz="2000" dirty="0">
                <a:solidFill>
                  <a:srgbClr val="FF0000"/>
                </a:solidFill>
                <a:latin typeface="AGaramond"/>
              </a:rPr>
              <a:t>javac</a:t>
            </a:r>
            <a:r>
              <a:rPr lang="ar-SA" sz="2000" dirty="0">
                <a:latin typeface="AGaramond"/>
              </a:rPr>
              <a:t> </a:t>
            </a:r>
            <a:r>
              <a:rPr lang="en-US" sz="2000" dirty="0">
                <a:latin typeface="AGaramond"/>
              </a:rPr>
              <a:t> to create a </a:t>
            </a:r>
            <a:r>
              <a:rPr lang="en-US" sz="2000" u="sng" dirty="0">
                <a:solidFill>
                  <a:srgbClr val="FF0000"/>
                </a:solidFill>
                <a:latin typeface="AGaramond"/>
              </a:rPr>
              <a:t>.class file</a:t>
            </a:r>
            <a:r>
              <a:rPr lang="en-US" sz="2000" dirty="0">
                <a:latin typeface="AGaramond"/>
              </a:rPr>
              <a:t>. Which contains the compiled version of the program (Java byte code)</a:t>
            </a:r>
          </a:p>
          <a:p>
            <a:pPr marL="365760" lvl="2" indent="-256032" algn="l" rtl="0" fontAlgn="auto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/>
            </a:pPr>
            <a:r>
              <a:rPr lang="en-US" sz="2000" b="1" u="sng" dirty="0">
                <a:latin typeface="AGaramond"/>
              </a:rPr>
              <a:t>Load: </a:t>
            </a:r>
            <a:r>
              <a:rPr lang="en-US" sz="2000" dirty="0">
                <a:latin typeface="AGaramond"/>
              </a:rPr>
              <a:t> </a:t>
            </a:r>
            <a:r>
              <a:rPr lang="en-US" altLang="ar-SA" sz="2000" dirty="0">
                <a:latin typeface="AGaramond"/>
              </a:rPr>
              <a:t>stores </a:t>
            </a:r>
            <a:r>
              <a:rPr lang="en-US" altLang="ar-SA" sz="2000" dirty="0">
                <a:solidFill>
                  <a:srgbClr val="FF0000"/>
                </a:solidFill>
                <a:latin typeface="AGaramond"/>
              </a:rPr>
              <a:t>bytecodes</a:t>
            </a:r>
            <a:r>
              <a:rPr lang="en-US" altLang="ar-SA" sz="2000" dirty="0">
                <a:latin typeface="AGaramond"/>
              </a:rPr>
              <a:t> in memory</a:t>
            </a:r>
            <a:endParaRPr lang="en-US" sz="2000" dirty="0">
              <a:latin typeface="AGaramond"/>
            </a:endParaRPr>
          </a:p>
          <a:p>
            <a:pPr marL="365760" lvl="2" indent="-256032" algn="l" rtl="0" fontAlgn="auto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/>
            </a:pPr>
            <a:r>
              <a:rPr lang="en-US" sz="2000" b="1" u="sng" dirty="0">
                <a:latin typeface="AGaramond"/>
              </a:rPr>
              <a:t>Verify:</a:t>
            </a:r>
            <a:r>
              <a:rPr lang="en-US" sz="2000" dirty="0">
                <a:latin typeface="AGaramond"/>
              </a:rPr>
              <a:t> </a:t>
            </a:r>
            <a:r>
              <a:rPr lang="en-US" altLang="ar-SA" sz="2000" dirty="0">
                <a:latin typeface="AGaramond"/>
              </a:rPr>
              <a:t>ensures </a:t>
            </a:r>
            <a:r>
              <a:rPr lang="en-US" altLang="ar-SA" sz="2000" dirty="0">
                <a:solidFill>
                  <a:srgbClr val="FF0000"/>
                </a:solidFill>
                <a:latin typeface="AGaramond"/>
              </a:rPr>
              <a:t>bytecodes</a:t>
            </a:r>
            <a:r>
              <a:rPr lang="en-US" altLang="ar-SA" sz="2000" dirty="0">
                <a:latin typeface="AGaramond"/>
              </a:rPr>
              <a:t> do not violate security requirements.</a:t>
            </a:r>
            <a:endParaRPr lang="en-US" sz="2000" dirty="0">
              <a:latin typeface="AGaramond"/>
            </a:endParaRP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b="1" u="sng" dirty="0">
                <a:latin typeface="AGaramond"/>
              </a:rPr>
              <a:t>Execute</a:t>
            </a:r>
          </a:p>
          <a:p>
            <a:pPr marL="621792" lvl="1" algn="l" rtl="0" fontAlgn="auto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000" dirty="0">
                <a:latin typeface="AGaramond"/>
              </a:rPr>
              <a:t>Using the command java, where </a:t>
            </a:r>
            <a:r>
              <a:rPr lang="en-US" sz="2000" dirty="0">
                <a:solidFill>
                  <a:srgbClr val="0000FF"/>
                </a:solidFill>
                <a:latin typeface="AGaramond"/>
              </a:rPr>
              <a:t>Java Virtual Machine (JVM)</a:t>
            </a:r>
            <a:r>
              <a:rPr lang="en-US" sz="2000" dirty="0">
                <a:latin typeface="AGaramond"/>
              </a:rPr>
              <a:t> executes the java byte code in the .class file</a:t>
            </a:r>
          </a:p>
          <a:p>
            <a:pPr marL="621792" lvl="1" algn="r" fontAlgn="auto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endParaRPr lang="en-US" sz="1800" dirty="0">
              <a:latin typeface="AGaramond"/>
            </a:endParaRPr>
          </a:p>
          <a:p>
            <a:pPr marL="1144079" lvl="3" algn="l" rtl="0" fontAlgn="auto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sz="2000" dirty="0">
                <a:latin typeface="AGaramond"/>
              </a:rPr>
              <a:t>You can visit Oracle’s New to Java Center at :</a:t>
            </a:r>
          </a:p>
          <a:p>
            <a:pPr marL="365760" indent="-256032" algn="l" rtl="0" fontAlgn="auto"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rgbClr val="1B22A5"/>
                </a:solidFill>
                <a:latin typeface="AGaramond"/>
              </a:rPr>
              <a:t>                  </a:t>
            </a:r>
            <a:r>
              <a:rPr lang="en-US" sz="2000" u="sng" dirty="0">
                <a:solidFill>
                  <a:srgbClr val="1B22A5"/>
                </a:solidFill>
                <a:latin typeface="AGaramond"/>
              </a:rPr>
              <a:t>www.oracle.com/technetwork/topics/newtojava/overviewindex.html </a:t>
            </a:r>
          </a:p>
          <a:p>
            <a:pPr marL="365760" indent="-256032" algn="l" rtl="0" fontAlgn="auto">
              <a:spcAft>
                <a:spcPts val="0"/>
              </a:spcAft>
              <a:buNone/>
              <a:defRPr/>
            </a:pPr>
            <a:endParaRPr lang="en-US" sz="2000" dirty="0">
              <a:latin typeface="AGaramond"/>
            </a:endParaRPr>
          </a:p>
          <a:p>
            <a:pPr marL="365760" indent="-256032" algn="l" rtl="0" fontAlgn="auto">
              <a:spcAft>
                <a:spcPts val="0"/>
              </a:spcAft>
              <a:buFont typeface="Wingdings 3"/>
              <a:buChar char=""/>
              <a:defRPr/>
            </a:pPr>
            <a:endParaRPr lang="ar-SA" sz="2000" dirty="0">
              <a:latin typeface="AGaramond"/>
            </a:endParaRPr>
          </a:p>
        </p:txBody>
      </p:sp>
      <p:sp>
        <p:nvSpPr>
          <p:cNvPr id="4505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86D3B517-6DEB-431F-9491-CF544F4ABDEF}" type="slidenum">
              <a:rPr lang="en-US"/>
              <a:pPr/>
              <a:t>19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7421" y="0"/>
            <a:ext cx="8966579" cy="653410"/>
          </a:xfrm>
        </p:spPr>
        <p:txBody>
          <a:bodyPr>
            <a:normAutofit/>
          </a:bodyPr>
          <a:lstStyle/>
          <a:p>
            <a:pPr rtl="0" fontAlgn="auto"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6.   Java and a Typical Java Development Environment</a:t>
            </a:r>
            <a:endParaRPr lang="ar-SA" sz="24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Straight Connector 13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524000" y="649287"/>
            <a:ext cx="4572000" cy="5980113"/>
            <a:chOff x="1008" y="96"/>
            <a:chExt cx="2880" cy="3767"/>
          </a:xfrm>
        </p:grpSpPr>
        <p:sp>
          <p:nvSpPr>
            <p:cNvPr id="31751" name="Rectangle 3"/>
            <p:cNvSpPr>
              <a:spLocks noChangeArrowheads="1"/>
            </p:cNvSpPr>
            <p:nvPr/>
          </p:nvSpPr>
          <p:spPr bwMode="auto">
            <a:xfrm>
              <a:off x="1008" y="96"/>
              <a:ext cx="2880" cy="376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GB" sz="800" b="1">
                <a:latin typeface="Arial" charset="0"/>
                <a:cs typeface="Times New Roman" charset="0"/>
              </a:endParaRPr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569" y="852"/>
              <a:ext cx="433" cy="931"/>
              <a:chOff x="0" y="0"/>
              <a:chExt cx="20000" cy="20002"/>
            </a:xfrm>
          </p:grpSpPr>
          <p:sp>
            <p:nvSpPr>
              <p:cNvPr id="31867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980" cy="34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80000"/>
                  </a:lnSpc>
                </a:pPr>
                <a:r>
                  <a:rPr sz="1000" noProof="1">
                    <a:solidFill>
                      <a:srgbClr val="000000"/>
                    </a:solidFill>
                    <a:latin typeface="Arial" charset="0"/>
                  </a:rPr>
                  <a:t>Primary</a:t>
                </a:r>
              </a:p>
              <a:p>
                <a:pPr algn="ctr" eaLnBrk="0" hangingPunct="0">
                  <a:lnSpc>
                    <a:spcPct val="80000"/>
                  </a:lnSpc>
                </a:pPr>
                <a:r>
                  <a:rPr sz="1000" noProof="1">
                    <a:solidFill>
                      <a:srgbClr val="000000"/>
                    </a:solidFill>
                    <a:latin typeface="Arial" charset="0"/>
                  </a:rPr>
                  <a:t>Memory</a:t>
                </a:r>
              </a:p>
            </p:txBody>
          </p:sp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0" y="3575"/>
                <a:ext cx="20000" cy="16427"/>
                <a:chOff x="0" y="0"/>
                <a:chExt cx="20000" cy="20000"/>
              </a:xfrm>
            </p:grpSpPr>
            <p:sp>
              <p:nvSpPr>
                <p:cNvPr id="31869" name="Freeform 7"/>
                <p:cNvSpPr>
                  <a:spLocks/>
                </p:cNvSpPr>
                <p:nvPr/>
              </p:nvSpPr>
              <p:spPr bwMode="auto">
                <a:xfrm>
                  <a:off x="0" y="0"/>
                  <a:ext cx="19834" cy="19981"/>
                </a:xfrm>
                <a:custGeom>
                  <a:avLst/>
                  <a:gdLst>
                    <a:gd name="T0" fmla="*/ 19326 w 20000"/>
                    <a:gd name="T1" fmla="*/ 0 h 20000"/>
                    <a:gd name="T2" fmla="*/ 19326 w 20000"/>
                    <a:gd name="T3" fmla="*/ 19914 h 20000"/>
                    <a:gd name="T4" fmla="*/ 0 w 20000"/>
                    <a:gd name="T5" fmla="*/ 19914 h 20000"/>
                    <a:gd name="T6" fmla="*/ 0 w 20000"/>
                    <a:gd name="T7" fmla="*/ 0 h 20000"/>
                    <a:gd name="T8" fmla="*/ 19326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90"/>
                      </a:lnTo>
                      <a:lnTo>
                        <a:pt x="0" y="19990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70" name="Freeform 8"/>
                <p:cNvSpPr>
                  <a:spLocks/>
                </p:cNvSpPr>
                <p:nvPr/>
              </p:nvSpPr>
              <p:spPr bwMode="auto">
                <a:xfrm>
                  <a:off x="33" y="10"/>
                  <a:ext cx="19967" cy="2493"/>
                </a:xfrm>
                <a:custGeom>
                  <a:avLst/>
                  <a:gdLst>
                    <a:gd name="T0" fmla="*/ 19849 w 20000"/>
                    <a:gd name="T1" fmla="*/ 0 h 20000"/>
                    <a:gd name="T2" fmla="*/ 19849 w 20000"/>
                    <a:gd name="T3" fmla="*/ 5 h 20000"/>
                    <a:gd name="T4" fmla="*/ 0 w 20000"/>
                    <a:gd name="T5" fmla="*/ 5 h 20000"/>
                    <a:gd name="T6" fmla="*/ 0 w 20000"/>
                    <a:gd name="T7" fmla="*/ 0 h 20000"/>
                    <a:gd name="T8" fmla="*/ 19849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71" name="Freeform 9"/>
                <p:cNvSpPr>
                  <a:spLocks/>
                </p:cNvSpPr>
                <p:nvPr/>
              </p:nvSpPr>
              <p:spPr bwMode="auto">
                <a:xfrm>
                  <a:off x="33" y="2523"/>
                  <a:ext cx="19967" cy="2509"/>
                </a:xfrm>
                <a:custGeom>
                  <a:avLst/>
                  <a:gdLst>
                    <a:gd name="T0" fmla="*/ 19849 w 20000"/>
                    <a:gd name="T1" fmla="*/ 0 h 20000"/>
                    <a:gd name="T2" fmla="*/ 19849 w 20000"/>
                    <a:gd name="T3" fmla="*/ 5 h 20000"/>
                    <a:gd name="T4" fmla="*/ 0 w 20000"/>
                    <a:gd name="T5" fmla="*/ 5 h 20000"/>
                    <a:gd name="T6" fmla="*/ 0 w 20000"/>
                    <a:gd name="T7" fmla="*/ 0 h 20000"/>
                    <a:gd name="T8" fmla="*/ 19849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7"/>
                      </a:lnTo>
                      <a:lnTo>
                        <a:pt x="0" y="19917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5" name="Group 10"/>
                <p:cNvGrpSpPr>
                  <a:grpSpLocks/>
                </p:cNvGrpSpPr>
                <p:nvPr/>
              </p:nvGrpSpPr>
              <p:grpSpPr bwMode="auto">
                <a:xfrm>
                  <a:off x="33" y="5032"/>
                  <a:ext cx="19967" cy="14968"/>
                  <a:chOff x="3" y="1"/>
                  <a:chExt cx="19994" cy="19998"/>
                </a:xfrm>
              </p:grpSpPr>
              <p:sp>
                <p:nvSpPr>
                  <p:cNvPr id="3187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320" y="10115"/>
                    <a:ext cx="2240" cy="72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pPr algn="just" eaLnBrk="0" hangingPunct="0">
                      <a:lnSpc>
                        <a:spcPct val="88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just" eaLnBrk="0" hangingPunct="0">
                      <a:lnSpc>
                        <a:spcPct val="88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just" eaLnBrk="0" hangingPunct="0">
                      <a:lnSpc>
                        <a:spcPct val="88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</p:txBody>
              </p:sp>
              <p:sp>
                <p:nvSpPr>
                  <p:cNvPr id="31874" name="Freeform 12"/>
                  <p:cNvSpPr>
                    <a:spLocks/>
                  </p:cNvSpPr>
                  <p:nvPr/>
                </p:nvSpPr>
                <p:spPr bwMode="auto">
                  <a:xfrm>
                    <a:off x="3" y="1"/>
                    <a:ext cx="19994" cy="3332"/>
                  </a:xfrm>
                  <a:custGeom>
                    <a:avLst/>
                    <a:gdLst>
                      <a:gd name="T0" fmla="*/ 19957 w 20000"/>
                      <a:gd name="T1" fmla="*/ 0 h 20000"/>
                      <a:gd name="T2" fmla="*/ 19957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57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75" name="Freeform 13"/>
                  <p:cNvSpPr>
                    <a:spLocks/>
                  </p:cNvSpPr>
                  <p:nvPr/>
                </p:nvSpPr>
                <p:spPr bwMode="auto">
                  <a:xfrm>
                    <a:off x="3" y="3345"/>
                    <a:ext cx="19994" cy="3327"/>
                  </a:xfrm>
                  <a:custGeom>
                    <a:avLst/>
                    <a:gdLst>
                      <a:gd name="T0" fmla="*/ 19957 w 20000"/>
                      <a:gd name="T1" fmla="*/ 0 h 20000"/>
                      <a:gd name="T2" fmla="*/ 19957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57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76" name="Freeform 14"/>
                  <p:cNvSpPr>
                    <a:spLocks/>
                  </p:cNvSpPr>
                  <p:nvPr/>
                </p:nvSpPr>
                <p:spPr bwMode="auto">
                  <a:xfrm>
                    <a:off x="3" y="6672"/>
                    <a:ext cx="19994" cy="3332"/>
                  </a:xfrm>
                  <a:custGeom>
                    <a:avLst/>
                    <a:gdLst>
                      <a:gd name="T0" fmla="*/ 19957 w 20000"/>
                      <a:gd name="T1" fmla="*/ 0 h 20000"/>
                      <a:gd name="T2" fmla="*/ 19957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57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77" name="Freeform 15"/>
                  <p:cNvSpPr>
                    <a:spLocks/>
                  </p:cNvSpPr>
                  <p:nvPr/>
                </p:nvSpPr>
                <p:spPr bwMode="auto">
                  <a:xfrm>
                    <a:off x="3" y="10004"/>
                    <a:ext cx="19994" cy="6671"/>
                  </a:xfrm>
                  <a:custGeom>
                    <a:avLst/>
                    <a:gdLst>
                      <a:gd name="T0" fmla="*/ 19957 w 20000"/>
                      <a:gd name="T1" fmla="*/ 0 h 20000"/>
                      <a:gd name="T2" fmla="*/ 19957 w 20000"/>
                      <a:gd name="T3" fmla="*/ 247 h 20000"/>
                      <a:gd name="T4" fmla="*/ 0 w 20000"/>
                      <a:gd name="T5" fmla="*/ 247 h 20000"/>
                      <a:gd name="T6" fmla="*/ 0 w 20000"/>
                      <a:gd name="T7" fmla="*/ 0 h 20000"/>
                      <a:gd name="T8" fmla="*/ 19957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58"/>
                        </a:lnTo>
                        <a:lnTo>
                          <a:pt x="0" y="19958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78" name="Freeform 16"/>
                  <p:cNvSpPr>
                    <a:spLocks/>
                  </p:cNvSpPr>
                  <p:nvPr/>
                </p:nvSpPr>
                <p:spPr bwMode="auto">
                  <a:xfrm>
                    <a:off x="3" y="16675"/>
                    <a:ext cx="19994" cy="3324"/>
                  </a:xfrm>
                  <a:custGeom>
                    <a:avLst/>
                    <a:gdLst>
                      <a:gd name="T0" fmla="*/ 19957 w 20000"/>
                      <a:gd name="T1" fmla="*/ 0 h 20000"/>
                      <a:gd name="T2" fmla="*/ 19957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57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79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8874" y="10003"/>
                    <a:ext cx="2239" cy="72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pPr algn="ctr" eaLnBrk="0" hangingPunct="0">
                      <a:lnSpc>
                        <a:spcPct val="64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ctr" eaLnBrk="0" hangingPunct="0">
                      <a:lnSpc>
                        <a:spcPct val="64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ctr" eaLnBrk="0" hangingPunct="0">
                      <a:lnSpc>
                        <a:spcPct val="64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</p:txBody>
              </p:sp>
            </p:grpSp>
          </p:grpSp>
        </p:grp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2569" y="546"/>
              <a:ext cx="433" cy="194"/>
              <a:chOff x="0" y="-1"/>
              <a:chExt cx="20000" cy="20001"/>
            </a:xfrm>
          </p:grpSpPr>
          <p:sp>
            <p:nvSpPr>
              <p:cNvPr id="31864" name="Oval 19"/>
              <p:cNvSpPr>
                <a:spLocks noChangeArrowheads="1"/>
              </p:cNvSpPr>
              <p:nvPr/>
            </p:nvSpPr>
            <p:spPr bwMode="auto">
              <a:xfrm>
                <a:off x="0" y="15019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5" name="Freeform 20"/>
              <p:cNvSpPr>
                <a:spLocks/>
              </p:cNvSpPr>
              <p:nvPr/>
            </p:nvSpPr>
            <p:spPr bwMode="auto">
              <a:xfrm>
                <a:off x="20" y="2557"/>
                <a:ext cx="19980" cy="14807"/>
              </a:xfrm>
              <a:custGeom>
                <a:avLst/>
                <a:gdLst>
                  <a:gd name="T0" fmla="*/ 19901 w 20000"/>
                  <a:gd name="T1" fmla="*/ 0 h 20000"/>
                  <a:gd name="T2" fmla="*/ 19901 w 20000"/>
                  <a:gd name="T3" fmla="*/ 5992 h 20000"/>
                  <a:gd name="T4" fmla="*/ 0 w 20000"/>
                  <a:gd name="T5" fmla="*/ 5992 h 20000"/>
                  <a:gd name="T6" fmla="*/ 0 w 20000"/>
                  <a:gd name="T7" fmla="*/ 0 h 20000"/>
                  <a:gd name="T8" fmla="*/ 19901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6" name="Oval 21"/>
              <p:cNvSpPr>
                <a:spLocks noChangeArrowheads="1"/>
              </p:cNvSpPr>
              <p:nvPr/>
            </p:nvSpPr>
            <p:spPr bwMode="auto">
              <a:xfrm>
                <a:off x="0" y="-1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54" name="Oval 22"/>
            <p:cNvSpPr>
              <a:spLocks noChangeArrowheads="1"/>
            </p:cNvSpPr>
            <p:nvPr/>
          </p:nvSpPr>
          <p:spPr bwMode="auto">
            <a:xfrm>
              <a:off x="2569" y="691"/>
              <a:ext cx="433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5" name="Freeform 23"/>
            <p:cNvSpPr>
              <a:spLocks/>
            </p:cNvSpPr>
            <p:nvPr/>
          </p:nvSpPr>
          <p:spPr bwMode="auto">
            <a:xfrm>
              <a:off x="2569" y="571"/>
              <a:ext cx="433" cy="14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6" name="Freeform 24"/>
            <p:cNvSpPr>
              <a:spLocks/>
            </p:cNvSpPr>
            <p:nvPr/>
          </p:nvSpPr>
          <p:spPr bwMode="auto">
            <a:xfrm>
              <a:off x="2573" y="691"/>
              <a:ext cx="425" cy="2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692"/>
                  </a:lnTo>
                  <a:lnTo>
                    <a:pt x="0" y="19692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57" name="Rectangle 25"/>
            <p:cNvSpPr>
              <a:spLocks noChangeArrowheads="1"/>
            </p:cNvSpPr>
            <p:nvPr/>
          </p:nvSpPr>
          <p:spPr bwMode="auto">
            <a:xfrm>
              <a:off x="2640" y="624"/>
              <a:ext cx="279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64000"/>
                </a:lnSpc>
              </a:pPr>
              <a:r>
                <a:rPr sz="1000" noProof="1">
                  <a:solidFill>
                    <a:srgbClr val="000000"/>
                  </a:solidFill>
                  <a:latin typeface="Arial" charset="0"/>
                </a:rPr>
                <a:t>Disk</a:t>
              </a:r>
            </a:p>
          </p:txBody>
        </p:sp>
        <p:sp>
          <p:nvSpPr>
            <p:cNvPr id="31758" name="Freeform 26"/>
            <p:cNvSpPr>
              <a:spLocks/>
            </p:cNvSpPr>
            <p:nvPr/>
          </p:nvSpPr>
          <p:spPr bwMode="auto">
            <a:xfrm>
              <a:off x="2572" y="566"/>
              <a:ext cx="428" cy="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701"/>
                  </a:lnTo>
                  <a:lnTo>
                    <a:pt x="0" y="19701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59" name="Oval 27"/>
            <p:cNvSpPr>
              <a:spLocks noChangeArrowheads="1"/>
            </p:cNvSpPr>
            <p:nvPr/>
          </p:nvSpPr>
          <p:spPr bwMode="auto">
            <a:xfrm>
              <a:off x="2569" y="546"/>
              <a:ext cx="433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28"/>
            <p:cNvGrpSpPr>
              <a:grpSpLocks/>
            </p:cNvGrpSpPr>
            <p:nvPr/>
          </p:nvGrpSpPr>
          <p:grpSpPr bwMode="auto">
            <a:xfrm>
              <a:off x="2569" y="186"/>
              <a:ext cx="433" cy="195"/>
              <a:chOff x="0" y="-1"/>
              <a:chExt cx="20000" cy="20001"/>
            </a:xfrm>
          </p:grpSpPr>
          <p:sp>
            <p:nvSpPr>
              <p:cNvPr id="31861" name="Oval 29"/>
              <p:cNvSpPr>
                <a:spLocks noChangeArrowheads="1"/>
              </p:cNvSpPr>
              <p:nvPr/>
            </p:nvSpPr>
            <p:spPr bwMode="auto">
              <a:xfrm>
                <a:off x="0" y="15019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2" name="Freeform 30"/>
              <p:cNvSpPr>
                <a:spLocks/>
              </p:cNvSpPr>
              <p:nvPr/>
            </p:nvSpPr>
            <p:spPr bwMode="auto">
              <a:xfrm>
                <a:off x="20" y="2557"/>
                <a:ext cx="19980" cy="14807"/>
              </a:xfrm>
              <a:custGeom>
                <a:avLst/>
                <a:gdLst>
                  <a:gd name="T0" fmla="*/ 19901 w 20000"/>
                  <a:gd name="T1" fmla="*/ 0 h 20000"/>
                  <a:gd name="T2" fmla="*/ 19901 w 20000"/>
                  <a:gd name="T3" fmla="*/ 5992 h 20000"/>
                  <a:gd name="T4" fmla="*/ 0 w 20000"/>
                  <a:gd name="T5" fmla="*/ 5992 h 20000"/>
                  <a:gd name="T6" fmla="*/ 0 w 20000"/>
                  <a:gd name="T7" fmla="*/ 0 h 20000"/>
                  <a:gd name="T8" fmla="*/ 19901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3" name="Oval 31"/>
              <p:cNvSpPr>
                <a:spLocks noChangeArrowheads="1"/>
              </p:cNvSpPr>
              <p:nvPr/>
            </p:nvSpPr>
            <p:spPr bwMode="auto">
              <a:xfrm>
                <a:off x="0" y="-1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61" name="Oval 32"/>
            <p:cNvSpPr>
              <a:spLocks noChangeArrowheads="1"/>
            </p:cNvSpPr>
            <p:nvPr/>
          </p:nvSpPr>
          <p:spPr bwMode="auto">
            <a:xfrm>
              <a:off x="2569" y="332"/>
              <a:ext cx="433" cy="49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2" name="Freeform 33"/>
            <p:cNvSpPr>
              <a:spLocks/>
            </p:cNvSpPr>
            <p:nvPr/>
          </p:nvSpPr>
          <p:spPr bwMode="auto">
            <a:xfrm>
              <a:off x="2569" y="211"/>
              <a:ext cx="433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3" name="Freeform 34"/>
            <p:cNvSpPr>
              <a:spLocks/>
            </p:cNvSpPr>
            <p:nvPr/>
          </p:nvSpPr>
          <p:spPr bwMode="auto">
            <a:xfrm>
              <a:off x="2573" y="332"/>
              <a:ext cx="425" cy="2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692"/>
                  </a:lnTo>
                  <a:lnTo>
                    <a:pt x="0" y="19692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4" name="Rectangle 35"/>
            <p:cNvSpPr>
              <a:spLocks noChangeArrowheads="1"/>
            </p:cNvSpPr>
            <p:nvPr/>
          </p:nvSpPr>
          <p:spPr bwMode="auto">
            <a:xfrm>
              <a:off x="2640" y="265"/>
              <a:ext cx="231" cy="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64000"/>
                </a:lnSpc>
              </a:pPr>
              <a:r>
                <a:rPr sz="1000" noProof="1">
                  <a:solidFill>
                    <a:srgbClr val="000000"/>
                  </a:solidFill>
                  <a:latin typeface="Arial" charset="0"/>
                </a:rPr>
                <a:t>Disk</a:t>
              </a:r>
            </a:p>
          </p:txBody>
        </p:sp>
        <p:sp>
          <p:nvSpPr>
            <p:cNvPr id="31765" name="Freeform 36"/>
            <p:cNvSpPr>
              <a:spLocks/>
            </p:cNvSpPr>
            <p:nvPr/>
          </p:nvSpPr>
          <p:spPr bwMode="auto">
            <a:xfrm>
              <a:off x="2572" y="206"/>
              <a:ext cx="428" cy="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701"/>
                  </a:lnTo>
                  <a:lnTo>
                    <a:pt x="0" y="19701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6" name="Oval 37"/>
            <p:cNvSpPr>
              <a:spLocks noChangeArrowheads="1"/>
            </p:cNvSpPr>
            <p:nvPr/>
          </p:nvSpPr>
          <p:spPr bwMode="auto">
            <a:xfrm>
              <a:off x="2569" y="186"/>
              <a:ext cx="433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38"/>
            <p:cNvGrpSpPr>
              <a:grpSpLocks/>
            </p:cNvGrpSpPr>
            <p:nvPr/>
          </p:nvGrpSpPr>
          <p:grpSpPr bwMode="auto">
            <a:xfrm>
              <a:off x="1729" y="1381"/>
              <a:ext cx="432" cy="195"/>
              <a:chOff x="0" y="-1"/>
              <a:chExt cx="20000" cy="20001"/>
            </a:xfrm>
          </p:grpSpPr>
          <p:sp>
            <p:nvSpPr>
              <p:cNvPr id="31858" name="Oval 39"/>
              <p:cNvSpPr>
                <a:spLocks noChangeArrowheads="1"/>
              </p:cNvSpPr>
              <p:nvPr/>
            </p:nvSpPr>
            <p:spPr bwMode="auto">
              <a:xfrm>
                <a:off x="0" y="15019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9" name="Freeform 40"/>
              <p:cNvSpPr>
                <a:spLocks/>
              </p:cNvSpPr>
              <p:nvPr/>
            </p:nvSpPr>
            <p:spPr bwMode="auto">
              <a:xfrm>
                <a:off x="20" y="2557"/>
                <a:ext cx="19980" cy="14827"/>
              </a:xfrm>
              <a:custGeom>
                <a:avLst/>
                <a:gdLst>
                  <a:gd name="T0" fmla="*/ 19901 w 20000"/>
                  <a:gd name="T1" fmla="*/ 0 h 20000"/>
                  <a:gd name="T2" fmla="*/ 19901 w 20000"/>
                  <a:gd name="T3" fmla="*/ 6024 h 20000"/>
                  <a:gd name="T4" fmla="*/ 0 w 20000"/>
                  <a:gd name="T5" fmla="*/ 6024 h 20000"/>
                  <a:gd name="T6" fmla="*/ 0 w 20000"/>
                  <a:gd name="T7" fmla="*/ 0 h 20000"/>
                  <a:gd name="T8" fmla="*/ 19901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0" name="Oval 41"/>
              <p:cNvSpPr>
                <a:spLocks noChangeArrowheads="1"/>
              </p:cNvSpPr>
              <p:nvPr/>
            </p:nvSpPr>
            <p:spPr bwMode="auto">
              <a:xfrm>
                <a:off x="0" y="-1"/>
                <a:ext cx="20000" cy="4981"/>
              </a:xfrm>
              <a:prstGeom prst="ellipse">
                <a:avLst/>
              </a:pr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68" name="Oval 42"/>
            <p:cNvSpPr>
              <a:spLocks noChangeArrowheads="1"/>
            </p:cNvSpPr>
            <p:nvPr/>
          </p:nvSpPr>
          <p:spPr bwMode="auto">
            <a:xfrm>
              <a:off x="1729" y="1527"/>
              <a:ext cx="432" cy="49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9" name="Freeform 43"/>
            <p:cNvSpPr>
              <a:spLocks/>
            </p:cNvSpPr>
            <p:nvPr/>
          </p:nvSpPr>
          <p:spPr bwMode="auto">
            <a:xfrm>
              <a:off x="1729" y="1406"/>
              <a:ext cx="432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0" name="Freeform 44"/>
            <p:cNvSpPr>
              <a:spLocks/>
            </p:cNvSpPr>
            <p:nvPr/>
          </p:nvSpPr>
          <p:spPr bwMode="auto">
            <a:xfrm>
              <a:off x="1733" y="1527"/>
              <a:ext cx="424" cy="2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692"/>
                  </a:lnTo>
                  <a:lnTo>
                    <a:pt x="0" y="19692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1" name="Rectangle 45"/>
            <p:cNvSpPr>
              <a:spLocks noChangeArrowheads="1"/>
            </p:cNvSpPr>
            <p:nvPr/>
          </p:nvSpPr>
          <p:spPr bwMode="auto">
            <a:xfrm>
              <a:off x="1824" y="1440"/>
              <a:ext cx="254" cy="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64000"/>
                </a:lnSpc>
              </a:pPr>
              <a:r>
                <a:rPr sz="1000" noProof="1">
                  <a:solidFill>
                    <a:srgbClr val="000000"/>
                  </a:solidFill>
                  <a:latin typeface="Arial" charset="0"/>
                </a:rPr>
                <a:t>Disk</a:t>
              </a:r>
            </a:p>
          </p:txBody>
        </p:sp>
        <p:sp>
          <p:nvSpPr>
            <p:cNvPr id="31772" name="Freeform 46"/>
            <p:cNvSpPr>
              <a:spLocks/>
            </p:cNvSpPr>
            <p:nvPr/>
          </p:nvSpPr>
          <p:spPr bwMode="auto">
            <a:xfrm>
              <a:off x="1732" y="1402"/>
              <a:ext cx="427" cy="2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1" y="0"/>
                  </a:moveTo>
                  <a:lnTo>
                    <a:pt x="19981" y="19701"/>
                  </a:lnTo>
                  <a:lnTo>
                    <a:pt x="0" y="19701"/>
                  </a:lnTo>
                  <a:lnTo>
                    <a:pt x="0" y="0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3" name="Oval 47"/>
            <p:cNvSpPr>
              <a:spLocks noChangeArrowheads="1"/>
            </p:cNvSpPr>
            <p:nvPr/>
          </p:nvSpPr>
          <p:spPr bwMode="auto">
            <a:xfrm>
              <a:off x="1729" y="1381"/>
              <a:ext cx="432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4" name="Freeform 48"/>
            <p:cNvSpPr>
              <a:spLocks/>
            </p:cNvSpPr>
            <p:nvPr/>
          </p:nvSpPr>
          <p:spPr bwMode="auto">
            <a:xfrm>
              <a:off x="1607" y="921"/>
              <a:ext cx="672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5" name="Freeform 49"/>
            <p:cNvSpPr>
              <a:spLocks/>
            </p:cNvSpPr>
            <p:nvPr/>
          </p:nvSpPr>
          <p:spPr bwMode="auto">
            <a:xfrm>
              <a:off x="1607" y="500"/>
              <a:ext cx="672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6" name="Freeform 50"/>
            <p:cNvSpPr>
              <a:spLocks/>
            </p:cNvSpPr>
            <p:nvPr/>
          </p:nvSpPr>
          <p:spPr bwMode="auto">
            <a:xfrm>
              <a:off x="1607" y="139"/>
              <a:ext cx="672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7" name="Freeform 51"/>
            <p:cNvSpPr>
              <a:spLocks/>
            </p:cNvSpPr>
            <p:nvPr/>
          </p:nvSpPr>
          <p:spPr bwMode="auto">
            <a:xfrm>
              <a:off x="1607" y="139"/>
              <a:ext cx="672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8" name="Rectangle 52"/>
            <p:cNvSpPr>
              <a:spLocks noChangeArrowheads="1"/>
            </p:cNvSpPr>
            <p:nvPr/>
          </p:nvSpPr>
          <p:spPr bwMode="auto">
            <a:xfrm>
              <a:off x="1728" y="239"/>
              <a:ext cx="338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64000"/>
                </a:lnSpc>
              </a:pPr>
              <a:r>
                <a:rPr sz="1200" noProof="1">
                  <a:solidFill>
                    <a:srgbClr val="000000"/>
                  </a:solidFill>
                  <a:latin typeface="Arial" charset="0"/>
                </a:rPr>
                <a:t>Editor</a:t>
              </a:r>
            </a:p>
          </p:txBody>
        </p:sp>
        <p:sp>
          <p:nvSpPr>
            <p:cNvPr id="31779" name="Freeform 53"/>
            <p:cNvSpPr>
              <a:spLocks/>
            </p:cNvSpPr>
            <p:nvPr/>
          </p:nvSpPr>
          <p:spPr bwMode="auto">
            <a:xfrm>
              <a:off x="1607" y="500"/>
              <a:ext cx="672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0" name="Rectangle 54"/>
            <p:cNvSpPr>
              <a:spLocks noChangeArrowheads="1"/>
            </p:cNvSpPr>
            <p:nvPr/>
          </p:nvSpPr>
          <p:spPr bwMode="auto">
            <a:xfrm>
              <a:off x="1680" y="601"/>
              <a:ext cx="57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64000"/>
                </a:lnSpc>
              </a:pPr>
              <a:r>
                <a:rPr sz="1200" noProof="1">
                  <a:solidFill>
                    <a:srgbClr val="000000"/>
                  </a:solidFill>
                  <a:latin typeface="Arial" charset="0"/>
                </a:rPr>
                <a:t>Compiler</a:t>
              </a:r>
            </a:p>
          </p:txBody>
        </p:sp>
        <p:sp>
          <p:nvSpPr>
            <p:cNvPr id="31781" name="Freeform 55"/>
            <p:cNvSpPr>
              <a:spLocks/>
            </p:cNvSpPr>
            <p:nvPr/>
          </p:nvSpPr>
          <p:spPr bwMode="auto">
            <a:xfrm>
              <a:off x="1607" y="921"/>
              <a:ext cx="672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2" name="Rectangle 56"/>
            <p:cNvSpPr>
              <a:spLocks noChangeArrowheads="1"/>
            </p:cNvSpPr>
            <p:nvPr/>
          </p:nvSpPr>
          <p:spPr bwMode="auto">
            <a:xfrm>
              <a:off x="1632" y="1022"/>
              <a:ext cx="624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64000"/>
                </a:lnSpc>
              </a:pPr>
              <a:r>
                <a:rPr sz="1200" noProof="1">
                  <a:solidFill>
                    <a:srgbClr val="000000"/>
                  </a:solidFill>
                  <a:latin typeface="Arial" charset="0"/>
                </a:rPr>
                <a:t>Class Loader</a:t>
              </a:r>
            </a:p>
          </p:txBody>
        </p:sp>
        <p:sp>
          <p:nvSpPr>
            <p:cNvPr id="31783" name="Freeform 57"/>
            <p:cNvSpPr>
              <a:spLocks/>
            </p:cNvSpPr>
            <p:nvPr/>
          </p:nvSpPr>
          <p:spPr bwMode="auto">
            <a:xfrm>
              <a:off x="2282" y="283"/>
              <a:ext cx="288" cy="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4" name="Freeform 58"/>
            <p:cNvSpPr>
              <a:spLocks/>
            </p:cNvSpPr>
            <p:nvPr/>
          </p:nvSpPr>
          <p:spPr bwMode="auto">
            <a:xfrm>
              <a:off x="2282" y="644"/>
              <a:ext cx="288" cy="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5" name="Freeform 59"/>
            <p:cNvSpPr>
              <a:spLocks/>
            </p:cNvSpPr>
            <p:nvPr/>
          </p:nvSpPr>
          <p:spPr bwMode="auto">
            <a:xfrm>
              <a:off x="1945" y="1209"/>
              <a:ext cx="1" cy="19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58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6" name="Freeform 60"/>
            <p:cNvSpPr>
              <a:spLocks/>
            </p:cNvSpPr>
            <p:nvPr/>
          </p:nvSpPr>
          <p:spPr bwMode="auto">
            <a:xfrm>
              <a:off x="2282" y="1065"/>
              <a:ext cx="288" cy="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" name="Group 61"/>
            <p:cNvGrpSpPr>
              <a:grpSpLocks/>
            </p:cNvGrpSpPr>
            <p:nvPr/>
          </p:nvGrpSpPr>
          <p:grpSpPr bwMode="auto">
            <a:xfrm>
              <a:off x="3049" y="844"/>
              <a:ext cx="97" cy="960"/>
              <a:chOff x="0" y="0"/>
              <a:chExt cx="20000" cy="20000"/>
            </a:xfrm>
          </p:grpSpPr>
          <p:sp>
            <p:nvSpPr>
              <p:cNvPr id="31854" name="Arc 62"/>
              <p:cNvSpPr>
                <a:spLocks/>
              </p:cNvSpPr>
              <p:nvPr/>
            </p:nvSpPr>
            <p:spPr bwMode="auto">
              <a:xfrm>
                <a:off x="0" y="0"/>
                <a:ext cx="10045" cy="5005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5" name="Arc 63"/>
              <p:cNvSpPr>
                <a:spLocks/>
              </p:cNvSpPr>
              <p:nvPr/>
            </p:nvSpPr>
            <p:spPr bwMode="auto">
              <a:xfrm flipV="1">
                <a:off x="0" y="14995"/>
                <a:ext cx="10045" cy="5005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6" name="Arc 64"/>
              <p:cNvSpPr>
                <a:spLocks/>
              </p:cNvSpPr>
              <p:nvPr/>
            </p:nvSpPr>
            <p:spPr bwMode="auto">
              <a:xfrm flipH="1">
                <a:off x="9955" y="9994"/>
                <a:ext cx="10045" cy="5009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7" name="Arc 65"/>
              <p:cNvSpPr>
                <a:spLocks/>
              </p:cNvSpPr>
              <p:nvPr/>
            </p:nvSpPr>
            <p:spPr bwMode="auto">
              <a:xfrm flipH="1" flipV="1">
                <a:off x="9955" y="4997"/>
                <a:ext cx="10045" cy="5009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66"/>
            <p:cNvGrpSpPr>
              <a:grpSpLocks/>
            </p:cNvGrpSpPr>
            <p:nvPr/>
          </p:nvGrpSpPr>
          <p:grpSpPr bwMode="auto">
            <a:xfrm>
              <a:off x="3049" y="139"/>
              <a:ext cx="97" cy="288"/>
              <a:chOff x="0" y="0"/>
              <a:chExt cx="20000" cy="19998"/>
            </a:xfrm>
          </p:grpSpPr>
          <p:sp>
            <p:nvSpPr>
              <p:cNvPr id="31850" name="Arc 67"/>
              <p:cNvSpPr>
                <a:spLocks/>
              </p:cNvSpPr>
              <p:nvPr/>
            </p:nvSpPr>
            <p:spPr bwMode="auto">
              <a:xfrm>
                <a:off x="0" y="0"/>
                <a:ext cx="10045" cy="5029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5 h 21600"/>
                  <a:gd name="T4" fmla="*/ 0 w 21600"/>
                  <a:gd name="T5" fmla="*/ 1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1" name="Arc 68"/>
              <p:cNvSpPr>
                <a:spLocks/>
              </p:cNvSpPr>
              <p:nvPr/>
            </p:nvSpPr>
            <p:spPr bwMode="auto">
              <a:xfrm flipV="1">
                <a:off x="0" y="14983"/>
                <a:ext cx="10045" cy="5015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5 h 21600"/>
                  <a:gd name="T4" fmla="*/ 0 w 21600"/>
                  <a:gd name="T5" fmla="*/ 1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2" name="Arc 69"/>
              <p:cNvSpPr>
                <a:spLocks/>
              </p:cNvSpPr>
              <p:nvPr/>
            </p:nvSpPr>
            <p:spPr bwMode="auto">
              <a:xfrm flipH="1">
                <a:off x="9955" y="9992"/>
                <a:ext cx="10045" cy="5016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5 h 21600"/>
                  <a:gd name="T4" fmla="*/ 0 w 21600"/>
                  <a:gd name="T5" fmla="*/ 1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3" name="Arc 70"/>
              <p:cNvSpPr>
                <a:spLocks/>
              </p:cNvSpPr>
              <p:nvPr/>
            </p:nvSpPr>
            <p:spPr bwMode="auto">
              <a:xfrm flipH="1" flipV="1">
                <a:off x="9955" y="4990"/>
                <a:ext cx="10045" cy="5029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5 h 21600"/>
                  <a:gd name="T4" fmla="*/ 0 w 21600"/>
                  <a:gd name="T5" fmla="*/ 1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71"/>
            <p:cNvGrpSpPr>
              <a:grpSpLocks/>
            </p:cNvGrpSpPr>
            <p:nvPr/>
          </p:nvGrpSpPr>
          <p:grpSpPr bwMode="auto">
            <a:xfrm>
              <a:off x="3049" y="493"/>
              <a:ext cx="97" cy="288"/>
              <a:chOff x="0" y="0"/>
              <a:chExt cx="20000" cy="19999"/>
            </a:xfrm>
          </p:grpSpPr>
          <p:sp>
            <p:nvSpPr>
              <p:cNvPr id="31846" name="Arc 72"/>
              <p:cNvSpPr>
                <a:spLocks/>
              </p:cNvSpPr>
              <p:nvPr/>
            </p:nvSpPr>
            <p:spPr bwMode="auto">
              <a:xfrm>
                <a:off x="0" y="0"/>
                <a:ext cx="10045" cy="5016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5 h 21600"/>
                  <a:gd name="T4" fmla="*/ 0 w 21600"/>
                  <a:gd name="T5" fmla="*/ 1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7" name="Arc 73"/>
              <p:cNvSpPr>
                <a:spLocks/>
              </p:cNvSpPr>
              <p:nvPr/>
            </p:nvSpPr>
            <p:spPr bwMode="auto">
              <a:xfrm flipV="1">
                <a:off x="0" y="14970"/>
                <a:ext cx="10045" cy="5029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5 h 21600"/>
                  <a:gd name="T4" fmla="*/ 0 w 21600"/>
                  <a:gd name="T5" fmla="*/ 1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8" name="Arc 74"/>
              <p:cNvSpPr>
                <a:spLocks/>
              </p:cNvSpPr>
              <p:nvPr/>
            </p:nvSpPr>
            <p:spPr bwMode="auto">
              <a:xfrm flipH="1">
                <a:off x="9955" y="9980"/>
                <a:ext cx="10045" cy="5016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5 h 21600"/>
                  <a:gd name="T4" fmla="*/ 0 w 21600"/>
                  <a:gd name="T5" fmla="*/ 1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9" name="Arc 75"/>
              <p:cNvSpPr>
                <a:spLocks/>
              </p:cNvSpPr>
              <p:nvPr/>
            </p:nvSpPr>
            <p:spPr bwMode="auto">
              <a:xfrm flipH="1" flipV="1">
                <a:off x="9955" y="4990"/>
                <a:ext cx="10045" cy="5016"/>
              </a:xfrm>
              <a:custGeom>
                <a:avLst/>
                <a:gdLst>
                  <a:gd name="T0" fmla="*/ 0 w 21600"/>
                  <a:gd name="T1" fmla="*/ 0 h 21600"/>
                  <a:gd name="T2" fmla="*/ 470 w 21600"/>
                  <a:gd name="T3" fmla="*/ 15 h 21600"/>
                  <a:gd name="T4" fmla="*/ 0 w 21600"/>
                  <a:gd name="T5" fmla="*/ 1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90" name="Rectangle 76"/>
            <p:cNvSpPr>
              <a:spLocks noChangeArrowheads="1"/>
            </p:cNvSpPr>
            <p:nvPr/>
          </p:nvSpPr>
          <p:spPr bwMode="auto">
            <a:xfrm>
              <a:off x="3193" y="157"/>
              <a:ext cx="64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80000"/>
                </a:lnSpc>
              </a:pPr>
              <a:r>
                <a:rPr sz="800" noProof="1">
                  <a:solidFill>
                    <a:srgbClr val="000000"/>
                  </a:solidFill>
                  <a:latin typeface="Arial" charset="0"/>
                </a:rPr>
                <a:t>Program is created in an editor and stored on disk in a file ending with </a:t>
              </a:r>
              <a:r>
                <a:rPr sz="800" noProof="1">
                  <a:solidFill>
                    <a:srgbClr val="000000"/>
                  </a:solidFill>
                  <a:latin typeface="Lucida Console" charset="0"/>
                </a:rPr>
                <a:t>.java</a:t>
              </a:r>
              <a:r>
                <a:rPr sz="800" noProof="1">
                  <a:solidFill>
                    <a:srgbClr val="000000"/>
                  </a:solidFill>
                  <a:latin typeface="Arial" charset="0"/>
                </a:rPr>
                <a:t>.</a:t>
              </a:r>
            </a:p>
          </p:txBody>
        </p:sp>
        <p:sp>
          <p:nvSpPr>
            <p:cNvPr id="31791" name="Rectangle 77"/>
            <p:cNvSpPr>
              <a:spLocks noChangeArrowheads="1"/>
            </p:cNvSpPr>
            <p:nvPr/>
          </p:nvSpPr>
          <p:spPr bwMode="auto">
            <a:xfrm>
              <a:off x="3193" y="543"/>
              <a:ext cx="66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80000"/>
                </a:lnSpc>
              </a:pPr>
              <a:r>
                <a:rPr sz="800" noProof="1">
                  <a:solidFill>
                    <a:srgbClr val="000000"/>
                  </a:solidFill>
                  <a:latin typeface="Arial" charset="0"/>
                </a:rPr>
                <a:t>Compiler creates bytecodes and stores them on disk in a file ending with </a:t>
              </a:r>
              <a:r>
                <a:rPr sz="800" noProof="1">
                  <a:solidFill>
                    <a:srgbClr val="000000"/>
                  </a:solidFill>
                  <a:latin typeface="Lucida Console" charset="0"/>
                </a:rPr>
                <a:t>.class</a:t>
              </a:r>
              <a:r>
                <a:rPr sz="800" noProof="1">
                  <a:solidFill>
                    <a:srgbClr val="000000"/>
                  </a:solidFill>
                  <a:latin typeface="Arial" charset="0"/>
                </a:rPr>
                <a:t>.</a:t>
              </a:r>
            </a:p>
          </p:txBody>
        </p:sp>
        <p:sp>
          <p:nvSpPr>
            <p:cNvPr id="31792" name="Rectangle 78"/>
            <p:cNvSpPr>
              <a:spLocks noChangeArrowheads="1"/>
            </p:cNvSpPr>
            <p:nvPr/>
          </p:nvSpPr>
          <p:spPr bwMode="auto">
            <a:xfrm>
              <a:off x="3192" y="1060"/>
              <a:ext cx="537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80000"/>
                </a:lnSpc>
              </a:pPr>
              <a:r>
                <a:rPr sz="800" noProof="1">
                  <a:solidFill>
                    <a:srgbClr val="000000"/>
                  </a:solidFill>
                  <a:latin typeface="Arial" charset="0"/>
                </a:rPr>
                <a:t>Class loader reads </a:t>
              </a:r>
              <a:r>
                <a:rPr sz="800" noProof="1">
                  <a:solidFill>
                    <a:srgbClr val="000000"/>
                  </a:solidFill>
                  <a:latin typeface="Lucida Console" charset="0"/>
                </a:rPr>
                <a:t>.class</a:t>
              </a:r>
              <a:r>
                <a:rPr sz="800" noProof="1">
                  <a:solidFill>
                    <a:srgbClr val="000000"/>
                  </a:solidFill>
                  <a:latin typeface="Arial" charset="0"/>
                </a:rPr>
                <a:t> files containing bytecodes from disk and puts those bytecodes in memory.</a:t>
              </a:r>
            </a:p>
          </p:txBody>
        </p:sp>
        <p:sp>
          <p:nvSpPr>
            <p:cNvPr id="31793" name="Rectangle 79"/>
            <p:cNvSpPr>
              <a:spLocks noChangeArrowheads="1"/>
            </p:cNvSpPr>
            <p:nvPr/>
          </p:nvSpPr>
          <p:spPr bwMode="auto">
            <a:xfrm>
              <a:off x="1082" y="252"/>
              <a:ext cx="504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80000"/>
                </a:lnSpc>
              </a:pPr>
              <a:r>
                <a:rPr sz="1200" noProof="1">
                  <a:solidFill>
                    <a:srgbClr val="000000"/>
                  </a:solidFill>
                  <a:latin typeface="Arial" charset="0"/>
                </a:rPr>
                <a:t>Phase 1</a:t>
              </a:r>
            </a:p>
          </p:txBody>
        </p:sp>
        <p:sp>
          <p:nvSpPr>
            <p:cNvPr id="31794" name="Rectangle 80"/>
            <p:cNvSpPr>
              <a:spLocks noChangeArrowheads="1"/>
            </p:cNvSpPr>
            <p:nvPr/>
          </p:nvSpPr>
          <p:spPr bwMode="auto">
            <a:xfrm>
              <a:off x="1082" y="616"/>
              <a:ext cx="504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80000"/>
                </a:lnSpc>
              </a:pPr>
              <a:r>
                <a:rPr sz="1200" noProof="1">
                  <a:solidFill>
                    <a:srgbClr val="000000"/>
                  </a:solidFill>
                  <a:latin typeface="Arial" charset="0"/>
                </a:rPr>
                <a:t>Phase 2</a:t>
              </a:r>
            </a:p>
          </p:txBody>
        </p:sp>
        <p:sp>
          <p:nvSpPr>
            <p:cNvPr id="31795" name="Rectangle 81"/>
            <p:cNvSpPr>
              <a:spLocks noChangeArrowheads="1"/>
            </p:cNvSpPr>
            <p:nvPr/>
          </p:nvSpPr>
          <p:spPr bwMode="auto">
            <a:xfrm>
              <a:off x="1082" y="1037"/>
              <a:ext cx="504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80000"/>
                </a:lnSpc>
              </a:pPr>
              <a:r>
                <a:rPr sz="1200" noProof="1">
                  <a:solidFill>
                    <a:srgbClr val="000000"/>
                  </a:solidFill>
                  <a:latin typeface="Arial" charset="0"/>
                </a:rPr>
                <a:t>Phase 3</a:t>
              </a:r>
            </a:p>
          </p:txBody>
        </p:sp>
        <p:grpSp>
          <p:nvGrpSpPr>
            <p:cNvPr id="13" name="Group 82"/>
            <p:cNvGrpSpPr>
              <a:grpSpLocks/>
            </p:cNvGrpSpPr>
            <p:nvPr/>
          </p:nvGrpSpPr>
          <p:grpSpPr bwMode="auto">
            <a:xfrm>
              <a:off x="2569" y="1857"/>
              <a:ext cx="433" cy="931"/>
              <a:chOff x="0" y="0"/>
              <a:chExt cx="20000" cy="20002"/>
            </a:xfrm>
          </p:grpSpPr>
          <p:sp>
            <p:nvSpPr>
              <p:cNvPr id="31833" name="Rectangle 8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981" cy="3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80000"/>
                  </a:lnSpc>
                </a:pPr>
                <a:r>
                  <a:rPr sz="1000" noProof="1">
                    <a:solidFill>
                      <a:srgbClr val="000000"/>
                    </a:solidFill>
                    <a:latin typeface="Arial" charset="0"/>
                  </a:rPr>
                  <a:t>Primary</a:t>
                </a:r>
              </a:p>
              <a:p>
                <a:pPr algn="ctr" eaLnBrk="0" hangingPunct="0">
                  <a:lnSpc>
                    <a:spcPct val="80000"/>
                  </a:lnSpc>
                </a:pPr>
                <a:r>
                  <a:rPr sz="1000" noProof="1">
                    <a:solidFill>
                      <a:srgbClr val="000000"/>
                    </a:solidFill>
                    <a:latin typeface="Arial" charset="0"/>
                  </a:rPr>
                  <a:t>Memory</a:t>
                </a:r>
              </a:p>
            </p:txBody>
          </p:sp>
          <p:grpSp>
            <p:nvGrpSpPr>
              <p:cNvPr id="14" name="Group 84"/>
              <p:cNvGrpSpPr>
                <a:grpSpLocks/>
              </p:cNvGrpSpPr>
              <p:nvPr/>
            </p:nvGrpSpPr>
            <p:grpSpPr bwMode="auto">
              <a:xfrm>
                <a:off x="0" y="3584"/>
                <a:ext cx="20000" cy="16418"/>
                <a:chOff x="0" y="0"/>
                <a:chExt cx="20000" cy="20000"/>
              </a:xfrm>
            </p:grpSpPr>
            <p:sp>
              <p:nvSpPr>
                <p:cNvPr id="31835" name="Freeform 85"/>
                <p:cNvSpPr>
                  <a:spLocks/>
                </p:cNvSpPr>
                <p:nvPr/>
              </p:nvSpPr>
              <p:spPr bwMode="auto">
                <a:xfrm>
                  <a:off x="0" y="0"/>
                  <a:ext cx="19831" cy="19981"/>
                </a:xfrm>
                <a:custGeom>
                  <a:avLst/>
                  <a:gdLst>
                    <a:gd name="T0" fmla="*/ 19314 w 20000"/>
                    <a:gd name="T1" fmla="*/ 0 h 20000"/>
                    <a:gd name="T2" fmla="*/ 19314 w 20000"/>
                    <a:gd name="T3" fmla="*/ 19914 h 20000"/>
                    <a:gd name="T4" fmla="*/ 0 w 20000"/>
                    <a:gd name="T5" fmla="*/ 19914 h 20000"/>
                    <a:gd name="T6" fmla="*/ 0 w 20000"/>
                    <a:gd name="T7" fmla="*/ 0 h 20000"/>
                    <a:gd name="T8" fmla="*/ 19314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90"/>
                      </a:lnTo>
                      <a:lnTo>
                        <a:pt x="0" y="19990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36" name="Freeform 86"/>
                <p:cNvSpPr>
                  <a:spLocks/>
                </p:cNvSpPr>
                <p:nvPr/>
              </p:nvSpPr>
              <p:spPr bwMode="auto">
                <a:xfrm>
                  <a:off x="31" y="10"/>
                  <a:ext cx="19969" cy="2490"/>
                </a:xfrm>
                <a:custGeom>
                  <a:avLst/>
                  <a:gdLst>
                    <a:gd name="T0" fmla="*/ 19857 w 20000"/>
                    <a:gd name="T1" fmla="*/ 0 h 20000"/>
                    <a:gd name="T2" fmla="*/ 19857 w 20000"/>
                    <a:gd name="T3" fmla="*/ 5 h 20000"/>
                    <a:gd name="T4" fmla="*/ 0 w 20000"/>
                    <a:gd name="T5" fmla="*/ 5 h 20000"/>
                    <a:gd name="T6" fmla="*/ 0 w 20000"/>
                    <a:gd name="T7" fmla="*/ 0 h 20000"/>
                    <a:gd name="T8" fmla="*/ 19857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37" name="Freeform 87"/>
                <p:cNvSpPr>
                  <a:spLocks/>
                </p:cNvSpPr>
                <p:nvPr/>
              </p:nvSpPr>
              <p:spPr bwMode="auto">
                <a:xfrm>
                  <a:off x="31" y="2519"/>
                  <a:ext cx="19969" cy="2513"/>
                </a:xfrm>
                <a:custGeom>
                  <a:avLst/>
                  <a:gdLst>
                    <a:gd name="T0" fmla="*/ 19857 w 20000"/>
                    <a:gd name="T1" fmla="*/ 0 h 20000"/>
                    <a:gd name="T2" fmla="*/ 19857 w 20000"/>
                    <a:gd name="T3" fmla="*/ 5 h 20000"/>
                    <a:gd name="T4" fmla="*/ 0 w 20000"/>
                    <a:gd name="T5" fmla="*/ 5 h 20000"/>
                    <a:gd name="T6" fmla="*/ 0 w 20000"/>
                    <a:gd name="T7" fmla="*/ 0 h 20000"/>
                    <a:gd name="T8" fmla="*/ 19857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7"/>
                      </a:lnTo>
                      <a:lnTo>
                        <a:pt x="0" y="19917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" name="Group 88"/>
                <p:cNvGrpSpPr>
                  <a:grpSpLocks/>
                </p:cNvGrpSpPr>
                <p:nvPr/>
              </p:nvGrpSpPr>
              <p:grpSpPr bwMode="auto">
                <a:xfrm>
                  <a:off x="31" y="5032"/>
                  <a:ext cx="19969" cy="14968"/>
                  <a:chOff x="2" y="2"/>
                  <a:chExt cx="19996" cy="19997"/>
                </a:xfrm>
              </p:grpSpPr>
              <p:sp>
                <p:nvSpPr>
                  <p:cNvPr id="31839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8318" y="10110"/>
                    <a:ext cx="2242" cy="7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pPr algn="just" eaLnBrk="0" hangingPunct="0">
                      <a:lnSpc>
                        <a:spcPct val="88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just" eaLnBrk="0" hangingPunct="0">
                      <a:lnSpc>
                        <a:spcPct val="88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just" eaLnBrk="0" hangingPunct="0">
                      <a:lnSpc>
                        <a:spcPct val="88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</p:txBody>
              </p:sp>
              <p:sp>
                <p:nvSpPr>
                  <p:cNvPr id="31840" name="Freeform 90"/>
                  <p:cNvSpPr>
                    <a:spLocks/>
                  </p:cNvSpPr>
                  <p:nvPr/>
                </p:nvSpPr>
                <p:spPr bwMode="auto">
                  <a:xfrm>
                    <a:off x="2" y="2"/>
                    <a:ext cx="19996" cy="3325"/>
                  </a:xfrm>
                  <a:custGeom>
                    <a:avLst/>
                    <a:gdLst>
                      <a:gd name="T0" fmla="*/ 19965 w 20000"/>
                      <a:gd name="T1" fmla="*/ 0 h 20000"/>
                      <a:gd name="T2" fmla="*/ 19965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65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41" name="Freeform 91"/>
                  <p:cNvSpPr>
                    <a:spLocks/>
                  </p:cNvSpPr>
                  <p:nvPr/>
                </p:nvSpPr>
                <p:spPr bwMode="auto">
                  <a:xfrm>
                    <a:off x="2" y="3327"/>
                    <a:ext cx="19996" cy="3332"/>
                  </a:xfrm>
                  <a:custGeom>
                    <a:avLst/>
                    <a:gdLst>
                      <a:gd name="T0" fmla="*/ 19965 w 20000"/>
                      <a:gd name="T1" fmla="*/ 0 h 20000"/>
                      <a:gd name="T2" fmla="*/ 19965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65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42" name="Freeform 92"/>
                  <p:cNvSpPr>
                    <a:spLocks/>
                  </p:cNvSpPr>
                  <p:nvPr/>
                </p:nvSpPr>
                <p:spPr bwMode="auto">
                  <a:xfrm>
                    <a:off x="2" y="6673"/>
                    <a:ext cx="19996" cy="3326"/>
                  </a:xfrm>
                  <a:custGeom>
                    <a:avLst/>
                    <a:gdLst>
                      <a:gd name="T0" fmla="*/ 19965 w 20000"/>
                      <a:gd name="T1" fmla="*/ 0 h 20000"/>
                      <a:gd name="T2" fmla="*/ 19965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65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43" name="Freeform 93"/>
                  <p:cNvSpPr>
                    <a:spLocks/>
                  </p:cNvSpPr>
                  <p:nvPr/>
                </p:nvSpPr>
                <p:spPr bwMode="auto">
                  <a:xfrm>
                    <a:off x="2" y="9999"/>
                    <a:ext cx="19996" cy="6670"/>
                  </a:xfrm>
                  <a:custGeom>
                    <a:avLst/>
                    <a:gdLst>
                      <a:gd name="T0" fmla="*/ 19965 w 20000"/>
                      <a:gd name="T1" fmla="*/ 0 h 20000"/>
                      <a:gd name="T2" fmla="*/ 19965 w 20000"/>
                      <a:gd name="T3" fmla="*/ 247 h 20000"/>
                      <a:gd name="T4" fmla="*/ 0 w 20000"/>
                      <a:gd name="T5" fmla="*/ 247 h 20000"/>
                      <a:gd name="T6" fmla="*/ 0 w 20000"/>
                      <a:gd name="T7" fmla="*/ 0 h 20000"/>
                      <a:gd name="T8" fmla="*/ 19965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58"/>
                        </a:lnTo>
                        <a:lnTo>
                          <a:pt x="0" y="19958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44" name="Freeform 94"/>
                  <p:cNvSpPr>
                    <a:spLocks/>
                  </p:cNvSpPr>
                  <p:nvPr/>
                </p:nvSpPr>
                <p:spPr bwMode="auto">
                  <a:xfrm>
                    <a:off x="2" y="16669"/>
                    <a:ext cx="19996" cy="3330"/>
                  </a:xfrm>
                  <a:custGeom>
                    <a:avLst/>
                    <a:gdLst>
                      <a:gd name="T0" fmla="*/ 19965 w 20000"/>
                      <a:gd name="T1" fmla="*/ 0 h 20000"/>
                      <a:gd name="T2" fmla="*/ 19965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65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45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8876" y="9998"/>
                    <a:ext cx="2236" cy="724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pPr algn="ctr" eaLnBrk="0" hangingPunct="0">
                      <a:lnSpc>
                        <a:spcPct val="64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ctr" eaLnBrk="0" hangingPunct="0">
                      <a:lnSpc>
                        <a:spcPct val="64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ctr" eaLnBrk="0" hangingPunct="0">
                      <a:lnSpc>
                        <a:spcPct val="64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</p:txBody>
              </p:sp>
            </p:grpSp>
          </p:grpSp>
        </p:grpSp>
        <p:sp>
          <p:nvSpPr>
            <p:cNvPr id="31797" name="Freeform 96"/>
            <p:cNvSpPr>
              <a:spLocks/>
            </p:cNvSpPr>
            <p:nvPr/>
          </p:nvSpPr>
          <p:spPr bwMode="auto">
            <a:xfrm>
              <a:off x="1607" y="1926"/>
              <a:ext cx="672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98" name="Freeform 97"/>
            <p:cNvSpPr>
              <a:spLocks/>
            </p:cNvSpPr>
            <p:nvPr/>
          </p:nvSpPr>
          <p:spPr bwMode="auto">
            <a:xfrm>
              <a:off x="1607" y="1926"/>
              <a:ext cx="672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9" name="Rectangle 98"/>
            <p:cNvSpPr>
              <a:spLocks noChangeArrowheads="1"/>
            </p:cNvSpPr>
            <p:nvPr/>
          </p:nvSpPr>
          <p:spPr bwMode="auto">
            <a:xfrm>
              <a:off x="1680" y="2016"/>
              <a:ext cx="66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64000"/>
                </a:lnSpc>
              </a:pPr>
              <a:r>
                <a:rPr sz="1200" noProof="1">
                  <a:solidFill>
                    <a:srgbClr val="000000"/>
                  </a:solidFill>
                  <a:latin typeface="Arial" charset="0"/>
                </a:rPr>
                <a:t>Bytecode Verifier</a:t>
              </a:r>
            </a:p>
          </p:txBody>
        </p:sp>
        <p:sp>
          <p:nvSpPr>
            <p:cNvPr id="31800" name="Freeform 99"/>
            <p:cNvSpPr>
              <a:spLocks/>
            </p:cNvSpPr>
            <p:nvPr/>
          </p:nvSpPr>
          <p:spPr bwMode="auto">
            <a:xfrm>
              <a:off x="2282" y="2068"/>
              <a:ext cx="288" cy="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" name="Group 100"/>
            <p:cNvGrpSpPr>
              <a:grpSpLocks/>
            </p:cNvGrpSpPr>
            <p:nvPr/>
          </p:nvGrpSpPr>
          <p:grpSpPr bwMode="auto">
            <a:xfrm>
              <a:off x="3049" y="1852"/>
              <a:ext cx="96" cy="960"/>
              <a:chOff x="0" y="0"/>
              <a:chExt cx="20000" cy="19999"/>
            </a:xfrm>
          </p:grpSpPr>
          <p:sp>
            <p:nvSpPr>
              <p:cNvPr id="31829" name="Arc 101"/>
              <p:cNvSpPr>
                <a:spLocks/>
              </p:cNvSpPr>
              <p:nvPr/>
            </p:nvSpPr>
            <p:spPr bwMode="auto">
              <a:xfrm>
                <a:off x="0" y="0"/>
                <a:ext cx="10056" cy="5006"/>
              </a:xfrm>
              <a:custGeom>
                <a:avLst/>
                <a:gdLst>
                  <a:gd name="T0" fmla="*/ 0 w 21600"/>
                  <a:gd name="T1" fmla="*/ 0 h 21600"/>
                  <a:gd name="T2" fmla="*/ 473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0" name="Arc 102"/>
              <p:cNvSpPr>
                <a:spLocks/>
              </p:cNvSpPr>
              <p:nvPr/>
            </p:nvSpPr>
            <p:spPr bwMode="auto">
              <a:xfrm flipV="1">
                <a:off x="0" y="14993"/>
                <a:ext cx="10056" cy="5006"/>
              </a:xfrm>
              <a:custGeom>
                <a:avLst/>
                <a:gdLst>
                  <a:gd name="T0" fmla="*/ 0 w 21600"/>
                  <a:gd name="T1" fmla="*/ 0 h 21600"/>
                  <a:gd name="T2" fmla="*/ 473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1" name="Arc 103"/>
              <p:cNvSpPr>
                <a:spLocks/>
              </p:cNvSpPr>
              <p:nvPr/>
            </p:nvSpPr>
            <p:spPr bwMode="auto">
              <a:xfrm flipH="1">
                <a:off x="9972" y="9996"/>
                <a:ext cx="10028" cy="5005"/>
              </a:xfrm>
              <a:custGeom>
                <a:avLst/>
                <a:gdLst>
                  <a:gd name="T0" fmla="*/ 0 w 21600"/>
                  <a:gd name="T1" fmla="*/ 0 h 21600"/>
                  <a:gd name="T2" fmla="*/ 466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2" name="Arc 104"/>
              <p:cNvSpPr>
                <a:spLocks/>
              </p:cNvSpPr>
              <p:nvPr/>
            </p:nvSpPr>
            <p:spPr bwMode="auto">
              <a:xfrm flipH="1" flipV="1">
                <a:off x="9944" y="4998"/>
                <a:ext cx="10056" cy="5005"/>
              </a:xfrm>
              <a:custGeom>
                <a:avLst/>
                <a:gdLst>
                  <a:gd name="T0" fmla="*/ 0 w 21600"/>
                  <a:gd name="T1" fmla="*/ 0 h 21600"/>
                  <a:gd name="T2" fmla="*/ 473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02" name="Rectangle 105"/>
            <p:cNvSpPr>
              <a:spLocks noChangeArrowheads="1"/>
            </p:cNvSpPr>
            <p:nvPr/>
          </p:nvSpPr>
          <p:spPr bwMode="auto">
            <a:xfrm>
              <a:off x="3193" y="2051"/>
              <a:ext cx="595" cy="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80000"/>
                </a:lnSpc>
              </a:pPr>
              <a:r>
                <a:rPr sz="800" noProof="1">
                  <a:solidFill>
                    <a:srgbClr val="000000"/>
                  </a:solidFill>
                  <a:latin typeface="Arial" charset="0"/>
                </a:rPr>
                <a:t>Bytecode verifier confirms that all bytecodes are valid and do not violate Java’s security restrictions.</a:t>
              </a:r>
            </a:p>
          </p:txBody>
        </p:sp>
        <p:sp>
          <p:nvSpPr>
            <p:cNvPr id="31803" name="Rectangle 106"/>
            <p:cNvSpPr>
              <a:spLocks noChangeArrowheads="1"/>
            </p:cNvSpPr>
            <p:nvPr/>
          </p:nvSpPr>
          <p:spPr bwMode="auto">
            <a:xfrm>
              <a:off x="1082" y="2042"/>
              <a:ext cx="504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80000"/>
                </a:lnSpc>
              </a:pPr>
              <a:r>
                <a:rPr sz="1200" noProof="1">
                  <a:solidFill>
                    <a:srgbClr val="000000"/>
                  </a:solidFill>
                  <a:latin typeface="Arial" charset="0"/>
                </a:rPr>
                <a:t>Phase 4</a:t>
              </a:r>
            </a:p>
          </p:txBody>
        </p:sp>
        <p:grpSp>
          <p:nvGrpSpPr>
            <p:cNvPr id="17" name="Group 107"/>
            <p:cNvGrpSpPr>
              <a:grpSpLocks/>
            </p:cNvGrpSpPr>
            <p:nvPr/>
          </p:nvGrpSpPr>
          <p:grpSpPr bwMode="auto">
            <a:xfrm>
              <a:off x="2570" y="2868"/>
              <a:ext cx="432" cy="930"/>
              <a:chOff x="0" y="0"/>
              <a:chExt cx="20000" cy="20002"/>
            </a:xfrm>
          </p:grpSpPr>
          <p:sp>
            <p:nvSpPr>
              <p:cNvPr id="31816" name="Rectangle 10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981" cy="34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80000"/>
                  </a:lnSpc>
                </a:pPr>
                <a:r>
                  <a:rPr sz="1000" noProof="1">
                    <a:solidFill>
                      <a:srgbClr val="000000"/>
                    </a:solidFill>
                    <a:latin typeface="Arial" charset="0"/>
                  </a:rPr>
                  <a:t>Primary</a:t>
                </a:r>
              </a:p>
              <a:p>
                <a:pPr algn="ctr" eaLnBrk="0" hangingPunct="0">
                  <a:lnSpc>
                    <a:spcPct val="80000"/>
                  </a:lnSpc>
                </a:pPr>
                <a:r>
                  <a:rPr sz="1000" noProof="1">
                    <a:solidFill>
                      <a:srgbClr val="000000"/>
                    </a:solidFill>
                    <a:latin typeface="Arial" charset="0"/>
                  </a:rPr>
                  <a:t>Memory</a:t>
                </a:r>
              </a:p>
            </p:txBody>
          </p:sp>
          <p:grpSp>
            <p:nvGrpSpPr>
              <p:cNvPr id="18" name="Group 109"/>
              <p:cNvGrpSpPr>
                <a:grpSpLocks/>
              </p:cNvGrpSpPr>
              <p:nvPr/>
            </p:nvGrpSpPr>
            <p:grpSpPr bwMode="auto">
              <a:xfrm>
                <a:off x="0" y="3575"/>
                <a:ext cx="20000" cy="16427"/>
                <a:chOff x="0" y="0"/>
                <a:chExt cx="20000" cy="20000"/>
              </a:xfrm>
            </p:grpSpPr>
            <p:sp>
              <p:nvSpPr>
                <p:cNvPr id="31818" name="Freeform 110"/>
                <p:cNvSpPr>
                  <a:spLocks/>
                </p:cNvSpPr>
                <p:nvPr/>
              </p:nvSpPr>
              <p:spPr bwMode="auto">
                <a:xfrm>
                  <a:off x="0" y="0"/>
                  <a:ext cx="19832" cy="19979"/>
                </a:xfrm>
                <a:custGeom>
                  <a:avLst/>
                  <a:gdLst>
                    <a:gd name="T0" fmla="*/ 19318 w 20000"/>
                    <a:gd name="T1" fmla="*/ 0 h 20000"/>
                    <a:gd name="T2" fmla="*/ 19318 w 20000"/>
                    <a:gd name="T3" fmla="*/ 19906 h 20000"/>
                    <a:gd name="T4" fmla="*/ 0 w 20000"/>
                    <a:gd name="T5" fmla="*/ 19906 h 20000"/>
                    <a:gd name="T6" fmla="*/ 0 w 20000"/>
                    <a:gd name="T7" fmla="*/ 0 h 20000"/>
                    <a:gd name="T8" fmla="*/ 19318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90"/>
                      </a:lnTo>
                      <a:lnTo>
                        <a:pt x="0" y="19990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19" name="Freeform 111"/>
                <p:cNvSpPr>
                  <a:spLocks/>
                </p:cNvSpPr>
                <p:nvPr/>
              </p:nvSpPr>
              <p:spPr bwMode="auto">
                <a:xfrm>
                  <a:off x="31" y="9"/>
                  <a:ext cx="19969" cy="2489"/>
                </a:xfrm>
                <a:custGeom>
                  <a:avLst/>
                  <a:gdLst>
                    <a:gd name="T0" fmla="*/ 19857 w 20000"/>
                    <a:gd name="T1" fmla="*/ 0 h 20000"/>
                    <a:gd name="T2" fmla="*/ 19857 w 20000"/>
                    <a:gd name="T3" fmla="*/ 5 h 20000"/>
                    <a:gd name="T4" fmla="*/ 0 w 20000"/>
                    <a:gd name="T5" fmla="*/ 5 h 20000"/>
                    <a:gd name="T6" fmla="*/ 0 w 20000"/>
                    <a:gd name="T7" fmla="*/ 0 h 20000"/>
                    <a:gd name="T8" fmla="*/ 19857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20" name="Freeform 112"/>
                <p:cNvSpPr>
                  <a:spLocks/>
                </p:cNvSpPr>
                <p:nvPr/>
              </p:nvSpPr>
              <p:spPr bwMode="auto">
                <a:xfrm>
                  <a:off x="31" y="2523"/>
                  <a:ext cx="19969" cy="2508"/>
                </a:xfrm>
                <a:custGeom>
                  <a:avLst/>
                  <a:gdLst>
                    <a:gd name="T0" fmla="*/ 19857 w 20000"/>
                    <a:gd name="T1" fmla="*/ 0 h 20000"/>
                    <a:gd name="T2" fmla="*/ 19857 w 20000"/>
                    <a:gd name="T3" fmla="*/ 5 h 20000"/>
                    <a:gd name="T4" fmla="*/ 0 w 20000"/>
                    <a:gd name="T5" fmla="*/ 5 h 20000"/>
                    <a:gd name="T6" fmla="*/ 0 w 20000"/>
                    <a:gd name="T7" fmla="*/ 0 h 20000"/>
                    <a:gd name="T8" fmla="*/ 19857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1" y="0"/>
                      </a:moveTo>
                      <a:lnTo>
                        <a:pt x="19981" y="19917"/>
                      </a:lnTo>
                      <a:lnTo>
                        <a:pt x="0" y="19917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9" name="Group 113"/>
                <p:cNvGrpSpPr>
                  <a:grpSpLocks/>
                </p:cNvGrpSpPr>
                <p:nvPr/>
              </p:nvGrpSpPr>
              <p:grpSpPr bwMode="auto">
                <a:xfrm>
                  <a:off x="31" y="5031"/>
                  <a:ext cx="19969" cy="14969"/>
                  <a:chOff x="2" y="-1"/>
                  <a:chExt cx="19996" cy="20002"/>
                </a:xfrm>
              </p:grpSpPr>
              <p:sp>
                <p:nvSpPr>
                  <p:cNvPr id="31822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8321" y="10114"/>
                    <a:ext cx="2241" cy="728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pPr algn="just" eaLnBrk="0" hangingPunct="0">
                      <a:lnSpc>
                        <a:spcPct val="88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just" eaLnBrk="0" hangingPunct="0">
                      <a:lnSpc>
                        <a:spcPct val="88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just" eaLnBrk="0" hangingPunct="0">
                      <a:lnSpc>
                        <a:spcPct val="88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</p:txBody>
              </p:sp>
              <p:sp>
                <p:nvSpPr>
                  <p:cNvPr id="31823" name="Freeform 115"/>
                  <p:cNvSpPr>
                    <a:spLocks/>
                  </p:cNvSpPr>
                  <p:nvPr/>
                </p:nvSpPr>
                <p:spPr bwMode="auto">
                  <a:xfrm>
                    <a:off x="2" y="-1"/>
                    <a:ext cx="19996" cy="3332"/>
                  </a:xfrm>
                  <a:custGeom>
                    <a:avLst/>
                    <a:gdLst>
                      <a:gd name="T0" fmla="*/ 19965 w 20000"/>
                      <a:gd name="T1" fmla="*/ 0 h 20000"/>
                      <a:gd name="T2" fmla="*/ 19965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65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24" name="Freeform 116"/>
                  <p:cNvSpPr>
                    <a:spLocks/>
                  </p:cNvSpPr>
                  <p:nvPr/>
                </p:nvSpPr>
                <p:spPr bwMode="auto">
                  <a:xfrm>
                    <a:off x="2" y="3345"/>
                    <a:ext cx="19996" cy="3326"/>
                  </a:xfrm>
                  <a:custGeom>
                    <a:avLst/>
                    <a:gdLst>
                      <a:gd name="T0" fmla="*/ 19965 w 20000"/>
                      <a:gd name="T1" fmla="*/ 0 h 20000"/>
                      <a:gd name="T2" fmla="*/ 19965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65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25" name="Freeform 117"/>
                  <p:cNvSpPr>
                    <a:spLocks/>
                  </p:cNvSpPr>
                  <p:nvPr/>
                </p:nvSpPr>
                <p:spPr bwMode="auto">
                  <a:xfrm>
                    <a:off x="2" y="6671"/>
                    <a:ext cx="19996" cy="3331"/>
                  </a:xfrm>
                  <a:custGeom>
                    <a:avLst/>
                    <a:gdLst>
                      <a:gd name="T0" fmla="*/ 19965 w 20000"/>
                      <a:gd name="T1" fmla="*/ 0 h 20000"/>
                      <a:gd name="T2" fmla="*/ 19965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65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26" name="Freeform 118"/>
                  <p:cNvSpPr>
                    <a:spLocks/>
                  </p:cNvSpPr>
                  <p:nvPr/>
                </p:nvSpPr>
                <p:spPr bwMode="auto">
                  <a:xfrm>
                    <a:off x="2" y="10015"/>
                    <a:ext cx="19996" cy="6672"/>
                  </a:xfrm>
                  <a:custGeom>
                    <a:avLst/>
                    <a:gdLst>
                      <a:gd name="T0" fmla="*/ 19965 w 20000"/>
                      <a:gd name="T1" fmla="*/ 0 h 20000"/>
                      <a:gd name="T2" fmla="*/ 19965 w 20000"/>
                      <a:gd name="T3" fmla="*/ 247 h 20000"/>
                      <a:gd name="T4" fmla="*/ 0 w 20000"/>
                      <a:gd name="T5" fmla="*/ 247 h 20000"/>
                      <a:gd name="T6" fmla="*/ 0 w 20000"/>
                      <a:gd name="T7" fmla="*/ 0 h 20000"/>
                      <a:gd name="T8" fmla="*/ 19965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58"/>
                        </a:lnTo>
                        <a:lnTo>
                          <a:pt x="0" y="19958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27" name="Freeform 119"/>
                  <p:cNvSpPr>
                    <a:spLocks/>
                  </p:cNvSpPr>
                  <p:nvPr/>
                </p:nvSpPr>
                <p:spPr bwMode="auto">
                  <a:xfrm>
                    <a:off x="2" y="16673"/>
                    <a:ext cx="19996" cy="3328"/>
                  </a:xfrm>
                  <a:custGeom>
                    <a:avLst/>
                    <a:gdLst>
                      <a:gd name="T0" fmla="*/ 19965 w 20000"/>
                      <a:gd name="T1" fmla="*/ 0 h 20000"/>
                      <a:gd name="T2" fmla="*/ 19965 w 20000"/>
                      <a:gd name="T3" fmla="*/ 15 h 20000"/>
                      <a:gd name="T4" fmla="*/ 0 w 20000"/>
                      <a:gd name="T5" fmla="*/ 15 h 20000"/>
                      <a:gd name="T6" fmla="*/ 0 w 20000"/>
                      <a:gd name="T7" fmla="*/ 0 h 20000"/>
                      <a:gd name="T8" fmla="*/ 19965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1" y="0"/>
                        </a:moveTo>
                        <a:lnTo>
                          <a:pt x="19981" y="19916"/>
                        </a:lnTo>
                        <a:lnTo>
                          <a:pt x="0" y="19916"/>
                        </a:lnTo>
                        <a:lnTo>
                          <a:pt x="0" y="0"/>
                        </a:lnTo>
                        <a:lnTo>
                          <a:pt x="19981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28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8877" y="10017"/>
                    <a:ext cx="2240" cy="72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pPr algn="ctr" eaLnBrk="0" hangingPunct="0">
                      <a:lnSpc>
                        <a:spcPct val="64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ctr" eaLnBrk="0" hangingPunct="0">
                      <a:lnSpc>
                        <a:spcPct val="64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  <a:p>
                    <a:pPr algn="ctr" eaLnBrk="0" hangingPunct="0">
                      <a:lnSpc>
                        <a:spcPct val="64000"/>
                      </a:lnSpc>
                    </a:pPr>
                    <a:r>
                      <a:rPr sz="800" noProof="1">
                        <a:solidFill>
                          <a:srgbClr val="000000"/>
                        </a:solidFill>
                        <a:latin typeface="Arial" charset="0"/>
                      </a:rPr>
                      <a:t>.</a:t>
                    </a:r>
                  </a:p>
                </p:txBody>
              </p:sp>
            </p:grpSp>
          </p:grpSp>
        </p:grpSp>
        <p:sp>
          <p:nvSpPr>
            <p:cNvPr id="31805" name="Freeform 121"/>
            <p:cNvSpPr>
              <a:spLocks/>
            </p:cNvSpPr>
            <p:nvPr/>
          </p:nvSpPr>
          <p:spPr bwMode="auto">
            <a:xfrm>
              <a:off x="1608" y="2937"/>
              <a:ext cx="671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06" name="Freeform 122"/>
            <p:cNvSpPr>
              <a:spLocks/>
            </p:cNvSpPr>
            <p:nvPr/>
          </p:nvSpPr>
          <p:spPr bwMode="auto">
            <a:xfrm>
              <a:off x="1608" y="2937"/>
              <a:ext cx="671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7" name="Rectangle 123"/>
            <p:cNvSpPr>
              <a:spLocks noChangeArrowheads="1"/>
            </p:cNvSpPr>
            <p:nvPr/>
          </p:nvSpPr>
          <p:spPr bwMode="auto">
            <a:xfrm>
              <a:off x="1632" y="3049"/>
              <a:ext cx="624" cy="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64000"/>
                </a:lnSpc>
              </a:pPr>
              <a:r>
                <a:rPr sz="1200" noProof="1">
                  <a:solidFill>
                    <a:srgbClr val="000000"/>
                  </a:solidFill>
                  <a:latin typeface="Arial" charset="0"/>
                </a:rPr>
                <a:t>Interpreter</a:t>
              </a:r>
            </a:p>
          </p:txBody>
        </p:sp>
        <p:sp>
          <p:nvSpPr>
            <p:cNvPr id="31808" name="Freeform 124"/>
            <p:cNvSpPr>
              <a:spLocks/>
            </p:cNvSpPr>
            <p:nvPr/>
          </p:nvSpPr>
          <p:spPr bwMode="auto">
            <a:xfrm>
              <a:off x="2282" y="3081"/>
              <a:ext cx="288" cy="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oup 125"/>
            <p:cNvGrpSpPr>
              <a:grpSpLocks/>
            </p:cNvGrpSpPr>
            <p:nvPr/>
          </p:nvGrpSpPr>
          <p:grpSpPr bwMode="auto">
            <a:xfrm>
              <a:off x="3049" y="2860"/>
              <a:ext cx="97" cy="960"/>
              <a:chOff x="0" y="0"/>
              <a:chExt cx="20000" cy="20001"/>
            </a:xfrm>
          </p:grpSpPr>
          <p:sp>
            <p:nvSpPr>
              <p:cNvPr id="31812" name="Arc 126"/>
              <p:cNvSpPr>
                <a:spLocks/>
              </p:cNvSpPr>
              <p:nvPr/>
            </p:nvSpPr>
            <p:spPr bwMode="auto">
              <a:xfrm>
                <a:off x="28" y="0"/>
                <a:ext cx="10014" cy="5005"/>
              </a:xfrm>
              <a:custGeom>
                <a:avLst/>
                <a:gdLst>
                  <a:gd name="T0" fmla="*/ 0 w 21600"/>
                  <a:gd name="T1" fmla="*/ 0 h 21600"/>
                  <a:gd name="T2" fmla="*/ 463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3" name="Arc 127"/>
              <p:cNvSpPr>
                <a:spLocks/>
              </p:cNvSpPr>
              <p:nvPr/>
            </p:nvSpPr>
            <p:spPr bwMode="auto">
              <a:xfrm flipV="1">
                <a:off x="0" y="14992"/>
                <a:ext cx="10042" cy="5009"/>
              </a:xfrm>
              <a:custGeom>
                <a:avLst/>
                <a:gdLst>
                  <a:gd name="T0" fmla="*/ 0 w 21600"/>
                  <a:gd name="T1" fmla="*/ 0 h 21600"/>
                  <a:gd name="T2" fmla="*/ 469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4" name="Arc 128"/>
              <p:cNvSpPr>
                <a:spLocks/>
              </p:cNvSpPr>
              <p:nvPr/>
            </p:nvSpPr>
            <p:spPr bwMode="auto">
              <a:xfrm flipH="1">
                <a:off x="9958" y="9995"/>
                <a:ext cx="10042" cy="5009"/>
              </a:xfrm>
              <a:custGeom>
                <a:avLst/>
                <a:gdLst>
                  <a:gd name="T0" fmla="*/ 0 w 21600"/>
                  <a:gd name="T1" fmla="*/ 0 h 21600"/>
                  <a:gd name="T2" fmla="*/ 469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5" name="Arc 129"/>
              <p:cNvSpPr>
                <a:spLocks/>
              </p:cNvSpPr>
              <p:nvPr/>
            </p:nvSpPr>
            <p:spPr bwMode="auto">
              <a:xfrm flipH="1" flipV="1">
                <a:off x="9958" y="4997"/>
                <a:ext cx="10042" cy="5005"/>
              </a:xfrm>
              <a:custGeom>
                <a:avLst/>
                <a:gdLst>
                  <a:gd name="T0" fmla="*/ 0 w 21600"/>
                  <a:gd name="T1" fmla="*/ 0 h 21600"/>
                  <a:gd name="T2" fmla="*/ 469 w 21600"/>
                  <a:gd name="T3" fmla="*/ 14 h 21600"/>
                  <a:gd name="T4" fmla="*/ 0 w 21600"/>
                  <a:gd name="T5" fmla="*/ 1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10" name="Rectangle 130"/>
            <p:cNvSpPr>
              <a:spLocks noChangeArrowheads="1"/>
            </p:cNvSpPr>
            <p:nvPr/>
          </p:nvSpPr>
          <p:spPr bwMode="auto">
            <a:xfrm>
              <a:off x="3193" y="2970"/>
              <a:ext cx="585" cy="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80000"/>
                </a:lnSpc>
              </a:pPr>
              <a:r>
                <a:rPr sz="800" noProof="1">
                  <a:solidFill>
                    <a:srgbClr val="000000"/>
                  </a:solidFill>
                  <a:latin typeface="Arial" charset="0"/>
                </a:rPr>
                <a:t>Interpreter reads bytecodes and translates them into a language that the computer can understand, possibly storing data values as the program executes.</a:t>
              </a:r>
            </a:p>
          </p:txBody>
        </p:sp>
        <p:sp>
          <p:nvSpPr>
            <p:cNvPr id="31811" name="Rectangle 131"/>
            <p:cNvSpPr>
              <a:spLocks noChangeArrowheads="1"/>
            </p:cNvSpPr>
            <p:nvPr/>
          </p:nvSpPr>
          <p:spPr bwMode="auto">
            <a:xfrm>
              <a:off x="1082" y="3053"/>
              <a:ext cx="504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lnSpc>
                  <a:spcPct val="80000"/>
                </a:lnSpc>
              </a:pPr>
              <a:r>
                <a:rPr sz="1200" noProof="1">
                  <a:solidFill>
                    <a:srgbClr val="000000"/>
                  </a:solidFill>
                  <a:latin typeface="Arial" charset="0"/>
                </a:rPr>
                <a:t>Phase 5</a:t>
              </a:r>
            </a:p>
          </p:txBody>
        </p:sp>
      </p:grpSp>
      <p:sp>
        <p:nvSpPr>
          <p:cNvPr id="31750" name="Text Box 136"/>
          <p:cNvSpPr txBox="1">
            <a:spLocks noChangeArrowheads="1"/>
          </p:cNvSpPr>
          <p:nvPr/>
        </p:nvSpPr>
        <p:spPr bwMode="auto">
          <a:xfrm>
            <a:off x="6324600" y="1981200"/>
            <a:ext cx="2362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/>
              <a:t>Java Development Environment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/>
              <a:t>Integrated Development  Environment (IDE)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 err="1"/>
              <a:t>JGrasp</a:t>
            </a:r>
            <a:endParaRPr lang="en-US" b="1" dirty="0"/>
          </a:p>
        </p:txBody>
      </p:sp>
      <p:sp>
        <p:nvSpPr>
          <p:cNvPr id="137" name="Rectangle 2"/>
          <p:cNvSpPr txBox="1">
            <a:spLocks noChangeArrowheads="1"/>
          </p:cNvSpPr>
          <p:nvPr/>
        </p:nvSpPr>
        <p:spPr>
          <a:xfrm>
            <a:off x="228600" y="76200"/>
            <a:ext cx="8763000" cy="762000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sz="4800" b="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6. Typical Java development environment.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2657-9563-2F43-A46C-2C2EA12FC8BC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686800" cy="213360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charset="0"/>
                <a:cs typeface="Arial" charset="0"/>
              </a:rPr>
              <a:t>Computers do not understand programs written in high programming languages </a:t>
            </a: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(source code) </a:t>
            </a:r>
            <a:r>
              <a:rPr lang="en-US" sz="2000" dirty="0">
                <a:latin typeface="Tahoma" charset="0"/>
                <a:cs typeface="Arial" charset="0"/>
              </a:rPr>
              <a:t>such as C++ and Java</a:t>
            </a: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charset="0"/>
                <a:cs typeface="Arial" charset="0"/>
              </a:rPr>
              <a:t>Therefore, programs must be converted into </a:t>
            </a: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machine code </a:t>
            </a:r>
            <a:r>
              <a:rPr lang="en-US" sz="2000" dirty="0">
                <a:latin typeface="Tahoma" charset="0"/>
                <a:cs typeface="Arial" charset="0"/>
              </a:rPr>
              <a:t>that the computer can understand and execute</a:t>
            </a: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charset="0"/>
                <a:cs typeface="Arial" charset="0"/>
              </a:rPr>
              <a:t>A software that translates a source code from a high-level programming language into machine code is called a </a:t>
            </a: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compiler</a:t>
            </a: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FF0000"/>
                </a:solidFill>
                <a:latin typeface="Tahoma" charset="0"/>
                <a:cs typeface="Arial" charset="0"/>
              </a:rPr>
              <a:t>a.alhomaidhi@psau.edu</a:t>
            </a:r>
            <a:endParaRPr lang="en-US" sz="2000" dirty="0">
              <a:solidFill>
                <a:srgbClr val="FF0000"/>
              </a:solidFill>
              <a:latin typeface="Tahoma" charset="0"/>
              <a:cs typeface="Arial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000" dirty="0">
              <a:latin typeface="Tahoma" charset="0"/>
              <a:cs typeface="Arial" charset="0"/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7. Program Compilation</a:t>
            </a:r>
          </a:p>
        </p:txBody>
      </p:sp>
      <p:grpSp>
        <p:nvGrpSpPr>
          <p:cNvPr id="2" name="Group 17"/>
          <p:cNvGrpSpPr/>
          <p:nvPr/>
        </p:nvGrpSpPr>
        <p:grpSpPr>
          <a:xfrm>
            <a:off x="1333500" y="4495800"/>
            <a:ext cx="6477000" cy="1828800"/>
            <a:chOff x="990600" y="4495800"/>
            <a:chExt cx="6477000" cy="1828800"/>
          </a:xfrm>
        </p:grpSpPr>
        <p:sp>
          <p:nvSpPr>
            <p:cNvPr id="19" name="Rectangle 18"/>
            <p:cNvSpPr/>
            <p:nvPr/>
          </p:nvSpPr>
          <p:spPr>
            <a:xfrm>
              <a:off x="990600" y="5067300"/>
              <a:ext cx="1447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Source Code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019800" y="5067300"/>
              <a:ext cx="1447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Machine Code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124200" y="4495800"/>
              <a:ext cx="2209800" cy="18288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Compiler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2362200" y="5181600"/>
              <a:ext cx="838200" cy="457200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5257800" y="5181600"/>
              <a:ext cx="838200" cy="457200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21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8686800" cy="4876800"/>
          </a:xfrm>
        </p:spPr>
        <p:txBody>
          <a:bodyPr>
            <a:normAutofit/>
          </a:bodyPr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charset="0"/>
                <a:cs typeface="Arial" charset="0"/>
              </a:rPr>
              <a:t>The compiler is a software that checks the correctness of the source code according to the language rules.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charset="0"/>
                <a:cs typeface="Arial" charset="0"/>
              </a:rPr>
              <a:t>If the compiler produces an error, this is called a </a:t>
            </a: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syntax error</a:t>
            </a:r>
            <a:r>
              <a:rPr lang="en-US" sz="2000" dirty="0">
                <a:solidFill>
                  <a:schemeClr val="tx2"/>
                </a:solidFill>
                <a:latin typeface="Tahoma" charset="0"/>
                <a:cs typeface="Arial" charset="0"/>
              </a:rPr>
              <a:t>. 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charset="0"/>
                <a:cs typeface="Arial" charset="0"/>
              </a:rPr>
              <a:t>Translates the source code into a machine code if no errors were found.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charset="0"/>
                <a:cs typeface="Arial" charset="0"/>
              </a:rPr>
              <a:t>Machine code depends on the computer hardware: we say that the compiled version is </a:t>
            </a: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platform-dependent</a:t>
            </a:r>
            <a:r>
              <a:rPr lang="en-US" sz="2000" dirty="0">
                <a:solidFill>
                  <a:schemeClr val="tx2"/>
                </a:solidFill>
                <a:latin typeface="Tahoma" charset="0"/>
                <a:cs typeface="Arial" charset="0"/>
              </a:rPr>
              <a:t>.</a:t>
            </a:r>
          </a:p>
          <a:p>
            <a:pPr lvl="1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  <a:latin typeface="Tahoma" charset="0"/>
                <a:cs typeface="Arial" charset="0"/>
              </a:rPr>
              <a:t>For example, a program compiled on a machine that works under the Windows operating system, cannot run on another machine that works under the MAC operating system.</a:t>
            </a:r>
            <a:r>
              <a:rPr lang="en-US" sz="1400" dirty="0">
                <a:solidFill>
                  <a:srgbClr val="0070C0"/>
                </a:solidFill>
                <a:latin typeface="Tahoma" charset="0"/>
                <a:cs typeface="Arial" charset="0"/>
              </a:rPr>
              <a:t> </a:t>
            </a:r>
          </a:p>
          <a:p>
            <a:pPr lvl="1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  <a:latin typeface="Tahoma" charset="0"/>
                <a:cs typeface="Arial" charset="0"/>
              </a:rPr>
              <a:t>In this case, the program should be re-compiled under the MAC operating system.</a:t>
            </a:r>
            <a:r>
              <a:rPr lang="en-US" sz="2000" dirty="0">
                <a:solidFill>
                  <a:schemeClr val="tx2"/>
                </a:solidFill>
                <a:latin typeface="Tahoma" charset="0"/>
                <a:cs typeface="Arial" charset="0"/>
              </a:rPr>
              <a:t> 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charset="0"/>
                <a:cs typeface="Arial" charset="0"/>
              </a:rPr>
              <a:t>However, Java is characterized by being platform-independent. In other words, a Java program that is compiled under the Windows OS can run under the MAC OS without being re-compiled.</a:t>
            </a: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9144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7.1 Program Compilation (</a:t>
            </a:r>
            <a:r>
              <a:rPr lang="en-US" sz="4000" dirty="0" err="1">
                <a:solidFill>
                  <a:schemeClr val="accent2"/>
                </a:solidFill>
                <a:latin typeface="Tahoma" charset="0"/>
                <a:cs typeface="Arial" charset="0"/>
              </a:rPr>
              <a:t>cnt’d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400" y="6400800"/>
            <a:ext cx="4419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Refer to figure in Slide 20 -23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22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686800" cy="1524000"/>
          </a:xfrm>
        </p:spPr>
        <p:txBody>
          <a:bodyPr>
            <a:normAutofit/>
          </a:bodyPr>
          <a:lstStyle/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charset="0"/>
                <a:cs typeface="Arial" charset="0"/>
              </a:rPr>
              <a:t>The Java compiler translates the source code (with extension “.java”) into a </a:t>
            </a: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bytecode </a:t>
            </a:r>
            <a:r>
              <a:rPr lang="en-US" sz="2000" dirty="0">
                <a:latin typeface="Tahoma" charset="0"/>
                <a:cs typeface="Arial" charset="0"/>
              </a:rPr>
              <a:t>(with extension “.class”) rather than machine code.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charset="0"/>
                <a:cs typeface="Arial" charset="0"/>
              </a:rPr>
              <a:t>Then, a bytecode is converted into machine code using a </a:t>
            </a: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Java Interpreter</a:t>
            </a:r>
            <a:r>
              <a:rPr lang="en-US" sz="2000" dirty="0">
                <a:latin typeface="Tahoma" charset="0"/>
                <a:cs typeface="Arial" charset="0"/>
              </a:rPr>
              <a:t>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57200" y="3048000"/>
            <a:ext cx="8458200" cy="2057400"/>
            <a:chOff x="457200" y="4495800"/>
            <a:chExt cx="8458200" cy="2057400"/>
          </a:xfrm>
        </p:grpSpPr>
        <p:pic>
          <p:nvPicPr>
            <p:cNvPr id="23559" name="Picture 9" descr="Figure showing MyProgram.java, compiler, MyProgram.class, Java VM, and My Program running on a computer.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4868863"/>
              <a:ext cx="8458200" cy="145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60" name="Text Box 10"/>
            <p:cNvSpPr txBox="1">
              <a:spLocks noChangeArrowheads="1"/>
            </p:cNvSpPr>
            <p:nvPr/>
          </p:nvSpPr>
          <p:spPr bwMode="auto">
            <a:xfrm>
              <a:off x="609600" y="4510088"/>
              <a:ext cx="16129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chemeClr val="tx2"/>
                  </a:solidFill>
                </a:rPr>
                <a:t>Source Code</a:t>
              </a:r>
            </a:p>
          </p:txBody>
        </p:sp>
        <p:sp>
          <p:nvSpPr>
            <p:cNvPr id="23561" name="Text Box 11"/>
            <p:cNvSpPr txBox="1">
              <a:spLocks noChangeArrowheads="1"/>
            </p:cNvSpPr>
            <p:nvPr/>
          </p:nvSpPr>
          <p:spPr bwMode="auto">
            <a:xfrm>
              <a:off x="4467225" y="4495800"/>
              <a:ext cx="12477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chemeClr val="tx2"/>
                  </a:solidFill>
                </a:rPr>
                <a:t>Bytecode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2286000" y="6183868"/>
              <a:ext cx="453390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Java VM or JVM = Java Virtual Machine</a:t>
              </a:r>
            </a:p>
          </p:txBody>
        </p:sp>
      </p:grp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540552" cy="914400"/>
          </a:xfrm>
        </p:spPr>
        <p:txBody>
          <a:bodyPr vert="horz" anchor="ctr">
            <a:noAutofit/>
          </a:bodyPr>
          <a:lstStyle/>
          <a:p>
            <a:r>
              <a:rPr lang="en-US" sz="4000" b="0" dirty="0">
                <a:solidFill>
                  <a:schemeClr val="accent2"/>
                </a:solidFill>
                <a:latin typeface="Tahoma" charset="0"/>
                <a:cs typeface="Arial" charset="0"/>
              </a:rPr>
              <a:t>7.1 Java Programs Compilation(</a:t>
            </a:r>
            <a:r>
              <a:rPr lang="en-US" sz="4000" b="0" dirty="0" err="1">
                <a:solidFill>
                  <a:schemeClr val="accent2"/>
                </a:solidFill>
                <a:latin typeface="Tahoma" charset="0"/>
                <a:cs typeface="Arial" charset="0"/>
              </a:rPr>
              <a:t>cnt’d</a:t>
            </a:r>
            <a:r>
              <a:rPr lang="en-US" sz="4000" b="0" dirty="0">
                <a:solidFill>
                  <a:schemeClr val="accent2"/>
                </a:solidFill>
                <a:latin typeface="Tahoma" charset="0"/>
                <a:cs typeface="Arial" charset="0"/>
              </a:rPr>
              <a:t>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23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610600" cy="762000"/>
          </a:xfrm>
        </p:spPr>
        <p:txBody>
          <a:bodyPr>
            <a:normAutofit/>
          </a:bodyPr>
          <a:lstStyle/>
          <a:p>
            <a:r>
              <a:rPr lang="en-US" altLang="ar-SA" sz="2000" dirty="0">
                <a:latin typeface="AGaramond"/>
              </a:rPr>
              <a:t>You can run </a:t>
            </a:r>
            <a:r>
              <a:rPr lang="en-US" altLang="ar-SA" sz="2000" dirty="0" err="1">
                <a:latin typeface="AGaramond"/>
              </a:rPr>
              <a:t>bytecode</a:t>
            </a:r>
            <a:r>
              <a:rPr lang="en-US" altLang="ar-SA" sz="2000" dirty="0">
                <a:latin typeface="AGaramond"/>
              </a:rPr>
              <a:t> on an computer that has a Java Interpreter installed</a:t>
            </a:r>
          </a:p>
          <a:p>
            <a:pPr marL="0" indent="0" algn="just" eaLnBrk="1" hangingPunct="1">
              <a:buNone/>
            </a:pPr>
            <a:endParaRPr lang="en-US" sz="2000" dirty="0">
              <a:latin typeface="Tahoma" charset="0"/>
              <a:cs typeface="Arial" charset="0"/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914400"/>
          </a:xfrm>
        </p:spPr>
        <p:txBody>
          <a:bodyPr vert="horz" anchor="ctr">
            <a:no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7.1 Java Programs Compilation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23900" y="2576513"/>
            <a:ext cx="7696200" cy="3367087"/>
            <a:chOff x="528" y="1392"/>
            <a:chExt cx="4848" cy="2121"/>
          </a:xfrm>
        </p:grpSpPr>
        <p:pic>
          <p:nvPicPr>
            <p:cNvPr id="24584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1392"/>
              <a:ext cx="4848" cy="212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585" name="Text Box 6"/>
            <p:cNvSpPr txBox="1">
              <a:spLocks noChangeArrowheads="1"/>
            </p:cNvSpPr>
            <p:nvPr/>
          </p:nvSpPr>
          <p:spPr bwMode="auto">
            <a:xfrm>
              <a:off x="576" y="2889"/>
              <a:ext cx="886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ja-JP" altLang="en-US">
                  <a:latin typeface="Comic Sans MS" charset="0"/>
                </a:rPr>
                <a:t>“</a:t>
              </a:r>
              <a:r>
                <a:rPr lang="en-US">
                  <a:latin typeface="Comic Sans MS" charset="0"/>
                </a:rPr>
                <a:t>Hello.java</a:t>
              </a:r>
              <a:r>
                <a:rPr lang="ja-JP" altLang="en-US">
                  <a:latin typeface="Comic Sans MS" charset="0"/>
                </a:rPr>
                <a:t>”</a:t>
              </a:r>
              <a:endParaRPr lang="en-US">
                <a:latin typeface="Comic Sans MS" charset="0"/>
              </a:endParaRPr>
            </a:p>
          </p:txBody>
        </p:sp>
        <p:sp>
          <p:nvSpPr>
            <p:cNvPr id="24586" name="Text Box 7"/>
            <p:cNvSpPr txBox="1">
              <a:spLocks noChangeArrowheads="1"/>
            </p:cNvSpPr>
            <p:nvPr/>
          </p:nvSpPr>
          <p:spPr bwMode="auto">
            <a:xfrm>
              <a:off x="2304" y="2889"/>
              <a:ext cx="937" cy="231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ja-JP" altLang="en-US">
                  <a:latin typeface="Comic Sans MS" charset="0"/>
                </a:rPr>
                <a:t>“</a:t>
              </a:r>
              <a:r>
                <a:rPr lang="en-US">
                  <a:latin typeface="Comic Sans MS" charset="0"/>
                </a:rPr>
                <a:t>Hello.class</a:t>
              </a:r>
              <a:r>
                <a:rPr lang="ja-JP" altLang="en-US">
                  <a:latin typeface="Comic Sans MS" charset="0"/>
                </a:rPr>
                <a:t>”</a:t>
              </a:r>
              <a:endParaRPr lang="en-US">
                <a:latin typeface="Comic Sans MS" charset="0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24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69962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>
                <a:solidFill>
                  <a:schemeClr val="accent2"/>
                </a:solidFill>
                <a:latin typeface="Tahoma" charset="0"/>
                <a:cs typeface="Arial" charset="0"/>
              </a:rPr>
              <a:t>7.1 Java Programs Compilation</a:t>
            </a:r>
            <a:endParaRPr lang="en-US" altLang="ar-SA" sz="3600" dirty="0"/>
          </a:p>
        </p:txBody>
      </p:sp>
      <p:sp>
        <p:nvSpPr>
          <p:cNvPr id="837634" name="AutoShape 2" descr="نتيجة بحث الصور عن ‪java virtual machine‬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sp>
        <p:nvSpPr>
          <p:cNvPr id="837636" name="AutoShape 4" descr="نتيجة بحث الصور عن ‪java virtual machine‬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837638" name="Picture 6" descr="http://img.viralpatel.net/2008/12/java-program-execu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5500" y="965200"/>
            <a:ext cx="7505699" cy="53847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5" name="Picture 4" descr="Figure showing source code, compiler, and Java VM's for Win32, Solaris OS/Linux, and Mac 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68450"/>
            <a:ext cx="4876800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8600" y="4038600"/>
            <a:ext cx="2667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JVM = Java Virtual Machine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9244136" cy="914400"/>
          </a:xfrm>
        </p:spPr>
        <p:txBody>
          <a:bodyPr vert="horz" anchor="ctr">
            <a:noAutofit/>
          </a:bodyPr>
          <a:lstStyle/>
          <a:p>
            <a:r>
              <a:rPr lang="en-US" sz="4000" b="0" dirty="0">
                <a:solidFill>
                  <a:schemeClr val="accent2"/>
                </a:solidFill>
                <a:latin typeface="Tahoma" charset="0"/>
                <a:cs typeface="Arial" charset="0"/>
              </a:rPr>
              <a:t>7.1 Java Programs Compilation (</a:t>
            </a:r>
            <a:r>
              <a:rPr lang="en-US" sz="4000" b="0" dirty="0" err="1">
                <a:solidFill>
                  <a:schemeClr val="accent2"/>
                </a:solidFill>
                <a:latin typeface="Tahoma" charset="0"/>
                <a:cs typeface="Arial" charset="0"/>
              </a:rPr>
              <a:t>cnt’d</a:t>
            </a:r>
            <a:r>
              <a:rPr lang="en-US" sz="4000" b="0" dirty="0">
                <a:solidFill>
                  <a:schemeClr val="accent2"/>
                </a:solidFill>
                <a:latin typeface="Tahoma" charset="0"/>
                <a:cs typeface="Arial" charset="0"/>
              </a:rPr>
              <a:t>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26</a:t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537448" cy="4495800"/>
          </a:xfrm>
        </p:spPr>
        <p:txBody>
          <a:bodyPr>
            <a:normAutofit/>
          </a:bodyPr>
          <a:lstStyle/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Arial" charset="0"/>
              </a:rPr>
              <a:t>Java Virtual Machine (JVM):</a:t>
            </a:r>
            <a:r>
              <a:rPr lang="en-US" sz="2000" dirty="0">
                <a:latin typeface="Tahoma" charset="0"/>
                <a:cs typeface="Arial" charset="0"/>
              </a:rPr>
              <a:t> A hypothetical computer developed to make Java programs machine independent</a:t>
            </a:r>
            <a:r>
              <a:rPr lang="ar-SA" sz="2000" dirty="0">
                <a:latin typeface="Tahoma" charset="0"/>
                <a:cs typeface="Times New Roman" charset="0"/>
              </a:rPr>
              <a:t> </a:t>
            </a:r>
            <a:r>
              <a:rPr lang="en-US" sz="2000" dirty="0">
                <a:latin typeface="Tahoma" charset="0"/>
                <a:cs typeface="Times New Roman" charset="0"/>
              </a:rPr>
              <a:t>(i.e. run on  many different types of computer platforms).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charset="0"/>
                <a:cs typeface="Times New Roman" charset="0"/>
              </a:rPr>
              <a:t>A JVM consists of the following components:</a:t>
            </a:r>
          </a:p>
          <a:p>
            <a:pPr lvl="1" algn="just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Times New Roman" charset="0"/>
              </a:rPr>
              <a:t>The class loader: </a:t>
            </a:r>
            <a:r>
              <a:rPr lang="en-US" sz="2000" dirty="0">
                <a:solidFill>
                  <a:srgbClr val="0070C0"/>
                </a:solidFill>
                <a:latin typeface="Tahoma" charset="0"/>
                <a:cs typeface="Times New Roman" charset="0"/>
              </a:rPr>
              <a:t>stores the bytecodes into the computer memory</a:t>
            </a:r>
            <a:endParaRPr lang="en-US" sz="2000" dirty="0">
              <a:solidFill>
                <a:srgbClr val="0000FF"/>
              </a:solidFill>
              <a:latin typeface="Tahoma" charset="0"/>
              <a:cs typeface="Times New Roman" charset="0"/>
            </a:endParaRPr>
          </a:p>
          <a:p>
            <a:pPr lvl="1" algn="just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Times New Roman" charset="0"/>
              </a:rPr>
              <a:t>Bytecode verifier: </a:t>
            </a:r>
            <a:r>
              <a:rPr lang="en-US" sz="2000" dirty="0">
                <a:solidFill>
                  <a:srgbClr val="0070C0"/>
                </a:solidFill>
                <a:latin typeface="Tahoma" charset="0"/>
                <a:cs typeface="Times New Roman" charset="0"/>
              </a:rPr>
              <a:t>ensures that the bytecodes do not violate security requirements</a:t>
            </a:r>
            <a:endParaRPr lang="en-US" sz="2000" dirty="0">
              <a:solidFill>
                <a:srgbClr val="0000FF"/>
              </a:solidFill>
              <a:latin typeface="Tahoma" charset="0"/>
              <a:cs typeface="Times New Roman" charset="0"/>
            </a:endParaRPr>
          </a:p>
          <a:p>
            <a:pPr lvl="1" algn="just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Times New Roman" charset="0"/>
              </a:rPr>
              <a:t>Bytecode interpreter: </a:t>
            </a:r>
            <a:r>
              <a:rPr lang="en-US" sz="2000" dirty="0">
                <a:solidFill>
                  <a:srgbClr val="0070C0"/>
                </a:solidFill>
                <a:latin typeface="Tahoma" charset="0"/>
                <a:cs typeface="Times New Roman" charset="0"/>
              </a:rPr>
              <a:t>translates the bytecode into machine language</a:t>
            </a:r>
            <a:endParaRPr lang="en-US" sz="2000" dirty="0">
              <a:solidFill>
                <a:srgbClr val="0000FF"/>
              </a:solidFill>
              <a:latin typeface="Tahoma" charset="0"/>
              <a:cs typeface="Times New Roman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1534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b="0" dirty="0">
                <a:solidFill>
                  <a:schemeClr val="accent2"/>
                </a:solidFill>
                <a:latin typeface="Tahoma" charset="0"/>
                <a:cs typeface="Arial" charset="0"/>
              </a:rPr>
              <a:t>7.2 Java Virtual Machine (JVM)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6324600"/>
            <a:ext cx="3810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Refer to figure in Slide 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702"/>
          <p:cNvGrpSpPr/>
          <p:nvPr/>
        </p:nvGrpSpPr>
        <p:grpSpPr>
          <a:xfrm>
            <a:off x="685800" y="1981200"/>
            <a:ext cx="6129062" cy="4114800"/>
            <a:chOff x="119338" y="1981200"/>
            <a:chExt cx="6129062" cy="4114800"/>
          </a:xfrm>
        </p:grpSpPr>
        <p:sp>
          <p:nvSpPr>
            <p:cNvPr id="9" name="Rectangle 8"/>
            <p:cNvSpPr/>
            <p:nvPr/>
          </p:nvSpPr>
          <p:spPr>
            <a:xfrm>
              <a:off x="3581400" y="5181600"/>
              <a:ext cx="2667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Operating System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581400" y="5715000"/>
              <a:ext cx="2667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Hardware</a:t>
              </a:r>
            </a:p>
          </p:txBody>
        </p:sp>
        <p:cxnSp>
          <p:nvCxnSpPr>
            <p:cNvPr id="20" name="Straight Arrow Connector 19"/>
            <p:cNvCxnSpPr>
              <a:endCxn id="9" idx="0"/>
            </p:cNvCxnSpPr>
            <p:nvPr/>
          </p:nvCxnSpPr>
          <p:spPr>
            <a:xfrm>
              <a:off x="4914900" y="4876800"/>
              <a:ext cx="0" cy="3048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9" idx="2"/>
              <a:endCxn id="54" idx="0"/>
            </p:cNvCxnSpPr>
            <p:nvPr/>
          </p:nvCxnSpPr>
          <p:spPr>
            <a:xfrm>
              <a:off x="4914900" y="5562600"/>
              <a:ext cx="0" cy="152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1371600" y="3429000"/>
              <a:ext cx="1447800" cy="43815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Running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228600" y="4876800"/>
              <a:ext cx="18669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3" idx="2"/>
            </p:cNvCxnSpPr>
            <p:nvPr/>
          </p:nvCxnSpPr>
          <p:spPr>
            <a:xfrm>
              <a:off x="2095500" y="3867150"/>
              <a:ext cx="0" cy="1009650"/>
            </a:xfrm>
            <a:prstGeom prst="line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23" idx="0"/>
            </p:cNvCxnSpPr>
            <p:nvPr/>
          </p:nvCxnSpPr>
          <p:spPr>
            <a:xfrm flipV="1">
              <a:off x="2095500" y="1981200"/>
              <a:ext cx="0" cy="1447800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73" name="Straight Connector 28672"/>
            <p:cNvCxnSpPr/>
            <p:nvPr/>
          </p:nvCxnSpPr>
          <p:spPr>
            <a:xfrm flipV="1">
              <a:off x="4914900" y="1981200"/>
              <a:ext cx="0" cy="381000"/>
            </a:xfrm>
            <a:prstGeom prst="line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75" name="Straight Connector 28674"/>
            <p:cNvCxnSpPr/>
            <p:nvPr/>
          </p:nvCxnSpPr>
          <p:spPr>
            <a:xfrm>
              <a:off x="2095500" y="1981200"/>
              <a:ext cx="28194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 Box 26"/>
            <p:cNvSpPr txBox="1">
              <a:spLocks noChangeArrowheads="1"/>
            </p:cNvSpPr>
            <p:nvPr/>
          </p:nvSpPr>
          <p:spPr bwMode="auto">
            <a:xfrm>
              <a:off x="119338" y="4953000"/>
              <a:ext cx="204415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rgbClr val="FF0000"/>
                  </a:solidFill>
                  <a:latin typeface="Comic Sans MS" charset="0"/>
                </a:rPr>
                <a:t>The Bytecode</a:t>
              </a:r>
            </a:p>
            <a:p>
              <a:pPr algn="ctr" eaLnBrk="1" hangingPunct="1"/>
              <a:r>
                <a:rPr lang="en-US" dirty="0">
                  <a:solidFill>
                    <a:srgbClr val="FF0000"/>
                  </a:solidFill>
                  <a:latin typeface="Comic Sans MS" charset="0"/>
                </a:rPr>
                <a:t>(the </a:t>
              </a:r>
              <a:r>
                <a:rPr lang="ja-JP" altLang="en-US" dirty="0">
                  <a:solidFill>
                    <a:srgbClr val="FF0000"/>
                  </a:solidFill>
                  <a:latin typeface="Comic Sans MS" charset="0"/>
                </a:rPr>
                <a:t>“</a:t>
              </a:r>
              <a:r>
                <a:rPr lang="en-US" dirty="0">
                  <a:solidFill>
                    <a:srgbClr val="FF0000"/>
                  </a:solidFill>
                  <a:latin typeface="Comic Sans MS" charset="0"/>
                </a:rPr>
                <a:t>.class</a:t>
              </a:r>
              <a:r>
                <a:rPr lang="ja-JP" altLang="en-US" dirty="0">
                  <a:solidFill>
                    <a:srgbClr val="FF0000"/>
                  </a:solidFill>
                  <a:latin typeface="Comic Sans MS" charset="0"/>
                </a:rPr>
                <a:t>”</a:t>
              </a:r>
              <a:r>
                <a:rPr lang="en-US" dirty="0">
                  <a:solidFill>
                    <a:srgbClr val="FF0000"/>
                  </a:solidFill>
                  <a:latin typeface="Comic Sans MS" charset="0"/>
                </a:rPr>
                <a:t> file)</a:t>
              </a:r>
            </a:p>
          </p:txBody>
        </p:sp>
        <p:grpSp>
          <p:nvGrpSpPr>
            <p:cNvPr id="3" name="Group 79"/>
            <p:cNvGrpSpPr/>
            <p:nvPr/>
          </p:nvGrpSpPr>
          <p:grpSpPr>
            <a:xfrm>
              <a:off x="3619500" y="2362200"/>
              <a:ext cx="2590800" cy="2514600"/>
              <a:chOff x="3581400" y="2362200"/>
              <a:chExt cx="2590800" cy="2514600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3581400" y="2362200"/>
                <a:ext cx="2590800" cy="25146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3733800" y="2514600"/>
                <a:ext cx="1676400" cy="533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Class Loader</a:t>
                </a: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3733800" y="3238500"/>
                <a:ext cx="1676400" cy="533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Bytecode Verifier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3733800" y="3962400"/>
                <a:ext cx="1676400" cy="533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Bytecode Interpreter</a:t>
                </a:r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5562600" y="4495800"/>
                <a:ext cx="533400" cy="304800"/>
              </a:xfrm>
              <a:prstGeom prst="rect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JVM</a:t>
                </a:r>
              </a:p>
            </p:txBody>
          </p:sp>
          <p:cxnSp>
            <p:nvCxnSpPr>
              <p:cNvPr id="86" name="Straight Arrow Connector 85"/>
              <p:cNvCxnSpPr>
                <a:stCxn id="82" idx="2"/>
                <a:endCxn id="83" idx="0"/>
              </p:cNvCxnSpPr>
              <p:nvPr/>
            </p:nvCxnSpPr>
            <p:spPr>
              <a:xfrm>
                <a:off x="4572000" y="3048000"/>
                <a:ext cx="0" cy="19050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/>
              <p:cNvCxnSpPr>
                <a:stCxn id="83" idx="2"/>
                <a:endCxn id="84" idx="0"/>
              </p:cNvCxnSpPr>
              <p:nvPr/>
            </p:nvCxnSpPr>
            <p:spPr>
              <a:xfrm>
                <a:off x="4572000" y="3771900"/>
                <a:ext cx="0" cy="19050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0678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b="0" dirty="0">
                <a:solidFill>
                  <a:schemeClr val="accent2"/>
                </a:solidFill>
                <a:latin typeface="Tahoma" charset="0"/>
                <a:cs typeface="Arial" charset="0"/>
              </a:rPr>
              <a:t>7.2 Java Virtual Machine (JVM) – </a:t>
            </a:r>
            <a:r>
              <a:rPr lang="en-US" sz="4000" b="0" dirty="0" err="1">
                <a:solidFill>
                  <a:schemeClr val="accent2"/>
                </a:solidFill>
                <a:latin typeface="Tahoma" charset="0"/>
                <a:cs typeface="Arial" charset="0"/>
              </a:rPr>
              <a:t>cnt’d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Autofit/>
          </a:bodyPr>
          <a:lstStyle/>
          <a:p>
            <a:pPr rtl="0"/>
            <a:r>
              <a:rPr lang="en-US" sz="36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8. Difference between Java and C++</a:t>
            </a:r>
            <a:endParaRPr lang="ar-SA" sz="36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6866" name="Picture 2" descr="Platform-independence-c-sourc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000" y="1435101"/>
            <a:ext cx="8356600" cy="4497916"/>
          </a:xfrm>
          <a:prstGeom prst="rect">
            <a:avLst/>
          </a:prstGeom>
          <a:noFill/>
        </p:spPr>
      </p:pic>
      <p:cxnSp>
        <p:nvCxnSpPr>
          <p:cNvPr id="4" name="Straight Connector 3"/>
          <p:cNvCxnSpPr/>
          <p:nvPr/>
        </p:nvCxnSpPr>
        <p:spPr>
          <a:xfrm>
            <a:off x="0" y="112474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396536" cy="1143000"/>
          </a:xfrm>
        </p:spPr>
        <p:txBody>
          <a:bodyPr>
            <a:normAutofit/>
          </a:bodyPr>
          <a:lstStyle/>
          <a:p>
            <a:pPr rtl="0"/>
            <a:r>
              <a:rPr lang="en-US" sz="36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8. Difference between Java and C++</a:t>
            </a:r>
            <a:endParaRPr lang="ar-SA" sz="36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5842" name="Picture 2" descr="Platform-indepedence-java-sourc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0701" y="2082800"/>
            <a:ext cx="8267700" cy="2870200"/>
          </a:xfrm>
          <a:prstGeom prst="rect">
            <a:avLst/>
          </a:prstGeom>
          <a:noFill/>
        </p:spPr>
      </p:pic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28600" y="1052736"/>
            <a:ext cx="8763000" cy="5616624"/>
          </a:xfrm>
          <a:noFill/>
        </p:spPr>
        <p:txBody>
          <a:bodyPr>
            <a:normAutofit fontScale="47500" lnSpcReduction="20000"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ar-SA" sz="5100" dirty="0">
                <a:solidFill>
                  <a:srgbClr val="FF0000"/>
                </a:solidFill>
                <a:latin typeface="AGaramond"/>
                <a:ea typeface="Tahoma" pitchFamily="34" charset="0"/>
                <a:cs typeface="Tahoma" pitchFamily="34" charset="0"/>
              </a:rPr>
              <a:t>Testing: </a:t>
            </a:r>
            <a:r>
              <a:rPr lang="en-US" sz="3500" dirty="0">
                <a:latin typeface="AGaramond"/>
                <a:ea typeface="Tahoma" pitchFamily="34" charset="0"/>
                <a:cs typeface="Tahoma" pitchFamily="34" charset="0"/>
              </a:rPr>
              <a:t>After program compilation, the programmer needs to make sure that the output of the program matches the expected results. </a:t>
            </a:r>
            <a:r>
              <a:rPr lang="en-US" altLang="ar-SA" sz="3500" dirty="0">
                <a:latin typeface="AGaramond"/>
                <a:ea typeface="Tahoma" pitchFamily="34" charset="0"/>
                <a:cs typeface="Tahoma" pitchFamily="34" charset="0"/>
              </a:rPr>
              <a:t>There are some types of errors:</a:t>
            </a:r>
          </a:p>
          <a:p>
            <a:pPr marL="621855" lvl="1" algn="just">
              <a:lnSpc>
                <a:spcPct val="160000"/>
              </a:lnSpc>
              <a:buFont typeface="Wingdings 2"/>
              <a:buChar char=""/>
              <a:defRPr/>
            </a:pPr>
            <a:r>
              <a:rPr lang="en-US" altLang="ar-SA" sz="3100" b="1" dirty="0">
                <a:solidFill>
                  <a:srgbClr val="FF0000"/>
                </a:solidFill>
                <a:latin typeface="AGaramond"/>
                <a:ea typeface="Tahoma" pitchFamily="34" charset="0"/>
                <a:cs typeface="Tahoma" pitchFamily="34" charset="0"/>
              </a:rPr>
              <a:t>Syntax errors:</a:t>
            </a:r>
            <a:r>
              <a:rPr lang="en-US" altLang="ar-SA" sz="3100" dirty="0">
                <a:latin typeface="AGaramond"/>
                <a:ea typeface="Tahoma" pitchFamily="34" charset="0"/>
                <a:cs typeface="Tahoma" pitchFamily="34" charset="0"/>
              </a:rPr>
              <a:t> are raised if some rules were broken. </a:t>
            </a:r>
            <a:r>
              <a:rPr lang="en-US" sz="3100" dirty="0">
                <a:latin typeface="AGaramond"/>
                <a:ea typeface="Tahoma" pitchFamily="34" charset="0"/>
                <a:cs typeface="Tahoma" pitchFamily="34" charset="0"/>
              </a:rPr>
              <a:t>The Java compiler generates syntax-error messages when the syntax of a program is incorrect. Each error message contains the file name and line number where the error occurred. For example, Welcome1.java:6 indicates that an error occurred in the file Welcome1.java at line 6. The remainder of the error message provides information about the syntax error.</a:t>
            </a:r>
            <a:endParaRPr lang="en-US" altLang="ar-SA" sz="3100" dirty="0">
              <a:latin typeface="AGaramond"/>
              <a:ea typeface="Tahoma" pitchFamily="34" charset="0"/>
              <a:cs typeface="Tahoma" pitchFamily="34" charset="0"/>
            </a:endParaRPr>
          </a:p>
          <a:p>
            <a:pPr marL="621855" lvl="1" algn="just">
              <a:lnSpc>
                <a:spcPct val="160000"/>
              </a:lnSpc>
              <a:buFont typeface="Wingdings 2"/>
              <a:buChar char=""/>
              <a:defRPr/>
            </a:pPr>
            <a:r>
              <a:rPr lang="en-US" altLang="ar-SA" sz="3100" b="1" dirty="0">
                <a:solidFill>
                  <a:srgbClr val="FF0000"/>
                </a:solidFill>
                <a:latin typeface="AGaramond"/>
                <a:ea typeface="Tahoma" pitchFamily="34" charset="0"/>
                <a:cs typeface="Tahoma" pitchFamily="34" charset="0"/>
              </a:rPr>
              <a:t>Logical Errors:</a:t>
            </a:r>
            <a:r>
              <a:rPr lang="en-US" altLang="ar-SA" sz="3100" b="1" dirty="0">
                <a:latin typeface="AGaramond"/>
                <a:ea typeface="Tahoma" pitchFamily="34" charset="0"/>
                <a:cs typeface="Tahoma" pitchFamily="34" charset="0"/>
              </a:rPr>
              <a:t> </a:t>
            </a:r>
            <a:r>
              <a:rPr lang="en-US" altLang="ar-SA" sz="3100" dirty="0">
                <a:latin typeface="AGaramond"/>
                <a:ea typeface="Tahoma" pitchFamily="34" charset="0"/>
                <a:cs typeface="Tahoma" pitchFamily="34" charset="0"/>
              </a:rPr>
              <a:t>The program run but provides wrong output.</a:t>
            </a:r>
          </a:p>
          <a:p>
            <a:pPr marL="621855" lvl="1" algn="just">
              <a:lnSpc>
                <a:spcPct val="160000"/>
              </a:lnSpc>
              <a:buFont typeface="Wingdings 2"/>
              <a:buChar char=""/>
              <a:defRPr/>
            </a:pPr>
            <a:r>
              <a:rPr lang="en-US" altLang="ar-SA" sz="3100" b="1" dirty="0">
                <a:solidFill>
                  <a:srgbClr val="FF0000"/>
                </a:solidFill>
                <a:latin typeface="AGaramond"/>
                <a:cs typeface="Times New Roman" panose="02020603050405020304" pitchFamily="18" charset="0"/>
              </a:rPr>
              <a:t>Runtime errors:</a:t>
            </a:r>
            <a:r>
              <a:rPr lang="en-US" altLang="ar-SA" sz="3100" b="1" dirty="0">
                <a:latin typeface="AGaramond"/>
                <a:cs typeface="Times New Roman" panose="02020603050405020304" pitchFamily="18" charset="0"/>
              </a:rPr>
              <a:t> </a:t>
            </a:r>
            <a:r>
              <a:rPr lang="en-US" altLang="ar-SA" sz="3100" dirty="0">
                <a:latin typeface="AGaramond"/>
                <a:cs typeface="Times New Roman" panose="02020603050405020304" pitchFamily="18" charset="0"/>
              </a:rPr>
              <a:t>The program stop running suddenly when asking the OS executing a non accepted statement (divide by zero, etc). </a:t>
            </a:r>
          </a:p>
          <a:p>
            <a:pPr marL="621855" lvl="1" algn="just">
              <a:lnSpc>
                <a:spcPct val="160000"/>
              </a:lnSpc>
              <a:buFont typeface="Wingdings 2"/>
              <a:buChar char=""/>
              <a:defRPr/>
            </a:pPr>
            <a:r>
              <a:rPr lang="en-US" altLang="ar-SA" sz="3100" b="1" dirty="0">
                <a:solidFill>
                  <a:srgbClr val="FF0000"/>
                </a:solidFill>
                <a:latin typeface="AGaramond"/>
                <a:cs typeface="Times New Roman" panose="02020603050405020304" pitchFamily="18" charset="0"/>
              </a:rPr>
              <a:t>Compiler errors: </a:t>
            </a:r>
            <a:r>
              <a:rPr lang="en-US" sz="3100" dirty="0">
                <a:latin typeface="AGaramond"/>
              </a:rPr>
              <a:t>The compiler error message </a:t>
            </a:r>
            <a:r>
              <a:rPr lang="en-US" sz="3100" i="1" dirty="0">
                <a:latin typeface="AGaramond"/>
              </a:rPr>
              <a:t>“</a:t>
            </a:r>
            <a:r>
              <a:rPr lang="en-US" sz="3100" dirty="0">
                <a:latin typeface="AGaramond"/>
              </a:rPr>
              <a:t>Public class</a:t>
            </a:r>
            <a:r>
              <a:rPr lang="en-US" sz="3100" i="1" dirty="0">
                <a:latin typeface="AGaramond"/>
              </a:rPr>
              <a:t> </a:t>
            </a:r>
            <a:r>
              <a:rPr lang="en-US" sz="3100" dirty="0" err="1">
                <a:latin typeface="AGaramond"/>
              </a:rPr>
              <a:t>ClassName</a:t>
            </a:r>
            <a:r>
              <a:rPr lang="en-US" sz="3100" dirty="0">
                <a:latin typeface="AGaramond"/>
              </a:rPr>
              <a:t> must be defined in a file called ClassName.java</a:t>
            </a:r>
            <a:r>
              <a:rPr lang="en-US" sz="3100" i="1" dirty="0">
                <a:latin typeface="AGaramond"/>
              </a:rPr>
              <a:t>”</a:t>
            </a:r>
            <a:r>
              <a:rPr lang="en-US" sz="3100" dirty="0">
                <a:latin typeface="AGaramond"/>
              </a:rPr>
              <a:t> indicates that the file name does not exactly match the name of the public class in the file or that you typed the class name incorrectly when compiling the class.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4600" dirty="0">
                <a:solidFill>
                  <a:srgbClr val="FF0000"/>
                </a:solidFill>
                <a:latin typeface="AGaramond"/>
                <a:ea typeface="Tahoma" pitchFamily="34" charset="0"/>
                <a:cs typeface="Tahoma" pitchFamily="34" charset="0"/>
              </a:rPr>
              <a:t>Debugging: </a:t>
            </a:r>
            <a:r>
              <a:rPr lang="en-US" sz="3200" dirty="0">
                <a:latin typeface="AGaramond"/>
              </a:rPr>
              <a:t>When an error is encountered, it should be found, understood, and corrected.</a:t>
            </a:r>
          </a:p>
          <a:p>
            <a:pPr marL="393192" lvl="1" indent="0" algn="just">
              <a:lnSpc>
                <a:spcPct val="160000"/>
              </a:lnSpc>
              <a:buNone/>
              <a:defRPr/>
            </a:pPr>
            <a:endParaRPr lang="en-US" sz="3500" dirty="0">
              <a:latin typeface="AGaramond"/>
            </a:endParaRPr>
          </a:p>
          <a:p>
            <a:pPr marL="365823" algn="just">
              <a:buFont typeface="Wingdings 2"/>
              <a:buChar char=""/>
              <a:defRPr/>
            </a:pPr>
            <a:endParaRPr lang="en-US" altLang="ar-SA" sz="1900" dirty="0">
              <a:latin typeface="AGaramond"/>
              <a:ea typeface="Tahoma" pitchFamily="34" charset="0"/>
              <a:cs typeface="Tahoma" pitchFamily="34" charset="0"/>
            </a:endParaRPr>
          </a:p>
          <a:p>
            <a:pPr lvl="1" algn="just">
              <a:buFont typeface="Wingdings 2"/>
              <a:buChar char=""/>
              <a:defRPr/>
            </a:pPr>
            <a:endParaRPr lang="en-US" sz="1900" dirty="0">
              <a:latin typeface="AGaramond"/>
              <a:ea typeface="Tahoma" pitchFamily="34" charset="0"/>
              <a:cs typeface="Tahoma" pitchFamily="34" charset="0"/>
            </a:endParaRP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686800" cy="914400"/>
          </a:xfrm>
        </p:spPr>
        <p:txBody>
          <a:bodyPr vert="horz" anchor="ctr">
            <a:normAutofit fontScale="90000"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9. Program Testing and Debugging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7637"/>
            <a:ext cx="8229600" cy="4525963"/>
          </a:xfrm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US" dirty="0">
                <a:solidFill>
                  <a:srgbClr val="FF0000"/>
                </a:solidFill>
              </a:rPr>
              <a:t>What are the inputs, outputs and processing operations in the following problems: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Convert a temperature from ⁰C into ⁰F.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Find how many seconds are there in a number of minutes? hours?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Specify if a student passes a course or not.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61520" y="6429396"/>
            <a:ext cx="365760" cy="365125"/>
          </a:xfrm>
        </p:spPr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406" y="6517522"/>
            <a:ext cx="5857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W1.2 Introduction</a:t>
            </a:r>
          </a:p>
        </p:txBody>
      </p:sp>
    </p:spTree>
    <p:extLst>
      <p:ext uri="{BB962C8B-B14F-4D97-AF65-F5344CB8AC3E}">
        <p14:creationId xmlns:p14="http://schemas.microsoft.com/office/powerpoint/2010/main" val="5840355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9567802-d0c7-4aa6-bdec-3a9f53f10256"/>
  <p:tag name="ARTICULATE_SLIDE_NAV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5713</TotalTime>
  <Words>2603</Words>
  <Application>Microsoft Macintosh PowerPoint</Application>
  <PresentationFormat>On-screen Show (4:3)</PresentationFormat>
  <Paragraphs>348</Paragraphs>
  <Slides>32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32</vt:i4>
      </vt:variant>
    </vt:vector>
  </HeadingPairs>
  <TitlesOfParts>
    <vt:vector size="46" baseType="lpstr">
      <vt:lpstr>AGaramond</vt:lpstr>
      <vt:lpstr>Arial</vt:lpstr>
      <vt:lpstr>Calibri</vt:lpstr>
      <vt:lpstr>Comic Sans MS</vt:lpstr>
      <vt:lpstr>Courier New</vt:lpstr>
      <vt:lpstr>Lucida Console</vt:lpstr>
      <vt:lpstr>Lucida Sans Unicode</vt:lpstr>
      <vt:lpstr>Tahoma</vt:lpstr>
      <vt:lpstr>Times New Roman</vt:lpstr>
      <vt:lpstr>Verdana</vt:lpstr>
      <vt:lpstr>Wingdings</vt:lpstr>
      <vt:lpstr>Wingdings 2</vt:lpstr>
      <vt:lpstr>Wingdings 3</vt:lpstr>
      <vt:lpstr>Concourse</vt:lpstr>
      <vt:lpstr>Introduction</vt:lpstr>
      <vt:lpstr>Outline</vt:lpstr>
      <vt:lpstr>1. Computer Organization</vt:lpstr>
      <vt:lpstr>1. Computer Organization (Cont.)</vt:lpstr>
      <vt:lpstr>2. Machine Languages, Assembly Languages and High-Level Languages</vt:lpstr>
      <vt:lpstr>2. Machine Languages, Assembly Languages and High-Level Languages (Cont.)</vt:lpstr>
      <vt:lpstr>2. Machine Languages, Assembly Languages and High-Level Languages (Cont.)</vt:lpstr>
      <vt:lpstr>3. Program Solving Cycle</vt:lpstr>
      <vt:lpstr>3. Program Solving Cycle (cnt’d)</vt:lpstr>
      <vt:lpstr>4. Program Components</vt:lpstr>
      <vt:lpstr>Example 1 - Area and Perimeter of a Rectangle</vt:lpstr>
      <vt:lpstr>Example 2 - Area and Perimeter of a Circle </vt:lpstr>
      <vt:lpstr>Example 3 - Sum and Average of 5 Numbers</vt:lpstr>
      <vt:lpstr>5. Introduction to Java (Why Java?)</vt:lpstr>
      <vt:lpstr>5.1 History of Java </vt:lpstr>
      <vt:lpstr>5.2 Some Characteristics of Java</vt:lpstr>
      <vt:lpstr>5.3  Java programs</vt:lpstr>
      <vt:lpstr>5.4  Java Editions</vt:lpstr>
      <vt:lpstr>6.   Java and a Typical Java Development Environment</vt:lpstr>
      <vt:lpstr>PowerPoint Presentation</vt:lpstr>
      <vt:lpstr>7. Program Compilation</vt:lpstr>
      <vt:lpstr>7.1 Program Compilation (cnt’d)</vt:lpstr>
      <vt:lpstr>7.1 Java Programs Compilation(cnt’d)</vt:lpstr>
      <vt:lpstr>7.1 Java Programs Compilation</vt:lpstr>
      <vt:lpstr>7.1 Java Programs Compilation</vt:lpstr>
      <vt:lpstr>7.1 Java Programs Compilation (cnt’d)</vt:lpstr>
      <vt:lpstr>7.2 Java Virtual Machine (JVM)</vt:lpstr>
      <vt:lpstr>7.2 Java Virtual Machine (JVM) – cnt’d</vt:lpstr>
      <vt:lpstr> 8. Difference between Java and C++</vt:lpstr>
      <vt:lpstr> 8. Difference between Java and C++</vt:lpstr>
      <vt:lpstr>9. Program Testing and Debugging</vt:lpstr>
      <vt:lpstr>Self-Check Exercises</vt:lpstr>
    </vt:vector>
  </TitlesOfParts>
  <Company>CCIS-KSU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Programming-1 CSC 112</dc:title>
  <dc:creator>Staff Member</dc:creator>
  <cp:lastModifiedBy>Abdulaziz Alhomaidhi</cp:lastModifiedBy>
  <cp:revision>105</cp:revision>
  <cp:lastPrinted>1601-01-01T00:00:00Z</cp:lastPrinted>
  <dcterms:created xsi:type="dcterms:W3CDTF">2007-03-04T08:08:00Z</dcterms:created>
  <dcterms:modified xsi:type="dcterms:W3CDTF">2024-01-30T09:10:21Z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TC010689871033</vt:lpwstr>
  </property>
</Properties>
</file>