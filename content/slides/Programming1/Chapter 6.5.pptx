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3" r:id="rId6"/>
    <p:sldId id="261" r:id="rId7"/>
    <p:sldId id="259" r:id="rId8"/>
    <p:sldId id="266" r:id="rId9"/>
    <p:sldId id="260" r:id="rId10"/>
    <p:sldId id="264" r:id="rId11"/>
    <p:sldId id="265" r:id="rId12"/>
    <p:sldId id="267" r:id="rId13"/>
    <p:sldId id="27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00FF"/>
    <a:srgbClr val="FFFF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1090" y="-1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017252-8928-4DA5-AAD7-1E8708B6AC47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16827-FBE2-4334-B2B3-3E52EEBCCE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2978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81CD53B-BAA9-4115-B80F-1FF27B09E749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CEFAE8-4C6A-41D2-86B2-6345E42B41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81CD53B-BAA9-4115-B80F-1FF27B09E749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CEFAE8-4C6A-41D2-86B2-6345E42B41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81CD53B-BAA9-4115-B80F-1FF27B09E749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CEFAE8-4C6A-41D2-86B2-6345E42B41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81CD53B-BAA9-4115-B80F-1FF27B09E749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CEFAE8-4C6A-41D2-86B2-6345E42B41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81CD53B-BAA9-4115-B80F-1FF27B09E749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CEFAE8-4C6A-41D2-86B2-6345E42B41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81CD53B-BAA9-4115-B80F-1FF27B09E749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CEFAE8-4C6A-41D2-86B2-6345E42B41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81CD53B-BAA9-4115-B80F-1FF27B09E749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CEFAE8-4C6A-41D2-86B2-6345E42B41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81CD53B-BAA9-4115-B80F-1FF27B09E749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CEFAE8-4C6A-41D2-86B2-6345E42B41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81CD53B-BAA9-4115-B80F-1FF27B09E749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3CEFAE8-4C6A-41D2-86B2-6345E42B41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81CD53B-BAA9-4115-B80F-1FF27B09E749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CEFAE8-4C6A-41D2-86B2-6345E42B41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81CD53B-BAA9-4115-B80F-1FF27B09E749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3CEFAE8-4C6A-41D2-86B2-6345E42B413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81CD53B-BAA9-4115-B80F-1FF27B09E749}" type="datetimeFigureOut">
              <a:rPr lang="en-US" smtClean="0"/>
              <a:pPr/>
              <a:t>12/5/2016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3CEFAE8-4C6A-41D2-86B2-6345E42B413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/>
          </p:cNvSpPr>
          <p:nvPr>
            <p:ph type="ctrTitle"/>
          </p:nvPr>
        </p:nvSpPr>
        <p:spPr>
          <a:xfrm>
            <a:off x="1019543" y="2276872"/>
            <a:ext cx="7872937" cy="1800200"/>
          </a:xfrm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anchor="b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>
                <a:solidFill>
                  <a:srgbClr val="C00000"/>
                </a:solidFill>
              </a:rPr>
              <a:t/>
            </a:r>
            <a:br>
              <a:rPr lang="en-US" sz="5400" dirty="0">
                <a:solidFill>
                  <a:srgbClr val="C00000"/>
                </a:solidFill>
              </a:rPr>
            </a:br>
            <a:r>
              <a:rPr lang="en-US" sz="5400" dirty="0" smtClean="0">
                <a:solidFill>
                  <a:srgbClr val="C00000"/>
                </a:solidFill>
              </a:rPr>
              <a:t>USER-DEFINED METHODS</a:t>
            </a:r>
            <a:endParaRPr lang="en-US" sz="5400" dirty="0">
              <a:solidFill>
                <a:srgbClr val="C00000"/>
              </a:solidFill>
            </a:endParaRPr>
          </a:p>
        </p:txBody>
      </p:sp>
      <p:sp>
        <p:nvSpPr>
          <p:cNvPr id="5" name="PPTShape_0"/>
          <p:cNvSpPr txBox="1">
            <a:spLocks/>
          </p:cNvSpPr>
          <p:nvPr/>
        </p:nvSpPr>
        <p:spPr>
          <a:xfrm>
            <a:off x="72008" y="5949280"/>
            <a:ext cx="1869423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Tahoma" charset="0"/>
                <a:ea typeface="ＭＳ Ｐゴシック" charset="0"/>
                <a:cs typeface="Arial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latin typeface="Tahoma" charset="0"/>
                <a:ea typeface="ＭＳ Ｐゴシック" charset="0"/>
                <a:cs typeface="Arial" charset="0"/>
              </a:defRPr>
            </a:lvl5pPr>
            <a:lvl6pPr defTabSz="457200">
              <a:defRPr>
                <a:latin typeface="Tahoma" charset="0"/>
                <a:ea typeface="ＭＳ Ｐゴシック" charset="0"/>
                <a:cs typeface="Arial" charset="0"/>
              </a:defRPr>
            </a:lvl6pPr>
            <a:lvl7pPr defTabSz="457200">
              <a:defRPr>
                <a:latin typeface="Tahoma" charset="0"/>
                <a:ea typeface="ＭＳ Ｐゴシック" charset="0"/>
                <a:cs typeface="Arial" charset="0"/>
              </a:defRPr>
            </a:lvl7pPr>
            <a:lvl8pPr defTabSz="457200">
              <a:defRPr>
                <a:latin typeface="Tahoma" charset="0"/>
                <a:ea typeface="ＭＳ Ｐゴシック" charset="0"/>
                <a:cs typeface="Arial" charset="0"/>
              </a:defRPr>
            </a:lvl8pPr>
            <a:lvl9pPr defTabSz="457200">
              <a:defRPr>
                <a:latin typeface="Tahoma" charset="0"/>
                <a:ea typeface="ＭＳ Ｐゴシック" charset="0"/>
                <a:cs typeface="Arial" charset="0"/>
              </a:defRPr>
            </a:lvl9pPr>
          </a:lstStyle>
          <a:p>
            <a:r>
              <a:rPr lang="en-US" dirty="0" smtClean="0"/>
              <a:t>CS 1301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131840" y="3933056"/>
            <a:ext cx="5760640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4000" dirty="0" smtClean="0">
                <a:solidFill>
                  <a:srgbClr val="00B0F0"/>
                </a:solidFill>
              </a:rPr>
              <a:t>Overloading</a:t>
            </a:r>
            <a:endParaRPr lang="en-US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6066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12648" y="1052736"/>
            <a:ext cx="8153400" cy="5616624"/>
          </a:xfrm>
          <a:prstGeom prst="foldedCorner">
            <a:avLst>
              <a:gd name="adj" fmla="val 363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1. Definitions: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	1.1 Method overloading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1.2 Method signature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0000FF"/>
                </a:solidFill>
                <a:latin typeface="Tahoma" charset="0"/>
                <a:cs typeface="Arial" charset="0"/>
              </a:rPr>
              <a:t>	</a:t>
            </a:r>
            <a:r>
              <a:rPr lang="en-US" sz="2000" dirty="0" smtClean="0">
                <a:solidFill>
                  <a:srgbClr val="0000FF"/>
                </a:solidFill>
                <a:latin typeface="Tahoma" charset="0"/>
                <a:cs typeface="Arial" charset="0"/>
              </a:rPr>
              <a:t>1.3 Different formal parameter lists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2. Overloading Rules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>
                <a:latin typeface="Tahoma" charset="0"/>
                <a:cs typeface="Arial" charset="0"/>
              </a:rPr>
              <a:t>3</a:t>
            </a:r>
            <a:r>
              <a:rPr lang="en-US" sz="2000" dirty="0" smtClean="0">
                <a:latin typeface="Tahoma" charset="0"/>
                <a:cs typeface="Arial" charset="0"/>
              </a:rPr>
              <a:t>. Counter-examples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4. Overloading flowchart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5. Examples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sz="2000" dirty="0" smtClean="0">
                <a:latin typeface="Tahoma" charset="0"/>
                <a:cs typeface="Arial" charset="0"/>
              </a:rPr>
              <a:t>6. Variable length parameters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  <a:p>
            <a:pPr marL="0" indent="0">
              <a:lnSpc>
                <a:spcPct val="90000"/>
              </a:lnSpc>
              <a:spcBef>
                <a:spcPts val="1200"/>
              </a:spcBef>
              <a:buNone/>
            </a:pPr>
            <a:endParaRPr lang="en-US" sz="2000" dirty="0" smtClean="0">
              <a:latin typeface="Tahoma" charset="0"/>
              <a:cs typeface="Arial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77240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Outline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8617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DEFINITION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51520" y="126876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 Overloading:</a:t>
            </a:r>
          </a:p>
          <a:p>
            <a:pPr lvl="1" algn="just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Defining several methods within a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the same name.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520" y="206084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520" y="2413337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void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void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x,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1.1 METHOD OVERLOADING</a:t>
            </a:r>
            <a:endParaRPr lang="en-US" b="1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3859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6" grpId="0"/>
      <p:bldP spid="18" grpId="0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DEFINITION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51520" y="126876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 Signature:</a:t>
            </a:r>
          </a:p>
          <a:p>
            <a:pPr lvl="1" algn="just">
              <a:buClr>
                <a:srgbClr val="FF0000"/>
              </a:buClr>
            </a:pP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signature of a method consists of the following: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 name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Formal parameter list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1520" y="342900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520" y="3781489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void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void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x,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1.2 METHOD SIGNATURE</a:t>
            </a:r>
            <a:endParaRPr lang="en-US" b="1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1520" y="2708920"/>
            <a:ext cx="8640960" cy="400110"/>
          </a:xfrm>
          <a:prstGeom prst="rect">
            <a:avLst/>
          </a:prstGeom>
          <a:solidFill>
            <a:srgbClr val="FFFFCC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that the method type is not part of its signature.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1761" y="3829110"/>
            <a:ext cx="3600400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411760" y="4149080"/>
            <a:ext cx="3600400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411760" y="4477182"/>
            <a:ext cx="3600400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9976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6" grpId="0"/>
      <p:bldP spid="18" grpId="0"/>
      <p:bldP spid="21" grpId="0" animBg="1"/>
      <p:bldP spid="12" grpId="0" animBg="1"/>
      <p:bldP spid="13" grpId="0" animBg="1"/>
      <p:bldP spid="15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1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DEFINITION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51520" y="285293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 (1):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520" y="314096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method1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void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method2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1.3 DIFFERENT FORMAL PARAMETER LIST</a:t>
            </a:r>
            <a:endParaRPr lang="en-US" b="1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1520" y="1268760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 methods are said to have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formal parameter lists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both methods have: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different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formal parameters, and/or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different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type (not name)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the listed formal parameters in at least one position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1520" y="378904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different names and different formal parameter lists (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signatures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because they have different number of parameters.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5856" y="3181038"/>
            <a:ext cx="1008112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251520" y="450912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 (2):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520" y="47971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method1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x,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void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method2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91880" y="3501008"/>
            <a:ext cx="1872208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251520" y="5385410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Have different names and different formal parameter lists (</a:t>
            </a:r>
            <a:r>
              <a:rPr lang="en-US" sz="20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signatures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because the order of the data types is not the same in both methods.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5856" y="4869160"/>
            <a:ext cx="1872208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419872" y="5157192"/>
            <a:ext cx="1872208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068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1" grpId="0" animBg="1"/>
      <p:bldP spid="14" grpId="0"/>
      <p:bldP spid="24" grpId="0"/>
      <p:bldP spid="25" grpId="0" animBg="1"/>
      <p:bldP spid="26" grpId="0"/>
      <p:bldP spid="27" grpId="0"/>
      <p:bldP spid="28" grpId="0" animBg="1"/>
      <p:bldP spid="29" grpId="0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2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OVERLOADING RULES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50441" y="764704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 (or more) methods are said to overload each other if: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have the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same name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have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formal parameter lists</a:t>
            </a:r>
            <a:endParaRPr lang="en-US" sz="2000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1844824"/>
            <a:ext cx="8640960" cy="707886"/>
          </a:xfrm>
          <a:prstGeom prst="rect">
            <a:avLst/>
          </a:prstGeom>
          <a:solidFill>
            <a:schemeClr val="bg2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expression “overload” comes from that we overload the same method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multiple parameter lists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520" y="256490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 (1):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methods are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correctly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overloaded because they have the same name and different order of data types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520" y="322517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void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void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x,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520" y="3933056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 (2):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methods are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correctly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overloaded because they have the same name and different number of parameters: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520" y="4573577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void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x,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char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6093296"/>
            <a:ext cx="8640960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that the method type is not one of the overloading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520" y="5589240"/>
            <a:ext cx="8640960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programmer defines (writes the statements of)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overloaded method.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11760" y="3253046"/>
            <a:ext cx="3312368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411760" y="3613086"/>
            <a:ext cx="3312368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411760" y="4621198"/>
            <a:ext cx="3312368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411760" y="4981238"/>
            <a:ext cx="2304256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5631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2" grpId="0"/>
      <p:bldP spid="14" grpId="0"/>
      <p:bldP spid="15" grpId="0"/>
      <p:bldP spid="18" grpId="0"/>
      <p:bldP spid="21" grpId="0" animBg="1"/>
      <p:bldP spid="22" grpId="0" animBg="1"/>
      <p:bldP spid="16" grpId="0" animBg="1"/>
      <p:bldP spid="19" grpId="0" animBg="1"/>
      <p:bldP spid="20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3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COUNTER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51520" y="76470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methods are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incorrectly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overloaded; the compiler generates an error: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520" y="226467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void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520" y="364502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void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num1,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num2)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1520" y="1412776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Counter-example (1):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methods are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incorrectly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overloaded because they have the same method name and same formal parameter lists: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520" y="299695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Counter-example (2):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Changing the names of the formal parameters, does not allow overloading of the previous counter-example: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520" y="508518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static void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en-US" sz="2000" dirty="0" err="1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methodABC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num1,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num2)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1520" y="4437112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Counter-example (3):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Adding the modifier 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static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does not allow overloading of the previous example: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1760" y="2324492"/>
            <a:ext cx="3312368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411760" y="2684532"/>
            <a:ext cx="3312368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y 15"/>
          <p:cNvSpPr/>
          <p:nvPr/>
        </p:nvSpPr>
        <p:spPr>
          <a:xfrm>
            <a:off x="5652120" y="2204306"/>
            <a:ext cx="1152128" cy="882105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339752" y="3735007"/>
            <a:ext cx="3312368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339752" y="4064878"/>
            <a:ext cx="4392488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ultiply 19"/>
          <p:cNvSpPr/>
          <p:nvPr/>
        </p:nvSpPr>
        <p:spPr>
          <a:xfrm>
            <a:off x="6732240" y="3614821"/>
            <a:ext cx="1152128" cy="882105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059832" y="5157192"/>
            <a:ext cx="3312368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339752" y="5499257"/>
            <a:ext cx="4392488" cy="31997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ultiply 27"/>
          <p:cNvSpPr/>
          <p:nvPr/>
        </p:nvSpPr>
        <p:spPr>
          <a:xfrm>
            <a:off x="6660232" y="5054981"/>
            <a:ext cx="1152128" cy="882105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251520" y="5949280"/>
            <a:ext cx="8640960" cy="707886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that the method type and modifiers are not part of the overloading rules</a:t>
            </a:r>
          </a:p>
        </p:txBody>
      </p:sp>
    </p:spTree>
    <p:extLst>
      <p:ext uri="{BB962C8B-B14F-4D97-AF65-F5344CB8AC3E}">
        <p14:creationId xmlns="" xmlns:p14="http://schemas.microsoft.com/office/powerpoint/2010/main" val="134519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1" grpId="0"/>
      <p:bldP spid="22" grpId="0"/>
      <p:bldP spid="23" grpId="0"/>
      <p:bldP spid="24" grpId="0"/>
      <p:bldP spid="25" grpId="0"/>
      <p:bldP spid="12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25A1C68-F048-4C66-8544-2D3BD35A587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928992" cy="774576"/>
          </a:xfr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4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COMPILER OVERLOADING FLOWCHART</a:t>
            </a:r>
            <a:endParaRPr lang="en-US" sz="28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12474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03548" y="1484784"/>
            <a:ext cx="2880320" cy="360040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Get method name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5" name="Flowchart: Decision 4"/>
          <p:cNvSpPr/>
          <p:nvPr/>
        </p:nvSpPr>
        <p:spPr>
          <a:xfrm>
            <a:off x="467544" y="2204864"/>
            <a:ext cx="2952328" cy="1514094"/>
          </a:xfrm>
          <a:prstGeom prst="flowChartDecision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Another method with the same?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588224" y="3573016"/>
            <a:ext cx="2165755" cy="643351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Match formal parameter list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1943069" y="1154571"/>
            <a:ext cx="1279" cy="330213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1943708" y="1844824"/>
            <a:ext cx="0" cy="36004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1943069" y="3718958"/>
            <a:ext cx="639" cy="2736304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5" idx="3"/>
          </p:cNvCxnSpPr>
          <p:nvPr/>
        </p:nvCxnSpPr>
        <p:spPr>
          <a:xfrm>
            <a:off x="3419872" y="2961911"/>
            <a:ext cx="432048" cy="1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3" idx="3"/>
          </p:cNvCxnSpPr>
          <p:nvPr/>
        </p:nvCxnSpPr>
        <p:spPr>
          <a:xfrm flipV="1">
            <a:off x="6696237" y="2960948"/>
            <a:ext cx="971523" cy="963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>
            <a:off x="7667760" y="2960948"/>
            <a:ext cx="6682" cy="626200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7671101" y="5517232"/>
            <a:ext cx="0" cy="64807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203848" y="2492896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True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259632" y="3666510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False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33" name="Flowchart: Decision 32"/>
          <p:cNvSpPr/>
          <p:nvPr/>
        </p:nvSpPr>
        <p:spPr>
          <a:xfrm>
            <a:off x="3887925" y="2204864"/>
            <a:ext cx="2808312" cy="1514094"/>
          </a:xfrm>
          <a:prstGeom prst="flowChartDecision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Different formal parameter lists?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04248" y="2658398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B050"/>
                </a:solidFill>
              </a:rPr>
              <a:t>True</a:t>
            </a:r>
            <a:endParaRPr lang="en-US" sz="1600" b="1" dirty="0">
              <a:solidFill>
                <a:srgbClr val="00B050"/>
              </a:solidFill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 flipH="1">
            <a:off x="7669139" y="4242960"/>
            <a:ext cx="3924" cy="842224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6588224" y="5085184"/>
            <a:ext cx="2165755" cy="427327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Overload</a:t>
            </a:r>
            <a:endParaRPr lang="en-US" dirty="0">
              <a:solidFill>
                <a:srgbClr val="0000FF"/>
              </a:solidFill>
            </a:endParaRPr>
          </a:p>
        </p:txBody>
      </p:sp>
      <p:cxnSp>
        <p:nvCxnSpPr>
          <p:cNvPr id="52" name="Straight Arrow Connector 51"/>
          <p:cNvCxnSpPr/>
          <p:nvPr/>
        </p:nvCxnSpPr>
        <p:spPr>
          <a:xfrm flipV="1">
            <a:off x="1964543" y="6451410"/>
            <a:ext cx="4623681" cy="3852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292081" y="3718958"/>
            <a:ext cx="0" cy="578859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572000" y="3666510"/>
            <a:ext cx="72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00"/>
                </a:solidFill>
              </a:rPr>
              <a:t>False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707905" y="4297817"/>
            <a:ext cx="3168352" cy="643351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</a:rPr>
              <a:t>Compiler generates a syntax error 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588224" y="6165304"/>
            <a:ext cx="2165755" cy="576064"/>
          </a:xfrm>
          <a:prstGeom prst="rect">
            <a:avLst/>
          </a:prstGeom>
          <a:solidFill>
            <a:srgbClr val="00B05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Continue Compilation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209204" y="5593961"/>
            <a:ext cx="2165755" cy="427327"/>
          </a:xfrm>
          <a:prstGeom prst="rect">
            <a:avLst/>
          </a:prstGeom>
          <a:solidFill>
            <a:srgbClr val="FF000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Stop compilation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66" name="Straight Arrow Connector 65"/>
          <p:cNvCxnSpPr>
            <a:endCxn id="65" idx="0"/>
          </p:cNvCxnSpPr>
          <p:nvPr/>
        </p:nvCxnSpPr>
        <p:spPr>
          <a:xfrm>
            <a:off x="5292081" y="4941168"/>
            <a:ext cx="1" cy="652793"/>
          </a:xfrm>
          <a:prstGeom prst="straightConnector1">
            <a:avLst/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1763688" y="908720"/>
            <a:ext cx="360040" cy="288032"/>
          </a:xfrm>
          <a:prstGeom prst="ellipse">
            <a:avLst/>
          </a:prstGeom>
          <a:solidFill>
            <a:srgbClr val="00B0F0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="" xmlns:p14="http://schemas.microsoft.com/office/powerpoint/2010/main" val="2483498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6" presetClass="entr" presetSubtype="37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7" grpId="0" animBg="1"/>
      <p:bldP spid="55" grpId="0"/>
      <p:bldP spid="58" grpId="0"/>
      <p:bldP spid="33" grpId="0" animBg="1"/>
      <p:bldP spid="37" grpId="0"/>
      <p:bldP spid="47" grpId="0" animBg="1"/>
      <p:bldP spid="56" grpId="0"/>
      <p:bldP spid="57" grpId="0" animBg="1"/>
      <p:bldP spid="63" grpId="0" animBg="1"/>
      <p:bldP spid="63" grpId="1" animBg="1"/>
      <p:bldP spid="65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5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51520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Recall the pre-defined method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520" y="1724615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fact, it is written four times with different formal parameter lists: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520" y="2060848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static 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err="1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static long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static double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double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x)</a:t>
            </a:r>
          </a:p>
          <a:p>
            <a:pPr marL="800100" lvl="1" indent="-342900" algn="just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static float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dirty="0" smtClean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float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x)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3573016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other words,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overloaded.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r>
              <a:rPr lang="en-US" b="1" dirty="0" smtClean="0"/>
              <a:t>.1        </a:t>
            </a:r>
            <a:r>
              <a:rPr lang="en-US" b="1" dirty="0" err="1" smtClean="0"/>
              <a:t>int</a:t>
            </a:r>
            <a:r>
              <a:rPr lang="en-US" b="1" dirty="0" smtClean="0"/>
              <a:t>/long/double/float    abs(</a:t>
            </a:r>
            <a:r>
              <a:rPr lang="en-US" b="1" dirty="0" err="1" smtClean="0"/>
              <a:t>int</a:t>
            </a:r>
            <a:r>
              <a:rPr lang="en-US" b="1" dirty="0" smtClean="0"/>
              <a:t>/long/double/float    x)</a:t>
            </a:r>
            <a:endParaRPr lang="en-US" b="1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179513" y="4005064"/>
            <a:ext cx="8784976" cy="1200329"/>
            <a:chOff x="323529" y="1236822"/>
            <a:chExt cx="7848872" cy="1128695"/>
          </a:xfrm>
        </p:grpSpPr>
        <p:sp>
          <p:nvSpPr>
            <p:cNvPr id="22" name="TextBox 21"/>
            <p:cNvSpPr txBox="1"/>
            <p:nvPr/>
          </p:nvSpPr>
          <p:spPr>
            <a:xfrm>
              <a:off x="788528" y="1236822"/>
              <a:ext cx="7383873" cy="112869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num1 = -10;	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double</a:t>
              </a:r>
              <a:r>
                <a:rPr lang="en-US" dirty="0" smtClean="0">
                  <a:solidFill>
                    <a:srgbClr val="0000FF"/>
                  </a:solidFill>
                </a:rPr>
                <a:t> num2 = 50.23; </a:t>
              </a:r>
              <a:endParaRPr lang="en-US" dirty="0" smtClean="0">
                <a:solidFill>
                  <a:srgbClr val="00B050"/>
                </a:solidFill>
              </a:endParaRPr>
            </a:p>
            <a:p>
              <a:r>
                <a:rPr lang="en-US" dirty="0" smtClean="0">
                  <a:solidFill>
                    <a:srgbClr val="0000FF"/>
                  </a:solidFill>
                </a:rPr>
                <a:t>num1 = </a:t>
              </a:r>
              <a:r>
                <a:rPr lang="en-US" dirty="0" smtClean="0">
                  <a:solidFill>
                    <a:srgbClr val="00B050"/>
                  </a:solidFill>
                </a:rPr>
                <a:t>abs</a:t>
              </a:r>
              <a:r>
                <a:rPr lang="en-US" dirty="0" smtClean="0">
                  <a:solidFill>
                    <a:srgbClr val="0000FF"/>
                  </a:solidFill>
                </a:rPr>
                <a:t>(num1);  </a:t>
              </a:r>
              <a:r>
                <a:rPr lang="en-US" dirty="0" smtClean="0">
                  <a:solidFill>
                    <a:srgbClr val="00B050"/>
                  </a:solidFill>
                </a:rPr>
                <a:t>//The first method is called (</a:t>
              </a:r>
              <a:r>
                <a:rPr lang="en-US" dirty="0" err="1" smtClean="0">
                  <a:solidFill>
                    <a:srgbClr val="00B050"/>
                  </a:solidFill>
                </a:rPr>
                <a:t>int</a:t>
              </a:r>
              <a:r>
                <a:rPr lang="en-US" dirty="0" smtClean="0">
                  <a:solidFill>
                    <a:srgbClr val="00B050"/>
                  </a:solidFill>
                </a:rPr>
                <a:t>)</a:t>
              </a:r>
            </a:p>
            <a:p>
              <a:r>
                <a:rPr lang="en-US" dirty="0" smtClean="0">
                  <a:solidFill>
                    <a:srgbClr val="0000FF"/>
                  </a:solidFill>
                </a:rPr>
                <a:t>num2 = </a:t>
              </a:r>
              <a:r>
                <a:rPr lang="en-US" dirty="0" smtClean="0">
                  <a:solidFill>
                    <a:srgbClr val="00B050"/>
                  </a:solidFill>
                </a:rPr>
                <a:t>abs</a:t>
              </a:r>
              <a:r>
                <a:rPr lang="en-US" dirty="0" smtClean="0">
                  <a:solidFill>
                    <a:srgbClr val="0000FF"/>
                  </a:solidFill>
                </a:rPr>
                <a:t>(num2);  </a:t>
              </a:r>
              <a:r>
                <a:rPr lang="en-US" dirty="0" smtClean="0">
                  <a:solidFill>
                    <a:srgbClr val="00B050"/>
                  </a:solidFill>
                </a:rPr>
                <a:t>//The third method is called (double)</a:t>
              </a:r>
              <a:endParaRPr lang="en-US" dirty="0" smtClean="0">
                <a:solidFill>
                  <a:srgbClr val="0000FF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3529" y="1236822"/>
              <a:ext cx="386010" cy="1128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251520" y="5877272"/>
            <a:ext cx="8640960" cy="707886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>
              <a:buClr>
                <a:srgbClr val="FF0000"/>
              </a:buClr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a method name is overloaded, then the formal parameter list determines which method to execute when called.</a:t>
            </a:r>
          </a:p>
        </p:txBody>
      </p:sp>
    </p:spTree>
    <p:extLst>
      <p:ext uri="{BB962C8B-B14F-4D97-AF65-F5344CB8AC3E}">
        <p14:creationId xmlns="" xmlns:p14="http://schemas.microsoft.com/office/powerpoint/2010/main" val="411807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0" grpId="0"/>
      <p:bldP spid="12" grpId="0"/>
      <p:bldP spid="13" grpId="0"/>
      <p:bldP spid="15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5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51520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following example determines the larger of two parameters.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520" y="1588730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method </a:t>
            </a:r>
            <a:r>
              <a:rPr lang="en-US" sz="2000" dirty="0" smtClean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larger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overloaded with different parameter lists.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r>
              <a:rPr lang="en-US" b="1" dirty="0" smtClean="0"/>
              <a:t>.2 EXAMPLE 2 (1)</a:t>
            </a:r>
            <a:endParaRPr lang="en-US" b="1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179513" y="1988840"/>
            <a:ext cx="8784976" cy="4524316"/>
            <a:chOff x="323529" y="1236822"/>
            <a:chExt cx="7848872" cy="2402969"/>
          </a:xfrm>
        </p:grpSpPr>
        <p:sp>
          <p:nvSpPr>
            <p:cNvPr id="20" name="TextBox 19"/>
            <p:cNvSpPr txBox="1"/>
            <p:nvPr/>
          </p:nvSpPr>
          <p:spPr>
            <a:xfrm>
              <a:off x="788528" y="1236822"/>
              <a:ext cx="7383873" cy="240296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public class </a:t>
              </a:r>
              <a:r>
                <a:rPr lang="en-US" dirty="0" smtClean="0">
                  <a:solidFill>
                    <a:srgbClr val="0000FF"/>
                  </a:solidFill>
                </a:rPr>
                <a:t>overloading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{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    public static void main </a:t>
              </a:r>
              <a:r>
                <a:rPr lang="en-US" dirty="0" smtClean="0"/>
                <a:t>(</a:t>
              </a:r>
              <a:r>
                <a:rPr lang="en-US" dirty="0" smtClean="0">
                  <a:solidFill>
                    <a:srgbClr val="00B0F0"/>
                  </a:solidFill>
                </a:rPr>
                <a:t>String[] </a:t>
              </a:r>
              <a:r>
                <a:rPr lang="en-US" dirty="0" err="1" smtClean="0">
                  <a:solidFill>
                    <a:srgbClr val="00B0F0"/>
                  </a:solidFill>
                </a:rPr>
                <a:t>args</a:t>
              </a:r>
              <a:r>
                <a:rPr lang="en-US" dirty="0" smtClean="0"/>
                <a:t>)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   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    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resultInt2</a:t>
              </a:r>
              <a:r>
                <a:rPr lang="en-US" dirty="0" smtClean="0"/>
                <a:t>,</a:t>
              </a:r>
              <a:r>
                <a:rPr lang="en-US" dirty="0" smtClean="0">
                  <a:solidFill>
                    <a:srgbClr val="0000FF"/>
                  </a:solidFill>
                </a:rPr>
                <a:t> resultInt3</a:t>
              </a:r>
              <a:r>
                <a:rPr lang="en-US" dirty="0" smtClean="0"/>
                <a:t>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     char </a:t>
              </a:r>
              <a:r>
                <a:rPr lang="en-US" dirty="0" err="1" smtClean="0">
                  <a:solidFill>
                    <a:srgbClr val="0000FF"/>
                  </a:solidFill>
                </a:rPr>
                <a:t>resultChar</a:t>
              </a:r>
              <a:r>
                <a:rPr lang="en-US" dirty="0" smtClean="0"/>
                <a:t>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     double </a:t>
              </a:r>
              <a:r>
                <a:rPr lang="en-US" dirty="0" err="1" smtClean="0">
                  <a:solidFill>
                    <a:srgbClr val="0000FF"/>
                  </a:solidFill>
                </a:rPr>
                <a:t>resultDouble</a:t>
              </a:r>
              <a:r>
                <a:rPr lang="en-US" dirty="0" smtClean="0"/>
                <a:t>;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         </a:t>
              </a:r>
              <a:r>
                <a:rPr lang="en-US" dirty="0" smtClean="0">
                  <a:solidFill>
                    <a:srgbClr val="0000FF"/>
                  </a:solidFill>
                </a:rPr>
                <a:t>resultInt2 </a:t>
              </a:r>
              <a:r>
                <a:rPr lang="en-US" dirty="0" smtClean="0"/>
                <a:t>=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larger </a:t>
              </a:r>
              <a:r>
                <a:rPr lang="en-US" dirty="0" smtClean="0"/>
                <a:t>(5, 9);  </a:t>
              </a:r>
              <a:r>
                <a:rPr lang="en-US" dirty="0" smtClean="0">
                  <a:solidFill>
                    <a:srgbClr val="00B050"/>
                  </a:solidFill>
                </a:rPr>
                <a:t>// calls method in line 17</a:t>
              </a:r>
            </a:p>
            <a:p>
              <a:r>
                <a:rPr lang="en-US" dirty="0" smtClean="0">
                  <a:solidFill>
                    <a:srgbClr val="00B050"/>
                  </a:solidFill>
                </a:rPr>
                <a:t>        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resultInt3 </a:t>
              </a:r>
              <a:r>
                <a:rPr lang="en-US" dirty="0"/>
                <a:t>=</a:t>
              </a:r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>
                  <a:solidFill>
                    <a:srgbClr val="0000FF"/>
                  </a:solidFill>
                </a:rPr>
                <a:t>larger </a:t>
              </a:r>
              <a:r>
                <a:rPr lang="en-US" dirty="0" smtClean="0"/>
                <a:t>(40, -20, 3);  </a:t>
              </a:r>
              <a:r>
                <a:rPr lang="en-US" dirty="0">
                  <a:solidFill>
                    <a:srgbClr val="00B050"/>
                  </a:solidFill>
                </a:rPr>
                <a:t>// calls method in line </a:t>
              </a:r>
              <a:r>
                <a:rPr lang="en-US" dirty="0" smtClean="0">
                  <a:solidFill>
                    <a:srgbClr val="00B050"/>
                  </a:solidFill>
                </a:rPr>
                <a:t>35        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     </a:t>
              </a:r>
              <a:r>
                <a:rPr lang="en-US" dirty="0" err="1" smtClean="0">
                  <a:solidFill>
                    <a:srgbClr val="0000FF"/>
                  </a:solidFill>
                </a:rPr>
                <a:t>resultChar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smtClean="0"/>
                <a:t>= </a:t>
              </a:r>
              <a:r>
                <a:rPr lang="en-US" dirty="0" smtClean="0">
                  <a:solidFill>
                    <a:srgbClr val="0000FF"/>
                  </a:solidFill>
                </a:rPr>
                <a:t>larger </a:t>
              </a:r>
              <a:r>
                <a:rPr lang="en-US" dirty="0" smtClean="0"/>
                <a:t>(‘A’, ‘Z’); </a:t>
              </a:r>
              <a:r>
                <a:rPr lang="en-US" dirty="0" smtClean="0">
                  <a:solidFill>
                    <a:srgbClr val="00B050"/>
                  </a:solidFill>
                </a:rPr>
                <a:t>// calls method in line 23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     </a:t>
              </a:r>
              <a:r>
                <a:rPr lang="en-US" dirty="0" err="1" smtClean="0">
                  <a:solidFill>
                    <a:srgbClr val="0000FF"/>
                  </a:solidFill>
                </a:rPr>
                <a:t>resultDouble</a:t>
              </a:r>
              <a:r>
                <a:rPr lang="en-US" dirty="0" smtClean="0">
                  <a:solidFill>
                    <a:srgbClr val="0000FF"/>
                  </a:solidFill>
                </a:rPr>
                <a:t> </a:t>
              </a:r>
              <a:r>
                <a:rPr lang="en-US" dirty="0" smtClean="0"/>
                <a:t>= </a:t>
              </a:r>
              <a:r>
                <a:rPr lang="en-US" dirty="0" smtClean="0">
                  <a:solidFill>
                    <a:srgbClr val="0000FF"/>
                  </a:solidFill>
                </a:rPr>
                <a:t>larger </a:t>
              </a:r>
              <a:r>
                <a:rPr lang="en-US" dirty="0" smtClean="0"/>
                <a:t>(55.5, 30.2); </a:t>
              </a:r>
              <a:r>
                <a:rPr lang="en-US" dirty="0" smtClean="0">
                  <a:solidFill>
                    <a:srgbClr val="00B050"/>
                  </a:solidFill>
                </a:rPr>
                <a:t>//calls method in line 29</a:t>
              </a:r>
            </a:p>
            <a:p>
              <a:r>
                <a:rPr lang="en-US" dirty="0" smtClean="0"/>
                <a:t>         </a:t>
              </a:r>
              <a:r>
                <a:rPr lang="en-US" dirty="0" err="1" smtClean="0"/>
                <a:t>System.out.printf</a:t>
              </a:r>
              <a:r>
                <a:rPr lang="en-US" dirty="0" smtClean="0"/>
                <a:t> (“resultInt2 = %</a:t>
              </a:r>
              <a:r>
                <a:rPr lang="en-US" dirty="0" err="1" smtClean="0"/>
                <a:t>d%n</a:t>
              </a:r>
              <a:r>
                <a:rPr lang="en-US" dirty="0" smtClean="0"/>
                <a:t>”, </a:t>
              </a:r>
              <a:r>
                <a:rPr lang="en-US" dirty="0" smtClean="0">
                  <a:solidFill>
                    <a:srgbClr val="0000FF"/>
                  </a:solidFill>
                </a:rPr>
                <a:t>resultInt2</a:t>
              </a:r>
              <a:r>
                <a:rPr lang="en-US" dirty="0" smtClean="0"/>
                <a:t>);</a:t>
              </a:r>
            </a:p>
            <a:p>
              <a:r>
                <a:rPr lang="en-US" dirty="0" smtClean="0"/>
                <a:t>         </a:t>
              </a:r>
              <a:r>
                <a:rPr lang="en-US" dirty="0" err="1"/>
                <a:t>System.out.printf</a:t>
              </a:r>
              <a:r>
                <a:rPr lang="en-US" dirty="0"/>
                <a:t> (“</a:t>
              </a:r>
              <a:r>
                <a:rPr lang="en-US" dirty="0" smtClean="0"/>
                <a:t>resultInt3 </a:t>
              </a:r>
              <a:r>
                <a:rPr lang="en-US" dirty="0"/>
                <a:t>= %</a:t>
              </a:r>
              <a:r>
                <a:rPr lang="en-US" dirty="0" err="1"/>
                <a:t>d%n</a:t>
              </a:r>
              <a:r>
                <a:rPr lang="en-US" dirty="0"/>
                <a:t>”, </a:t>
              </a:r>
              <a:r>
                <a:rPr lang="en-US" dirty="0" smtClean="0">
                  <a:solidFill>
                    <a:srgbClr val="0000FF"/>
                  </a:solidFill>
                </a:rPr>
                <a:t>resultInt3</a:t>
              </a:r>
              <a:r>
                <a:rPr lang="en-US" dirty="0" smtClean="0"/>
                <a:t>);</a:t>
              </a:r>
              <a:endParaRPr lang="en-US" dirty="0"/>
            </a:p>
            <a:p>
              <a:r>
                <a:rPr lang="en-US" dirty="0" smtClean="0"/>
                <a:t>         </a:t>
              </a:r>
              <a:r>
                <a:rPr lang="en-US" dirty="0" err="1" smtClean="0"/>
                <a:t>System.out.printf</a:t>
              </a:r>
              <a:r>
                <a:rPr lang="en-US" dirty="0" smtClean="0"/>
                <a:t> (“</a:t>
              </a:r>
              <a:r>
                <a:rPr lang="en-US" dirty="0" err="1" smtClean="0"/>
                <a:t>resultChar</a:t>
              </a:r>
              <a:r>
                <a:rPr lang="en-US" dirty="0" smtClean="0"/>
                <a:t> = %</a:t>
              </a:r>
              <a:r>
                <a:rPr lang="en-US" dirty="0" err="1" smtClean="0"/>
                <a:t>c%n</a:t>
              </a:r>
              <a:r>
                <a:rPr lang="en-US" dirty="0" smtClean="0"/>
                <a:t>”, </a:t>
              </a:r>
              <a:r>
                <a:rPr lang="en-US" dirty="0" err="1" smtClean="0">
                  <a:solidFill>
                    <a:srgbClr val="0000FF"/>
                  </a:solidFill>
                </a:rPr>
                <a:t>resultChar</a:t>
              </a:r>
              <a:r>
                <a:rPr lang="en-US" dirty="0" smtClean="0"/>
                <a:t>);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     </a:t>
              </a:r>
              <a:r>
                <a:rPr lang="en-US" dirty="0" err="1" smtClean="0"/>
                <a:t>System.out.printf</a:t>
              </a:r>
              <a:r>
                <a:rPr lang="en-US" dirty="0" smtClean="0"/>
                <a:t> (“</a:t>
              </a:r>
              <a:r>
                <a:rPr lang="en-US" dirty="0" err="1" smtClean="0"/>
                <a:t>resultDouble</a:t>
              </a:r>
              <a:r>
                <a:rPr lang="en-US" dirty="0" smtClean="0"/>
                <a:t> = %</a:t>
              </a:r>
              <a:r>
                <a:rPr lang="en-US" dirty="0" err="1" smtClean="0"/>
                <a:t>f%n</a:t>
              </a:r>
              <a:r>
                <a:rPr lang="en-US" dirty="0" smtClean="0"/>
                <a:t>”, </a:t>
              </a:r>
              <a:r>
                <a:rPr lang="en-US" dirty="0" err="1" smtClean="0">
                  <a:solidFill>
                    <a:srgbClr val="0000FF"/>
                  </a:solidFill>
                </a:rPr>
                <a:t>resultDouble</a:t>
              </a:r>
              <a:r>
                <a:rPr lang="en-US" dirty="0" smtClean="0"/>
                <a:t>);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   } </a:t>
              </a:r>
              <a:r>
                <a:rPr lang="en-US" dirty="0" smtClean="0">
                  <a:solidFill>
                    <a:srgbClr val="00B050"/>
                  </a:solidFill>
                </a:rPr>
                <a:t>//end main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3529" y="1236822"/>
              <a:ext cx="464999" cy="2402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8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9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10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16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683568" y="4221088"/>
            <a:ext cx="8280919" cy="22618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83568" y="4509120"/>
            <a:ext cx="8280919" cy="22618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83568" y="4786992"/>
            <a:ext cx="8280919" cy="22618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83568" y="3933056"/>
            <a:ext cx="8280919" cy="226184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1036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0" grpId="0"/>
      <p:bldP spid="15" grpId="0" animBg="1"/>
      <p:bldP spid="29" grpId="0" animBg="1"/>
      <p:bldP spid="30" grpId="0" animBg="1"/>
      <p:bldP spid="31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5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r>
              <a:rPr lang="en-US" b="1" dirty="0" smtClean="0"/>
              <a:t>.2 EXAMPLE 2 (2)</a:t>
            </a:r>
            <a:endParaRPr lang="en-US" b="1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179513" y="1268760"/>
            <a:ext cx="8784976" cy="5078312"/>
            <a:chOff x="323529" y="1236822"/>
            <a:chExt cx="7848872" cy="2697209"/>
          </a:xfrm>
        </p:grpSpPr>
        <p:sp>
          <p:nvSpPr>
            <p:cNvPr id="20" name="TextBox 19"/>
            <p:cNvSpPr txBox="1"/>
            <p:nvPr/>
          </p:nvSpPr>
          <p:spPr>
            <a:xfrm>
              <a:off x="788528" y="1236822"/>
              <a:ext cx="7383873" cy="2697209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public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larger </a:t>
              </a:r>
              <a:r>
                <a:rPr lang="en-US" dirty="0" smtClean="0"/>
                <a:t>(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num1</a:t>
              </a:r>
              <a:r>
                <a:rPr lang="en-US" dirty="0" smtClean="0"/>
                <a:t>,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num2</a:t>
              </a:r>
              <a:r>
                <a:rPr lang="en-US" dirty="0" smtClean="0"/>
                <a:t>)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if </a:t>
              </a:r>
              <a:r>
                <a:rPr lang="en-US" dirty="0" smtClean="0"/>
                <a:t>(</a:t>
              </a:r>
              <a:r>
                <a:rPr lang="en-US" dirty="0" smtClean="0">
                  <a:solidFill>
                    <a:srgbClr val="0000FF"/>
                  </a:solidFill>
                </a:rPr>
                <a:t>num1 </a:t>
              </a:r>
              <a:r>
                <a:rPr lang="en-US" dirty="0" smtClean="0"/>
                <a:t>&gt;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num2</a:t>
              </a:r>
              <a:r>
                <a:rPr lang="en-US" dirty="0" smtClean="0"/>
                <a:t>)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   return </a:t>
              </a:r>
              <a:r>
                <a:rPr lang="en-US" dirty="0" smtClean="0">
                  <a:solidFill>
                    <a:srgbClr val="0000FF"/>
                  </a:solidFill>
                </a:rPr>
                <a:t>num1</a:t>
              </a:r>
              <a:r>
                <a:rPr lang="en-US" dirty="0" smtClean="0"/>
                <a:t>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return </a:t>
              </a:r>
              <a:r>
                <a:rPr lang="en-US" dirty="0" smtClean="0">
                  <a:solidFill>
                    <a:srgbClr val="0000FF"/>
                  </a:solidFill>
                </a:rPr>
                <a:t>num2</a:t>
              </a:r>
              <a:r>
                <a:rPr lang="en-US" dirty="0" smtClean="0"/>
                <a:t>;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} </a:t>
              </a:r>
              <a:r>
                <a:rPr lang="en-US" dirty="0" smtClean="0">
                  <a:solidFill>
                    <a:srgbClr val="00B050"/>
                  </a:solidFill>
                </a:rPr>
                <a:t>// end of larger (</a:t>
              </a:r>
              <a:r>
                <a:rPr lang="en-US" dirty="0" err="1" smtClean="0">
                  <a:solidFill>
                    <a:srgbClr val="00B050"/>
                  </a:solidFill>
                </a:rPr>
                <a:t>int</a:t>
              </a:r>
              <a:r>
                <a:rPr lang="en-US" dirty="0" smtClean="0">
                  <a:solidFill>
                    <a:srgbClr val="00B050"/>
                  </a:solidFill>
                </a:rPr>
                <a:t>, </a:t>
              </a:r>
              <a:r>
                <a:rPr lang="en-US" dirty="0" err="1" smtClean="0">
                  <a:solidFill>
                    <a:srgbClr val="00B050"/>
                  </a:solidFill>
                </a:rPr>
                <a:t>int</a:t>
              </a:r>
              <a:r>
                <a:rPr lang="en-US" dirty="0" smtClean="0">
                  <a:solidFill>
                    <a:srgbClr val="00B050"/>
                  </a:solidFill>
                </a:rPr>
                <a:t>)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public char </a:t>
              </a:r>
              <a:r>
                <a:rPr lang="en-US" dirty="0" smtClean="0">
                  <a:solidFill>
                    <a:srgbClr val="0000FF"/>
                  </a:solidFill>
                </a:rPr>
                <a:t>larger </a:t>
              </a:r>
              <a:r>
                <a:rPr lang="en-US" dirty="0" smtClean="0"/>
                <a:t>(</a:t>
              </a:r>
              <a:r>
                <a:rPr lang="en-US" dirty="0" smtClean="0">
                  <a:solidFill>
                    <a:srgbClr val="00B0F0"/>
                  </a:solidFill>
                </a:rPr>
                <a:t>char </a:t>
              </a:r>
              <a:r>
                <a:rPr lang="en-US" dirty="0" smtClean="0">
                  <a:solidFill>
                    <a:srgbClr val="0000FF"/>
                  </a:solidFill>
                </a:rPr>
                <a:t>ch1</a:t>
              </a:r>
              <a:r>
                <a:rPr lang="en-US" dirty="0" smtClean="0"/>
                <a:t>, </a:t>
              </a:r>
              <a:r>
                <a:rPr lang="en-US" dirty="0" smtClean="0">
                  <a:solidFill>
                    <a:srgbClr val="00B0F0"/>
                  </a:solidFill>
                </a:rPr>
                <a:t>char </a:t>
              </a:r>
              <a:r>
                <a:rPr lang="en-US" dirty="0" smtClean="0">
                  <a:solidFill>
                    <a:srgbClr val="0000FF"/>
                  </a:solidFill>
                </a:rPr>
                <a:t>ch2</a:t>
              </a:r>
              <a:r>
                <a:rPr lang="en-US" dirty="0" smtClean="0"/>
                <a:t>)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if </a:t>
              </a:r>
              <a:r>
                <a:rPr lang="en-US" dirty="0" smtClean="0"/>
                <a:t>(</a:t>
              </a:r>
              <a:r>
                <a:rPr lang="en-US" dirty="0" smtClean="0">
                  <a:solidFill>
                    <a:srgbClr val="0000FF"/>
                  </a:solidFill>
                </a:rPr>
                <a:t>ch1 </a:t>
              </a:r>
              <a:r>
                <a:rPr lang="en-US" dirty="0" smtClean="0"/>
                <a:t>&gt; </a:t>
              </a:r>
              <a:r>
                <a:rPr lang="en-US" dirty="0" smtClean="0">
                  <a:solidFill>
                    <a:srgbClr val="0000FF"/>
                  </a:solidFill>
                </a:rPr>
                <a:t>ch2</a:t>
              </a:r>
              <a:r>
                <a:rPr lang="en-US" dirty="0" smtClean="0"/>
                <a:t>)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   return </a:t>
              </a:r>
              <a:r>
                <a:rPr lang="en-US" dirty="0" smtClean="0">
                  <a:solidFill>
                    <a:srgbClr val="0000FF"/>
                  </a:solidFill>
                </a:rPr>
                <a:t>ch1</a:t>
              </a:r>
              <a:r>
                <a:rPr lang="en-US" dirty="0" smtClean="0"/>
                <a:t>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return </a:t>
              </a:r>
              <a:r>
                <a:rPr lang="en-US" dirty="0" smtClean="0">
                  <a:solidFill>
                    <a:srgbClr val="0000FF"/>
                  </a:solidFill>
                </a:rPr>
                <a:t>ch2</a:t>
              </a:r>
              <a:r>
                <a:rPr lang="en-US" dirty="0" smtClean="0"/>
                <a:t>;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}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50"/>
                  </a:solidFill>
                </a:rPr>
                <a:t>// end of larger (</a:t>
              </a:r>
              <a:r>
                <a:rPr lang="en-US" dirty="0" err="1" smtClean="0">
                  <a:solidFill>
                    <a:srgbClr val="00B050"/>
                  </a:solidFill>
                </a:rPr>
                <a:t>ch</a:t>
              </a:r>
              <a:r>
                <a:rPr lang="en-US" dirty="0" smtClean="0">
                  <a:solidFill>
                    <a:srgbClr val="00B050"/>
                  </a:solidFill>
                </a:rPr>
                <a:t>, </a:t>
              </a:r>
              <a:r>
                <a:rPr lang="en-US" dirty="0" err="1" smtClean="0">
                  <a:solidFill>
                    <a:srgbClr val="00B050"/>
                  </a:solidFill>
                </a:rPr>
                <a:t>ch</a:t>
              </a:r>
              <a:r>
                <a:rPr lang="en-US" dirty="0" smtClean="0">
                  <a:solidFill>
                    <a:srgbClr val="00B050"/>
                  </a:solidFill>
                </a:rPr>
                <a:t>)</a:t>
              </a:r>
            </a:p>
            <a:p>
              <a:r>
                <a:rPr lang="en-US" dirty="0" smtClean="0">
                  <a:solidFill>
                    <a:srgbClr val="00B0F0"/>
                  </a:solidFill>
                </a:rPr>
                <a:t>public double </a:t>
              </a:r>
              <a:r>
                <a:rPr lang="en-US" dirty="0" smtClean="0">
                  <a:solidFill>
                    <a:srgbClr val="0000FF"/>
                  </a:solidFill>
                </a:rPr>
                <a:t>larger </a:t>
              </a:r>
              <a:r>
                <a:rPr lang="en-US" dirty="0" smtClean="0"/>
                <a:t>(</a:t>
              </a:r>
              <a:r>
                <a:rPr lang="en-US" dirty="0" smtClean="0">
                  <a:solidFill>
                    <a:srgbClr val="00B0F0"/>
                  </a:solidFill>
                </a:rPr>
                <a:t>double </a:t>
              </a:r>
              <a:r>
                <a:rPr lang="en-US" dirty="0" smtClean="0">
                  <a:solidFill>
                    <a:srgbClr val="0000FF"/>
                  </a:solidFill>
                </a:rPr>
                <a:t>num1</a:t>
              </a:r>
              <a:r>
                <a:rPr lang="en-US" dirty="0" smtClean="0"/>
                <a:t>,</a:t>
              </a:r>
              <a:r>
                <a:rPr lang="en-US" dirty="0" smtClean="0">
                  <a:solidFill>
                    <a:srgbClr val="00B0F0"/>
                  </a:solidFill>
                </a:rPr>
                <a:t> double </a:t>
              </a:r>
              <a:r>
                <a:rPr lang="en-US" dirty="0" smtClean="0">
                  <a:solidFill>
                    <a:srgbClr val="0000FF"/>
                  </a:solidFill>
                </a:rPr>
                <a:t>num2</a:t>
              </a:r>
              <a:r>
                <a:rPr lang="en-US" dirty="0" smtClean="0"/>
                <a:t>)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{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if </a:t>
              </a:r>
              <a:r>
                <a:rPr lang="en-US" dirty="0" smtClean="0"/>
                <a:t>(</a:t>
              </a:r>
              <a:r>
                <a:rPr lang="en-US" dirty="0" smtClean="0">
                  <a:solidFill>
                    <a:srgbClr val="0000FF"/>
                  </a:solidFill>
                </a:rPr>
                <a:t>num1 </a:t>
              </a:r>
              <a:r>
                <a:rPr lang="en-US" dirty="0" smtClean="0"/>
                <a:t>&gt; </a:t>
              </a:r>
              <a:r>
                <a:rPr lang="en-US" dirty="0" smtClean="0">
                  <a:solidFill>
                    <a:srgbClr val="0000FF"/>
                  </a:solidFill>
                </a:rPr>
                <a:t>num2</a:t>
              </a:r>
              <a:r>
                <a:rPr lang="en-US" dirty="0" smtClean="0"/>
                <a:t>)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   return </a:t>
              </a:r>
              <a:r>
                <a:rPr lang="en-US" dirty="0" smtClean="0">
                  <a:solidFill>
                    <a:srgbClr val="0000FF"/>
                  </a:solidFill>
                </a:rPr>
                <a:t>num1</a:t>
              </a:r>
              <a:r>
                <a:rPr lang="en-US" dirty="0" smtClean="0"/>
                <a:t>;</a:t>
              </a:r>
            </a:p>
            <a:p>
              <a:r>
                <a:rPr lang="en-US" dirty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B0F0"/>
                  </a:solidFill>
                </a:rPr>
                <a:t>   return </a:t>
              </a:r>
              <a:r>
                <a:rPr lang="en-US" dirty="0" smtClean="0">
                  <a:solidFill>
                    <a:srgbClr val="0000FF"/>
                  </a:solidFill>
                </a:rPr>
                <a:t>num2</a:t>
              </a:r>
              <a:r>
                <a:rPr lang="en-US" dirty="0" smtClean="0"/>
                <a:t>;</a:t>
              </a:r>
            </a:p>
            <a:p>
              <a:r>
                <a:rPr lang="en-US" dirty="0" smtClean="0"/>
                <a:t>  } </a:t>
              </a:r>
              <a:r>
                <a:rPr lang="en-US" dirty="0" smtClean="0">
                  <a:solidFill>
                    <a:srgbClr val="00B050"/>
                  </a:solidFill>
                </a:rPr>
                <a:t>// end of larger (double, double)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3529" y="1236822"/>
              <a:ext cx="464999" cy="2697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18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19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20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24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28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29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30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33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34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683568" y="1340768"/>
            <a:ext cx="8280919" cy="226184"/>
          </a:xfrm>
          <a:prstGeom prst="rect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3568" y="2986792"/>
            <a:ext cx="8280919" cy="226184"/>
          </a:xfrm>
          <a:prstGeom prst="rect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3568" y="4642976"/>
            <a:ext cx="8280919" cy="226184"/>
          </a:xfrm>
          <a:prstGeom prst="rect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4895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63880" cy="598488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>
                <a:solidFill>
                  <a:schemeClr val="accent2"/>
                </a:solidFill>
                <a:latin typeface="Tahoma" charset="0"/>
                <a:cs typeface="Arial" charset="0"/>
              </a:rPr>
              <a:t>5</a:t>
            </a:r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. EXAMPLES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34484-767D-4C48-AF0E-A1438A969E5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0" y="836712"/>
            <a:ext cx="9144000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  <a:r>
              <a:rPr lang="en-US" b="1" dirty="0" smtClean="0"/>
              <a:t>.3 EXAMPLE </a:t>
            </a:r>
            <a:r>
              <a:rPr lang="en-US" b="1" dirty="0"/>
              <a:t>2</a:t>
            </a:r>
            <a:r>
              <a:rPr lang="en-US" b="1" dirty="0" smtClean="0"/>
              <a:t> (3)</a:t>
            </a:r>
            <a:endParaRPr lang="en-US" b="1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196752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179513" y="1628800"/>
            <a:ext cx="8784976" cy="2862321"/>
            <a:chOff x="323529" y="1236822"/>
            <a:chExt cx="7848872" cy="1520245"/>
          </a:xfrm>
        </p:grpSpPr>
        <p:sp>
          <p:nvSpPr>
            <p:cNvPr id="20" name="TextBox 19"/>
            <p:cNvSpPr txBox="1"/>
            <p:nvPr/>
          </p:nvSpPr>
          <p:spPr>
            <a:xfrm>
              <a:off x="788528" y="1236822"/>
              <a:ext cx="7383873" cy="1520245"/>
            </a:xfrm>
            <a:prstGeom prst="rect">
              <a:avLst/>
            </a:prstGeom>
            <a:solidFill>
              <a:schemeClr val="bg2"/>
            </a:solidFill>
            <a:ln w="28575" cap="rnd" cmpd="thickThin"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F0"/>
                  </a:solidFill>
                </a:rPr>
                <a:t>public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larger </a:t>
              </a:r>
              <a:r>
                <a:rPr lang="en-US" dirty="0" smtClean="0"/>
                <a:t>(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num1</a:t>
              </a:r>
              <a:r>
                <a:rPr lang="en-US" dirty="0" smtClean="0"/>
                <a:t>,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num2</a:t>
              </a:r>
              <a:r>
                <a:rPr lang="en-US" dirty="0" smtClean="0"/>
                <a:t>,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num3</a:t>
              </a:r>
              <a:r>
                <a:rPr lang="en-US" dirty="0" smtClean="0"/>
                <a:t>)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{</a:t>
              </a:r>
            </a:p>
            <a:p>
              <a:r>
                <a:rPr lang="en-US" dirty="0" smtClean="0"/>
                <a:t>    </a:t>
              </a:r>
              <a:r>
                <a:rPr lang="en-US" dirty="0" err="1" smtClean="0">
                  <a:solidFill>
                    <a:srgbClr val="00B0F0"/>
                  </a:solidFill>
                </a:rPr>
                <a:t>int</a:t>
              </a:r>
              <a:r>
                <a:rPr lang="en-US" dirty="0" smtClean="0">
                  <a:solidFill>
                    <a:srgbClr val="00B0F0"/>
                  </a:solidFill>
                </a:rPr>
                <a:t> </a:t>
              </a:r>
              <a:r>
                <a:rPr lang="en-US" dirty="0" smtClean="0">
                  <a:solidFill>
                    <a:srgbClr val="0000FF"/>
                  </a:solidFill>
                </a:rPr>
                <a:t>max </a:t>
              </a:r>
              <a:r>
                <a:rPr lang="en-US" dirty="0" smtClean="0"/>
                <a:t>= </a:t>
              </a:r>
              <a:r>
                <a:rPr lang="en-US" dirty="0" smtClean="0">
                  <a:solidFill>
                    <a:srgbClr val="0000FF"/>
                  </a:solidFill>
                </a:rPr>
                <a:t>num1</a:t>
              </a:r>
              <a:r>
                <a:rPr lang="en-US" dirty="0" smtClean="0"/>
                <a:t>;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</a:t>
              </a:r>
              <a:r>
                <a:rPr lang="en-US" dirty="0" smtClean="0">
                  <a:solidFill>
                    <a:srgbClr val="00B0F0"/>
                  </a:solidFill>
                </a:rPr>
                <a:t>if </a:t>
              </a:r>
              <a:r>
                <a:rPr lang="en-US" dirty="0" smtClean="0"/>
                <a:t>(</a:t>
              </a:r>
              <a:r>
                <a:rPr lang="en-US" dirty="0" smtClean="0">
                  <a:solidFill>
                    <a:srgbClr val="0000FF"/>
                  </a:solidFill>
                </a:rPr>
                <a:t>num2 </a:t>
              </a:r>
              <a:r>
                <a:rPr lang="en-US" dirty="0" smtClean="0"/>
                <a:t>&gt; </a:t>
              </a:r>
              <a:r>
                <a:rPr lang="en-US" dirty="0" smtClean="0">
                  <a:solidFill>
                    <a:srgbClr val="0000FF"/>
                  </a:solidFill>
                </a:rPr>
                <a:t>max</a:t>
              </a:r>
              <a:r>
                <a:rPr lang="en-US" dirty="0" smtClean="0"/>
                <a:t>)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   </a:t>
              </a:r>
              <a:r>
                <a:rPr lang="en-US" dirty="0" smtClean="0">
                  <a:solidFill>
                    <a:srgbClr val="0000FF"/>
                  </a:solidFill>
                </a:rPr>
                <a:t>max </a:t>
              </a:r>
              <a:r>
                <a:rPr lang="en-US" dirty="0" smtClean="0"/>
                <a:t>= </a:t>
              </a:r>
              <a:r>
                <a:rPr lang="en-US" dirty="0" smtClean="0">
                  <a:solidFill>
                    <a:srgbClr val="0000FF"/>
                  </a:solidFill>
                </a:rPr>
                <a:t>num2</a:t>
              </a:r>
              <a:r>
                <a:rPr lang="en-US" dirty="0" smtClean="0"/>
                <a:t>;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</a:t>
              </a:r>
              <a:r>
                <a:rPr lang="en-US" dirty="0" smtClean="0">
                  <a:solidFill>
                    <a:srgbClr val="00B0F0"/>
                  </a:solidFill>
                </a:rPr>
                <a:t>if</a:t>
              </a:r>
              <a:r>
                <a:rPr lang="en-US" dirty="0" smtClean="0"/>
                <a:t> (</a:t>
              </a:r>
              <a:r>
                <a:rPr lang="en-US" dirty="0" smtClean="0">
                  <a:solidFill>
                    <a:srgbClr val="0000FF"/>
                  </a:solidFill>
                </a:rPr>
                <a:t>num3 </a:t>
              </a:r>
              <a:r>
                <a:rPr lang="en-US" dirty="0" smtClean="0"/>
                <a:t>&gt; </a:t>
              </a:r>
              <a:r>
                <a:rPr lang="en-US" dirty="0" smtClean="0">
                  <a:solidFill>
                    <a:srgbClr val="0000FF"/>
                  </a:solidFill>
                </a:rPr>
                <a:t>max</a:t>
              </a:r>
              <a:r>
                <a:rPr lang="en-US" dirty="0" smtClean="0"/>
                <a:t>)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   </a:t>
              </a:r>
              <a:r>
                <a:rPr lang="en-US" dirty="0" smtClean="0">
                  <a:solidFill>
                    <a:srgbClr val="0000FF"/>
                  </a:solidFill>
                </a:rPr>
                <a:t>max </a:t>
              </a:r>
              <a:r>
                <a:rPr lang="en-US" dirty="0" smtClean="0"/>
                <a:t>= </a:t>
              </a:r>
              <a:r>
                <a:rPr lang="en-US" dirty="0" smtClean="0">
                  <a:solidFill>
                    <a:srgbClr val="0000FF"/>
                  </a:solidFill>
                </a:rPr>
                <a:t>num3</a:t>
              </a:r>
              <a:r>
                <a:rPr lang="en-US" dirty="0" smtClean="0"/>
                <a:t>;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  </a:t>
              </a:r>
              <a:r>
                <a:rPr lang="en-US" dirty="0" smtClean="0">
                  <a:solidFill>
                    <a:srgbClr val="00B0F0"/>
                  </a:solidFill>
                </a:rPr>
                <a:t>return </a:t>
              </a:r>
              <a:r>
                <a:rPr lang="en-US" dirty="0" smtClean="0">
                  <a:solidFill>
                    <a:srgbClr val="0000FF"/>
                  </a:solidFill>
                </a:rPr>
                <a:t>max</a:t>
              </a:r>
              <a:r>
                <a:rPr lang="en-US" dirty="0" smtClean="0"/>
                <a:t>;</a:t>
              </a:r>
            </a:p>
            <a:p>
              <a:r>
                <a:rPr lang="en-US" dirty="0"/>
                <a:t> </a:t>
              </a:r>
              <a:r>
                <a:rPr lang="en-US" dirty="0" smtClean="0"/>
                <a:t> } </a:t>
              </a:r>
              <a:r>
                <a:rPr lang="en-US" dirty="0" smtClean="0">
                  <a:solidFill>
                    <a:srgbClr val="00B050"/>
                  </a:solidFill>
                </a:rPr>
                <a:t>// end of larger (</a:t>
              </a:r>
              <a:r>
                <a:rPr lang="en-US" dirty="0" err="1" smtClean="0">
                  <a:solidFill>
                    <a:srgbClr val="00B050"/>
                  </a:solidFill>
                </a:rPr>
                <a:t>int</a:t>
              </a:r>
              <a:r>
                <a:rPr lang="en-US" dirty="0" smtClean="0">
                  <a:solidFill>
                    <a:srgbClr val="00B050"/>
                  </a:solidFill>
                </a:rPr>
                <a:t> num1, </a:t>
              </a:r>
              <a:r>
                <a:rPr lang="en-US" dirty="0" err="1" smtClean="0">
                  <a:solidFill>
                    <a:srgbClr val="00B050"/>
                  </a:solidFill>
                </a:rPr>
                <a:t>int</a:t>
              </a:r>
              <a:r>
                <a:rPr lang="en-US" dirty="0" smtClean="0">
                  <a:solidFill>
                    <a:srgbClr val="00B050"/>
                  </a:solidFill>
                </a:rPr>
                <a:t> num2, </a:t>
              </a:r>
              <a:r>
                <a:rPr lang="en-US" dirty="0" err="1" smtClean="0">
                  <a:solidFill>
                    <a:srgbClr val="00B050"/>
                  </a:solidFill>
                </a:rPr>
                <a:t>int</a:t>
              </a:r>
              <a:r>
                <a:rPr lang="en-US" dirty="0" smtClean="0">
                  <a:solidFill>
                    <a:srgbClr val="00B050"/>
                  </a:solidFill>
                </a:rPr>
                <a:t> num3)</a:t>
              </a:r>
            </a:p>
            <a:p>
              <a:r>
                <a:rPr lang="en-US" dirty="0" smtClean="0"/>
                <a:t>} </a:t>
              </a:r>
              <a:r>
                <a:rPr lang="en-US" dirty="0" smtClean="0">
                  <a:solidFill>
                    <a:srgbClr val="00B050"/>
                  </a:solidFill>
                </a:rPr>
                <a:t>//end class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3529" y="1236822"/>
              <a:ext cx="464999" cy="1520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35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36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37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38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39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40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41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42</a:t>
              </a: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43</a:t>
              </a:r>
              <a:endParaRPr lang="en-US" dirty="0">
                <a:solidFill>
                  <a:srgbClr val="FF0000"/>
                </a:solidFill>
              </a:endParaRPr>
            </a:p>
            <a:p>
              <a:pPr algn="r"/>
              <a:r>
                <a:rPr lang="en-US" dirty="0" smtClean="0">
                  <a:solidFill>
                    <a:srgbClr val="FF0000"/>
                  </a:solidFill>
                </a:rPr>
                <a:t>44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51520" y="1196752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even define more methods with three or more parameters: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520" y="45091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Similarly, more parameters may be defined with more overloaded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520" y="5235297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However, a method should be defined for every different formal parameter list (different type and/or different number).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520" y="5961474"/>
            <a:ext cx="8640960" cy="707886"/>
          </a:xfrm>
          <a:prstGeom prst="rect">
            <a:avLst/>
          </a:prstGeom>
          <a:solidFill>
            <a:schemeClr val="bg2"/>
          </a:solidFill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provides the concept of </a:t>
            </a:r>
            <a:r>
              <a:rPr lang="en-US" sz="2000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 length parameter list </a:t>
            </a:r>
            <a:r>
              <a:rPr lang="en-US" sz="20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simplify rewriting the method multiple times in the above example…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3568" y="1700808"/>
            <a:ext cx="8280919" cy="226184"/>
          </a:xfrm>
          <a:prstGeom prst="rect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7281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/>
      <p:bldP spid="14" grpId="0"/>
      <p:bldP spid="19" grpId="0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 </a:t>
            </a:r>
            <a:fld id="{D8D24581-BA14-4640-B752-9AB0FD1B9A3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558"/>
            <a:ext cx="8229600" cy="792162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4000" dirty="0" smtClean="0">
                <a:solidFill>
                  <a:schemeClr val="accent2"/>
                </a:solidFill>
                <a:latin typeface="Tahoma" charset="0"/>
                <a:cs typeface="Arial" charset="0"/>
              </a:rPr>
              <a:t>Self-Check Exercises  </a:t>
            </a:r>
            <a:endParaRPr lang="en-US" sz="4000" dirty="0">
              <a:solidFill>
                <a:schemeClr val="accent2"/>
              </a:solidFill>
              <a:latin typeface="Tahoma" charset="0"/>
              <a:cs typeface="Arial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08720"/>
            <a:ext cx="914400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406" y="6496070"/>
            <a:ext cx="400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W8.2 User-defined </a:t>
            </a:r>
            <a:r>
              <a:rPr lang="en-US" sz="1200" dirty="0" err="1" smtClean="0"/>
              <a:t>methods:Overloading</a:t>
            </a:r>
            <a:endParaRPr lang="en-US" sz="1200" dirty="0"/>
          </a:p>
        </p:txBody>
      </p:sp>
      <p:sp>
        <p:nvSpPr>
          <p:cNvPr id="9" name="Rounded Rectangle 8"/>
          <p:cNvSpPr/>
          <p:nvPr/>
        </p:nvSpPr>
        <p:spPr>
          <a:xfrm>
            <a:off x="107504" y="1066800"/>
            <a:ext cx="8856984" cy="783193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a complete modular program that </a:t>
            </a:r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calculates the square of a number. The number may be of type </a:t>
            </a:r>
            <a:r>
              <a:rPr lang="en-US" sz="2000" dirty="0" err="1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en-US" sz="2000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double, or long.</a:t>
            </a:r>
            <a:endParaRPr lang="en-US" sz="20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2413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2d528bc-8d32-45af-8136-36371a4446cb"/>
  <p:tag name="ARTICULATE_SLIDE_NAV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981</TotalTime>
  <Words>1203</Words>
  <Application>Microsoft Office PowerPoint</Application>
  <PresentationFormat>On-screen Show (4:3)</PresentationFormat>
  <Paragraphs>218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Concourse</vt:lpstr>
      <vt:lpstr>  USER-DEFINED METHODS</vt:lpstr>
      <vt:lpstr>Outline</vt:lpstr>
      <vt:lpstr>1. DEFINITION </vt:lpstr>
      <vt:lpstr>1. DEFINITION </vt:lpstr>
      <vt:lpstr>1. DEFINITION </vt:lpstr>
      <vt:lpstr>2. OVERLOADING RULES</vt:lpstr>
      <vt:lpstr>3. COUNTER EXAMPLES</vt:lpstr>
      <vt:lpstr>4. COMPILER OVERLOADING FLOWCHART</vt:lpstr>
      <vt:lpstr>5. EXAMPLES</vt:lpstr>
      <vt:lpstr>5. EXAMPLES</vt:lpstr>
      <vt:lpstr>5. EXAMPLES</vt:lpstr>
      <vt:lpstr>5. EXAMPLES</vt:lpstr>
      <vt:lpstr>Self-Check Exercises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USER-DEFINED METHODS</dc:title>
  <dc:creator>Soha S.Zaghloul</dc:creator>
  <cp:lastModifiedBy>Omar</cp:lastModifiedBy>
  <cp:revision>60</cp:revision>
  <dcterms:created xsi:type="dcterms:W3CDTF">2015-04-15T15:04:59Z</dcterms:created>
  <dcterms:modified xsi:type="dcterms:W3CDTF">2016-12-05T03:04:04Z</dcterms:modified>
</cp:coreProperties>
</file>