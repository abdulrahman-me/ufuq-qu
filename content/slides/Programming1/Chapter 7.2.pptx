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81" r:id="rId3"/>
    <p:sldId id="282" r:id="rId4"/>
    <p:sldId id="272" r:id="rId5"/>
    <p:sldId id="274" r:id="rId6"/>
    <p:sldId id="275" r:id="rId7"/>
    <p:sldId id="285" r:id="rId8"/>
    <p:sldId id="277" r:id="rId9"/>
    <p:sldId id="278" r:id="rId10"/>
    <p:sldId id="279" r:id="rId11"/>
    <p:sldId id="283" r:id="rId12"/>
    <p:sldId id="284" r:id="rId13"/>
    <p:sldId id="276" r:id="rId14"/>
    <p:sldId id="288" r:id="rId15"/>
    <p:sldId id="289" r:id="rId16"/>
    <p:sldId id="300" r:id="rId17"/>
    <p:sldId id="301" r:id="rId18"/>
    <p:sldId id="302" r:id="rId19"/>
    <p:sldId id="303" r:id="rId20"/>
    <p:sldId id="304" r:id="rId21"/>
    <p:sldId id="315" r:id="rId22"/>
    <p:sldId id="316" r:id="rId23"/>
    <p:sldId id="317" r:id="rId24"/>
    <p:sldId id="312" r:id="rId25"/>
    <p:sldId id="318" r:id="rId26"/>
    <p:sldId id="319" r:id="rId27"/>
    <p:sldId id="321" r:id="rId28"/>
    <p:sldId id="322" r:id="rId29"/>
    <p:sldId id="323" r:id="rId30"/>
    <p:sldId id="31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FF33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11" autoAdjust="0"/>
    <p:restoredTop sz="94660"/>
  </p:normalViewPr>
  <p:slideViewPr>
    <p:cSldViewPr>
      <p:cViewPr varScale="1">
        <p:scale>
          <a:sx n="73" d="100"/>
          <a:sy n="73" d="100"/>
        </p:scale>
        <p:origin x="148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85E48BD-A807-456B-9E93-1A6B374B7AE3}" type="datetimeFigureOut">
              <a:rPr lang="en-US" smtClean="0"/>
              <a:pPr/>
              <a:t>11/13/2019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348880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ARRAYS 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4005064"/>
            <a:ext cx="866388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3400" dirty="0" smtClean="0">
                <a:solidFill>
                  <a:srgbClr val="00B0F0"/>
                </a:solidFill>
              </a:rPr>
              <a:t>One-Dimensional and Methods</a:t>
            </a:r>
            <a:endParaRPr lang="en-US" sz="3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22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836712"/>
            <a:ext cx="8153400" cy="5832648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1. Introduction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2. Programming 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3. Primitive data types as parameters</a:t>
            </a:r>
            <a:r>
              <a:rPr lang="ar-EG" sz="2000" dirty="0" smtClean="0">
                <a:latin typeface="Tahoma" charset="0"/>
                <a:cs typeface="Arial" charset="0"/>
              </a:rPr>
              <a:t> </a:t>
            </a: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4. Reference variables as parameters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5. Sorting arrays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6. Parallel arrays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rgbClr val="FFFF00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7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1. INTRODUCTION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304800" y="4321314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a method to receive an array reference through a method call, the method’s parameter list must specify an array parameter. For example, the method header for method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printArray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might be written as</a:t>
            </a:r>
          </a:p>
          <a:p>
            <a:pPr marL="342900" indent="-342900" algn="just">
              <a:buClr>
                <a:srgbClr val="FF0000"/>
              </a:buClr>
            </a:pP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void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printArray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double[] list )</a:t>
            </a:r>
          </a:p>
          <a:p>
            <a:pPr marL="342900" indent="-342900" algn="just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indicating that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printArray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receives the reference of a double array in parameter list.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7647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pass an array argument to a method, specify the name of the array without any brackets.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" y="320040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 array object “knows” its own length (via its length field). Thus, when we pass an array object’s reference into a method, we need not pass the array length as an additional argument.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1456232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if array 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salaries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declared as</a:t>
            </a:r>
          </a:p>
          <a:p>
            <a:pPr marL="342900" indent="-342900">
              <a:buClr>
                <a:srgbClr val="FF0000"/>
              </a:buClr>
            </a:pP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double[] salaries = new double[50];</a:t>
            </a:r>
          </a:p>
          <a:p>
            <a:pPr marL="342900" indent="-342900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then the method call</a:t>
            </a:r>
          </a:p>
          <a:p>
            <a:pPr marL="342900" indent="-342900">
              <a:buClr>
                <a:srgbClr val="FF0000"/>
              </a:buClr>
            </a:pP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printArray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salaries );</a:t>
            </a:r>
          </a:p>
          <a:p>
            <a:pPr marL="342900" indent="-342900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passes the </a:t>
            </a:r>
            <a:r>
              <a:rPr lang="en-US" sz="20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array salaries to method 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printArray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3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14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2.1 ONE-DIMENSIONAL ARRAYS AS PARAMETERS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179512" y="1340768"/>
            <a:ext cx="8784977" cy="5262979"/>
            <a:chOff x="323528" y="1236822"/>
            <a:chExt cx="7848873" cy="4948888"/>
          </a:xfrm>
        </p:grpSpPr>
        <p:sp>
          <p:nvSpPr>
            <p:cNvPr id="15" name="TextBox 14"/>
            <p:cNvSpPr txBox="1"/>
            <p:nvPr/>
          </p:nvSpPr>
          <p:spPr>
            <a:xfrm>
              <a:off x="788528" y="1236822"/>
              <a:ext cx="7383873" cy="494888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200" dirty="0" err="1" smtClean="0">
                  <a:solidFill>
                    <a:srgbClr val="FF0000"/>
                  </a:solidFill>
                </a:rPr>
                <a:t>java.util.Scanner</a:t>
              </a:r>
              <a:r>
                <a:rPr lang="en-US" sz="12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200" dirty="0" smtClean="0">
                  <a:solidFill>
                    <a:srgbClr val="0000FF"/>
                  </a:solidFill>
                </a:rPr>
                <a:t> </a:t>
              </a:r>
              <a:r>
                <a:rPr lang="en-US" sz="1200" dirty="0" err="1" smtClean="0">
                  <a:solidFill>
                    <a:srgbClr val="0000FF"/>
                  </a:solidFill>
                </a:rPr>
                <a:t>arrayAsParameters</a:t>
              </a:r>
              <a:endParaRPr lang="en-US" sz="1200" dirty="0" smtClean="0">
                <a:solidFill>
                  <a:srgbClr val="0000FF"/>
                </a:solidFill>
              </a:endParaRPr>
            </a:p>
            <a:p>
              <a:r>
                <a:rPr lang="en-US" sz="1200" dirty="0" smtClean="0"/>
                <a:t>    {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</a:t>
              </a:r>
              <a:r>
                <a:rPr lang="en-US" sz="12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200" dirty="0" smtClean="0"/>
                <a:t>Scanner read = </a:t>
              </a:r>
              <a:r>
                <a:rPr lang="en-US" sz="1200" dirty="0" smtClean="0">
                  <a:solidFill>
                    <a:srgbClr val="00B0F0"/>
                  </a:solidFill>
                </a:rPr>
                <a:t>new </a:t>
              </a:r>
              <a:r>
                <a:rPr lang="en-US" sz="1200" dirty="0" smtClean="0"/>
                <a:t>Scanner (System.in);</a:t>
              </a: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2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2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{</a:t>
              </a: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     double[]</a:t>
              </a:r>
              <a:r>
                <a:rPr lang="en-US" sz="1200" dirty="0" smtClean="0"/>
                <a:t> sales = </a:t>
              </a:r>
              <a:r>
                <a:rPr lang="en-US" sz="1200" dirty="0" smtClean="0">
                  <a:solidFill>
                    <a:srgbClr val="00B0F0"/>
                  </a:solidFill>
                </a:rPr>
                <a:t>new double</a:t>
              </a:r>
              <a:r>
                <a:rPr lang="en-US" sz="1200" dirty="0" smtClean="0"/>
                <a:t>[100];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2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200" dirty="0" smtClean="0">
                  <a:solidFill>
                    <a:srgbClr val="0000FF"/>
                  </a:solidFill>
                </a:rPr>
                <a:t> (sales)</a:t>
              </a:r>
              <a:r>
                <a:rPr lang="en-US" sz="1200" dirty="0" smtClean="0"/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200" dirty="0" err="1" smtClean="0">
                  <a:solidFill>
                    <a:srgbClr val="0000FF"/>
                  </a:solidFill>
                </a:rPr>
                <a:t>printArray</a:t>
              </a:r>
              <a:r>
                <a:rPr lang="en-US" sz="1200" dirty="0" smtClean="0">
                  <a:solidFill>
                    <a:srgbClr val="0000FF"/>
                  </a:solidFill>
                </a:rPr>
                <a:t> (sales)</a:t>
              </a:r>
              <a:r>
                <a:rPr lang="en-US" sz="1200" dirty="0" smtClean="0"/>
                <a:t>;</a:t>
              </a:r>
            </a:p>
            <a:p>
              <a:r>
                <a:rPr lang="en-US" sz="1200" dirty="0" smtClean="0"/>
                <a:t>       } </a:t>
              </a:r>
              <a:r>
                <a:rPr lang="en-US" sz="12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200" dirty="0" smtClean="0">
                  <a:solidFill>
                    <a:srgbClr val="00B050"/>
                  </a:solidFill>
                </a:rPr>
                <a:t>       // This method fills an array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>
                  <a:solidFill>
                    <a:srgbClr val="00B050"/>
                  </a:solidFill>
                </a:rPr>
                <a:t>      </a:t>
              </a:r>
              <a:r>
                <a:rPr lang="en-US" sz="1200" dirty="0" smtClean="0">
                  <a:solidFill>
                    <a:srgbClr val="00B0F0"/>
                  </a:solidFill>
                </a:rPr>
                <a:t>public static void</a:t>
              </a:r>
              <a:r>
                <a:rPr lang="en-US" sz="1200" dirty="0" smtClean="0">
                  <a:solidFill>
                    <a:srgbClr val="00B050"/>
                  </a:solidFill>
                </a:rPr>
                <a:t> </a:t>
              </a:r>
              <a:r>
                <a:rPr lang="en-US" sz="12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200" dirty="0" smtClean="0"/>
                <a:t>(</a:t>
              </a:r>
              <a:r>
                <a:rPr lang="en-US" sz="1200" dirty="0" smtClean="0">
                  <a:solidFill>
                    <a:srgbClr val="00B0F0"/>
                  </a:solidFill>
                </a:rPr>
                <a:t>double[]</a:t>
              </a:r>
              <a:r>
                <a:rPr lang="en-US" sz="1200" dirty="0" smtClean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>
                  <a:solidFill>
                    <a:srgbClr val="FF33CC"/>
                  </a:solidFill>
                </a:rPr>
                <a:t>list</a:t>
              </a:r>
              <a:r>
                <a:rPr lang="en-US" sz="1200" dirty="0" smtClean="0"/>
                <a:t>)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{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>
                  <a:solidFill>
                    <a:srgbClr val="00B050"/>
                  </a:solidFill>
                </a:rPr>
                <a:t>        </a:t>
              </a:r>
              <a:r>
                <a:rPr lang="en-US" sz="1200" dirty="0" smtClean="0">
                  <a:solidFill>
                    <a:srgbClr val="00B0F0"/>
                  </a:solidFill>
                </a:rPr>
                <a:t>for</a:t>
              </a:r>
              <a:r>
                <a:rPr lang="en-US" sz="1200" dirty="0" smtClean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/>
                <a:t>(</a:t>
              </a:r>
              <a:r>
                <a:rPr lang="en-US" sz="12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200" dirty="0" smtClean="0">
                  <a:solidFill>
                    <a:srgbClr val="00B050"/>
                  </a:solidFill>
                </a:rPr>
                <a:t> 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=0; 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&lt;</a:t>
              </a:r>
              <a:r>
                <a:rPr lang="en-US" sz="1200" dirty="0" err="1" smtClean="0">
                  <a:solidFill>
                    <a:srgbClr val="FF33CC"/>
                  </a:solidFill>
                </a:rPr>
                <a:t>list.</a:t>
              </a:r>
              <a:r>
                <a:rPr lang="en-US" sz="12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200" dirty="0" smtClean="0"/>
                <a:t>; 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++)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{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   </a:t>
              </a:r>
              <a:r>
                <a:rPr lang="en-US" sz="1200" dirty="0" err="1" smtClean="0"/>
                <a:t>System.out.println</a:t>
              </a:r>
              <a:r>
                <a:rPr lang="en-US" sz="1200" dirty="0" smtClean="0"/>
                <a:t> (“Enter next element: “);</a:t>
              </a:r>
            </a:p>
            <a:p>
              <a:r>
                <a:rPr lang="en-US" sz="1200" dirty="0" smtClean="0">
                  <a:solidFill>
                    <a:srgbClr val="00B050"/>
                  </a:solidFill>
                </a:rPr>
                <a:t>              </a:t>
              </a:r>
              <a:r>
                <a:rPr lang="en-US" sz="1200" dirty="0" smtClean="0">
                  <a:solidFill>
                    <a:srgbClr val="FF33CC"/>
                  </a:solidFill>
                </a:rPr>
                <a:t>list</a:t>
              </a:r>
              <a:r>
                <a:rPr lang="en-US" sz="1200" dirty="0" smtClean="0"/>
                <a:t>[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] = </a:t>
              </a:r>
              <a:r>
                <a:rPr lang="en-US" sz="1200" dirty="0" err="1" smtClean="0"/>
                <a:t>read.</a:t>
              </a:r>
              <a:r>
                <a:rPr lang="en-US" sz="1200" dirty="0" err="1" smtClean="0">
                  <a:solidFill>
                    <a:srgbClr val="00B050"/>
                  </a:solidFill>
                </a:rPr>
                <a:t>nextDouble</a:t>
              </a:r>
              <a:r>
                <a:rPr lang="en-US" sz="1200" dirty="0" smtClean="0">
                  <a:solidFill>
                    <a:srgbClr val="00B050"/>
                  </a:solidFill>
                </a:rPr>
                <a:t>()</a:t>
              </a:r>
              <a:r>
                <a:rPr lang="en-US" sz="1200" dirty="0" smtClean="0"/>
                <a:t>;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>
                  <a:solidFill>
                    <a:srgbClr val="00B050"/>
                  </a:solidFill>
                </a:rPr>
                <a:t>          </a:t>
              </a:r>
              <a:r>
                <a:rPr lang="en-US" sz="1200" dirty="0" smtClean="0"/>
                <a:t>}</a:t>
              </a:r>
              <a:r>
                <a:rPr lang="en-US" sz="1200" dirty="0" smtClean="0">
                  <a:solidFill>
                    <a:srgbClr val="00B050"/>
                  </a:solidFill>
                </a:rPr>
                <a:t> //end for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>
                  <a:solidFill>
                    <a:srgbClr val="00B050"/>
                  </a:solidFill>
                </a:rPr>
                <a:t>      </a:t>
              </a:r>
              <a:r>
                <a:rPr lang="en-US" sz="1200" dirty="0" smtClean="0"/>
                <a:t>}</a:t>
              </a:r>
              <a:r>
                <a:rPr lang="en-US" sz="1200" dirty="0" smtClean="0">
                  <a:solidFill>
                    <a:srgbClr val="00B050"/>
                  </a:solidFill>
                </a:rPr>
                <a:t> //end </a:t>
              </a:r>
              <a:r>
                <a:rPr lang="en-US" sz="1200" dirty="0" err="1" smtClean="0">
                  <a:solidFill>
                    <a:srgbClr val="00B050"/>
                  </a:solidFill>
                </a:rPr>
                <a:t>fillArray</a:t>
              </a:r>
              <a:endParaRPr lang="en-US" sz="1200" dirty="0" smtClean="0">
                <a:solidFill>
                  <a:srgbClr val="00B050"/>
                </a:solidFill>
              </a:endParaRPr>
            </a:p>
            <a:p>
              <a:r>
                <a:rPr lang="en-US" sz="1200" dirty="0" smtClean="0">
                  <a:solidFill>
                    <a:srgbClr val="00B050"/>
                  </a:solidFill>
                </a:rPr>
                <a:t>      //method definition: This method prints an array</a:t>
              </a:r>
              <a:endParaRPr lang="en-US" sz="1200" dirty="0">
                <a:solidFill>
                  <a:srgbClr val="00B050"/>
                </a:solidFill>
              </a:endParaRP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200" dirty="0" smtClean="0">
                  <a:solidFill>
                    <a:srgbClr val="FF0000"/>
                  </a:solidFill>
                </a:rPr>
                <a:t> </a:t>
              </a:r>
              <a:r>
                <a:rPr lang="en-US" sz="1200" dirty="0" err="1" smtClean="0">
                  <a:solidFill>
                    <a:srgbClr val="0000FF"/>
                  </a:solidFill>
                </a:rPr>
                <a:t>printArray</a:t>
              </a:r>
              <a:r>
                <a:rPr lang="en-US" sz="1200" dirty="0" smtClean="0">
                  <a:solidFill>
                    <a:srgbClr val="0000FF"/>
                  </a:solidFill>
                </a:rPr>
                <a:t>(</a:t>
              </a:r>
              <a:r>
                <a:rPr lang="en-US" sz="1200" dirty="0" smtClean="0">
                  <a:solidFill>
                    <a:srgbClr val="00B0F0"/>
                  </a:solidFill>
                </a:rPr>
                <a:t>double[]</a:t>
              </a:r>
              <a:r>
                <a:rPr lang="en-US" sz="1200" dirty="0" smtClean="0">
                  <a:solidFill>
                    <a:srgbClr val="0000FF"/>
                  </a:solidFill>
                </a:rPr>
                <a:t> </a:t>
              </a:r>
              <a:r>
                <a:rPr lang="en-US" sz="1200" dirty="0" smtClean="0">
                  <a:solidFill>
                    <a:srgbClr val="FF33CC"/>
                  </a:solidFill>
                </a:rPr>
                <a:t>list</a:t>
              </a:r>
              <a:r>
                <a:rPr lang="en-US" sz="12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{</a:t>
              </a:r>
            </a:p>
            <a:p>
              <a:r>
                <a:rPr lang="en-US" sz="12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2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200" dirty="0" smtClean="0">
                  <a:solidFill>
                    <a:srgbClr val="0000FF"/>
                  </a:solidFill>
                </a:rPr>
                <a:t> </a:t>
              </a:r>
              <a:r>
                <a:rPr lang="en-US" sz="1200" dirty="0" err="1" smtClean="0"/>
                <a:t>i</a:t>
              </a:r>
              <a:r>
                <a:rPr lang="en-US" sz="1200" dirty="0"/>
                <a:t>;</a:t>
              </a:r>
              <a:endParaRPr lang="en-US" sz="1200" dirty="0" smtClean="0"/>
            </a:p>
            <a:p>
              <a:r>
                <a:rPr lang="en-US" sz="12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200" dirty="0" smtClean="0">
                  <a:solidFill>
                    <a:srgbClr val="00B0F0"/>
                  </a:solidFill>
                </a:rPr>
                <a:t>for</a:t>
              </a:r>
              <a:r>
                <a:rPr lang="en-US" sz="1200" dirty="0" smtClean="0">
                  <a:solidFill>
                    <a:srgbClr val="0000FF"/>
                  </a:solidFill>
                </a:rPr>
                <a:t> </a:t>
              </a:r>
              <a:r>
                <a:rPr lang="en-US" sz="1200" dirty="0" smtClean="0"/>
                <a:t>(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=0; 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 &lt; </a:t>
              </a:r>
              <a:r>
                <a:rPr lang="en-US" sz="1200" dirty="0" err="1" smtClean="0">
                  <a:solidFill>
                    <a:srgbClr val="FF33CC"/>
                  </a:solidFill>
                </a:rPr>
                <a:t>list.</a:t>
              </a:r>
              <a:r>
                <a:rPr lang="en-US" sz="12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200" dirty="0" smtClean="0"/>
                <a:t>; 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++)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</a:t>
              </a:r>
              <a:r>
                <a:rPr lang="en-US" sz="1200" dirty="0" err="1" smtClean="0"/>
                <a:t>System.out.print</a:t>
              </a:r>
              <a:r>
                <a:rPr lang="en-US" sz="1200" dirty="0" smtClean="0"/>
                <a:t> (</a:t>
              </a:r>
              <a:r>
                <a:rPr lang="en-US" sz="1200" dirty="0" smtClean="0">
                  <a:solidFill>
                    <a:srgbClr val="FF33CC"/>
                  </a:solidFill>
                </a:rPr>
                <a:t>list</a:t>
              </a:r>
              <a:r>
                <a:rPr lang="en-US" sz="1200" dirty="0" smtClean="0"/>
                <a:t>[</a:t>
              </a:r>
              <a:r>
                <a:rPr lang="en-US" sz="1200" dirty="0" err="1" smtClean="0"/>
                <a:t>i</a:t>
              </a:r>
              <a:r>
                <a:rPr lang="en-US" sz="1200" dirty="0" smtClean="0"/>
                <a:t>] + “   “</a:t>
              </a:r>
              <a:r>
                <a:rPr lang="en-US" sz="12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</a:t>
              </a:r>
              <a:r>
                <a:rPr lang="en-US" sz="1200" dirty="0" err="1" smtClean="0"/>
                <a:t>System.out.println</a:t>
              </a:r>
              <a:r>
                <a:rPr lang="en-US" sz="1200" dirty="0" smtClean="0"/>
                <a:t>(); </a:t>
              </a:r>
            </a:p>
            <a:p>
              <a:r>
                <a:rPr lang="en-US" sz="1200" dirty="0" smtClean="0"/>
                <a:t>      }</a:t>
              </a:r>
              <a:r>
                <a:rPr lang="en-US" sz="12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2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200" dirty="0" err="1" smtClean="0">
                  <a:solidFill>
                    <a:srgbClr val="00B050"/>
                  </a:solidFill>
                </a:rPr>
                <a:t>printArray</a:t>
              </a:r>
              <a:endParaRPr lang="en-US" sz="1200" dirty="0" smtClean="0">
                <a:solidFill>
                  <a:srgbClr val="00B050"/>
                </a:solidFill>
              </a:endParaRPr>
            </a:p>
            <a:p>
              <a:r>
                <a:rPr lang="en-US" sz="1200" dirty="0" smtClean="0"/>
                <a:t> } </a:t>
              </a:r>
              <a:r>
                <a:rPr lang="en-US" sz="1200" dirty="0" smtClean="0">
                  <a:solidFill>
                    <a:srgbClr val="00B050"/>
                  </a:solidFill>
                </a:rPr>
                <a:t>//end of class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3528" y="1236822"/>
              <a:ext cx="450344" cy="4948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28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683568" y="2636912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83568" y="2811415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83568" y="3212976"/>
            <a:ext cx="8280919" cy="165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83568" y="4869160"/>
            <a:ext cx="8280919" cy="1440160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Callout 25"/>
          <p:cNvSpPr/>
          <p:nvPr/>
        </p:nvSpPr>
        <p:spPr>
          <a:xfrm>
            <a:off x="5796136" y="1844824"/>
            <a:ext cx="2448272" cy="1368152"/>
          </a:xfrm>
          <a:prstGeom prst="wedgeEllipseCallout">
            <a:avLst>
              <a:gd name="adj1" fmla="val -184699"/>
              <a:gd name="adj2" fmla="val 1579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Note that [] are not written for actual parameters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21" name="Oval Callout 20"/>
          <p:cNvSpPr/>
          <p:nvPr/>
        </p:nvSpPr>
        <p:spPr>
          <a:xfrm>
            <a:off x="6156176" y="4293096"/>
            <a:ext cx="2448272" cy="1368152"/>
          </a:xfrm>
          <a:prstGeom prst="wedgeEllipseCallout">
            <a:avLst>
              <a:gd name="adj1" fmla="val -130246"/>
              <a:gd name="adj2" fmla="val 10171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Every occurrence of </a:t>
            </a:r>
            <a:r>
              <a:rPr lang="en-US" sz="1400" dirty="0" smtClean="0">
                <a:solidFill>
                  <a:srgbClr val="FF33CC"/>
                </a:solidFill>
              </a:rPr>
              <a:t>list </a:t>
            </a:r>
            <a:r>
              <a:rPr lang="en-US" sz="1400" dirty="0" smtClean="0">
                <a:solidFill>
                  <a:srgbClr val="0000FF"/>
                </a:solidFill>
              </a:rPr>
              <a:t>is replaced by </a:t>
            </a:r>
            <a:r>
              <a:rPr lang="en-US" sz="1400" dirty="0" smtClean="0">
                <a:solidFill>
                  <a:srgbClr val="FF33CC"/>
                </a:solidFill>
              </a:rPr>
              <a:t>sales</a:t>
            </a:r>
            <a:endParaRPr lang="en-US" sz="1400" dirty="0">
              <a:solidFill>
                <a:srgbClr val="FF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16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2.2 SEARCHING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160160"/>
            <a:ext cx="8784977" cy="5509200"/>
            <a:chOff x="323528" y="1236822"/>
            <a:chExt cx="7848873" cy="5180417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518041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.Scanner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arrayElementsAsParameters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/>
                <a:t>  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600" dirty="0" smtClean="0"/>
                <a:t>Scanner read = </a:t>
              </a:r>
              <a:r>
                <a:rPr lang="en-US" sz="1600" dirty="0" smtClean="0">
                  <a:solidFill>
                    <a:srgbClr val="00B0F0"/>
                  </a:solidFill>
                </a:rPr>
                <a:t>new </a:t>
              </a:r>
              <a:r>
                <a:rPr lang="en-US" sz="1600" dirty="0" smtClean="0"/>
                <a:t>Scanner (System.in);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/>
                <a:t> index, target;</a:t>
              </a:r>
            </a:p>
            <a:p>
              <a:r>
                <a:rPr lang="en-US" sz="1600" dirty="0" smtClean="0"/>
                <a:t>     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[]</a:t>
              </a:r>
              <a:r>
                <a:rPr lang="en-US" sz="1600" dirty="0" smtClean="0"/>
                <a:t> numbers = </a:t>
              </a:r>
              <a:r>
                <a:rPr lang="en-US" sz="1600" dirty="0" smtClean="0">
                  <a:solidFill>
                    <a:srgbClr val="00B0F0"/>
                  </a:solidFill>
                </a:rPr>
                <a:t>new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/>
                <a:t>[100];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   // Fill the array from the user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for </a:t>
              </a:r>
              <a:r>
                <a:rPr lang="en-US" sz="1600" dirty="0" smtClean="0"/>
                <a:t>(index = 0; index &lt; 100; index++)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  </a:t>
              </a:r>
              <a:r>
                <a:rPr lang="en-US" sz="1600" dirty="0" err="1" smtClean="0"/>
                <a:t>System.out.print</a:t>
              </a:r>
              <a:r>
                <a:rPr lang="en-US" sz="1600" dirty="0" smtClean="0"/>
                <a:t> (“Enter array element: “);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  numbers[index] = </a:t>
              </a:r>
              <a:r>
                <a:rPr lang="en-US" sz="1600" dirty="0" err="1" smtClean="0"/>
                <a:t>read.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600" dirty="0" smtClean="0">
                  <a:solidFill>
                    <a:srgbClr val="00B050"/>
                  </a:solidFill>
                </a:rPr>
                <a:t>()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  </a:t>
              </a:r>
              <a:r>
                <a:rPr lang="en-US" sz="1600" dirty="0" err="1" smtClean="0"/>
                <a:t>System.out.println</a:t>
              </a:r>
              <a:r>
                <a:rPr lang="en-US" sz="1600" dirty="0" smtClean="0"/>
                <a:t> ();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}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    // Get the target element to search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</a:t>
              </a:r>
              <a:r>
                <a:rPr lang="en-US" sz="1600" dirty="0" err="1" smtClean="0"/>
                <a:t>System.out.print</a:t>
              </a:r>
              <a:r>
                <a:rPr lang="en-US" sz="1600" dirty="0" smtClean="0"/>
                <a:t> (“Enter target element” 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target = </a:t>
              </a:r>
              <a:r>
                <a:rPr lang="en-US" sz="1600" dirty="0" err="1" smtClean="0"/>
                <a:t>read.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600" dirty="0" smtClean="0">
                  <a:solidFill>
                    <a:srgbClr val="00B050"/>
                  </a:solidFill>
                </a:rPr>
                <a:t>()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    // Call for the search method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   Search (numbers, target);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the Search method is in the next slide…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5180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22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683568" y="5805264"/>
            <a:ext cx="8280919" cy="216025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2.2 SEARCHING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405800"/>
            <a:ext cx="8784977" cy="5016758"/>
            <a:chOff x="323528" y="1236822"/>
            <a:chExt cx="7848873" cy="4717363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471736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50"/>
                  </a:solidFill>
                </a:rPr>
                <a:t>//searching an element in the array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void </a:t>
              </a:r>
              <a:r>
                <a:rPr lang="en-US" sz="1600" dirty="0" smtClean="0">
                  <a:solidFill>
                    <a:srgbClr val="0000FF"/>
                  </a:solidFill>
                </a:rPr>
                <a:t>search</a:t>
              </a:r>
              <a:r>
                <a:rPr lang="en-US" sz="1600" dirty="0" smtClean="0">
                  <a:solidFill>
                    <a:srgbClr val="00B0F0"/>
                  </a:solidFill>
                </a:rPr>
                <a:t> 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[] </a:t>
              </a:r>
              <a:r>
                <a:rPr lang="en-US" sz="1600" dirty="0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smtClean="0">
                  <a:solidFill>
                    <a:srgbClr val="00B0F0"/>
                  </a:solidFill>
                </a:rPr>
                <a:t>,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element</a:t>
              </a:r>
              <a:r>
                <a:rPr lang="en-US" sz="16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/>
                <a:t>i</a:t>
              </a:r>
              <a:r>
                <a:rPr lang="en-US" sz="1600" dirty="0" smtClean="0"/>
                <a:t> = 0, sub;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/>
                <a:t>found = </a:t>
              </a:r>
              <a:r>
                <a:rPr lang="en-US" sz="1600" dirty="0" smtClean="0">
                  <a:solidFill>
                    <a:srgbClr val="00B0F0"/>
                  </a:solidFill>
                </a:rPr>
                <a:t>false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while </a:t>
              </a:r>
              <a:r>
                <a:rPr lang="en-US" sz="1600" dirty="0" smtClean="0"/>
                <a:t>(!found &amp;&amp; </a:t>
              </a:r>
              <a:r>
                <a:rPr lang="en-US" sz="1600" dirty="0" err="1" smtClean="0"/>
                <a:t>i</a:t>
              </a:r>
              <a:r>
                <a:rPr lang="en-US" sz="1600" dirty="0" smtClean="0"/>
                <a:t> &lt;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list.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6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smtClean="0"/>
                <a:t> 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smtClean="0"/>
                <a:t>[</a:t>
              </a:r>
              <a:r>
                <a:rPr lang="en-US" sz="1600" dirty="0" err="1" smtClean="0"/>
                <a:t>i</a:t>
              </a:r>
              <a:r>
                <a:rPr lang="en-US" sz="1600" dirty="0" smtClean="0"/>
                <a:t>] ==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element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found = </a:t>
              </a:r>
              <a:r>
                <a:rPr lang="en-US" sz="1600" dirty="0" smtClean="0">
                  <a:solidFill>
                    <a:srgbClr val="00B0F0"/>
                  </a:solidFill>
                </a:rPr>
                <a:t>true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sub = </a:t>
              </a:r>
              <a:r>
                <a:rPr lang="en-US" sz="1600" dirty="0" err="1" smtClean="0"/>
                <a:t>i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}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</a:t>
              </a:r>
              <a:r>
                <a:rPr lang="en-US" sz="1600" dirty="0" err="1" smtClean="0"/>
                <a:t>i</a:t>
              </a:r>
              <a:r>
                <a:rPr lang="en-US" sz="1600" dirty="0" smtClean="0"/>
                <a:t>++;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if </a:t>
              </a:r>
              <a:r>
                <a:rPr lang="en-US" sz="1600" dirty="0" smtClean="0"/>
                <a:t>(found)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(“%d found at position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element</a:t>
              </a:r>
              <a:r>
                <a:rPr lang="en-US" sz="1600" dirty="0" smtClean="0"/>
                <a:t>, sub);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else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(“%d not found..!!”,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element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search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4717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133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8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2.3 value-returning method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9512" y="1350646"/>
            <a:ext cx="8784976" cy="823153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600" dirty="0"/>
              <a:t>Write a </a:t>
            </a:r>
            <a:r>
              <a:rPr lang="en-US" sz="1600" dirty="0" smtClean="0"/>
              <a:t>method that searches for a target element in a one-dimensional array. The method should return the index of the found element. If it is not found, it returns -1.</a:t>
            </a:r>
          </a:p>
        </p:txBody>
      </p:sp>
      <p:grpSp>
        <p:nvGrpSpPr>
          <p:cNvPr id="2" name="Group 17"/>
          <p:cNvGrpSpPr/>
          <p:nvPr/>
        </p:nvGrpSpPr>
        <p:grpSpPr>
          <a:xfrm>
            <a:off x="179512" y="2375009"/>
            <a:ext cx="8784977" cy="2062103"/>
            <a:chOff x="323528" y="1236822"/>
            <a:chExt cx="7848873" cy="1939040"/>
          </a:xfrm>
        </p:grpSpPr>
        <p:sp>
          <p:nvSpPr>
            <p:cNvPr id="19" name="TextBox 18"/>
            <p:cNvSpPr txBox="1"/>
            <p:nvPr/>
          </p:nvSpPr>
          <p:spPr>
            <a:xfrm>
              <a:off x="788528" y="1236822"/>
              <a:ext cx="7383873" cy="193904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search 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[] </a:t>
              </a:r>
              <a:r>
                <a:rPr lang="en-US" sz="1600" dirty="0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smtClean="0"/>
                <a:t>,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target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index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for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index </a:t>
              </a:r>
              <a:r>
                <a:rPr lang="en-US" sz="1600" dirty="0" smtClean="0"/>
                <a:t>= 0; </a:t>
              </a:r>
              <a:r>
                <a:rPr lang="en-US" sz="1600" dirty="0" smtClean="0">
                  <a:solidFill>
                    <a:srgbClr val="0000FF"/>
                  </a:solidFill>
                </a:rPr>
                <a:t>index </a:t>
              </a:r>
              <a:r>
                <a:rPr lang="en-US" sz="1600" dirty="0" smtClean="0"/>
                <a:t>&lt;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err="1" smtClean="0"/>
                <a:t>.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600" dirty="0" smtClean="0"/>
                <a:t>; </a:t>
              </a:r>
              <a:r>
                <a:rPr lang="en-US" sz="1600" dirty="0" smtClean="0">
                  <a:solidFill>
                    <a:srgbClr val="0000FF"/>
                  </a:solidFill>
                </a:rPr>
                <a:t>index</a:t>
              </a:r>
              <a:r>
                <a:rPr lang="en-US" sz="1600" dirty="0" smtClean="0"/>
                <a:t>++)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/>
                <a:t> (</a:t>
              </a:r>
              <a:r>
                <a:rPr lang="en-US" sz="1600" dirty="0" smtClean="0">
                  <a:solidFill>
                    <a:srgbClr val="FF33CC"/>
                  </a:solidFill>
                </a:rPr>
                <a:t>list</a:t>
              </a:r>
              <a:r>
                <a:rPr lang="en-US" sz="1600" dirty="0" smtClean="0"/>
                <a:t>[</a:t>
              </a:r>
              <a:r>
                <a:rPr lang="en-US" sz="1600" dirty="0" smtClean="0">
                  <a:solidFill>
                    <a:srgbClr val="0000FF"/>
                  </a:solidFill>
                </a:rPr>
                <a:t>index</a:t>
              </a:r>
              <a:r>
                <a:rPr lang="en-US" sz="1600" dirty="0" smtClean="0"/>
                <a:t>] == </a:t>
              </a:r>
              <a:r>
                <a:rPr lang="en-US" sz="1600" dirty="0" smtClean="0">
                  <a:solidFill>
                    <a:srgbClr val="FF33CC"/>
                  </a:solidFill>
                </a:rPr>
                <a:t>target</a:t>
              </a:r>
              <a:r>
                <a:rPr lang="en-US" sz="1600" dirty="0" smtClean="0"/>
                <a:t>)</a:t>
              </a:r>
              <a:endParaRPr lang="en-US" sz="1600" dirty="0" smtClean="0"/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</a:t>
              </a:r>
              <a:r>
                <a:rPr lang="en-US" sz="1600" dirty="0" smtClean="0">
                  <a:solidFill>
                    <a:srgbClr val="0000FF"/>
                  </a:solidFill>
                </a:rPr>
                <a:t>index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</a:t>
              </a:r>
              <a:r>
                <a:rPr lang="en-US" sz="1600" dirty="0" smtClean="0"/>
                <a:t>-1;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search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3528" y="1236822"/>
              <a:ext cx="450344" cy="1939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501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2.4 largest number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520" y="1268760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Write a program that finds the largest number stored in an array of positive integers and outputs its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213285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251520" y="458112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1634241" y="4581128"/>
            <a:ext cx="7344816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 maximum value in the array (</a:t>
            </a:r>
            <a:r>
              <a:rPr lang="en-US" dirty="0" smtClean="0">
                <a:solidFill>
                  <a:srgbClr val="FF33CC"/>
                </a:solidFill>
              </a:rPr>
              <a:t>variable: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max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smtClean="0">
                <a:solidFill>
                  <a:srgbClr val="FF33CC"/>
                </a:solidFill>
              </a:rPr>
              <a:t>type: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 index of </a:t>
            </a:r>
            <a:r>
              <a:rPr lang="en-US" dirty="0" smtClean="0">
                <a:solidFill>
                  <a:srgbClr val="0000FF"/>
                </a:solidFill>
              </a:rPr>
              <a:t>max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dirty="0" smtClean="0">
                <a:solidFill>
                  <a:srgbClr val="FF33CC"/>
                </a:solidFill>
              </a:rPr>
              <a:t>variable: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maxIndex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smtClean="0">
                <a:solidFill>
                  <a:srgbClr val="FF33CC"/>
                </a:solidFill>
              </a:rPr>
              <a:t>type: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1619672" y="2132856"/>
            <a:ext cx="7344816" cy="144016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An array of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numbers </a:t>
            </a:r>
            <a:r>
              <a:rPr lang="en-US" dirty="0" smtClean="0">
                <a:solidFill>
                  <a:srgbClr val="CC0099"/>
                </a:solidFill>
              </a:rPr>
              <a:t>(variable: </a:t>
            </a:r>
            <a:r>
              <a:rPr lang="en-US" dirty="0" err="1" smtClean="0">
                <a:solidFill>
                  <a:srgbClr val="0000FF"/>
                </a:solidFill>
              </a:rPr>
              <a:t>numList</a:t>
            </a:r>
            <a:r>
              <a:rPr lang="en-US" dirty="0" smtClean="0">
                <a:solidFill>
                  <a:srgbClr val="CC0099"/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</a:t>
            </a:r>
            <a:r>
              <a:rPr lang="en-US" dirty="0" smtClean="0">
                <a:solidFill>
                  <a:srgbClr val="CC0099"/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Array size = unknown 		</a:t>
            </a:r>
            <a:r>
              <a:rPr lang="en-US" dirty="0" smtClean="0">
                <a:solidFill>
                  <a:srgbClr val="0070C0"/>
                </a:solidFill>
                <a:sym typeface="Wingdings" panose="05000000000000000000" pitchFamily="2" charset="2"/>
              </a:rPr>
              <a:t> Assume a large size,</a:t>
            </a:r>
          </a:p>
          <a:p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	</a:t>
            </a:r>
            <a:r>
              <a:rPr lang="en-US" dirty="0" smtClean="0">
                <a:solidFill>
                  <a:srgbClr val="0070C0"/>
                </a:solidFill>
                <a:sym typeface="Wingdings" panose="05000000000000000000" pitchFamily="2" charset="2"/>
              </a:rPr>
              <a:t>			    use a sentinel, and</a:t>
            </a:r>
          </a:p>
          <a:p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	</a:t>
            </a:r>
            <a:r>
              <a:rPr lang="en-US" dirty="0" smtClean="0">
                <a:solidFill>
                  <a:srgbClr val="0070C0"/>
                </a:solidFill>
                <a:sym typeface="Wingdings" panose="05000000000000000000" pitchFamily="2" charset="2"/>
              </a:rPr>
              <a:t>			    use </a:t>
            </a:r>
            <a:r>
              <a:rPr lang="en-US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numOfElements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47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22" grpId="0" animBg="1"/>
      <p:bldP spid="2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2.4 largest number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2" name="Group 14"/>
          <p:cNvGrpSpPr/>
          <p:nvPr/>
        </p:nvGrpSpPr>
        <p:grpSpPr>
          <a:xfrm>
            <a:off x="179512" y="1402318"/>
            <a:ext cx="8784976" cy="3970318"/>
            <a:chOff x="323528" y="1236822"/>
            <a:chExt cx="7848872" cy="3733384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373338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// import necessary libraries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import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		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array1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{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// instantiate the object read from the class Scanner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static </a:t>
              </a:r>
              <a:r>
                <a:rPr lang="en-US" sz="1400" dirty="0" smtClean="0">
                  <a:solidFill>
                    <a:srgbClr val="0000FF"/>
                  </a:solidFill>
                </a:rPr>
                <a:t>Scanner read 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</a:t>
              </a:r>
              <a:r>
                <a:rPr lang="en-US" sz="1400" dirty="0" smtClean="0">
                  <a:solidFill>
                    <a:srgbClr val="0000FF"/>
                  </a:solidFill>
                </a:rPr>
                <a:t> Scanner (System.in);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static final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SENTINEL = -1;     </a:t>
              </a:r>
              <a:r>
                <a:rPr lang="en-US" sz="1400" dirty="0" smtClean="0">
                  <a:solidFill>
                    <a:srgbClr val="00B050"/>
                  </a:solidFill>
                </a:rPr>
                <a:t>// to signal end of input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public static void</a:t>
              </a:r>
              <a:r>
                <a:rPr lang="en-US" sz="1400" dirty="0" smtClean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/>
                <a:t>// Declaration section: to declare needed variables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numList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 = 0; 			</a:t>
              </a:r>
              <a:r>
                <a:rPr lang="en-US" sz="1400" dirty="0" smtClean="0">
                  <a:solidFill>
                    <a:srgbClr val="00B050"/>
                  </a:solidFill>
                </a:rPr>
                <a:t>// will be used as the array index (subscript)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max = -1;		</a:t>
              </a:r>
              <a:r>
                <a:rPr lang="en-US" sz="1400" dirty="0" smtClean="0">
                  <a:solidFill>
                    <a:srgbClr val="00B050"/>
                  </a:solidFill>
                </a:rPr>
                <a:t>// to store the maximum element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maxIndex</a:t>
              </a:r>
              <a:r>
                <a:rPr lang="en-US" sz="1400" dirty="0" smtClean="0">
                  <a:solidFill>
                    <a:srgbClr val="0000FF"/>
                  </a:solidFill>
                </a:rPr>
                <a:t> = -1;		</a:t>
              </a:r>
              <a:r>
                <a:rPr lang="en-US" sz="1400" dirty="0" smtClean="0">
                  <a:solidFill>
                    <a:srgbClr val="00B050"/>
                  </a:solidFill>
                </a:rPr>
                <a:t>// to store the index of max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numOfElements</a:t>
              </a:r>
              <a:r>
                <a:rPr lang="en-US" sz="1400" dirty="0" smtClean="0">
                  <a:solidFill>
                    <a:srgbClr val="0000FF"/>
                  </a:solidFill>
                </a:rPr>
                <a:t> = 0;	</a:t>
              </a:r>
              <a:r>
                <a:rPr lang="en-US" sz="1400" dirty="0" smtClean="0">
                  <a:solidFill>
                    <a:srgbClr val="00B050"/>
                  </a:solidFill>
                </a:rPr>
                <a:t>// counter to check if there is data input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double</a:t>
              </a:r>
              <a:r>
                <a:rPr lang="en-US" sz="1400" dirty="0" smtClean="0">
                  <a:solidFill>
                    <a:srgbClr val="0000FF"/>
                  </a:solidFill>
                </a:rPr>
                <a:t> average;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</a:t>
              </a:r>
              <a:r>
                <a:rPr lang="en-US" sz="1400" dirty="0">
                  <a:solidFill>
                    <a:srgbClr val="00B050"/>
                  </a:solidFill>
                </a:rPr>
                <a:t>// Instantiate the array object with a large size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numList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>
                  <a:solidFill>
                    <a:srgbClr val="00B0F0"/>
                  </a:solidFill>
                </a:rPr>
                <a:t>new 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</a:rPr>
                <a:t>[1000];</a:t>
              </a:r>
              <a:endParaRPr lang="en-US" sz="1400" dirty="0" smtClean="0">
                <a:solidFill>
                  <a:srgbClr val="0000FF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3733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899592" y="270892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99592" y="400506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99592" y="4221088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99592" y="443711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99592" y="508518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2.4 largest number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2" name="Group 14"/>
          <p:cNvGrpSpPr/>
          <p:nvPr/>
        </p:nvGrpSpPr>
        <p:grpSpPr>
          <a:xfrm>
            <a:off x="179512" y="1326247"/>
            <a:ext cx="8784976" cy="4832092"/>
            <a:chOff x="323528" y="1236822"/>
            <a:chExt cx="7848872" cy="4543730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454373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50"/>
                  </a:solidFill>
                </a:rPr>
                <a:t>          </a:t>
              </a:r>
              <a:r>
                <a:rPr lang="en-US" sz="1400" dirty="0">
                  <a:solidFill>
                    <a:srgbClr val="00B050"/>
                  </a:solidFill>
                </a:rPr>
                <a:t>// input &amp; processing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 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numOfElements</a:t>
              </a:r>
              <a:r>
                <a:rPr lang="en-US" sz="1400" dirty="0">
                  <a:solidFill>
                    <a:srgbClr val="0000FF"/>
                  </a:solidFill>
                </a:rPr>
                <a:t> &lt; 1000)		</a:t>
              </a:r>
              <a:r>
                <a:rPr lang="en-US" sz="1400" dirty="0">
                  <a:solidFill>
                    <a:srgbClr val="00B050"/>
                  </a:solidFill>
                </a:rPr>
                <a:t>//maximum array capacity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 or %d to end”, SENTINEL);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</a:t>
              </a:r>
              <a:r>
                <a:rPr lang="en-US" sz="1400" dirty="0" err="1">
                  <a:solidFill>
                    <a:srgbClr val="0000FF"/>
                  </a:solidFill>
                </a:rPr>
                <a:t>numList</a:t>
              </a:r>
              <a:r>
                <a:rPr lang="en-US" sz="1400" dirty="0">
                  <a:solidFill>
                    <a:srgbClr val="0000FF"/>
                  </a:solidFill>
                </a:rPr>
                <a:t>[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]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</a:t>
              </a:r>
              <a:r>
                <a:rPr lang="en-US" sz="1400" dirty="0">
                  <a:solidFill>
                    <a:srgbClr val="00B0F0"/>
                  </a:solidFill>
                </a:rPr>
                <a:t>if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numList</a:t>
              </a:r>
              <a:r>
                <a:rPr lang="en-US" sz="1400" dirty="0">
                  <a:solidFill>
                    <a:srgbClr val="0000FF"/>
                  </a:solidFill>
                </a:rPr>
                <a:t>[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] == -1)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</a:t>
              </a:r>
              <a:r>
                <a:rPr lang="en-US" sz="1400" dirty="0">
                  <a:solidFill>
                    <a:srgbClr val="00B0F0"/>
                  </a:solidFill>
                </a:rPr>
                <a:t> break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	    </a:t>
              </a:r>
              <a:r>
                <a:rPr lang="en-US" sz="1400" dirty="0" smtClean="0">
                  <a:solidFill>
                    <a:srgbClr val="00B0F0"/>
                  </a:solidFill>
                </a:rPr>
                <a:t>if 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numList</a:t>
              </a:r>
              <a:r>
                <a:rPr lang="en-US" sz="1400" dirty="0" smtClean="0">
                  <a:solidFill>
                    <a:srgbClr val="0000FF"/>
                  </a:solidFill>
                </a:rPr>
                <a:t>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] &gt; max)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max =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numList</a:t>
              </a:r>
              <a:r>
                <a:rPr lang="en-US" sz="1400" dirty="0" smtClean="0">
                  <a:solidFill>
                    <a:srgbClr val="0000FF"/>
                  </a:solidFill>
                </a:rPr>
                <a:t>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];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maxIndex</a:t>
              </a:r>
              <a:r>
                <a:rPr lang="en-US" sz="1400" dirty="0" smtClean="0">
                  <a:solidFill>
                    <a:srgbClr val="0000FF"/>
                  </a:solidFill>
                </a:rPr>
                <a:t> =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</a:t>
              </a:r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if (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numList</a:t>
              </a:r>
              <a:r>
                <a:rPr lang="en-US" sz="1400" dirty="0" smtClean="0">
                  <a:solidFill>
                    <a:srgbClr val="00B050"/>
                  </a:solidFill>
                </a:rPr>
                <a:t>[…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	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numOfElements</a:t>
              </a:r>
              <a:r>
                <a:rPr lang="en-US" sz="1400" dirty="0" smtClean="0">
                  <a:solidFill>
                    <a:srgbClr val="0000FF"/>
                  </a:solidFill>
                </a:rPr>
                <a:t>++;	</a:t>
              </a:r>
              <a:r>
                <a:rPr lang="en-US" sz="1400" dirty="0" smtClean="0">
                  <a:solidFill>
                    <a:srgbClr val="00B050"/>
                  </a:solidFill>
                </a:rPr>
                <a:t>//counter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	    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}</a:t>
              </a:r>
              <a:r>
                <a:rPr lang="en-US" sz="1400" dirty="0">
                  <a:solidFill>
                    <a:srgbClr val="00B050"/>
                  </a:solidFill>
                </a:rPr>
                <a:t> // end while </a:t>
              </a:r>
              <a:r>
                <a:rPr lang="en-US" sz="1400" dirty="0" smtClean="0">
                  <a:solidFill>
                    <a:srgbClr val="00B050"/>
                  </a:solidFill>
                </a:rPr>
                <a:t>	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  //output section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	</a:t>
              </a:r>
              <a:r>
                <a:rPr lang="en-US" sz="1400" dirty="0" smtClean="0">
                  <a:solidFill>
                    <a:srgbClr val="00B0F0"/>
                  </a:solidFill>
                </a:rPr>
                <a:t>if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numOfElements</a:t>
              </a:r>
              <a:r>
                <a:rPr lang="en-US" sz="1400" dirty="0" smtClean="0">
                  <a:solidFill>
                    <a:srgbClr val="0000FF"/>
                  </a:solidFill>
                </a:rPr>
                <a:t> != 0)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(“Largest number = %3d, Index = %3d”, max,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maxIndex</a:t>
              </a:r>
              <a:r>
                <a:rPr lang="en-US" sz="14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(“No input data”);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 end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4543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40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99592" y="155679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99592" y="198884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9592" y="2420888"/>
            <a:ext cx="8064896" cy="43204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99592" y="2852936"/>
            <a:ext cx="8064896" cy="1080120"/>
          </a:xfrm>
          <a:prstGeom prst="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99592" y="393305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99592" y="414908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99592" y="479715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404009" y="1916832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404009" y="1916832"/>
            <a:ext cx="0" cy="2520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404009" y="4437112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251520" y="2708920"/>
            <a:ext cx="2016224" cy="3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51520" y="2709303"/>
            <a:ext cx="0" cy="21598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51520" y="4869160"/>
            <a:ext cx="158453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59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2.5 array copy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9512" y="1350646"/>
            <a:ext cx="8784976" cy="823153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600" dirty="0"/>
              <a:t>Write a </a:t>
            </a:r>
            <a:r>
              <a:rPr lang="en-US" sz="1600" dirty="0" smtClean="0"/>
              <a:t>modular (with methods) program that copies a one-dimensional array to another. The arrays are not necessarily of the same size. Array sizes are given (</a:t>
            </a:r>
            <a:r>
              <a:rPr lang="en-US" sz="1600" dirty="0" err="1" smtClean="0"/>
              <a:t>ie</a:t>
            </a:r>
            <a:r>
              <a:rPr lang="en-US" sz="1600" dirty="0" smtClean="0"/>
              <a:t> input by the user).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951" y="227687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1619672" y="2276872"/>
            <a:ext cx="7344816" cy="720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Source Array (variable: </a:t>
            </a:r>
            <a:r>
              <a:rPr lang="en-US" dirty="0" err="1" smtClean="0">
                <a:solidFill>
                  <a:srgbClr val="0000FF"/>
                </a:solidFill>
              </a:rPr>
              <a:t>listA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Size of the array (variable: </a:t>
            </a:r>
            <a:r>
              <a:rPr lang="en-US" dirty="0" err="1" smtClean="0">
                <a:solidFill>
                  <a:srgbClr val="0000FF"/>
                </a:solidFill>
              </a:rPr>
              <a:t>sizeA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520" y="30689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4" name="Rounded Rectangle 33"/>
          <p:cNvSpPr/>
          <p:nvPr/>
        </p:nvSpPr>
        <p:spPr>
          <a:xfrm>
            <a:off x="1634241" y="3068960"/>
            <a:ext cx="7344816" cy="64807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Destination Array (variable: </a:t>
            </a:r>
            <a:r>
              <a:rPr lang="en-US" dirty="0" err="1" smtClean="0">
                <a:solidFill>
                  <a:srgbClr val="0000FF"/>
                </a:solidFill>
              </a:rPr>
              <a:t>listB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Size of the array (variable: </a:t>
            </a:r>
            <a:r>
              <a:rPr lang="en-US" dirty="0" err="1" smtClean="0">
                <a:solidFill>
                  <a:srgbClr val="0000FF"/>
                </a:solidFill>
              </a:rPr>
              <a:t>sizeB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 smtClean="0">
              <a:solidFill>
                <a:srgbClr val="FF3399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51520" y="386104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36" name="Rounded Rectangle 35"/>
          <p:cNvSpPr/>
          <p:nvPr/>
        </p:nvSpPr>
        <p:spPr>
          <a:xfrm>
            <a:off x="251520" y="4437112"/>
            <a:ext cx="8727537" cy="108012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B0F0"/>
                </a:solidFill>
              </a:rPr>
              <a:t>public static void </a:t>
            </a:r>
            <a:r>
              <a:rPr lang="en-US" dirty="0" err="1" smtClean="0">
                <a:solidFill>
                  <a:srgbClr val="0000FF"/>
                </a:solidFill>
              </a:rPr>
              <a:t>copyArrays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	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 </a:t>
            </a:r>
            <a:r>
              <a:rPr lang="en-US" dirty="0" smtClean="0">
                <a:solidFill>
                  <a:srgbClr val="FF33CC"/>
                </a:solidFill>
              </a:rPr>
              <a:t>source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 </a:t>
            </a:r>
            <a:r>
              <a:rPr lang="en-US" dirty="0" smtClean="0">
                <a:solidFill>
                  <a:srgbClr val="FF33CC"/>
                </a:solidFill>
              </a:rPr>
              <a:t>destination</a:t>
            </a:r>
            <a:r>
              <a:rPr lang="en-US" dirty="0" smtClean="0">
                <a:solidFill>
                  <a:schemeClr val="tx1"/>
                </a:solidFill>
              </a:rPr>
              <a:t>,</a:t>
            </a:r>
            <a:r>
              <a:rPr lang="en-US" dirty="0" smtClean="0">
                <a:solidFill>
                  <a:srgbClr val="FF33CC"/>
                </a:solidFill>
              </a:rPr>
              <a:t> </a:t>
            </a:r>
          </a:p>
          <a:p>
            <a:r>
              <a:rPr lang="en-US" dirty="0">
                <a:solidFill>
                  <a:srgbClr val="FF33CC"/>
                </a:solidFill>
              </a:rPr>
              <a:t>	</a:t>
            </a:r>
            <a:r>
              <a:rPr lang="en-US" dirty="0" smtClean="0">
                <a:solidFill>
                  <a:srgbClr val="FF33CC"/>
                </a:solidFill>
              </a:rPr>
              <a:t>			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FF33CC"/>
                </a:solidFill>
              </a:rPr>
              <a:t>numOfElements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 //smaller array size</a:t>
            </a:r>
            <a:endParaRPr lang="en-US" dirty="0" smtClean="0">
              <a:solidFill>
                <a:srgbClr val="FF3399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51520" y="5661248"/>
            <a:ext cx="8784976" cy="64807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 smaller array size = number of elements to be copied to avoid out-of-bound error.</a:t>
            </a:r>
            <a:endParaRPr lang="en-US" dirty="0" smtClean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51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2.5 array copy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/>
          <p:nvPr/>
        </p:nvGrpSpPr>
        <p:grpSpPr>
          <a:xfrm>
            <a:off x="179512" y="1340768"/>
            <a:ext cx="8784977" cy="5047536"/>
            <a:chOff x="323528" y="1236822"/>
            <a:chExt cx="7848873" cy="4746309"/>
          </a:xfrm>
        </p:grpSpPr>
        <p:sp>
          <p:nvSpPr>
            <p:cNvPr id="20" name="TextBox 19"/>
            <p:cNvSpPr txBox="1"/>
            <p:nvPr/>
          </p:nvSpPr>
          <p:spPr>
            <a:xfrm>
              <a:off x="788528" y="1236822"/>
              <a:ext cx="7383873" cy="47463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import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java.util.Scanner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400" dirty="0" smtClean="0">
                  <a:solidFill>
                    <a:srgbClr val="0000FF"/>
                  </a:solidFill>
                </a:rPr>
                <a:t>program2</a:t>
              </a:r>
            </a:p>
            <a:p>
              <a:r>
                <a:rPr lang="en-US" sz="1400" dirty="0" smtClean="0"/>
                <a:t>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400" dirty="0" smtClean="0"/>
                <a:t>Scanner </a:t>
              </a:r>
              <a:r>
                <a:rPr lang="en-US" sz="1400" dirty="0" smtClean="0">
                  <a:solidFill>
                    <a:srgbClr val="0000FF"/>
                  </a:solidFill>
                </a:rPr>
                <a:t>read </a:t>
              </a:r>
              <a:r>
                <a:rPr lang="en-US" sz="1400" dirty="0" smtClean="0"/>
                <a:t>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smtClean="0"/>
                <a:t>Scanner (System.in);</a:t>
              </a:r>
            </a:p>
            <a:p>
              <a:r>
                <a:rPr lang="en-US" sz="1400" dirty="0" smtClean="0"/>
                <a:t>   </a:t>
              </a:r>
              <a:r>
                <a:rPr lang="en-US" sz="14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400" dirty="0" smtClean="0"/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/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s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izeA</a:t>
              </a:r>
              <a:r>
                <a:rPr lang="en-US" sz="1400" dirty="0" smtClean="0">
                  <a:solidFill>
                    <a:srgbClr val="0000FF"/>
                  </a:solidFill>
                </a:rPr>
                <a:t>,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/>
                <a:t>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</a:t>
              </a:r>
              <a:r>
                <a:rPr lang="en-US" sz="1400" dirty="0" smtClean="0"/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400" dirty="0" smtClean="0">
                  <a:solidFill>
                    <a:srgbClr val="0000FF"/>
                  </a:solidFill>
                </a:rPr>
                <a:t>,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/>
                <a:t>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 (“Please enter Size of the source array: “);</a:t>
              </a:r>
            </a:p>
            <a:p>
              <a:r>
                <a:rPr lang="en-US" sz="1400" dirty="0" smtClean="0"/>
                <a:t>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= </a:t>
              </a:r>
              <a:r>
                <a:rPr lang="en-US" sz="1400" dirty="0" err="1" smtClean="0"/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400" dirty="0" smtClean="0">
                  <a:solidFill>
                    <a:srgbClr val="00B050"/>
                  </a:solidFill>
                </a:rPr>
                <a:t>()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400" dirty="0" smtClean="0"/>
                <a:t>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/>
                <a:t>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sz="1400" dirty="0" smtClean="0"/>
                <a:t>];</a:t>
              </a:r>
            </a:p>
            <a:p>
              <a:r>
                <a:rPr lang="en-US" sz="1400" dirty="0" smtClean="0"/>
                <a:t>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(“Please enter Size of the </a:t>
              </a:r>
              <a:r>
                <a:rPr lang="en-US" sz="1400" dirty="0" smtClean="0"/>
                <a:t>destination </a:t>
              </a:r>
              <a:r>
                <a:rPr lang="en-US" sz="1400" dirty="0"/>
                <a:t>array: “);</a:t>
              </a:r>
            </a:p>
            <a:p>
              <a:r>
                <a:rPr lang="en-US" sz="1400" dirty="0"/>
                <a:t>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/>
                <a:t>= </a:t>
              </a:r>
              <a:r>
                <a:rPr lang="en-US" sz="1400" dirty="0" err="1">
                  <a:solidFill>
                    <a:srgbClr val="0000FF"/>
                  </a:solidFill>
                </a:rPr>
                <a:t>read</a:t>
              </a:r>
              <a:r>
                <a:rPr lang="en-US" sz="1400" dirty="0" err="1"/>
                <a:t>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 smtClean="0">
                  <a:solidFill>
                    <a:srgbClr val="00B050"/>
                  </a:solidFill>
                </a:rPr>
                <a:t>()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/>
                <a:t>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sz="1400" dirty="0" smtClean="0"/>
                <a:t>];</a:t>
              </a:r>
            </a:p>
            <a:p>
              <a:r>
                <a:rPr lang="en-US" sz="1400" dirty="0" smtClean="0"/>
                <a:t>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copyArray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00FF"/>
                  </a:solidFill>
                </a:rPr>
                <a:t> min</a:t>
              </a:r>
              <a:r>
                <a:rPr lang="en-US" sz="1400" dirty="0" smtClean="0"/>
                <a:t>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sz="1400" dirty="0" smtClean="0"/>
                <a:t>));</a:t>
              </a:r>
            </a:p>
            <a:p>
              <a:r>
                <a:rPr lang="en-US" sz="1400" dirty="0" smtClean="0"/>
                <a:t>   }</a:t>
              </a:r>
              <a:r>
                <a:rPr lang="en-US" sz="1400" dirty="0" smtClean="0">
                  <a:solidFill>
                    <a:srgbClr val="00B050"/>
                  </a:solidFill>
                </a:rPr>
                <a:t> //end main  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public static void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copyArray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(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 </a:t>
              </a:r>
              <a:r>
                <a:rPr lang="en-US" sz="1400" dirty="0" smtClean="0">
                  <a:solidFill>
                    <a:srgbClr val="FF33CC"/>
                  </a:solidFill>
                </a:rPr>
                <a:t>source</a:t>
              </a:r>
              <a:r>
                <a:rPr lang="en-US" sz="1400" dirty="0" smtClean="0"/>
                <a:t>,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 </a:t>
              </a:r>
              <a:r>
                <a:rPr lang="en-US" sz="1400" dirty="0" smtClean="0">
                  <a:solidFill>
                    <a:srgbClr val="FF33CC"/>
                  </a:solidFill>
                </a:rPr>
                <a:t>destination</a:t>
              </a:r>
              <a:r>
                <a:rPr lang="en-US" sz="1400" dirty="0" smtClean="0"/>
                <a:t>,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numOfElements</a:t>
              </a:r>
              <a:r>
                <a:rPr lang="en-US" sz="1400" dirty="0" smtClean="0"/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index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 for </a:t>
              </a:r>
              <a:r>
                <a:rPr lang="en-US" sz="1400" dirty="0" smtClean="0"/>
                <a:t>(</a:t>
              </a:r>
              <a:r>
                <a:rPr lang="en-US" sz="1400" dirty="0" smtClean="0">
                  <a:solidFill>
                    <a:srgbClr val="0000FF"/>
                  </a:solidFill>
                </a:rPr>
                <a:t>index </a:t>
              </a:r>
              <a:r>
                <a:rPr lang="en-US" sz="1400" dirty="0" smtClean="0"/>
                <a:t>= 0; </a:t>
              </a:r>
              <a:r>
                <a:rPr lang="en-US" sz="1400" dirty="0" smtClean="0">
                  <a:solidFill>
                    <a:srgbClr val="0000FF"/>
                  </a:solidFill>
                </a:rPr>
                <a:t>index </a:t>
              </a:r>
              <a:r>
                <a:rPr lang="en-US" sz="1400" dirty="0" smtClean="0"/>
                <a:t>&lt;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numOfElements</a:t>
              </a:r>
              <a:r>
                <a:rPr lang="en-US" sz="1400" dirty="0" smtClean="0"/>
                <a:t>; </a:t>
              </a:r>
              <a:r>
                <a:rPr lang="en-US" sz="1400" dirty="0" smtClean="0">
                  <a:solidFill>
                    <a:srgbClr val="0000FF"/>
                  </a:solidFill>
                </a:rPr>
                <a:t>index</a:t>
              </a:r>
              <a:r>
                <a:rPr lang="en-US" sz="1400" dirty="0" smtClean="0"/>
                <a:t>++)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</a:t>
              </a:r>
              <a:r>
                <a:rPr lang="en-US" sz="1400" dirty="0" smtClean="0">
                  <a:solidFill>
                    <a:srgbClr val="FF33CC"/>
                  </a:solidFill>
                </a:rPr>
                <a:t>destination</a:t>
              </a:r>
              <a:r>
                <a:rPr lang="en-US" sz="1400" dirty="0" smtClean="0"/>
                <a:t>[</a:t>
              </a:r>
              <a:r>
                <a:rPr lang="en-US" sz="1400" dirty="0" smtClean="0">
                  <a:solidFill>
                    <a:srgbClr val="0000FF"/>
                  </a:solidFill>
                </a:rPr>
                <a:t>index</a:t>
              </a:r>
              <a:r>
                <a:rPr lang="en-US" sz="1400" dirty="0" smtClean="0"/>
                <a:t>] = </a:t>
              </a:r>
              <a:r>
                <a:rPr lang="en-US" sz="1400" dirty="0" smtClean="0">
                  <a:solidFill>
                    <a:srgbClr val="FF33CC"/>
                  </a:solidFill>
                </a:rPr>
                <a:t>source</a:t>
              </a:r>
              <a:r>
                <a:rPr lang="en-US" sz="1400" dirty="0" smtClean="0"/>
                <a:t>[</a:t>
              </a:r>
              <a:r>
                <a:rPr lang="en-US" sz="1400" dirty="0" smtClean="0">
                  <a:solidFill>
                    <a:srgbClr val="0000FF"/>
                  </a:solidFill>
                </a:rPr>
                <a:t>index</a:t>
              </a:r>
              <a:r>
                <a:rPr lang="en-US" sz="1400" dirty="0" smtClean="0"/>
                <a:t>];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copyArray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/>
                <a:t>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450344" cy="474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683568" y="4323583"/>
            <a:ext cx="8280919" cy="257545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203848" y="4323583"/>
            <a:ext cx="1440160" cy="257545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83568" y="4797152"/>
            <a:ext cx="8280919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Callout 23"/>
          <p:cNvSpPr/>
          <p:nvPr/>
        </p:nvSpPr>
        <p:spPr>
          <a:xfrm>
            <a:off x="6372200" y="5085184"/>
            <a:ext cx="2376264" cy="1183052"/>
          </a:xfrm>
          <a:prstGeom prst="wedgeEllipseCallout">
            <a:avLst>
              <a:gd name="adj1" fmla="val -116272"/>
              <a:gd name="adj2" fmla="val -41254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i</a:t>
            </a:r>
            <a:r>
              <a:rPr lang="en-US" sz="1400" dirty="0" smtClean="0">
                <a:solidFill>
                  <a:srgbClr val="0000FF"/>
                </a:solidFill>
              </a:rPr>
              <a:t>ndex </a:t>
            </a:r>
            <a:r>
              <a:rPr lang="en-US" sz="1400" dirty="0" smtClean="0">
                <a:solidFill>
                  <a:schemeClr val="tx1"/>
                </a:solidFill>
              </a:rPr>
              <a:t>is declared inside the method </a:t>
            </a:r>
            <a:r>
              <a:rPr lang="en-US" sz="14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 local variable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2.6 ARRAY ELEMENTS AS PARAMETERS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405800"/>
            <a:ext cx="8784977" cy="4401205"/>
            <a:chOff x="323528" y="1236822"/>
            <a:chExt cx="7848873" cy="4138545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413854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arrayElementsAsParameters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/>
                <a:t>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400" dirty="0" smtClean="0"/>
                <a:t>Scanner read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smtClean="0"/>
                <a:t>Scanner (System.in);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char[] </a:t>
              </a:r>
              <a:r>
                <a:rPr lang="en-US" sz="1400" dirty="0" smtClean="0"/>
                <a:t>symbol = {‘*’, ‘+’, ‘~’, ‘#’, ‘%’};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</a:t>
              </a:r>
              <a:r>
                <a:rPr lang="en-US" sz="1400" dirty="0" err="1" smtClean="0"/>
                <a:t>int</a:t>
              </a:r>
              <a:r>
                <a:rPr lang="en-US" sz="1400" dirty="0" smtClean="0"/>
                <a:t> sub;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 </a:t>
              </a:r>
              <a:r>
                <a:rPr lang="en-US" sz="1400" dirty="0" smtClean="0"/>
                <a:t>(sub = 0; sub &lt; </a:t>
              </a:r>
              <a:r>
                <a:rPr lang="en-US" sz="1400" dirty="0" err="1" smtClean="0"/>
                <a:t>symbol.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/>
                <a:t>; sub++)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(symbol[sub], sub+1);  </a:t>
              </a:r>
              <a:r>
                <a:rPr lang="en-US" sz="1400" dirty="0" smtClean="0">
                  <a:solidFill>
                    <a:srgbClr val="00B050"/>
                  </a:solidFill>
                </a:rPr>
                <a:t>//prints symbol[sub] sub+1 times 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//method definition: This method draws a line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char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,</a:t>
              </a:r>
              <a:r>
                <a:rPr lang="en-US" sz="1400" dirty="0" smtClean="0">
                  <a:solidFill>
                    <a:srgbClr val="FF33CC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FF33CC"/>
                  </a:solidFill>
                </a:rPr>
                <a:t> repeat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/>
                <a:t>i</a:t>
              </a:r>
              <a:r>
                <a:rPr lang="en-US" sz="1400" dirty="0"/>
                <a:t>;</a:t>
              </a:r>
              <a:endParaRPr lang="en-US" sz="1400" dirty="0" smtClean="0"/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(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=0;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 &lt; </a:t>
              </a:r>
              <a:r>
                <a:rPr lang="en-US" sz="1400" dirty="0" smtClean="0">
                  <a:solidFill>
                    <a:srgbClr val="FF33CC"/>
                  </a:solidFill>
                </a:rPr>
                <a:t>repeat</a:t>
              </a:r>
              <a:r>
                <a:rPr lang="en-US" sz="1400" dirty="0" smtClean="0"/>
                <a:t>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++)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</a:t>
              </a:r>
              <a:r>
                <a:rPr lang="en-US" sz="1400" dirty="0" err="1" smtClean="0"/>
                <a:t>System.out.print</a:t>
              </a:r>
              <a:r>
                <a:rPr lang="en-US" sz="1400" dirty="0" smtClean="0"/>
                <a:t> (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(); </a:t>
              </a:r>
            </a:p>
            <a:p>
              <a:r>
                <a:rPr lang="en-US" sz="1400" dirty="0" smtClean="0"/>
                <a:t>      }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drawLine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/>
                <a:t>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4138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51520" y="5805264"/>
            <a:ext cx="8712967" cy="1015663"/>
            <a:chOff x="683568" y="1362835"/>
            <a:chExt cx="7488831" cy="1015663"/>
          </a:xfrm>
        </p:grpSpPr>
        <p:sp>
          <p:nvSpPr>
            <p:cNvPr id="23" name="TextBox 22"/>
            <p:cNvSpPr txBox="1"/>
            <p:nvPr/>
          </p:nvSpPr>
          <p:spPr>
            <a:xfrm>
              <a:off x="1069013" y="1362835"/>
              <a:ext cx="7103386" cy="1015663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*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</a:rPr>
                <a:t>++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</a:rPr>
                <a:t>~~~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</a:rPr>
                <a:t>####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</a:rPr>
                <a:t>%%%%%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3568" y="1362835"/>
              <a:ext cx="21602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200" dirty="0">
                  <a:solidFill>
                    <a:srgbClr val="FF0000"/>
                  </a:solidFill>
                </a:rPr>
                <a:t>5</a:t>
              </a:r>
              <a:endParaRPr lang="en-US" sz="12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3491880" y="5805264"/>
            <a:ext cx="2808312" cy="1008112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rgbClr val="0000FF"/>
                </a:solidFill>
              </a:rPr>
              <a:t>symbol[0] is printed 1 time</a:t>
            </a:r>
          </a:p>
          <a:p>
            <a:r>
              <a:rPr lang="en-US" sz="1200" dirty="0">
                <a:solidFill>
                  <a:srgbClr val="0000FF"/>
                </a:solidFill>
              </a:rPr>
              <a:t>s</a:t>
            </a:r>
            <a:r>
              <a:rPr lang="en-US" sz="1200" dirty="0" smtClean="0">
                <a:solidFill>
                  <a:srgbClr val="0000FF"/>
                </a:solidFill>
              </a:rPr>
              <a:t>ymbol[1] is printed 2 times</a:t>
            </a:r>
          </a:p>
          <a:p>
            <a:r>
              <a:rPr lang="en-US" sz="1200" dirty="0" smtClean="0">
                <a:solidFill>
                  <a:srgbClr val="0000FF"/>
                </a:solidFill>
              </a:rPr>
              <a:t>symbol[2] is printed 3 times</a:t>
            </a:r>
          </a:p>
          <a:p>
            <a:r>
              <a:rPr lang="en-US" sz="1200" dirty="0" smtClean="0">
                <a:solidFill>
                  <a:srgbClr val="0000FF"/>
                </a:solidFill>
              </a:rPr>
              <a:t>symbol[3] is printed 4 times</a:t>
            </a:r>
          </a:p>
          <a:p>
            <a:r>
              <a:rPr lang="en-US" sz="1200" dirty="0" smtClean="0">
                <a:solidFill>
                  <a:srgbClr val="0000FF"/>
                </a:solidFill>
              </a:rPr>
              <a:t>Symbol[4] is printed 5 times</a:t>
            </a:r>
            <a:endParaRPr lang="en-US" sz="1200" dirty="0">
              <a:solidFill>
                <a:srgbClr val="0000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83568" y="3356992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364088" y="3933056"/>
            <a:ext cx="2808312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rgbClr val="0000FF"/>
                </a:solidFill>
              </a:rPr>
              <a:t>1</a:t>
            </a:r>
            <a:r>
              <a:rPr lang="en-US" sz="1600" baseline="30000" dirty="0" smtClean="0">
                <a:solidFill>
                  <a:srgbClr val="0000FF"/>
                </a:solidFill>
              </a:rPr>
              <a:t>st</a:t>
            </a:r>
            <a:r>
              <a:rPr lang="en-US" sz="1600" dirty="0" smtClean="0">
                <a:solidFill>
                  <a:srgbClr val="0000FF"/>
                </a:solidFill>
              </a:rPr>
              <a:t> call: </a:t>
            </a:r>
            <a:r>
              <a:rPr lang="en-US" sz="1600" dirty="0" err="1" smtClean="0">
                <a:solidFill>
                  <a:srgbClr val="0000FF"/>
                </a:solidFill>
              </a:rPr>
              <a:t>drawLine</a:t>
            </a:r>
            <a:r>
              <a:rPr lang="en-US" sz="1600" dirty="0" smtClean="0">
                <a:solidFill>
                  <a:srgbClr val="0000FF"/>
                </a:solidFill>
              </a:rPr>
              <a:t>(‘*’, 1)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2</a:t>
            </a:r>
            <a:r>
              <a:rPr lang="en-US" sz="1600" baseline="30000" dirty="0" smtClean="0">
                <a:solidFill>
                  <a:srgbClr val="0000FF"/>
                </a:solidFill>
              </a:rPr>
              <a:t>nd</a:t>
            </a:r>
            <a:r>
              <a:rPr lang="en-US" sz="1600" dirty="0" smtClean="0">
                <a:solidFill>
                  <a:srgbClr val="0000FF"/>
                </a:solidFill>
              </a:rPr>
              <a:t> call: </a:t>
            </a:r>
            <a:r>
              <a:rPr lang="en-US" sz="1600" dirty="0" err="1" smtClean="0">
                <a:solidFill>
                  <a:srgbClr val="0000FF"/>
                </a:solidFill>
              </a:rPr>
              <a:t>drawLine</a:t>
            </a:r>
            <a:r>
              <a:rPr lang="en-US" sz="1600" dirty="0" smtClean="0">
                <a:solidFill>
                  <a:srgbClr val="0000FF"/>
                </a:solidFill>
              </a:rPr>
              <a:t>(‘+’, 2)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3</a:t>
            </a:r>
            <a:r>
              <a:rPr lang="en-US" sz="1600" baseline="30000" dirty="0" smtClean="0">
                <a:solidFill>
                  <a:srgbClr val="0000FF"/>
                </a:solidFill>
              </a:rPr>
              <a:t>rd</a:t>
            </a:r>
            <a:r>
              <a:rPr lang="en-US" sz="1600" dirty="0" smtClean="0">
                <a:solidFill>
                  <a:srgbClr val="0000FF"/>
                </a:solidFill>
              </a:rPr>
              <a:t> call: </a:t>
            </a:r>
            <a:r>
              <a:rPr lang="en-US" sz="1600" dirty="0" err="1" smtClean="0">
                <a:solidFill>
                  <a:srgbClr val="0000FF"/>
                </a:solidFill>
              </a:rPr>
              <a:t>drawLine</a:t>
            </a:r>
            <a:r>
              <a:rPr lang="en-US" sz="1600" dirty="0" smtClean="0">
                <a:solidFill>
                  <a:srgbClr val="0000FF"/>
                </a:solidFill>
              </a:rPr>
              <a:t>(‘~’, 3)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4</a:t>
            </a:r>
            <a:r>
              <a:rPr lang="en-US" sz="1600" baseline="30000" dirty="0" smtClean="0">
                <a:solidFill>
                  <a:srgbClr val="0000FF"/>
                </a:solidFill>
              </a:rPr>
              <a:t>th</a:t>
            </a:r>
            <a:r>
              <a:rPr lang="en-US" sz="1600" dirty="0" smtClean="0">
                <a:solidFill>
                  <a:srgbClr val="0000FF"/>
                </a:solidFill>
              </a:rPr>
              <a:t> call: </a:t>
            </a:r>
            <a:r>
              <a:rPr lang="en-US" sz="1600" dirty="0" err="1" smtClean="0">
                <a:solidFill>
                  <a:srgbClr val="0000FF"/>
                </a:solidFill>
              </a:rPr>
              <a:t>drawLine</a:t>
            </a:r>
            <a:r>
              <a:rPr lang="en-US" sz="1600" dirty="0" smtClean="0">
                <a:solidFill>
                  <a:srgbClr val="0000FF"/>
                </a:solidFill>
              </a:rPr>
              <a:t>(‘#’, 4)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5</a:t>
            </a:r>
            <a:r>
              <a:rPr lang="en-US" sz="1600" baseline="30000" dirty="0" smtClean="0">
                <a:solidFill>
                  <a:srgbClr val="0000FF"/>
                </a:solidFill>
              </a:rPr>
              <a:t>th</a:t>
            </a:r>
            <a:r>
              <a:rPr lang="en-US" sz="1600" dirty="0" smtClean="0">
                <a:solidFill>
                  <a:srgbClr val="0000FF"/>
                </a:solidFill>
              </a:rPr>
              <a:t> call: </a:t>
            </a:r>
            <a:r>
              <a:rPr lang="en-US" sz="1600" dirty="0" err="1" smtClean="0">
                <a:solidFill>
                  <a:srgbClr val="0000FF"/>
                </a:solidFill>
              </a:rPr>
              <a:t>drawLine</a:t>
            </a:r>
            <a:r>
              <a:rPr lang="en-US" sz="1600" dirty="0" smtClean="0">
                <a:solidFill>
                  <a:srgbClr val="0000FF"/>
                </a:solidFill>
              </a:rPr>
              <a:t>(‘%’, 5)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29" name="Oval Callout 28"/>
          <p:cNvSpPr/>
          <p:nvPr/>
        </p:nvSpPr>
        <p:spPr>
          <a:xfrm>
            <a:off x="5796136" y="1844824"/>
            <a:ext cx="2448272" cy="1368152"/>
          </a:xfrm>
          <a:prstGeom prst="wedgeEllipseCallout">
            <a:avLst>
              <a:gd name="adj1" fmla="val -115935"/>
              <a:gd name="adj2" fmla="val 71384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symbol[sub] is of type char. </a:t>
            </a:r>
          </a:p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sub+1 is integer.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16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92112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PRIMITIVE DATA TYPES </a:t>
            </a:r>
            <a:b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</a:b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AS PARAMETERS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37160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method is called, the value of the actual parameter is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copied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into the corresponding formal parameter.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210232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copying the value of the actual parameter to the formal parameter, there is no connection between them any more.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528" y="28330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other words, the formal parameter has its own copy of data.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3528" y="325600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any change performed on the copy inside the method is NOT reflected on the original copy (of the actual parameter).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28" y="396388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next slides, the memory layout is drawn to understand this concept.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971600" y="5116016"/>
            <a:ext cx="216024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Caller method</a:t>
            </a:r>
          </a:p>
          <a:p>
            <a:pPr algn="ctr"/>
            <a:r>
              <a:rPr lang="en-US" dirty="0" smtClean="0">
                <a:solidFill>
                  <a:srgbClr val="FFFF00"/>
                </a:solidFill>
              </a:rPr>
              <a:t>(ex. main)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0" y="5116016"/>
            <a:ext cx="216024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Called method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131840" y="5334000"/>
            <a:ext cx="144016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31840" y="4998422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0000FF"/>
                </a:solidFill>
              </a:rPr>
              <a:t>Actual parameters</a:t>
            </a:r>
            <a:endParaRPr lang="en-US" sz="1100" dirty="0">
              <a:solidFill>
                <a:srgbClr val="0000FF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31840" y="5620072"/>
            <a:ext cx="144016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31840" y="5620072"/>
            <a:ext cx="14401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0000FF"/>
                </a:solidFill>
              </a:rPr>
              <a:t>Returned value </a:t>
            </a:r>
          </a:p>
          <a:p>
            <a:pPr algn="ctr"/>
            <a:r>
              <a:rPr lang="en-US" sz="1100" dirty="0">
                <a:solidFill>
                  <a:srgbClr val="0000FF"/>
                </a:solidFill>
              </a:rPr>
              <a:t>f</a:t>
            </a:r>
            <a:r>
              <a:rPr lang="en-US" sz="1100" dirty="0" smtClean="0">
                <a:solidFill>
                  <a:srgbClr val="0000FF"/>
                </a:solidFill>
              </a:rPr>
              <a:t>or non-void methods</a:t>
            </a:r>
            <a:endParaRPr lang="en-US" sz="1100" dirty="0">
              <a:solidFill>
                <a:srgbClr val="0000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79432" y="486544"/>
            <a:ext cx="1512168" cy="504056"/>
          </a:xfrm>
          <a:prstGeom prst="roundRect">
            <a:avLst/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81917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8" grpId="0"/>
      <p:bldP spid="25" grpId="0"/>
      <p:bldP spid="26" grpId="0"/>
      <p:bldP spid="2" grpId="0" animBg="1"/>
      <p:bldP spid="27" grpId="0" animBg="1"/>
      <p:bldP spid="7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12954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2" name="Group 11"/>
          <p:cNvGrpSpPr/>
          <p:nvPr/>
        </p:nvGrpSpPr>
        <p:grpSpPr>
          <a:xfrm>
            <a:off x="179512" y="1340768"/>
            <a:ext cx="8784977" cy="4524315"/>
            <a:chOff x="323528" y="1236822"/>
            <a:chExt cx="7848873" cy="4254313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425431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import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java.util.Scanner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smtClean="0">
                  <a:solidFill>
                    <a:srgbClr val="0000FF"/>
                  </a:solidFill>
                </a:rPr>
                <a:t>primitiveDatatypesAsParameters1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 </a:t>
              </a:r>
              <a:r>
                <a:rPr lang="en-US" sz="1600" dirty="0" smtClean="0"/>
                <a:t>= 6;</a:t>
              </a:r>
            </a:p>
            <a:p>
              <a:r>
                <a:rPr lang="en-US" sz="1600" dirty="0" smtClean="0"/>
                <a:t> 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7: Before calling,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9: After calling, number = %d”,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tests number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void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/>
                <a:t> 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14: Inside method before change, </a:t>
              </a:r>
              <a:r>
                <a:rPr lang="en-US" sz="1600" dirty="0" err="1" smtClean="0"/>
                <a:t>num</a:t>
              </a:r>
              <a:r>
                <a:rPr lang="en-US" sz="1600" dirty="0" smtClean="0"/>
                <a:t> = %d”,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>
                  <a:solidFill>
                    <a:srgbClr val="FF33CC"/>
                  </a:solidFill>
                </a:rPr>
                <a:t> </a:t>
              </a:r>
              <a:r>
                <a:rPr lang="en-US" sz="1600" dirty="0" smtClean="0"/>
                <a:t>= 15;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System.out.prinf</a:t>
              </a:r>
              <a:r>
                <a:rPr lang="en-US" sz="1600" dirty="0" smtClean="0"/>
                <a:t> (“Line 16: Inside method after change, </a:t>
              </a:r>
              <a:r>
                <a:rPr lang="en-US" sz="1600" dirty="0" err="1" smtClean="0"/>
                <a:t>num</a:t>
              </a:r>
              <a:r>
                <a:rPr lang="en-US" sz="1600" dirty="0" smtClean="0"/>
                <a:t> = %d”,</a:t>
              </a:r>
              <a:r>
                <a:rPr lang="en-US" sz="1600" dirty="0" smtClean="0">
                  <a:solidFill>
                    <a:srgbClr val="FF33CC"/>
                  </a:solidFill>
                </a:rPr>
                <a:t>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</a:t>
              </a:r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method1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4254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251520" y="5733256"/>
            <a:ext cx="8712967" cy="954107"/>
            <a:chOff x="683568" y="1236822"/>
            <a:chExt cx="7488831" cy="954107"/>
          </a:xfrm>
        </p:grpSpPr>
        <p:sp>
          <p:nvSpPr>
            <p:cNvPr id="16" name="TextBox 15"/>
            <p:cNvSpPr txBox="1"/>
            <p:nvPr/>
          </p:nvSpPr>
          <p:spPr>
            <a:xfrm>
              <a:off x="1069013" y="1236822"/>
              <a:ext cx="7103386" cy="95410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Line 7: Before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14: Inside method before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16: Inside method after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15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9: After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cxnSp>
        <p:nvCxnSpPr>
          <p:cNvPr id="22" name="Straight Connector 21"/>
          <p:cNvCxnSpPr/>
          <p:nvPr/>
        </p:nvCxnSpPr>
        <p:spPr>
          <a:xfrm flipV="1">
            <a:off x="899592" y="2744924"/>
            <a:ext cx="0" cy="447291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51520" y="3212976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51520" y="3212976"/>
            <a:ext cx="0" cy="10081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51520" y="4221088"/>
            <a:ext cx="0" cy="122413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843808" y="5373216"/>
            <a:ext cx="5890673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8734481" y="3429000"/>
            <a:ext cx="0" cy="194421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596336" y="3429000"/>
            <a:ext cx="1152128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3568" y="4077072"/>
            <a:ext cx="8280919" cy="180020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3568" y="3099447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92112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PRIMITIVE DATA TYPES </a:t>
            </a:r>
            <a:b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</a:b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AS PARAMETERS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79432" y="486544"/>
            <a:ext cx="1512168" cy="504056"/>
          </a:xfrm>
          <a:prstGeom prst="roundRect">
            <a:avLst/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312596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1304131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9731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 REFRENCE VARIABLES </a:t>
            </a:r>
            <a:b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</a:b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AS PARAMETERS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647272" y="6248400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23528" y="2085221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when reference variables are used as parameters, they actually pass their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address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rather than their value.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3034645"/>
            <a:ext cx="8640960" cy="7078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So, any change made in the caller/called method is applied directly in the memory.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3971131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means that the changes made to an array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 method are seen in both the caller/called method.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135294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reference variable uses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operator to allocate (reserve) space in memory.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4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0" grpId="0" animBg="1"/>
      <p:bldP spid="11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ARRAYS AS PARAMETRS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Arrays are instantiated with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operator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they are reference variables.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149543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once you instantiate an array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for example, a sufficient memory space is allocated for it.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528" y="213285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example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fillArray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pSp>
        <p:nvGrpSpPr>
          <p:cNvPr id="2" name="Group 20"/>
          <p:cNvGrpSpPr/>
          <p:nvPr/>
        </p:nvGrpSpPr>
        <p:grpSpPr>
          <a:xfrm>
            <a:off x="179512" y="2564904"/>
            <a:ext cx="8784977" cy="3970318"/>
            <a:chOff x="323528" y="1236822"/>
            <a:chExt cx="7848873" cy="3733372"/>
          </a:xfrm>
        </p:grpSpPr>
        <p:sp>
          <p:nvSpPr>
            <p:cNvPr id="22" name="TextBox 21"/>
            <p:cNvSpPr txBox="1"/>
            <p:nvPr/>
          </p:nvSpPr>
          <p:spPr>
            <a:xfrm>
              <a:off x="788528" y="1236822"/>
              <a:ext cx="7383873" cy="373337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arrayAsParameters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/>
                <a:t>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400" dirty="0" smtClean="0"/>
                <a:t>Scanner read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smtClean="0"/>
                <a:t>Scanner (System.in);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  double[]</a:t>
              </a:r>
              <a:r>
                <a:rPr lang="en-US" sz="1400" dirty="0" smtClean="0"/>
                <a:t> </a:t>
              </a:r>
              <a:r>
                <a:rPr lang="en-US" sz="1400" dirty="0"/>
                <a:t>x</a:t>
              </a:r>
              <a:r>
                <a:rPr lang="en-US" sz="1400" dirty="0" smtClean="0"/>
                <a:t>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double</a:t>
              </a:r>
              <a:r>
                <a:rPr lang="en-US" sz="1400" dirty="0" smtClean="0"/>
                <a:t>[5];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>
                  <a:solidFill>
                    <a:srgbClr val="0000FF"/>
                  </a:solidFill>
                </a:rPr>
                <a:t>x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/>
                <a:t>         </a:t>
              </a:r>
              <a:r>
                <a:rPr lang="en-US" sz="1400" dirty="0" err="1" smtClean="0"/>
                <a:t>System.out.printf</a:t>
              </a:r>
              <a:r>
                <a:rPr lang="en-US" sz="1400" dirty="0" smtClean="0"/>
                <a:t> (“x[3] = %f”, </a:t>
              </a:r>
              <a:r>
                <a:rPr lang="en-US" sz="1400" dirty="0" smtClean="0">
                  <a:solidFill>
                    <a:srgbClr val="0000FF"/>
                  </a:solidFill>
                </a:rPr>
                <a:t>x</a:t>
              </a:r>
              <a:r>
                <a:rPr lang="en-US" sz="1400" dirty="0" smtClean="0"/>
                <a:t>[3]);</a:t>
              </a:r>
            </a:p>
            <a:p>
              <a:r>
                <a:rPr lang="en-US" sz="1400" dirty="0" smtClean="0"/>
                <a:t>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// This method fills an array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public static void</a:t>
              </a:r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400" dirty="0" smtClean="0"/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double[]</a:t>
              </a:r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FF33CC"/>
                  </a:solidFill>
                </a:rPr>
                <a:t>list</a:t>
              </a:r>
              <a:r>
                <a:rPr lang="en-US" sz="1400" dirty="0" smtClean="0"/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/>
                <a:t>(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=0;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&lt;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list.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/>
                <a:t>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++)</a:t>
              </a:r>
            </a:p>
            <a:p>
              <a:r>
                <a:rPr lang="en-US" sz="1400" dirty="0" smtClean="0">
                  <a:solidFill>
                    <a:srgbClr val="FF33CC"/>
                  </a:solidFill>
                </a:rPr>
                <a:t>            list</a:t>
              </a:r>
              <a:r>
                <a:rPr lang="en-US" sz="1400" dirty="0" smtClean="0"/>
                <a:t>[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] = </a:t>
              </a:r>
              <a:r>
                <a:rPr lang="en-US" sz="1400" dirty="0" err="1" smtClean="0"/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nextDouble</a:t>
              </a:r>
              <a:r>
                <a:rPr lang="en-US" sz="1400" dirty="0" smtClean="0">
                  <a:solidFill>
                    <a:srgbClr val="00B050"/>
                  </a:solidFill>
                </a:rPr>
                <a:t>()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/>
                <a:t>       }</a:t>
              </a:r>
              <a:r>
                <a:rPr lang="en-US" sz="1400" dirty="0" smtClean="0">
                  <a:solidFill>
                    <a:srgbClr val="00B050"/>
                  </a:solidFill>
                </a:rPr>
                <a:t> //end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fillArray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/>
                <a:t>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3528" y="1236822"/>
              <a:ext cx="450344" cy="3733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683568" y="4931008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83568" y="4107559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971600" y="3997444"/>
            <a:ext cx="0" cy="151636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323528" y="4149080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3528" y="4149080"/>
            <a:ext cx="0" cy="10081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3528" y="5157192"/>
            <a:ext cx="0" cy="936104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843808" y="6093296"/>
            <a:ext cx="5890673" cy="0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8734481" y="4365104"/>
            <a:ext cx="0" cy="1728192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5789144" y="4365104"/>
            <a:ext cx="2945338" cy="0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51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8" grpId="0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ARRAYS AS PARAMETRS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1 - MEMORY LAYOUT(1)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12"/>
          <p:cNvGrpSpPr/>
          <p:nvPr/>
        </p:nvGrpSpPr>
        <p:grpSpPr>
          <a:xfrm>
            <a:off x="251520" y="1393031"/>
            <a:ext cx="8784977" cy="307777"/>
            <a:chOff x="323528" y="1236822"/>
            <a:chExt cx="7848873" cy="289409"/>
          </a:xfrm>
        </p:grpSpPr>
        <p:sp>
          <p:nvSpPr>
            <p:cNvPr id="14" name="TextBox 13"/>
            <p:cNvSpPr txBox="1"/>
            <p:nvPr/>
          </p:nvSpPr>
          <p:spPr>
            <a:xfrm>
              <a:off x="788528" y="1236822"/>
              <a:ext cx="7383873" cy="2894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 </a:t>
              </a:r>
              <a:r>
                <a:rPr lang="en-US" sz="1400" dirty="0" smtClean="0">
                  <a:solidFill>
                    <a:srgbClr val="00B050"/>
                  </a:solidFill>
                </a:rPr>
                <a:t>// </a:t>
              </a:r>
              <a:r>
                <a:rPr lang="en-US" sz="1400" dirty="0" smtClean="0">
                  <a:solidFill>
                    <a:srgbClr val="00B0F0"/>
                  </a:solidFill>
                </a:rPr>
                <a:t>main </a:t>
              </a:r>
              <a:r>
                <a:rPr lang="en-US" sz="1400" dirty="0" smtClean="0">
                  <a:solidFill>
                    <a:srgbClr val="00B050"/>
                  </a:solidFill>
                </a:rPr>
                <a:t>is loaded into memory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236822"/>
              <a:ext cx="450344" cy="28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oup 15"/>
          <p:cNvGrpSpPr/>
          <p:nvPr/>
        </p:nvGrpSpPr>
        <p:grpSpPr>
          <a:xfrm>
            <a:off x="323527" y="1772816"/>
            <a:ext cx="8712969" cy="1008112"/>
            <a:chOff x="251520" y="1988840"/>
            <a:chExt cx="8712969" cy="1008112"/>
          </a:xfrm>
        </p:grpSpPr>
        <p:sp>
          <p:nvSpPr>
            <p:cNvPr id="21" name="Rectangle 20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7596336" y="1772816"/>
            <a:ext cx="1440160" cy="72008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 smtClean="0"/>
              <a:t>main</a:t>
            </a:r>
            <a:endParaRPr lang="en-US" sz="1200" dirty="0"/>
          </a:p>
        </p:txBody>
      </p:sp>
      <p:grpSp>
        <p:nvGrpSpPr>
          <p:cNvPr id="9" name="Group 23"/>
          <p:cNvGrpSpPr/>
          <p:nvPr/>
        </p:nvGrpSpPr>
        <p:grpSpPr>
          <a:xfrm>
            <a:off x="251520" y="2852937"/>
            <a:ext cx="8784977" cy="738664"/>
            <a:chOff x="323528" y="1236822"/>
            <a:chExt cx="7848873" cy="694580"/>
          </a:xfrm>
        </p:grpSpPr>
        <p:sp>
          <p:nvSpPr>
            <p:cNvPr id="25" name="TextBox 24"/>
            <p:cNvSpPr txBox="1"/>
            <p:nvPr/>
          </p:nvSpPr>
          <p:spPr>
            <a:xfrm>
              <a:off x="788528" y="1236822"/>
              <a:ext cx="7383873" cy="69458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double[]</a:t>
              </a:r>
              <a:r>
                <a:rPr lang="en-US" sz="1400" dirty="0" smtClean="0"/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x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double</a:t>
              </a:r>
              <a:r>
                <a:rPr lang="en-US" sz="1400" dirty="0" smtClean="0"/>
                <a:t>[5]; </a:t>
              </a:r>
              <a:r>
                <a:rPr lang="en-US" sz="1400" dirty="0" smtClean="0">
                  <a:solidFill>
                    <a:srgbClr val="00B050"/>
                  </a:solidFill>
                </a:rPr>
                <a:t>//The new operator:  (1) Allocate sufficient memory space to </a:t>
              </a:r>
              <a:r>
                <a:rPr lang="en-US" sz="1400" dirty="0" smtClean="0">
                  <a:solidFill>
                    <a:srgbClr val="0000FF"/>
                  </a:solidFill>
                </a:rPr>
                <a:t>x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	           </a:t>
              </a:r>
              <a:r>
                <a:rPr lang="en-US" sz="1400" dirty="0" smtClean="0">
                  <a:solidFill>
                    <a:srgbClr val="00B050"/>
                  </a:solidFill>
                </a:rPr>
                <a:t>//                               (2) Store the data in the allocated space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	</a:t>
              </a:r>
              <a:r>
                <a:rPr lang="en-US" sz="1400" dirty="0" smtClean="0">
                  <a:solidFill>
                    <a:srgbClr val="00B050"/>
                  </a:solidFill>
                </a:rPr>
                <a:t>	           //                               (3) Return the address to </a:t>
              </a:r>
              <a:r>
                <a:rPr lang="en-US" sz="1400" dirty="0" smtClean="0">
                  <a:solidFill>
                    <a:srgbClr val="0000FF"/>
                  </a:solidFill>
                </a:rPr>
                <a:t>x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3528" y="1236822"/>
              <a:ext cx="450344" cy="28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26"/>
          <p:cNvGrpSpPr/>
          <p:nvPr/>
        </p:nvGrpSpPr>
        <p:grpSpPr>
          <a:xfrm>
            <a:off x="323528" y="3717032"/>
            <a:ext cx="8712969" cy="1008112"/>
            <a:chOff x="251520" y="1988840"/>
            <a:chExt cx="8712969" cy="1008112"/>
          </a:xfrm>
        </p:grpSpPr>
        <p:sp>
          <p:nvSpPr>
            <p:cNvPr id="28" name="Rectangle 27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5"/>
          <p:cNvGrpSpPr/>
          <p:nvPr/>
        </p:nvGrpSpPr>
        <p:grpSpPr>
          <a:xfrm>
            <a:off x="3275857" y="3717032"/>
            <a:ext cx="2520279" cy="720080"/>
            <a:chOff x="323528" y="3140968"/>
            <a:chExt cx="2520279" cy="720080"/>
          </a:xfrm>
        </p:grpSpPr>
        <p:sp>
          <p:nvSpPr>
            <p:cNvPr id="2" name="Rectangle 1"/>
            <p:cNvSpPr/>
            <p:nvPr/>
          </p:nvSpPr>
          <p:spPr>
            <a:xfrm>
              <a:off x="323528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27584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331640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835696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339752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3528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x[0]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27584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x[1]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331640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x[2]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835696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x[3]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339752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x[4]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6" name="Group 39"/>
          <p:cNvGrpSpPr/>
          <p:nvPr/>
        </p:nvGrpSpPr>
        <p:grpSpPr>
          <a:xfrm>
            <a:off x="251520" y="4777988"/>
            <a:ext cx="8784977" cy="523220"/>
            <a:chOff x="323528" y="1236822"/>
            <a:chExt cx="7848873" cy="491994"/>
          </a:xfrm>
        </p:grpSpPr>
        <p:sp>
          <p:nvSpPr>
            <p:cNvPr id="41" name="TextBox 40"/>
            <p:cNvSpPr txBox="1"/>
            <p:nvPr/>
          </p:nvSpPr>
          <p:spPr>
            <a:xfrm>
              <a:off x="788528" y="1236822"/>
              <a:ext cx="7383873" cy="49199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400" dirty="0" smtClean="0"/>
                <a:t> (</a:t>
              </a:r>
              <a:r>
                <a:rPr lang="en-US" sz="1400" dirty="0" smtClean="0">
                  <a:solidFill>
                    <a:srgbClr val="0000FF"/>
                  </a:solidFill>
                </a:rPr>
                <a:t>x</a:t>
              </a:r>
              <a:r>
                <a:rPr lang="en-US" sz="1400" dirty="0" smtClean="0"/>
                <a:t>); </a:t>
              </a:r>
              <a:r>
                <a:rPr lang="en-US" sz="1400" dirty="0" smtClean="0">
                  <a:solidFill>
                    <a:srgbClr val="00B050"/>
                  </a:solidFill>
                </a:rPr>
                <a:t>/*method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is loaded into memory. </a:t>
              </a:r>
              <a:r>
                <a:rPr lang="en-US" sz="1400" dirty="0" smtClean="0">
                  <a:solidFill>
                    <a:srgbClr val="00B0F0"/>
                  </a:solidFill>
                </a:rPr>
                <a:t>main </a:t>
              </a:r>
              <a:r>
                <a:rPr lang="en-US" sz="1400" dirty="0" smtClean="0">
                  <a:solidFill>
                    <a:srgbClr val="00B050"/>
                  </a:solidFill>
                </a:rPr>
                <a:t>is suspended. The address of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	</a:t>
              </a:r>
              <a:r>
                <a:rPr lang="en-US" sz="1400" dirty="0" smtClean="0">
                  <a:solidFill>
                    <a:srgbClr val="00B050"/>
                  </a:solidFill>
                </a:rPr>
                <a:t>	array </a:t>
              </a:r>
              <a:r>
                <a:rPr lang="en-US" sz="1400" dirty="0" smtClean="0">
                  <a:solidFill>
                    <a:srgbClr val="0000FF"/>
                  </a:solidFill>
                </a:rPr>
                <a:t>x</a:t>
              </a:r>
              <a:r>
                <a:rPr lang="en-US" sz="1400" dirty="0" smtClean="0">
                  <a:solidFill>
                    <a:srgbClr val="00B050"/>
                  </a:solidFill>
                </a:rPr>
                <a:t> (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asssume</a:t>
              </a:r>
              <a:r>
                <a:rPr lang="en-US" sz="1400" dirty="0" smtClean="0">
                  <a:solidFill>
                    <a:srgbClr val="00B050"/>
                  </a:solidFill>
                </a:rPr>
                <a:t> it is </a:t>
              </a:r>
              <a:r>
                <a:rPr lang="en-US" sz="1400" dirty="0" smtClean="0">
                  <a:solidFill>
                    <a:srgbClr val="C00000"/>
                  </a:solidFill>
                </a:rPr>
                <a:t>300</a:t>
              </a:r>
              <a:r>
                <a:rPr lang="en-US" sz="1400" dirty="0" smtClean="0">
                  <a:solidFill>
                    <a:srgbClr val="00B050"/>
                  </a:solidFill>
                </a:rPr>
                <a:t>) is passed to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fillArray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*/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1236822"/>
              <a:ext cx="450344" cy="28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</p:txBody>
        </p:sp>
      </p:grpSp>
      <p:grpSp>
        <p:nvGrpSpPr>
          <p:cNvPr id="18" name="Group 45"/>
          <p:cNvGrpSpPr/>
          <p:nvPr/>
        </p:nvGrpSpPr>
        <p:grpSpPr>
          <a:xfrm>
            <a:off x="323528" y="5373216"/>
            <a:ext cx="8712969" cy="1008112"/>
            <a:chOff x="251520" y="1988840"/>
            <a:chExt cx="8712969" cy="1008112"/>
          </a:xfrm>
        </p:grpSpPr>
        <p:sp>
          <p:nvSpPr>
            <p:cNvPr id="47" name="Rectangle 46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49"/>
          <p:cNvGrpSpPr/>
          <p:nvPr/>
        </p:nvGrpSpPr>
        <p:grpSpPr>
          <a:xfrm>
            <a:off x="3275857" y="5373216"/>
            <a:ext cx="2520279" cy="720080"/>
            <a:chOff x="323528" y="3140968"/>
            <a:chExt cx="2520279" cy="720080"/>
          </a:xfrm>
        </p:grpSpPr>
        <p:sp>
          <p:nvSpPr>
            <p:cNvPr id="51" name="Rectangle 50"/>
            <p:cNvSpPr/>
            <p:nvPr/>
          </p:nvSpPr>
          <p:spPr>
            <a:xfrm>
              <a:off x="323528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27584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331640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835696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339752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23528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x[0]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27584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x[1]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331640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x[2]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35696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x[3]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339752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x[4]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4" name="Group 8"/>
          <p:cNvGrpSpPr/>
          <p:nvPr/>
        </p:nvGrpSpPr>
        <p:grpSpPr>
          <a:xfrm>
            <a:off x="3635896" y="3717032"/>
            <a:ext cx="5400600" cy="720080"/>
            <a:chOff x="3635896" y="3501008"/>
            <a:chExt cx="5400600" cy="720080"/>
          </a:xfrm>
        </p:grpSpPr>
        <p:sp>
          <p:nvSpPr>
            <p:cNvPr id="30" name="Rectangle 29"/>
            <p:cNvSpPr/>
            <p:nvPr/>
          </p:nvSpPr>
          <p:spPr>
            <a:xfrm>
              <a:off x="7596336" y="3501008"/>
              <a:ext cx="1440160" cy="720080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 x</a:t>
              </a:r>
              <a:endParaRPr lang="en-US" sz="1200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7668344" y="3825044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3" idx="1"/>
            </p:cNvCxnSpPr>
            <p:nvPr/>
          </p:nvCxnSpPr>
          <p:spPr>
            <a:xfrm flipH="1" flipV="1">
              <a:off x="3635896" y="3717032"/>
              <a:ext cx="4032448" cy="23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61"/>
          <p:cNvGrpSpPr/>
          <p:nvPr/>
        </p:nvGrpSpPr>
        <p:grpSpPr>
          <a:xfrm>
            <a:off x="3635896" y="5373216"/>
            <a:ext cx="5400600" cy="720080"/>
            <a:chOff x="3635896" y="3501008"/>
            <a:chExt cx="5400600" cy="720080"/>
          </a:xfrm>
          <a:solidFill>
            <a:schemeClr val="bg1">
              <a:lumMod val="65000"/>
            </a:schemeClr>
          </a:solidFill>
        </p:grpSpPr>
        <p:sp>
          <p:nvSpPr>
            <p:cNvPr id="63" name="Rectangle 62"/>
            <p:cNvSpPr/>
            <p:nvPr/>
          </p:nvSpPr>
          <p:spPr>
            <a:xfrm>
              <a:off x="7596336" y="3501008"/>
              <a:ext cx="1440160" cy="720080"/>
            </a:xfrm>
            <a:prstGeom prst="rect">
              <a:avLst/>
            </a:prstGeom>
            <a:grp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x</a:t>
              </a:r>
              <a:endParaRPr lang="en-US" sz="12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668344" y="3825044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65" name="Straight Arrow Connector 64"/>
            <p:cNvCxnSpPr>
              <a:stCxn id="64" idx="1"/>
            </p:cNvCxnSpPr>
            <p:nvPr/>
          </p:nvCxnSpPr>
          <p:spPr>
            <a:xfrm flipH="1" flipV="1">
              <a:off x="3635896" y="3717032"/>
              <a:ext cx="4032448" cy="234026"/>
            </a:xfrm>
            <a:prstGeom prst="straightConnector1">
              <a:avLst/>
            </a:prstGeom>
            <a:grpFill/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19"/>
          <p:cNvGrpSpPr/>
          <p:nvPr/>
        </p:nvGrpSpPr>
        <p:grpSpPr>
          <a:xfrm>
            <a:off x="971600" y="5373216"/>
            <a:ext cx="2304257" cy="720080"/>
            <a:chOff x="971600" y="5373216"/>
            <a:chExt cx="2304257" cy="720080"/>
          </a:xfrm>
        </p:grpSpPr>
        <p:sp>
          <p:nvSpPr>
            <p:cNvPr id="61" name="Rectangle 60"/>
            <p:cNvSpPr/>
            <p:nvPr/>
          </p:nvSpPr>
          <p:spPr>
            <a:xfrm>
              <a:off x="971600" y="5373216"/>
              <a:ext cx="1440160" cy="720080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 smtClean="0"/>
                <a:t>fillArray</a:t>
              </a:r>
              <a:r>
                <a:rPr lang="en-US" sz="1200" dirty="0" smtClean="0"/>
                <a:t> (</a:t>
              </a:r>
              <a:r>
                <a:rPr lang="en-US" sz="1200" dirty="0" smtClean="0">
                  <a:solidFill>
                    <a:schemeClr val="bg1"/>
                  </a:solidFill>
                </a:rPr>
                <a:t>300</a:t>
              </a:r>
              <a:r>
                <a:rPr lang="en-US" sz="1200" dirty="0" smtClean="0"/>
                <a:t>)</a:t>
              </a:r>
            </a:p>
            <a:p>
              <a:endParaRPr lang="en-US" sz="1200" dirty="0"/>
            </a:p>
            <a:p>
              <a:r>
                <a:rPr lang="en-US" sz="1200" dirty="0" smtClean="0"/>
                <a:t>          list</a:t>
              </a:r>
              <a:endParaRPr lang="en-US" sz="1200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35696" y="5733256"/>
              <a:ext cx="504056" cy="234026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19" name="Straight Arrow Connector 18"/>
            <p:cNvCxnSpPr>
              <a:stCxn id="66" idx="3"/>
              <a:endCxn id="56" idx="1"/>
            </p:cNvCxnSpPr>
            <p:nvPr/>
          </p:nvCxnSpPr>
          <p:spPr>
            <a:xfrm flipV="1">
              <a:off x="2339752" y="5499230"/>
              <a:ext cx="936105" cy="35103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535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ARRAYS AS PARAMETRS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1 - MEMORY LAYOUT(2)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2"/>
          <p:cNvGrpSpPr/>
          <p:nvPr/>
        </p:nvGrpSpPr>
        <p:grpSpPr>
          <a:xfrm>
            <a:off x="251520" y="1393031"/>
            <a:ext cx="8784977" cy="307777"/>
            <a:chOff x="323528" y="1236822"/>
            <a:chExt cx="7848873" cy="289409"/>
          </a:xfrm>
        </p:grpSpPr>
        <p:sp>
          <p:nvSpPr>
            <p:cNvPr id="14" name="TextBox 13"/>
            <p:cNvSpPr txBox="1"/>
            <p:nvPr/>
          </p:nvSpPr>
          <p:spPr>
            <a:xfrm>
              <a:off x="788528" y="1236822"/>
              <a:ext cx="7383873" cy="2894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err="1"/>
                <a:t>i</a:t>
              </a:r>
              <a:r>
                <a:rPr lang="en-US" sz="1400" dirty="0" smtClean="0">
                  <a:solidFill>
                    <a:srgbClr val="00B0F0"/>
                  </a:solidFill>
                </a:rPr>
                <a:t>; </a:t>
              </a:r>
              <a:r>
                <a:rPr lang="en-US" sz="1400" dirty="0" smtClean="0">
                  <a:solidFill>
                    <a:srgbClr val="00B050"/>
                  </a:solidFill>
                </a:rPr>
                <a:t>// local variable to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fillArray</a:t>
              </a:r>
              <a:endParaRPr lang="en-US" sz="1400" dirty="0" smtClean="0">
                <a:solidFill>
                  <a:srgbClr val="0000FF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236822"/>
              <a:ext cx="450344" cy="28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</p:txBody>
        </p:sp>
      </p:grpSp>
      <p:grpSp>
        <p:nvGrpSpPr>
          <p:cNvPr id="3" name="Group 45"/>
          <p:cNvGrpSpPr/>
          <p:nvPr/>
        </p:nvGrpSpPr>
        <p:grpSpPr>
          <a:xfrm>
            <a:off x="323528" y="1772816"/>
            <a:ext cx="8712969" cy="1008112"/>
            <a:chOff x="251520" y="1988840"/>
            <a:chExt cx="8712969" cy="1008112"/>
          </a:xfrm>
        </p:grpSpPr>
        <p:sp>
          <p:nvSpPr>
            <p:cNvPr id="47" name="Rectangle 46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49"/>
          <p:cNvGrpSpPr/>
          <p:nvPr/>
        </p:nvGrpSpPr>
        <p:grpSpPr>
          <a:xfrm>
            <a:off x="3275857" y="1772816"/>
            <a:ext cx="2520279" cy="720080"/>
            <a:chOff x="323528" y="3140968"/>
            <a:chExt cx="2520279" cy="720080"/>
          </a:xfrm>
        </p:grpSpPr>
        <p:sp>
          <p:nvSpPr>
            <p:cNvPr id="51" name="Rectangle 50"/>
            <p:cNvSpPr/>
            <p:nvPr/>
          </p:nvSpPr>
          <p:spPr>
            <a:xfrm>
              <a:off x="323528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27584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331640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835696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339752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0.0</a:t>
              </a:r>
              <a:endParaRPr lang="en-US" sz="1200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23528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x[0]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27584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x[1]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331640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x[2]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35696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x[3]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339752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x[4]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7" name="Group 62"/>
          <p:cNvGrpSpPr/>
          <p:nvPr/>
        </p:nvGrpSpPr>
        <p:grpSpPr>
          <a:xfrm>
            <a:off x="251520" y="2852937"/>
            <a:ext cx="8784977" cy="738664"/>
            <a:chOff x="323528" y="1236822"/>
            <a:chExt cx="7848873" cy="694580"/>
          </a:xfrm>
        </p:grpSpPr>
        <p:sp>
          <p:nvSpPr>
            <p:cNvPr id="64" name="TextBox 63"/>
            <p:cNvSpPr txBox="1"/>
            <p:nvPr/>
          </p:nvSpPr>
          <p:spPr>
            <a:xfrm>
              <a:off x="788528" y="1236822"/>
              <a:ext cx="7383873" cy="69458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/>
                <a:t>(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=0;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&lt;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adrs</a:t>
              </a:r>
              <a:r>
                <a:rPr lang="en-US" sz="1400" dirty="0" smtClean="0">
                  <a:solidFill>
                    <a:srgbClr val="FF33CC"/>
                  </a:solidFill>
                </a:rPr>
                <a:t>(300).</a:t>
              </a:r>
              <a:r>
                <a:rPr lang="en-US" sz="1400" dirty="0" smtClean="0">
                  <a:solidFill>
                    <a:srgbClr val="00B0F0"/>
                  </a:solidFill>
                </a:rPr>
                <a:t>length</a:t>
              </a:r>
              <a:r>
                <a:rPr lang="en-US" sz="1400" dirty="0" smtClean="0"/>
                <a:t>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++)</a:t>
              </a:r>
            </a:p>
            <a:p>
              <a:r>
                <a:rPr lang="en-US" sz="1400" dirty="0" smtClean="0">
                  <a:solidFill>
                    <a:srgbClr val="FF33CC"/>
                  </a:solidFill>
                </a:rPr>
                <a:t>           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adrs</a:t>
              </a:r>
              <a:r>
                <a:rPr lang="en-US" sz="1400" dirty="0" smtClean="0">
                  <a:solidFill>
                    <a:srgbClr val="FF33CC"/>
                  </a:solidFill>
                </a:rPr>
                <a:t>(300)</a:t>
              </a:r>
              <a:r>
                <a:rPr lang="en-US" sz="1400" dirty="0" smtClean="0"/>
                <a:t>[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] = </a:t>
              </a:r>
              <a:r>
                <a:rPr lang="en-US" sz="1400" dirty="0" err="1" smtClean="0"/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nextDouble</a:t>
              </a:r>
              <a:r>
                <a:rPr lang="en-US" sz="1400" dirty="0" smtClean="0">
                  <a:solidFill>
                    <a:srgbClr val="00B050"/>
                  </a:solidFill>
                </a:rPr>
                <a:t>()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//Assume the user enters x[0]=5.5, x[1]=2.3, x[2]=4.3, x[3]=1.0, x[4]=9.8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23528" y="1236822"/>
              <a:ext cx="450344" cy="491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</p:txBody>
        </p:sp>
      </p:grpSp>
      <p:grpSp>
        <p:nvGrpSpPr>
          <p:cNvPr id="8" name="Group 68"/>
          <p:cNvGrpSpPr/>
          <p:nvPr/>
        </p:nvGrpSpPr>
        <p:grpSpPr>
          <a:xfrm>
            <a:off x="323528" y="3717032"/>
            <a:ext cx="8712969" cy="1008112"/>
            <a:chOff x="251520" y="1988840"/>
            <a:chExt cx="8712969" cy="1008112"/>
          </a:xfrm>
        </p:grpSpPr>
        <p:sp>
          <p:nvSpPr>
            <p:cNvPr id="70" name="Rectangle 69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72"/>
          <p:cNvGrpSpPr/>
          <p:nvPr/>
        </p:nvGrpSpPr>
        <p:grpSpPr>
          <a:xfrm>
            <a:off x="3275857" y="3717032"/>
            <a:ext cx="2520279" cy="720080"/>
            <a:chOff x="323528" y="3140968"/>
            <a:chExt cx="2520279" cy="720080"/>
          </a:xfrm>
        </p:grpSpPr>
        <p:sp>
          <p:nvSpPr>
            <p:cNvPr id="74" name="Rectangle 73"/>
            <p:cNvSpPr/>
            <p:nvPr/>
          </p:nvSpPr>
          <p:spPr>
            <a:xfrm>
              <a:off x="323528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5.5</a:t>
              </a:r>
              <a:endParaRPr lang="en-US" sz="1200" dirty="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27584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2.3</a:t>
              </a:r>
              <a:endParaRPr lang="en-US" sz="1200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31640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4.3</a:t>
              </a:r>
              <a:endParaRPr lang="en-US" sz="1200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835696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1.0</a:t>
              </a:r>
              <a:endParaRPr lang="en-US" sz="1200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339752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9.8</a:t>
              </a:r>
              <a:endParaRPr lang="en-US" sz="1200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23528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x[0]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827584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x[1]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331640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x[2]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835696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x[3]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2339752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x[4]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0" name="Group 86"/>
          <p:cNvGrpSpPr/>
          <p:nvPr/>
        </p:nvGrpSpPr>
        <p:grpSpPr>
          <a:xfrm>
            <a:off x="251520" y="4797152"/>
            <a:ext cx="8784977" cy="307777"/>
            <a:chOff x="323528" y="1236822"/>
            <a:chExt cx="7848873" cy="289409"/>
          </a:xfrm>
        </p:grpSpPr>
        <p:sp>
          <p:nvSpPr>
            <p:cNvPr id="88" name="TextBox 87"/>
            <p:cNvSpPr txBox="1"/>
            <p:nvPr/>
          </p:nvSpPr>
          <p:spPr>
            <a:xfrm>
              <a:off x="788528" y="1236822"/>
              <a:ext cx="7383873" cy="2894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 }</a:t>
              </a:r>
              <a:r>
                <a:rPr lang="en-US" sz="1400" dirty="0" smtClean="0">
                  <a:solidFill>
                    <a:srgbClr val="00B050"/>
                  </a:solidFill>
                </a:rPr>
                <a:t> //end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fillArray</a:t>
              </a:r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</a:t>
              </a:r>
              <a:r>
                <a:rPr lang="en-US" sz="1400" dirty="0" err="1" smtClean="0">
                  <a:solidFill>
                    <a:srgbClr val="0000FF"/>
                  </a:solidFill>
                  <a:sym typeface="Wingdings" panose="05000000000000000000" pitchFamily="2" charset="2"/>
                </a:rPr>
                <a:t>fillArray</a:t>
              </a:r>
              <a:r>
                <a:rPr lang="en-US" sz="1400" dirty="0" smtClean="0">
                  <a:solidFill>
                    <a:srgbClr val="0000FF"/>
                  </a:solidFill>
                  <a:sym typeface="Wingdings" panose="05000000000000000000" pitchFamily="2" charset="2"/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is </a:t>
              </a:r>
              <a:r>
                <a:rPr lang="en-US" sz="1400" dirty="0" err="1" smtClean="0">
                  <a:solidFill>
                    <a:srgbClr val="00B050"/>
                  </a:solidFill>
                  <a:sym typeface="Wingdings" panose="05000000000000000000" pitchFamily="2" charset="2"/>
                </a:rPr>
                <a:t>deallocated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. Control returns back to </a:t>
              </a:r>
              <a:r>
                <a:rPr lang="en-US" sz="1400" dirty="0" smtClean="0">
                  <a:solidFill>
                    <a:srgbClr val="00B0F0"/>
                  </a:solidFill>
                  <a:sym typeface="Wingdings" panose="05000000000000000000" pitchFamily="2" charset="2"/>
                </a:rPr>
                <a:t>main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.</a:t>
              </a:r>
              <a:endParaRPr lang="en-US" sz="1400" dirty="0" smtClean="0">
                <a:solidFill>
                  <a:srgbClr val="0000FF"/>
                </a:solidFill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23528" y="1236822"/>
              <a:ext cx="450344" cy="28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</p:txBody>
        </p:sp>
      </p:grpSp>
      <p:grpSp>
        <p:nvGrpSpPr>
          <p:cNvPr id="13" name="Group 89"/>
          <p:cNvGrpSpPr/>
          <p:nvPr/>
        </p:nvGrpSpPr>
        <p:grpSpPr>
          <a:xfrm>
            <a:off x="323528" y="5229200"/>
            <a:ext cx="8712969" cy="1008112"/>
            <a:chOff x="251520" y="1988840"/>
            <a:chExt cx="8712969" cy="1008112"/>
          </a:xfrm>
        </p:grpSpPr>
        <p:sp>
          <p:nvSpPr>
            <p:cNvPr id="91" name="Rectangle 90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93"/>
          <p:cNvGrpSpPr/>
          <p:nvPr/>
        </p:nvGrpSpPr>
        <p:grpSpPr>
          <a:xfrm>
            <a:off x="3275857" y="5229200"/>
            <a:ext cx="2520279" cy="720080"/>
            <a:chOff x="323528" y="3140968"/>
            <a:chExt cx="2520279" cy="720080"/>
          </a:xfrm>
        </p:grpSpPr>
        <p:sp>
          <p:nvSpPr>
            <p:cNvPr id="95" name="Rectangle 94"/>
            <p:cNvSpPr/>
            <p:nvPr/>
          </p:nvSpPr>
          <p:spPr>
            <a:xfrm>
              <a:off x="323528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5.5</a:t>
              </a:r>
              <a:endParaRPr lang="en-US" sz="1200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827584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2.3</a:t>
              </a:r>
              <a:endParaRPr lang="en-US" sz="1200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331640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4.3</a:t>
              </a:r>
              <a:endParaRPr lang="en-US" sz="1200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835696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1.0</a:t>
              </a:r>
              <a:endParaRPr lang="en-US" sz="1200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339752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9.8</a:t>
              </a:r>
              <a:endParaRPr lang="en-US" sz="1200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23528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x[0]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827584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x[1]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331640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x[2]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835696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x[3]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339752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x[4]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8" name="Group 6"/>
          <p:cNvGrpSpPr/>
          <p:nvPr/>
        </p:nvGrpSpPr>
        <p:grpSpPr>
          <a:xfrm>
            <a:off x="3635896" y="1772816"/>
            <a:ext cx="5400600" cy="720080"/>
            <a:chOff x="3635896" y="1772816"/>
            <a:chExt cx="5400600" cy="720080"/>
          </a:xfrm>
        </p:grpSpPr>
        <p:sp>
          <p:nvSpPr>
            <p:cNvPr id="49" name="Rectangle 48"/>
            <p:cNvSpPr/>
            <p:nvPr/>
          </p:nvSpPr>
          <p:spPr>
            <a:xfrm>
              <a:off x="7596336" y="1772816"/>
              <a:ext cx="1440160" cy="720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x</a:t>
              </a:r>
              <a:endParaRPr lang="en-US" sz="1200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7668344" y="2096852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106" name="Straight Arrow Connector 105"/>
            <p:cNvCxnSpPr>
              <a:stCxn id="105" idx="1"/>
            </p:cNvCxnSpPr>
            <p:nvPr/>
          </p:nvCxnSpPr>
          <p:spPr>
            <a:xfrm flipH="1" flipV="1">
              <a:off x="3635896" y="1988840"/>
              <a:ext cx="4032448" cy="234026"/>
            </a:xfrm>
            <a:prstGeom prst="straightConnector1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06"/>
          <p:cNvGrpSpPr/>
          <p:nvPr/>
        </p:nvGrpSpPr>
        <p:grpSpPr>
          <a:xfrm>
            <a:off x="971600" y="1772816"/>
            <a:ext cx="2304257" cy="720080"/>
            <a:chOff x="971600" y="1772816"/>
            <a:chExt cx="2304257" cy="720080"/>
          </a:xfrm>
        </p:grpSpPr>
        <p:grpSp>
          <p:nvGrpSpPr>
            <p:cNvPr id="20" name="Group 107"/>
            <p:cNvGrpSpPr/>
            <p:nvPr/>
          </p:nvGrpSpPr>
          <p:grpSpPr>
            <a:xfrm>
              <a:off x="971600" y="1772816"/>
              <a:ext cx="1440160" cy="720080"/>
              <a:chOff x="971600" y="1772816"/>
              <a:chExt cx="1440160" cy="720080"/>
            </a:xfrm>
          </p:grpSpPr>
          <p:sp>
            <p:nvSpPr>
              <p:cNvPr id="111" name="Rectangle 110"/>
              <p:cNvSpPr/>
              <p:nvPr/>
            </p:nvSpPr>
            <p:spPr>
              <a:xfrm>
                <a:off x="971600" y="1772816"/>
                <a:ext cx="1440160" cy="720080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err="1" smtClean="0"/>
                  <a:t>fillArray</a:t>
                </a:r>
                <a:r>
                  <a:rPr lang="en-US" sz="1200" dirty="0" smtClean="0"/>
                  <a:t> (</a:t>
                </a:r>
                <a:r>
                  <a:rPr lang="en-US" sz="1200" dirty="0" smtClean="0">
                    <a:solidFill>
                      <a:schemeClr val="bg1"/>
                    </a:solidFill>
                  </a:rPr>
                  <a:t>300</a:t>
                </a:r>
                <a:r>
                  <a:rPr lang="en-US" sz="1200" dirty="0" smtClean="0"/>
                  <a:t>)</a:t>
                </a:r>
              </a:p>
              <a:p>
                <a:endParaRPr lang="en-US" sz="1200" dirty="0" smtClean="0"/>
              </a:p>
              <a:p>
                <a:r>
                  <a:rPr lang="en-US" sz="1200" dirty="0" smtClean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      </a:t>
                </a:r>
                <a:r>
                  <a:rPr lang="en-US" sz="1200" dirty="0" err="1" smtClean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i</a:t>
                </a:r>
                <a:r>
                  <a:rPr lang="en-US" sz="1200" dirty="0" smtClean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             </a:t>
                </a:r>
                <a:r>
                  <a:rPr lang="en-US" sz="1200" dirty="0" smtClean="0">
                    <a:solidFill>
                      <a:schemeClr val="bg1"/>
                    </a:solidFill>
                  </a:rPr>
                  <a:t>list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1043608" y="1988840"/>
                <a:ext cx="648072" cy="1967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9" name="Rectangle 108"/>
            <p:cNvSpPr/>
            <p:nvPr/>
          </p:nvSpPr>
          <p:spPr>
            <a:xfrm>
              <a:off x="1835696" y="1952836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110" name="Straight Arrow Connector 109"/>
            <p:cNvCxnSpPr>
              <a:stCxn id="109" idx="3"/>
            </p:cNvCxnSpPr>
            <p:nvPr/>
          </p:nvCxnSpPr>
          <p:spPr>
            <a:xfrm flipV="1">
              <a:off x="2339752" y="1880828"/>
              <a:ext cx="936105" cy="1980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112"/>
          <p:cNvGrpSpPr/>
          <p:nvPr/>
        </p:nvGrpSpPr>
        <p:grpSpPr>
          <a:xfrm>
            <a:off x="3635896" y="3717032"/>
            <a:ext cx="5400600" cy="720080"/>
            <a:chOff x="3635896" y="1772816"/>
            <a:chExt cx="5400600" cy="720080"/>
          </a:xfrm>
        </p:grpSpPr>
        <p:sp>
          <p:nvSpPr>
            <p:cNvPr id="114" name="Rectangle 113"/>
            <p:cNvSpPr/>
            <p:nvPr/>
          </p:nvSpPr>
          <p:spPr>
            <a:xfrm>
              <a:off x="7596336" y="1772816"/>
              <a:ext cx="1440160" cy="720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x</a:t>
              </a:r>
              <a:endParaRPr lang="en-US" sz="1200" dirty="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668344" y="2096852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116" name="Straight Arrow Connector 115"/>
            <p:cNvCxnSpPr>
              <a:stCxn id="115" idx="1"/>
            </p:cNvCxnSpPr>
            <p:nvPr/>
          </p:nvCxnSpPr>
          <p:spPr>
            <a:xfrm flipH="1" flipV="1">
              <a:off x="3635896" y="1988840"/>
              <a:ext cx="4032448" cy="234026"/>
            </a:xfrm>
            <a:prstGeom prst="straightConnector1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16"/>
          <p:cNvGrpSpPr/>
          <p:nvPr/>
        </p:nvGrpSpPr>
        <p:grpSpPr>
          <a:xfrm>
            <a:off x="971600" y="3717032"/>
            <a:ext cx="2304257" cy="720080"/>
            <a:chOff x="971600" y="1772816"/>
            <a:chExt cx="2304257" cy="720080"/>
          </a:xfrm>
        </p:grpSpPr>
        <p:grpSp>
          <p:nvGrpSpPr>
            <p:cNvPr id="23" name="Group 117"/>
            <p:cNvGrpSpPr/>
            <p:nvPr/>
          </p:nvGrpSpPr>
          <p:grpSpPr>
            <a:xfrm>
              <a:off x="971600" y="1772816"/>
              <a:ext cx="1440160" cy="720080"/>
              <a:chOff x="971600" y="1772816"/>
              <a:chExt cx="1440160" cy="720080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971600" y="1772816"/>
                <a:ext cx="1440160" cy="720080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err="1" smtClean="0"/>
                  <a:t>fillArray</a:t>
                </a:r>
                <a:r>
                  <a:rPr lang="en-US" sz="1200" dirty="0" smtClean="0"/>
                  <a:t> (</a:t>
                </a:r>
                <a:r>
                  <a:rPr lang="en-US" sz="1200" dirty="0" smtClean="0">
                    <a:solidFill>
                      <a:schemeClr val="bg1"/>
                    </a:solidFill>
                  </a:rPr>
                  <a:t>300</a:t>
                </a:r>
                <a:r>
                  <a:rPr lang="en-US" sz="1200" dirty="0" smtClean="0"/>
                  <a:t>)</a:t>
                </a:r>
              </a:p>
              <a:p>
                <a:endParaRPr lang="en-US" sz="1200" dirty="0" smtClean="0"/>
              </a:p>
              <a:p>
                <a:r>
                  <a:rPr lang="en-US" sz="1200" dirty="0" smtClean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      </a:t>
                </a:r>
                <a:r>
                  <a:rPr lang="en-US" sz="1200" dirty="0" err="1" smtClean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i</a:t>
                </a:r>
                <a:r>
                  <a:rPr lang="en-US" sz="1200" dirty="0" smtClean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             </a:t>
                </a:r>
                <a:r>
                  <a:rPr lang="en-US" sz="1200" dirty="0" smtClean="0">
                    <a:solidFill>
                      <a:schemeClr val="bg1"/>
                    </a:solidFill>
                  </a:rPr>
                  <a:t>list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043608" y="1988840"/>
                <a:ext cx="648072" cy="1967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Rectangle 118"/>
            <p:cNvSpPr/>
            <p:nvPr/>
          </p:nvSpPr>
          <p:spPr>
            <a:xfrm>
              <a:off x="1835696" y="1952836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120" name="Straight Arrow Connector 119"/>
            <p:cNvCxnSpPr>
              <a:stCxn id="119" idx="3"/>
            </p:cNvCxnSpPr>
            <p:nvPr/>
          </p:nvCxnSpPr>
          <p:spPr>
            <a:xfrm flipV="1">
              <a:off x="2339752" y="1880828"/>
              <a:ext cx="936105" cy="1980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122"/>
          <p:cNvGrpSpPr/>
          <p:nvPr/>
        </p:nvGrpSpPr>
        <p:grpSpPr>
          <a:xfrm>
            <a:off x="3635896" y="5229200"/>
            <a:ext cx="5400600" cy="720080"/>
            <a:chOff x="3635896" y="1772816"/>
            <a:chExt cx="5400600" cy="720080"/>
          </a:xfrm>
        </p:grpSpPr>
        <p:sp>
          <p:nvSpPr>
            <p:cNvPr id="124" name="Rectangle 123"/>
            <p:cNvSpPr/>
            <p:nvPr/>
          </p:nvSpPr>
          <p:spPr>
            <a:xfrm>
              <a:off x="7596336" y="1772816"/>
              <a:ext cx="1440160" cy="720080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x</a:t>
              </a:r>
              <a:endParaRPr lang="en-US" sz="1200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7668344" y="2096852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126" name="Straight Arrow Connector 125"/>
            <p:cNvCxnSpPr>
              <a:stCxn id="125" idx="1"/>
            </p:cNvCxnSpPr>
            <p:nvPr/>
          </p:nvCxnSpPr>
          <p:spPr>
            <a:xfrm flipH="1" flipV="1">
              <a:off x="3635896" y="1988840"/>
              <a:ext cx="4032448" cy="234026"/>
            </a:xfrm>
            <a:prstGeom prst="straightConnector1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012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ARRAYS AS PARAMETRS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1 - MEMORY LAYOUT(3)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2"/>
          <p:cNvGrpSpPr/>
          <p:nvPr/>
        </p:nvGrpSpPr>
        <p:grpSpPr>
          <a:xfrm>
            <a:off x="251520" y="2420888"/>
            <a:ext cx="8784977" cy="307777"/>
            <a:chOff x="323528" y="1236822"/>
            <a:chExt cx="7848873" cy="289409"/>
          </a:xfrm>
        </p:grpSpPr>
        <p:sp>
          <p:nvSpPr>
            <p:cNvPr id="14" name="TextBox 13"/>
            <p:cNvSpPr txBox="1"/>
            <p:nvPr/>
          </p:nvSpPr>
          <p:spPr>
            <a:xfrm>
              <a:off x="788528" y="1236822"/>
              <a:ext cx="7383873" cy="2894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 </a:t>
              </a:r>
              <a:r>
                <a:rPr lang="en-US" sz="1400" dirty="0" err="1" smtClean="0"/>
                <a:t>System.out.printf</a:t>
              </a:r>
              <a:r>
                <a:rPr lang="en-US" sz="1400" dirty="0" smtClean="0"/>
                <a:t> (“x[3] = %f”, </a:t>
              </a:r>
              <a:r>
                <a:rPr lang="en-US" sz="1400" dirty="0" smtClean="0">
                  <a:solidFill>
                    <a:srgbClr val="0000FF"/>
                  </a:solidFill>
                </a:rPr>
                <a:t>x</a:t>
              </a:r>
              <a:r>
                <a:rPr lang="en-US" sz="1400" dirty="0" smtClean="0"/>
                <a:t>[3]); </a:t>
              </a:r>
              <a:r>
                <a:rPr lang="en-US" sz="1400" dirty="0" smtClean="0">
                  <a:solidFill>
                    <a:srgbClr val="00B050"/>
                  </a:solidFill>
                </a:rPr>
                <a:t>//on screen</a:t>
              </a:r>
              <a:r>
                <a:rPr lang="en-US" sz="1400" dirty="0" smtClean="0"/>
                <a:t> </a:t>
              </a:r>
              <a:endParaRPr lang="en-US" sz="1400" dirty="0" smtClean="0">
                <a:solidFill>
                  <a:srgbClr val="0000FF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236822"/>
              <a:ext cx="450344" cy="28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66"/>
          <p:cNvGrpSpPr/>
          <p:nvPr/>
        </p:nvGrpSpPr>
        <p:grpSpPr>
          <a:xfrm>
            <a:off x="323529" y="2800673"/>
            <a:ext cx="8712967" cy="307777"/>
            <a:chOff x="683568" y="1236822"/>
            <a:chExt cx="7488831" cy="307777"/>
          </a:xfrm>
        </p:grpSpPr>
        <p:sp>
          <p:nvSpPr>
            <p:cNvPr id="68" name="TextBox 67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x[3] = 1.0</a:t>
              </a:r>
              <a:endParaRPr lang="en-US" sz="1400" b="1" dirty="0" smtClean="0">
                <a:solidFill>
                  <a:srgbClr val="FFFF00"/>
                </a:solidFill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6" name="Group 105"/>
          <p:cNvGrpSpPr/>
          <p:nvPr/>
        </p:nvGrpSpPr>
        <p:grpSpPr>
          <a:xfrm>
            <a:off x="251520" y="3212976"/>
            <a:ext cx="8784977" cy="307777"/>
            <a:chOff x="323528" y="1236822"/>
            <a:chExt cx="7848873" cy="289409"/>
          </a:xfrm>
        </p:grpSpPr>
        <p:sp>
          <p:nvSpPr>
            <p:cNvPr id="107" name="TextBox 106"/>
            <p:cNvSpPr txBox="1"/>
            <p:nvPr/>
          </p:nvSpPr>
          <p:spPr>
            <a:xfrm>
              <a:off x="788528" y="1236822"/>
              <a:ext cx="7383873" cy="2894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</a:t>
              </a:r>
              <a:r>
                <a:rPr lang="en-US" sz="1400" dirty="0" smtClean="0">
                  <a:solidFill>
                    <a:srgbClr val="00B0F0"/>
                  </a:solidFill>
                  <a:sym typeface="Wingdings" panose="05000000000000000000" pitchFamily="2" charset="2"/>
                </a:rPr>
                <a:t>main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is freed from memory</a:t>
              </a:r>
              <a:endParaRPr lang="en-US" sz="1400" dirty="0" smtClean="0">
                <a:solidFill>
                  <a:srgbClr val="0000FF"/>
                </a:solidFill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23528" y="1236822"/>
              <a:ext cx="450344" cy="28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7" name="Group 108"/>
          <p:cNvGrpSpPr/>
          <p:nvPr/>
        </p:nvGrpSpPr>
        <p:grpSpPr>
          <a:xfrm>
            <a:off x="323528" y="3592761"/>
            <a:ext cx="8712969" cy="1008112"/>
            <a:chOff x="251520" y="1988840"/>
            <a:chExt cx="8712969" cy="1008112"/>
          </a:xfrm>
        </p:grpSpPr>
        <p:sp>
          <p:nvSpPr>
            <p:cNvPr id="110" name="Rectangle 109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33"/>
          <p:cNvGrpSpPr/>
          <p:nvPr/>
        </p:nvGrpSpPr>
        <p:grpSpPr>
          <a:xfrm>
            <a:off x="323528" y="1340768"/>
            <a:ext cx="8712969" cy="1008112"/>
            <a:chOff x="251520" y="1988840"/>
            <a:chExt cx="8712969" cy="1008112"/>
          </a:xfrm>
        </p:grpSpPr>
        <p:sp>
          <p:nvSpPr>
            <p:cNvPr id="35" name="Rectangle 34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36"/>
          <p:cNvGrpSpPr/>
          <p:nvPr/>
        </p:nvGrpSpPr>
        <p:grpSpPr>
          <a:xfrm>
            <a:off x="3275857" y="1340768"/>
            <a:ext cx="2520279" cy="720080"/>
            <a:chOff x="323528" y="3140968"/>
            <a:chExt cx="2520279" cy="720080"/>
          </a:xfrm>
        </p:grpSpPr>
        <p:sp>
          <p:nvSpPr>
            <p:cNvPr id="38" name="Rectangle 37"/>
            <p:cNvSpPr/>
            <p:nvPr/>
          </p:nvSpPr>
          <p:spPr>
            <a:xfrm>
              <a:off x="323528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5.5</a:t>
              </a:r>
              <a:endParaRPr lang="en-US" sz="12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7584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2.3</a:t>
              </a:r>
              <a:endParaRPr lang="en-US" sz="1200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31640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4.3</a:t>
              </a:r>
              <a:endParaRPr lang="en-US" sz="12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835696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1.0</a:t>
              </a:r>
              <a:endParaRPr lang="en-US" sz="12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339752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9.8</a:t>
              </a:r>
              <a:endParaRPr lang="en-US" sz="1200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23528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x[0]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27584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x[1]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331640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x[2]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835696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x[3]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339752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x[4]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0" name="Group 47"/>
          <p:cNvGrpSpPr/>
          <p:nvPr/>
        </p:nvGrpSpPr>
        <p:grpSpPr>
          <a:xfrm>
            <a:off x="3635896" y="1340768"/>
            <a:ext cx="5400600" cy="720080"/>
            <a:chOff x="3635896" y="1772816"/>
            <a:chExt cx="5400600" cy="720080"/>
          </a:xfrm>
        </p:grpSpPr>
        <p:sp>
          <p:nvSpPr>
            <p:cNvPr id="49" name="Rectangle 48"/>
            <p:cNvSpPr/>
            <p:nvPr/>
          </p:nvSpPr>
          <p:spPr>
            <a:xfrm>
              <a:off x="7596336" y="1772816"/>
              <a:ext cx="1440160" cy="720080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 x</a:t>
              </a:r>
              <a:endParaRPr lang="en-US" sz="1200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668344" y="2096852"/>
              <a:ext cx="504056" cy="2520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FF"/>
                  </a:solidFill>
                </a:rPr>
                <a:t>300</a:t>
              </a:r>
              <a:endParaRPr lang="en-US" sz="1200" dirty="0">
                <a:solidFill>
                  <a:srgbClr val="0000FF"/>
                </a:solidFill>
              </a:endParaRPr>
            </a:p>
          </p:txBody>
        </p:sp>
        <p:cxnSp>
          <p:nvCxnSpPr>
            <p:cNvPr id="51" name="Straight Arrow Connector 50"/>
            <p:cNvCxnSpPr>
              <a:stCxn id="50" idx="1"/>
            </p:cNvCxnSpPr>
            <p:nvPr/>
          </p:nvCxnSpPr>
          <p:spPr>
            <a:xfrm flipH="1" flipV="1">
              <a:off x="3635896" y="1988840"/>
              <a:ext cx="4032448" cy="234026"/>
            </a:xfrm>
            <a:prstGeom prst="straightConnector1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323528" y="4672881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Since changes are made to the memory directly, this explains why a method such as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fillArray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of type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void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3528" y="530120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the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should be passed as a parameter in order to use all elements of the filled array.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3" name="Group 53"/>
          <p:cNvGrpSpPr/>
          <p:nvPr/>
        </p:nvGrpSpPr>
        <p:grpSpPr>
          <a:xfrm>
            <a:off x="3275856" y="3592761"/>
            <a:ext cx="2520279" cy="720080"/>
            <a:chOff x="323528" y="3140968"/>
            <a:chExt cx="2520279" cy="720080"/>
          </a:xfrm>
        </p:grpSpPr>
        <p:sp>
          <p:nvSpPr>
            <p:cNvPr id="55" name="Rectangle 54"/>
            <p:cNvSpPr/>
            <p:nvPr/>
          </p:nvSpPr>
          <p:spPr>
            <a:xfrm>
              <a:off x="323528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5.5</a:t>
              </a:r>
              <a:endParaRPr lang="en-US" sz="1200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27584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2.3</a:t>
              </a:r>
              <a:endParaRPr lang="en-US" sz="1200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331640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4.3</a:t>
              </a:r>
              <a:endParaRPr lang="en-US" sz="1200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835696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1.0</a:t>
              </a:r>
              <a:endParaRPr lang="en-US" sz="1200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339752" y="3356992"/>
              <a:ext cx="504055" cy="504056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9.8</a:t>
              </a:r>
              <a:endParaRPr lang="en-US" sz="1200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23528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x[0]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27584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x[1]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331640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x[2]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35696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x[3]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339752" y="3140968"/>
              <a:ext cx="504055" cy="25202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rgbClr val="0000FF"/>
                  </a:solidFill>
                </a:rPr>
                <a:t>x[4]</a:t>
              </a:r>
              <a:endParaRPr lang="en-US" sz="1100" dirty="0">
                <a:solidFill>
                  <a:srgbClr val="0000FF"/>
                </a:solidFill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323528" y="6033482"/>
            <a:ext cx="8640960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According to this scenario, there is no current reference to the array. It is considered as “garbage”. Java cleans memory garbage periodically.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98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2" grpId="0"/>
      <p:bldP spid="53" grpId="0"/>
      <p:bldP spid="6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ARRAYS AS PARAMETRS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23528" y="914400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an argument to a method is an entire array or an individual array element of a reference type, the called method receives a copy of the reference. However, when an argument to a method is an individual array element of a primitive type, the called method receives a copy of the element’s value.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3528" y="266700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pass an individual array element to a method, use the indexed name of the array element as an argument in the method call.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98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ARRAYS AS PARAMETRS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838200"/>
            <a:ext cx="9144000" cy="7251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Demonstrates the difference between passing an entire array </a:t>
            </a:r>
          </a:p>
          <a:p>
            <a:r>
              <a:rPr lang="en-US" b="1" dirty="0" smtClean="0"/>
              <a:t>and passing a primitive-type array element to a method.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6002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/>
          <p:nvPr/>
        </p:nvGrpSpPr>
        <p:grpSpPr>
          <a:xfrm>
            <a:off x="179512" y="1658064"/>
            <a:ext cx="8812088" cy="5262979"/>
            <a:chOff x="323528" y="1535181"/>
            <a:chExt cx="7873095" cy="4948894"/>
          </a:xfrm>
        </p:grpSpPr>
        <p:sp>
          <p:nvSpPr>
            <p:cNvPr id="20" name="TextBox 19"/>
            <p:cNvSpPr txBox="1"/>
            <p:nvPr/>
          </p:nvSpPr>
          <p:spPr>
            <a:xfrm>
              <a:off x="812750" y="1535181"/>
              <a:ext cx="7383873" cy="494889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00FF"/>
                  </a:solidFill>
                </a:rPr>
                <a:t>public class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PassArray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public static void main( String[]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400" dirty="0" smtClean="0">
                  <a:solidFill>
                    <a:srgbClr val="0000FF"/>
                  </a:solidFill>
                </a:rPr>
                <a:t> 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[] list = { 1, 2, 3, 4, 5 };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("Effects of passing reference to entire array:\n" + 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"The values of the     original array are:" 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// output original array elements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for (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=0;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&lt;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list.length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++ 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( " %d", list[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] 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modifyArray</a:t>
              </a:r>
              <a:r>
                <a:rPr lang="en-US" sz="1400" dirty="0" smtClean="0">
                  <a:solidFill>
                    <a:srgbClr val="0000FF"/>
                  </a:solidFill>
                </a:rPr>
                <a:t>( list ); // pass array reference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( "\n\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nThe</a:t>
              </a:r>
              <a:r>
                <a:rPr lang="en-US" sz="1400" dirty="0" smtClean="0">
                  <a:solidFill>
                    <a:srgbClr val="0000FF"/>
                  </a:solidFill>
                </a:rPr>
                <a:t> values of the modified array are:" 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// output modified array elements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for (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=0;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&lt;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list.length</a:t>
              </a:r>
              <a:r>
                <a:rPr lang="en-US" sz="1400" dirty="0" smtClean="0">
                  <a:solidFill>
                    <a:srgbClr val="0000FF"/>
                  </a:solidFill>
                </a:rPr>
                <a:t>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++ 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( " %d", list[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] 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("\n\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nEffects</a:t>
              </a:r>
              <a:r>
                <a:rPr lang="en-US" sz="1400" dirty="0" smtClean="0">
                  <a:solidFill>
                    <a:srgbClr val="0000FF"/>
                  </a:solidFill>
                </a:rPr>
                <a:t> of passing array element value:\n" +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   "array[3] before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modifyElement</a:t>
              </a:r>
              <a:r>
                <a:rPr lang="en-US" sz="1400" dirty="0" smtClean="0">
                  <a:solidFill>
                    <a:srgbClr val="0000FF"/>
                  </a:solidFill>
                </a:rPr>
                <a:t>: %d\n", list[ 3 ] 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modifyElement</a:t>
              </a:r>
              <a:r>
                <a:rPr lang="en-US" sz="1400" dirty="0" smtClean="0">
                  <a:solidFill>
                    <a:srgbClr val="0000FF"/>
                  </a:solidFill>
                </a:rPr>
                <a:t>( list[ 3 ] ); // attempt to modify array[ 3 ]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("array[3] after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modifyElement</a:t>
              </a:r>
              <a:r>
                <a:rPr lang="en-US" sz="1400" dirty="0" smtClean="0">
                  <a:solidFill>
                    <a:srgbClr val="0000FF"/>
                  </a:solidFill>
                </a:rPr>
                <a:t>: %d\n", list[ 3 ] 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}</a:t>
              </a:r>
            </a:p>
            <a:p>
              <a:endParaRPr lang="en-US" sz="1400" dirty="0" smtClean="0">
                <a:solidFill>
                  <a:srgbClr val="0000FF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535182"/>
              <a:ext cx="450344" cy="474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683568" y="4251960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14048" y="5958840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ARRAYS AS PARAMETRS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2" name="Group 11"/>
          <p:cNvGrpSpPr/>
          <p:nvPr/>
        </p:nvGrpSpPr>
        <p:grpSpPr>
          <a:xfrm>
            <a:off x="179512" y="914400"/>
            <a:ext cx="8784977" cy="3108543"/>
            <a:chOff x="323528" y="1236822"/>
            <a:chExt cx="7848873" cy="2923028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292302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00FF"/>
                  </a:solidFill>
                </a:rPr>
                <a:t>// multiply each element of an array by 2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public static void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modifyArray</a:t>
              </a:r>
              <a:r>
                <a:rPr lang="en-US" sz="1400" dirty="0" smtClean="0">
                  <a:solidFill>
                    <a:srgbClr val="0000FF"/>
                  </a:solidFill>
                </a:rPr>
                <a:t>(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[] array2 )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for (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counter = 0; counter &lt; array2.length; counter++ 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array2[ counter ] *= 2;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}</a:t>
              </a:r>
            </a:p>
            <a:p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// multiply argument by 2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public static void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modifyElement</a:t>
              </a:r>
              <a:r>
                <a:rPr lang="en-US" sz="1400" dirty="0" smtClean="0">
                  <a:solidFill>
                    <a:srgbClr val="0000FF"/>
                  </a:solidFill>
                </a:rPr>
                <a:t>(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element 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element *= 2;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 smtClean="0">
                  <a:solidFill>
                    <a:srgbClr val="0000FF"/>
                  </a:solidFill>
                </a:rPr>
                <a:t>("Value of element in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modifyElement</a:t>
              </a:r>
              <a:r>
                <a:rPr lang="en-US" sz="1400" dirty="0" smtClean="0">
                  <a:solidFill>
                    <a:srgbClr val="0000FF"/>
                  </a:solidFill>
                </a:rPr>
                <a:t>: %d\n", element 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}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}</a:t>
              </a:r>
              <a:endParaRPr lang="en-US" sz="1400" dirty="0">
                <a:solidFill>
                  <a:srgbClr val="0000FF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2923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251520" y="4267200"/>
            <a:ext cx="8712967" cy="2462213"/>
            <a:chOff x="683568" y="1362835"/>
            <a:chExt cx="7488831" cy="2462213"/>
          </a:xfrm>
        </p:grpSpPr>
        <p:sp>
          <p:nvSpPr>
            <p:cNvPr id="23" name="TextBox 22"/>
            <p:cNvSpPr txBox="1"/>
            <p:nvPr/>
          </p:nvSpPr>
          <p:spPr>
            <a:xfrm>
              <a:off x="1069013" y="1362835"/>
              <a:ext cx="7103386" cy="2462213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Effects of passing reference to entire array: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The values of the original array are: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 1 2 3 4 5</a:t>
              </a:r>
            </a:p>
            <a:p>
              <a:endParaRPr lang="en-US" sz="1400" dirty="0" smtClean="0">
                <a:solidFill>
                  <a:schemeClr val="bg1"/>
                </a:solidFill>
              </a:endParaRP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The values of the modified array are: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 2 4 6 8 10</a:t>
              </a:r>
            </a:p>
            <a:p>
              <a:endParaRPr lang="en-US" sz="1400" dirty="0" smtClean="0">
                <a:solidFill>
                  <a:schemeClr val="bg1"/>
                </a:solidFill>
              </a:endParaRP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Effects of passing array element value: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array[3] before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modifyElement</a:t>
              </a:r>
              <a:r>
                <a:rPr lang="en-US" sz="1400" dirty="0" smtClean="0">
                  <a:solidFill>
                    <a:schemeClr val="bg1"/>
                  </a:solidFill>
                </a:rPr>
                <a:t>: 8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Value of element in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modifyElement</a:t>
              </a:r>
              <a:r>
                <a:rPr lang="en-US" sz="1400" dirty="0" smtClean="0">
                  <a:solidFill>
                    <a:schemeClr val="bg1"/>
                  </a:solidFill>
                </a:rPr>
                <a:t>: 16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array[3] after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modifyElement</a:t>
              </a:r>
              <a:r>
                <a:rPr lang="en-US" sz="1400" dirty="0" smtClean="0">
                  <a:solidFill>
                    <a:schemeClr val="bg1"/>
                  </a:solidFill>
                </a:rPr>
                <a:t>: 8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3568" y="1362835"/>
              <a:ext cx="21602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200" dirty="0">
                  <a:solidFill>
                    <a:srgbClr val="FF0000"/>
                  </a:solidFill>
                </a:rPr>
                <a:t>5</a:t>
              </a:r>
              <a:endParaRPr lang="en-US" sz="1200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916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SUMMARY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7.1 COMPARING PRIMITIVE, ARRAYS, String AS PARAMETERS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157456"/>
              </p:ext>
            </p:extLst>
          </p:nvPr>
        </p:nvGraphicFramePr>
        <p:xfrm>
          <a:off x="266629" y="1340768"/>
          <a:ext cx="8420170" cy="3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Primitive 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Arrays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00FF"/>
                          </a:solidFill>
                        </a:rPr>
                        <a:t>Actual Parameter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Value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Address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00FF"/>
                          </a:solidFill>
                        </a:rPr>
                        <a:t>Connection between Actual &amp; Formal Parameters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Ends as the</a:t>
                      </a:r>
                      <a:r>
                        <a:rPr lang="en-US" sz="1600" baseline="0" dirty="0" smtClean="0">
                          <a:solidFill>
                            <a:srgbClr val="0000FF"/>
                          </a:solidFill>
                        </a:rPr>
                        <a:t> actual parameters copy their values to the formal parameters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Is kept</a:t>
                      </a:r>
                      <a:r>
                        <a:rPr lang="en-US" sz="1600" baseline="0" dirty="0" smtClean="0">
                          <a:solidFill>
                            <a:srgbClr val="0000FF"/>
                          </a:solidFill>
                        </a:rPr>
                        <a:t> even after the called method finishes execution</a:t>
                      </a:r>
                      <a:endParaRPr lang="en-US" sz="16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00FF"/>
                          </a:solidFill>
                        </a:rPr>
                        <a:t>Updates in method reflected on actual parameter?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00FF"/>
                          </a:solidFill>
                        </a:rPr>
                        <a:t>How to transfer a value from the</a:t>
                      </a:r>
                      <a:r>
                        <a:rPr lang="en-US" sz="1400" b="1" baseline="0" dirty="0" smtClean="0">
                          <a:solidFill>
                            <a:srgbClr val="0000FF"/>
                          </a:solidFill>
                        </a:rPr>
                        <a:t> called to the caller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Use</a:t>
                      </a:r>
                      <a:r>
                        <a:rPr lang="en-US" sz="1600" baseline="0" dirty="0" smtClean="0">
                          <a:solidFill>
                            <a:srgbClr val="0000FF"/>
                          </a:solidFill>
                        </a:rPr>
                        <a:t> the </a:t>
                      </a:r>
                      <a:r>
                        <a:rPr lang="en-US" sz="1600" baseline="0" dirty="0" smtClean="0">
                          <a:solidFill>
                            <a:srgbClr val="00B0F0"/>
                          </a:solidFill>
                        </a:rPr>
                        <a:t>return </a:t>
                      </a:r>
                      <a:r>
                        <a:rPr lang="en-US" sz="1600" baseline="0" dirty="0" smtClean="0">
                          <a:solidFill>
                            <a:srgbClr val="0000FF"/>
                          </a:solidFill>
                        </a:rPr>
                        <a:t>statement for non-void methods only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No need to do anything, since</a:t>
                      </a:r>
                      <a:r>
                        <a:rPr lang="en-US" sz="1600" baseline="0" dirty="0" smtClean="0">
                          <a:solidFill>
                            <a:srgbClr val="0000FF"/>
                          </a:solidFill>
                        </a:rPr>
                        <a:t> memory is updated directly</a:t>
                      </a:r>
                      <a:endParaRPr lang="en-US" sz="16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43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Sorting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23528" y="914401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Sorting data</a:t>
            </a:r>
          </a:p>
          <a:p>
            <a:pPr lvl="1">
              <a:buFontTx/>
              <a:buChar char="-"/>
            </a:pP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Important computing application</a:t>
            </a:r>
          </a:p>
          <a:p>
            <a:pPr lvl="1">
              <a:buFontTx/>
              <a:buChar char="-"/>
            </a:pPr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Virtually every organization must sort some data </a:t>
            </a:r>
          </a:p>
          <a:p>
            <a:pPr lvl="2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Massive amounts must be sorted</a:t>
            </a:r>
          </a:p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3528" y="3078301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Bubble sort (sinking sort) </a:t>
            </a: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Several passes through the array 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Successive pairs of elements are compared</a:t>
            </a: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pPr lvl="2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If increasing order (or identical), no change</a:t>
            </a:r>
          </a:p>
          <a:p>
            <a:pPr lvl="2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If decreasing order, elements exchanged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Repeat these steps for every element</a:t>
            </a:r>
          </a:p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98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Sorting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23528" y="914401"/>
            <a:ext cx="864096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Example:</a:t>
            </a: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Go left to right, and exchange elements as necessary</a:t>
            </a:r>
          </a:p>
          <a:p>
            <a:pPr lvl="2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One pass for each element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Original:   3  4  2  7  6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Pass 1:      3  </a:t>
            </a:r>
            <a:r>
              <a:rPr lang="en-US" sz="2000" u="sng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2  4</a:t>
            </a:r>
            <a:r>
              <a:rPr lang="en-US" sz="2000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u="sng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6  7</a:t>
            </a:r>
            <a:r>
              <a:rPr lang="en-US" sz="2000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(elements exchanged)</a:t>
            </a:r>
            <a:endParaRPr lang="en-US" sz="2000" u="sng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Pass 2:     </a:t>
            </a:r>
            <a:r>
              <a:rPr lang="en-US" sz="2000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u="sng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2  3</a:t>
            </a:r>
            <a:r>
              <a:rPr lang="en-US" sz="2000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4  6  7 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Pass 3:      2  3  4  6  7   (no changes needed)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Pass 4:      2  3  4  6  7 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Pass 5:      2  3  4  6  7 </a:t>
            </a:r>
          </a:p>
          <a:p>
            <a:pPr lvl="1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Small elements "bubble" to the top (like 2 in this example)</a:t>
            </a:r>
          </a:p>
          <a:p>
            <a:pPr lvl="2"/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98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Sorting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23528" y="914401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Swapping variables</a:t>
            </a:r>
          </a:p>
          <a:p>
            <a:pPr lvl="1">
              <a:buFontTx/>
              <a:buNone/>
            </a:pPr>
            <a:r>
              <a:rPr lang="en-US" sz="20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x = 3, y = 4;</a:t>
            </a:r>
          </a:p>
          <a:p>
            <a:pPr lvl="1">
              <a:buFontTx/>
              <a:buNone/>
            </a:pP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 = x;</a:t>
            </a:r>
          </a:p>
          <a:p>
            <a:pPr lvl="1">
              <a:buFontTx/>
              <a:buNone/>
            </a:pP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x = y;</a:t>
            </a:r>
          </a:p>
          <a:p>
            <a:endParaRPr 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</a:t>
            </a: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What happened?</a:t>
            </a: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Both x and y are 3!</a:t>
            </a:r>
          </a:p>
          <a:p>
            <a:pPr lvl="1"/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Need a temporary variable</a:t>
            </a:r>
          </a:p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3528" y="3840301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Solution</a:t>
            </a:r>
          </a:p>
          <a:p>
            <a:pPr lvl="1">
              <a:buFontTx/>
              <a:buNone/>
            </a:pPr>
            <a:r>
              <a:rPr lang="en-US" sz="20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x = 3, y = 4, temp = 0;</a:t>
            </a:r>
          </a:p>
          <a:p>
            <a:pPr lvl="1">
              <a:buFontTx/>
              <a:buNone/>
            </a:pP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temp = x;  // temp gets 3</a:t>
            </a:r>
          </a:p>
          <a:p>
            <a:pPr lvl="1">
              <a:buFontTx/>
              <a:buNone/>
            </a:pP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x = y;     // x gets 4</a:t>
            </a:r>
          </a:p>
          <a:p>
            <a:pPr lvl="1">
              <a:buFontTx/>
              <a:buNone/>
            </a:pP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 = temp;  // y gets 3</a:t>
            </a:r>
          </a:p>
          <a:p>
            <a:pPr lvl="1"/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98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Sorting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Bubble Sort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/>
          <p:nvPr/>
        </p:nvGrpSpPr>
        <p:grpSpPr>
          <a:xfrm>
            <a:off x="179512" y="1340768"/>
            <a:ext cx="8784977" cy="5047536"/>
            <a:chOff x="323528" y="1236822"/>
            <a:chExt cx="7848873" cy="4746309"/>
          </a:xfrm>
        </p:grpSpPr>
        <p:sp>
          <p:nvSpPr>
            <p:cNvPr id="20" name="TextBox 19"/>
            <p:cNvSpPr txBox="1"/>
            <p:nvPr/>
          </p:nvSpPr>
          <p:spPr>
            <a:xfrm>
              <a:off x="788528" y="1236822"/>
              <a:ext cx="7383873" cy="454372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sz="1400" dirty="0" smtClean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public 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class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BubbleSortExample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{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public static void main(String[]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args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) {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int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arr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[] ={3,60,35,2,45,320,5};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System.out.println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("Array Before Bubble Sort");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for(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int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=0;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&lt;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arr.length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;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++){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       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System.out.print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(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arr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[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] + " ");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}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System.out.println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();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bubbleSort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(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arr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);</a:t>
              </a:r>
              <a:r>
                <a:rPr lang="en-US" sz="1400" dirty="0">
                  <a:solidFill>
                    <a:srgbClr val="00B050"/>
                  </a:solidFill>
                  <a:latin typeface="AvantGarde" pitchFamily="34" charset="0"/>
                  <a:cs typeface="Times New Roman" charset="0"/>
                </a:rPr>
                <a:t>//sorting array elements using bubble sort 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System.out.println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("Array After Bubble Sort");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for(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int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=0;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&lt;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arr.length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;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++){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        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System.out.print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(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arr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[</a:t>
              </a:r>
              <a:r>
                <a:rPr lang="en-US" sz="1400" dirty="0" err="1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i</a:t>
              </a: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] + " ");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        }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       } </a:t>
              </a:r>
              <a:r>
                <a:rPr lang="en-US" sz="1400" dirty="0" smtClean="0">
                  <a:solidFill>
                    <a:srgbClr val="5F5F5F"/>
                  </a:solidFill>
                  <a:latin typeface="AvantGarde" pitchFamily="34" charset="0"/>
                  <a:cs typeface="Times New Roman" charset="0"/>
                </a:rPr>
                <a:t> </a:t>
              </a:r>
              <a:endPara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US" sz="1400" dirty="0" smtClean="0">
                  <a:solidFill>
                    <a:srgbClr val="00B050"/>
                  </a:solidFill>
                  <a:latin typeface="AvantGarde" pitchFamily="34" charset="0"/>
                  <a:cs typeface="Times New Roman" charset="0"/>
                </a:rPr>
                <a:t>    //end of main</a:t>
              </a:r>
              <a:r>
                <a:rPr lang="en-US" sz="1400" dirty="0" smtClean="0">
                  <a:solidFill>
                    <a:srgbClr val="00B050"/>
                  </a:solidFill>
                  <a:cs typeface="Courier New" pitchFamily="49" charset="0"/>
                </a:rPr>
                <a:t>                                                        </a:t>
              </a:r>
              <a:endParaRPr lang="en-US" sz="1400" dirty="0" smtClean="0">
                <a:solidFill>
                  <a:srgbClr val="00B050"/>
                </a:solidFill>
                <a:latin typeface="Courier" pitchFamily="49" charset="0"/>
                <a:cs typeface="Times New Roman" charset="0"/>
              </a:endParaRPr>
            </a:p>
            <a:p>
              <a:r>
                <a:rPr lang="en-US" sz="1400" dirty="0" smtClean="0">
                  <a:solidFill>
                    <a:srgbClr val="008000"/>
                  </a:solidFill>
                  <a:cs typeface="Courier New" pitchFamily="49" charset="0"/>
                </a:rPr>
                <a:t>  </a:t>
              </a:r>
            </a:p>
            <a:p>
              <a:r>
                <a:rPr lang="en-US" sz="1400" dirty="0" smtClean="0">
                  <a:solidFill>
                    <a:srgbClr val="008000"/>
                  </a:solidFill>
                  <a:cs typeface="Courier New" pitchFamily="49" charset="0"/>
                </a:rPr>
                <a:t>                                    </a:t>
              </a:r>
              <a:endParaRPr lang="en-US" sz="1400" dirty="0" smtClean="0">
                <a:solidFill>
                  <a:srgbClr val="000000"/>
                </a:solidFill>
                <a:latin typeface="Courier" pitchFamily="49" charset="0"/>
                <a:cs typeface="Times New Roman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450344" cy="474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2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Sorting Array (cont.)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9600" y="1219200"/>
            <a:ext cx="8282880" cy="3754874"/>
          </a:xfrm>
          <a:prstGeom prst="rect">
            <a:avLst/>
          </a:prstGeom>
          <a:solidFill>
            <a:schemeClr val="bg2"/>
          </a:solidFill>
          <a:ln w="28575" cap="rnd" cmpd="thickThin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public static void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bubbleSort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(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int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[]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) {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int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n =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arr.length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;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int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temp = 0;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for(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int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=0;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&lt; n;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++){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for(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int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j=1; j &lt; (n-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i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);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j++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){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         if(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[j-1] &gt;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[j]){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                //swap elements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                temp =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[j-1];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               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[j-1] =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[j];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                </a:t>
            </a:r>
            <a:r>
              <a:rPr lang="en-US" sz="1400" dirty="0" err="1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arr</a:t>
            </a: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[j] = temp;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        }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       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        }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     }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    }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en-US" sz="1400" dirty="0">
                <a:solidFill>
                  <a:srgbClr val="5F5F5F"/>
                </a:solidFill>
                <a:latin typeface="AvantGarde" pitchFamily="34" charset="0"/>
                <a:cs typeface="Times New Roman" charset="0"/>
              </a:rPr>
              <a:t>}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Bubble Sort</a:t>
            </a:r>
            <a:endParaRPr lang="en-US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09600" y="5300618"/>
            <a:ext cx="8282880" cy="95410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Array Before Bubble Sort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3 60 35 2 45 320 5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Array After Bubble Sort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2 3 5 35 45 60 320 </a:t>
            </a:r>
          </a:p>
        </p:txBody>
      </p:sp>
    </p:spTree>
    <p:extLst>
      <p:ext uri="{BB962C8B-B14F-4D97-AF65-F5344CB8AC3E}">
        <p14:creationId xmlns:p14="http://schemas.microsoft.com/office/powerpoint/2010/main" val="225098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W9.2 One-Dimensional and Methods</a:t>
            </a:r>
            <a:endParaRPr lang="en-US" sz="1200" dirty="0"/>
          </a:p>
        </p:txBody>
      </p:sp>
      <p:sp>
        <p:nvSpPr>
          <p:cNvPr id="9" name="Rounded Rectangle 8"/>
          <p:cNvSpPr/>
          <p:nvPr/>
        </p:nvSpPr>
        <p:spPr>
          <a:xfrm>
            <a:off x="107504" y="1143000"/>
            <a:ext cx="8856984" cy="2553891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 modular program that finds the transpose of a two-dimensional array (</a:t>
            </a:r>
            <a:r>
              <a:rPr lang="en-US" sz="1600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rows become columns, and the columns become rows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The sizes of the array are given. Also, print the original array and the transpose array.</a:t>
            </a:r>
          </a:p>
          <a:p>
            <a:pPr algn="just">
              <a:buClr>
                <a:srgbClr val="FF0000"/>
              </a:buClr>
            </a:pPr>
            <a:endParaRPr lang="en-US" sz="16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Clr>
                <a:srgbClr val="FF0000"/>
              </a:buClr>
            </a:pPr>
            <a:r>
              <a:rPr lang="en-US" sz="1600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3       4					3       8</a:t>
            </a:r>
          </a:p>
          <a:p>
            <a:pPr algn="just">
              <a:buClr>
                <a:srgbClr val="FF0000"/>
              </a:buClr>
            </a:pPr>
            <a:r>
              <a:rPr lang="en-US" sz="16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= 				</a:t>
            </a:r>
            <a:r>
              <a:rPr lang="en-US" sz="1600" i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Atranspose</a:t>
            </a:r>
            <a:r>
              <a:rPr lang="en-US" sz="16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</a:p>
          <a:p>
            <a:pPr algn="just">
              <a:buClr>
                <a:srgbClr val="FF0000"/>
              </a:buClr>
            </a:pPr>
            <a:r>
              <a:rPr lang="en-US" sz="16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8       7					4       7</a:t>
            </a:r>
            <a:endParaRPr lang="en-US" sz="1600" i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7504" y="3826817"/>
            <a:ext cx="8856984" cy="160043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to check if an integer is a prime number. Test your program. </a:t>
            </a:r>
          </a:p>
          <a:p>
            <a:pPr algn="just">
              <a:buClr>
                <a:srgbClr val="FF0000"/>
              </a:buClr>
            </a:pPr>
            <a:r>
              <a:rPr lang="en-US" sz="16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prime number is divisible by 1 and itself only. For example, 7, 11, 13 are prime numbers because they are divisible only by 1 and themselves. 9 is not a prime number since it is divisible by 3 too.</a:t>
            </a:r>
            <a:endParaRPr lang="en-US" sz="1600" i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2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1991</TotalTime>
  <Words>3648</Words>
  <Application>Microsoft Office PowerPoint</Application>
  <PresentationFormat>On-screen Show (4:3)</PresentationFormat>
  <Paragraphs>934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MS PGothic</vt:lpstr>
      <vt:lpstr>Arial</vt:lpstr>
      <vt:lpstr>AvantGarde</vt:lpstr>
      <vt:lpstr>Courier</vt:lpstr>
      <vt:lpstr>Courier New</vt:lpstr>
      <vt:lpstr>Lucida Sans Unicode</vt:lpstr>
      <vt:lpstr>Tahoma</vt:lpstr>
      <vt:lpstr>Times New Roman</vt:lpstr>
      <vt:lpstr>Verdana</vt:lpstr>
      <vt:lpstr>Wingdings</vt:lpstr>
      <vt:lpstr>Wingdings 2</vt:lpstr>
      <vt:lpstr>Wingdings 3</vt:lpstr>
      <vt:lpstr>Concourse</vt:lpstr>
      <vt:lpstr>  ARRAYS </vt:lpstr>
      <vt:lpstr>Outline</vt:lpstr>
      <vt:lpstr>1. INTRODUCTION</vt:lpstr>
      <vt:lpstr>2. PROGRAMMING EXAMPLES</vt:lpstr>
      <vt:lpstr>2. PROGRAMMING EXAMPLES</vt:lpstr>
      <vt:lpstr>2. PROGRAMMING EXAMPLES</vt:lpstr>
      <vt:lpstr>8. PROGRAMMING EXAMPLES</vt:lpstr>
      <vt:lpstr>2. PROGRAMMING EXAMPLES</vt:lpstr>
      <vt:lpstr>2. PROGRAMMING EXAMPLES</vt:lpstr>
      <vt:lpstr>2. PROGRAMMING EXAMPLES</vt:lpstr>
      <vt:lpstr>2. PROGRAMMING EXAMPLES</vt:lpstr>
      <vt:lpstr>2. PROGRAMMING EXAMPLES</vt:lpstr>
      <vt:lpstr>2. PROGRAMMING EXAMPLES</vt:lpstr>
      <vt:lpstr>3. PRIMITIVE DATA TYPES  AS PARAMETERS</vt:lpstr>
      <vt:lpstr>3. PRIMITIVE DATA TYPES  AS PARAMETERS</vt:lpstr>
      <vt:lpstr>4. REFRENCE VARIABLES  AS PARAMETERS</vt:lpstr>
      <vt:lpstr>4.1 ARRAYS AS PARAMETRS</vt:lpstr>
      <vt:lpstr>4.1 ARRAYS AS PARAMETRS</vt:lpstr>
      <vt:lpstr>4.1 ARRAYS AS PARAMETRS</vt:lpstr>
      <vt:lpstr>4.1 ARRAYS AS PARAMETRS</vt:lpstr>
      <vt:lpstr>4.1 ARRAYS AS PARAMETRS</vt:lpstr>
      <vt:lpstr>4.1 ARRAYS AS PARAMETRS</vt:lpstr>
      <vt:lpstr>4.1 ARRAYS AS PARAMETRS</vt:lpstr>
      <vt:lpstr>SUMMARY </vt:lpstr>
      <vt:lpstr>5. Sorting Arrays</vt:lpstr>
      <vt:lpstr>5. Sorting Arrays</vt:lpstr>
      <vt:lpstr>5. Sorting Arrays</vt:lpstr>
      <vt:lpstr>5. Sorting Arrays</vt:lpstr>
      <vt:lpstr>5. Sorting Array (cont.)</vt:lpstr>
      <vt:lpstr>Self-Check Exercises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USER-DEFINED METHODS</dc:title>
  <dc:creator>Soha S.Zaghloul</dc:creator>
  <cp:lastModifiedBy>Dell</cp:lastModifiedBy>
  <cp:revision>128</cp:revision>
  <dcterms:created xsi:type="dcterms:W3CDTF">2015-04-06T03:49:33Z</dcterms:created>
  <dcterms:modified xsi:type="dcterms:W3CDTF">2019-11-12T23:25:27Z</dcterms:modified>
</cp:coreProperties>
</file>