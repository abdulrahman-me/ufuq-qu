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7" r:id="rId9"/>
    <p:sldId id="259" r:id="rId10"/>
    <p:sldId id="260" r:id="rId11"/>
    <p:sldId id="268" r:id="rId12"/>
    <p:sldId id="27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4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4D12D-268A-4234-8C6A-BAA2E8369DAD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C78C7-2F75-4530-B28D-1BD2BB7282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80600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811E7BD-574B-4ADE-A7E6-F9412E09A450}" type="datetimeFigureOut">
              <a:rPr lang="en-US" smtClean="0"/>
              <a:pPr/>
              <a:t>12/23/2016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7CC7A42-D7A0-4EE9-8C61-C9E0023045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276872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ARRAYS 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31840" y="3933056"/>
            <a:ext cx="576064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 smtClean="0">
                <a:solidFill>
                  <a:srgbClr val="00B0F0"/>
                </a:solidFill>
              </a:rPr>
              <a:t>Important Issues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7826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052736"/>
            <a:ext cx="8153400" cy="5616624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1. Equality of two arrays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2. Assignment operator between two arrays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3. Relational operators between two arrays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4. Copying arrays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5. Array of </a:t>
            </a:r>
            <a:r>
              <a:rPr lang="en-US" sz="2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String</a:t>
            </a:r>
            <a:r>
              <a:rPr lang="en-US" sz="2000" dirty="0" smtClean="0">
                <a:latin typeface="Tahoma" charset="0"/>
                <a:cs typeface="Arial" charset="0"/>
              </a:rPr>
              <a:t> objects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6. Searching in an array 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5550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1. EQUALITY OF TWO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520" y="764704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arrays are considered equal if: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have the same size, and</a:t>
            </a:r>
          </a:p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corresponding elements in both arrays are equal.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1520" y="178501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statements: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79512" y="2206605"/>
            <a:ext cx="8784976" cy="1200329"/>
            <a:chOff x="323528" y="1236822"/>
            <a:chExt cx="7848872" cy="1128695"/>
          </a:xfrm>
        </p:grpSpPr>
        <p:sp>
          <p:nvSpPr>
            <p:cNvPr id="37" name="TextBox 36"/>
            <p:cNvSpPr txBox="1"/>
            <p:nvPr/>
          </p:nvSpPr>
          <p:spPr>
            <a:xfrm>
              <a:off x="971600" y="1236822"/>
              <a:ext cx="7200800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</a:t>
              </a:r>
              <a:r>
                <a:rPr lang="en-US" dirty="0" smtClean="0"/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dirty="0" smtClean="0">
                  <a:solidFill>
                    <a:srgbClr val="0000FF"/>
                  </a:solidFill>
                </a:rPr>
                <a:t> = {5, 10, 15, 20, 25, 30, 35};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 </a:t>
              </a:r>
              <a:r>
                <a:rPr lang="en-US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smtClean="0">
                  <a:solidFill>
                    <a:srgbClr val="00B0F0"/>
                  </a:solidFill>
                </a:rPr>
                <a:t>new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[</a:t>
              </a:r>
              <a:r>
                <a:rPr lang="en-US" dirty="0" err="1" smtClean="0">
                  <a:solidFill>
                    <a:srgbClr val="0000FF"/>
                  </a:solidFill>
                </a:rPr>
                <a:t>listA.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];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listC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>
                  <a:solidFill>
                    <a:srgbClr val="0000FF"/>
                  </a:solidFill>
                </a:rPr>
                <a:t>{5, 10, 15, 20, 25, 30, 35</a:t>
              </a:r>
              <a:r>
                <a:rPr lang="en-US" dirty="0" smtClean="0">
                  <a:solidFill>
                    <a:srgbClr val="0000FF"/>
                  </a:solidFill>
                </a:rPr>
                <a:t>};</a:t>
              </a:r>
            </a:p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[] </a:t>
              </a:r>
              <a:r>
                <a:rPr lang="en-US" dirty="0" err="1" smtClean="0">
                  <a:solidFill>
                    <a:srgbClr val="0000FF"/>
                  </a:solidFill>
                </a:rPr>
                <a:t>listD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= </a:t>
              </a:r>
              <a:r>
                <a:rPr lang="en-US" dirty="0">
                  <a:solidFill>
                    <a:srgbClr val="00B0F0"/>
                  </a:solidFill>
                </a:rPr>
                <a:t>new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[5];</a:t>
              </a:r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3528" y="1236822"/>
              <a:ext cx="576064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251520" y="347313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size 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equal to the number of the elements in the initializer list; which is 7. (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listA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.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length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 = 7)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1520" y="416127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2 creates an array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listB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the same length as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1520" y="459332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3 creates an array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a number of elements equal to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the corresponding elements are also equal to those 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1520" y="526113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4 creates an array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listD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having 5 elements.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2403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5" grpId="0"/>
      <p:bldP spid="39" grpId="0"/>
      <p:bldP spid="40" grpId="0"/>
      <p:bldP spid="41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1. EQUALITY OF TWO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520" y="7647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the execution of the previous statements, the memory layout will be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837350081"/>
              </p:ext>
            </p:extLst>
          </p:nvPr>
        </p:nvGraphicFramePr>
        <p:xfrm>
          <a:off x="1550719" y="1585600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43671644"/>
              </p:ext>
            </p:extLst>
          </p:nvPr>
        </p:nvGraphicFramePr>
        <p:xfrm>
          <a:off x="1550719" y="2370480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51520" y="47971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listD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have different sizes, then they are NOT equal.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98130003"/>
              </p:ext>
            </p:extLst>
          </p:nvPr>
        </p:nvGraphicFramePr>
        <p:xfrm>
          <a:off x="107504" y="1535192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 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listA</a:t>
                      </a:r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05110201"/>
              </p:ext>
            </p:extLst>
          </p:nvPr>
        </p:nvGraphicFramePr>
        <p:xfrm>
          <a:off x="107504" y="2348880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Adrs2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listB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755576" y="2111256"/>
            <a:ext cx="792088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55576" y="2946544"/>
            <a:ext cx="792088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70945294"/>
              </p:ext>
            </p:extLst>
          </p:nvPr>
        </p:nvGraphicFramePr>
        <p:xfrm>
          <a:off x="1550719" y="3191376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listC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listC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listC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listC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listC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listC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listC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22126359"/>
              </p:ext>
            </p:extLst>
          </p:nvPr>
        </p:nvGraphicFramePr>
        <p:xfrm>
          <a:off x="107504" y="3140968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Adrs3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listC</a:t>
                      </a:r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>
            <a:off x="755576" y="3717032"/>
            <a:ext cx="792088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07704" y="2062041"/>
            <a:ext cx="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975823" y="2062041"/>
            <a:ext cx="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043942" y="2062041"/>
            <a:ext cx="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112061" y="2062041"/>
            <a:ext cx="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180180" y="2062041"/>
            <a:ext cx="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7248299" y="2062041"/>
            <a:ext cx="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8316416" y="2062041"/>
            <a:ext cx="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1314341"/>
              </p:ext>
            </p:extLst>
          </p:nvPr>
        </p:nvGraphicFramePr>
        <p:xfrm>
          <a:off x="1550719" y="3983464"/>
          <a:ext cx="52441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listD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listD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listD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listD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listD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67029447"/>
              </p:ext>
            </p:extLst>
          </p:nvPr>
        </p:nvGraphicFramePr>
        <p:xfrm>
          <a:off x="107504" y="3933056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Adrs4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listD</a:t>
                      </a:r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6" name="Straight Arrow Connector 45"/>
          <p:cNvCxnSpPr/>
          <p:nvPr/>
        </p:nvCxnSpPr>
        <p:spPr>
          <a:xfrm>
            <a:off x="755576" y="4509120"/>
            <a:ext cx="792088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51520" y="515719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Although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listB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have the same size, but they are NOT equal because the corresponding elements in both arrays are not equal.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51520" y="5817458"/>
            <a:ext cx="8640960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have the same size, AND the corresponding elements in both arrays are equal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 they are equal.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2339752" y="2204864"/>
            <a:ext cx="0" cy="1574599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3407871" y="2204864"/>
            <a:ext cx="0" cy="1574599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4475990" y="2204864"/>
            <a:ext cx="0" cy="1574599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5544109" y="2204864"/>
            <a:ext cx="0" cy="1574599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6612228" y="2204864"/>
            <a:ext cx="0" cy="1574599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7680347" y="2204864"/>
            <a:ext cx="0" cy="1574599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48464" y="2204864"/>
            <a:ext cx="0" cy="1574599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4872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0" grpId="0"/>
      <p:bldP spid="47" grpId="0"/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EQUALITY OF TWO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1 – ANALYSIS 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1520" y="1412776"/>
            <a:ext cx="8712968" cy="72008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Write a program that checks if two arrays containing integers are equal. The sizes are read by the user.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951" y="227687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1619672" y="2276872"/>
            <a:ext cx="7344816" cy="151216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First array (</a:t>
            </a:r>
            <a:r>
              <a:rPr lang="en-US" dirty="0" smtClean="0">
                <a:solidFill>
                  <a:srgbClr val="CC00CC"/>
                </a:solidFill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 err="1" smtClean="0">
                <a:solidFill>
                  <a:srgbClr val="0000FF"/>
                </a:solidFill>
              </a:rPr>
              <a:t>listA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Size of </a:t>
            </a:r>
            <a:r>
              <a:rPr lang="en-US" dirty="0" err="1" smtClean="0">
                <a:solidFill>
                  <a:srgbClr val="0000FF"/>
                </a:solidFill>
              </a:rPr>
              <a:t>listA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dirty="0" smtClean="0">
                <a:solidFill>
                  <a:srgbClr val="CC00CC"/>
                </a:solidFill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 smtClean="0">
              <a:solidFill>
                <a:schemeClr val="accent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Second array (</a:t>
            </a:r>
            <a:r>
              <a:rPr lang="en-US" dirty="0" smtClean="0">
                <a:solidFill>
                  <a:srgbClr val="CC00CC"/>
                </a:solidFill>
                <a:sym typeface="Wingdings" panose="05000000000000000000" pitchFamily="2" charset="2"/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: </a:t>
            </a:r>
            <a:r>
              <a:rPr lang="en-US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listB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, type </a:t>
            </a:r>
            <a:r>
              <a:rPr lang="en-US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int</a:t>
            </a:r>
            <a:r>
              <a:rPr lang="en-US" dirty="0" smtClean="0">
                <a:solidFill>
                  <a:srgbClr val="00B0F0"/>
                </a:solidFill>
                <a:sym typeface="Wingdings" panose="05000000000000000000" pitchFamily="2" charset="2"/>
              </a:rPr>
              <a:t>[]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Size of </a:t>
            </a:r>
            <a:r>
              <a:rPr lang="en-US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listB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en-US" dirty="0" smtClean="0">
                <a:solidFill>
                  <a:srgbClr val="CC00CC"/>
                </a:solidFill>
                <a:sym typeface="Wingdings" panose="05000000000000000000" pitchFamily="2" charset="2"/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: 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51520" y="386104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1634241" y="386104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Equal or not equal (</a:t>
            </a:r>
            <a:r>
              <a:rPr lang="en-US" dirty="0" smtClean="0">
                <a:solidFill>
                  <a:srgbClr val="CC00CC"/>
                </a:solidFill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 smtClean="0">
                <a:solidFill>
                  <a:srgbClr val="0000FF"/>
                </a:solidFill>
              </a:rPr>
              <a:t>equal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boolean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460432" y="6407944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9722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634241" y="1340768"/>
            <a:ext cx="7344816" cy="518457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Initialize </a:t>
            </a:r>
            <a:r>
              <a:rPr lang="en-US" dirty="0" smtClean="0">
                <a:solidFill>
                  <a:srgbClr val="0000FF"/>
                </a:solidFill>
              </a:rPr>
              <a:t>equal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to </a:t>
            </a:r>
            <a:r>
              <a:rPr lang="en-US" dirty="0" smtClean="0">
                <a:solidFill>
                  <a:srgbClr val="00B0F0"/>
                </a:solidFill>
              </a:rPr>
              <a:t>true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Read the values of </a:t>
            </a:r>
            <a:r>
              <a:rPr lang="en-US" dirty="0" smtClean="0">
                <a:solidFill>
                  <a:srgbClr val="0000FF"/>
                </a:solidFill>
              </a:rPr>
              <a:t>M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and </a:t>
            </a:r>
            <a:r>
              <a:rPr lang="en-US" dirty="0" smtClean="0">
                <a:solidFill>
                  <a:srgbClr val="0000FF"/>
                </a:solidFill>
              </a:rPr>
              <a:t>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Check if </a:t>
            </a:r>
            <a:r>
              <a:rPr lang="en-US" dirty="0" smtClean="0">
                <a:solidFill>
                  <a:srgbClr val="0000FF"/>
                </a:solidFill>
              </a:rPr>
              <a:t>M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and </a:t>
            </a:r>
            <a:r>
              <a:rPr lang="en-US" dirty="0" smtClean="0">
                <a:solidFill>
                  <a:srgbClr val="0000FF"/>
                </a:solidFill>
              </a:rPr>
              <a:t>N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are equal:</a:t>
            </a:r>
          </a:p>
          <a:p>
            <a:pPr lvl="1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3.1 If </a:t>
            </a:r>
            <a:r>
              <a:rPr lang="en-US" dirty="0" smtClean="0">
                <a:solidFill>
                  <a:srgbClr val="0000FF"/>
                </a:solidFill>
              </a:rPr>
              <a:t>M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is not equal to </a:t>
            </a:r>
            <a:r>
              <a:rPr lang="en-US" dirty="0" smtClean="0">
                <a:solidFill>
                  <a:srgbClr val="0000FF"/>
                </a:solidFill>
              </a:rPr>
              <a:t>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then </a:t>
            </a:r>
            <a:r>
              <a:rPr lang="en-US" dirty="0" smtClean="0">
                <a:solidFill>
                  <a:srgbClr val="0000FF"/>
                </a:solidFill>
              </a:rPr>
              <a:t>equal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= </a:t>
            </a:r>
            <a:r>
              <a:rPr lang="en-US" dirty="0" smtClean="0">
                <a:solidFill>
                  <a:srgbClr val="00B0F0"/>
                </a:solidFill>
              </a:rPr>
              <a:t>false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and the program terminates.</a:t>
            </a:r>
          </a:p>
          <a:p>
            <a:pPr lvl="1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3.2 If </a:t>
            </a:r>
            <a:r>
              <a:rPr lang="en-US" dirty="0" smtClean="0">
                <a:solidFill>
                  <a:srgbClr val="0000FF"/>
                </a:solidFill>
              </a:rPr>
              <a:t>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is equal to </a:t>
            </a:r>
            <a:r>
              <a:rPr lang="en-US" dirty="0" smtClean="0">
                <a:solidFill>
                  <a:srgbClr val="0000FF"/>
                </a:solidFill>
              </a:rPr>
              <a:t>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proceed to step 4.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Fill in the arrays </a:t>
            </a:r>
            <a:r>
              <a:rPr lang="en-US" dirty="0" err="1" smtClean="0">
                <a:solidFill>
                  <a:srgbClr val="0000FF"/>
                </a:solidFill>
              </a:rPr>
              <a:t>listA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and </a:t>
            </a:r>
            <a:r>
              <a:rPr lang="en-US" dirty="0" err="1" smtClean="0">
                <a:solidFill>
                  <a:srgbClr val="0000FF"/>
                </a:solidFill>
              </a:rPr>
              <a:t>listB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(here we’ll fill them with random number generator function).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Loop as long as </a:t>
            </a:r>
            <a:r>
              <a:rPr lang="en-US" dirty="0" smtClean="0">
                <a:solidFill>
                  <a:srgbClr val="0000FF"/>
                </a:solidFill>
              </a:rPr>
              <a:t>equal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is true and </a:t>
            </a:r>
            <a:r>
              <a:rPr lang="en-US" dirty="0" smtClean="0">
                <a:solidFill>
                  <a:srgbClr val="0000FF"/>
                </a:solidFill>
              </a:rPr>
              <a:t>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(or </a:t>
            </a:r>
            <a:r>
              <a:rPr lang="en-US" dirty="0" smtClean="0">
                <a:solidFill>
                  <a:srgbClr val="0000FF"/>
                </a:solidFill>
              </a:rPr>
              <a:t>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 is not reached:</a:t>
            </a:r>
          </a:p>
          <a:p>
            <a:pPr lvl="1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5.1 Check if the corresponding elements are equal</a:t>
            </a:r>
          </a:p>
          <a:p>
            <a:pPr lvl="1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5.2 If they are not equal, then set </a:t>
            </a:r>
            <a:r>
              <a:rPr lang="en-US" dirty="0" smtClean="0">
                <a:solidFill>
                  <a:srgbClr val="0000FF"/>
                </a:solidFill>
              </a:rPr>
              <a:t>equal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to </a:t>
            </a:r>
            <a:r>
              <a:rPr lang="en-US" dirty="0" smtClean="0">
                <a:solidFill>
                  <a:srgbClr val="00B0F0"/>
                </a:solidFill>
              </a:rPr>
              <a:t>false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and the program terminates.</a:t>
            </a:r>
          </a:p>
          <a:p>
            <a:pPr lvl="1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5.3 If </a:t>
            </a:r>
            <a:r>
              <a:rPr lang="en-US" dirty="0" smtClean="0">
                <a:solidFill>
                  <a:srgbClr val="0000FF"/>
                </a:solidFill>
              </a:rPr>
              <a:t>M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(or </a:t>
            </a:r>
            <a:r>
              <a:rPr lang="en-US" dirty="0" smtClean="0">
                <a:solidFill>
                  <a:srgbClr val="0000FF"/>
                </a:solidFill>
              </a:rPr>
              <a:t>N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 is reached and </a:t>
            </a:r>
            <a:r>
              <a:rPr lang="en-US" dirty="0" smtClean="0">
                <a:solidFill>
                  <a:srgbClr val="0000FF"/>
                </a:solidFill>
              </a:rPr>
              <a:t>equal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is </a:t>
            </a:r>
            <a:r>
              <a:rPr lang="en-US" dirty="0" smtClean="0">
                <a:solidFill>
                  <a:srgbClr val="00B0F0"/>
                </a:solidFill>
              </a:rPr>
              <a:t>true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then the two arrays are equal and the program terminates.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EQUALITY OF TWO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1 – ALGORITHM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460432" y="6407944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251520" y="141277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PROCESS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5925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EQUALITY OF TWO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1 – CODE(1)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179512" y="1412776"/>
            <a:ext cx="8784976" cy="5262979"/>
            <a:chOff x="323528" y="1236822"/>
            <a:chExt cx="7848872" cy="4948902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494890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// import necessary libraries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import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 smtClean="0">
                  <a:solidFill>
                    <a:srgbClr val="0000FF"/>
                  </a:solidFill>
                </a:rPr>
                <a:t>;		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public </a:t>
              </a:r>
              <a:r>
                <a:rPr lang="en-US" sz="1400" dirty="0" smtClean="0">
                  <a:solidFill>
                    <a:srgbClr val="00B0F0"/>
                  </a:solidFill>
                </a:rPr>
                <a:t>class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areArraysEqual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{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// instantiate the object read from the class Scanner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static </a:t>
              </a:r>
              <a:r>
                <a:rPr lang="en-US" sz="1400" dirty="0" smtClean="0">
                  <a:solidFill>
                    <a:srgbClr val="0000FF"/>
                  </a:solidFill>
                </a:rPr>
                <a:t>Scanner read 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</a:t>
              </a:r>
              <a:r>
                <a:rPr lang="en-US" sz="1400" dirty="0" smtClean="0">
                  <a:solidFill>
                    <a:srgbClr val="0000FF"/>
                  </a:solidFill>
                </a:rPr>
                <a:t> Scanner (System.in);</a:t>
              </a:r>
            </a:p>
            <a:p>
              <a:r>
                <a:rPr lang="en-US" sz="1400" dirty="0" smtClean="0">
                  <a:solidFill>
                    <a:srgbClr val="00B0F0"/>
                  </a:solidFill>
                </a:rPr>
                <a:t>   public static void</a:t>
              </a:r>
              <a:r>
                <a:rPr lang="en-US" sz="1400" dirty="0" smtClean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args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400" dirty="0" smtClean="0"/>
                <a:t>// Declaration section: to declare needed variables</a:t>
              </a:r>
            </a:p>
            <a:p>
              <a:r>
                <a:rPr lang="en-US" sz="1400" dirty="0"/>
                <a:t> </a:t>
              </a:r>
              <a:r>
                <a:rPr lang="en-US" sz="1400" dirty="0" smtClean="0"/>
                <a:t>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B0F0"/>
                  </a:solidFill>
                </a:rPr>
                <a:t>[]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sz="1400" dirty="0" smtClean="0">
                  <a:solidFill>
                    <a:srgbClr val="0000FF"/>
                  </a:solidFill>
                </a:rPr>
                <a:t>,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 M = -1, N = -1,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;     </a:t>
              </a:r>
              <a:r>
                <a:rPr lang="en-US" sz="1400" dirty="0" smtClean="0">
                  <a:solidFill>
                    <a:srgbClr val="00B050"/>
                  </a:solidFill>
                </a:rPr>
                <a:t>//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intialize</a:t>
              </a:r>
              <a:r>
                <a:rPr lang="en-US" sz="1400" dirty="0" smtClean="0">
                  <a:solidFill>
                    <a:srgbClr val="00B050"/>
                  </a:solidFill>
                </a:rPr>
                <a:t> M &amp; N for user input validation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sz="1400" dirty="0" smtClean="0">
                  <a:solidFill>
                    <a:srgbClr val="0000FF"/>
                  </a:solidFill>
                </a:rPr>
                <a:t> equal = </a:t>
              </a:r>
              <a:r>
                <a:rPr lang="en-US" sz="1400" dirty="0" smtClean="0">
                  <a:solidFill>
                    <a:srgbClr val="00B0F0"/>
                  </a:solidFill>
                </a:rPr>
                <a:t>true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 // Read the sizes of both arrays from the user </a:t>
              </a:r>
            </a:p>
            <a:p>
              <a:r>
                <a:rPr lang="en-US" sz="1400" dirty="0" smtClean="0">
                  <a:solidFill>
                    <a:srgbClr val="00B050"/>
                  </a:solidFill>
                </a:rPr>
                <a:t>         // Validate user input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</a:t>
              </a:r>
              <a:r>
                <a:rPr lang="en-US" sz="1400" dirty="0" smtClean="0">
                  <a:solidFill>
                    <a:srgbClr val="00B050"/>
                  </a:solidFill>
                </a:rPr>
                <a:t>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 while</a:t>
              </a:r>
              <a:r>
                <a:rPr lang="en-US" sz="1400" dirty="0" smtClean="0">
                  <a:solidFill>
                    <a:srgbClr val="0000FF"/>
                  </a:solidFill>
                </a:rPr>
                <a:t> (M &lt; 0)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 {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(“Enter the size of the first Array”);	</a:t>
              </a:r>
              <a:r>
                <a:rPr lang="en-US" sz="1400" dirty="0" smtClean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         M =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read.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sz="1400" dirty="0" smtClean="0">
                  <a:solidFill>
                    <a:srgbClr val="00B050"/>
                  </a:solidFill>
                </a:rPr>
                <a:t>()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 end while (M…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while</a:t>
              </a:r>
              <a:r>
                <a:rPr lang="en-US" sz="1400" dirty="0" smtClean="0">
                  <a:solidFill>
                    <a:srgbClr val="0000FF"/>
                  </a:solidFill>
                </a:rPr>
                <a:t> (N &lt; 0)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(“Enter the size of the second Array”);	</a:t>
              </a:r>
              <a:r>
                <a:rPr lang="en-US" sz="1400" dirty="0" smtClean="0">
                  <a:solidFill>
                    <a:srgbClr val="00B050"/>
                  </a:solidFill>
                </a:rPr>
                <a:t>//prompt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        N =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read.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sz="1400" dirty="0" smtClean="0">
                  <a:solidFill>
                    <a:srgbClr val="00B050"/>
                  </a:solidFill>
                </a:rPr>
                <a:t>()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 end while (N…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4948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24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899592" y="4437112"/>
            <a:ext cx="8064896" cy="108012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99592" y="5517232"/>
            <a:ext cx="8064896" cy="108012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99592" y="357301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99592" y="378904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8524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0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EQUALITY OF TWO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1 – CODE(2)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179512" y="1052736"/>
            <a:ext cx="8784976" cy="5693866"/>
            <a:chOff x="323528" y="1236822"/>
            <a:chExt cx="7848872" cy="5354076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535407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00B050"/>
                  </a:solidFill>
                </a:rPr>
                <a:t>             // </a:t>
              </a:r>
              <a:r>
                <a:rPr lang="en-US" sz="1400" dirty="0">
                  <a:solidFill>
                    <a:srgbClr val="00B050"/>
                  </a:solidFill>
                </a:rPr>
                <a:t>Check if the two sizes are equal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if</a:t>
              </a:r>
              <a:r>
                <a:rPr lang="en-US" sz="1400" dirty="0">
                  <a:solidFill>
                    <a:srgbClr val="0000FF"/>
                  </a:solidFill>
                </a:rPr>
                <a:t> (M == N</a:t>
              </a:r>
              <a:r>
                <a:rPr lang="en-US" sz="14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    {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sz="1400" dirty="0" smtClean="0">
                  <a:solidFill>
                    <a:srgbClr val="0000FF"/>
                  </a:solidFill>
                </a:rPr>
                <a:t>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[M];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sz="1400" dirty="0" smtClean="0">
                  <a:solidFill>
                    <a:srgbClr val="0000FF"/>
                  </a:solidFill>
                </a:rPr>
                <a:t> = </a:t>
              </a:r>
              <a:r>
                <a:rPr lang="en-US" sz="1400" dirty="0" smtClean="0">
                  <a:solidFill>
                    <a:srgbClr val="00B0F0"/>
                  </a:solidFill>
                </a:rPr>
                <a:t>new </a:t>
              </a:r>
              <a:r>
                <a:rPr lang="en-US" sz="14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400" dirty="0" smtClean="0">
                  <a:solidFill>
                    <a:srgbClr val="0000FF"/>
                  </a:solidFill>
                </a:rPr>
                <a:t>[N];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B0F0"/>
                  </a:solidFill>
                </a:rPr>
                <a:t>for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(</a:t>
              </a:r>
              <a:r>
                <a:rPr lang="en-US" sz="1400" dirty="0" err="1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 = 0; </a:t>
              </a:r>
              <a:r>
                <a:rPr lang="en-US" sz="1400" dirty="0" err="1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 &lt; M; </a:t>
              </a:r>
              <a:r>
                <a:rPr lang="en-US" sz="1400" dirty="0" err="1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++)	</a:t>
              </a:r>
              <a:r>
                <a:rPr lang="en-US" sz="1400" dirty="0" smtClean="0">
                  <a:solidFill>
                    <a:srgbClr val="00B050"/>
                  </a:solidFill>
                </a:rPr>
                <a:t>//fill in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listA</a:t>
              </a:r>
              <a:r>
                <a:rPr lang="en-US" sz="1400" dirty="0" smtClean="0">
                  <a:solidFill>
                    <a:srgbClr val="00B050"/>
                  </a:solidFill>
                </a:rPr>
                <a:t> and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listB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</a:t>
              </a:r>
              <a:r>
                <a:rPr lang="en-US" sz="1400" dirty="0" err="1">
                  <a:solidFill>
                    <a:srgbClr val="0000FF"/>
                  </a:solidFill>
                </a:rPr>
                <a:t>listA</a:t>
              </a:r>
              <a:r>
                <a:rPr lang="en-US" sz="1400" dirty="0">
                  <a:solidFill>
                    <a:srgbClr val="0000FF"/>
                  </a:solidFill>
                </a:rPr>
                <a:t>[</a:t>
              </a:r>
              <a:r>
                <a:rPr lang="en-US" sz="1400" dirty="0" err="1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] = (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00FF"/>
                  </a:solidFill>
                </a:rPr>
                <a:t>)(</a:t>
              </a:r>
              <a:r>
                <a:rPr lang="en-US" sz="1400" dirty="0" err="1">
                  <a:solidFill>
                    <a:srgbClr val="0000FF"/>
                  </a:solidFill>
                </a:rPr>
                <a:t>Math.random</a:t>
              </a:r>
              <a:r>
                <a:rPr lang="en-US" sz="1400" dirty="0">
                  <a:solidFill>
                    <a:srgbClr val="0000FF"/>
                  </a:solidFill>
                </a:rPr>
                <a:t>() * 1000);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</a:t>
              </a:r>
              <a:r>
                <a:rPr lang="en-US" sz="1400" dirty="0" err="1">
                  <a:solidFill>
                    <a:srgbClr val="0000FF"/>
                  </a:solidFill>
                </a:rPr>
                <a:t>listB</a:t>
              </a:r>
              <a:r>
                <a:rPr lang="en-US" sz="1400" dirty="0">
                  <a:solidFill>
                    <a:srgbClr val="0000FF"/>
                  </a:solidFill>
                </a:rPr>
                <a:t>[</a:t>
              </a:r>
              <a:r>
                <a:rPr lang="en-US" sz="1400" dirty="0" err="1">
                  <a:solidFill>
                    <a:srgbClr val="0000FF"/>
                  </a:solidFill>
                </a:rPr>
                <a:t>i</a:t>
              </a:r>
              <a:r>
                <a:rPr lang="en-US" sz="1400" dirty="0">
                  <a:solidFill>
                    <a:srgbClr val="0000FF"/>
                  </a:solidFill>
                </a:rPr>
                <a:t>] = (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00FF"/>
                  </a:solidFill>
                </a:rPr>
                <a:t>)(</a:t>
              </a:r>
              <a:r>
                <a:rPr lang="en-US" sz="1400" dirty="0" err="1">
                  <a:solidFill>
                    <a:srgbClr val="0000FF"/>
                  </a:solidFill>
                </a:rPr>
                <a:t>Math.random</a:t>
              </a:r>
              <a:r>
                <a:rPr lang="en-US" sz="1400" dirty="0">
                  <a:solidFill>
                    <a:srgbClr val="0000FF"/>
                  </a:solidFill>
                </a:rPr>
                <a:t>() * 1000);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</a:t>
              </a:r>
              <a:r>
                <a:rPr lang="en-US" sz="1400" dirty="0" smtClean="0">
                  <a:solidFill>
                    <a:srgbClr val="0000FF"/>
                  </a:solidFill>
                </a:rPr>
                <a:t>}</a:t>
              </a:r>
              <a:r>
                <a:rPr lang="en-US" sz="1400" dirty="0" smtClean="0">
                  <a:solidFill>
                    <a:srgbClr val="00B050"/>
                  </a:solidFill>
                </a:rPr>
                <a:t> // end for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}</a:t>
              </a:r>
              <a:r>
                <a:rPr lang="en-US" sz="1400" dirty="0" smtClean="0">
                  <a:solidFill>
                    <a:srgbClr val="00B050"/>
                  </a:solidFill>
                </a:rPr>
                <a:t> // end if</a:t>
              </a:r>
              <a:endParaRPr lang="en-US" sz="1400" dirty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400" dirty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equal = </a:t>
              </a:r>
              <a:r>
                <a:rPr lang="en-US" sz="1400" dirty="0">
                  <a:solidFill>
                    <a:srgbClr val="00B0F0"/>
                  </a:solidFill>
                </a:rPr>
                <a:t>false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  <a:endParaRPr lang="en-US" sz="1400" dirty="0" smtClean="0">
                <a:solidFill>
                  <a:srgbClr val="0000FF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 = 0;			</a:t>
              </a:r>
              <a:r>
                <a:rPr lang="en-US" sz="1400" dirty="0" smtClean="0">
                  <a:solidFill>
                    <a:srgbClr val="00B050"/>
                  </a:solidFill>
                </a:rPr>
                <a:t>//Reset </a:t>
              </a:r>
              <a:r>
                <a:rPr lang="en-US" sz="1400" dirty="0" err="1" smtClean="0">
                  <a:solidFill>
                    <a:srgbClr val="00B050"/>
                  </a:solidFill>
                </a:rPr>
                <a:t>i</a:t>
              </a:r>
              <a:endParaRPr lang="en-US" sz="1400" dirty="0" smtClean="0">
                <a:solidFill>
                  <a:srgbClr val="00B050"/>
                </a:solidFill>
              </a:endParaRP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while</a:t>
              </a:r>
              <a:r>
                <a:rPr lang="en-US" sz="1400" dirty="0" smtClean="0">
                  <a:solidFill>
                    <a:srgbClr val="0000FF"/>
                  </a:solidFill>
                </a:rPr>
                <a:t> (equal &amp;&amp;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&lt;M)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</a:t>
              </a:r>
              <a:r>
                <a:rPr lang="en-US" sz="1400" dirty="0" smtClean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B0F0"/>
                  </a:solidFill>
                </a:rPr>
                <a:t>if </a:t>
              </a:r>
              <a:r>
                <a:rPr lang="en-US" sz="1400" dirty="0" smtClean="0">
                  <a:solidFill>
                    <a:srgbClr val="0000FF"/>
                  </a:solidFill>
                </a:rPr>
                <a:t>(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sz="1400" dirty="0" smtClean="0">
                  <a:solidFill>
                    <a:srgbClr val="0000FF"/>
                  </a:solidFill>
                </a:rPr>
                <a:t>[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] !=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sz="1400" dirty="0" smtClean="0">
                  <a:solidFill>
                    <a:srgbClr val="0000FF"/>
                  </a:solidFill>
                </a:rPr>
                <a:t>[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])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equal = </a:t>
              </a:r>
              <a:r>
                <a:rPr lang="en-US" sz="1400" dirty="0" smtClean="0">
                  <a:solidFill>
                    <a:srgbClr val="00B0F0"/>
                  </a:solidFill>
                </a:rPr>
                <a:t>false</a:t>
              </a:r>
              <a:r>
                <a:rPr lang="en-US" sz="14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  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400" dirty="0" smtClean="0">
                  <a:solidFill>
                    <a:srgbClr val="0000FF"/>
                  </a:solidFill>
                </a:rPr>
                <a:t>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smtClean="0">
                  <a:solidFill>
                    <a:srgbClr val="0000FF"/>
                  </a:solidFill>
                </a:rPr>
                <a:t>} </a:t>
              </a:r>
              <a:r>
                <a:rPr lang="en-US" sz="1400" dirty="0" smtClean="0">
                  <a:solidFill>
                    <a:srgbClr val="00B050"/>
                  </a:solidFill>
                </a:rPr>
                <a:t>// end while (equal…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if</a:t>
              </a:r>
              <a:r>
                <a:rPr lang="en-US" sz="1400" dirty="0" smtClean="0">
                  <a:solidFill>
                    <a:srgbClr val="0000FF"/>
                  </a:solidFill>
                </a:rPr>
                <a:t> (equal)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         </a:t>
              </a:r>
              <a:r>
                <a:rPr lang="en-US" sz="1400" dirty="0" smtClean="0">
                  <a:solidFill>
                    <a:srgbClr val="00B050"/>
                  </a:solidFill>
                </a:rPr>
                <a:t>// which condition ended the loop?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(“The two arrays are equal”); 	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smtClean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 smtClean="0">
                  <a:solidFill>
                    <a:srgbClr val="0000FF"/>
                  </a:solidFill>
                </a:rPr>
                <a:t> (“The two arrays are not equal”);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smtClean="0">
                  <a:solidFill>
                    <a:srgbClr val="0000FF"/>
                  </a:solidFill>
                </a:rPr>
                <a:t>  } </a:t>
              </a:r>
              <a:r>
                <a:rPr lang="en-US" sz="1400" dirty="0" smtClean="0">
                  <a:solidFill>
                    <a:srgbClr val="00B050"/>
                  </a:solidFill>
                </a:rPr>
                <a:t>//end of main</a:t>
              </a:r>
            </a:p>
            <a:p>
              <a:r>
                <a:rPr lang="en-US" sz="1400" dirty="0" smtClean="0">
                  <a:solidFill>
                    <a:srgbClr val="0000FF"/>
                  </a:solidFill>
                </a:rPr>
                <a:t>} </a:t>
              </a:r>
              <a:r>
                <a:rPr lang="en-US" sz="1400" dirty="0" smtClean="0">
                  <a:solidFill>
                    <a:srgbClr val="00B050"/>
                  </a:solidFill>
                </a:rPr>
                <a:t>// end of class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5354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39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40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41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42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43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44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45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46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47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48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49</a:t>
              </a:r>
            </a:p>
            <a:p>
              <a:pPr algn="r"/>
              <a:r>
                <a:rPr lang="en-US" sz="1400" dirty="0" smtClean="0">
                  <a:solidFill>
                    <a:srgbClr val="FF0000"/>
                  </a:solidFill>
                </a:rPr>
                <a:t>50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899592" y="126876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99592" y="1772816"/>
            <a:ext cx="8064896" cy="36004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9592" y="2348880"/>
            <a:ext cx="8064896" cy="86409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99592" y="3861048"/>
            <a:ext cx="8064896" cy="216024"/>
          </a:xfrm>
          <a:prstGeom prst="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99592" y="4077072"/>
            <a:ext cx="8064896" cy="216024"/>
          </a:xfrm>
          <a:prstGeom prst="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99592" y="4509120"/>
            <a:ext cx="8064896" cy="432048"/>
          </a:xfrm>
          <a:prstGeom prst="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99592" y="537321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9592" y="580526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99592" y="3429000"/>
            <a:ext cx="8064896" cy="43204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99592" y="4941168"/>
            <a:ext cx="8064896" cy="216024"/>
          </a:xfrm>
          <a:prstGeom prst="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5570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ASSIGNMENT OPERATOR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520" y="130069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statement: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1520" y="310089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memory layout will be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listA</a:t>
            </a:r>
            <a:r>
              <a:rPr lang="en-US" b="1" dirty="0" smtClean="0"/>
              <a:t> = </a:t>
            </a:r>
            <a:r>
              <a:rPr lang="en-US" b="1" dirty="0" err="1" smtClean="0"/>
              <a:t>listB</a:t>
            </a:r>
            <a:endParaRPr lang="en-US" b="1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774556"/>
            <a:ext cx="8784976" cy="369332"/>
            <a:chOff x="323528" y="1236822"/>
            <a:chExt cx="7848872" cy="347291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347291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347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251520" y="223680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above statement assigns the </a:t>
            </a:r>
            <a:r>
              <a:rPr lang="en-US" sz="2000" dirty="0" smtClean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listB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1520" y="2668850"/>
            <a:ext cx="8640960" cy="40011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elements of both arrays remain untouched.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1520" y="540515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the execution of the above statement, 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listB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 to the same array (of </a:t>
            </a: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Adrs1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97506918"/>
              </p:ext>
            </p:extLst>
          </p:nvPr>
        </p:nvGraphicFramePr>
        <p:xfrm>
          <a:off x="1550719" y="3623424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50553199"/>
              </p:ext>
            </p:extLst>
          </p:nvPr>
        </p:nvGraphicFramePr>
        <p:xfrm>
          <a:off x="1550719" y="4509120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78510600"/>
              </p:ext>
            </p:extLst>
          </p:nvPr>
        </p:nvGraphicFramePr>
        <p:xfrm>
          <a:off x="107504" y="3573016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 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listA</a:t>
                      </a:r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575119575"/>
              </p:ext>
            </p:extLst>
          </p:nvPr>
        </p:nvGraphicFramePr>
        <p:xfrm>
          <a:off x="107504" y="4487520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listB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8" name="Straight Arrow Connector 37"/>
          <p:cNvCxnSpPr/>
          <p:nvPr/>
        </p:nvCxnSpPr>
        <p:spPr>
          <a:xfrm>
            <a:off x="755576" y="4149080"/>
            <a:ext cx="792088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755576" y="4221088"/>
            <a:ext cx="792088" cy="864096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22353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7" grpId="0"/>
      <p:bldP spid="18" grpId="0" animBg="1"/>
      <p:bldP spid="23" grpId="0"/>
      <p:bldP spid="24" grpId="0" animBg="1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3. RELATIONAL OPERATORS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statement: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1520" y="317290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According to the following memory layout, the output is shown below: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if (</a:t>
            </a:r>
            <a:r>
              <a:rPr lang="en-US" b="1" dirty="0" err="1" smtClean="0"/>
              <a:t>listA</a:t>
            </a:r>
            <a:r>
              <a:rPr lang="en-US" b="1" dirty="0" smtClean="0"/>
              <a:t> == </a:t>
            </a:r>
            <a:r>
              <a:rPr lang="en-US" b="1" dirty="0" err="1" smtClean="0"/>
              <a:t>listB</a:t>
            </a:r>
            <a:r>
              <a:rPr lang="en-US" b="1" dirty="0" smtClean="0"/>
              <a:t>)</a:t>
            </a:r>
            <a:endParaRPr lang="en-US" b="1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79512" y="1596862"/>
            <a:ext cx="8784976" cy="1200329"/>
            <a:chOff x="323528" y="1236822"/>
            <a:chExt cx="7848872" cy="1128695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if</a:t>
              </a:r>
              <a:r>
                <a:rPr lang="en-US" dirty="0" smtClean="0">
                  <a:solidFill>
                    <a:srgbClr val="0000FF"/>
                  </a:solidFill>
                </a:rPr>
                <a:t> (</a:t>
              </a:r>
              <a:r>
                <a:rPr lang="en-US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dirty="0" smtClean="0">
                  <a:solidFill>
                    <a:srgbClr val="0000FF"/>
                  </a:solidFill>
                </a:rPr>
                <a:t> == </a:t>
              </a:r>
              <a:r>
                <a:rPr lang="en-US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</a:t>
              </a:r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(“The two arrays have the same ADDRESS”);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   </a:t>
              </a:r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(“The two arrays don’t have the same ADDRESS”);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251520" y="281286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above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condition checks if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listB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the same </a:t>
            </a:r>
            <a:r>
              <a:rPr lang="en-US" sz="2000" dirty="0" smtClean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973597996"/>
              </p:ext>
            </p:extLst>
          </p:nvPr>
        </p:nvGraphicFramePr>
        <p:xfrm>
          <a:off x="1550719" y="3623424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69938261"/>
              </p:ext>
            </p:extLst>
          </p:nvPr>
        </p:nvGraphicFramePr>
        <p:xfrm>
          <a:off x="1550719" y="4509120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34553029"/>
              </p:ext>
            </p:extLst>
          </p:nvPr>
        </p:nvGraphicFramePr>
        <p:xfrm>
          <a:off x="107504" y="3573016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 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listA</a:t>
                      </a:r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95474121"/>
              </p:ext>
            </p:extLst>
          </p:nvPr>
        </p:nvGraphicFramePr>
        <p:xfrm>
          <a:off x="107504" y="4487520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listB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8" name="Straight Arrow Connector 37"/>
          <p:cNvCxnSpPr/>
          <p:nvPr/>
        </p:nvCxnSpPr>
        <p:spPr>
          <a:xfrm>
            <a:off x="755576" y="4149080"/>
            <a:ext cx="792088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755576" y="4221088"/>
            <a:ext cx="792088" cy="864096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55934" y="5401776"/>
            <a:ext cx="7008554" cy="307777"/>
            <a:chOff x="683568" y="1236822"/>
            <a:chExt cx="7488832" cy="307777"/>
          </a:xfrm>
        </p:grpSpPr>
        <p:sp>
          <p:nvSpPr>
            <p:cNvPr id="26" name="TextBox 25"/>
            <p:cNvSpPr txBox="1"/>
            <p:nvPr/>
          </p:nvSpPr>
          <p:spPr>
            <a:xfrm>
              <a:off x="971600" y="1236822"/>
              <a:ext cx="7200800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The two arrays have the same ADDRESS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251520" y="5401778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588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7" grpId="0"/>
      <p:bldP spid="18" grpId="0" animBg="1"/>
      <p:bldP spid="23" grpId="0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COPYING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520" y="157161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segment code copies the </a:t>
            </a:r>
            <a:r>
              <a:rPr lang="en-US" sz="2000" dirty="0" smtClean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listB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3528" y="407029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the execution of the above segment code, the memory layout is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79512" y="2027467"/>
            <a:ext cx="8784976" cy="1477328"/>
            <a:chOff x="323528" y="1236822"/>
            <a:chExt cx="7848872" cy="1389163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138916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 </a:t>
              </a:r>
              <a:r>
                <a:rPr lang="en-US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dirty="0" smtClean="0">
                  <a:solidFill>
                    <a:srgbClr val="0000FF"/>
                  </a:solidFill>
                </a:rPr>
                <a:t> = { 5, 10, 15, 20, 25, 30, 35};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dirty="0" smtClean="0">
                  <a:solidFill>
                    <a:srgbClr val="0000FF"/>
                  </a:solidFill>
                </a:rPr>
                <a:t> = new </a:t>
              </a:r>
              <a:r>
                <a:rPr lang="en-US" dirty="0" err="1" smtClean="0">
                  <a:solidFill>
                    <a:srgbClr val="0000FF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[</a:t>
              </a:r>
              <a:r>
                <a:rPr lang="en-US" dirty="0" err="1" smtClean="0">
                  <a:solidFill>
                    <a:srgbClr val="0000FF"/>
                  </a:solidFill>
                </a:rPr>
                <a:t>listA.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];</a:t>
              </a:r>
              <a:endParaRPr lang="en-US" dirty="0" smtClean="0">
                <a:solidFill>
                  <a:srgbClr val="00B0F0"/>
                </a:solidFill>
              </a:endParaRP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index;</a:t>
              </a:r>
              <a:endParaRPr lang="en-US" dirty="0" smtClean="0">
                <a:solidFill>
                  <a:srgbClr val="00B0F0"/>
                </a:solidFill>
              </a:endParaRP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 </a:t>
              </a:r>
              <a:r>
                <a:rPr lang="en-US" dirty="0" smtClean="0">
                  <a:solidFill>
                    <a:srgbClr val="0000FF"/>
                  </a:solidFill>
                </a:rPr>
                <a:t>(index = 0; index &lt; </a:t>
              </a:r>
              <a:r>
                <a:rPr lang="en-US" dirty="0" err="1" smtClean="0">
                  <a:solidFill>
                    <a:srgbClr val="0000FF"/>
                  </a:solidFill>
                </a:rPr>
                <a:t>listA.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index++)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</a:t>
              </a:r>
              <a:r>
                <a:rPr lang="en-US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dirty="0" smtClean="0">
                  <a:solidFill>
                    <a:srgbClr val="0000FF"/>
                  </a:solidFill>
                </a:rPr>
                <a:t>[index] = </a:t>
              </a:r>
              <a:r>
                <a:rPr lang="en-US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dirty="0" smtClean="0">
                  <a:solidFill>
                    <a:srgbClr val="0000FF"/>
                  </a:solidFill>
                </a:rPr>
                <a:t>[index];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1389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61223219"/>
              </p:ext>
            </p:extLst>
          </p:nvPr>
        </p:nvGraphicFramePr>
        <p:xfrm>
          <a:off x="1622727" y="4912788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listA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022134096"/>
              </p:ext>
            </p:extLst>
          </p:nvPr>
        </p:nvGraphicFramePr>
        <p:xfrm>
          <a:off x="1622727" y="5726476"/>
          <a:ext cx="73417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823"/>
                <a:gridCol w="1048823"/>
                <a:gridCol w="1048823"/>
                <a:gridCol w="1048823"/>
                <a:gridCol w="1048823"/>
                <a:gridCol w="1048823"/>
                <a:gridCol w="104882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[5]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 smtClean="0">
                          <a:solidFill>
                            <a:srgbClr val="0070C0"/>
                          </a:solidFill>
                        </a:rPr>
                        <a:t>listB</a:t>
                      </a:r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[6]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941391551"/>
              </p:ext>
            </p:extLst>
          </p:nvPr>
        </p:nvGraphicFramePr>
        <p:xfrm>
          <a:off x="179512" y="4862380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 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listA</a:t>
                      </a:r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31747616"/>
              </p:ext>
            </p:extLst>
          </p:nvPr>
        </p:nvGraphicFramePr>
        <p:xfrm>
          <a:off x="179512" y="5704876"/>
          <a:ext cx="10641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Adrs2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kern="120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listB</a:t>
                      </a:r>
                      <a:endParaRPr kumimoji="0" lang="en-US" sz="16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8" name="Straight Arrow Connector 37"/>
          <p:cNvCxnSpPr/>
          <p:nvPr/>
        </p:nvCxnSpPr>
        <p:spPr>
          <a:xfrm>
            <a:off x="827584" y="5438444"/>
            <a:ext cx="792088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827584" y="6302540"/>
            <a:ext cx="792088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ARRAYS OF THE SAME SIZE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77163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7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COPYING ARRAYS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51520" y="121442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segment code copies the </a:t>
            </a:r>
            <a:r>
              <a:rPr lang="en-US" sz="2000" dirty="0" smtClean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elements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listA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listB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179512" y="1714488"/>
            <a:ext cx="8784976" cy="4801314"/>
            <a:chOff x="323528" y="1236822"/>
            <a:chExt cx="7848872" cy="4514777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451477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err="1" smtClean="0">
                  <a:solidFill>
                    <a:srgbClr val="0000FF"/>
                  </a:solidFill>
                </a:rPr>
                <a:t>sizeA</a:t>
              </a:r>
              <a:r>
                <a:rPr lang="en-US" dirty="0" smtClean="0">
                  <a:solidFill>
                    <a:srgbClr val="0000FF"/>
                  </a:solidFill>
                </a:rPr>
                <a:t>, </a:t>
              </a:r>
              <a:r>
                <a:rPr lang="en-US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dirty="0" smtClean="0">
                  <a:solidFill>
                    <a:srgbClr val="0000FF"/>
                  </a:solidFill>
                </a:rPr>
                <a:t>, </a:t>
              </a:r>
              <a:r>
                <a:rPr lang="en-US" dirty="0" err="1" smtClean="0">
                  <a:solidFill>
                    <a:srgbClr val="0000FF"/>
                  </a:solidFill>
                </a:rPr>
                <a:t>arraySize</a:t>
              </a:r>
              <a:r>
                <a:rPr lang="en-US" dirty="0" smtClean="0">
                  <a:solidFill>
                    <a:srgbClr val="0000FF"/>
                  </a:solidFill>
                </a:rPr>
                <a:t>, index;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 Get the sizes of both arrays from the user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(“Enter size of the first array”);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sizeA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err="1" smtClean="0">
                  <a:solidFill>
                    <a:srgbClr val="0000FF"/>
                  </a:solidFill>
                </a:rPr>
                <a:t>read.</a:t>
              </a:r>
              <a:r>
                <a:rPr lang="en-US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(“Enter size of the second array”);</a:t>
              </a:r>
            </a:p>
            <a:p>
              <a:r>
                <a:rPr lang="en-US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err="1" smtClean="0">
                  <a:solidFill>
                    <a:srgbClr val="0000FF"/>
                  </a:solidFill>
                </a:rPr>
                <a:t>read.</a:t>
              </a:r>
              <a:r>
                <a:rPr lang="en-US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//Instantiate arrays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 </a:t>
              </a:r>
              <a:r>
                <a:rPr lang="en-US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smtClean="0">
                  <a:solidFill>
                    <a:srgbClr val="00B0F0"/>
                  </a:solidFill>
                </a:rPr>
                <a:t>new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</a:t>
              </a:r>
              <a:r>
                <a:rPr lang="en-US" dirty="0" err="1" smtClean="0">
                  <a:solidFill>
                    <a:srgbClr val="00B0F0"/>
                  </a:solidFill>
                </a:rPr>
                <a:t>sizeA</a:t>
              </a:r>
              <a:r>
                <a:rPr lang="en-US" dirty="0" smtClean="0">
                  <a:solidFill>
                    <a:srgbClr val="00B0F0"/>
                  </a:solidFill>
                </a:rPr>
                <a:t>]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[] </a:t>
              </a:r>
              <a:r>
                <a:rPr lang="en-US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smtClean="0">
                  <a:solidFill>
                    <a:srgbClr val="00B0F0"/>
                  </a:solidFill>
                </a:rPr>
                <a:t>new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[</a:t>
              </a:r>
              <a:r>
                <a:rPr lang="en-US" dirty="0" err="1" smtClean="0">
                  <a:solidFill>
                    <a:srgbClr val="00B0F0"/>
                  </a:solidFill>
                </a:rPr>
                <a:t>sizeB</a:t>
              </a:r>
              <a:r>
                <a:rPr lang="en-US" dirty="0" smtClean="0">
                  <a:solidFill>
                    <a:srgbClr val="00B0F0"/>
                  </a:solidFill>
                </a:rPr>
                <a:t>]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 Identify the smallest size</a:t>
              </a:r>
              <a:endParaRPr lang="en-US" dirty="0" smtClean="0">
                <a:solidFill>
                  <a:srgbClr val="00B0F0"/>
                </a:solidFill>
              </a:endParaRPr>
            </a:p>
            <a:p>
              <a:r>
                <a:rPr lang="en-US" dirty="0" smtClean="0">
                  <a:solidFill>
                    <a:srgbClr val="00B0F0"/>
                  </a:solidFill>
                </a:rPr>
                <a:t>if </a:t>
              </a:r>
              <a:r>
                <a:rPr lang="en-US" dirty="0" smtClean="0">
                  <a:solidFill>
                    <a:srgbClr val="0000FF"/>
                  </a:solidFill>
                </a:rPr>
                <a:t>(</a:t>
              </a:r>
              <a:r>
                <a:rPr lang="en-US" dirty="0" err="1" smtClean="0">
                  <a:solidFill>
                    <a:srgbClr val="0000FF"/>
                  </a:solidFill>
                </a:rPr>
                <a:t>sizeA</a:t>
              </a:r>
              <a:r>
                <a:rPr lang="en-US" dirty="0" smtClean="0">
                  <a:solidFill>
                    <a:srgbClr val="0000FF"/>
                  </a:solidFill>
                </a:rPr>
                <a:t> &lt; </a:t>
              </a:r>
              <a:r>
                <a:rPr lang="en-US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   </a:t>
              </a:r>
              <a:r>
                <a:rPr lang="en-US" dirty="0" err="1" smtClean="0">
                  <a:solidFill>
                    <a:srgbClr val="0000FF"/>
                  </a:solidFill>
                </a:rPr>
                <a:t>arraySize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err="1" smtClean="0">
                  <a:solidFill>
                    <a:srgbClr val="0000FF"/>
                  </a:solidFill>
                </a:rPr>
                <a:t>sizeA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   </a:t>
              </a:r>
              <a:r>
                <a:rPr lang="en-US" dirty="0" err="1" smtClean="0">
                  <a:solidFill>
                    <a:srgbClr val="0000FF"/>
                  </a:solidFill>
                </a:rPr>
                <a:t>arraySize</a:t>
              </a:r>
              <a:r>
                <a:rPr lang="en-US" dirty="0" smtClean="0">
                  <a:solidFill>
                    <a:srgbClr val="0000FF"/>
                  </a:solidFill>
                </a:rPr>
                <a:t> = </a:t>
              </a:r>
              <a:r>
                <a:rPr lang="en-US" dirty="0" err="1" smtClean="0">
                  <a:solidFill>
                    <a:srgbClr val="0000FF"/>
                  </a:solidFill>
                </a:rPr>
                <a:t>sizeB</a:t>
              </a:r>
              <a:r>
                <a:rPr lang="en-US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 copy till the value of </a:t>
              </a:r>
              <a:r>
                <a:rPr lang="en-US" dirty="0" err="1" smtClean="0">
                  <a:solidFill>
                    <a:srgbClr val="00B050"/>
                  </a:solidFill>
                </a:rPr>
                <a:t>arraySize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 </a:t>
              </a:r>
              <a:r>
                <a:rPr lang="en-US" dirty="0" smtClean="0">
                  <a:solidFill>
                    <a:srgbClr val="0000FF"/>
                  </a:solidFill>
                </a:rPr>
                <a:t>(index = 0; index &lt; </a:t>
              </a:r>
              <a:r>
                <a:rPr lang="en-US" dirty="0" err="1" smtClean="0">
                  <a:solidFill>
                    <a:srgbClr val="0000FF"/>
                  </a:solidFill>
                </a:rPr>
                <a:t>arraySize</a:t>
              </a:r>
              <a:r>
                <a:rPr lang="en-US" dirty="0" smtClean="0">
                  <a:solidFill>
                    <a:srgbClr val="0000FF"/>
                  </a:solidFill>
                </a:rPr>
                <a:t>; index++)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</a:t>
              </a:r>
              <a:r>
                <a:rPr lang="en-US" dirty="0" err="1" smtClean="0">
                  <a:solidFill>
                    <a:srgbClr val="0000FF"/>
                  </a:solidFill>
                </a:rPr>
                <a:t>listB</a:t>
              </a:r>
              <a:r>
                <a:rPr lang="en-US" dirty="0" smtClean="0">
                  <a:solidFill>
                    <a:srgbClr val="0000FF"/>
                  </a:solidFill>
                </a:rPr>
                <a:t>[index] = </a:t>
              </a:r>
              <a:r>
                <a:rPr lang="en-US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dirty="0" smtClean="0">
                  <a:solidFill>
                    <a:srgbClr val="0000FF"/>
                  </a:solidFill>
                </a:rPr>
                <a:t>[index];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4514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17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ARRAYS OF DIFFERENT SIZES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77163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ARRAY OF </a:t>
            </a:r>
            <a:r>
              <a:rPr lang="en-US" sz="4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String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79512" y="1325667"/>
            <a:ext cx="8784976" cy="2031325"/>
            <a:chOff x="323528" y="1236822"/>
            <a:chExt cx="7848872" cy="1910098"/>
          </a:xfrm>
        </p:grpSpPr>
        <p:sp>
          <p:nvSpPr>
            <p:cNvPr id="21" name="TextBox 20"/>
            <p:cNvSpPr txBox="1"/>
            <p:nvPr/>
          </p:nvSpPr>
          <p:spPr>
            <a:xfrm>
              <a:off x="971600" y="1236822"/>
              <a:ext cx="7200800" cy="191009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String[] </a:t>
              </a:r>
              <a:r>
                <a:rPr lang="en-US" dirty="0" smtClean="0">
                  <a:solidFill>
                    <a:srgbClr val="0000FF"/>
                  </a:solidFill>
                </a:rPr>
                <a:t>names = </a:t>
              </a:r>
              <a:r>
                <a:rPr lang="en-US" dirty="0" smtClean="0">
                  <a:solidFill>
                    <a:srgbClr val="00B0F0"/>
                  </a:solidFill>
                </a:rPr>
                <a:t>new String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[3];</a:t>
              </a:r>
              <a:r>
                <a:rPr lang="en-US" dirty="0" smtClean="0">
                  <a:solidFill>
                    <a:srgbClr val="0000FF"/>
                  </a:solidFill>
                </a:rPr>
                <a:t>	</a:t>
              </a:r>
              <a:r>
                <a:rPr lang="en-US" dirty="0" smtClean="0">
                  <a:solidFill>
                    <a:srgbClr val="00B050"/>
                  </a:solidFill>
                </a:rPr>
                <a:t>//declaration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//Fill in the array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names[0] = “Sarah Fahd”;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names[1] = “</a:t>
              </a:r>
              <a:r>
                <a:rPr lang="en-US" dirty="0" err="1" smtClean="0">
                  <a:solidFill>
                    <a:srgbClr val="0000FF"/>
                  </a:solidFill>
                </a:rPr>
                <a:t>Rund</a:t>
              </a:r>
              <a:r>
                <a:rPr lang="en-US" dirty="0" smtClean="0">
                  <a:solidFill>
                    <a:srgbClr val="0000FF"/>
                  </a:solidFill>
                </a:rPr>
                <a:t> Al-</a:t>
              </a:r>
              <a:r>
                <a:rPr lang="en-US" dirty="0" err="1" smtClean="0">
                  <a:solidFill>
                    <a:srgbClr val="0000FF"/>
                  </a:solidFill>
                </a:rPr>
                <a:t>Otaibi</a:t>
              </a:r>
              <a:r>
                <a:rPr lang="en-US" dirty="0" smtClean="0">
                  <a:solidFill>
                    <a:srgbClr val="0000FF"/>
                  </a:solidFill>
                </a:rPr>
                <a:t>”;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names[2] = “</a:t>
              </a:r>
              <a:r>
                <a:rPr lang="en-US" dirty="0" err="1" smtClean="0">
                  <a:solidFill>
                    <a:srgbClr val="0000FF"/>
                  </a:solidFill>
                </a:rPr>
                <a:t>Asmaa</a:t>
              </a:r>
              <a:r>
                <a:rPr lang="en-US" dirty="0" smtClean="0">
                  <a:solidFill>
                    <a:srgbClr val="0000FF"/>
                  </a:solidFill>
                </a:rPr>
                <a:t> Mubarak</a:t>
              </a:r>
              <a:r>
                <a:rPr lang="en-US" dirty="0" smtClean="0">
                  <a:solidFill>
                    <a:srgbClr val="0000FF"/>
                  </a:solidFill>
                </a:rPr>
                <a:t>”;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names[3] = “</a:t>
              </a:r>
              <a:r>
                <a:rPr lang="en-US" dirty="0" err="1" smtClean="0">
                  <a:solidFill>
                    <a:srgbClr val="0000FF"/>
                  </a:solidFill>
                </a:rPr>
                <a:t>Reem</a:t>
              </a:r>
              <a:r>
                <a:rPr lang="en-US" dirty="0" smtClean="0">
                  <a:solidFill>
                    <a:srgbClr val="0000FF"/>
                  </a:solidFill>
                </a:rPr>
                <a:t> Al-</a:t>
              </a:r>
              <a:r>
                <a:rPr lang="en-US" dirty="0" err="1" smtClean="0">
                  <a:solidFill>
                    <a:srgbClr val="0000FF"/>
                  </a:solidFill>
                </a:rPr>
                <a:t>Otaibi</a:t>
              </a:r>
              <a:r>
                <a:rPr lang="en-US" dirty="0" smtClean="0">
                  <a:solidFill>
                    <a:srgbClr val="0000FF"/>
                  </a:solidFill>
                </a:rPr>
                <a:t>”;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names[4] = “Hind Al-</a:t>
              </a:r>
              <a:r>
                <a:rPr lang="en-US" dirty="0" err="1" smtClean="0">
                  <a:solidFill>
                    <a:srgbClr val="0000FF"/>
                  </a:solidFill>
                </a:rPr>
                <a:t>Tamimi</a:t>
              </a:r>
              <a:r>
                <a:rPr lang="en-US" dirty="0" smtClean="0">
                  <a:solidFill>
                    <a:srgbClr val="0000FF"/>
                  </a:solidFill>
                </a:rPr>
                <a:t>”;</a:t>
              </a:r>
              <a:endParaRPr lang="en-US" dirty="0" smtClean="0">
                <a:solidFill>
                  <a:srgbClr val="0000FF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3528" y="1236822"/>
              <a:ext cx="576064" cy="1910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  <a:endParaRPr lang="en-US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DECLARATION &amp; FILLING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3528" y="335699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first statement declares an array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size 5.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528" y="373822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element of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3528" y="4119464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Remember that a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stores an address rather than a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value.</a:t>
            </a:r>
            <a:endParaRPr lang="en-US" sz="2000" i="1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528" y="454991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rules and properties mentioned under “Non-primitive data types” are applied on EACH element of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array.</a:t>
            </a:r>
            <a:endParaRPr lang="en-US" sz="2000" i="1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3528" y="5334000"/>
            <a:ext cx="8640960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Naturally, all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 that we previously studied are applied on EACH element of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array.</a:t>
            </a:r>
            <a:endParaRPr lang="en-US" sz="2000" i="1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7489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23" grpId="0"/>
      <p:bldP spid="25" grpId="0"/>
      <p:bldP spid="26" grpId="0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Tahoma" charset="0"/>
                <a:cs typeface="Arial" charset="0"/>
              </a:rPr>
              <a:t>Reminder: Java Variables </a:t>
            </a:r>
            <a:r>
              <a:rPr lang="en-US" sz="2800">
                <a:solidFill>
                  <a:schemeClr val="accent2"/>
                </a:solidFill>
                <a:latin typeface="Tahoma" charset="0"/>
                <a:cs typeface="Arial" charset="0"/>
              </a:rPr>
              <a:t>(</a:t>
            </a:r>
            <a:r>
              <a:rPr lang="en-US" sz="2800" smtClean="0">
                <a:solidFill>
                  <a:schemeClr val="accent2"/>
                </a:solidFill>
                <a:latin typeface="Tahoma" charset="0"/>
                <a:cs typeface="Arial" charset="0"/>
              </a:rPr>
              <a:t>W4.1)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TO SUMMARIZE…</a:t>
            </a:r>
            <a:endParaRPr lang="en-US" b="1" dirty="0"/>
          </a:p>
        </p:txBody>
      </p:sp>
      <p:cxnSp>
        <p:nvCxnSpPr>
          <p:cNvPr id="51" name="Straight Connector 5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491880" y="1268760"/>
            <a:ext cx="2016224" cy="57606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JAVA VARIABLES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71600" y="2276872"/>
            <a:ext cx="2952328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PRIMITIVE DATATYPES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004048" y="2276872"/>
            <a:ext cx="2916324" cy="648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NON-PRIMITIVE DATATYPES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547664" y="3068960"/>
            <a:ext cx="3024336" cy="576064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Examples: </a:t>
            </a:r>
            <a:r>
              <a:rPr lang="en-US" dirty="0" err="1" smtClean="0">
                <a:solidFill>
                  <a:srgbClr val="0000FF"/>
                </a:solidFill>
              </a:rPr>
              <a:t>int</a:t>
            </a:r>
            <a:r>
              <a:rPr lang="en-US" dirty="0" smtClean="0">
                <a:solidFill>
                  <a:srgbClr val="0000FF"/>
                </a:solidFill>
              </a:rPr>
              <a:t>, double, char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547664" y="3780039"/>
            <a:ext cx="3024336" cy="504056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Store data </a:t>
            </a:r>
            <a:r>
              <a:rPr lang="en-US" dirty="0" smtClean="0">
                <a:solidFill>
                  <a:srgbClr val="FF0000"/>
                </a:solidFill>
              </a:rPr>
              <a:t>values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508104" y="3068960"/>
            <a:ext cx="3528392" cy="576064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Examples: String, Scanner, any (pre)defined class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71" name="Straight Connector 70"/>
          <p:cNvCxnSpPr>
            <a:stCxn id="62" idx="2"/>
          </p:cNvCxnSpPr>
          <p:nvPr/>
        </p:nvCxnSpPr>
        <p:spPr>
          <a:xfrm>
            <a:off x="4499992" y="1844824"/>
            <a:ext cx="0" cy="1440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63" idx="0"/>
          </p:cNvCxnSpPr>
          <p:nvPr/>
        </p:nvCxnSpPr>
        <p:spPr>
          <a:xfrm>
            <a:off x="2447764" y="1988840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64" idx="0"/>
          </p:cNvCxnSpPr>
          <p:nvPr/>
        </p:nvCxnSpPr>
        <p:spPr>
          <a:xfrm>
            <a:off x="6462210" y="1988840"/>
            <a:ext cx="0" cy="28803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>
            <a:off x="2447764" y="1988840"/>
            <a:ext cx="40144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1187624" y="2924944"/>
            <a:ext cx="0" cy="35103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65" idx="1"/>
          </p:cNvCxnSpPr>
          <p:nvPr/>
        </p:nvCxnSpPr>
        <p:spPr>
          <a:xfrm>
            <a:off x="1187624" y="3356992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endCxn id="67" idx="1"/>
          </p:cNvCxnSpPr>
          <p:nvPr/>
        </p:nvCxnSpPr>
        <p:spPr>
          <a:xfrm flipV="1">
            <a:off x="1187624" y="4032067"/>
            <a:ext cx="360040" cy="900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220072" y="2924944"/>
            <a:ext cx="0" cy="34743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69" idx="1"/>
          </p:cNvCxnSpPr>
          <p:nvPr/>
        </p:nvCxnSpPr>
        <p:spPr>
          <a:xfrm>
            <a:off x="5220072" y="3356992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5508104" y="3757536"/>
            <a:ext cx="3528392" cy="504056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Store data </a:t>
            </a:r>
            <a:r>
              <a:rPr lang="en-US" dirty="0" smtClean="0">
                <a:solidFill>
                  <a:srgbClr val="FF0000"/>
                </a:solidFill>
              </a:rPr>
              <a:t>addresses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5220072" y="4041068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1547664" y="5058181"/>
            <a:ext cx="3024336" cy="864096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Updating overwrites the value in the same address. 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06" name="Straight Arrow Connector 105"/>
          <p:cNvCxnSpPr>
            <a:endCxn id="105" idx="1"/>
          </p:cNvCxnSpPr>
          <p:nvPr/>
        </p:nvCxnSpPr>
        <p:spPr>
          <a:xfrm>
            <a:off x="1187624" y="5490229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5508104" y="4990673"/>
            <a:ext cx="3528392" cy="864096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Updating changes the address stored in the reference variable. 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08" name="Straight Arrow Connector 107"/>
          <p:cNvCxnSpPr/>
          <p:nvPr/>
        </p:nvCxnSpPr>
        <p:spPr>
          <a:xfrm>
            <a:off x="5220072" y="5445224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1547664" y="6057292"/>
            <a:ext cx="3024336" cy="756084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Old values don’t exist anymore.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30" name="Straight Arrow Connector 129"/>
          <p:cNvCxnSpPr/>
          <p:nvPr/>
        </p:nvCxnSpPr>
        <p:spPr>
          <a:xfrm>
            <a:off x="1187624" y="6435334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5508104" y="5967282"/>
            <a:ext cx="3528392" cy="846094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Old address exist but is no more accessible through this reference variable.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33" name="Straight Arrow Connector 132"/>
          <p:cNvCxnSpPr/>
          <p:nvPr/>
        </p:nvCxnSpPr>
        <p:spPr>
          <a:xfrm>
            <a:off x="5220072" y="6390329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1547664" y="4419110"/>
            <a:ext cx="3024336" cy="504056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Known as </a:t>
            </a:r>
            <a:r>
              <a:rPr lang="en-US" dirty="0" smtClean="0">
                <a:solidFill>
                  <a:srgbClr val="FF0000"/>
                </a:solidFill>
              </a:rPr>
              <a:t>data </a:t>
            </a:r>
            <a:r>
              <a:rPr lang="en-US" dirty="0" smtClean="0">
                <a:solidFill>
                  <a:srgbClr val="0000FF"/>
                </a:solidFill>
              </a:rPr>
              <a:t>variables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5508104" y="4374105"/>
            <a:ext cx="3528392" cy="504056"/>
          </a:xfrm>
          <a:prstGeom prst="round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Known as </a:t>
            </a:r>
            <a:r>
              <a:rPr lang="en-US" dirty="0" smtClean="0">
                <a:solidFill>
                  <a:srgbClr val="FF0000"/>
                </a:solidFill>
              </a:rPr>
              <a:t>reference </a:t>
            </a:r>
            <a:r>
              <a:rPr lang="en-US" dirty="0" smtClean="0">
                <a:solidFill>
                  <a:srgbClr val="0000FF"/>
                </a:solidFill>
              </a:rPr>
              <a:t>variables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1187624" y="4653136"/>
            <a:ext cx="3600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>
            <a:off x="5220072" y="4653136"/>
            <a:ext cx="288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C0F99-418A-47AD-8EE9-8B4FF28C0C0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7236296" y="548680"/>
            <a:ext cx="1512168" cy="504056"/>
          </a:xfrm>
          <a:prstGeom prst="roundRect">
            <a:avLst/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REMINDER</a:t>
            </a:r>
          </a:p>
        </p:txBody>
      </p:sp>
    </p:spTree>
    <p:extLst>
      <p:ext uri="{BB962C8B-B14F-4D97-AF65-F5344CB8AC3E}">
        <p14:creationId xmlns="" xmlns:p14="http://schemas.microsoft.com/office/powerpoint/2010/main" val="420536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ARRAY OF </a:t>
            </a:r>
            <a:r>
              <a:rPr lang="en-US" sz="4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String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DECLARATION &amp; FILLING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3528" y="126876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after the execution of the previous code segment, each array element contains an </a:t>
            </a:r>
            <a:r>
              <a:rPr lang="en-US" sz="2000" dirty="0" smtClean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points to (refers to) the corresponding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234888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memory layout will be as follows: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964298145"/>
              </p:ext>
            </p:extLst>
          </p:nvPr>
        </p:nvGraphicFramePr>
        <p:xfrm>
          <a:off x="1622727" y="2852936"/>
          <a:ext cx="7269755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951"/>
                <a:gridCol w="1453951"/>
                <a:gridCol w="1453951"/>
                <a:gridCol w="1453951"/>
                <a:gridCol w="1453951"/>
              </a:tblGrid>
              <a:tr h="432048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names[0]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names[1]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names[2]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names[3]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rgbClr val="0070C0"/>
                          </a:solidFill>
                        </a:rPr>
                        <a:t>names[4]</a:t>
                      </a:r>
                      <a:endParaRPr lang="en-US" sz="1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Adrs</a:t>
                      </a:r>
                      <a:r>
                        <a:rPr lang="en-US" sz="1600" baseline="0" dirty="0" smtClean="0"/>
                        <a:t> of Str0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Adrs</a:t>
                      </a:r>
                      <a:r>
                        <a:rPr lang="en-US" sz="1600" baseline="0" dirty="0" smtClean="0"/>
                        <a:t> of Str1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Adrs</a:t>
                      </a:r>
                      <a:r>
                        <a:rPr lang="en-US" sz="1600" baseline="0" dirty="0" smtClean="0"/>
                        <a:t> of Str2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Adrs</a:t>
                      </a:r>
                      <a:r>
                        <a:rPr lang="en-US" sz="1600" baseline="0" dirty="0" smtClean="0"/>
                        <a:t> of Str3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Adrs</a:t>
                      </a:r>
                      <a:r>
                        <a:rPr lang="en-US" sz="1600" baseline="0" dirty="0" smtClean="0"/>
                        <a:t> of Str4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81142924"/>
              </p:ext>
            </p:extLst>
          </p:nvPr>
        </p:nvGraphicFramePr>
        <p:xfrm>
          <a:off x="179512" y="2802528"/>
          <a:ext cx="1064154" cy="86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154"/>
              </a:tblGrid>
              <a:tr h="432048">
                <a:tc>
                  <a:txBody>
                    <a:bodyPr/>
                    <a:lstStyle/>
                    <a:p>
                      <a:r>
                        <a:rPr kumimoji="0" lang="en-US" sz="1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Adrs1 </a:t>
                      </a:r>
                      <a:endParaRPr kumimoji="0" lang="en-US" sz="14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kumimoji="0" lang="en-US" sz="1600" kern="120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names</a:t>
                      </a:r>
                      <a:endParaRPr kumimoji="0" lang="en-US" sz="18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29" name="Straight Arrow Connector 28"/>
          <p:cNvCxnSpPr/>
          <p:nvPr/>
        </p:nvCxnSpPr>
        <p:spPr>
          <a:xfrm>
            <a:off x="1115617" y="3512332"/>
            <a:ext cx="576063" cy="0"/>
          </a:xfrm>
          <a:prstGeom prst="straightConnector1">
            <a:avLst/>
          </a:prstGeom>
          <a:ln w="28575">
            <a:solidFill>
              <a:srgbClr val="C0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 rot="5400000">
            <a:off x="1583668" y="4545124"/>
            <a:ext cx="1584176" cy="3600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Sarah Fahd</a:t>
            </a:r>
            <a:endParaRPr lang="en-US" sz="1050" dirty="0"/>
          </a:p>
        </p:txBody>
      </p:sp>
      <p:sp>
        <p:nvSpPr>
          <p:cNvPr id="30" name="Rectangle 29"/>
          <p:cNvSpPr/>
          <p:nvPr/>
        </p:nvSpPr>
        <p:spPr>
          <a:xfrm rot="5400000">
            <a:off x="3023828" y="4545124"/>
            <a:ext cx="1584176" cy="3600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 err="1" smtClean="0"/>
              <a:t>Rund</a:t>
            </a:r>
            <a:r>
              <a:rPr lang="en-US" sz="1050" dirty="0" smtClean="0"/>
              <a:t> Al-</a:t>
            </a:r>
            <a:r>
              <a:rPr lang="en-US" sz="1050" dirty="0" err="1" smtClean="0"/>
              <a:t>Otaibi</a:t>
            </a:r>
            <a:endParaRPr lang="en-US" sz="1050" dirty="0"/>
          </a:p>
        </p:txBody>
      </p:sp>
      <p:sp>
        <p:nvSpPr>
          <p:cNvPr id="31" name="Rectangle 30"/>
          <p:cNvSpPr/>
          <p:nvPr/>
        </p:nvSpPr>
        <p:spPr>
          <a:xfrm rot="5400000">
            <a:off x="4463988" y="4545124"/>
            <a:ext cx="1584176" cy="3600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 err="1" smtClean="0"/>
              <a:t>Asmaa</a:t>
            </a:r>
            <a:r>
              <a:rPr lang="en-US" sz="1050" dirty="0" smtClean="0"/>
              <a:t> Mubarak</a:t>
            </a:r>
            <a:endParaRPr lang="en-US" sz="1050" dirty="0"/>
          </a:p>
        </p:txBody>
      </p:sp>
      <p:sp>
        <p:nvSpPr>
          <p:cNvPr id="32" name="Rectangle 31"/>
          <p:cNvSpPr/>
          <p:nvPr/>
        </p:nvSpPr>
        <p:spPr>
          <a:xfrm rot="5400000">
            <a:off x="5904148" y="4545124"/>
            <a:ext cx="1584176" cy="3600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 err="1" smtClean="0"/>
              <a:t>Reem</a:t>
            </a:r>
            <a:r>
              <a:rPr lang="en-US" sz="1050" dirty="0" smtClean="0"/>
              <a:t> Al-</a:t>
            </a:r>
            <a:r>
              <a:rPr lang="en-US" sz="1050" dirty="0" err="1" smtClean="0"/>
              <a:t>Otaibi</a:t>
            </a:r>
            <a:endParaRPr lang="en-US" sz="1050" dirty="0"/>
          </a:p>
        </p:txBody>
      </p:sp>
      <p:sp>
        <p:nvSpPr>
          <p:cNvPr id="33" name="Rectangle 32"/>
          <p:cNvSpPr/>
          <p:nvPr/>
        </p:nvSpPr>
        <p:spPr>
          <a:xfrm rot="5400000">
            <a:off x="7344308" y="4545124"/>
            <a:ext cx="1584176" cy="3600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 smtClean="0"/>
              <a:t>Shahd</a:t>
            </a:r>
            <a:r>
              <a:rPr lang="en-US" sz="1000" dirty="0" smtClean="0"/>
              <a:t> Al-</a:t>
            </a:r>
            <a:r>
              <a:rPr lang="en-US" sz="1000" dirty="0" err="1" smtClean="0"/>
              <a:t>Sheweiry</a:t>
            </a:r>
            <a:endParaRPr lang="en-US" sz="10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375756" y="3573016"/>
            <a:ext cx="0" cy="576064"/>
          </a:xfrm>
          <a:prstGeom prst="straightConnector1">
            <a:avLst/>
          </a:prstGeom>
          <a:ln w="28575">
            <a:solidFill>
              <a:srgbClr val="0000FF"/>
            </a:solidFill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827209" y="3573016"/>
            <a:ext cx="0" cy="576064"/>
          </a:xfrm>
          <a:prstGeom prst="straightConnector1">
            <a:avLst/>
          </a:prstGeom>
          <a:ln w="28575">
            <a:solidFill>
              <a:srgbClr val="0000FF"/>
            </a:solidFill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256076" y="3573016"/>
            <a:ext cx="0" cy="576064"/>
          </a:xfrm>
          <a:prstGeom prst="straightConnector1">
            <a:avLst/>
          </a:prstGeom>
          <a:ln w="28575">
            <a:solidFill>
              <a:srgbClr val="0000FF"/>
            </a:solidFill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726954" y="3573016"/>
            <a:ext cx="0" cy="576064"/>
          </a:xfrm>
          <a:prstGeom prst="straightConnector1">
            <a:avLst/>
          </a:prstGeom>
          <a:ln w="28575">
            <a:solidFill>
              <a:srgbClr val="0000FF"/>
            </a:solidFill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136396" y="3573016"/>
            <a:ext cx="0" cy="576064"/>
          </a:xfrm>
          <a:prstGeom prst="straightConnector1">
            <a:avLst/>
          </a:prstGeom>
          <a:ln w="28575">
            <a:solidFill>
              <a:srgbClr val="0000FF"/>
            </a:solidFill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7153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15" grpId="0"/>
      <p:bldP spid="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5. ARRAY OF </a:t>
            </a:r>
            <a:r>
              <a:rPr lang="en-US" sz="4000" dirty="0" smtClean="0">
                <a:solidFill>
                  <a:srgbClr val="00B0F0"/>
                </a:solidFill>
                <a:latin typeface="Tahoma" charset="0"/>
                <a:cs typeface="Arial" charset="0"/>
              </a:rPr>
              <a:t>String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APPLYING STRING METHODS</a:t>
            </a:r>
            <a:endParaRPr lang="en-US" b="1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methods may be applied on each element of the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162880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segment applies a few methods on each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the array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79512" y="2460952"/>
            <a:ext cx="8784976" cy="3970318"/>
            <a:chOff x="323528" y="1236822"/>
            <a:chExt cx="7848872" cy="3733374"/>
          </a:xfrm>
        </p:grpSpPr>
        <p:sp>
          <p:nvSpPr>
            <p:cNvPr id="23" name="TextBox 22"/>
            <p:cNvSpPr txBox="1"/>
            <p:nvPr/>
          </p:nvSpPr>
          <p:spPr>
            <a:xfrm>
              <a:off x="971600" y="1236822"/>
              <a:ext cx="7200800" cy="373337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String[] </a:t>
              </a:r>
              <a:r>
                <a:rPr lang="en-US" dirty="0" smtClean="0">
                  <a:solidFill>
                    <a:srgbClr val="0000FF"/>
                  </a:solidFill>
                </a:rPr>
                <a:t>names = new String [5];	</a:t>
              </a:r>
              <a:r>
                <a:rPr lang="en-US" dirty="0" smtClean="0">
                  <a:solidFill>
                    <a:srgbClr val="00B050"/>
                  </a:solidFill>
                </a:rPr>
                <a:t>//declaration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//Fill in the array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names[4] = “Hind Al-</a:t>
              </a:r>
              <a:r>
                <a:rPr lang="en-US" dirty="0" err="1" smtClean="0">
                  <a:solidFill>
                    <a:srgbClr val="0000FF"/>
                  </a:solidFill>
                </a:rPr>
                <a:t>Tamimi</a:t>
              </a:r>
              <a:r>
                <a:rPr lang="en-US" dirty="0" smtClean="0">
                  <a:solidFill>
                    <a:srgbClr val="0000FF"/>
                  </a:solidFill>
                </a:rPr>
                <a:t>”;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for</a:t>
              </a:r>
              <a:r>
                <a:rPr lang="en-US" dirty="0" smtClean="0">
                  <a:solidFill>
                    <a:srgbClr val="0000FF"/>
                  </a:solidFill>
                </a:rPr>
                <a:t> (index = 0; index &lt; </a:t>
              </a:r>
              <a:r>
                <a:rPr lang="en-US" dirty="0" err="1" smtClean="0">
                  <a:solidFill>
                    <a:srgbClr val="0000FF"/>
                  </a:solidFill>
                </a:rPr>
                <a:t>names.</a:t>
              </a:r>
              <a:r>
                <a:rPr lang="en-US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dirty="0" smtClean="0">
                  <a:solidFill>
                    <a:srgbClr val="0000FF"/>
                  </a:solidFill>
                </a:rPr>
                <a:t>; index++)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{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 </a:t>
              </a:r>
              <a:r>
                <a:rPr lang="en-US" dirty="0" smtClean="0">
                  <a:solidFill>
                    <a:srgbClr val="00B050"/>
                  </a:solidFill>
                </a:rPr>
                <a:t>   // print the stored names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    </a:t>
              </a:r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(names[index]);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 </a:t>
              </a:r>
              <a:r>
                <a:rPr lang="en-US" dirty="0" smtClean="0">
                  <a:solidFill>
                    <a:srgbClr val="00B050"/>
                  </a:solidFill>
                </a:rPr>
                <a:t>   // print the length of each name 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 </a:t>
              </a:r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(names[index].</a:t>
              </a:r>
              <a:r>
                <a:rPr lang="en-US" dirty="0" smtClean="0">
                  <a:solidFill>
                    <a:srgbClr val="00B050"/>
                  </a:solidFill>
                </a:rPr>
                <a:t>length()</a:t>
              </a:r>
              <a:r>
                <a:rPr lang="en-US" dirty="0" smtClean="0">
                  <a:solidFill>
                    <a:srgbClr val="0000FF"/>
                  </a:solidFill>
                </a:rPr>
                <a:t>); 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 </a:t>
              </a:r>
              <a:r>
                <a:rPr lang="en-US" dirty="0" smtClean="0">
                  <a:solidFill>
                    <a:srgbClr val="00B050"/>
                  </a:solidFill>
                </a:rPr>
                <a:t>   //extracts the first four letters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 </a:t>
              </a:r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(names[index].</a:t>
              </a:r>
              <a:r>
                <a:rPr lang="en-US" dirty="0" smtClean="0">
                  <a:solidFill>
                    <a:srgbClr val="00B050"/>
                  </a:solidFill>
                </a:rPr>
                <a:t>substring(0, 5)</a:t>
              </a:r>
              <a:r>
                <a:rPr lang="en-US" dirty="0" smtClean="0">
                  <a:solidFill>
                    <a:srgbClr val="0000FF"/>
                  </a:solidFill>
                </a:rPr>
                <a:t>); 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 </a:t>
              </a:r>
              <a:r>
                <a:rPr lang="en-US" dirty="0" smtClean="0">
                  <a:solidFill>
                    <a:srgbClr val="00B050"/>
                  </a:solidFill>
                </a:rPr>
                <a:t>   // converts the string into upper case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 </a:t>
              </a:r>
              <a:r>
                <a:rPr lang="en-US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dirty="0" smtClean="0">
                  <a:solidFill>
                    <a:srgbClr val="0000FF"/>
                  </a:solidFill>
                </a:rPr>
                <a:t> (names[index].</a:t>
              </a:r>
              <a:r>
                <a:rPr lang="en-US" dirty="0" err="1" smtClean="0">
                  <a:solidFill>
                    <a:srgbClr val="00B050"/>
                  </a:solidFill>
                </a:rPr>
                <a:t>toUpperCase</a:t>
              </a:r>
              <a:r>
                <a:rPr lang="en-US" dirty="0" smtClean="0">
                  <a:solidFill>
                    <a:srgbClr val="00B050"/>
                  </a:solidFill>
                </a:rPr>
                <a:t>()</a:t>
              </a:r>
              <a:r>
                <a:rPr lang="en-US" dirty="0" smtClean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  }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3528" y="1236822"/>
              <a:ext cx="576064" cy="3733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…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139142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6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SEARCHING IN AN ARRAY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2 – ANALYSIS 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1520" y="1268760"/>
            <a:ext cx="8712968" cy="1008112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dirty="0" smtClean="0"/>
              <a:t>Write a program that searches for a given element in an array of 1000 elements. If found, the program should print its order in the array. Your program should give a value of -1 to the index if the element is not found.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951" y="234888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1619672" y="2348880"/>
            <a:ext cx="7344816" cy="7560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An array of 1000 integers (</a:t>
            </a:r>
            <a:r>
              <a:rPr lang="en-US" dirty="0" smtClean="0">
                <a:solidFill>
                  <a:srgbClr val="CC00CC"/>
                </a:solidFill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 err="1" smtClean="0">
                <a:solidFill>
                  <a:srgbClr val="0000FF"/>
                </a:solidFill>
              </a:rPr>
              <a:t>listA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</a:rPr>
              <a:t>int</a:t>
            </a:r>
            <a:r>
              <a:rPr lang="en-US" dirty="0" smtClean="0">
                <a:solidFill>
                  <a:srgbClr val="00B0F0"/>
                </a:solidFill>
              </a:rPr>
              <a:t>[]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The value to search for (</a:t>
            </a:r>
            <a:r>
              <a:rPr lang="en-US" dirty="0" smtClean="0">
                <a:solidFill>
                  <a:srgbClr val="CC00CC"/>
                </a:solidFill>
                <a:sym typeface="Wingdings" panose="05000000000000000000" pitchFamily="2" charset="2"/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target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, type: </a:t>
            </a:r>
            <a:r>
              <a:rPr lang="en-US" dirty="0" err="1" smtClean="0">
                <a:solidFill>
                  <a:srgbClr val="CC00CC"/>
                </a:solidFill>
                <a:sym typeface="Wingdings" panose="05000000000000000000" pitchFamily="2" charset="2"/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520" y="321297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1634241" y="3212976"/>
            <a:ext cx="7344816" cy="57606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The index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(</a:t>
            </a:r>
            <a:r>
              <a:rPr lang="en-US" dirty="0" smtClean="0">
                <a:solidFill>
                  <a:srgbClr val="CC00CC"/>
                </a:solidFill>
                <a:sym typeface="Wingdings" panose="05000000000000000000" pitchFamily="2" charset="2"/>
              </a:rPr>
              <a:t>variable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: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index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, type: </a:t>
            </a:r>
            <a:r>
              <a:rPr lang="en-US" dirty="0" err="1" smtClean="0">
                <a:solidFill>
                  <a:srgbClr val="00B0F0"/>
                </a:solidFill>
                <a:sym typeface="Wingdings" panose="05000000000000000000" pitchFamily="2" charset="2"/>
              </a:rPr>
              <a:t>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460432" y="6407944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251520" y="393305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1634241" y="3933056"/>
            <a:ext cx="7344816" cy="27363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Read the value to search for (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target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).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Initialize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found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to </a:t>
            </a:r>
            <a:r>
              <a:rPr lang="en-US" dirty="0" smtClean="0">
                <a:solidFill>
                  <a:srgbClr val="00B0F0"/>
                </a:solidFill>
                <a:sym typeface="Wingdings" panose="05000000000000000000" pitchFamily="2" charset="2"/>
              </a:rPr>
              <a:t>false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Fill in the array </a:t>
            </a:r>
            <a:r>
              <a:rPr lang="en-US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listA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Loop as long as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found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is </a:t>
            </a:r>
            <a:r>
              <a:rPr lang="en-US" dirty="0" smtClean="0">
                <a:solidFill>
                  <a:srgbClr val="00B0F0"/>
                </a:solidFill>
                <a:sym typeface="Wingdings" panose="05000000000000000000" pitchFamily="2" charset="2"/>
              </a:rPr>
              <a:t>false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, and the end of the array </a:t>
            </a:r>
            <a:r>
              <a:rPr lang="en-US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listA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is not reached: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4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.1 Compare the array element </a:t>
            </a:r>
            <a:r>
              <a:rPr lang="en-US" dirty="0" err="1" smtClean="0">
                <a:solidFill>
                  <a:srgbClr val="0000FF"/>
                </a:solidFill>
                <a:sym typeface="Wingdings" panose="05000000000000000000" pitchFamily="2" charset="2"/>
              </a:rPr>
              <a:t>listA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[index]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 with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target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. 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4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.2 If found, then set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found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to </a:t>
            </a:r>
            <a:r>
              <a:rPr lang="en-US" dirty="0" smtClean="0">
                <a:solidFill>
                  <a:srgbClr val="00B0F0"/>
                </a:solidFill>
                <a:sym typeface="Wingdings" panose="05000000000000000000" pitchFamily="2" charset="2"/>
              </a:rPr>
              <a:t>true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and print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index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4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.3 If the end of the array is reached, set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index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to -1.</a:t>
            </a:r>
          </a:p>
        </p:txBody>
      </p:sp>
    </p:spTree>
    <p:extLst>
      <p:ext uri="{BB962C8B-B14F-4D97-AF65-F5344CB8AC3E}">
        <p14:creationId xmlns="" xmlns:p14="http://schemas.microsoft.com/office/powerpoint/2010/main" val="137163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21" grpId="0" animBg="1"/>
      <p:bldP spid="22" grpId="0" animBg="1"/>
      <p:bldP spid="23" grpId="0" animBg="1"/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6. SEARCHING IN AN ARRAY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2– CODE(1)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179512" y="1412776"/>
            <a:ext cx="8784976" cy="5262979"/>
            <a:chOff x="323528" y="1236822"/>
            <a:chExt cx="7848872" cy="4948902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494890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// import necessary libraries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import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java.util.Scanner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  <a:r>
                <a:rPr lang="en-US" sz="1600" dirty="0" smtClean="0">
                  <a:solidFill>
                    <a:srgbClr val="0000FF"/>
                  </a:solidFill>
                </a:rPr>
                <a:t>		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class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areArraysEqual</a:t>
              </a:r>
              <a:endParaRPr lang="en-US" sz="1600" dirty="0" smtClean="0">
                <a:solidFill>
                  <a:srgbClr val="0000FF"/>
                </a:solidFill>
              </a:endParaRP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{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   // instantiate the object read from the class Scanner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static </a:t>
              </a:r>
              <a:r>
                <a:rPr lang="en-US" sz="1600" dirty="0" smtClean="0">
                  <a:solidFill>
                    <a:srgbClr val="0000FF"/>
                  </a:solidFill>
                </a:rPr>
                <a:t>Scanner read  = </a:t>
              </a:r>
              <a:r>
                <a:rPr lang="en-US" sz="1600" dirty="0" smtClean="0">
                  <a:solidFill>
                    <a:srgbClr val="00B0F0"/>
                  </a:solidFill>
                </a:rPr>
                <a:t>new</a:t>
              </a:r>
              <a:r>
                <a:rPr lang="en-US" sz="1600" dirty="0" smtClean="0">
                  <a:solidFill>
                    <a:srgbClr val="0000FF"/>
                  </a:solidFill>
                </a:rPr>
                <a:t> Scanner (System.in);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public static void</a:t>
              </a:r>
              <a:r>
                <a:rPr lang="en-US" sz="1600" dirty="0" smtClean="0">
                  <a:solidFill>
                    <a:srgbClr val="0000FF"/>
                  </a:solidFill>
                </a:rPr>
                <a:t> main (String[]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args</a:t>
              </a:r>
              <a:r>
                <a:rPr lang="en-US" sz="16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  </a:t>
              </a:r>
              <a:r>
                <a:rPr lang="en-US" sz="1600" dirty="0" smtClean="0"/>
                <a:t>// Declaration section: to declare needed variables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   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[]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sz="1600" dirty="0" smtClean="0">
                  <a:solidFill>
                    <a:srgbClr val="0000FF"/>
                  </a:solidFill>
                </a:rPr>
                <a:t> = </a:t>
              </a:r>
              <a:r>
                <a:rPr lang="en-US" sz="1600" dirty="0" smtClean="0">
                  <a:solidFill>
                    <a:srgbClr val="00B0F0"/>
                  </a:solidFill>
                </a:rPr>
                <a:t>new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00FF"/>
                  </a:solidFill>
                </a:rPr>
                <a:t>[1000];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00FF"/>
                  </a:solidFill>
                </a:rPr>
                <a:t> index, target,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  <a:endParaRPr lang="en-US" sz="1600" dirty="0" smtClean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boolean</a:t>
              </a:r>
              <a:r>
                <a:rPr lang="en-US" sz="1600" dirty="0" smtClean="0">
                  <a:solidFill>
                    <a:srgbClr val="0000FF"/>
                  </a:solidFill>
                </a:rPr>
                <a:t> found = </a:t>
              </a:r>
              <a:r>
                <a:rPr lang="en-US" sz="1600" dirty="0" smtClean="0">
                  <a:solidFill>
                    <a:srgbClr val="00B0F0"/>
                  </a:solidFill>
                </a:rPr>
                <a:t>false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 // Fill in the array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      </a:t>
              </a:r>
              <a:r>
                <a:rPr lang="en-US" sz="1600" dirty="0" smtClean="0">
                  <a:solidFill>
                    <a:srgbClr val="00B0F0"/>
                  </a:solidFill>
                </a:rPr>
                <a:t>for </a:t>
              </a:r>
              <a:r>
                <a:rPr lang="en-US" sz="1600" dirty="0" smtClean="0">
                  <a:solidFill>
                    <a:srgbClr val="0000FF"/>
                  </a:solidFill>
                </a:rPr>
                <a:t>(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 = 0;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 &lt;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listA.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600" dirty="0" smtClean="0">
                  <a:solidFill>
                    <a:srgbClr val="0000FF"/>
                  </a:solidFill>
                </a:rPr>
                <a:t>;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++)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smtClean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smtClean="0">
                  <a:solidFill>
                    <a:srgbClr val="0000FF"/>
                  </a:solidFill>
                </a:rPr>
                <a:t>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 smtClean="0">
                  <a:solidFill>
                    <a:srgbClr val="0000FF"/>
                  </a:solidFill>
                </a:rPr>
                <a:t> (“Enter next element”);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smtClean="0">
                  <a:solidFill>
                    <a:srgbClr val="0000FF"/>
                  </a:solidFill>
                </a:rPr>
                <a:t>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sz="1600" dirty="0" smtClean="0">
                  <a:solidFill>
                    <a:srgbClr val="0000FF"/>
                  </a:solidFill>
                </a:rPr>
                <a:t>[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] =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read.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sz="1600" dirty="0" smtClean="0">
                  <a:solidFill>
                    <a:srgbClr val="00B050"/>
                  </a:solidFill>
                </a:rPr>
                <a:t>()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smtClean="0">
                  <a:solidFill>
                    <a:srgbClr val="0000FF"/>
                  </a:solidFill>
                </a:rPr>
                <a:t>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for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         // Get the value of the target element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 smtClean="0">
                  <a:solidFill>
                    <a:srgbClr val="0000FF"/>
                  </a:solidFill>
                </a:rPr>
                <a:t> (“Enter the target element”);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    target =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read.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nextInt</a:t>
              </a:r>
              <a:r>
                <a:rPr lang="en-US" sz="1600" dirty="0" smtClean="0">
                  <a:solidFill>
                    <a:srgbClr val="00B050"/>
                  </a:solidFill>
                </a:rPr>
                <a:t>()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4948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21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899592" y="364502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99592" y="414908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99592" y="5085184"/>
            <a:ext cx="8064896" cy="50405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9592" y="6093296"/>
            <a:ext cx="8064896" cy="50405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1035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6. SEARCHING IN AN ARRAY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PROGRAM 2– CODE(2)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179512" y="1412776"/>
            <a:ext cx="8784976" cy="4770537"/>
            <a:chOff x="323528" y="1236822"/>
            <a:chExt cx="7848872" cy="4485848"/>
          </a:xfrm>
        </p:grpSpPr>
        <p:sp>
          <p:nvSpPr>
            <p:cNvPr id="16" name="TextBox 15"/>
            <p:cNvSpPr txBox="1"/>
            <p:nvPr/>
          </p:nvSpPr>
          <p:spPr>
            <a:xfrm>
              <a:off x="971600" y="1236822"/>
              <a:ext cx="7200800" cy="448584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 = 0;</a:t>
              </a:r>
              <a:r>
                <a:rPr lang="en-US" sz="1600" dirty="0" smtClean="0">
                  <a:solidFill>
                    <a:srgbClr val="00B050"/>
                  </a:solidFill>
                </a:rPr>
                <a:t>			//Reset </a:t>
              </a:r>
              <a:r>
                <a:rPr lang="en-US" sz="1600" dirty="0" err="1" smtClean="0">
                  <a:solidFill>
                    <a:srgbClr val="00B050"/>
                  </a:solidFill>
                </a:rPr>
                <a:t>i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while </a:t>
              </a:r>
              <a:r>
                <a:rPr lang="en-US" sz="1600" dirty="0" smtClean="0">
                  <a:solidFill>
                    <a:srgbClr val="0000FF"/>
                  </a:solidFill>
                </a:rPr>
                <a:t>(!found &amp;&amp;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 &lt;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listA.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length</a:t>
              </a:r>
              <a:r>
                <a:rPr lang="en-US" sz="1600" dirty="0" smtClean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</a:t>
              </a:r>
              <a:r>
                <a:rPr lang="en-US" sz="1600" dirty="0" smtClean="0">
                  <a:solidFill>
                    <a:srgbClr val="00B0F0"/>
                  </a:solidFill>
                </a:rPr>
                <a:t>if</a:t>
              </a:r>
              <a:r>
                <a:rPr lang="en-US" sz="1600" dirty="0" smtClean="0">
                  <a:solidFill>
                    <a:srgbClr val="0000FF"/>
                  </a:solidFill>
                </a:rPr>
                <a:t> (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listA</a:t>
              </a:r>
              <a:r>
                <a:rPr lang="en-US" sz="1600" dirty="0" smtClean="0">
                  <a:solidFill>
                    <a:srgbClr val="0000FF"/>
                  </a:solidFill>
                </a:rPr>
                <a:t>[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] == target)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   found = </a:t>
              </a:r>
              <a:r>
                <a:rPr lang="en-US" sz="1600" dirty="0" smtClean="0">
                  <a:solidFill>
                    <a:srgbClr val="00B0F0"/>
                  </a:solidFill>
                </a:rPr>
                <a:t>true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     index =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  }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i</a:t>
              </a:r>
              <a:r>
                <a:rPr lang="en-US" sz="1600" dirty="0" smtClean="0">
                  <a:solidFill>
                    <a:srgbClr val="0000FF"/>
                  </a:solidFill>
                </a:rPr>
                <a:t>++;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} 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while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if </a:t>
              </a:r>
              <a:r>
                <a:rPr lang="en-US" sz="1600" dirty="0" smtClean="0">
                  <a:solidFill>
                    <a:srgbClr val="0000FF"/>
                  </a:solidFill>
                </a:rPr>
                <a:t>(found)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 smtClean="0">
                  <a:solidFill>
                    <a:srgbClr val="0000FF"/>
                  </a:solidFill>
                </a:rPr>
                <a:t> (“Element found at %d= “, index);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else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 index = -1;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 smtClean="0">
                  <a:solidFill>
                    <a:srgbClr val="0000FF"/>
                  </a:solidFill>
                </a:rPr>
                <a:t> (“index = %d means that the target is not found”, index);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   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else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main</a:t>
              </a:r>
            </a:p>
            <a:p>
              <a:r>
                <a:rPr lang="en-US" sz="1600" dirty="0" smtClean="0">
                  <a:solidFill>
                    <a:srgbClr val="0000FF"/>
                  </a:solidFill>
                </a:rPr>
                <a:t>}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3528" y="1236822"/>
              <a:ext cx="576064" cy="4485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40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899592" y="148478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99592" y="1700808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9592" y="220486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99592" y="2636912"/>
            <a:ext cx="8064896" cy="50405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99592" y="335699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99592" y="3933056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99592" y="436510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99592" y="4869160"/>
            <a:ext cx="8064896" cy="50405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2048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9512" y="908720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Write a complete program that searches </a:t>
            </a:r>
            <a:r>
              <a:rPr lang="en-US" dirty="0" smtClean="0"/>
              <a:t>in an array X for </a:t>
            </a:r>
            <a:r>
              <a:rPr lang="en-US" dirty="0"/>
              <a:t>all the elements that are multiple of 7 </a:t>
            </a:r>
            <a:r>
              <a:rPr lang="en-US" dirty="0" smtClean="0"/>
              <a:t>or multiple of 3. X is of type integer, and </a:t>
            </a:r>
            <a:r>
              <a:rPr lang="en-US" dirty="0"/>
              <a:t>size 100. The subscripts </a:t>
            </a:r>
            <a:r>
              <a:rPr lang="en-US" dirty="0" smtClean="0"/>
              <a:t>of the target elements are </a:t>
            </a:r>
            <a:r>
              <a:rPr lang="en-US" dirty="0"/>
              <a:t>to be stored in another array Y of the same size. The array X is filled by the user. The array Y is initialized to -1.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mtClean="0"/>
              <a:t>W9.4 </a:t>
            </a:r>
            <a:r>
              <a:rPr lang="en-US" sz="1200" dirty="0" smtClean="0"/>
              <a:t>Arrays – Important Issues</a:t>
            </a:r>
            <a:endParaRPr 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235817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1065</TotalTime>
  <Words>1904</Words>
  <Application>Microsoft Office PowerPoint</Application>
  <PresentationFormat>On-screen Show (4:3)</PresentationFormat>
  <Paragraphs>604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Concourse</vt:lpstr>
      <vt:lpstr>  ARRAYS </vt:lpstr>
      <vt:lpstr>Outline</vt:lpstr>
      <vt:lpstr>1. EQUALITY OF TWO ARRAYS</vt:lpstr>
      <vt:lpstr>1. EQUALITY OF TWO ARRAYS</vt:lpstr>
      <vt:lpstr>1. EQUALITY OF TWO ARRAYS</vt:lpstr>
      <vt:lpstr>1. EQUALITY OF TWO ARRAYS</vt:lpstr>
      <vt:lpstr>1. EQUALITY OF TWO ARRAYS</vt:lpstr>
      <vt:lpstr>1. EQUALITY OF TWO ARRAYS</vt:lpstr>
      <vt:lpstr>2. ASSIGNMENT OPERATOR</vt:lpstr>
      <vt:lpstr>3. RELATIONAL OPERATORS</vt:lpstr>
      <vt:lpstr>4. COPYING ARRAYS</vt:lpstr>
      <vt:lpstr>4. COPYING ARRAYS</vt:lpstr>
      <vt:lpstr>5. ARRAY OF Strings</vt:lpstr>
      <vt:lpstr>Reminder: Java Variables (W4.1)</vt:lpstr>
      <vt:lpstr>5. ARRAY OF Strings</vt:lpstr>
      <vt:lpstr>5. ARRAY OF Strings</vt:lpstr>
      <vt:lpstr>6. SEARCHING IN AN ARRAY</vt:lpstr>
      <vt:lpstr>6. SEARCHING IN AN ARRAY</vt:lpstr>
      <vt:lpstr>6. SEARCHING IN AN ARRAY</vt:lpstr>
      <vt:lpstr>Self-Check Exercises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(2)</dc:title>
  <dc:creator>Soha S.Zaghloul</dc:creator>
  <cp:lastModifiedBy>Omar</cp:lastModifiedBy>
  <cp:revision>65</cp:revision>
  <dcterms:created xsi:type="dcterms:W3CDTF">2015-03-18T17:55:00Z</dcterms:created>
  <dcterms:modified xsi:type="dcterms:W3CDTF">2016-12-24T03:41:26Z</dcterms:modified>
</cp:coreProperties>
</file>