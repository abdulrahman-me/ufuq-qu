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</p:sldMasterIdLst>
  <p:notesMasterIdLst>
    <p:notesMasterId r:id="rId47"/>
  </p:notesMasterIdLst>
  <p:sldIdLst>
    <p:sldId id="379" r:id="rId2"/>
    <p:sldId id="380" r:id="rId3"/>
    <p:sldId id="381" r:id="rId4"/>
    <p:sldId id="411" r:id="rId5"/>
    <p:sldId id="413" r:id="rId6"/>
    <p:sldId id="414" r:id="rId7"/>
    <p:sldId id="415" r:id="rId8"/>
    <p:sldId id="412" r:id="rId9"/>
    <p:sldId id="417" r:id="rId10"/>
    <p:sldId id="418" r:id="rId11"/>
    <p:sldId id="431" r:id="rId12"/>
    <p:sldId id="419" r:id="rId13"/>
    <p:sldId id="422" r:id="rId14"/>
    <p:sldId id="420" r:id="rId15"/>
    <p:sldId id="421" r:id="rId16"/>
    <p:sldId id="423" r:id="rId17"/>
    <p:sldId id="424" r:id="rId18"/>
    <p:sldId id="425" r:id="rId19"/>
    <p:sldId id="426" r:id="rId20"/>
    <p:sldId id="427" r:id="rId21"/>
    <p:sldId id="428" r:id="rId22"/>
    <p:sldId id="429" r:id="rId23"/>
    <p:sldId id="430" r:id="rId24"/>
    <p:sldId id="432" r:id="rId25"/>
    <p:sldId id="433" r:id="rId26"/>
    <p:sldId id="434" r:id="rId27"/>
    <p:sldId id="435" r:id="rId28"/>
    <p:sldId id="436" r:id="rId29"/>
    <p:sldId id="437" r:id="rId30"/>
    <p:sldId id="438" r:id="rId31"/>
    <p:sldId id="439" r:id="rId32"/>
    <p:sldId id="440" r:id="rId33"/>
    <p:sldId id="441" r:id="rId34"/>
    <p:sldId id="442" r:id="rId35"/>
    <p:sldId id="443" r:id="rId36"/>
    <p:sldId id="444" r:id="rId37"/>
    <p:sldId id="445" r:id="rId38"/>
    <p:sldId id="446" r:id="rId39"/>
    <p:sldId id="447" r:id="rId40"/>
    <p:sldId id="448" r:id="rId41"/>
    <p:sldId id="449" r:id="rId42"/>
    <p:sldId id="450" r:id="rId43"/>
    <p:sldId id="451" r:id="rId44"/>
    <p:sldId id="452" r:id="rId45"/>
    <p:sldId id="453" r:id="rId46"/>
  </p:sldIdLst>
  <p:sldSz cx="9144000" cy="6858000" type="screen4x3"/>
  <p:notesSz cx="6781800" cy="9918700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buClr>
        <a:schemeClr val="tx2"/>
      </a:buClr>
      <a:buSzPct val="75000"/>
      <a:buFont typeface="Monotype Sorts" charset="2"/>
      <a:buChar char="l"/>
      <a:defRPr sz="20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chemeClr val="tx2"/>
      </a:buClr>
      <a:buSzPct val="75000"/>
      <a:buFont typeface="Monotype Sorts" charset="2"/>
      <a:buChar char="l"/>
      <a:defRPr sz="20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chemeClr val="tx2"/>
      </a:buClr>
      <a:buSzPct val="75000"/>
      <a:buFont typeface="Monotype Sorts" charset="2"/>
      <a:buChar char="l"/>
      <a:defRPr sz="20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chemeClr val="tx2"/>
      </a:buClr>
      <a:buSzPct val="75000"/>
      <a:buFont typeface="Monotype Sorts" charset="2"/>
      <a:buChar char="l"/>
      <a:defRPr sz="20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chemeClr val="tx2"/>
      </a:buClr>
      <a:buSzPct val="75000"/>
      <a:buFont typeface="Monotype Sorts" charset="2"/>
      <a:buChar char="l"/>
      <a:defRPr sz="20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17D"/>
    <a:srgbClr val="FF0000"/>
    <a:srgbClr val="000099"/>
    <a:srgbClr val="00FF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59" autoAdjust="0"/>
    <p:restoredTop sz="86552" autoAdjust="0"/>
  </p:normalViewPr>
  <p:slideViewPr>
    <p:cSldViewPr showGuides="1">
      <p:cViewPr varScale="1">
        <p:scale>
          <a:sx n="58" d="100"/>
          <a:sy n="58" d="100"/>
        </p:scale>
        <p:origin x="147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1750" y="0"/>
            <a:ext cx="293846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1225" y="744538"/>
            <a:ext cx="4959350" cy="371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34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4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1813"/>
            <a:ext cx="293846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 b="0"/>
            </a:lvl1pPr>
          </a:lstStyle>
          <a:p>
            <a:fld id="{0E521F08-90E5-1A49-9684-A18C6E15F63C}" type="slidenum">
              <a:rPr lang="en-US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7966310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fr-FR" altLang="fr-FR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8BA921CE-EC95-884F-8570-2C1A5E77F003}" type="slidenum">
              <a:rPr lang="en-US" altLang="fr-FR" sz="1200" b="0"/>
              <a:pPr/>
              <a:t>6</a:t>
            </a:fld>
            <a:endParaRPr lang="en-US" altLang="fr-FR" sz="1200" b="0"/>
          </a:p>
        </p:txBody>
      </p:sp>
    </p:spTree>
    <p:extLst>
      <p:ext uri="{BB962C8B-B14F-4D97-AF65-F5344CB8AC3E}">
        <p14:creationId xmlns:p14="http://schemas.microsoft.com/office/powerpoint/2010/main" val="209992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4A4385-B942-BC4B-B64E-306DE5A14C8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3122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982D60-A60F-D84E-8BA5-D393DA7BF88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7344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EB8381-9B8C-8F42-B211-1B23BCA7772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31779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BDC4FE-4DDF-6045-AE3B-06E29586B2F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453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67CDC5-C65D-0A46-B703-35A86650823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1983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87E884-3E9A-A440-8901-028C508A369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0071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37E615-C934-CB42-9786-A5A65B5D7F5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22864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09D526-B9E7-A941-BDED-1DB077DF72E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74958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FC7440-A194-8946-98B5-760E0C52A32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931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0BBD1C-2853-2448-AB9D-7C586BA4C7F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01716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08102B-BE6A-924E-B894-53A23D4A8B9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8381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buFont typeface="Monotype Sorts" pitchFamily="2" charset="2"/>
              <a:buChar char="l"/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buFont typeface="Monotype Sorts" pitchFamily="2" charset="2"/>
              <a:buChar char="l"/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ea typeface="PMingLiU" charset="-120"/>
              </a:defRPr>
            </a:lvl1pPr>
          </a:lstStyle>
          <a:p>
            <a:fld id="{F39AECDD-B3FD-6842-97C0-E394F7C66718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5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58813" y="37623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fr-FR" sz="6600" b="1"/>
              <a:t>Sorting Algorithms</a:t>
            </a:r>
          </a:p>
        </p:txBody>
      </p:sp>
      <p:sp>
        <p:nvSpPr>
          <p:cNvPr id="2" name="Rectangle 1"/>
          <p:cNvSpPr/>
          <p:nvPr/>
        </p:nvSpPr>
        <p:spPr>
          <a:xfrm>
            <a:off x="1396971" y="1752600"/>
            <a:ext cx="6296084" cy="19759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buFont typeface="Monotype Sorts" pitchFamily="2" charset="2"/>
              <a:buNone/>
              <a:defRPr/>
            </a:pPr>
            <a:r>
              <a:rPr lang="en-US" sz="36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CS 2321</a:t>
            </a:r>
          </a:p>
          <a:p>
            <a:pPr algn="ctr" eaLnBrk="1" hangingPunct="1">
              <a:buFont typeface="Monotype Sorts" pitchFamily="2" charset="2"/>
              <a:buNone/>
              <a:defRPr/>
            </a:pPr>
            <a:r>
              <a:rPr lang="en-US" altLang="zh-TW" sz="360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Data Structures </a:t>
            </a:r>
            <a:r>
              <a:rPr lang="en-US" altLang="zh-TW" sz="36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and Algorithms</a:t>
            </a:r>
          </a:p>
          <a:p>
            <a:pPr algn="ctr" eaLnBrk="1" hangingPunct="1">
              <a:buFont typeface="Monotype Sorts" pitchFamily="2" charset="2"/>
              <a:buNone/>
              <a:defRPr/>
            </a:pPr>
            <a:endParaRPr lang="en-US" sz="3600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52" name="Image 8" descr="C:\Users\mahdi\Desktop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275" y="76200"/>
            <a:ext cx="18938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2054" name="Rectangle 2"/>
          <p:cNvSpPr txBox="1">
            <a:spLocks noChangeArrowheads="1"/>
          </p:cNvSpPr>
          <p:nvPr/>
        </p:nvSpPr>
        <p:spPr bwMode="auto">
          <a:xfrm>
            <a:off x="228600" y="50863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 typeface="Monotype Sorts" charset="2"/>
              <a:buNone/>
            </a:pPr>
            <a:r>
              <a:rPr lang="en-US" altLang="fr-FR" sz="2400">
                <a:latin typeface="Calibri" charset="0"/>
              </a:rPr>
              <a:t>Dr. Mahdi Khemakhem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24441D9D-F760-B540-B2A5-2EC8BC7B4F60}" type="slidenum">
              <a:rPr lang="zh-TW" altLang="en-US" sz="1200">
                <a:solidFill>
                  <a:srgbClr val="898989"/>
                </a:solidFill>
              </a:rPr>
              <a:pPr/>
              <a:t>1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fr-FR" b="1"/>
              <a:t>Outlines</a:t>
            </a:r>
          </a:p>
        </p:txBody>
      </p:sp>
      <p:sp>
        <p:nvSpPr>
          <p:cNvPr id="3075" name="Espace réservé du contenu 2"/>
          <p:cNvSpPr>
            <a:spLocks noGrp="1"/>
          </p:cNvSpPr>
          <p:nvPr>
            <p:ph idx="1"/>
          </p:nvPr>
        </p:nvSpPr>
        <p:spPr>
          <a:xfrm>
            <a:off x="609600" y="1676400"/>
            <a:ext cx="8382000" cy="4800600"/>
          </a:xfrm>
        </p:spPr>
        <p:txBody>
          <a:bodyPr/>
          <a:lstStyle/>
          <a:p>
            <a:pPr marL="514350" indent="-514350" eaLnBrk="1" hangingPunct="1">
              <a:buFont typeface="Calibri" pitchFamily="34" charset="0"/>
              <a:buAutoNum type="arabicPeriod"/>
              <a:defRPr/>
            </a:pPr>
            <a:r>
              <a:rPr lang="en-US" sz="3600" b="1" dirty="0"/>
              <a:t>Insertion sort</a:t>
            </a:r>
          </a:p>
          <a:p>
            <a:pPr marL="514350" indent="-514350" eaLnBrk="1" hangingPunct="1">
              <a:buFont typeface="Calibri" pitchFamily="34" charset="0"/>
              <a:buAutoNum type="arabicPeriod"/>
              <a:defRPr/>
            </a:pPr>
            <a:r>
              <a:rPr lang="en-US" sz="3600" b="1" dirty="0"/>
              <a:t>Merge sort</a:t>
            </a:r>
          </a:p>
          <a:p>
            <a:pPr marL="514350" indent="-514350" eaLnBrk="1" hangingPunct="1">
              <a:buFont typeface="Calibri" pitchFamily="34" charset="0"/>
              <a:buAutoNum type="arabicPeriod"/>
              <a:defRPr/>
            </a:pPr>
            <a:r>
              <a:rPr lang="en-US" sz="3600" b="1" dirty="0"/>
              <a:t>Quick sort</a:t>
            </a:r>
          </a:p>
          <a:p>
            <a:pPr marL="0" indent="0" eaLnBrk="1" hangingPunct="1">
              <a:buFont typeface="Arial" charset="0"/>
              <a:buNone/>
              <a:defRPr/>
            </a:pPr>
            <a:endParaRPr lang="en-US" sz="3600" b="1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 altLang="zh-TW"/>
              <a:t>CS 2321: D.S.A (-Sorting Algorithms-)</a:t>
            </a:r>
            <a:endParaRPr lang="en-US" altLang="zh-TW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4F009144-E63D-0048-96FF-0F00B1671EE7}" type="slidenum">
              <a:rPr lang="zh-TW" altLang="en-US" sz="1200">
                <a:solidFill>
                  <a:srgbClr val="898989"/>
                </a:solidFill>
              </a:rPr>
              <a:pPr/>
              <a:t>2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fr-FR" altLang="fr-FR" sz="4000" b="1"/>
              <a:t>1. </a:t>
            </a:r>
            <a:r>
              <a:rPr lang="en-US" altLang="fr-FR" sz="4000" b="1"/>
              <a:t>Insertion sort</a:t>
            </a:r>
          </a:p>
        </p:txBody>
      </p:sp>
      <p:sp>
        <p:nvSpPr>
          <p:cNvPr id="4099" name="Rectangle 1"/>
          <p:cNvSpPr>
            <a:spLocks noChangeArrowheads="1"/>
          </p:cNvSpPr>
          <p:nvPr/>
        </p:nvSpPr>
        <p:spPr bwMode="auto">
          <a:xfrm>
            <a:off x="609600" y="4343400"/>
            <a:ext cx="5565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altLang="fr-FR">
                <a:solidFill>
                  <a:srgbClr val="FF0000"/>
                </a:solidFill>
              </a:rPr>
              <a:t>Reading: Text Book (Weiss) Weiss 7.1, 7.2 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  <a:endParaRPr lang="en-US" altLang="zh-TW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B2A6BB12-754F-E34E-9B34-474C6A40041F}" type="slidenum">
              <a:rPr lang="zh-TW" altLang="en-US" sz="1200">
                <a:solidFill>
                  <a:srgbClr val="898989"/>
                </a:solidFill>
              </a:rPr>
              <a:pPr/>
              <a:t>3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Insertion sort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fr-FR" sz="2400">
              <a:latin typeface="Times New Roman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fr-FR" sz="2400">
              <a:latin typeface="Times New Roman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fr-FR" sz="2400">
              <a:latin typeface="Times New Roman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fr-FR" sz="2400"/>
              <a:t>1) Initially p = 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fr-FR" sz="2400"/>
              <a:t>2) Let the first p elements be sorted.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fr-FR" sz="2400"/>
              <a:t>3) Insert the (p+1)th element properly in the list so that now p+1 elements are sorted.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fr-FR" sz="2400"/>
              <a:t>4) increment p and go to step (3)</a:t>
            </a:r>
          </a:p>
          <a:p>
            <a:endParaRPr lang="en-US" altLang="fr-FR"/>
          </a:p>
        </p:txBody>
      </p:sp>
      <p:pic>
        <p:nvPicPr>
          <p:cNvPr id="5124" name="Picture 5" descr="giant-playing-car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066800"/>
            <a:ext cx="2286000" cy="226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C8418FBB-808F-8F4B-AD66-08EB62A76F3A}" type="slidenum">
              <a:rPr lang="zh-TW" altLang="en-US" sz="1200">
                <a:solidFill>
                  <a:srgbClr val="898989"/>
                </a:solidFill>
              </a:rPr>
              <a:pPr/>
              <a:t>4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  <a:ea typeface="PMingLiU" charset="-120"/>
              </a:rPr>
              <a:t>Insertion Sort...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US" altLang="fr-FR">
              <a:ea typeface="PMingLiU" charset="-120"/>
            </a:endParaRPr>
          </a:p>
          <a:p>
            <a:pPr>
              <a:lnSpc>
                <a:spcPct val="90000"/>
              </a:lnSpc>
            </a:pPr>
            <a:endParaRPr lang="en-US" altLang="fr-FR">
              <a:ea typeface="PMingLiU" charset="-120"/>
            </a:endParaRPr>
          </a:p>
          <a:p>
            <a:pPr>
              <a:lnSpc>
                <a:spcPct val="90000"/>
              </a:lnSpc>
            </a:pPr>
            <a:endParaRPr lang="en-US" altLang="fr-FR">
              <a:ea typeface="PMingLiU" charset="-120"/>
            </a:endParaRPr>
          </a:p>
          <a:p>
            <a:pPr>
              <a:lnSpc>
                <a:spcPct val="90000"/>
              </a:lnSpc>
            </a:pPr>
            <a:endParaRPr lang="en-US" altLang="fr-FR">
              <a:ea typeface="PMingLiU" charset="-120"/>
            </a:endParaRPr>
          </a:p>
          <a:p>
            <a:pPr>
              <a:lnSpc>
                <a:spcPct val="90000"/>
              </a:lnSpc>
            </a:pPr>
            <a:endParaRPr lang="en-US" altLang="fr-FR">
              <a:ea typeface="PMingLiU" charset="-120"/>
            </a:endParaRPr>
          </a:p>
          <a:p>
            <a:pPr>
              <a:lnSpc>
                <a:spcPct val="90000"/>
              </a:lnSpc>
            </a:pPr>
            <a:endParaRPr lang="en-US" altLang="fr-FR">
              <a:ea typeface="PMingLiU" charset="-120"/>
            </a:endParaRPr>
          </a:p>
          <a:p>
            <a:pPr>
              <a:lnSpc>
                <a:spcPct val="90000"/>
              </a:lnSpc>
            </a:pPr>
            <a:endParaRPr lang="en-US" altLang="fr-FR">
              <a:ea typeface="PMingLiU" charset="-120"/>
            </a:endParaRPr>
          </a:p>
        </p:txBody>
      </p:sp>
      <p:pic>
        <p:nvPicPr>
          <p:cNvPr id="7172" name="Picture 4" descr="7"/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7" t="41629" r="5882" b="19910"/>
          <a:stretch>
            <a:fillRect/>
          </a:stretch>
        </p:blipFill>
        <p:spPr bwMode="auto">
          <a:xfrm>
            <a:off x="1066800" y="1371600"/>
            <a:ext cx="6651625" cy="217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762000" y="4343400"/>
            <a:ext cx="78486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  <a:buClr>
                <a:schemeClr val="folHlink"/>
              </a:buClr>
              <a:buFont typeface="Monotype Sorts" charset="2"/>
              <a:buChar char="*"/>
            </a:pPr>
            <a:r>
              <a:rPr lang="en-US" altLang="fr-FR" sz="2400" b="0">
                <a:ea typeface="PMingLiU" charset="-120"/>
              </a:rPr>
              <a:t>Consists of N - 1 passes</a:t>
            </a:r>
          </a:p>
          <a:p>
            <a:pPr>
              <a:lnSpc>
                <a:spcPct val="90000"/>
              </a:lnSpc>
              <a:buClr>
                <a:schemeClr val="folHlink"/>
              </a:buClr>
              <a:buFont typeface="Monotype Sorts" charset="2"/>
              <a:buChar char="*"/>
            </a:pPr>
            <a:r>
              <a:rPr lang="en-US" altLang="fr-FR" sz="2400" b="0">
                <a:ea typeface="PMingLiU" charset="-120"/>
              </a:rPr>
              <a:t>For pass p = 1 through N - 1, ensures that the elements in positions 0 through p are in sorted order</a:t>
            </a:r>
          </a:p>
          <a:p>
            <a:pPr lvl="1">
              <a:lnSpc>
                <a:spcPct val="90000"/>
              </a:lnSpc>
              <a:buClr>
                <a:schemeClr val="folHlink"/>
              </a:buClr>
              <a:buSzPct val="80000"/>
              <a:buFont typeface="Monotype Sorts" charset="2"/>
              <a:buChar char="n"/>
            </a:pPr>
            <a:r>
              <a:rPr lang="en-US" altLang="fr-FR" b="0">
                <a:ea typeface="PMingLiU" charset="-120"/>
              </a:rPr>
              <a:t>elements in positions 0 through p - 1 are already sorted</a:t>
            </a:r>
          </a:p>
          <a:p>
            <a:pPr lvl="1">
              <a:lnSpc>
                <a:spcPct val="90000"/>
              </a:lnSpc>
              <a:buClr>
                <a:schemeClr val="folHlink"/>
              </a:buClr>
              <a:buSzPct val="80000"/>
              <a:buFont typeface="Monotype Sorts" charset="2"/>
              <a:buChar char="n"/>
            </a:pPr>
            <a:r>
              <a:rPr lang="en-US" altLang="fr-FR" b="0">
                <a:ea typeface="PMingLiU" charset="-120"/>
              </a:rPr>
              <a:t>move the element in position p left until its correct place is found among the first p + 1 elements</a:t>
            </a:r>
            <a:endParaRPr lang="en-US" altLang="fr-FR" sz="2400" b="0">
              <a:ea typeface="PMingLiU" charset="-120"/>
            </a:endParaRPr>
          </a:p>
        </p:txBody>
      </p:sp>
      <p:sp>
        <p:nvSpPr>
          <p:cNvPr id="7174" name="Text Box 7"/>
          <p:cNvSpPr txBox="1">
            <a:spLocks noChangeArrowheads="1"/>
          </p:cNvSpPr>
          <p:nvPr/>
        </p:nvSpPr>
        <p:spPr bwMode="auto">
          <a:xfrm>
            <a:off x="457200" y="3546475"/>
            <a:ext cx="8305800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 typeface="Monotype Sorts" charset="2"/>
              <a:buNone/>
            </a:pPr>
            <a:r>
              <a:rPr lang="en-US" altLang="fr-FR" sz="1400">
                <a:solidFill>
                  <a:schemeClr val="accent2"/>
                </a:solidFill>
              </a:rPr>
              <a:t>See the flash animation</a:t>
            </a:r>
          </a:p>
          <a:p>
            <a:pPr>
              <a:buFont typeface="Monotype Sorts" charset="2"/>
              <a:buNone/>
            </a:pPr>
            <a:r>
              <a:rPr lang="en-US" altLang="fr-FR" sz="1400">
                <a:solidFill>
                  <a:schemeClr val="accent2"/>
                </a:solidFill>
              </a:rPr>
              <a:t>https://courses.cs.vt.edu/csonline/Algorithms/Lessons/InsertionCardSort/insertioncardsort.swf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4DAD812D-632E-5449-8866-49F3F766F786}" type="slidenum">
              <a:rPr lang="zh-TW" altLang="en-US" sz="1200">
                <a:solidFill>
                  <a:srgbClr val="898989"/>
                </a:solidFill>
              </a:rPr>
              <a:pPr/>
              <a:t>5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 dirty="0">
                <a:solidFill>
                  <a:srgbClr val="07017D"/>
                </a:solidFill>
              </a:rPr>
              <a:t>Example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723900" y="1752600"/>
            <a:ext cx="76962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To sort the following numbers in increasing order: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34   8   64   51   32   21</a:t>
            </a:r>
          </a:p>
        </p:txBody>
      </p:sp>
      <p:sp>
        <p:nvSpPr>
          <p:cNvPr id="8196" name="Text Box 5"/>
          <p:cNvSpPr txBox="1">
            <a:spLocks noChangeArrowheads="1"/>
          </p:cNvSpPr>
          <p:nvPr/>
        </p:nvSpPr>
        <p:spPr bwMode="auto">
          <a:xfrm>
            <a:off x="838200" y="3581400"/>
            <a:ext cx="8001000" cy="22542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P = 1;  </a:t>
            </a:r>
            <a:r>
              <a:rPr lang="en-US" altLang="fr-FR" b="0" dirty="0" err="1"/>
              <a:t>tmp</a:t>
            </a:r>
            <a:r>
              <a:rPr lang="en-US" altLang="fr-FR" b="0" dirty="0"/>
              <a:t> = 8;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34 &gt; </a:t>
            </a:r>
            <a:r>
              <a:rPr lang="en-US" altLang="fr-FR" b="0" dirty="0" err="1"/>
              <a:t>tmp</a:t>
            </a:r>
            <a:r>
              <a:rPr lang="en-US" altLang="fr-FR" b="0" dirty="0"/>
              <a:t>, so second element is set to 34.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We have reached the front of the list. Thus, 1st position = </a:t>
            </a:r>
            <a:r>
              <a:rPr lang="en-US" altLang="fr-FR" b="0" dirty="0" err="1"/>
              <a:t>tmp</a:t>
            </a:r>
            <a:endParaRPr lang="en-US" altLang="fr-FR" b="0" dirty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After first pass:  8    34   64   51  32   21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                               (first 2 elements are sorted)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8FF34C8D-DF4C-C34B-9E44-74364B5B1C84}" type="slidenum">
              <a:rPr lang="zh-TW" altLang="en-US" sz="1200">
                <a:solidFill>
                  <a:srgbClr val="898989"/>
                </a:solidFill>
              </a:rPr>
              <a:pPr/>
              <a:t>6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051"/>
          <p:cNvSpPr txBox="1">
            <a:spLocks noChangeArrowheads="1"/>
          </p:cNvSpPr>
          <p:nvPr/>
        </p:nvSpPr>
        <p:spPr bwMode="auto">
          <a:xfrm>
            <a:off x="609600" y="2743200"/>
            <a:ext cx="6454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fr-FR" altLang="fr-FR" sz="2400" b="0"/>
          </a:p>
        </p:txBody>
      </p:sp>
      <p:sp>
        <p:nvSpPr>
          <p:cNvPr id="9219" name="Text Box 2055"/>
          <p:cNvSpPr txBox="1">
            <a:spLocks noChangeArrowheads="1"/>
          </p:cNvSpPr>
          <p:nvPr/>
        </p:nvSpPr>
        <p:spPr bwMode="auto">
          <a:xfrm>
            <a:off x="762000" y="457200"/>
            <a:ext cx="7467600" cy="14287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/>
              <a:t>P = 2;  tmp = 64;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/>
              <a:t>34 &lt; 64, so stop at 3</a:t>
            </a:r>
            <a:r>
              <a:rPr lang="en-US" altLang="fr-FR" b="0" baseline="30000"/>
              <a:t>rd</a:t>
            </a:r>
            <a:r>
              <a:rPr lang="en-US" altLang="fr-FR" b="0"/>
              <a:t> position and set 3</a:t>
            </a:r>
            <a:r>
              <a:rPr lang="en-US" altLang="fr-FR" b="0" baseline="30000"/>
              <a:t>rd</a:t>
            </a:r>
            <a:r>
              <a:rPr lang="en-US" altLang="fr-FR" b="0"/>
              <a:t> position = 64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/>
              <a:t>After second pass:  8    34   64   51  32   21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/>
              <a:t>                            (first 3 elements are sorted)</a:t>
            </a:r>
          </a:p>
        </p:txBody>
      </p:sp>
      <p:sp>
        <p:nvSpPr>
          <p:cNvPr id="9220" name="Text Box 2056"/>
          <p:cNvSpPr txBox="1">
            <a:spLocks noChangeArrowheads="1"/>
          </p:cNvSpPr>
          <p:nvPr/>
        </p:nvSpPr>
        <p:spPr bwMode="auto">
          <a:xfrm>
            <a:off x="762000" y="1981200"/>
            <a:ext cx="7467600" cy="17938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P = 3;  </a:t>
            </a:r>
            <a:r>
              <a:rPr lang="en-US" altLang="fr-FR" b="0" dirty="0" err="1"/>
              <a:t>tmp</a:t>
            </a:r>
            <a:r>
              <a:rPr lang="en-US" altLang="fr-FR" b="0" dirty="0"/>
              <a:t> = 51;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51 &lt; 64, so we have  8   34   64   51  32   21,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34 &lt; 51, so stop at 3rd position, set 3</a:t>
            </a:r>
            <a:r>
              <a:rPr lang="en-US" altLang="fr-FR" b="0" baseline="30000" dirty="0"/>
              <a:t>rd</a:t>
            </a:r>
            <a:r>
              <a:rPr lang="en-US" altLang="fr-FR" b="0" dirty="0"/>
              <a:t> position = </a:t>
            </a:r>
            <a:r>
              <a:rPr lang="en-US" altLang="fr-FR" b="0" dirty="0" err="1"/>
              <a:t>tmp</a:t>
            </a:r>
            <a:r>
              <a:rPr lang="en-US" altLang="fr-FR" b="0" dirty="0"/>
              <a:t>,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After third pass: 8   34   51  64  32   21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                            (first 4 elements are sorted)</a:t>
            </a:r>
          </a:p>
        </p:txBody>
      </p:sp>
      <p:sp>
        <p:nvSpPr>
          <p:cNvPr id="9221" name="Text Box 2057"/>
          <p:cNvSpPr txBox="1">
            <a:spLocks noChangeArrowheads="1"/>
          </p:cNvSpPr>
          <p:nvPr/>
        </p:nvSpPr>
        <p:spPr bwMode="auto">
          <a:xfrm>
            <a:off x="762000" y="3765550"/>
            <a:ext cx="7467600" cy="21590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P = 4; </a:t>
            </a:r>
            <a:r>
              <a:rPr lang="en-US" altLang="fr-FR" b="0" dirty="0" err="1"/>
              <a:t>tmp</a:t>
            </a:r>
            <a:r>
              <a:rPr lang="en-US" altLang="fr-FR" b="0" dirty="0"/>
              <a:t> = 32,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32 &lt; 64, so 8   34   51  64  32   21,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32  &lt; 51, so 8   34   51  32  64   21,  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next 32 &lt; 34,  so 8   34     32, 51  64   21,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next 32 &gt; 8, so stop at 2nd position and set 2</a:t>
            </a:r>
            <a:r>
              <a:rPr lang="en-US" altLang="fr-FR" b="0" baseline="30000" dirty="0"/>
              <a:t>nd</a:t>
            </a:r>
            <a:r>
              <a:rPr lang="en-US" altLang="fr-FR" b="0" dirty="0"/>
              <a:t> position = 32,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After fourth pass: 8   32   34   51    64   21</a:t>
            </a:r>
          </a:p>
        </p:txBody>
      </p:sp>
      <p:sp>
        <p:nvSpPr>
          <p:cNvPr id="9222" name="Text Box 2058"/>
          <p:cNvSpPr txBox="1">
            <a:spLocks noChangeArrowheads="1"/>
          </p:cNvSpPr>
          <p:nvPr/>
        </p:nvSpPr>
        <p:spPr bwMode="auto">
          <a:xfrm>
            <a:off x="762000" y="6096000"/>
            <a:ext cx="7467600" cy="698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P = 5; </a:t>
            </a:r>
            <a:r>
              <a:rPr lang="en-US" altLang="fr-FR" b="0" dirty="0" err="1"/>
              <a:t>tmp</a:t>
            </a:r>
            <a:r>
              <a:rPr lang="en-US" altLang="fr-FR" b="0" dirty="0"/>
              <a:t> = 21,  . . .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fr-FR" b="0" dirty="0"/>
              <a:t>After fifth pass:  8   21  32  34   51    64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BB478843-0144-C24E-8BD5-7F7FA1A8A7D9}" type="slidenum">
              <a:rPr lang="zh-TW" altLang="en-US" sz="1200">
                <a:solidFill>
                  <a:srgbClr val="898989"/>
                </a:solidFill>
              </a:rPr>
              <a:pPr/>
              <a:t>7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  <a:ea typeface="PMingLiU" charset="-120"/>
              </a:rPr>
              <a:t>Insertion Sort</a:t>
            </a:r>
          </a:p>
        </p:txBody>
      </p:sp>
      <p:pic>
        <p:nvPicPr>
          <p:cNvPr id="6147" name="Picture 4" descr="7"/>
          <p:cNvPicPr>
            <a:picLocks noChangeAspect="1" noChangeArrowheads="1"/>
          </p:cNvPicPr>
          <p:nvPr/>
        </p:nvPicPr>
        <p:blipFill>
          <a:blip r:embed="rId2">
            <a:lum bright="-2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4" b="13333"/>
          <a:stretch>
            <a:fillRect/>
          </a:stretch>
        </p:blipFill>
        <p:spPr bwMode="auto">
          <a:xfrm>
            <a:off x="533400" y="2286000"/>
            <a:ext cx="8167688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Line 5"/>
          <p:cNvSpPr>
            <a:spLocks noChangeShapeType="1"/>
          </p:cNvSpPr>
          <p:nvPr/>
        </p:nvSpPr>
        <p:spPr bwMode="auto">
          <a:xfrm>
            <a:off x="3886200" y="2971800"/>
            <a:ext cx="0" cy="2286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49" name="Line 6"/>
          <p:cNvSpPr>
            <a:spLocks noChangeShapeType="1"/>
          </p:cNvSpPr>
          <p:nvPr/>
        </p:nvSpPr>
        <p:spPr bwMode="auto">
          <a:xfrm>
            <a:off x="4572000" y="3276600"/>
            <a:ext cx="0" cy="2286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50" name="Line 7"/>
          <p:cNvSpPr>
            <a:spLocks noChangeShapeType="1"/>
          </p:cNvSpPr>
          <p:nvPr/>
        </p:nvSpPr>
        <p:spPr bwMode="auto">
          <a:xfrm>
            <a:off x="5181600" y="3505200"/>
            <a:ext cx="0" cy="2286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51" name="Line 8"/>
          <p:cNvSpPr>
            <a:spLocks noChangeShapeType="1"/>
          </p:cNvSpPr>
          <p:nvPr/>
        </p:nvSpPr>
        <p:spPr bwMode="auto">
          <a:xfrm>
            <a:off x="5867400" y="3810000"/>
            <a:ext cx="0" cy="2286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52" name="Line 9"/>
          <p:cNvSpPr>
            <a:spLocks noChangeShapeType="1"/>
          </p:cNvSpPr>
          <p:nvPr/>
        </p:nvSpPr>
        <p:spPr bwMode="auto">
          <a:xfrm>
            <a:off x="6400800" y="4038600"/>
            <a:ext cx="0" cy="2286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A92B453B-C095-2849-B4F0-B3F51A3041FF}" type="slidenum">
              <a:rPr lang="zh-TW" altLang="en-US" sz="1200">
                <a:solidFill>
                  <a:srgbClr val="898989"/>
                </a:solidFill>
              </a:rPr>
              <a:pPr/>
              <a:t>8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  <a:ea typeface="PMingLiU" charset="-120"/>
              </a:rPr>
              <a:t>Analysis: worst-case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787" name="Rectangle 2051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33400" y="3475038"/>
                <a:ext cx="8229600" cy="4525962"/>
              </a:xfrm>
            </p:spPr>
            <p:txBody>
              <a:bodyPr/>
              <a:lstStyle/>
              <a:p>
                <a:r>
                  <a:rPr lang="en-US" altLang="fr-FR" b="1" dirty="0">
                    <a:solidFill>
                      <a:srgbClr val="FF0000"/>
                    </a:solidFill>
                    <a:ea typeface="PMingLiU" charset="-120"/>
                  </a:rPr>
                  <a:t>Consider input is a reverse sorted list</a:t>
                </a:r>
              </a:p>
              <a:p>
                <a:pPr lvl="1"/>
                <a:r>
                  <a:rPr lang="en-US" altLang="fr-FR" dirty="0">
                    <a:ea typeface="PMingLiU" charset="-120"/>
                  </a:rPr>
                  <a:t>When a[p] is inserted into the sorted a[0..p-1], we need to compare a[p] with all elements in a[0..p-1] and move each element one position to the right </a:t>
                </a:r>
              </a:p>
              <a:p>
                <a:pPr lvl="1"/>
                <a:r>
                  <a:rPr lang="en-US" altLang="fr-FR" dirty="0">
                    <a:ea typeface="PMingLiU" charset="-120"/>
                  </a:rPr>
                  <a:t>the total number of steps is </a:t>
                </a:r>
                <a:r>
                  <a:rPr lang="en-US" altLang="fr-FR" dirty="0">
                    <a:ea typeface="PMingLiU" charset="-120"/>
                    <a:sym typeface="Symbol" charset="2"/>
                  </a:rPr>
                  <a:t>O(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is-IS" altLang="fr-FR" i="1" smtClean="0">
                            <a:latin typeface="Cambria Math" panose="02040503050406030204" pitchFamily="18" charset="0"/>
                            <a:ea typeface="PMingLiU" charset="-120"/>
                            <a:sym typeface="Symbol" charset="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altLang="fr-FR" b="0" i="1" smtClean="0">
                            <a:latin typeface="Cambria Math" charset="0"/>
                            <a:ea typeface="PMingLiU" charset="-120"/>
                            <a:sym typeface="Symbol" charset="2"/>
                          </a:rPr>
                          <m:t>𝑖</m:t>
                        </m:r>
                        <m:r>
                          <a:rPr lang="fr-CA" altLang="fr-FR" b="0" i="1" smtClean="0">
                            <a:latin typeface="Cambria Math" charset="0"/>
                            <a:ea typeface="PMingLiU" charset="-120"/>
                            <a:sym typeface="Symbol" charset="2"/>
                          </a:rPr>
                          <m:t>=</m:t>
                        </m:r>
                        <m:r>
                          <a:rPr lang="fr-CA" altLang="fr-FR" b="0" i="1" smtClean="0">
                            <a:latin typeface="Cambria Math" charset="0"/>
                            <a:ea typeface="PMingLiU" charset="-120"/>
                            <a:sym typeface="Symbol" charset="2"/>
                          </a:rPr>
                          <m:t>1</m:t>
                        </m:r>
                      </m:sub>
                      <m:sup>
                        <m:r>
                          <a:rPr lang="fr-CA" altLang="fr-FR" b="0" i="1" smtClean="0">
                            <a:latin typeface="Cambria Math" charset="0"/>
                            <a:ea typeface="PMingLiU" charset="-120"/>
                            <a:sym typeface="Symbol" charset="2"/>
                          </a:rPr>
                          <m:t>𝑁</m:t>
                        </m:r>
                        <m:r>
                          <a:rPr lang="fr-CA" altLang="fr-FR" b="0" i="1" smtClean="0">
                            <a:latin typeface="Cambria Math" charset="0"/>
                            <a:ea typeface="PMingLiU" charset="-120"/>
                            <a:sym typeface="Symbol" charset="2"/>
                          </a:rPr>
                          <m:t>−</m:t>
                        </m:r>
                        <m:r>
                          <a:rPr lang="fr-CA" altLang="fr-FR" b="0" i="1" smtClean="0">
                            <a:latin typeface="Cambria Math" charset="0"/>
                            <a:ea typeface="PMingLiU" charset="-120"/>
                            <a:sym typeface="Symbol" charset="2"/>
                          </a:rPr>
                          <m:t>1</m:t>
                        </m:r>
                      </m:sup>
                      <m:e>
                        <m:r>
                          <a:rPr lang="fr-CA" altLang="fr-FR" b="0" i="1" smtClean="0">
                            <a:latin typeface="Cambria Math" charset="0"/>
                            <a:ea typeface="PMingLiU" charset="-120"/>
                            <a:sym typeface="Symbol" charset="2"/>
                          </a:rPr>
                          <m:t>𝑖</m:t>
                        </m:r>
                      </m:e>
                    </m:nary>
                  </m:oMath>
                </a14:m>
                <a:r>
                  <a:rPr lang="en-US" altLang="fr-FR" dirty="0">
                    <a:ea typeface="PMingLiU" charset="-120"/>
                  </a:rPr>
                  <a:t>) = </a:t>
                </a:r>
              </a:p>
              <a:p>
                <a:pPr marL="457200" lvl="1" indent="0">
                  <a:buNone/>
                </a:pPr>
                <a:r>
                  <a:rPr lang="en-US" altLang="fr-FR" dirty="0">
                    <a:ea typeface="PMingLiU" charset="-120"/>
                    <a:sym typeface="Symbol" charset="2"/>
                  </a:rPr>
                  <a:t>                                                        O(</a:t>
                </a:r>
                <a:r>
                  <a:rPr lang="en-US" altLang="fr-FR" dirty="0">
                    <a:ea typeface="PMingLiU" charset="-120"/>
                  </a:rPr>
                  <a:t>N(N-1)/2) = </a:t>
                </a:r>
                <a:r>
                  <a:rPr lang="en-US" altLang="fr-FR" dirty="0">
                    <a:ea typeface="PMingLiU" charset="-120"/>
                    <a:sym typeface="Symbol" charset="2"/>
                  </a:rPr>
                  <a:t>O</a:t>
                </a:r>
                <a:r>
                  <a:rPr lang="en-US" altLang="fr-FR" dirty="0">
                    <a:ea typeface="PMingLiU" charset="-120"/>
                  </a:rPr>
                  <a:t>(N</a:t>
                </a:r>
                <a:r>
                  <a:rPr lang="en-US" altLang="fr-FR" baseline="30000" dirty="0">
                    <a:ea typeface="PMingLiU" charset="-120"/>
                  </a:rPr>
                  <a:t>2</a:t>
                </a:r>
                <a:r>
                  <a:rPr lang="en-US" altLang="fr-FR" dirty="0">
                    <a:ea typeface="PMingLiU" charset="-120"/>
                  </a:rPr>
                  <a:t>)</a:t>
                </a:r>
              </a:p>
              <a:p>
                <a:pPr lvl="1">
                  <a:buFont typeface="Monotype Sorts" charset="2"/>
                  <a:buNone/>
                </a:pPr>
                <a:endParaRPr lang="en-US" altLang="fr-FR" dirty="0">
                  <a:ea typeface="PMingLiU" charset="-120"/>
                </a:endParaRPr>
              </a:p>
            </p:txBody>
          </p:sp>
        </mc:Choice>
        <mc:Fallback xmlns="">
          <p:sp>
            <p:nvSpPr>
              <p:cNvPr id="246787" name="Rectangle 205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33400" y="3475038"/>
                <a:ext cx="8229600" cy="4525962"/>
              </a:xfrm>
              <a:blipFill>
                <a:blip r:embed="rId2"/>
                <a:stretch>
                  <a:fillRect l="-1704" t="-1750" r="-148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4" name="Picture 2052" descr="7"/>
          <p:cNvPicPr>
            <a:picLocks noChangeAspect="1" noChangeArrowheads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7" t="41629" r="5882" b="19910"/>
          <a:stretch>
            <a:fillRect/>
          </a:stretch>
        </p:blipFill>
        <p:spPr bwMode="auto">
          <a:xfrm>
            <a:off x="1349375" y="1101725"/>
            <a:ext cx="6651625" cy="217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13FA45FB-FD92-F04D-8017-B6ADE9FC58B5}" type="slidenum">
              <a:rPr lang="zh-TW" altLang="en-US" sz="1200">
                <a:solidFill>
                  <a:srgbClr val="898989"/>
                </a:solidFill>
              </a:rPr>
              <a:pPr/>
              <a:t>9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/>
              <a:t>Analysis: best case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2352" y="1624012"/>
            <a:ext cx="8579296" cy="4525963"/>
          </a:xfrm>
        </p:spPr>
        <p:txBody>
          <a:bodyPr/>
          <a:lstStyle/>
          <a:p>
            <a:r>
              <a:rPr lang="en-US" altLang="fr-FR" b="1" dirty="0">
                <a:solidFill>
                  <a:srgbClr val="FF0000"/>
                </a:solidFill>
              </a:rPr>
              <a:t>Consider input is already sorted in increasing order</a:t>
            </a:r>
          </a:p>
          <a:p>
            <a:pPr lvl="1"/>
            <a:r>
              <a:rPr lang="en-US" altLang="fr-FR" dirty="0"/>
              <a:t>When inserting A[p] into the sorted A[0..p-1], only need to compare A[p] with A[p-1] and there is no data movement</a:t>
            </a:r>
          </a:p>
          <a:p>
            <a:pPr lvl="1"/>
            <a:r>
              <a:rPr lang="en-US" altLang="fr-FR" dirty="0"/>
              <a:t>For each iteration of the outer for-loop, the inner for-loop terminates after checking the loop condition once =&gt; O(N) time</a:t>
            </a:r>
          </a:p>
          <a:p>
            <a:r>
              <a:rPr lang="en-US" altLang="fr-FR" dirty="0"/>
              <a:t>If input is </a:t>
            </a:r>
            <a:r>
              <a:rPr lang="en-US" altLang="fr-FR" i="1" dirty="0">
                <a:solidFill>
                  <a:srgbClr val="FF0000"/>
                </a:solidFill>
              </a:rPr>
              <a:t>nearly sorted</a:t>
            </a:r>
            <a:r>
              <a:rPr lang="en-US" altLang="fr-FR" dirty="0"/>
              <a:t>, insertion sort runs fast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A962A158-E080-C545-9E0C-E6FCF8247F70}" type="slidenum">
              <a:rPr lang="zh-TW" altLang="en-US" sz="1200">
                <a:solidFill>
                  <a:srgbClr val="898989"/>
                </a:solidFill>
              </a:rPr>
              <a:pPr/>
              <a:t>10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fr-FR" altLang="fr-FR" sz="4000" b="1"/>
              <a:t>2. Merge </a:t>
            </a:r>
            <a:r>
              <a:rPr lang="en-US" altLang="fr-FR" sz="4000" b="1"/>
              <a:t>sort</a:t>
            </a:r>
          </a:p>
        </p:txBody>
      </p:sp>
      <p:sp>
        <p:nvSpPr>
          <p:cNvPr id="12291" name="Rectangle 1"/>
          <p:cNvSpPr>
            <a:spLocks noChangeArrowheads="1"/>
          </p:cNvSpPr>
          <p:nvPr/>
        </p:nvSpPr>
        <p:spPr bwMode="auto">
          <a:xfrm>
            <a:off x="609600" y="4343400"/>
            <a:ext cx="5068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altLang="fr-FR">
                <a:solidFill>
                  <a:srgbClr val="FF0000"/>
                </a:solidFill>
              </a:rPr>
              <a:t>Reading: Text Book (Weiss) Weiss 7.6 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  <a:endParaRPr lang="en-US" altLang="zh-TW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1438B02D-95EC-1142-A52E-5A9E81141C57}" type="slidenum">
              <a:rPr lang="zh-TW" altLang="en-US" sz="1200">
                <a:solidFill>
                  <a:srgbClr val="898989"/>
                </a:solidFill>
              </a:rPr>
              <a:pPr/>
              <a:t>11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Mergesort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2"/>
              <a:buNone/>
            </a:pPr>
            <a:r>
              <a:rPr lang="en-US" altLang="fr-FR" sz="2400" dirty="0">
                <a:solidFill>
                  <a:srgbClr val="FF0000"/>
                </a:solidFill>
              </a:rPr>
              <a:t>Based on divide-and-conquer strategy</a:t>
            </a:r>
          </a:p>
          <a:p>
            <a:pPr>
              <a:buFont typeface="Monotype Sorts" charset="2"/>
              <a:buNone/>
            </a:pPr>
            <a:endParaRPr lang="en-US" altLang="fr-FR" sz="2400" dirty="0"/>
          </a:p>
          <a:p>
            <a:r>
              <a:rPr lang="en-US" altLang="fr-FR" sz="2400" dirty="0"/>
              <a:t>Divide the list into two smaller lists of about equal sizes</a:t>
            </a:r>
          </a:p>
          <a:p>
            <a:r>
              <a:rPr lang="en-US" altLang="fr-FR" sz="2400" dirty="0"/>
              <a:t>Sort each smaller list </a:t>
            </a:r>
            <a:r>
              <a:rPr lang="en-US" altLang="fr-FR" sz="2400" i="1" dirty="0">
                <a:solidFill>
                  <a:srgbClr val="FF0000"/>
                </a:solidFill>
              </a:rPr>
              <a:t>recursively</a:t>
            </a:r>
          </a:p>
          <a:p>
            <a:r>
              <a:rPr lang="en-US" altLang="fr-FR" sz="2400" dirty="0"/>
              <a:t>Merge the two sorted lists to get one sorted list </a:t>
            </a:r>
          </a:p>
          <a:p>
            <a:endParaRPr lang="en-US" altLang="fr-FR" sz="2400" dirty="0"/>
          </a:p>
          <a:p>
            <a:endParaRPr lang="en-US" altLang="fr-FR" sz="2400" dirty="0"/>
          </a:p>
          <a:p>
            <a:pPr>
              <a:buFont typeface="Monotype Sorts" charset="2"/>
              <a:buNone/>
            </a:pPr>
            <a:r>
              <a:rPr lang="en-US" altLang="fr-FR" sz="2400" dirty="0">
                <a:solidFill>
                  <a:schemeClr val="hlink"/>
                </a:solidFill>
              </a:rPr>
              <a:t>How do we divide the list? How much time needed?</a:t>
            </a:r>
          </a:p>
          <a:p>
            <a:pPr>
              <a:buFont typeface="Monotype Sorts" charset="2"/>
              <a:buNone/>
            </a:pPr>
            <a:r>
              <a:rPr lang="en-US" altLang="fr-FR" sz="2400" dirty="0">
                <a:solidFill>
                  <a:schemeClr val="hlink"/>
                </a:solidFill>
              </a:rPr>
              <a:t>How do we merge the two sorted lists? How much time needed?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AE312E30-71B9-DB4C-8A5D-5491D9EA03BC}" type="slidenum">
              <a:rPr lang="zh-TW" altLang="en-US" sz="1200">
                <a:solidFill>
                  <a:srgbClr val="898989"/>
                </a:solidFill>
              </a:rPr>
              <a:pPr/>
              <a:t>12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1676400" y="304800"/>
          <a:ext cx="5846763" cy="594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600000" imgH="4676190" progId="Paint.Picture">
                  <p:embed/>
                </p:oleObj>
              </mc:Choice>
              <mc:Fallback>
                <p:oleObj name="Bitmap Image" r:id="rId2" imgW="4600000" imgH="4676190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04800"/>
                        <a:ext cx="5846763" cy="594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52112EEF-4AB7-FD44-B25B-088FE3F25ED6}" type="slidenum">
              <a:rPr lang="zh-TW" altLang="en-US" sz="1200">
                <a:solidFill>
                  <a:srgbClr val="898989"/>
                </a:solidFill>
              </a:rPr>
              <a:pPr/>
              <a:t>13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Dividing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0883" name="Rectangle 1027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371600"/>
                <a:ext cx="8686800" cy="4525963"/>
              </a:xfrm>
            </p:spPr>
            <p:txBody>
              <a:bodyPr/>
              <a:lstStyle/>
              <a:p>
                <a:pPr>
                  <a:defRPr/>
                </a:pPr>
                <a:r>
                  <a:rPr lang="en-US" dirty="0"/>
                  <a:t>If the input list is a linked list, dividing takes </a:t>
                </a:r>
                <a:r>
                  <a:rPr lang="en-US" dirty="0">
                    <a:solidFill>
                      <a:srgbClr val="FF0000"/>
                    </a:solidFill>
                    <a:ea typeface="PMingLiU" pitchFamily="18" charset="-120"/>
                    <a:sym typeface="Symbol" pitchFamily="18" charset="2"/>
                  </a:rPr>
                  <a:t>O</a:t>
                </a:r>
                <a:r>
                  <a:rPr lang="en-US" dirty="0">
                    <a:solidFill>
                      <a:srgbClr val="FF0000"/>
                    </a:solidFill>
                  </a:rPr>
                  <a:t>(N)</a:t>
                </a:r>
                <a:r>
                  <a:rPr lang="en-US" dirty="0"/>
                  <a:t> time</a:t>
                </a:r>
              </a:p>
              <a:p>
                <a:pPr lvl="1">
                  <a:defRPr/>
                </a:pPr>
                <a:r>
                  <a:rPr lang="en-US" dirty="0"/>
                  <a:t>We scan the linked list, stop at the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𝑵</m:t>
                        </m:r>
                        <m:r>
                          <a:rPr lang="fr-CA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/</m:t>
                        </m:r>
                        <m:r>
                          <a:rPr lang="fr-CA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𝟐</m:t>
                        </m:r>
                      </m:e>
                    </m:d>
                    <m:r>
                      <a:rPr lang="fr-CA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𝒕𝒉</m:t>
                    </m:r>
                  </m:oMath>
                </a14:m>
                <a:r>
                  <a:rPr lang="en-US" dirty="0"/>
                  <a:t> entry and cut the link</a:t>
                </a:r>
              </a:p>
              <a:p>
                <a:pPr>
                  <a:defRPr/>
                </a:pPr>
                <a:r>
                  <a:rPr lang="en-US" dirty="0"/>
                  <a:t>If the input list is an array A[0..N-1]: dividing takes </a:t>
                </a:r>
                <a:r>
                  <a:rPr lang="en-US" dirty="0">
                    <a:solidFill>
                      <a:srgbClr val="FF0000"/>
                    </a:solidFill>
                  </a:rPr>
                  <a:t>O(1) </a:t>
                </a:r>
                <a:r>
                  <a:rPr lang="en-US" dirty="0"/>
                  <a:t>time</a:t>
                </a:r>
              </a:p>
              <a:p>
                <a:pPr lvl="1">
                  <a:defRPr/>
                </a:pPr>
                <a:r>
                  <a:rPr lang="en-US" dirty="0"/>
                  <a:t> we can represent a </a:t>
                </a:r>
                <a:r>
                  <a:rPr lang="en-US" dirty="0" err="1"/>
                  <a:t>sublist</a:t>
                </a:r>
                <a:r>
                  <a:rPr lang="en-US" dirty="0"/>
                  <a:t> by two integers </a:t>
                </a:r>
                <a:r>
                  <a:rPr lang="en-US" dirty="0">
                    <a:latin typeface="Courier New" pitchFamily="49" charset="0"/>
                  </a:rPr>
                  <a:t>left </a:t>
                </a:r>
                <a:r>
                  <a:rPr lang="en-US" dirty="0"/>
                  <a:t>and </a:t>
                </a:r>
                <a:r>
                  <a:rPr lang="en-US" dirty="0">
                    <a:latin typeface="Courier New" pitchFamily="49" charset="0"/>
                  </a:rPr>
                  <a:t>right</a:t>
                </a:r>
                <a:r>
                  <a:rPr lang="en-US" dirty="0"/>
                  <a:t>: to divide </a:t>
                </a:r>
                <a:r>
                  <a:rPr lang="en-US" dirty="0">
                    <a:latin typeface="Courier New" pitchFamily="49" charset="0"/>
                  </a:rPr>
                  <a:t>A[</a:t>
                </a:r>
                <a:r>
                  <a:rPr lang="en-US" dirty="0" err="1">
                    <a:latin typeface="Courier New" pitchFamily="49" charset="0"/>
                  </a:rPr>
                  <a:t>left..Right</a:t>
                </a:r>
                <a:r>
                  <a:rPr lang="en-US" dirty="0">
                    <a:latin typeface="Courier New" pitchFamily="49" charset="0"/>
                  </a:rPr>
                  <a:t>],</a:t>
                </a:r>
                <a:r>
                  <a:rPr lang="en-US" dirty="0"/>
                  <a:t> we compute </a:t>
                </a:r>
                <a:r>
                  <a:rPr lang="en-US" dirty="0">
                    <a:latin typeface="Courier New" pitchFamily="49" charset="0"/>
                  </a:rPr>
                  <a:t>center=(</a:t>
                </a:r>
                <a:r>
                  <a:rPr lang="en-US" dirty="0" err="1">
                    <a:latin typeface="Courier New" pitchFamily="49" charset="0"/>
                  </a:rPr>
                  <a:t>left+right</a:t>
                </a:r>
                <a:r>
                  <a:rPr lang="en-US" dirty="0">
                    <a:latin typeface="Courier New" pitchFamily="49" charset="0"/>
                  </a:rPr>
                  <a:t>)/2</a:t>
                </a:r>
                <a:r>
                  <a:rPr lang="en-US" dirty="0"/>
                  <a:t> and obtain </a:t>
                </a:r>
                <a:r>
                  <a:rPr lang="en-US" dirty="0">
                    <a:latin typeface="Courier New" pitchFamily="49" charset="0"/>
                  </a:rPr>
                  <a:t>A[</a:t>
                </a:r>
                <a:r>
                  <a:rPr lang="en-US" dirty="0" err="1">
                    <a:latin typeface="Courier New" pitchFamily="49" charset="0"/>
                  </a:rPr>
                  <a:t>left..center</a:t>
                </a:r>
                <a:r>
                  <a:rPr lang="en-US" dirty="0">
                    <a:latin typeface="Courier New" pitchFamily="49" charset="0"/>
                  </a:rPr>
                  <a:t>]</a:t>
                </a:r>
                <a:r>
                  <a:rPr lang="en-US" dirty="0"/>
                  <a:t> and </a:t>
                </a:r>
                <a:r>
                  <a:rPr lang="en-US" dirty="0">
                    <a:latin typeface="Courier New" pitchFamily="49" charset="0"/>
                  </a:rPr>
                  <a:t>A[center+1..Right]</a:t>
                </a:r>
              </a:p>
              <a:p>
                <a:pPr marL="0" indent="0">
                  <a:buFont typeface="Arial" charset="0"/>
                  <a:buNone/>
                  <a:defRPr/>
                </a:pPr>
                <a:endParaRPr lang="en-US" dirty="0"/>
              </a:p>
            </p:txBody>
          </p:sp>
        </mc:Choice>
        <mc:Fallback xmlns="">
          <p:sp>
            <p:nvSpPr>
              <p:cNvPr id="250883" name="Rectangle 102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71600"/>
                <a:ext cx="8686800" cy="4525963"/>
              </a:xfrm>
              <a:blipFill rotWithShape="0">
                <a:blip r:embed="rId2"/>
                <a:stretch>
                  <a:fillRect l="-1614" t="-1752" r="-1123" b="-11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9A71CF49-DBED-EF4B-8031-F69B8DF3FBFC}" type="slidenum">
              <a:rPr lang="zh-TW" altLang="en-US" sz="1200">
                <a:solidFill>
                  <a:srgbClr val="898989"/>
                </a:solidFill>
              </a:rPr>
              <a:pPr/>
              <a:t>14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Mergesort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fr-FR">
                <a:solidFill>
                  <a:srgbClr val="FF0000"/>
                </a:solidFill>
              </a:rPr>
              <a:t>Divide-and-conquer strategy</a:t>
            </a:r>
          </a:p>
          <a:p>
            <a:pPr lvl="1"/>
            <a:r>
              <a:rPr lang="en-US" altLang="fr-FR"/>
              <a:t>recursively mergesort the first half and the second half</a:t>
            </a:r>
          </a:p>
          <a:p>
            <a:pPr lvl="1"/>
            <a:r>
              <a:rPr lang="en-US" altLang="fr-FR"/>
              <a:t>merge the two sorted halves together</a:t>
            </a:r>
          </a:p>
          <a:p>
            <a:endParaRPr lang="en-US" altLang="fr-FR"/>
          </a:p>
          <a:p>
            <a:endParaRPr lang="en-US" altLang="fr-FR"/>
          </a:p>
          <a:p>
            <a:endParaRPr lang="en-US" altLang="fr-FR"/>
          </a:p>
          <a:p>
            <a:endParaRPr lang="en-US" altLang="fr-FR"/>
          </a:p>
        </p:txBody>
      </p:sp>
      <p:graphicFrame>
        <p:nvGraphicFramePr>
          <p:cNvPr id="15364" name="Object 5"/>
          <p:cNvGraphicFramePr>
            <a:graphicFrameLocks noChangeAspect="1"/>
          </p:cNvGraphicFramePr>
          <p:nvPr/>
        </p:nvGraphicFramePr>
        <p:xfrm>
          <a:off x="1066800" y="3733800"/>
          <a:ext cx="6134100" cy="272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133333" imgH="2723810" progId="Paint.Picture">
                  <p:embed/>
                </p:oleObj>
              </mc:Choice>
              <mc:Fallback>
                <p:oleObj name="Bitmap Image" r:id="rId2" imgW="6133333" imgH="2723810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733800"/>
                        <a:ext cx="6134100" cy="272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692022C8-7B0F-1049-9DF8-2D5102CF076D}" type="slidenum">
              <a:rPr lang="zh-TW" altLang="en-US" sz="1200">
                <a:solidFill>
                  <a:srgbClr val="898989"/>
                </a:solidFill>
              </a:rPr>
              <a:pPr/>
              <a:t>15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How to merge?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fr-FR" sz="2400"/>
              <a:t>Input: two sorted array A and B</a:t>
            </a:r>
          </a:p>
          <a:p>
            <a:r>
              <a:rPr lang="en-US" altLang="fr-FR" sz="2400"/>
              <a:t>Output: an output sorted array C</a:t>
            </a:r>
          </a:p>
          <a:p>
            <a:r>
              <a:rPr lang="en-US" altLang="fr-FR" sz="2400"/>
              <a:t>Three counters: Actr, Bctr, and Cctr</a:t>
            </a:r>
          </a:p>
          <a:p>
            <a:pPr lvl="1"/>
            <a:r>
              <a:rPr lang="en-US" altLang="fr-FR" sz="2000"/>
              <a:t>initially set to the beginning of their respective arrays</a:t>
            </a:r>
          </a:p>
          <a:p>
            <a:endParaRPr lang="en-US" altLang="fr-FR" sz="2400"/>
          </a:p>
          <a:p>
            <a:endParaRPr lang="en-US" altLang="fr-FR" sz="2400"/>
          </a:p>
          <a:p>
            <a:endParaRPr lang="en-US" altLang="fr-FR" sz="2400"/>
          </a:p>
          <a:p>
            <a:endParaRPr lang="en-US" altLang="fr-FR" sz="2400"/>
          </a:p>
          <a:p>
            <a:pPr>
              <a:buFont typeface="Monotype Sorts" charset="2"/>
              <a:buNone/>
            </a:pPr>
            <a:r>
              <a:rPr lang="en-US" altLang="fr-FR" sz="2000"/>
              <a:t>(1)   The smaller of A[Actr] and B[Bctr] is copied to the next entry in C, and the appropriate counters are advanced</a:t>
            </a:r>
          </a:p>
          <a:p>
            <a:pPr>
              <a:buFont typeface="Monotype Sorts" charset="2"/>
              <a:buNone/>
            </a:pPr>
            <a:r>
              <a:rPr lang="en-US" altLang="fr-FR" sz="2000"/>
              <a:t>(2)   When either input list is exhausted, the remainder of the other list is copied to C</a:t>
            </a:r>
          </a:p>
        </p:txBody>
      </p:sp>
      <p:pic>
        <p:nvPicPr>
          <p:cNvPr id="17412" name="Picture 4" descr="P264"/>
          <p:cNvPicPr>
            <a:picLocks noChangeAspect="1" noChangeArrowheads="1"/>
          </p:cNvPicPr>
          <p:nvPr/>
        </p:nvPicPr>
        <p:blipFill>
          <a:blip r:embed="rId2">
            <a:lum bright="-20000" contras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" t="4918" r="3008" b="75410"/>
          <a:stretch>
            <a:fillRect/>
          </a:stretch>
        </p:blipFill>
        <p:spPr bwMode="auto">
          <a:xfrm>
            <a:off x="533400" y="3733800"/>
            <a:ext cx="792480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2C70383-54B1-9F4B-8F2F-64AF71869669}" type="slidenum">
              <a:rPr lang="zh-TW" altLang="en-US" sz="1200">
                <a:solidFill>
                  <a:srgbClr val="898989"/>
                </a:solidFill>
              </a:rPr>
              <a:pPr/>
              <a:t>16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Example: Merge</a:t>
            </a:r>
          </a:p>
        </p:txBody>
      </p:sp>
      <p:pic>
        <p:nvPicPr>
          <p:cNvPr id="18435" name="Picture 3" descr="P264"/>
          <p:cNvPicPr>
            <a:picLocks noChangeAspect="1" noChangeArrowheads="1"/>
          </p:cNvPicPr>
          <p:nvPr/>
        </p:nvPicPr>
        <p:blipFill>
          <a:blip r:embed="rId2">
            <a:lum bright="-20000" contras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622" r="3510" b="36066"/>
          <a:stretch>
            <a:fillRect/>
          </a:stretch>
        </p:blipFill>
        <p:spPr bwMode="auto">
          <a:xfrm>
            <a:off x="762000" y="1524000"/>
            <a:ext cx="6899275" cy="93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3668" name="Picture 4" descr="P264"/>
          <p:cNvPicPr>
            <a:picLocks noChangeAspect="1" noChangeArrowheads="1"/>
          </p:cNvPicPr>
          <p:nvPr/>
        </p:nvPicPr>
        <p:blipFill>
          <a:blip r:embed="rId2">
            <a:lum bright="-2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31" r="3008" b="8197"/>
          <a:stretch>
            <a:fillRect/>
          </a:stretch>
        </p:blipFill>
        <p:spPr bwMode="auto">
          <a:xfrm>
            <a:off x="762000" y="2514600"/>
            <a:ext cx="69342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3669" name="Picture 5" descr="P265"/>
          <p:cNvPicPr>
            <a:picLocks noChangeAspect="1" noChangeArrowheads="1"/>
          </p:cNvPicPr>
          <p:nvPr/>
        </p:nvPicPr>
        <p:blipFill>
          <a:blip r:embed="rId3">
            <a:lum bright="-2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0" t="12869" r="4474" b="42896"/>
          <a:stretch>
            <a:fillRect/>
          </a:stretch>
        </p:blipFill>
        <p:spPr bwMode="auto">
          <a:xfrm>
            <a:off x="762000" y="3581400"/>
            <a:ext cx="7391400" cy="296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0DD55FC4-C234-3B45-8D6F-71C591FC51E4}" type="slidenum">
              <a:rPr lang="zh-TW" altLang="en-US" sz="1200">
                <a:solidFill>
                  <a:srgbClr val="898989"/>
                </a:solidFill>
              </a:rPr>
              <a:pPr/>
              <a:t>17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Example: Merge...</a:t>
            </a:r>
          </a:p>
        </p:txBody>
      </p:sp>
      <p:pic>
        <p:nvPicPr>
          <p:cNvPr id="114691" name="Picture 3" descr="P265"/>
          <p:cNvPicPr>
            <a:picLocks noChangeAspect="1" noChangeArrowheads="1"/>
          </p:cNvPicPr>
          <p:nvPr/>
        </p:nvPicPr>
        <p:blipFill>
          <a:blip r:embed="rId2">
            <a:lum bright="-2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0" t="64343" b="23593"/>
          <a:stretch>
            <a:fillRect/>
          </a:stretch>
        </p:blipFill>
        <p:spPr bwMode="auto">
          <a:xfrm>
            <a:off x="381000" y="2438400"/>
            <a:ext cx="82105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4692" name="Picture 4" descr="P265"/>
          <p:cNvPicPr>
            <a:picLocks noChangeAspect="1" noChangeArrowheads="1"/>
          </p:cNvPicPr>
          <p:nvPr/>
        </p:nvPicPr>
        <p:blipFill>
          <a:blip r:embed="rId2">
            <a:lum bright="-2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0" t="84718" b="2145"/>
          <a:stretch>
            <a:fillRect/>
          </a:stretch>
        </p:blipFill>
        <p:spPr bwMode="auto">
          <a:xfrm>
            <a:off x="381000" y="3429000"/>
            <a:ext cx="821055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693" name="Text Box 5"/>
          <p:cNvSpPr txBox="1">
            <a:spLocks noChangeArrowheads="1"/>
          </p:cNvSpPr>
          <p:nvPr/>
        </p:nvSpPr>
        <p:spPr bwMode="auto">
          <a:xfrm>
            <a:off x="685800" y="4038600"/>
            <a:ext cx="7246938" cy="1582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 typeface="Monotype Sorts" charset="2"/>
              <a:buNone/>
            </a:pPr>
            <a:endParaRPr lang="en-US" altLang="fr-FR" b="0"/>
          </a:p>
          <a:p>
            <a:pPr>
              <a:buClr>
                <a:schemeClr val="folHlink"/>
              </a:buClr>
              <a:buFont typeface="Monotype Sorts" charset="2"/>
              <a:buChar char="*"/>
            </a:pPr>
            <a:r>
              <a:rPr lang="en-US" altLang="fr-FR" sz="2400" b="0"/>
              <a:t>Running time analysis: </a:t>
            </a:r>
          </a:p>
          <a:p>
            <a:pPr lvl="1">
              <a:buClr>
                <a:schemeClr val="folHlink"/>
              </a:buClr>
              <a:buSzPct val="80000"/>
              <a:buFont typeface="Monotype Sorts" charset="2"/>
              <a:buChar char="n"/>
            </a:pPr>
            <a:r>
              <a:rPr lang="en-US" altLang="fr-FR" b="0"/>
              <a:t> Clearly, </a:t>
            </a:r>
            <a:r>
              <a:rPr lang="en-US" altLang="fr-FR" b="0">
                <a:latin typeface="Courier New" charset="0"/>
              </a:rPr>
              <a:t>merge</a:t>
            </a:r>
            <a:r>
              <a:rPr lang="en-US" altLang="fr-FR" b="0"/>
              <a:t> takes O(m1 + m2) where m1 and m2 are</a:t>
            </a:r>
          </a:p>
          <a:p>
            <a:pPr>
              <a:buFont typeface="Monotype Sorts" charset="2"/>
              <a:buNone/>
            </a:pPr>
            <a:r>
              <a:rPr lang="en-US" altLang="fr-FR" b="0"/>
              <a:t>          the sizes of the two sublists.</a:t>
            </a:r>
            <a:endParaRPr lang="en-US" altLang="fr-FR" sz="2400" b="0"/>
          </a:p>
        </p:txBody>
      </p:sp>
      <p:pic>
        <p:nvPicPr>
          <p:cNvPr id="19462" name="Picture 9" descr="P26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2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0" t="43764" r="4474" b="42896"/>
          <a:stretch>
            <a:fillRect/>
          </a:stretch>
        </p:blipFill>
        <p:spPr>
          <a:xfrm>
            <a:off x="381000" y="1447800"/>
            <a:ext cx="7772400" cy="838200"/>
          </a:xfrm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31315634-8840-C34F-9A5D-2C5FE6C713A1}" type="slidenum">
              <a:rPr lang="zh-TW" altLang="en-US" sz="1200">
                <a:solidFill>
                  <a:srgbClr val="898989"/>
                </a:solidFill>
              </a:rPr>
              <a:pPr/>
              <a:t>18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762000" y="914400"/>
          <a:ext cx="7924800" cy="548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447619" imgH="4458322" progId="Paint.Picture">
                  <p:embed/>
                </p:oleObj>
              </mc:Choice>
              <mc:Fallback>
                <p:oleObj name="Bitmap Image" r:id="rId2" imgW="6447619" imgH="4458322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914400"/>
                        <a:ext cx="7924800" cy="548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06C20ADA-553E-304A-9CB1-408DDA5BB090}" type="slidenum">
              <a:rPr lang="zh-TW" altLang="en-US" sz="1200">
                <a:solidFill>
                  <a:srgbClr val="898989"/>
                </a:solidFill>
              </a:rPr>
              <a:pPr/>
              <a:t>19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Analysis of mergesort</a:t>
            </a:r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fr-FR" sz="2400" dirty="0"/>
              <a:t>    Let T(N) denote the worst-case running time of </a:t>
            </a:r>
            <a:r>
              <a:rPr lang="en-US" altLang="fr-FR" sz="2400" dirty="0" err="1"/>
              <a:t>mergesort</a:t>
            </a:r>
            <a:r>
              <a:rPr lang="en-US" altLang="fr-FR" sz="2400" dirty="0"/>
              <a:t> to sort N numbers. 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fr-FR" sz="2400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fr-FR" sz="2400" dirty="0">
                <a:solidFill>
                  <a:srgbClr val="FF0000"/>
                </a:solidFill>
                <a:ea typeface="PMingLiU" charset="-120"/>
              </a:rPr>
              <a:t>    Assume that N is a power of 2.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fr-FR" sz="2400" dirty="0"/>
          </a:p>
          <a:p>
            <a:pPr>
              <a:lnSpc>
                <a:spcPct val="90000"/>
              </a:lnSpc>
            </a:pPr>
            <a:r>
              <a:rPr lang="en-US" altLang="fr-FR" sz="2400" dirty="0"/>
              <a:t>Divide step: O(1) time</a:t>
            </a:r>
          </a:p>
          <a:p>
            <a:pPr>
              <a:lnSpc>
                <a:spcPct val="90000"/>
              </a:lnSpc>
            </a:pPr>
            <a:r>
              <a:rPr lang="en-US" altLang="fr-FR" sz="2400" dirty="0"/>
              <a:t>Conquer step: 2 T(N/2) time</a:t>
            </a:r>
          </a:p>
          <a:p>
            <a:pPr>
              <a:lnSpc>
                <a:spcPct val="90000"/>
              </a:lnSpc>
            </a:pPr>
            <a:r>
              <a:rPr lang="en-US" altLang="fr-FR" sz="2400" dirty="0"/>
              <a:t>Combine step: O(N) time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fr-FR" sz="2400" dirty="0"/>
              <a:t> 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fr-FR" sz="2400" dirty="0">
                <a:solidFill>
                  <a:srgbClr val="FF0000"/>
                </a:solidFill>
                <a:ea typeface="PMingLiU" charset="-120"/>
              </a:rPr>
              <a:t>   Recurrence equation: 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fr-FR" sz="2000" dirty="0">
                <a:ea typeface="PMingLiU" charset="-120"/>
              </a:rPr>
              <a:t>    T(1) = 1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fr-FR" sz="2000" dirty="0">
                <a:ea typeface="PMingLiU" charset="-120"/>
              </a:rPr>
              <a:t>    T(N) = 2T(N/2) + N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fr-FR" sz="2400" dirty="0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2DACBF90-FA15-B147-9FA1-E6EEB165CFEC}" type="slidenum">
              <a:rPr lang="zh-TW" altLang="en-US" sz="1200">
                <a:solidFill>
                  <a:srgbClr val="898989"/>
                </a:solidFill>
              </a:rPr>
              <a:pPr/>
              <a:t>20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  <a:ea typeface="PMingLiU" charset="-120"/>
              </a:rPr>
              <a:t>Analysis: solving recurrence</a:t>
            </a:r>
          </a:p>
        </p:txBody>
      </p:sp>
      <p:graphicFrame>
        <p:nvGraphicFramePr>
          <p:cNvPr id="22531" name="Object 10"/>
          <p:cNvGraphicFramePr>
            <a:graphicFrameLocks noChangeAspect="1"/>
          </p:cNvGraphicFramePr>
          <p:nvPr/>
        </p:nvGraphicFramePr>
        <p:xfrm>
          <a:off x="914400" y="1600200"/>
          <a:ext cx="3292475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2" imgW="1686051" imgH="2400249" progId="Equation.3">
                  <p:embed/>
                </p:oleObj>
              </mc:Choice>
              <mc:Fallback>
                <p:oleObj name="Équation" r:id="rId2" imgW="1686051" imgH="240024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600200"/>
                        <a:ext cx="3292475" cy="464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11"/>
          <p:cNvSpPr txBox="1">
            <a:spLocks noChangeArrowheads="1"/>
          </p:cNvSpPr>
          <p:nvPr/>
        </p:nvSpPr>
        <p:spPr bwMode="auto">
          <a:xfrm>
            <a:off x="5165725" y="1763713"/>
            <a:ext cx="3556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 typeface="Monotype Sorts" charset="2"/>
              <a:buNone/>
            </a:pPr>
            <a:r>
              <a:rPr lang="en-US" altLang="fr-FR" b="0">
                <a:solidFill>
                  <a:srgbClr val="FF0000"/>
                </a:solidFill>
              </a:rPr>
              <a:t>Since N=2</a:t>
            </a:r>
            <a:r>
              <a:rPr lang="en-US" altLang="fr-FR" b="0" baseline="30000">
                <a:solidFill>
                  <a:srgbClr val="FF0000"/>
                </a:solidFill>
              </a:rPr>
              <a:t>k</a:t>
            </a:r>
            <a:r>
              <a:rPr lang="en-US" altLang="fr-FR" b="0">
                <a:solidFill>
                  <a:srgbClr val="FF0000"/>
                </a:solidFill>
              </a:rPr>
              <a:t>, we have k=log</a:t>
            </a:r>
            <a:r>
              <a:rPr lang="en-US" altLang="fr-FR" b="0" baseline="-25000">
                <a:solidFill>
                  <a:srgbClr val="FF0000"/>
                </a:solidFill>
              </a:rPr>
              <a:t>2</a:t>
            </a:r>
            <a:r>
              <a:rPr lang="en-US" altLang="fr-FR" b="0">
                <a:solidFill>
                  <a:srgbClr val="FF0000"/>
                </a:solidFill>
              </a:rPr>
              <a:t> n</a:t>
            </a:r>
          </a:p>
        </p:txBody>
      </p:sp>
      <p:graphicFrame>
        <p:nvGraphicFramePr>
          <p:cNvPr id="22533" name="Object 12"/>
          <p:cNvGraphicFramePr>
            <a:graphicFrameLocks noChangeAspect="1"/>
          </p:cNvGraphicFramePr>
          <p:nvPr/>
        </p:nvGraphicFramePr>
        <p:xfrm>
          <a:off x="5486400" y="2743200"/>
          <a:ext cx="2614613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4" imgW="1333508" imgH="809531" progId="Equation.3">
                  <p:embed/>
                </p:oleObj>
              </mc:Choice>
              <mc:Fallback>
                <p:oleObj name="Équation" r:id="rId4" imgW="1333508" imgH="80953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743200"/>
                        <a:ext cx="2614613" cy="162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A4F07E1F-8865-BA4A-B85E-21198E5B5AD6}" type="slidenum">
              <a:rPr lang="zh-TW" altLang="en-US" sz="1200">
                <a:solidFill>
                  <a:srgbClr val="898989"/>
                </a:solidFill>
              </a:rPr>
              <a:pPr/>
              <a:t>21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1143000" y="1143000"/>
          <a:ext cx="6176963" cy="471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2" imgW="0" imgH="0" progId="Paint.Picture">
                  <p:embed/>
                </p:oleObj>
              </mc:Choice>
              <mc:Fallback>
                <p:oleObj name="Image bitmap" r:id="rId2" imgW="0" imgH="0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143000"/>
                        <a:ext cx="6176963" cy="471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AE4EF60C-167D-814B-AB4B-55825E39510D}" type="slidenum">
              <a:rPr lang="zh-TW" altLang="en-US" sz="1200">
                <a:solidFill>
                  <a:srgbClr val="898989"/>
                </a:solidFill>
              </a:rPr>
              <a:pPr/>
              <a:t>22</a:t>
            </a:fld>
            <a:endParaRPr lang="en-US" altLang="zh-TW" sz="1200">
              <a:solidFill>
                <a:srgbClr val="898989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143000" y="1135063"/>
            <a:ext cx="6781800" cy="769937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fr-FR" sz="4400" dirty="0" err="1">
                <a:latin typeface="+mn-lt"/>
              </a:rPr>
              <a:t>Comparing</a:t>
            </a:r>
            <a:r>
              <a:rPr lang="fr-FR" sz="4400" dirty="0">
                <a:latin typeface="+mn-lt"/>
              </a:rPr>
              <a:t> n log n and n</a:t>
            </a:r>
            <a:r>
              <a:rPr lang="fr-FR" sz="4400" baseline="30000" dirty="0">
                <a:latin typeface="+mn-lt"/>
              </a:rPr>
              <a:t>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An experiment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fr-FR"/>
              <a:t>Code from textbook (using template)</a:t>
            </a:r>
          </a:p>
          <a:p>
            <a:r>
              <a:rPr lang="en-US" altLang="fr-FR"/>
              <a:t>Unix </a:t>
            </a:r>
            <a:r>
              <a:rPr lang="en-US" altLang="fr-FR">
                <a:latin typeface="Courier New" charset="0"/>
              </a:rPr>
              <a:t>time</a:t>
            </a:r>
            <a:r>
              <a:rPr lang="en-US" altLang="fr-FR"/>
              <a:t> utility</a:t>
            </a:r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1371600" y="2971800"/>
          <a:ext cx="6324600" cy="332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2" imgW="0" imgH="0" progId="Paint.Picture">
                  <p:embed/>
                </p:oleObj>
              </mc:Choice>
              <mc:Fallback>
                <p:oleObj name="Image bitmap" r:id="rId2" imgW="0" imgH="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971800"/>
                        <a:ext cx="6324600" cy="332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2F56DEBD-3A44-F742-953D-E00455E75A6D}" type="slidenum">
              <a:rPr lang="zh-TW" altLang="en-US" sz="1200">
                <a:solidFill>
                  <a:srgbClr val="898989"/>
                </a:solidFill>
              </a:rPr>
              <a:pPr/>
              <a:t>23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fr-FR" altLang="fr-FR" sz="4000" b="1"/>
              <a:t>3. Quick </a:t>
            </a:r>
            <a:r>
              <a:rPr lang="en-US" altLang="fr-FR" sz="4000" b="1"/>
              <a:t>sort</a:t>
            </a:r>
          </a:p>
        </p:txBody>
      </p:sp>
      <p:sp>
        <p:nvSpPr>
          <p:cNvPr id="25603" name="Rectangle 1"/>
          <p:cNvSpPr>
            <a:spLocks noChangeArrowheads="1"/>
          </p:cNvSpPr>
          <p:nvPr/>
        </p:nvSpPr>
        <p:spPr bwMode="auto">
          <a:xfrm>
            <a:off x="609600" y="4343400"/>
            <a:ext cx="5068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altLang="fr-FR">
                <a:solidFill>
                  <a:srgbClr val="FF0000"/>
                </a:solidFill>
              </a:rPr>
              <a:t>Reading: Text Book (Weiss) Weiss 7.7 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  <a:endParaRPr lang="en-US" altLang="zh-TW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1E9C5532-2A97-674F-9ACA-C01CF20900DA}" type="slidenum">
              <a:rPr lang="zh-TW" altLang="en-US" sz="1200">
                <a:solidFill>
                  <a:srgbClr val="898989"/>
                </a:solidFill>
              </a:rPr>
              <a:pPr/>
              <a:t>24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Introduction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525963"/>
          </a:xfrm>
        </p:spPr>
        <p:txBody>
          <a:bodyPr/>
          <a:lstStyle/>
          <a:p>
            <a:r>
              <a:rPr lang="en-US" altLang="fr-FR" b="1">
                <a:solidFill>
                  <a:srgbClr val="FF0000"/>
                </a:solidFill>
              </a:rPr>
              <a:t>Fastest</a:t>
            </a:r>
            <a:r>
              <a:rPr lang="en-US" altLang="fr-FR">
                <a:solidFill>
                  <a:srgbClr val="FF0000"/>
                </a:solidFill>
              </a:rPr>
              <a:t> </a:t>
            </a:r>
            <a:r>
              <a:rPr lang="en-US" altLang="fr-FR"/>
              <a:t>known sorting algorithm in practice</a:t>
            </a:r>
          </a:p>
          <a:p>
            <a:r>
              <a:rPr lang="en-US" altLang="fr-FR"/>
              <a:t>Average case: O(N log N)</a:t>
            </a:r>
          </a:p>
          <a:p>
            <a:r>
              <a:rPr lang="en-US" altLang="fr-FR"/>
              <a:t>Worst case: O(N</a:t>
            </a:r>
            <a:r>
              <a:rPr lang="en-US" altLang="fr-FR" baseline="30000"/>
              <a:t>2</a:t>
            </a:r>
            <a:r>
              <a:rPr lang="en-US" altLang="fr-FR"/>
              <a:t>)</a:t>
            </a:r>
          </a:p>
          <a:p>
            <a:pPr lvl="1"/>
            <a:r>
              <a:rPr lang="en-US" altLang="fr-FR"/>
              <a:t>But, the worst case seldom happens.</a:t>
            </a:r>
          </a:p>
          <a:p>
            <a:r>
              <a:rPr lang="en-US" altLang="fr-FR"/>
              <a:t>Another divide-and-conquer recursive algorithm like mergesort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0695803B-7A63-FF4B-BB8B-F4741749CF74}" type="slidenum">
              <a:rPr lang="zh-TW" altLang="en-US" sz="1200">
                <a:solidFill>
                  <a:srgbClr val="898989"/>
                </a:solidFill>
              </a:rPr>
              <a:pPr/>
              <a:t>25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838200"/>
          </a:xfrm>
        </p:spPr>
        <p:txBody>
          <a:bodyPr/>
          <a:lstStyle/>
          <a:p>
            <a:r>
              <a:rPr lang="en-US" altLang="fr-FR" b="1" dirty="0">
                <a:solidFill>
                  <a:srgbClr val="07017D"/>
                </a:solidFill>
              </a:rPr>
              <a:t>Quicksort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1905000"/>
                <a:ext cx="5486400" cy="3276600"/>
              </a:xfrm>
            </p:spPr>
            <p:txBody>
              <a:bodyPr/>
              <a:lstStyle/>
              <a:p>
                <a:pPr>
                  <a:lnSpc>
                    <a:spcPct val="80000"/>
                  </a:lnSpc>
                </a:pPr>
                <a:r>
                  <a:rPr lang="en-US" altLang="fr-FR" sz="2400" b="1" dirty="0">
                    <a:solidFill>
                      <a:srgbClr val="FF0000"/>
                    </a:solidFill>
                  </a:rPr>
                  <a:t>Divide step: 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altLang="fr-FR" sz="2000" dirty="0"/>
                  <a:t>Pick any element (</a:t>
                </a:r>
                <a:r>
                  <a:rPr lang="en-US" altLang="fr-FR" sz="2000" b="1" i="1" dirty="0">
                    <a:solidFill>
                      <a:schemeClr val="hlink"/>
                    </a:solidFill>
                  </a:rPr>
                  <a:t>pivot</a:t>
                </a:r>
                <a:r>
                  <a:rPr lang="en-US" altLang="fr-FR" sz="2000" dirty="0"/>
                  <a:t>) v in S 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altLang="fr-FR" sz="2000" dirty="0"/>
                  <a:t>Partition S – {v} into two disjoint groups</a:t>
                </a:r>
              </a:p>
              <a:p>
                <a:pPr lvl="1">
                  <a:lnSpc>
                    <a:spcPct val="80000"/>
                  </a:lnSpc>
                  <a:buFont typeface="Monotype Sorts" charset="2"/>
                  <a:buNone/>
                </a:pPr>
                <a:r>
                  <a:rPr lang="en-US" altLang="fr-FR" sz="2000" dirty="0"/>
                  <a:t>    S1 = {x </a:t>
                </a:r>
                <a14:m>
                  <m:oMath xmlns:m="http://schemas.openxmlformats.org/officeDocument/2006/math">
                    <m:r>
                      <a:rPr lang="en-US" altLang="fr-FR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</m:oMath>
                </a14:m>
                <a:r>
                  <a:rPr lang="en-US" altLang="fr-FR" sz="2000" dirty="0"/>
                  <a:t>S – {v} | x </a:t>
                </a:r>
                <a14:m>
                  <m:oMath xmlns:m="http://schemas.openxmlformats.org/officeDocument/2006/math">
                    <m:r>
                      <a:rPr lang="mr-IN" altLang="fr-FR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&lt;</m:t>
                    </m:r>
                  </m:oMath>
                </a14:m>
                <a:r>
                  <a:rPr lang="en-US" altLang="fr-FR" sz="2000" dirty="0"/>
                  <a:t>v}</a:t>
                </a:r>
              </a:p>
              <a:p>
                <a:pPr lvl="1">
                  <a:lnSpc>
                    <a:spcPct val="80000"/>
                  </a:lnSpc>
                  <a:buFont typeface="Monotype Sorts" charset="2"/>
                  <a:buNone/>
                </a:pPr>
                <a:r>
                  <a:rPr lang="en-US" altLang="fr-FR" sz="2000" dirty="0"/>
                  <a:t>    S2 = {x </a:t>
                </a:r>
                <a14:m>
                  <m:oMath xmlns:m="http://schemas.openxmlformats.org/officeDocument/2006/math">
                    <m:r>
                      <a:rPr lang="en-US" altLang="fr-FR" sz="2000" i="1">
                        <a:latin typeface="Cambria Math" charset="0"/>
                        <a:ea typeface="Cambria Math" charset="0"/>
                        <a:cs typeface="Cambria Math" charset="0"/>
                      </a:rPr>
                      <m:t>∈ </m:t>
                    </m:r>
                  </m:oMath>
                </a14:m>
                <a:r>
                  <a:rPr lang="en-US" altLang="fr-FR" sz="2000" dirty="0"/>
                  <a:t>S – {v} | x </a:t>
                </a:r>
                <a14:m>
                  <m:oMath xmlns:m="http://schemas.openxmlformats.org/officeDocument/2006/math">
                    <m:r>
                      <a:rPr lang="en-US" altLang="fr-FR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≥</m:t>
                    </m:r>
                  </m:oMath>
                </a14:m>
                <a:r>
                  <a:rPr lang="en-US" altLang="fr-FR" sz="2000" dirty="0"/>
                  <a:t>v}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fr-FR" sz="2400" b="1" dirty="0">
                    <a:solidFill>
                      <a:srgbClr val="FF0000"/>
                    </a:solidFill>
                  </a:rPr>
                  <a:t>Conquer step:</a:t>
                </a:r>
                <a:r>
                  <a:rPr lang="en-US" altLang="fr-FR" sz="2400" dirty="0"/>
                  <a:t> recursively sort  S1 and S2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fr-FR" sz="2400" b="1" dirty="0">
                    <a:solidFill>
                      <a:srgbClr val="FF0000"/>
                    </a:solidFill>
                  </a:rPr>
                  <a:t>Combine step:</a:t>
                </a:r>
                <a:r>
                  <a:rPr lang="en-US" altLang="fr-FR" sz="2400" dirty="0"/>
                  <a:t> combine the sorted S1, followed by v, followed by the sorted S2</a:t>
                </a:r>
              </a:p>
              <a:p>
                <a:pPr>
                  <a:lnSpc>
                    <a:spcPct val="80000"/>
                  </a:lnSpc>
                </a:pPr>
                <a:endParaRPr lang="en-US" altLang="fr-FR" sz="2400" dirty="0"/>
              </a:p>
              <a:p>
                <a:pPr>
                  <a:lnSpc>
                    <a:spcPct val="80000"/>
                  </a:lnSpc>
                  <a:buFont typeface="Monotype Sorts" charset="2"/>
                  <a:buNone/>
                </a:pPr>
                <a:endParaRPr lang="en-US" altLang="fr-FR" sz="2000" dirty="0"/>
              </a:p>
            </p:txBody>
          </p:sp>
        </mc:Choice>
        <mc:Fallback xmlns="">
          <p:sp>
            <p:nvSpPr>
              <p:cNvPr id="276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1905000"/>
                <a:ext cx="5486400" cy="3276600"/>
              </a:xfrm>
              <a:blipFill rotWithShape="0">
                <a:blip r:embed="rId2"/>
                <a:stretch>
                  <a:fillRect l="-1444" t="-3538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52" name="Rectangle 7"/>
          <p:cNvSpPr>
            <a:spLocks noChangeArrowheads="1"/>
          </p:cNvSpPr>
          <p:nvPr/>
        </p:nvSpPr>
        <p:spPr bwMode="auto">
          <a:xfrm>
            <a:off x="6172200" y="1606550"/>
            <a:ext cx="228600" cy="10604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27653" name="Rectangle 8"/>
          <p:cNvSpPr>
            <a:spLocks noChangeArrowheads="1"/>
          </p:cNvSpPr>
          <p:nvPr/>
        </p:nvSpPr>
        <p:spPr bwMode="auto">
          <a:xfrm>
            <a:off x="6578600" y="2209800"/>
            <a:ext cx="228600" cy="4572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27654" name="Rectangle 9"/>
          <p:cNvSpPr>
            <a:spLocks noChangeArrowheads="1"/>
          </p:cNvSpPr>
          <p:nvPr/>
        </p:nvSpPr>
        <p:spPr bwMode="auto">
          <a:xfrm>
            <a:off x="7391400" y="2381250"/>
            <a:ext cx="228600" cy="2857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27655" name="Rectangle 10"/>
          <p:cNvSpPr>
            <a:spLocks noChangeArrowheads="1"/>
          </p:cNvSpPr>
          <p:nvPr/>
        </p:nvSpPr>
        <p:spPr bwMode="auto">
          <a:xfrm>
            <a:off x="7797800" y="2038350"/>
            <a:ext cx="228600" cy="6286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2"/>
                </a:solidFill>
                <a:latin typeface="Times New Roman" charset="0"/>
              </a:rPr>
              <a:t>v</a:t>
            </a:r>
          </a:p>
        </p:txBody>
      </p:sp>
      <p:sp>
        <p:nvSpPr>
          <p:cNvPr id="27656" name="Rectangle 11"/>
          <p:cNvSpPr>
            <a:spLocks noChangeArrowheads="1"/>
          </p:cNvSpPr>
          <p:nvPr/>
        </p:nvSpPr>
        <p:spPr bwMode="auto">
          <a:xfrm>
            <a:off x="8204200" y="1695450"/>
            <a:ext cx="228600" cy="9715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27657" name="Rectangle 12"/>
          <p:cNvSpPr>
            <a:spLocks noChangeArrowheads="1"/>
          </p:cNvSpPr>
          <p:nvPr/>
        </p:nvSpPr>
        <p:spPr bwMode="auto">
          <a:xfrm>
            <a:off x="8610600" y="2324100"/>
            <a:ext cx="2286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27658" name="Rectangle 13"/>
          <p:cNvSpPr>
            <a:spLocks noChangeArrowheads="1"/>
          </p:cNvSpPr>
          <p:nvPr/>
        </p:nvSpPr>
        <p:spPr bwMode="auto">
          <a:xfrm>
            <a:off x="6985000" y="1866900"/>
            <a:ext cx="228600" cy="8001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27659" name="Rectangle 14"/>
          <p:cNvSpPr>
            <a:spLocks noChangeArrowheads="1"/>
          </p:cNvSpPr>
          <p:nvPr/>
        </p:nvSpPr>
        <p:spPr bwMode="auto">
          <a:xfrm>
            <a:off x="7924800" y="3505200"/>
            <a:ext cx="228600" cy="10604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27660" name="Rectangle 15"/>
          <p:cNvSpPr>
            <a:spLocks noChangeArrowheads="1"/>
          </p:cNvSpPr>
          <p:nvPr/>
        </p:nvSpPr>
        <p:spPr bwMode="auto">
          <a:xfrm>
            <a:off x="8763000" y="3594100"/>
            <a:ext cx="228600" cy="9715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27661" name="Rectangle 16"/>
          <p:cNvSpPr>
            <a:spLocks noChangeArrowheads="1"/>
          </p:cNvSpPr>
          <p:nvPr/>
        </p:nvSpPr>
        <p:spPr bwMode="auto">
          <a:xfrm>
            <a:off x="8343900" y="3765550"/>
            <a:ext cx="228600" cy="8001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grpSp>
        <p:nvGrpSpPr>
          <p:cNvPr id="27662" name="Group 17"/>
          <p:cNvGrpSpPr>
            <a:grpSpLocks/>
          </p:cNvGrpSpPr>
          <p:nvPr/>
        </p:nvGrpSpPr>
        <p:grpSpPr bwMode="auto">
          <a:xfrm>
            <a:off x="5492750" y="4114800"/>
            <a:ext cx="1054100" cy="457200"/>
            <a:chOff x="3320" y="2304"/>
            <a:chExt cx="664" cy="384"/>
          </a:xfrm>
        </p:grpSpPr>
        <p:sp>
          <p:nvSpPr>
            <p:cNvPr id="27669" name="Rectangle 18"/>
            <p:cNvSpPr>
              <a:spLocks noChangeArrowheads="1"/>
            </p:cNvSpPr>
            <p:nvPr/>
          </p:nvSpPr>
          <p:spPr bwMode="auto">
            <a:xfrm>
              <a:off x="3320" y="2304"/>
              <a:ext cx="144" cy="384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27670" name="Rectangle 19"/>
            <p:cNvSpPr>
              <a:spLocks noChangeArrowheads="1"/>
            </p:cNvSpPr>
            <p:nvPr/>
          </p:nvSpPr>
          <p:spPr bwMode="auto">
            <a:xfrm>
              <a:off x="3580" y="2448"/>
              <a:ext cx="144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27671" name="Rectangle 20"/>
            <p:cNvSpPr>
              <a:spLocks noChangeArrowheads="1"/>
            </p:cNvSpPr>
            <p:nvPr/>
          </p:nvSpPr>
          <p:spPr bwMode="auto">
            <a:xfrm>
              <a:off x="3840" y="2400"/>
              <a:ext cx="144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</p:grpSp>
      <p:sp>
        <p:nvSpPr>
          <p:cNvPr id="27663" name="Rectangle 21"/>
          <p:cNvSpPr>
            <a:spLocks noChangeArrowheads="1"/>
          </p:cNvSpPr>
          <p:nvPr/>
        </p:nvSpPr>
        <p:spPr bwMode="auto">
          <a:xfrm>
            <a:off x="7124700" y="3943350"/>
            <a:ext cx="228600" cy="6286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2"/>
                </a:solidFill>
                <a:latin typeface="Times New Roman" charset="0"/>
              </a:rPr>
              <a:t>v</a:t>
            </a:r>
          </a:p>
        </p:txBody>
      </p:sp>
      <p:sp>
        <p:nvSpPr>
          <p:cNvPr id="27664" name="AutoShape 22"/>
          <p:cNvSpPr>
            <a:spLocks/>
          </p:cNvSpPr>
          <p:nvPr/>
        </p:nvSpPr>
        <p:spPr bwMode="auto">
          <a:xfrm rot="-5400000">
            <a:off x="5867400" y="4095750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tIns="0" rIns="548640" bIns="0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latin typeface="Times New Roman" charset="0"/>
              </a:rPr>
              <a:t>S1</a:t>
            </a:r>
          </a:p>
        </p:txBody>
      </p:sp>
      <p:sp>
        <p:nvSpPr>
          <p:cNvPr id="27665" name="AutoShape 23"/>
          <p:cNvSpPr>
            <a:spLocks/>
          </p:cNvSpPr>
          <p:nvPr/>
        </p:nvSpPr>
        <p:spPr bwMode="auto">
          <a:xfrm rot="-5400000">
            <a:off x="8305800" y="4095750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tIns="0" rIns="548640" bIns="0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latin typeface="Times New Roman" charset="0"/>
              </a:rPr>
              <a:t>S2</a:t>
            </a:r>
          </a:p>
        </p:txBody>
      </p:sp>
      <p:sp>
        <p:nvSpPr>
          <p:cNvPr id="27666" name="AutoShape 31"/>
          <p:cNvSpPr>
            <a:spLocks/>
          </p:cNvSpPr>
          <p:nvPr/>
        </p:nvSpPr>
        <p:spPr bwMode="auto">
          <a:xfrm rot="-5400000">
            <a:off x="7353300" y="1714500"/>
            <a:ext cx="304800" cy="2514600"/>
          </a:xfrm>
          <a:prstGeom prst="leftBrace">
            <a:avLst>
              <a:gd name="adj1" fmla="val 6875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tIns="0" rIns="548640" bIns="0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latin typeface="Times New Roman" charset="0"/>
              </a:rPr>
              <a:t>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8F346EA7-0079-7445-8868-DE8C2E7DA4F1}" type="slidenum">
              <a:rPr lang="zh-TW" altLang="en-US" sz="1200">
                <a:solidFill>
                  <a:srgbClr val="898989"/>
                </a:solidFill>
              </a:rPr>
              <a:pPr/>
              <a:t>26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Example: Quicksort</a:t>
            </a:r>
          </a:p>
        </p:txBody>
      </p:sp>
      <p:pic>
        <p:nvPicPr>
          <p:cNvPr id="28675" name="Picture 3" descr="7"/>
          <p:cNvPicPr>
            <a:picLocks noChangeAspect="1" noChangeArrowheads="1"/>
          </p:cNvPicPr>
          <p:nvPr/>
        </p:nvPicPr>
        <p:blipFill>
          <a:blip r:embed="rId2">
            <a:lum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87"/>
          <a:stretch>
            <a:fillRect/>
          </a:stretch>
        </p:blipFill>
        <p:spPr bwMode="auto">
          <a:xfrm>
            <a:off x="1371600" y="1676400"/>
            <a:ext cx="6172200" cy="471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0C12C149-73A1-074B-B488-775C98B37A7C}" type="slidenum">
              <a:rPr lang="zh-TW" altLang="en-US" sz="1200">
                <a:solidFill>
                  <a:srgbClr val="898989"/>
                </a:solidFill>
              </a:rPr>
              <a:pPr/>
              <a:t>27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Example: Quicksort...</a:t>
            </a:r>
          </a:p>
        </p:txBody>
      </p:sp>
      <p:pic>
        <p:nvPicPr>
          <p:cNvPr id="29699" name="Picture 3" descr="7"/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05" b="5634"/>
          <a:stretch>
            <a:fillRect/>
          </a:stretch>
        </p:blipFill>
        <p:spPr bwMode="auto">
          <a:xfrm>
            <a:off x="1447800" y="1971675"/>
            <a:ext cx="6096000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1E8F80C-143F-364F-A6A1-D6CBA98C68C4}" type="slidenum">
              <a:rPr lang="zh-TW" altLang="en-US" sz="1200">
                <a:solidFill>
                  <a:srgbClr val="898989"/>
                </a:solidFill>
              </a:rPr>
              <a:pPr/>
              <a:t>28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Pseudocode 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2"/>
              <a:buNone/>
            </a:pPr>
            <a:r>
              <a:rPr lang="en-US" altLang="fr-FR" sz="2000"/>
              <a:t>Input: an array A[p, r]</a:t>
            </a:r>
          </a:p>
          <a:p>
            <a:pPr>
              <a:buFont typeface="Monotype Sorts" charset="2"/>
              <a:buNone/>
            </a:pPr>
            <a:endParaRPr lang="en-US" altLang="fr-FR" sz="2000"/>
          </a:p>
          <a:p>
            <a:pPr>
              <a:buFont typeface="Monotype Sorts" charset="2"/>
              <a:buNone/>
            </a:pPr>
            <a:r>
              <a:rPr lang="en-US" altLang="fr-FR" sz="2000">
                <a:solidFill>
                  <a:schemeClr val="hlink"/>
                </a:solidFill>
              </a:rPr>
              <a:t>Quicksort</a:t>
            </a:r>
            <a:r>
              <a:rPr lang="en-US" altLang="fr-FR" sz="2000"/>
              <a:t> (A, p, r) {</a:t>
            </a:r>
          </a:p>
          <a:p>
            <a:pPr>
              <a:buFont typeface="Monotype Sorts" charset="2"/>
              <a:buNone/>
            </a:pPr>
            <a:r>
              <a:rPr lang="en-US" altLang="fr-FR" sz="2000"/>
              <a:t>	 if (p &lt; r) {</a:t>
            </a:r>
          </a:p>
          <a:p>
            <a:pPr>
              <a:buFont typeface="Monotype Sorts" charset="2"/>
              <a:buNone/>
            </a:pPr>
            <a:r>
              <a:rPr lang="en-US" altLang="fr-FR" sz="2000"/>
              <a:t>		q = </a:t>
            </a:r>
            <a:r>
              <a:rPr lang="en-US" altLang="fr-FR" sz="2000">
                <a:solidFill>
                  <a:schemeClr val="hlink"/>
                </a:solidFill>
              </a:rPr>
              <a:t>Partition</a:t>
            </a:r>
            <a:r>
              <a:rPr lang="en-US" altLang="fr-FR" sz="2000"/>
              <a:t> (A, p, r)   </a:t>
            </a:r>
            <a:r>
              <a:rPr lang="en-US" altLang="fr-FR" sz="1800" b="1">
                <a:solidFill>
                  <a:srgbClr val="FF0000"/>
                </a:solidFill>
              </a:rPr>
              <a:t>//q is the position of the pivot element</a:t>
            </a:r>
          </a:p>
          <a:p>
            <a:pPr>
              <a:buFont typeface="Monotype Sorts" charset="2"/>
              <a:buNone/>
            </a:pPr>
            <a:r>
              <a:rPr lang="en-US" altLang="fr-FR" sz="2000"/>
              <a:t>		</a:t>
            </a:r>
            <a:r>
              <a:rPr lang="en-US" altLang="fr-FR" sz="2000">
                <a:solidFill>
                  <a:schemeClr val="hlink"/>
                </a:solidFill>
              </a:rPr>
              <a:t>Quicksort </a:t>
            </a:r>
            <a:r>
              <a:rPr lang="en-US" altLang="fr-FR" sz="2000"/>
              <a:t>(A, p, q-1)</a:t>
            </a:r>
          </a:p>
          <a:p>
            <a:pPr>
              <a:buFont typeface="Monotype Sorts" charset="2"/>
              <a:buNone/>
            </a:pPr>
            <a:r>
              <a:rPr lang="en-US" altLang="fr-FR" sz="2000"/>
              <a:t>		</a:t>
            </a:r>
            <a:r>
              <a:rPr lang="en-US" altLang="fr-FR" sz="2000">
                <a:solidFill>
                  <a:schemeClr val="hlink"/>
                </a:solidFill>
              </a:rPr>
              <a:t>Quicksort </a:t>
            </a:r>
            <a:r>
              <a:rPr lang="en-US" altLang="fr-FR" sz="2000"/>
              <a:t>(A, q+1, r)</a:t>
            </a:r>
          </a:p>
          <a:p>
            <a:pPr>
              <a:buFont typeface="Monotype Sorts" charset="2"/>
              <a:buNone/>
            </a:pPr>
            <a:r>
              <a:rPr lang="en-US" altLang="fr-FR" sz="2000"/>
              <a:t>	 }</a:t>
            </a:r>
          </a:p>
          <a:p>
            <a:pPr>
              <a:buFont typeface="Monotype Sorts" charset="2"/>
              <a:buNone/>
            </a:pPr>
            <a:r>
              <a:rPr lang="en-US" altLang="fr-FR" sz="2000"/>
              <a:t>}</a:t>
            </a:r>
          </a:p>
          <a:p>
            <a:pPr>
              <a:buFont typeface="Monotype Sorts" charset="2"/>
              <a:buNone/>
            </a:pPr>
            <a:r>
              <a:rPr lang="en-US" altLang="fr-FR"/>
              <a:t>	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569C3DA7-9761-584F-9819-F2F9E4F9CB45}" type="slidenum">
              <a:rPr lang="zh-TW" altLang="en-US" sz="1200">
                <a:solidFill>
                  <a:srgbClr val="898989"/>
                </a:solidFill>
              </a:rPr>
              <a:pPr/>
              <a:t>29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Partitioning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8534400" cy="4800600"/>
          </a:xfrm>
        </p:spPr>
        <p:txBody>
          <a:bodyPr/>
          <a:lstStyle/>
          <a:p>
            <a:r>
              <a:rPr lang="en-US" altLang="fr-FR">
                <a:solidFill>
                  <a:srgbClr val="FF0000"/>
                </a:solidFill>
              </a:rPr>
              <a:t>Partitioning </a:t>
            </a:r>
          </a:p>
          <a:p>
            <a:pPr lvl="1"/>
            <a:r>
              <a:rPr lang="en-US" altLang="fr-FR"/>
              <a:t>Key step of quicksort algorithm</a:t>
            </a:r>
          </a:p>
          <a:p>
            <a:pPr lvl="1"/>
            <a:r>
              <a:rPr lang="en-US" altLang="fr-FR"/>
              <a:t>Goal: given the picked pivot, partition the remaining elements into two smaller sets</a:t>
            </a:r>
          </a:p>
          <a:p>
            <a:pPr lvl="1"/>
            <a:r>
              <a:rPr lang="en-US" altLang="fr-FR"/>
              <a:t>Many ways to implement </a:t>
            </a:r>
          </a:p>
          <a:p>
            <a:r>
              <a:rPr lang="en-US" altLang="fr-FR">
                <a:solidFill>
                  <a:srgbClr val="FF0000"/>
                </a:solidFill>
              </a:rPr>
              <a:t>We will learn an easy and efficient partitioning strategy here.</a:t>
            </a:r>
          </a:p>
          <a:p>
            <a:r>
              <a:rPr lang="en-US" altLang="fr-FR">
                <a:solidFill>
                  <a:srgbClr val="FF0000"/>
                </a:solidFill>
              </a:rPr>
              <a:t>How to pick a pivot will be discussed later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F7FD9983-A6C1-0B47-A6A8-ED44C7EF9B39}" type="slidenum">
              <a:rPr lang="zh-TW" altLang="en-US" sz="1200">
                <a:solidFill>
                  <a:srgbClr val="898989"/>
                </a:solidFill>
              </a:rPr>
              <a:pPr/>
              <a:t>30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Partitioning Strategy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05000"/>
            <a:ext cx="7848600" cy="2057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fr-FR" sz="2400"/>
              <a:t>Want to partition an array A[left .. right]</a:t>
            </a:r>
          </a:p>
          <a:p>
            <a:pPr>
              <a:lnSpc>
                <a:spcPct val="80000"/>
              </a:lnSpc>
            </a:pPr>
            <a:r>
              <a:rPr lang="en-US" altLang="fr-FR" sz="2400"/>
              <a:t>First, get the pivot element out of the way by swapping it with the last element. (Swap pivot and A[right])</a:t>
            </a:r>
          </a:p>
          <a:p>
            <a:pPr>
              <a:lnSpc>
                <a:spcPct val="80000"/>
              </a:lnSpc>
            </a:pPr>
            <a:r>
              <a:rPr lang="en-US" altLang="fr-FR" sz="2400"/>
              <a:t>Let </a:t>
            </a:r>
            <a:r>
              <a:rPr lang="en-US" altLang="fr-FR" sz="2400">
                <a:solidFill>
                  <a:schemeClr val="hlink"/>
                </a:solidFill>
              </a:rPr>
              <a:t>i</a:t>
            </a:r>
            <a:r>
              <a:rPr lang="en-US" altLang="fr-FR" sz="2400"/>
              <a:t> start at the first element and </a:t>
            </a:r>
            <a:r>
              <a:rPr lang="en-US" altLang="fr-FR" sz="2400">
                <a:solidFill>
                  <a:schemeClr val="hlink"/>
                </a:solidFill>
              </a:rPr>
              <a:t>j</a:t>
            </a:r>
            <a:r>
              <a:rPr lang="en-US" altLang="fr-FR" sz="2400"/>
              <a:t> start at the next-to-last element (i = left, j = right – 1)</a:t>
            </a:r>
          </a:p>
          <a:p>
            <a:pPr>
              <a:lnSpc>
                <a:spcPct val="80000"/>
              </a:lnSpc>
            </a:pPr>
            <a:endParaRPr lang="en-US" altLang="fr-FR" sz="2400"/>
          </a:p>
        </p:txBody>
      </p:sp>
      <p:sp>
        <p:nvSpPr>
          <p:cNvPr id="32772" name="Text Box 25"/>
          <p:cNvSpPr txBox="1">
            <a:spLocks noChangeArrowheads="1"/>
          </p:cNvSpPr>
          <p:nvPr/>
        </p:nvSpPr>
        <p:spPr bwMode="auto">
          <a:xfrm>
            <a:off x="1741488" y="5851525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 typeface="Monotype Sorts" charset="2"/>
              <a:buNone/>
            </a:pPr>
            <a:r>
              <a:rPr lang="en-US" altLang="fr-FR"/>
              <a:t>pivot</a:t>
            </a:r>
          </a:p>
        </p:txBody>
      </p:sp>
      <p:sp>
        <p:nvSpPr>
          <p:cNvPr id="32773" name="Line 46"/>
          <p:cNvSpPr>
            <a:spLocks noChangeShapeType="1"/>
          </p:cNvSpPr>
          <p:nvPr/>
        </p:nvSpPr>
        <p:spPr bwMode="auto">
          <a:xfrm flipV="1">
            <a:off x="2122488" y="5394325"/>
            <a:ext cx="0" cy="381000"/>
          </a:xfrm>
          <a:prstGeom prst="line">
            <a:avLst/>
          </a:prstGeom>
          <a:noFill/>
          <a:ln w="31750">
            <a:solidFill>
              <a:schemeClr val="folHlink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32774" name="Group 86"/>
          <p:cNvGrpSpPr>
            <a:grpSpLocks/>
          </p:cNvGrpSpPr>
          <p:nvPr/>
        </p:nvGrpSpPr>
        <p:grpSpPr bwMode="auto">
          <a:xfrm>
            <a:off x="5410200" y="5394325"/>
            <a:ext cx="304800" cy="854075"/>
            <a:chOff x="3456" y="3206"/>
            <a:chExt cx="192" cy="538"/>
          </a:xfrm>
        </p:grpSpPr>
        <p:sp>
          <p:nvSpPr>
            <p:cNvPr id="32812" name="Line 48"/>
            <p:cNvSpPr>
              <a:spLocks noChangeShapeType="1"/>
            </p:cNvSpPr>
            <p:nvPr/>
          </p:nvSpPr>
          <p:spPr bwMode="auto">
            <a:xfrm flipV="1">
              <a:off x="3552" y="320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813" name="Text Box 50"/>
            <p:cNvSpPr txBox="1">
              <a:spLocks noChangeArrowheads="1"/>
            </p:cNvSpPr>
            <p:nvPr/>
          </p:nvSpPr>
          <p:spPr bwMode="auto">
            <a:xfrm>
              <a:off x="3456" y="349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i</a:t>
              </a:r>
            </a:p>
          </p:txBody>
        </p:sp>
      </p:grpSp>
      <p:grpSp>
        <p:nvGrpSpPr>
          <p:cNvPr id="32775" name="Group 87"/>
          <p:cNvGrpSpPr>
            <a:grpSpLocks/>
          </p:cNvGrpSpPr>
          <p:nvPr/>
        </p:nvGrpSpPr>
        <p:grpSpPr bwMode="auto">
          <a:xfrm>
            <a:off x="7696200" y="5394325"/>
            <a:ext cx="381000" cy="838200"/>
            <a:chOff x="4992" y="3206"/>
            <a:chExt cx="240" cy="528"/>
          </a:xfrm>
        </p:grpSpPr>
        <p:sp>
          <p:nvSpPr>
            <p:cNvPr id="32810" name="Line 49"/>
            <p:cNvSpPr>
              <a:spLocks noChangeShapeType="1"/>
            </p:cNvSpPr>
            <p:nvPr/>
          </p:nvSpPr>
          <p:spPr bwMode="auto">
            <a:xfrm flipV="1">
              <a:off x="5088" y="320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811" name="Text Box 51"/>
            <p:cNvSpPr txBox="1">
              <a:spLocks noChangeArrowheads="1"/>
            </p:cNvSpPr>
            <p:nvPr/>
          </p:nvSpPr>
          <p:spPr bwMode="auto">
            <a:xfrm>
              <a:off x="4992" y="348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j</a:t>
              </a:r>
            </a:p>
          </p:txBody>
        </p:sp>
      </p:grpSp>
      <p:sp>
        <p:nvSpPr>
          <p:cNvPr id="32776" name="AutoShape 52"/>
          <p:cNvSpPr>
            <a:spLocks noChangeArrowheads="1"/>
          </p:cNvSpPr>
          <p:nvPr/>
        </p:nvSpPr>
        <p:spPr bwMode="auto">
          <a:xfrm>
            <a:off x="4343400" y="4860925"/>
            <a:ext cx="381000" cy="288925"/>
          </a:xfrm>
          <a:prstGeom prst="rightArrow">
            <a:avLst>
              <a:gd name="adj1" fmla="val 50000"/>
              <a:gd name="adj2" fmla="val 32967"/>
            </a:avLst>
          </a:prstGeom>
          <a:solidFill>
            <a:schemeClr val="accent1"/>
          </a:solidFill>
          <a:ln w="3175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2777" name="Rectangle 57"/>
          <p:cNvSpPr>
            <a:spLocks noChangeArrowheads="1"/>
          </p:cNvSpPr>
          <p:nvPr/>
        </p:nvSpPr>
        <p:spPr bwMode="auto">
          <a:xfrm>
            <a:off x="522288" y="47847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2778" name="Text Box 58"/>
          <p:cNvSpPr txBox="1">
            <a:spLocks noChangeArrowheads="1"/>
          </p:cNvSpPr>
          <p:nvPr/>
        </p:nvSpPr>
        <p:spPr bwMode="auto">
          <a:xfrm>
            <a:off x="598488" y="48244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5</a:t>
            </a:r>
          </a:p>
        </p:txBody>
      </p:sp>
      <p:sp>
        <p:nvSpPr>
          <p:cNvPr id="32779" name="Rectangle 59"/>
          <p:cNvSpPr>
            <a:spLocks noChangeArrowheads="1"/>
          </p:cNvSpPr>
          <p:nvPr/>
        </p:nvSpPr>
        <p:spPr bwMode="auto">
          <a:xfrm>
            <a:off x="979488" y="47847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2780" name="Text Box 60"/>
          <p:cNvSpPr txBox="1">
            <a:spLocks noChangeArrowheads="1"/>
          </p:cNvSpPr>
          <p:nvPr/>
        </p:nvSpPr>
        <p:spPr bwMode="auto">
          <a:xfrm>
            <a:off x="1055688" y="48244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6</a:t>
            </a:r>
          </a:p>
        </p:txBody>
      </p:sp>
      <p:sp>
        <p:nvSpPr>
          <p:cNvPr id="32781" name="Rectangle 61"/>
          <p:cNvSpPr>
            <a:spLocks noChangeArrowheads="1"/>
          </p:cNvSpPr>
          <p:nvPr/>
        </p:nvSpPr>
        <p:spPr bwMode="auto">
          <a:xfrm>
            <a:off x="1436688" y="47847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2782" name="Text Box 62"/>
          <p:cNvSpPr txBox="1">
            <a:spLocks noChangeArrowheads="1"/>
          </p:cNvSpPr>
          <p:nvPr/>
        </p:nvSpPr>
        <p:spPr bwMode="auto">
          <a:xfrm>
            <a:off x="1512888" y="48244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4</a:t>
            </a:r>
          </a:p>
        </p:txBody>
      </p:sp>
      <p:sp>
        <p:nvSpPr>
          <p:cNvPr id="32783" name="Rectangle 63"/>
          <p:cNvSpPr>
            <a:spLocks noChangeArrowheads="1"/>
          </p:cNvSpPr>
          <p:nvPr/>
        </p:nvSpPr>
        <p:spPr bwMode="auto">
          <a:xfrm>
            <a:off x="1893888" y="4784725"/>
            <a:ext cx="457200" cy="4572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2784" name="Text Box 64"/>
          <p:cNvSpPr txBox="1">
            <a:spLocks noChangeArrowheads="1"/>
          </p:cNvSpPr>
          <p:nvPr/>
        </p:nvSpPr>
        <p:spPr bwMode="auto">
          <a:xfrm>
            <a:off x="2001838" y="4813300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6</a:t>
            </a:r>
          </a:p>
        </p:txBody>
      </p:sp>
      <p:sp>
        <p:nvSpPr>
          <p:cNvPr id="32785" name="Rectangle 65"/>
          <p:cNvSpPr>
            <a:spLocks noChangeArrowheads="1"/>
          </p:cNvSpPr>
          <p:nvPr/>
        </p:nvSpPr>
        <p:spPr bwMode="auto">
          <a:xfrm>
            <a:off x="2351088" y="47847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2786" name="Text Box 66"/>
          <p:cNvSpPr txBox="1">
            <a:spLocks noChangeArrowheads="1"/>
          </p:cNvSpPr>
          <p:nvPr/>
        </p:nvSpPr>
        <p:spPr bwMode="auto">
          <a:xfrm>
            <a:off x="2427288" y="48244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3</a:t>
            </a:r>
          </a:p>
        </p:txBody>
      </p:sp>
      <p:sp>
        <p:nvSpPr>
          <p:cNvPr id="32787" name="Rectangle 67"/>
          <p:cNvSpPr>
            <a:spLocks noChangeArrowheads="1"/>
          </p:cNvSpPr>
          <p:nvPr/>
        </p:nvSpPr>
        <p:spPr bwMode="auto">
          <a:xfrm>
            <a:off x="2808288" y="47847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2788" name="Text Box 68"/>
          <p:cNvSpPr txBox="1">
            <a:spLocks noChangeArrowheads="1"/>
          </p:cNvSpPr>
          <p:nvPr/>
        </p:nvSpPr>
        <p:spPr bwMode="auto">
          <a:xfrm>
            <a:off x="2816225" y="4824413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12</a:t>
            </a:r>
          </a:p>
        </p:txBody>
      </p:sp>
      <p:sp>
        <p:nvSpPr>
          <p:cNvPr id="32789" name="Rectangle 69"/>
          <p:cNvSpPr>
            <a:spLocks noChangeArrowheads="1"/>
          </p:cNvSpPr>
          <p:nvPr/>
        </p:nvSpPr>
        <p:spPr bwMode="auto">
          <a:xfrm>
            <a:off x="3265488" y="47847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2790" name="Text Box 70"/>
          <p:cNvSpPr txBox="1">
            <a:spLocks noChangeArrowheads="1"/>
          </p:cNvSpPr>
          <p:nvPr/>
        </p:nvSpPr>
        <p:spPr bwMode="auto">
          <a:xfrm>
            <a:off x="3273425" y="4824413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19</a:t>
            </a:r>
          </a:p>
        </p:txBody>
      </p:sp>
      <p:sp>
        <p:nvSpPr>
          <p:cNvPr id="32791" name="Rectangle 72"/>
          <p:cNvSpPr>
            <a:spLocks noChangeArrowheads="1"/>
          </p:cNvSpPr>
          <p:nvPr/>
        </p:nvSpPr>
        <p:spPr bwMode="auto">
          <a:xfrm>
            <a:off x="5322888" y="47847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2792" name="Text Box 73"/>
          <p:cNvSpPr txBox="1">
            <a:spLocks noChangeArrowheads="1"/>
          </p:cNvSpPr>
          <p:nvPr/>
        </p:nvSpPr>
        <p:spPr bwMode="auto">
          <a:xfrm>
            <a:off x="5399088" y="48244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5</a:t>
            </a:r>
          </a:p>
        </p:txBody>
      </p:sp>
      <p:sp>
        <p:nvSpPr>
          <p:cNvPr id="32793" name="Rectangle 74"/>
          <p:cNvSpPr>
            <a:spLocks noChangeArrowheads="1"/>
          </p:cNvSpPr>
          <p:nvPr/>
        </p:nvSpPr>
        <p:spPr bwMode="auto">
          <a:xfrm>
            <a:off x="5780088" y="47847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2794" name="Text Box 75"/>
          <p:cNvSpPr txBox="1">
            <a:spLocks noChangeArrowheads="1"/>
          </p:cNvSpPr>
          <p:nvPr/>
        </p:nvSpPr>
        <p:spPr bwMode="auto">
          <a:xfrm>
            <a:off x="5856288" y="48244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6</a:t>
            </a:r>
          </a:p>
        </p:txBody>
      </p:sp>
      <p:sp>
        <p:nvSpPr>
          <p:cNvPr id="32795" name="Rectangle 76"/>
          <p:cNvSpPr>
            <a:spLocks noChangeArrowheads="1"/>
          </p:cNvSpPr>
          <p:nvPr/>
        </p:nvSpPr>
        <p:spPr bwMode="auto">
          <a:xfrm>
            <a:off x="6237288" y="47847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2796" name="Text Box 77"/>
          <p:cNvSpPr txBox="1">
            <a:spLocks noChangeArrowheads="1"/>
          </p:cNvSpPr>
          <p:nvPr/>
        </p:nvSpPr>
        <p:spPr bwMode="auto">
          <a:xfrm>
            <a:off x="6313488" y="48244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4</a:t>
            </a:r>
          </a:p>
        </p:txBody>
      </p:sp>
      <p:grpSp>
        <p:nvGrpSpPr>
          <p:cNvPr id="32797" name="Group 89"/>
          <p:cNvGrpSpPr>
            <a:grpSpLocks/>
          </p:cNvGrpSpPr>
          <p:nvPr/>
        </p:nvGrpSpPr>
        <p:grpSpPr bwMode="auto">
          <a:xfrm>
            <a:off x="8077200" y="4784725"/>
            <a:ext cx="457200" cy="457200"/>
            <a:chOff x="4169" y="2640"/>
            <a:chExt cx="288" cy="288"/>
          </a:xfrm>
        </p:grpSpPr>
        <p:sp>
          <p:nvSpPr>
            <p:cNvPr id="32808" name="Rectangle 78"/>
            <p:cNvSpPr>
              <a:spLocks noChangeArrowheads="1"/>
            </p:cNvSpPr>
            <p:nvPr/>
          </p:nvSpPr>
          <p:spPr bwMode="auto">
            <a:xfrm>
              <a:off x="4169" y="2640"/>
              <a:ext cx="28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32809" name="Text Box 79"/>
            <p:cNvSpPr txBox="1">
              <a:spLocks noChangeArrowheads="1"/>
            </p:cNvSpPr>
            <p:nvPr/>
          </p:nvSpPr>
          <p:spPr bwMode="auto">
            <a:xfrm>
              <a:off x="4237" y="2678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6</a:t>
              </a:r>
            </a:p>
          </p:txBody>
        </p:sp>
      </p:grpSp>
      <p:sp>
        <p:nvSpPr>
          <p:cNvPr id="32798" name="Rectangle 80"/>
          <p:cNvSpPr>
            <a:spLocks noChangeArrowheads="1"/>
          </p:cNvSpPr>
          <p:nvPr/>
        </p:nvSpPr>
        <p:spPr bwMode="auto">
          <a:xfrm>
            <a:off x="7151688" y="47847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2799" name="Text Box 81"/>
          <p:cNvSpPr txBox="1">
            <a:spLocks noChangeArrowheads="1"/>
          </p:cNvSpPr>
          <p:nvPr/>
        </p:nvSpPr>
        <p:spPr bwMode="auto">
          <a:xfrm>
            <a:off x="7227888" y="48244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3</a:t>
            </a:r>
          </a:p>
        </p:txBody>
      </p:sp>
      <p:sp>
        <p:nvSpPr>
          <p:cNvPr id="32800" name="Rectangle 82"/>
          <p:cNvSpPr>
            <a:spLocks noChangeArrowheads="1"/>
          </p:cNvSpPr>
          <p:nvPr/>
        </p:nvSpPr>
        <p:spPr bwMode="auto">
          <a:xfrm>
            <a:off x="7608888" y="47847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2801" name="Text Box 83"/>
          <p:cNvSpPr txBox="1">
            <a:spLocks noChangeArrowheads="1"/>
          </p:cNvSpPr>
          <p:nvPr/>
        </p:nvSpPr>
        <p:spPr bwMode="auto">
          <a:xfrm>
            <a:off x="7616825" y="4824413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12</a:t>
            </a:r>
          </a:p>
        </p:txBody>
      </p:sp>
      <p:grpSp>
        <p:nvGrpSpPr>
          <p:cNvPr id="32802" name="Group 90"/>
          <p:cNvGrpSpPr>
            <a:grpSpLocks/>
          </p:cNvGrpSpPr>
          <p:nvPr/>
        </p:nvGrpSpPr>
        <p:grpSpPr bwMode="auto">
          <a:xfrm>
            <a:off x="6694488" y="4784725"/>
            <a:ext cx="468312" cy="457200"/>
            <a:chOff x="5033" y="2640"/>
            <a:chExt cx="295" cy="288"/>
          </a:xfrm>
        </p:grpSpPr>
        <p:sp>
          <p:nvSpPr>
            <p:cNvPr id="32806" name="Rectangle 84"/>
            <p:cNvSpPr>
              <a:spLocks noChangeArrowheads="1"/>
            </p:cNvSpPr>
            <p:nvPr/>
          </p:nvSpPr>
          <p:spPr bwMode="auto">
            <a:xfrm>
              <a:off x="5033" y="2640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32807" name="Text Box 85"/>
            <p:cNvSpPr txBox="1">
              <a:spLocks noChangeArrowheads="1"/>
            </p:cNvSpPr>
            <p:nvPr/>
          </p:nvSpPr>
          <p:spPr bwMode="auto">
            <a:xfrm>
              <a:off x="5038" y="2665"/>
              <a:ext cx="2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19</a:t>
              </a:r>
            </a:p>
          </p:txBody>
        </p:sp>
      </p:grpSp>
      <p:sp>
        <p:nvSpPr>
          <p:cNvPr id="32803" name="Text Box 91"/>
          <p:cNvSpPr txBox="1">
            <a:spLocks noChangeArrowheads="1"/>
          </p:cNvSpPr>
          <p:nvPr/>
        </p:nvSpPr>
        <p:spPr bwMode="auto">
          <a:xfrm>
            <a:off x="4114800" y="4419600"/>
            <a:ext cx="990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 typeface="Monotype Sorts" charset="2"/>
              <a:buNone/>
            </a:pPr>
            <a:r>
              <a:rPr lang="en-US" altLang="fr-FR"/>
              <a:t>swap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B0B7B1DC-A63A-DE40-A44A-3AC160AE8622}" type="slidenum">
              <a:rPr lang="zh-TW" altLang="en-US" sz="1200">
                <a:solidFill>
                  <a:srgbClr val="898989"/>
                </a:solidFill>
              </a:rPr>
              <a:pPr/>
              <a:t>31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Partitioning Strategy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153400" cy="3429000"/>
          </a:xfrm>
        </p:spPr>
        <p:txBody>
          <a:bodyPr/>
          <a:lstStyle/>
          <a:p>
            <a:r>
              <a:rPr lang="en-US" altLang="fr-FR" sz="2400" dirty="0"/>
              <a:t>Want to have</a:t>
            </a:r>
          </a:p>
          <a:p>
            <a:pPr lvl="1"/>
            <a:r>
              <a:rPr lang="en-US" altLang="fr-FR" sz="2000" dirty="0"/>
              <a:t>A[p] &lt; pivot, for p &lt; </a:t>
            </a:r>
            <a:r>
              <a:rPr lang="en-US" altLang="fr-FR" sz="2000" dirty="0" err="1"/>
              <a:t>i</a:t>
            </a:r>
            <a:endParaRPr lang="en-US" altLang="fr-FR" sz="2000" dirty="0"/>
          </a:p>
          <a:p>
            <a:pPr lvl="1"/>
            <a:r>
              <a:rPr lang="en-US" altLang="fr-FR" sz="2000" dirty="0"/>
              <a:t>A[p] &gt;= pivot, for p &gt; j</a:t>
            </a:r>
          </a:p>
          <a:p>
            <a:r>
              <a:rPr lang="en-US" altLang="fr-FR" sz="2400" dirty="0"/>
              <a:t>When </a:t>
            </a:r>
            <a:r>
              <a:rPr lang="en-US" altLang="fr-FR" sz="2400" dirty="0" err="1"/>
              <a:t>i</a:t>
            </a:r>
            <a:r>
              <a:rPr lang="en-US" altLang="fr-FR" sz="2400" dirty="0"/>
              <a:t> &lt; j</a:t>
            </a:r>
          </a:p>
          <a:p>
            <a:pPr lvl="1"/>
            <a:r>
              <a:rPr lang="en-US" altLang="fr-FR" sz="2000" dirty="0"/>
              <a:t>Move </a:t>
            </a:r>
            <a:r>
              <a:rPr lang="en-US" altLang="fr-FR" sz="2000" dirty="0" err="1"/>
              <a:t>i</a:t>
            </a:r>
            <a:r>
              <a:rPr lang="en-US" altLang="fr-FR" sz="2000" dirty="0"/>
              <a:t> right, skipping over elements smaller than the pivot</a:t>
            </a:r>
          </a:p>
          <a:p>
            <a:pPr lvl="1"/>
            <a:r>
              <a:rPr lang="en-US" altLang="fr-FR" sz="2000" dirty="0"/>
              <a:t>Move j left, skipping over elements greater or equal than the pivot</a:t>
            </a:r>
          </a:p>
          <a:p>
            <a:pPr lvl="1"/>
            <a:r>
              <a:rPr lang="en-US" altLang="fr-FR" sz="2000" dirty="0"/>
              <a:t>When both </a:t>
            </a:r>
            <a:r>
              <a:rPr lang="en-US" altLang="fr-FR" sz="2000" dirty="0" err="1"/>
              <a:t>i</a:t>
            </a:r>
            <a:r>
              <a:rPr lang="en-US" altLang="fr-FR" sz="2000" dirty="0"/>
              <a:t> and j have stopped</a:t>
            </a:r>
          </a:p>
          <a:p>
            <a:pPr lvl="2"/>
            <a:r>
              <a:rPr lang="en-US" altLang="fr-FR" sz="1800" dirty="0"/>
              <a:t>A[</a:t>
            </a:r>
            <a:r>
              <a:rPr lang="en-US" altLang="fr-FR" sz="1800" dirty="0" err="1"/>
              <a:t>i</a:t>
            </a:r>
            <a:r>
              <a:rPr lang="en-US" altLang="fr-FR" sz="1800" dirty="0"/>
              <a:t>] &gt;= pivot</a:t>
            </a:r>
          </a:p>
          <a:p>
            <a:pPr lvl="2"/>
            <a:r>
              <a:rPr lang="en-US" altLang="fr-FR" sz="1800" dirty="0"/>
              <a:t>A[j] &lt; pivot</a:t>
            </a:r>
          </a:p>
        </p:txBody>
      </p:sp>
      <p:sp>
        <p:nvSpPr>
          <p:cNvPr id="33796" name="AutoShape 102"/>
          <p:cNvSpPr>
            <a:spLocks noChangeArrowheads="1"/>
          </p:cNvSpPr>
          <p:nvPr/>
        </p:nvSpPr>
        <p:spPr bwMode="auto">
          <a:xfrm>
            <a:off x="4298950" y="5181600"/>
            <a:ext cx="457200" cy="304800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accent1"/>
          </a:solidFill>
          <a:ln w="3175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grpSp>
        <p:nvGrpSpPr>
          <p:cNvPr id="33797" name="Group 106"/>
          <p:cNvGrpSpPr>
            <a:grpSpLocks/>
          </p:cNvGrpSpPr>
          <p:nvPr/>
        </p:nvGrpSpPr>
        <p:grpSpPr bwMode="auto">
          <a:xfrm>
            <a:off x="609600" y="5699125"/>
            <a:ext cx="304800" cy="854075"/>
            <a:chOff x="3456" y="3206"/>
            <a:chExt cx="192" cy="538"/>
          </a:xfrm>
        </p:grpSpPr>
        <p:sp>
          <p:nvSpPr>
            <p:cNvPr id="33841" name="Line 107"/>
            <p:cNvSpPr>
              <a:spLocks noChangeShapeType="1"/>
            </p:cNvSpPr>
            <p:nvPr/>
          </p:nvSpPr>
          <p:spPr bwMode="auto">
            <a:xfrm flipV="1">
              <a:off x="3552" y="320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842" name="Text Box 108"/>
            <p:cNvSpPr txBox="1">
              <a:spLocks noChangeArrowheads="1"/>
            </p:cNvSpPr>
            <p:nvPr/>
          </p:nvSpPr>
          <p:spPr bwMode="auto">
            <a:xfrm>
              <a:off x="3456" y="349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i</a:t>
              </a:r>
            </a:p>
          </p:txBody>
        </p:sp>
      </p:grpSp>
      <p:grpSp>
        <p:nvGrpSpPr>
          <p:cNvPr id="33798" name="Group 109"/>
          <p:cNvGrpSpPr>
            <a:grpSpLocks/>
          </p:cNvGrpSpPr>
          <p:nvPr/>
        </p:nvGrpSpPr>
        <p:grpSpPr bwMode="auto">
          <a:xfrm>
            <a:off x="2895600" y="5699125"/>
            <a:ext cx="381000" cy="838200"/>
            <a:chOff x="4992" y="3206"/>
            <a:chExt cx="240" cy="528"/>
          </a:xfrm>
        </p:grpSpPr>
        <p:sp>
          <p:nvSpPr>
            <p:cNvPr id="33839" name="Line 110"/>
            <p:cNvSpPr>
              <a:spLocks noChangeShapeType="1"/>
            </p:cNvSpPr>
            <p:nvPr/>
          </p:nvSpPr>
          <p:spPr bwMode="auto">
            <a:xfrm flipV="1">
              <a:off x="5088" y="320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840" name="Text Box 111"/>
            <p:cNvSpPr txBox="1">
              <a:spLocks noChangeArrowheads="1"/>
            </p:cNvSpPr>
            <p:nvPr/>
          </p:nvSpPr>
          <p:spPr bwMode="auto">
            <a:xfrm>
              <a:off x="4992" y="348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j</a:t>
              </a:r>
            </a:p>
          </p:txBody>
        </p:sp>
      </p:grpSp>
      <p:sp>
        <p:nvSpPr>
          <p:cNvPr id="33799" name="Rectangle 112"/>
          <p:cNvSpPr>
            <a:spLocks noChangeArrowheads="1"/>
          </p:cNvSpPr>
          <p:nvPr/>
        </p:nvSpPr>
        <p:spPr bwMode="auto">
          <a:xfrm>
            <a:off x="522288" y="50895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3800" name="Text Box 113"/>
          <p:cNvSpPr txBox="1">
            <a:spLocks noChangeArrowheads="1"/>
          </p:cNvSpPr>
          <p:nvPr/>
        </p:nvSpPr>
        <p:spPr bwMode="auto">
          <a:xfrm>
            <a:off x="598488" y="51292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5</a:t>
            </a:r>
          </a:p>
        </p:txBody>
      </p:sp>
      <p:sp>
        <p:nvSpPr>
          <p:cNvPr id="33801" name="Rectangle 114"/>
          <p:cNvSpPr>
            <a:spLocks noChangeArrowheads="1"/>
          </p:cNvSpPr>
          <p:nvPr/>
        </p:nvSpPr>
        <p:spPr bwMode="auto">
          <a:xfrm>
            <a:off x="979488" y="50895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3802" name="Text Box 115"/>
          <p:cNvSpPr txBox="1">
            <a:spLocks noChangeArrowheads="1"/>
          </p:cNvSpPr>
          <p:nvPr/>
        </p:nvSpPr>
        <p:spPr bwMode="auto">
          <a:xfrm>
            <a:off x="1055688" y="51292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6</a:t>
            </a:r>
          </a:p>
        </p:txBody>
      </p:sp>
      <p:sp>
        <p:nvSpPr>
          <p:cNvPr id="33803" name="Rectangle 116"/>
          <p:cNvSpPr>
            <a:spLocks noChangeArrowheads="1"/>
          </p:cNvSpPr>
          <p:nvPr/>
        </p:nvSpPr>
        <p:spPr bwMode="auto">
          <a:xfrm>
            <a:off x="1436688" y="50895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3804" name="Text Box 117"/>
          <p:cNvSpPr txBox="1">
            <a:spLocks noChangeArrowheads="1"/>
          </p:cNvSpPr>
          <p:nvPr/>
        </p:nvSpPr>
        <p:spPr bwMode="auto">
          <a:xfrm>
            <a:off x="1512888" y="51292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4</a:t>
            </a:r>
          </a:p>
        </p:txBody>
      </p:sp>
      <p:grpSp>
        <p:nvGrpSpPr>
          <p:cNvPr id="33805" name="Group 118"/>
          <p:cNvGrpSpPr>
            <a:grpSpLocks/>
          </p:cNvGrpSpPr>
          <p:nvPr/>
        </p:nvGrpSpPr>
        <p:grpSpPr bwMode="auto">
          <a:xfrm>
            <a:off x="3276600" y="5089525"/>
            <a:ext cx="457200" cy="457200"/>
            <a:chOff x="4169" y="2640"/>
            <a:chExt cx="288" cy="288"/>
          </a:xfrm>
        </p:grpSpPr>
        <p:sp>
          <p:nvSpPr>
            <p:cNvPr id="33837" name="Rectangle 119"/>
            <p:cNvSpPr>
              <a:spLocks noChangeArrowheads="1"/>
            </p:cNvSpPr>
            <p:nvPr/>
          </p:nvSpPr>
          <p:spPr bwMode="auto">
            <a:xfrm>
              <a:off x="4169" y="2640"/>
              <a:ext cx="28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33838" name="Text Box 120"/>
            <p:cNvSpPr txBox="1">
              <a:spLocks noChangeArrowheads="1"/>
            </p:cNvSpPr>
            <p:nvPr/>
          </p:nvSpPr>
          <p:spPr bwMode="auto">
            <a:xfrm>
              <a:off x="4237" y="2678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6</a:t>
              </a:r>
            </a:p>
          </p:txBody>
        </p:sp>
      </p:grpSp>
      <p:sp>
        <p:nvSpPr>
          <p:cNvPr id="33806" name="Rectangle 121"/>
          <p:cNvSpPr>
            <a:spLocks noChangeArrowheads="1"/>
          </p:cNvSpPr>
          <p:nvPr/>
        </p:nvSpPr>
        <p:spPr bwMode="auto">
          <a:xfrm>
            <a:off x="2351088" y="50895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3807" name="Text Box 122"/>
          <p:cNvSpPr txBox="1">
            <a:spLocks noChangeArrowheads="1"/>
          </p:cNvSpPr>
          <p:nvPr/>
        </p:nvSpPr>
        <p:spPr bwMode="auto">
          <a:xfrm>
            <a:off x="2427288" y="51292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3</a:t>
            </a:r>
          </a:p>
        </p:txBody>
      </p:sp>
      <p:sp>
        <p:nvSpPr>
          <p:cNvPr id="33808" name="Rectangle 123"/>
          <p:cNvSpPr>
            <a:spLocks noChangeArrowheads="1"/>
          </p:cNvSpPr>
          <p:nvPr/>
        </p:nvSpPr>
        <p:spPr bwMode="auto">
          <a:xfrm>
            <a:off x="2808288" y="50895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3809" name="Text Box 124"/>
          <p:cNvSpPr txBox="1">
            <a:spLocks noChangeArrowheads="1"/>
          </p:cNvSpPr>
          <p:nvPr/>
        </p:nvSpPr>
        <p:spPr bwMode="auto">
          <a:xfrm>
            <a:off x="2816225" y="5129213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12</a:t>
            </a:r>
          </a:p>
        </p:txBody>
      </p:sp>
      <p:grpSp>
        <p:nvGrpSpPr>
          <p:cNvPr id="33810" name="Group 125"/>
          <p:cNvGrpSpPr>
            <a:grpSpLocks/>
          </p:cNvGrpSpPr>
          <p:nvPr/>
        </p:nvGrpSpPr>
        <p:grpSpPr bwMode="auto">
          <a:xfrm>
            <a:off x="1893888" y="5089525"/>
            <a:ext cx="468312" cy="457200"/>
            <a:chOff x="5033" y="2640"/>
            <a:chExt cx="295" cy="288"/>
          </a:xfrm>
        </p:grpSpPr>
        <p:sp>
          <p:nvSpPr>
            <p:cNvPr id="33835" name="Rectangle 126"/>
            <p:cNvSpPr>
              <a:spLocks noChangeArrowheads="1"/>
            </p:cNvSpPr>
            <p:nvPr/>
          </p:nvSpPr>
          <p:spPr bwMode="auto">
            <a:xfrm>
              <a:off x="5033" y="2640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33836" name="Text Box 127"/>
            <p:cNvSpPr txBox="1">
              <a:spLocks noChangeArrowheads="1"/>
            </p:cNvSpPr>
            <p:nvPr/>
          </p:nvSpPr>
          <p:spPr bwMode="auto">
            <a:xfrm>
              <a:off x="5038" y="2665"/>
              <a:ext cx="2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19</a:t>
              </a:r>
            </a:p>
          </p:txBody>
        </p:sp>
      </p:grpSp>
      <p:grpSp>
        <p:nvGrpSpPr>
          <p:cNvPr id="33811" name="Group 131"/>
          <p:cNvGrpSpPr>
            <a:grpSpLocks/>
          </p:cNvGrpSpPr>
          <p:nvPr/>
        </p:nvGrpSpPr>
        <p:grpSpPr bwMode="auto">
          <a:xfrm>
            <a:off x="5867400" y="5715000"/>
            <a:ext cx="304800" cy="854075"/>
            <a:chOff x="3456" y="3206"/>
            <a:chExt cx="192" cy="538"/>
          </a:xfrm>
        </p:grpSpPr>
        <p:sp>
          <p:nvSpPr>
            <p:cNvPr id="33833" name="Line 132"/>
            <p:cNvSpPr>
              <a:spLocks noChangeShapeType="1"/>
            </p:cNvSpPr>
            <p:nvPr/>
          </p:nvSpPr>
          <p:spPr bwMode="auto">
            <a:xfrm flipV="1">
              <a:off x="3552" y="320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834" name="Text Box 133"/>
            <p:cNvSpPr txBox="1">
              <a:spLocks noChangeArrowheads="1"/>
            </p:cNvSpPr>
            <p:nvPr/>
          </p:nvSpPr>
          <p:spPr bwMode="auto">
            <a:xfrm>
              <a:off x="3456" y="349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i</a:t>
              </a:r>
            </a:p>
          </p:txBody>
        </p:sp>
      </p:grpSp>
      <p:grpSp>
        <p:nvGrpSpPr>
          <p:cNvPr id="33812" name="Group 134"/>
          <p:cNvGrpSpPr>
            <a:grpSpLocks/>
          </p:cNvGrpSpPr>
          <p:nvPr/>
        </p:nvGrpSpPr>
        <p:grpSpPr bwMode="auto">
          <a:xfrm>
            <a:off x="7239000" y="5715000"/>
            <a:ext cx="381000" cy="838200"/>
            <a:chOff x="4992" y="3206"/>
            <a:chExt cx="240" cy="528"/>
          </a:xfrm>
        </p:grpSpPr>
        <p:sp>
          <p:nvSpPr>
            <p:cNvPr id="33831" name="Line 135"/>
            <p:cNvSpPr>
              <a:spLocks noChangeShapeType="1"/>
            </p:cNvSpPr>
            <p:nvPr/>
          </p:nvSpPr>
          <p:spPr bwMode="auto">
            <a:xfrm flipV="1">
              <a:off x="5088" y="320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832" name="Text Box 136"/>
            <p:cNvSpPr txBox="1">
              <a:spLocks noChangeArrowheads="1"/>
            </p:cNvSpPr>
            <p:nvPr/>
          </p:nvSpPr>
          <p:spPr bwMode="auto">
            <a:xfrm>
              <a:off x="4992" y="348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j</a:t>
              </a:r>
            </a:p>
          </p:txBody>
        </p:sp>
      </p:grpSp>
      <p:sp>
        <p:nvSpPr>
          <p:cNvPr id="33813" name="Rectangle 137"/>
          <p:cNvSpPr>
            <a:spLocks noChangeArrowheads="1"/>
          </p:cNvSpPr>
          <p:nvPr/>
        </p:nvSpPr>
        <p:spPr bwMode="auto">
          <a:xfrm>
            <a:off x="5322888" y="51054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3814" name="Text Box 138"/>
          <p:cNvSpPr txBox="1">
            <a:spLocks noChangeArrowheads="1"/>
          </p:cNvSpPr>
          <p:nvPr/>
        </p:nvSpPr>
        <p:spPr bwMode="auto">
          <a:xfrm>
            <a:off x="5399088" y="5145088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5</a:t>
            </a:r>
          </a:p>
        </p:txBody>
      </p:sp>
      <p:sp>
        <p:nvSpPr>
          <p:cNvPr id="33815" name="Rectangle 139"/>
          <p:cNvSpPr>
            <a:spLocks noChangeArrowheads="1"/>
          </p:cNvSpPr>
          <p:nvPr/>
        </p:nvSpPr>
        <p:spPr bwMode="auto">
          <a:xfrm>
            <a:off x="5780088" y="51054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3816" name="Text Box 140"/>
          <p:cNvSpPr txBox="1">
            <a:spLocks noChangeArrowheads="1"/>
          </p:cNvSpPr>
          <p:nvPr/>
        </p:nvSpPr>
        <p:spPr bwMode="auto">
          <a:xfrm>
            <a:off x="5856288" y="5145088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6</a:t>
            </a:r>
          </a:p>
        </p:txBody>
      </p:sp>
      <p:sp>
        <p:nvSpPr>
          <p:cNvPr id="33817" name="Rectangle 141"/>
          <p:cNvSpPr>
            <a:spLocks noChangeArrowheads="1"/>
          </p:cNvSpPr>
          <p:nvPr/>
        </p:nvSpPr>
        <p:spPr bwMode="auto">
          <a:xfrm>
            <a:off x="6237288" y="51054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3818" name="Text Box 142"/>
          <p:cNvSpPr txBox="1">
            <a:spLocks noChangeArrowheads="1"/>
          </p:cNvSpPr>
          <p:nvPr/>
        </p:nvSpPr>
        <p:spPr bwMode="auto">
          <a:xfrm>
            <a:off x="6313488" y="5145088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4</a:t>
            </a:r>
          </a:p>
        </p:txBody>
      </p:sp>
      <p:grpSp>
        <p:nvGrpSpPr>
          <p:cNvPr id="33819" name="Group 143"/>
          <p:cNvGrpSpPr>
            <a:grpSpLocks/>
          </p:cNvGrpSpPr>
          <p:nvPr/>
        </p:nvGrpSpPr>
        <p:grpSpPr bwMode="auto">
          <a:xfrm>
            <a:off x="8077200" y="5105400"/>
            <a:ext cx="457200" cy="457200"/>
            <a:chOff x="4169" y="2640"/>
            <a:chExt cx="288" cy="288"/>
          </a:xfrm>
        </p:grpSpPr>
        <p:sp>
          <p:nvSpPr>
            <p:cNvPr id="33829" name="Rectangle 144"/>
            <p:cNvSpPr>
              <a:spLocks noChangeArrowheads="1"/>
            </p:cNvSpPr>
            <p:nvPr/>
          </p:nvSpPr>
          <p:spPr bwMode="auto">
            <a:xfrm>
              <a:off x="4169" y="2640"/>
              <a:ext cx="28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33830" name="Text Box 145"/>
            <p:cNvSpPr txBox="1">
              <a:spLocks noChangeArrowheads="1"/>
            </p:cNvSpPr>
            <p:nvPr/>
          </p:nvSpPr>
          <p:spPr bwMode="auto">
            <a:xfrm>
              <a:off x="4237" y="2678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6</a:t>
              </a:r>
            </a:p>
          </p:txBody>
        </p:sp>
      </p:grpSp>
      <p:sp>
        <p:nvSpPr>
          <p:cNvPr id="33820" name="Rectangle 146"/>
          <p:cNvSpPr>
            <a:spLocks noChangeArrowheads="1"/>
          </p:cNvSpPr>
          <p:nvPr/>
        </p:nvSpPr>
        <p:spPr bwMode="auto">
          <a:xfrm>
            <a:off x="7151688" y="51054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3821" name="Text Box 147"/>
          <p:cNvSpPr txBox="1">
            <a:spLocks noChangeArrowheads="1"/>
          </p:cNvSpPr>
          <p:nvPr/>
        </p:nvSpPr>
        <p:spPr bwMode="auto">
          <a:xfrm>
            <a:off x="7227888" y="5145088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3</a:t>
            </a:r>
          </a:p>
        </p:txBody>
      </p:sp>
      <p:sp>
        <p:nvSpPr>
          <p:cNvPr id="33822" name="Rectangle 148"/>
          <p:cNvSpPr>
            <a:spLocks noChangeArrowheads="1"/>
          </p:cNvSpPr>
          <p:nvPr/>
        </p:nvSpPr>
        <p:spPr bwMode="auto">
          <a:xfrm>
            <a:off x="7608888" y="51054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3823" name="Text Box 149"/>
          <p:cNvSpPr txBox="1">
            <a:spLocks noChangeArrowheads="1"/>
          </p:cNvSpPr>
          <p:nvPr/>
        </p:nvSpPr>
        <p:spPr bwMode="auto">
          <a:xfrm>
            <a:off x="7616825" y="5145088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12</a:t>
            </a:r>
          </a:p>
        </p:txBody>
      </p:sp>
      <p:grpSp>
        <p:nvGrpSpPr>
          <p:cNvPr id="33824" name="Group 150"/>
          <p:cNvGrpSpPr>
            <a:grpSpLocks/>
          </p:cNvGrpSpPr>
          <p:nvPr/>
        </p:nvGrpSpPr>
        <p:grpSpPr bwMode="auto">
          <a:xfrm>
            <a:off x="6694488" y="5105400"/>
            <a:ext cx="468312" cy="457200"/>
            <a:chOff x="5033" y="2640"/>
            <a:chExt cx="295" cy="288"/>
          </a:xfrm>
        </p:grpSpPr>
        <p:sp>
          <p:nvSpPr>
            <p:cNvPr id="33827" name="Rectangle 151"/>
            <p:cNvSpPr>
              <a:spLocks noChangeArrowheads="1"/>
            </p:cNvSpPr>
            <p:nvPr/>
          </p:nvSpPr>
          <p:spPr bwMode="auto">
            <a:xfrm>
              <a:off x="5033" y="2640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33828" name="Text Box 152"/>
            <p:cNvSpPr txBox="1">
              <a:spLocks noChangeArrowheads="1"/>
            </p:cNvSpPr>
            <p:nvPr/>
          </p:nvSpPr>
          <p:spPr bwMode="auto">
            <a:xfrm>
              <a:off x="5038" y="2665"/>
              <a:ext cx="2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19</a:t>
              </a:r>
            </a:p>
          </p:txBody>
        </p:sp>
      </p:grp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61A02296-E55C-6941-8F64-E88F363306CF}" type="slidenum">
              <a:rPr lang="zh-TW" altLang="en-US" sz="1200">
                <a:solidFill>
                  <a:srgbClr val="898989"/>
                </a:solidFill>
              </a:rPr>
              <a:pPr/>
              <a:t>32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Partitioning Strategy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848600" cy="3048000"/>
          </a:xfrm>
        </p:spPr>
        <p:txBody>
          <a:bodyPr/>
          <a:lstStyle/>
          <a:p>
            <a:r>
              <a:rPr lang="en-US" altLang="fr-FR" sz="2400" dirty="0"/>
              <a:t>When </a:t>
            </a:r>
            <a:r>
              <a:rPr lang="en-US" altLang="fr-FR" sz="2400" dirty="0" err="1"/>
              <a:t>i</a:t>
            </a:r>
            <a:r>
              <a:rPr lang="en-US" altLang="fr-FR" sz="2400" dirty="0"/>
              <a:t> and j have stopped and </a:t>
            </a:r>
            <a:r>
              <a:rPr lang="en-US" altLang="fr-FR" sz="2400" dirty="0" err="1"/>
              <a:t>i</a:t>
            </a:r>
            <a:r>
              <a:rPr lang="en-US" altLang="fr-FR" sz="2400" dirty="0"/>
              <a:t> is to the left of j</a:t>
            </a:r>
          </a:p>
          <a:p>
            <a:pPr lvl="1"/>
            <a:r>
              <a:rPr lang="en-US" altLang="fr-FR" sz="2000" dirty="0"/>
              <a:t>Swap A[</a:t>
            </a:r>
            <a:r>
              <a:rPr lang="en-US" altLang="fr-FR" sz="2000" dirty="0" err="1"/>
              <a:t>i</a:t>
            </a:r>
            <a:r>
              <a:rPr lang="en-US" altLang="fr-FR" sz="2000" dirty="0"/>
              <a:t>] and A[j]</a:t>
            </a:r>
          </a:p>
          <a:p>
            <a:pPr lvl="2"/>
            <a:r>
              <a:rPr lang="en-US" altLang="fr-FR" sz="1800" dirty="0"/>
              <a:t>The large element is pushed to the right and the small element is pushed to the left</a:t>
            </a:r>
          </a:p>
          <a:p>
            <a:pPr lvl="1"/>
            <a:r>
              <a:rPr lang="en-US" altLang="fr-FR" sz="2000" dirty="0"/>
              <a:t>After swapping</a:t>
            </a:r>
          </a:p>
          <a:p>
            <a:pPr lvl="2"/>
            <a:r>
              <a:rPr lang="en-US" altLang="fr-FR" sz="1800" dirty="0"/>
              <a:t>A[</a:t>
            </a:r>
            <a:r>
              <a:rPr lang="en-US" altLang="fr-FR" sz="1800" dirty="0" err="1"/>
              <a:t>i</a:t>
            </a:r>
            <a:r>
              <a:rPr lang="en-US" altLang="fr-FR" sz="1800" dirty="0"/>
              <a:t>] &lt; pivot</a:t>
            </a:r>
          </a:p>
          <a:p>
            <a:pPr lvl="2"/>
            <a:r>
              <a:rPr lang="en-US" altLang="fr-FR" sz="1800" dirty="0"/>
              <a:t>A[j] &gt;= pivot</a:t>
            </a:r>
          </a:p>
          <a:p>
            <a:pPr lvl="1"/>
            <a:r>
              <a:rPr lang="en-US" altLang="fr-FR" sz="2000" dirty="0"/>
              <a:t>Repeat the process until </a:t>
            </a:r>
            <a:r>
              <a:rPr lang="en-US" altLang="fr-FR" sz="2000" dirty="0" err="1"/>
              <a:t>i</a:t>
            </a:r>
            <a:r>
              <a:rPr lang="en-US" altLang="fr-FR" sz="2000" dirty="0"/>
              <a:t> and j cross</a:t>
            </a:r>
          </a:p>
        </p:txBody>
      </p:sp>
      <p:sp>
        <p:nvSpPr>
          <p:cNvPr id="34820" name="AutoShape 30"/>
          <p:cNvSpPr>
            <a:spLocks noChangeArrowheads="1"/>
          </p:cNvSpPr>
          <p:nvPr/>
        </p:nvSpPr>
        <p:spPr bwMode="auto">
          <a:xfrm>
            <a:off x="4343400" y="5181600"/>
            <a:ext cx="457200" cy="304800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accent1"/>
          </a:solidFill>
          <a:ln w="3175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4821" name="Text Box 57"/>
          <p:cNvSpPr txBox="1">
            <a:spLocks noChangeArrowheads="1"/>
          </p:cNvSpPr>
          <p:nvPr/>
        </p:nvSpPr>
        <p:spPr bwMode="auto">
          <a:xfrm>
            <a:off x="4114800" y="4724400"/>
            <a:ext cx="990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 typeface="Monotype Sorts" charset="2"/>
              <a:buNone/>
            </a:pPr>
            <a:r>
              <a:rPr lang="en-US" altLang="fr-FR"/>
              <a:t>swap</a:t>
            </a:r>
          </a:p>
        </p:txBody>
      </p:sp>
      <p:grpSp>
        <p:nvGrpSpPr>
          <p:cNvPr id="34822" name="Group 61"/>
          <p:cNvGrpSpPr>
            <a:grpSpLocks/>
          </p:cNvGrpSpPr>
          <p:nvPr/>
        </p:nvGrpSpPr>
        <p:grpSpPr bwMode="auto">
          <a:xfrm>
            <a:off x="1077913" y="5715000"/>
            <a:ext cx="304800" cy="854075"/>
            <a:chOff x="3456" y="3206"/>
            <a:chExt cx="192" cy="538"/>
          </a:xfrm>
        </p:grpSpPr>
        <p:sp>
          <p:nvSpPr>
            <p:cNvPr id="34866" name="Line 62"/>
            <p:cNvSpPr>
              <a:spLocks noChangeShapeType="1"/>
            </p:cNvSpPr>
            <p:nvPr/>
          </p:nvSpPr>
          <p:spPr bwMode="auto">
            <a:xfrm flipV="1">
              <a:off x="3552" y="320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867" name="Text Box 63"/>
            <p:cNvSpPr txBox="1">
              <a:spLocks noChangeArrowheads="1"/>
            </p:cNvSpPr>
            <p:nvPr/>
          </p:nvSpPr>
          <p:spPr bwMode="auto">
            <a:xfrm>
              <a:off x="3456" y="349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i</a:t>
              </a:r>
            </a:p>
          </p:txBody>
        </p:sp>
      </p:grpSp>
      <p:grpSp>
        <p:nvGrpSpPr>
          <p:cNvPr id="34823" name="Group 64"/>
          <p:cNvGrpSpPr>
            <a:grpSpLocks/>
          </p:cNvGrpSpPr>
          <p:nvPr/>
        </p:nvGrpSpPr>
        <p:grpSpPr bwMode="auto">
          <a:xfrm>
            <a:off x="2449513" y="5715000"/>
            <a:ext cx="381000" cy="838200"/>
            <a:chOff x="4992" y="3206"/>
            <a:chExt cx="240" cy="528"/>
          </a:xfrm>
        </p:grpSpPr>
        <p:sp>
          <p:nvSpPr>
            <p:cNvPr id="34864" name="Line 65"/>
            <p:cNvSpPr>
              <a:spLocks noChangeShapeType="1"/>
            </p:cNvSpPr>
            <p:nvPr/>
          </p:nvSpPr>
          <p:spPr bwMode="auto">
            <a:xfrm flipV="1">
              <a:off x="5088" y="320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865" name="Text Box 66"/>
            <p:cNvSpPr txBox="1">
              <a:spLocks noChangeArrowheads="1"/>
            </p:cNvSpPr>
            <p:nvPr/>
          </p:nvSpPr>
          <p:spPr bwMode="auto">
            <a:xfrm>
              <a:off x="4992" y="348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j</a:t>
              </a:r>
            </a:p>
          </p:txBody>
        </p:sp>
      </p:grpSp>
      <p:sp>
        <p:nvSpPr>
          <p:cNvPr id="34824" name="Rectangle 67"/>
          <p:cNvSpPr>
            <a:spLocks noChangeArrowheads="1"/>
          </p:cNvSpPr>
          <p:nvPr/>
        </p:nvSpPr>
        <p:spPr bwMode="auto">
          <a:xfrm>
            <a:off x="533400" y="51054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4825" name="Text Box 68"/>
          <p:cNvSpPr txBox="1">
            <a:spLocks noChangeArrowheads="1"/>
          </p:cNvSpPr>
          <p:nvPr/>
        </p:nvSpPr>
        <p:spPr bwMode="auto">
          <a:xfrm>
            <a:off x="609600" y="5145088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5</a:t>
            </a:r>
          </a:p>
        </p:txBody>
      </p:sp>
      <p:sp>
        <p:nvSpPr>
          <p:cNvPr id="34826" name="Rectangle 69"/>
          <p:cNvSpPr>
            <a:spLocks noChangeArrowheads="1"/>
          </p:cNvSpPr>
          <p:nvPr/>
        </p:nvSpPr>
        <p:spPr bwMode="auto">
          <a:xfrm>
            <a:off x="990600" y="51054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4827" name="Text Box 70"/>
          <p:cNvSpPr txBox="1">
            <a:spLocks noChangeArrowheads="1"/>
          </p:cNvSpPr>
          <p:nvPr/>
        </p:nvSpPr>
        <p:spPr bwMode="auto">
          <a:xfrm>
            <a:off x="1066800" y="5145088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6</a:t>
            </a:r>
          </a:p>
        </p:txBody>
      </p:sp>
      <p:sp>
        <p:nvSpPr>
          <p:cNvPr id="34828" name="Rectangle 71"/>
          <p:cNvSpPr>
            <a:spLocks noChangeArrowheads="1"/>
          </p:cNvSpPr>
          <p:nvPr/>
        </p:nvSpPr>
        <p:spPr bwMode="auto">
          <a:xfrm>
            <a:off x="1447800" y="51054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4829" name="Text Box 72"/>
          <p:cNvSpPr txBox="1">
            <a:spLocks noChangeArrowheads="1"/>
          </p:cNvSpPr>
          <p:nvPr/>
        </p:nvSpPr>
        <p:spPr bwMode="auto">
          <a:xfrm>
            <a:off x="1524000" y="5145088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4</a:t>
            </a:r>
          </a:p>
        </p:txBody>
      </p:sp>
      <p:grpSp>
        <p:nvGrpSpPr>
          <p:cNvPr id="34830" name="Group 73"/>
          <p:cNvGrpSpPr>
            <a:grpSpLocks/>
          </p:cNvGrpSpPr>
          <p:nvPr/>
        </p:nvGrpSpPr>
        <p:grpSpPr bwMode="auto">
          <a:xfrm>
            <a:off x="3287713" y="5105400"/>
            <a:ext cx="457200" cy="457200"/>
            <a:chOff x="4169" y="2640"/>
            <a:chExt cx="288" cy="288"/>
          </a:xfrm>
        </p:grpSpPr>
        <p:sp>
          <p:nvSpPr>
            <p:cNvPr id="34862" name="Rectangle 74"/>
            <p:cNvSpPr>
              <a:spLocks noChangeArrowheads="1"/>
            </p:cNvSpPr>
            <p:nvPr/>
          </p:nvSpPr>
          <p:spPr bwMode="auto">
            <a:xfrm>
              <a:off x="4169" y="2640"/>
              <a:ext cx="28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34863" name="Text Box 75"/>
            <p:cNvSpPr txBox="1">
              <a:spLocks noChangeArrowheads="1"/>
            </p:cNvSpPr>
            <p:nvPr/>
          </p:nvSpPr>
          <p:spPr bwMode="auto">
            <a:xfrm>
              <a:off x="4237" y="2678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6</a:t>
              </a:r>
            </a:p>
          </p:txBody>
        </p:sp>
      </p:grpSp>
      <p:sp>
        <p:nvSpPr>
          <p:cNvPr id="34831" name="Rectangle 76"/>
          <p:cNvSpPr>
            <a:spLocks noChangeArrowheads="1"/>
          </p:cNvSpPr>
          <p:nvPr/>
        </p:nvSpPr>
        <p:spPr bwMode="auto">
          <a:xfrm>
            <a:off x="2362200" y="51054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4832" name="Text Box 77"/>
          <p:cNvSpPr txBox="1">
            <a:spLocks noChangeArrowheads="1"/>
          </p:cNvSpPr>
          <p:nvPr/>
        </p:nvSpPr>
        <p:spPr bwMode="auto">
          <a:xfrm>
            <a:off x="2438400" y="5145088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3</a:t>
            </a:r>
          </a:p>
        </p:txBody>
      </p:sp>
      <p:sp>
        <p:nvSpPr>
          <p:cNvPr id="34833" name="Rectangle 78"/>
          <p:cNvSpPr>
            <a:spLocks noChangeArrowheads="1"/>
          </p:cNvSpPr>
          <p:nvPr/>
        </p:nvSpPr>
        <p:spPr bwMode="auto">
          <a:xfrm>
            <a:off x="2819400" y="51054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4834" name="Text Box 79"/>
          <p:cNvSpPr txBox="1">
            <a:spLocks noChangeArrowheads="1"/>
          </p:cNvSpPr>
          <p:nvPr/>
        </p:nvSpPr>
        <p:spPr bwMode="auto">
          <a:xfrm>
            <a:off x="2827338" y="5145088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12</a:t>
            </a:r>
          </a:p>
        </p:txBody>
      </p:sp>
      <p:grpSp>
        <p:nvGrpSpPr>
          <p:cNvPr id="34835" name="Group 80"/>
          <p:cNvGrpSpPr>
            <a:grpSpLocks/>
          </p:cNvGrpSpPr>
          <p:nvPr/>
        </p:nvGrpSpPr>
        <p:grpSpPr bwMode="auto">
          <a:xfrm>
            <a:off x="1905000" y="5105400"/>
            <a:ext cx="468313" cy="457200"/>
            <a:chOff x="5033" y="2640"/>
            <a:chExt cx="295" cy="288"/>
          </a:xfrm>
        </p:grpSpPr>
        <p:sp>
          <p:nvSpPr>
            <p:cNvPr id="34860" name="Rectangle 81"/>
            <p:cNvSpPr>
              <a:spLocks noChangeArrowheads="1"/>
            </p:cNvSpPr>
            <p:nvPr/>
          </p:nvSpPr>
          <p:spPr bwMode="auto">
            <a:xfrm>
              <a:off x="5033" y="2640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34861" name="Text Box 82"/>
            <p:cNvSpPr txBox="1">
              <a:spLocks noChangeArrowheads="1"/>
            </p:cNvSpPr>
            <p:nvPr/>
          </p:nvSpPr>
          <p:spPr bwMode="auto">
            <a:xfrm>
              <a:off x="5038" y="2665"/>
              <a:ext cx="2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19</a:t>
              </a:r>
            </a:p>
          </p:txBody>
        </p:sp>
      </p:grpSp>
      <p:grpSp>
        <p:nvGrpSpPr>
          <p:cNvPr id="34836" name="Group 86"/>
          <p:cNvGrpSpPr>
            <a:grpSpLocks/>
          </p:cNvGrpSpPr>
          <p:nvPr/>
        </p:nvGrpSpPr>
        <p:grpSpPr bwMode="auto">
          <a:xfrm>
            <a:off x="5867400" y="5715000"/>
            <a:ext cx="304800" cy="854075"/>
            <a:chOff x="3456" y="3206"/>
            <a:chExt cx="192" cy="538"/>
          </a:xfrm>
        </p:grpSpPr>
        <p:sp>
          <p:nvSpPr>
            <p:cNvPr id="34858" name="Line 87"/>
            <p:cNvSpPr>
              <a:spLocks noChangeShapeType="1"/>
            </p:cNvSpPr>
            <p:nvPr/>
          </p:nvSpPr>
          <p:spPr bwMode="auto">
            <a:xfrm flipV="1">
              <a:off x="3552" y="320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859" name="Text Box 88"/>
            <p:cNvSpPr txBox="1">
              <a:spLocks noChangeArrowheads="1"/>
            </p:cNvSpPr>
            <p:nvPr/>
          </p:nvSpPr>
          <p:spPr bwMode="auto">
            <a:xfrm>
              <a:off x="3456" y="349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i</a:t>
              </a:r>
            </a:p>
          </p:txBody>
        </p:sp>
      </p:grpSp>
      <p:grpSp>
        <p:nvGrpSpPr>
          <p:cNvPr id="34837" name="Group 89"/>
          <p:cNvGrpSpPr>
            <a:grpSpLocks/>
          </p:cNvGrpSpPr>
          <p:nvPr/>
        </p:nvGrpSpPr>
        <p:grpSpPr bwMode="auto">
          <a:xfrm>
            <a:off x="7239000" y="5715000"/>
            <a:ext cx="381000" cy="838200"/>
            <a:chOff x="4992" y="3206"/>
            <a:chExt cx="240" cy="528"/>
          </a:xfrm>
        </p:grpSpPr>
        <p:sp>
          <p:nvSpPr>
            <p:cNvPr id="34856" name="Line 90"/>
            <p:cNvSpPr>
              <a:spLocks noChangeShapeType="1"/>
            </p:cNvSpPr>
            <p:nvPr/>
          </p:nvSpPr>
          <p:spPr bwMode="auto">
            <a:xfrm flipV="1">
              <a:off x="5088" y="320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857" name="Text Box 91"/>
            <p:cNvSpPr txBox="1">
              <a:spLocks noChangeArrowheads="1"/>
            </p:cNvSpPr>
            <p:nvPr/>
          </p:nvSpPr>
          <p:spPr bwMode="auto">
            <a:xfrm>
              <a:off x="4992" y="348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j</a:t>
              </a:r>
            </a:p>
          </p:txBody>
        </p:sp>
      </p:grpSp>
      <p:sp>
        <p:nvSpPr>
          <p:cNvPr id="34838" name="Rectangle 92"/>
          <p:cNvSpPr>
            <a:spLocks noChangeArrowheads="1"/>
          </p:cNvSpPr>
          <p:nvPr/>
        </p:nvSpPr>
        <p:spPr bwMode="auto">
          <a:xfrm>
            <a:off x="5322888" y="51054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4839" name="Text Box 93"/>
          <p:cNvSpPr txBox="1">
            <a:spLocks noChangeArrowheads="1"/>
          </p:cNvSpPr>
          <p:nvPr/>
        </p:nvSpPr>
        <p:spPr bwMode="auto">
          <a:xfrm>
            <a:off x="5399088" y="5145088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5</a:t>
            </a:r>
          </a:p>
        </p:txBody>
      </p:sp>
      <p:sp>
        <p:nvSpPr>
          <p:cNvPr id="34840" name="Rectangle 94"/>
          <p:cNvSpPr>
            <a:spLocks noChangeArrowheads="1"/>
          </p:cNvSpPr>
          <p:nvPr/>
        </p:nvSpPr>
        <p:spPr bwMode="auto">
          <a:xfrm>
            <a:off x="5780088" y="51054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4841" name="Text Box 95"/>
          <p:cNvSpPr txBox="1">
            <a:spLocks noChangeArrowheads="1"/>
          </p:cNvSpPr>
          <p:nvPr/>
        </p:nvSpPr>
        <p:spPr bwMode="auto">
          <a:xfrm>
            <a:off x="5856288" y="5145088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3</a:t>
            </a:r>
          </a:p>
        </p:txBody>
      </p:sp>
      <p:sp>
        <p:nvSpPr>
          <p:cNvPr id="34842" name="Rectangle 96"/>
          <p:cNvSpPr>
            <a:spLocks noChangeArrowheads="1"/>
          </p:cNvSpPr>
          <p:nvPr/>
        </p:nvSpPr>
        <p:spPr bwMode="auto">
          <a:xfrm>
            <a:off x="6237288" y="51054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4843" name="Text Box 97"/>
          <p:cNvSpPr txBox="1">
            <a:spLocks noChangeArrowheads="1"/>
          </p:cNvSpPr>
          <p:nvPr/>
        </p:nvSpPr>
        <p:spPr bwMode="auto">
          <a:xfrm>
            <a:off x="6313488" y="5145088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4</a:t>
            </a:r>
          </a:p>
        </p:txBody>
      </p:sp>
      <p:grpSp>
        <p:nvGrpSpPr>
          <p:cNvPr id="34844" name="Group 98"/>
          <p:cNvGrpSpPr>
            <a:grpSpLocks/>
          </p:cNvGrpSpPr>
          <p:nvPr/>
        </p:nvGrpSpPr>
        <p:grpSpPr bwMode="auto">
          <a:xfrm>
            <a:off x="8077200" y="5105400"/>
            <a:ext cx="457200" cy="457200"/>
            <a:chOff x="4169" y="2640"/>
            <a:chExt cx="288" cy="288"/>
          </a:xfrm>
        </p:grpSpPr>
        <p:sp>
          <p:nvSpPr>
            <p:cNvPr id="34854" name="Rectangle 99"/>
            <p:cNvSpPr>
              <a:spLocks noChangeArrowheads="1"/>
            </p:cNvSpPr>
            <p:nvPr/>
          </p:nvSpPr>
          <p:spPr bwMode="auto">
            <a:xfrm>
              <a:off x="4169" y="2640"/>
              <a:ext cx="28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34855" name="Text Box 100"/>
            <p:cNvSpPr txBox="1">
              <a:spLocks noChangeArrowheads="1"/>
            </p:cNvSpPr>
            <p:nvPr/>
          </p:nvSpPr>
          <p:spPr bwMode="auto">
            <a:xfrm>
              <a:off x="4237" y="2678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6</a:t>
              </a:r>
            </a:p>
          </p:txBody>
        </p:sp>
      </p:grpSp>
      <p:sp>
        <p:nvSpPr>
          <p:cNvPr id="34845" name="Rectangle 101"/>
          <p:cNvSpPr>
            <a:spLocks noChangeArrowheads="1"/>
          </p:cNvSpPr>
          <p:nvPr/>
        </p:nvSpPr>
        <p:spPr bwMode="auto">
          <a:xfrm>
            <a:off x="7151688" y="51054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4846" name="Text Box 102"/>
          <p:cNvSpPr txBox="1">
            <a:spLocks noChangeArrowheads="1"/>
          </p:cNvSpPr>
          <p:nvPr/>
        </p:nvSpPr>
        <p:spPr bwMode="auto">
          <a:xfrm>
            <a:off x="7227888" y="5145088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6</a:t>
            </a:r>
          </a:p>
        </p:txBody>
      </p:sp>
      <p:sp>
        <p:nvSpPr>
          <p:cNvPr id="34847" name="Rectangle 103"/>
          <p:cNvSpPr>
            <a:spLocks noChangeArrowheads="1"/>
          </p:cNvSpPr>
          <p:nvPr/>
        </p:nvSpPr>
        <p:spPr bwMode="auto">
          <a:xfrm>
            <a:off x="7608888" y="51054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4848" name="Text Box 104"/>
          <p:cNvSpPr txBox="1">
            <a:spLocks noChangeArrowheads="1"/>
          </p:cNvSpPr>
          <p:nvPr/>
        </p:nvSpPr>
        <p:spPr bwMode="auto">
          <a:xfrm>
            <a:off x="7616825" y="5145088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12</a:t>
            </a:r>
          </a:p>
        </p:txBody>
      </p:sp>
      <p:grpSp>
        <p:nvGrpSpPr>
          <p:cNvPr id="34849" name="Group 105"/>
          <p:cNvGrpSpPr>
            <a:grpSpLocks/>
          </p:cNvGrpSpPr>
          <p:nvPr/>
        </p:nvGrpSpPr>
        <p:grpSpPr bwMode="auto">
          <a:xfrm>
            <a:off x="6694488" y="5105400"/>
            <a:ext cx="468312" cy="457200"/>
            <a:chOff x="5033" y="2640"/>
            <a:chExt cx="295" cy="288"/>
          </a:xfrm>
        </p:grpSpPr>
        <p:sp>
          <p:nvSpPr>
            <p:cNvPr id="34852" name="Rectangle 106"/>
            <p:cNvSpPr>
              <a:spLocks noChangeArrowheads="1"/>
            </p:cNvSpPr>
            <p:nvPr/>
          </p:nvSpPr>
          <p:spPr bwMode="auto">
            <a:xfrm>
              <a:off x="5033" y="2640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34853" name="Text Box 107"/>
            <p:cNvSpPr txBox="1">
              <a:spLocks noChangeArrowheads="1"/>
            </p:cNvSpPr>
            <p:nvPr/>
          </p:nvSpPr>
          <p:spPr bwMode="auto">
            <a:xfrm>
              <a:off x="5038" y="2665"/>
              <a:ext cx="2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19</a:t>
              </a:r>
            </a:p>
          </p:txBody>
        </p:sp>
      </p:grp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AE87B822-4D18-4E41-860B-117737C9CF43}" type="slidenum">
              <a:rPr lang="zh-TW" altLang="en-US" sz="1200">
                <a:solidFill>
                  <a:srgbClr val="898989"/>
                </a:solidFill>
              </a:rPr>
              <a:pPr/>
              <a:t>33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Partitioning Strategy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828800"/>
            <a:ext cx="4876800" cy="4114800"/>
          </a:xfrm>
        </p:spPr>
        <p:txBody>
          <a:bodyPr/>
          <a:lstStyle/>
          <a:p>
            <a:r>
              <a:rPr lang="en-US" altLang="fr-FR" dirty="0"/>
              <a:t>When </a:t>
            </a:r>
            <a:r>
              <a:rPr lang="en-US" altLang="fr-FR" dirty="0" err="1"/>
              <a:t>i</a:t>
            </a:r>
            <a:r>
              <a:rPr lang="en-US" altLang="fr-FR" dirty="0"/>
              <a:t> and j have crossed</a:t>
            </a:r>
          </a:p>
          <a:p>
            <a:pPr lvl="1"/>
            <a:r>
              <a:rPr lang="en-US" altLang="fr-FR" dirty="0"/>
              <a:t>Swap A[</a:t>
            </a:r>
            <a:r>
              <a:rPr lang="en-US" altLang="fr-FR" dirty="0" err="1"/>
              <a:t>i</a:t>
            </a:r>
            <a:r>
              <a:rPr lang="en-US" altLang="fr-FR" dirty="0"/>
              <a:t>] and pivot</a:t>
            </a:r>
          </a:p>
          <a:p>
            <a:r>
              <a:rPr lang="en-US" altLang="fr-FR" dirty="0"/>
              <a:t>Result:</a:t>
            </a:r>
          </a:p>
          <a:p>
            <a:pPr lvl="1"/>
            <a:r>
              <a:rPr lang="en-US" altLang="fr-FR" dirty="0"/>
              <a:t>A[p] &lt; pivot, for p &lt; </a:t>
            </a:r>
            <a:r>
              <a:rPr lang="en-US" altLang="fr-FR" dirty="0" err="1"/>
              <a:t>i</a:t>
            </a:r>
            <a:endParaRPr lang="en-US" altLang="fr-FR" dirty="0"/>
          </a:p>
          <a:p>
            <a:pPr lvl="1"/>
            <a:r>
              <a:rPr lang="en-US" altLang="fr-FR" dirty="0"/>
              <a:t>A[p] &gt;= pivot, for p &gt; </a:t>
            </a:r>
            <a:r>
              <a:rPr lang="en-US" altLang="fr-FR" dirty="0" err="1"/>
              <a:t>i</a:t>
            </a:r>
            <a:endParaRPr lang="en-US" altLang="fr-FR" dirty="0"/>
          </a:p>
        </p:txBody>
      </p:sp>
      <p:grpSp>
        <p:nvGrpSpPr>
          <p:cNvPr id="35844" name="Group 111"/>
          <p:cNvGrpSpPr>
            <a:grpSpLocks/>
          </p:cNvGrpSpPr>
          <p:nvPr/>
        </p:nvGrpSpPr>
        <p:grpSpPr bwMode="auto">
          <a:xfrm>
            <a:off x="6096000" y="2498725"/>
            <a:ext cx="304800" cy="854075"/>
            <a:chOff x="3456" y="3206"/>
            <a:chExt cx="192" cy="538"/>
          </a:xfrm>
        </p:grpSpPr>
        <p:sp>
          <p:nvSpPr>
            <p:cNvPr id="35910" name="Line 112"/>
            <p:cNvSpPr>
              <a:spLocks noChangeShapeType="1"/>
            </p:cNvSpPr>
            <p:nvPr/>
          </p:nvSpPr>
          <p:spPr bwMode="auto">
            <a:xfrm flipV="1">
              <a:off x="3552" y="320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911" name="Text Box 113"/>
            <p:cNvSpPr txBox="1">
              <a:spLocks noChangeArrowheads="1"/>
            </p:cNvSpPr>
            <p:nvPr/>
          </p:nvSpPr>
          <p:spPr bwMode="auto">
            <a:xfrm>
              <a:off x="3456" y="349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i</a:t>
              </a:r>
            </a:p>
          </p:txBody>
        </p:sp>
      </p:grpSp>
      <p:grpSp>
        <p:nvGrpSpPr>
          <p:cNvPr id="35845" name="Group 114"/>
          <p:cNvGrpSpPr>
            <a:grpSpLocks/>
          </p:cNvGrpSpPr>
          <p:nvPr/>
        </p:nvGrpSpPr>
        <p:grpSpPr bwMode="auto">
          <a:xfrm>
            <a:off x="7467600" y="2498725"/>
            <a:ext cx="381000" cy="838200"/>
            <a:chOff x="4992" y="3206"/>
            <a:chExt cx="240" cy="528"/>
          </a:xfrm>
        </p:grpSpPr>
        <p:sp>
          <p:nvSpPr>
            <p:cNvPr id="35908" name="Line 115"/>
            <p:cNvSpPr>
              <a:spLocks noChangeShapeType="1"/>
            </p:cNvSpPr>
            <p:nvPr/>
          </p:nvSpPr>
          <p:spPr bwMode="auto">
            <a:xfrm flipV="1">
              <a:off x="5088" y="320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909" name="Text Box 116"/>
            <p:cNvSpPr txBox="1">
              <a:spLocks noChangeArrowheads="1"/>
            </p:cNvSpPr>
            <p:nvPr/>
          </p:nvSpPr>
          <p:spPr bwMode="auto">
            <a:xfrm>
              <a:off x="4992" y="348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j</a:t>
              </a:r>
            </a:p>
          </p:txBody>
        </p:sp>
      </p:grpSp>
      <p:sp>
        <p:nvSpPr>
          <p:cNvPr id="35846" name="Rectangle 117"/>
          <p:cNvSpPr>
            <a:spLocks noChangeArrowheads="1"/>
          </p:cNvSpPr>
          <p:nvPr/>
        </p:nvSpPr>
        <p:spPr bwMode="auto">
          <a:xfrm>
            <a:off x="5551488" y="18891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5847" name="Text Box 118"/>
          <p:cNvSpPr txBox="1">
            <a:spLocks noChangeArrowheads="1"/>
          </p:cNvSpPr>
          <p:nvPr/>
        </p:nvSpPr>
        <p:spPr bwMode="auto">
          <a:xfrm>
            <a:off x="5627688" y="19288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5</a:t>
            </a:r>
          </a:p>
        </p:txBody>
      </p:sp>
      <p:sp>
        <p:nvSpPr>
          <p:cNvPr id="35848" name="Rectangle 119"/>
          <p:cNvSpPr>
            <a:spLocks noChangeArrowheads="1"/>
          </p:cNvSpPr>
          <p:nvPr/>
        </p:nvSpPr>
        <p:spPr bwMode="auto">
          <a:xfrm>
            <a:off x="6008688" y="18891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5849" name="Text Box 120"/>
          <p:cNvSpPr txBox="1">
            <a:spLocks noChangeArrowheads="1"/>
          </p:cNvSpPr>
          <p:nvPr/>
        </p:nvSpPr>
        <p:spPr bwMode="auto">
          <a:xfrm>
            <a:off x="6084888" y="19288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3</a:t>
            </a:r>
          </a:p>
        </p:txBody>
      </p:sp>
      <p:sp>
        <p:nvSpPr>
          <p:cNvPr id="35850" name="Rectangle 121"/>
          <p:cNvSpPr>
            <a:spLocks noChangeArrowheads="1"/>
          </p:cNvSpPr>
          <p:nvPr/>
        </p:nvSpPr>
        <p:spPr bwMode="auto">
          <a:xfrm>
            <a:off x="6465888" y="18891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5851" name="Text Box 122"/>
          <p:cNvSpPr txBox="1">
            <a:spLocks noChangeArrowheads="1"/>
          </p:cNvSpPr>
          <p:nvPr/>
        </p:nvSpPr>
        <p:spPr bwMode="auto">
          <a:xfrm>
            <a:off x="6542088" y="19288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4</a:t>
            </a:r>
          </a:p>
        </p:txBody>
      </p:sp>
      <p:grpSp>
        <p:nvGrpSpPr>
          <p:cNvPr id="35852" name="Group 123"/>
          <p:cNvGrpSpPr>
            <a:grpSpLocks/>
          </p:cNvGrpSpPr>
          <p:nvPr/>
        </p:nvGrpSpPr>
        <p:grpSpPr bwMode="auto">
          <a:xfrm>
            <a:off x="8305800" y="1889125"/>
            <a:ext cx="457200" cy="457200"/>
            <a:chOff x="4169" y="2640"/>
            <a:chExt cx="288" cy="288"/>
          </a:xfrm>
        </p:grpSpPr>
        <p:sp>
          <p:nvSpPr>
            <p:cNvPr id="35906" name="Rectangle 124"/>
            <p:cNvSpPr>
              <a:spLocks noChangeArrowheads="1"/>
            </p:cNvSpPr>
            <p:nvPr/>
          </p:nvSpPr>
          <p:spPr bwMode="auto">
            <a:xfrm>
              <a:off x="4169" y="2640"/>
              <a:ext cx="28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35907" name="Text Box 125"/>
            <p:cNvSpPr txBox="1">
              <a:spLocks noChangeArrowheads="1"/>
            </p:cNvSpPr>
            <p:nvPr/>
          </p:nvSpPr>
          <p:spPr bwMode="auto">
            <a:xfrm>
              <a:off x="4237" y="2678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6</a:t>
              </a:r>
            </a:p>
          </p:txBody>
        </p:sp>
      </p:grpSp>
      <p:sp>
        <p:nvSpPr>
          <p:cNvPr id="35853" name="Rectangle 126"/>
          <p:cNvSpPr>
            <a:spLocks noChangeArrowheads="1"/>
          </p:cNvSpPr>
          <p:nvPr/>
        </p:nvSpPr>
        <p:spPr bwMode="auto">
          <a:xfrm>
            <a:off x="7380288" y="18891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5854" name="Text Box 127"/>
          <p:cNvSpPr txBox="1">
            <a:spLocks noChangeArrowheads="1"/>
          </p:cNvSpPr>
          <p:nvPr/>
        </p:nvSpPr>
        <p:spPr bwMode="auto">
          <a:xfrm>
            <a:off x="7456488" y="19288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6</a:t>
            </a:r>
          </a:p>
        </p:txBody>
      </p:sp>
      <p:sp>
        <p:nvSpPr>
          <p:cNvPr id="35855" name="Rectangle 128"/>
          <p:cNvSpPr>
            <a:spLocks noChangeArrowheads="1"/>
          </p:cNvSpPr>
          <p:nvPr/>
        </p:nvSpPr>
        <p:spPr bwMode="auto">
          <a:xfrm>
            <a:off x="7837488" y="18891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5856" name="Text Box 129"/>
          <p:cNvSpPr txBox="1">
            <a:spLocks noChangeArrowheads="1"/>
          </p:cNvSpPr>
          <p:nvPr/>
        </p:nvSpPr>
        <p:spPr bwMode="auto">
          <a:xfrm>
            <a:off x="7845425" y="1928813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12</a:t>
            </a:r>
          </a:p>
        </p:txBody>
      </p:sp>
      <p:grpSp>
        <p:nvGrpSpPr>
          <p:cNvPr id="35857" name="Group 130"/>
          <p:cNvGrpSpPr>
            <a:grpSpLocks/>
          </p:cNvGrpSpPr>
          <p:nvPr/>
        </p:nvGrpSpPr>
        <p:grpSpPr bwMode="auto">
          <a:xfrm>
            <a:off x="6923088" y="1889125"/>
            <a:ext cx="468312" cy="457200"/>
            <a:chOff x="5033" y="2640"/>
            <a:chExt cx="295" cy="288"/>
          </a:xfrm>
        </p:grpSpPr>
        <p:sp>
          <p:nvSpPr>
            <p:cNvPr id="35904" name="Rectangle 131"/>
            <p:cNvSpPr>
              <a:spLocks noChangeArrowheads="1"/>
            </p:cNvSpPr>
            <p:nvPr/>
          </p:nvSpPr>
          <p:spPr bwMode="auto">
            <a:xfrm>
              <a:off x="5033" y="2640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35905" name="Text Box 132"/>
            <p:cNvSpPr txBox="1">
              <a:spLocks noChangeArrowheads="1"/>
            </p:cNvSpPr>
            <p:nvPr/>
          </p:nvSpPr>
          <p:spPr bwMode="auto">
            <a:xfrm>
              <a:off x="5038" y="2665"/>
              <a:ext cx="2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19</a:t>
              </a:r>
            </a:p>
          </p:txBody>
        </p:sp>
      </p:grpSp>
      <p:grpSp>
        <p:nvGrpSpPr>
          <p:cNvPr id="35858" name="Group 136"/>
          <p:cNvGrpSpPr>
            <a:grpSpLocks/>
          </p:cNvGrpSpPr>
          <p:nvPr/>
        </p:nvGrpSpPr>
        <p:grpSpPr bwMode="auto">
          <a:xfrm>
            <a:off x="7086600" y="4038600"/>
            <a:ext cx="304800" cy="854075"/>
            <a:chOff x="3456" y="3206"/>
            <a:chExt cx="192" cy="538"/>
          </a:xfrm>
        </p:grpSpPr>
        <p:sp>
          <p:nvSpPr>
            <p:cNvPr id="35902" name="Line 137"/>
            <p:cNvSpPr>
              <a:spLocks noChangeShapeType="1"/>
            </p:cNvSpPr>
            <p:nvPr/>
          </p:nvSpPr>
          <p:spPr bwMode="auto">
            <a:xfrm flipV="1">
              <a:off x="3552" y="320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903" name="Text Box 138"/>
            <p:cNvSpPr txBox="1">
              <a:spLocks noChangeArrowheads="1"/>
            </p:cNvSpPr>
            <p:nvPr/>
          </p:nvSpPr>
          <p:spPr bwMode="auto">
            <a:xfrm>
              <a:off x="3456" y="349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i</a:t>
              </a:r>
            </a:p>
          </p:txBody>
        </p:sp>
      </p:grpSp>
      <p:grpSp>
        <p:nvGrpSpPr>
          <p:cNvPr id="35859" name="Group 139"/>
          <p:cNvGrpSpPr>
            <a:grpSpLocks/>
          </p:cNvGrpSpPr>
          <p:nvPr/>
        </p:nvGrpSpPr>
        <p:grpSpPr bwMode="auto">
          <a:xfrm>
            <a:off x="6553200" y="4038600"/>
            <a:ext cx="381000" cy="838200"/>
            <a:chOff x="4992" y="3206"/>
            <a:chExt cx="240" cy="528"/>
          </a:xfrm>
        </p:grpSpPr>
        <p:sp>
          <p:nvSpPr>
            <p:cNvPr id="35900" name="Line 140"/>
            <p:cNvSpPr>
              <a:spLocks noChangeShapeType="1"/>
            </p:cNvSpPr>
            <p:nvPr/>
          </p:nvSpPr>
          <p:spPr bwMode="auto">
            <a:xfrm flipV="1">
              <a:off x="5088" y="320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901" name="Text Box 141"/>
            <p:cNvSpPr txBox="1">
              <a:spLocks noChangeArrowheads="1"/>
            </p:cNvSpPr>
            <p:nvPr/>
          </p:nvSpPr>
          <p:spPr bwMode="auto">
            <a:xfrm>
              <a:off x="4992" y="348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j</a:t>
              </a:r>
            </a:p>
          </p:txBody>
        </p:sp>
      </p:grpSp>
      <p:sp>
        <p:nvSpPr>
          <p:cNvPr id="35860" name="Rectangle 142"/>
          <p:cNvSpPr>
            <a:spLocks noChangeArrowheads="1"/>
          </p:cNvSpPr>
          <p:nvPr/>
        </p:nvSpPr>
        <p:spPr bwMode="auto">
          <a:xfrm>
            <a:off x="5551488" y="34290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5861" name="Text Box 143"/>
          <p:cNvSpPr txBox="1">
            <a:spLocks noChangeArrowheads="1"/>
          </p:cNvSpPr>
          <p:nvPr/>
        </p:nvSpPr>
        <p:spPr bwMode="auto">
          <a:xfrm>
            <a:off x="5627688" y="3468688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5</a:t>
            </a:r>
          </a:p>
        </p:txBody>
      </p:sp>
      <p:sp>
        <p:nvSpPr>
          <p:cNvPr id="35862" name="Rectangle 144"/>
          <p:cNvSpPr>
            <a:spLocks noChangeArrowheads="1"/>
          </p:cNvSpPr>
          <p:nvPr/>
        </p:nvSpPr>
        <p:spPr bwMode="auto">
          <a:xfrm>
            <a:off x="6008688" y="34290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5863" name="Text Box 145"/>
          <p:cNvSpPr txBox="1">
            <a:spLocks noChangeArrowheads="1"/>
          </p:cNvSpPr>
          <p:nvPr/>
        </p:nvSpPr>
        <p:spPr bwMode="auto">
          <a:xfrm>
            <a:off x="6084888" y="3468688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3</a:t>
            </a:r>
          </a:p>
        </p:txBody>
      </p:sp>
      <p:sp>
        <p:nvSpPr>
          <p:cNvPr id="35864" name="Rectangle 146"/>
          <p:cNvSpPr>
            <a:spLocks noChangeArrowheads="1"/>
          </p:cNvSpPr>
          <p:nvPr/>
        </p:nvSpPr>
        <p:spPr bwMode="auto">
          <a:xfrm>
            <a:off x="6465888" y="34290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5865" name="Text Box 147"/>
          <p:cNvSpPr txBox="1">
            <a:spLocks noChangeArrowheads="1"/>
          </p:cNvSpPr>
          <p:nvPr/>
        </p:nvSpPr>
        <p:spPr bwMode="auto">
          <a:xfrm>
            <a:off x="6542088" y="3468688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4</a:t>
            </a:r>
          </a:p>
        </p:txBody>
      </p:sp>
      <p:grpSp>
        <p:nvGrpSpPr>
          <p:cNvPr id="35866" name="Group 148"/>
          <p:cNvGrpSpPr>
            <a:grpSpLocks/>
          </p:cNvGrpSpPr>
          <p:nvPr/>
        </p:nvGrpSpPr>
        <p:grpSpPr bwMode="auto">
          <a:xfrm>
            <a:off x="8305800" y="3429000"/>
            <a:ext cx="457200" cy="457200"/>
            <a:chOff x="4169" y="2640"/>
            <a:chExt cx="288" cy="288"/>
          </a:xfrm>
        </p:grpSpPr>
        <p:sp>
          <p:nvSpPr>
            <p:cNvPr id="35898" name="Rectangle 149"/>
            <p:cNvSpPr>
              <a:spLocks noChangeArrowheads="1"/>
            </p:cNvSpPr>
            <p:nvPr/>
          </p:nvSpPr>
          <p:spPr bwMode="auto">
            <a:xfrm>
              <a:off x="4169" y="2640"/>
              <a:ext cx="28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35899" name="Text Box 150"/>
            <p:cNvSpPr txBox="1">
              <a:spLocks noChangeArrowheads="1"/>
            </p:cNvSpPr>
            <p:nvPr/>
          </p:nvSpPr>
          <p:spPr bwMode="auto">
            <a:xfrm>
              <a:off x="4237" y="2678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6</a:t>
              </a:r>
            </a:p>
          </p:txBody>
        </p:sp>
      </p:grpSp>
      <p:sp>
        <p:nvSpPr>
          <p:cNvPr id="35867" name="Rectangle 151"/>
          <p:cNvSpPr>
            <a:spLocks noChangeArrowheads="1"/>
          </p:cNvSpPr>
          <p:nvPr/>
        </p:nvSpPr>
        <p:spPr bwMode="auto">
          <a:xfrm>
            <a:off x="7380288" y="34290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5868" name="Text Box 152"/>
          <p:cNvSpPr txBox="1">
            <a:spLocks noChangeArrowheads="1"/>
          </p:cNvSpPr>
          <p:nvPr/>
        </p:nvSpPr>
        <p:spPr bwMode="auto">
          <a:xfrm>
            <a:off x="7456488" y="3468688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6</a:t>
            </a:r>
          </a:p>
        </p:txBody>
      </p:sp>
      <p:sp>
        <p:nvSpPr>
          <p:cNvPr id="35869" name="Rectangle 153"/>
          <p:cNvSpPr>
            <a:spLocks noChangeArrowheads="1"/>
          </p:cNvSpPr>
          <p:nvPr/>
        </p:nvSpPr>
        <p:spPr bwMode="auto">
          <a:xfrm>
            <a:off x="7837488" y="34290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5870" name="Text Box 154"/>
          <p:cNvSpPr txBox="1">
            <a:spLocks noChangeArrowheads="1"/>
          </p:cNvSpPr>
          <p:nvPr/>
        </p:nvSpPr>
        <p:spPr bwMode="auto">
          <a:xfrm>
            <a:off x="7845425" y="3468688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12</a:t>
            </a:r>
          </a:p>
        </p:txBody>
      </p:sp>
      <p:grpSp>
        <p:nvGrpSpPr>
          <p:cNvPr id="35871" name="Group 155"/>
          <p:cNvGrpSpPr>
            <a:grpSpLocks/>
          </p:cNvGrpSpPr>
          <p:nvPr/>
        </p:nvGrpSpPr>
        <p:grpSpPr bwMode="auto">
          <a:xfrm>
            <a:off x="6923088" y="3429000"/>
            <a:ext cx="468312" cy="457200"/>
            <a:chOff x="5033" y="2640"/>
            <a:chExt cx="295" cy="288"/>
          </a:xfrm>
        </p:grpSpPr>
        <p:sp>
          <p:nvSpPr>
            <p:cNvPr id="35896" name="Rectangle 156"/>
            <p:cNvSpPr>
              <a:spLocks noChangeArrowheads="1"/>
            </p:cNvSpPr>
            <p:nvPr/>
          </p:nvSpPr>
          <p:spPr bwMode="auto">
            <a:xfrm>
              <a:off x="5033" y="2640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35897" name="Text Box 157"/>
            <p:cNvSpPr txBox="1">
              <a:spLocks noChangeArrowheads="1"/>
            </p:cNvSpPr>
            <p:nvPr/>
          </p:nvSpPr>
          <p:spPr bwMode="auto">
            <a:xfrm>
              <a:off x="5038" y="2665"/>
              <a:ext cx="2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19</a:t>
              </a:r>
            </a:p>
          </p:txBody>
        </p:sp>
      </p:grpSp>
      <p:grpSp>
        <p:nvGrpSpPr>
          <p:cNvPr id="35872" name="Group 161"/>
          <p:cNvGrpSpPr>
            <a:grpSpLocks/>
          </p:cNvGrpSpPr>
          <p:nvPr/>
        </p:nvGrpSpPr>
        <p:grpSpPr bwMode="auto">
          <a:xfrm>
            <a:off x="7086600" y="5622925"/>
            <a:ext cx="304800" cy="854075"/>
            <a:chOff x="3456" y="3206"/>
            <a:chExt cx="192" cy="538"/>
          </a:xfrm>
        </p:grpSpPr>
        <p:sp>
          <p:nvSpPr>
            <p:cNvPr id="35894" name="Line 162"/>
            <p:cNvSpPr>
              <a:spLocks noChangeShapeType="1"/>
            </p:cNvSpPr>
            <p:nvPr/>
          </p:nvSpPr>
          <p:spPr bwMode="auto">
            <a:xfrm flipV="1">
              <a:off x="3552" y="320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895" name="Text Box 163"/>
            <p:cNvSpPr txBox="1">
              <a:spLocks noChangeArrowheads="1"/>
            </p:cNvSpPr>
            <p:nvPr/>
          </p:nvSpPr>
          <p:spPr bwMode="auto">
            <a:xfrm>
              <a:off x="3456" y="349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i</a:t>
              </a:r>
            </a:p>
          </p:txBody>
        </p:sp>
      </p:grpSp>
      <p:grpSp>
        <p:nvGrpSpPr>
          <p:cNvPr id="35873" name="Group 164"/>
          <p:cNvGrpSpPr>
            <a:grpSpLocks/>
          </p:cNvGrpSpPr>
          <p:nvPr/>
        </p:nvGrpSpPr>
        <p:grpSpPr bwMode="auto">
          <a:xfrm>
            <a:off x="6553200" y="5622925"/>
            <a:ext cx="381000" cy="838200"/>
            <a:chOff x="4992" y="3206"/>
            <a:chExt cx="240" cy="528"/>
          </a:xfrm>
        </p:grpSpPr>
        <p:sp>
          <p:nvSpPr>
            <p:cNvPr id="35892" name="Line 165"/>
            <p:cNvSpPr>
              <a:spLocks noChangeShapeType="1"/>
            </p:cNvSpPr>
            <p:nvPr/>
          </p:nvSpPr>
          <p:spPr bwMode="auto">
            <a:xfrm flipV="1">
              <a:off x="5088" y="320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893" name="Text Box 166"/>
            <p:cNvSpPr txBox="1">
              <a:spLocks noChangeArrowheads="1"/>
            </p:cNvSpPr>
            <p:nvPr/>
          </p:nvSpPr>
          <p:spPr bwMode="auto">
            <a:xfrm>
              <a:off x="4992" y="348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j</a:t>
              </a:r>
            </a:p>
          </p:txBody>
        </p:sp>
      </p:grpSp>
      <p:sp>
        <p:nvSpPr>
          <p:cNvPr id="35874" name="Rectangle 167"/>
          <p:cNvSpPr>
            <a:spLocks noChangeArrowheads="1"/>
          </p:cNvSpPr>
          <p:nvPr/>
        </p:nvSpPr>
        <p:spPr bwMode="auto">
          <a:xfrm>
            <a:off x="5551488" y="50133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5875" name="Text Box 168"/>
          <p:cNvSpPr txBox="1">
            <a:spLocks noChangeArrowheads="1"/>
          </p:cNvSpPr>
          <p:nvPr/>
        </p:nvSpPr>
        <p:spPr bwMode="auto">
          <a:xfrm>
            <a:off x="5627688" y="50530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5</a:t>
            </a:r>
          </a:p>
        </p:txBody>
      </p:sp>
      <p:sp>
        <p:nvSpPr>
          <p:cNvPr id="35876" name="Rectangle 169"/>
          <p:cNvSpPr>
            <a:spLocks noChangeArrowheads="1"/>
          </p:cNvSpPr>
          <p:nvPr/>
        </p:nvSpPr>
        <p:spPr bwMode="auto">
          <a:xfrm>
            <a:off x="6008688" y="50133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5877" name="Text Box 170"/>
          <p:cNvSpPr txBox="1">
            <a:spLocks noChangeArrowheads="1"/>
          </p:cNvSpPr>
          <p:nvPr/>
        </p:nvSpPr>
        <p:spPr bwMode="auto">
          <a:xfrm>
            <a:off x="6084888" y="50530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3</a:t>
            </a:r>
          </a:p>
        </p:txBody>
      </p:sp>
      <p:sp>
        <p:nvSpPr>
          <p:cNvPr id="35878" name="Rectangle 171"/>
          <p:cNvSpPr>
            <a:spLocks noChangeArrowheads="1"/>
          </p:cNvSpPr>
          <p:nvPr/>
        </p:nvSpPr>
        <p:spPr bwMode="auto">
          <a:xfrm>
            <a:off x="6465888" y="50133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5879" name="Text Box 172"/>
          <p:cNvSpPr txBox="1">
            <a:spLocks noChangeArrowheads="1"/>
          </p:cNvSpPr>
          <p:nvPr/>
        </p:nvSpPr>
        <p:spPr bwMode="auto">
          <a:xfrm>
            <a:off x="6542088" y="50530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4</a:t>
            </a:r>
          </a:p>
        </p:txBody>
      </p:sp>
      <p:grpSp>
        <p:nvGrpSpPr>
          <p:cNvPr id="35880" name="Group 173"/>
          <p:cNvGrpSpPr>
            <a:grpSpLocks/>
          </p:cNvGrpSpPr>
          <p:nvPr/>
        </p:nvGrpSpPr>
        <p:grpSpPr bwMode="auto">
          <a:xfrm>
            <a:off x="6934200" y="5016500"/>
            <a:ext cx="457200" cy="457200"/>
            <a:chOff x="4169" y="2640"/>
            <a:chExt cx="288" cy="288"/>
          </a:xfrm>
        </p:grpSpPr>
        <p:sp>
          <p:nvSpPr>
            <p:cNvPr id="35890" name="Rectangle 174"/>
            <p:cNvSpPr>
              <a:spLocks noChangeArrowheads="1"/>
            </p:cNvSpPr>
            <p:nvPr/>
          </p:nvSpPr>
          <p:spPr bwMode="auto">
            <a:xfrm>
              <a:off x="4169" y="2640"/>
              <a:ext cx="28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35891" name="Text Box 175"/>
            <p:cNvSpPr txBox="1">
              <a:spLocks noChangeArrowheads="1"/>
            </p:cNvSpPr>
            <p:nvPr/>
          </p:nvSpPr>
          <p:spPr bwMode="auto">
            <a:xfrm>
              <a:off x="4237" y="2678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6</a:t>
              </a:r>
            </a:p>
          </p:txBody>
        </p:sp>
      </p:grpSp>
      <p:sp>
        <p:nvSpPr>
          <p:cNvPr id="35881" name="Rectangle 176"/>
          <p:cNvSpPr>
            <a:spLocks noChangeArrowheads="1"/>
          </p:cNvSpPr>
          <p:nvPr/>
        </p:nvSpPr>
        <p:spPr bwMode="auto">
          <a:xfrm>
            <a:off x="7380288" y="50133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5882" name="Text Box 177"/>
          <p:cNvSpPr txBox="1">
            <a:spLocks noChangeArrowheads="1"/>
          </p:cNvSpPr>
          <p:nvPr/>
        </p:nvSpPr>
        <p:spPr bwMode="auto">
          <a:xfrm>
            <a:off x="7456488" y="50530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6</a:t>
            </a:r>
          </a:p>
        </p:txBody>
      </p:sp>
      <p:sp>
        <p:nvSpPr>
          <p:cNvPr id="35883" name="Rectangle 178"/>
          <p:cNvSpPr>
            <a:spLocks noChangeArrowheads="1"/>
          </p:cNvSpPr>
          <p:nvPr/>
        </p:nvSpPr>
        <p:spPr bwMode="auto">
          <a:xfrm>
            <a:off x="7837488" y="50133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35884" name="Text Box 179"/>
          <p:cNvSpPr txBox="1">
            <a:spLocks noChangeArrowheads="1"/>
          </p:cNvSpPr>
          <p:nvPr/>
        </p:nvSpPr>
        <p:spPr bwMode="auto">
          <a:xfrm>
            <a:off x="7845425" y="5053013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12</a:t>
            </a:r>
          </a:p>
        </p:txBody>
      </p:sp>
      <p:grpSp>
        <p:nvGrpSpPr>
          <p:cNvPr id="35885" name="Group 180"/>
          <p:cNvGrpSpPr>
            <a:grpSpLocks/>
          </p:cNvGrpSpPr>
          <p:nvPr/>
        </p:nvGrpSpPr>
        <p:grpSpPr bwMode="auto">
          <a:xfrm>
            <a:off x="8305800" y="5013325"/>
            <a:ext cx="468313" cy="457200"/>
            <a:chOff x="5033" y="2640"/>
            <a:chExt cx="295" cy="288"/>
          </a:xfrm>
        </p:grpSpPr>
        <p:sp>
          <p:nvSpPr>
            <p:cNvPr id="35888" name="Rectangle 181"/>
            <p:cNvSpPr>
              <a:spLocks noChangeArrowheads="1"/>
            </p:cNvSpPr>
            <p:nvPr/>
          </p:nvSpPr>
          <p:spPr bwMode="auto">
            <a:xfrm>
              <a:off x="5033" y="2640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35889" name="Text Box 182"/>
            <p:cNvSpPr txBox="1">
              <a:spLocks noChangeArrowheads="1"/>
            </p:cNvSpPr>
            <p:nvPr/>
          </p:nvSpPr>
          <p:spPr bwMode="auto">
            <a:xfrm>
              <a:off x="5038" y="2665"/>
              <a:ext cx="2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19</a:t>
              </a:r>
            </a:p>
          </p:txBody>
        </p:sp>
      </p:grp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B78302D1-2BD5-A747-8225-4DC1C13D0FD4}" type="slidenum">
              <a:rPr lang="zh-TW" altLang="en-US" sz="1200">
                <a:solidFill>
                  <a:srgbClr val="898989"/>
                </a:solidFill>
              </a:rPr>
              <a:pPr/>
              <a:t>34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  <a:ea typeface="PMingLiU" charset="-120"/>
              </a:rPr>
              <a:t>Small arrays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07288" cy="4525963"/>
          </a:xfrm>
        </p:spPr>
        <p:txBody>
          <a:bodyPr/>
          <a:lstStyle/>
          <a:p>
            <a:r>
              <a:rPr lang="en-US" altLang="fr-FR" dirty="0">
                <a:solidFill>
                  <a:srgbClr val="FF0000"/>
                </a:solidFill>
                <a:ea typeface="PMingLiU" charset="-120"/>
              </a:rPr>
              <a:t>For very small arrays, quicksort does not perform as well as insertion sort</a:t>
            </a:r>
          </a:p>
          <a:p>
            <a:pPr lvl="1"/>
            <a:r>
              <a:rPr lang="en-US" altLang="fr-FR" dirty="0">
                <a:ea typeface="PMingLiU" charset="-120"/>
              </a:rPr>
              <a:t>how small depends on many factors, such as the time spent making a recursive call, the compiler, </a:t>
            </a:r>
            <a:r>
              <a:rPr lang="en-US" altLang="fr-FR" dirty="0" err="1">
                <a:ea typeface="PMingLiU" charset="-120"/>
              </a:rPr>
              <a:t>etc</a:t>
            </a:r>
            <a:endParaRPr lang="en-US" altLang="fr-FR" dirty="0">
              <a:ea typeface="PMingLiU" charset="-120"/>
            </a:endParaRPr>
          </a:p>
          <a:p>
            <a:pPr lvl="1"/>
            <a:endParaRPr lang="en-US" altLang="fr-FR" dirty="0">
              <a:ea typeface="PMingLiU" charset="-120"/>
            </a:endParaRPr>
          </a:p>
          <a:p>
            <a:r>
              <a:rPr lang="en-US" altLang="fr-FR" dirty="0">
                <a:solidFill>
                  <a:srgbClr val="FF0000"/>
                </a:solidFill>
                <a:ea typeface="PMingLiU" charset="-120"/>
              </a:rPr>
              <a:t>Do not use quicksort recursively for small arrays</a:t>
            </a:r>
          </a:p>
          <a:p>
            <a:pPr lvl="1"/>
            <a:r>
              <a:rPr lang="en-US" altLang="fr-FR" dirty="0">
                <a:ea typeface="PMingLiU" charset="-120"/>
              </a:rPr>
              <a:t>Instead, use a sorting algorithm that is efficient for small arrays, such as insertion sort</a:t>
            </a:r>
          </a:p>
          <a:p>
            <a:endParaRPr lang="en-US" altLang="fr-FR" dirty="0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D4A35935-2F03-ED47-9BF1-8F39EDF67EDE}" type="slidenum">
              <a:rPr lang="zh-TW" altLang="en-US" sz="1200">
                <a:solidFill>
                  <a:srgbClr val="898989"/>
                </a:solidFill>
              </a:rPr>
              <a:pPr/>
              <a:t>35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Picking the Pivot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848600" cy="4572000"/>
          </a:xfrm>
        </p:spPr>
        <p:txBody>
          <a:bodyPr/>
          <a:lstStyle/>
          <a:p>
            <a:r>
              <a:rPr lang="en-US" altLang="fr-FR" sz="2800" dirty="0">
                <a:solidFill>
                  <a:srgbClr val="FF0000"/>
                </a:solidFill>
              </a:rPr>
              <a:t>Use the first element as pivot</a:t>
            </a:r>
          </a:p>
          <a:p>
            <a:pPr lvl="1"/>
            <a:r>
              <a:rPr lang="en-US" altLang="fr-FR" sz="2400" dirty="0"/>
              <a:t>if the input is random, ok</a:t>
            </a:r>
          </a:p>
          <a:p>
            <a:pPr lvl="1"/>
            <a:r>
              <a:rPr lang="en-US" altLang="fr-FR" sz="2400" dirty="0"/>
              <a:t>if the input is presorted (or in reverse order)</a:t>
            </a:r>
          </a:p>
          <a:p>
            <a:pPr lvl="2"/>
            <a:r>
              <a:rPr lang="en-US" altLang="fr-FR" sz="2000" dirty="0"/>
              <a:t>all the elements go into S2 (or S1)</a:t>
            </a:r>
          </a:p>
          <a:p>
            <a:pPr lvl="2"/>
            <a:r>
              <a:rPr lang="en-US" altLang="fr-FR" sz="2000" dirty="0"/>
              <a:t>this happens consistently throughout the recursive calls</a:t>
            </a:r>
          </a:p>
          <a:p>
            <a:pPr lvl="2"/>
            <a:r>
              <a:rPr lang="en-US" altLang="fr-FR" sz="2000" dirty="0"/>
              <a:t>Results in O(n</a:t>
            </a:r>
            <a:r>
              <a:rPr lang="en-US" altLang="fr-FR" sz="2000" baseline="30000" dirty="0"/>
              <a:t>2</a:t>
            </a:r>
            <a:r>
              <a:rPr lang="en-US" altLang="fr-FR" sz="2000" dirty="0"/>
              <a:t>) behavior (Analyze this case later)</a:t>
            </a:r>
          </a:p>
          <a:p>
            <a:pPr lvl="2"/>
            <a:endParaRPr lang="en-US" altLang="fr-FR" sz="2000" dirty="0"/>
          </a:p>
          <a:p>
            <a:r>
              <a:rPr lang="en-US" altLang="fr-FR" sz="2800" dirty="0">
                <a:solidFill>
                  <a:srgbClr val="FF0000"/>
                </a:solidFill>
              </a:rPr>
              <a:t>Choose the pivot randomly</a:t>
            </a:r>
          </a:p>
          <a:p>
            <a:pPr lvl="1"/>
            <a:r>
              <a:rPr lang="en-US" altLang="fr-FR" sz="2400" dirty="0"/>
              <a:t>generally safe</a:t>
            </a:r>
          </a:p>
          <a:p>
            <a:pPr lvl="1"/>
            <a:r>
              <a:rPr lang="en-US" altLang="fr-FR" sz="2400" dirty="0"/>
              <a:t>random number generation can be expensive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D7916FAB-6FB2-D547-947F-162493B8E50F}" type="slidenum">
              <a:rPr lang="zh-TW" altLang="en-US" sz="1200">
                <a:solidFill>
                  <a:srgbClr val="898989"/>
                </a:solidFill>
              </a:rPr>
              <a:pPr/>
              <a:t>36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/>
              <a:t>Picking the Pivot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848600" cy="4648200"/>
          </a:xfrm>
        </p:spPr>
        <p:txBody>
          <a:bodyPr/>
          <a:lstStyle/>
          <a:p>
            <a:r>
              <a:rPr lang="en-US" altLang="fr-FR" sz="2800">
                <a:solidFill>
                  <a:srgbClr val="FF0000"/>
                </a:solidFill>
              </a:rPr>
              <a:t>Use the median of the array</a:t>
            </a:r>
          </a:p>
          <a:p>
            <a:pPr lvl="1"/>
            <a:r>
              <a:rPr lang="en-US" altLang="fr-FR" sz="2400"/>
              <a:t>Partitioning always cuts the array into roughly half</a:t>
            </a:r>
          </a:p>
          <a:p>
            <a:pPr lvl="1"/>
            <a:r>
              <a:rPr lang="en-US" altLang="fr-FR" sz="2400"/>
              <a:t>An </a:t>
            </a:r>
            <a:r>
              <a:rPr lang="en-US" altLang="fr-FR" sz="2400">
                <a:solidFill>
                  <a:schemeClr val="hlink"/>
                </a:solidFill>
              </a:rPr>
              <a:t>optimal</a:t>
            </a:r>
            <a:r>
              <a:rPr lang="en-US" altLang="fr-FR" sz="2400"/>
              <a:t> quicksort (O(N log N))</a:t>
            </a:r>
          </a:p>
          <a:p>
            <a:pPr lvl="1"/>
            <a:r>
              <a:rPr lang="en-US" altLang="fr-FR" sz="2400"/>
              <a:t>However, hard to find the exact median</a:t>
            </a:r>
          </a:p>
          <a:p>
            <a:pPr lvl="2"/>
            <a:r>
              <a:rPr lang="en-US" altLang="fr-FR" sz="2000"/>
              <a:t>e.g., sort an array to pick the value in the middle</a:t>
            </a:r>
          </a:p>
          <a:p>
            <a:pPr lvl="2"/>
            <a:endParaRPr lang="en-US" altLang="fr-FR" sz="2000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4F781157-56EE-C240-A698-AC74371ABAC6}" type="slidenum">
              <a:rPr lang="zh-TW" altLang="en-US" sz="1200">
                <a:solidFill>
                  <a:srgbClr val="898989"/>
                </a:solidFill>
              </a:rPr>
              <a:pPr/>
              <a:t>37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Pivot: median of three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7848600" cy="1981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fr-FR" sz="1800"/>
              <a:t>We will use </a:t>
            </a:r>
            <a:r>
              <a:rPr lang="en-US" altLang="fr-FR" sz="1800">
                <a:solidFill>
                  <a:schemeClr val="hlink"/>
                </a:solidFill>
              </a:rPr>
              <a:t>median of three</a:t>
            </a:r>
          </a:p>
          <a:p>
            <a:pPr lvl="1">
              <a:lnSpc>
                <a:spcPct val="80000"/>
              </a:lnSpc>
            </a:pPr>
            <a:r>
              <a:rPr lang="en-US" altLang="fr-FR" sz="1600"/>
              <a:t>Compare just three elements: the leftmost, rightmost and center</a:t>
            </a:r>
          </a:p>
          <a:p>
            <a:pPr lvl="1">
              <a:lnSpc>
                <a:spcPct val="80000"/>
              </a:lnSpc>
            </a:pPr>
            <a:r>
              <a:rPr lang="en-US" altLang="fr-FR" sz="1600"/>
              <a:t>Swap these elements if necessary so that </a:t>
            </a:r>
          </a:p>
          <a:p>
            <a:pPr lvl="2">
              <a:lnSpc>
                <a:spcPct val="80000"/>
              </a:lnSpc>
            </a:pPr>
            <a:r>
              <a:rPr lang="en-US" altLang="fr-FR" sz="1400"/>
              <a:t>A[left] 	    	= 	Smallest</a:t>
            </a:r>
          </a:p>
          <a:p>
            <a:pPr lvl="2">
              <a:lnSpc>
                <a:spcPct val="80000"/>
              </a:lnSpc>
            </a:pPr>
            <a:r>
              <a:rPr lang="en-US" altLang="fr-FR" sz="1400"/>
              <a:t>A[right] 	= 	Largest</a:t>
            </a:r>
          </a:p>
          <a:p>
            <a:pPr lvl="2">
              <a:lnSpc>
                <a:spcPct val="80000"/>
              </a:lnSpc>
            </a:pPr>
            <a:r>
              <a:rPr lang="en-US" altLang="fr-FR" sz="1400"/>
              <a:t>A[center]    	= 	Median of three</a:t>
            </a:r>
          </a:p>
          <a:p>
            <a:pPr lvl="1">
              <a:lnSpc>
                <a:spcPct val="80000"/>
              </a:lnSpc>
            </a:pPr>
            <a:r>
              <a:rPr lang="en-US" altLang="fr-FR" sz="1600"/>
              <a:t>Pick A[center] as the pivot</a:t>
            </a:r>
          </a:p>
          <a:p>
            <a:pPr lvl="1">
              <a:lnSpc>
                <a:spcPct val="80000"/>
              </a:lnSpc>
            </a:pPr>
            <a:r>
              <a:rPr lang="en-US" altLang="fr-FR" sz="1600"/>
              <a:t>Swap A[center] and A[right – 1] so that pivot is at second last position (why?)</a:t>
            </a:r>
          </a:p>
          <a:p>
            <a:pPr lvl="1">
              <a:lnSpc>
                <a:spcPct val="80000"/>
              </a:lnSpc>
            </a:pPr>
            <a:endParaRPr lang="en-US" altLang="fr-FR" sz="1600"/>
          </a:p>
        </p:txBody>
      </p:sp>
      <p:pic>
        <p:nvPicPr>
          <p:cNvPr id="39940" name="Picture 4" descr="7"/>
          <p:cNvPicPr>
            <a:picLocks noChangeAspect="1" noChangeArrowheads="1"/>
          </p:cNvPicPr>
          <p:nvPr/>
        </p:nvPicPr>
        <p:blipFill>
          <a:blip r:embed="rId2">
            <a:lum bright="-2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8" t="35341" r="28986" b="19276"/>
          <a:stretch>
            <a:fillRect/>
          </a:stretch>
        </p:blipFill>
        <p:spPr bwMode="auto">
          <a:xfrm>
            <a:off x="1485900" y="3581400"/>
            <a:ext cx="6210300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152400" y="3505200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 typeface="Monotype Sorts" charset="2"/>
              <a:buNone/>
            </a:pPr>
            <a:r>
              <a:rPr lang="en-US" altLang="fr-FR">
                <a:solidFill>
                  <a:schemeClr val="hlink"/>
                </a:solidFill>
              </a:rPr>
              <a:t>median3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B1D8F545-1E13-F347-9891-2DDD541D2E8D}" type="slidenum">
              <a:rPr lang="zh-TW" altLang="en-US" sz="1200">
                <a:solidFill>
                  <a:srgbClr val="898989"/>
                </a:solidFill>
              </a:rPr>
              <a:pPr/>
              <a:t>38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762000"/>
          </a:xfrm>
        </p:spPr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Pivot: median of three</a:t>
            </a:r>
          </a:p>
        </p:txBody>
      </p:sp>
      <p:grpSp>
        <p:nvGrpSpPr>
          <p:cNvPr id="40963" name="Group 34"/>
          <p:cNvGrpSpPr>
            <a:grpSpLocks/>
          </p:cNvGrpSpPr>
          <p:nvPr/>
        </p:nvGrpSpPr>
        <p:grpSpPr bwMode="auto">
          <a:xfrm>
            <a:off x="2286000" y="3673475"/>
            <a:ext cx="838200" cy="854075"/>
            <a:chOff x="2188" y="2286"/>
            <a:chExt cx="528" cy="538"/>
          </a:xfrm>
        </p:grpSpPr>
        <p:sp>
          <p:nvSpPr>
            <p:cNvPr id="41063" name="Text Box 6"/>
            <p:cNvSpPr txBox="1">
              <a:spLocks noChangeArrowheads="1"/>
            </p:cNvSpPr>
            <p:nvPr/>
          </p:nvSpPr>
          <p:spPr bwMode="auto">
            <a:xfrm>
              <a:off x="2188" y="2574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pivot</a:t>
              </a:r>
            </a:p>
          </p:txBody>
        </p:sp>
        <p:sp>
          <p:nvSpPr>
            <p:cNvPr id="41064" name="Line 7"/>
            <p:cNvSpPr>
              <a:spLocks noChangeShapeType="1"/>
            </p:cNvSpPr>
            <p:nvPr/>
          </p:nvSpPr>
          <p:spPr bwMode="auto">
            <a:xfrm flipV="1">
              <a:off x="2428" y="228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0964" name="Group 22"/>
          <p:cNvGrpSpPr>
            <a:grpSpLocks/>
          </p:cNvGrpSpPr>
          <p:nvPr/>
        </p:nvGrpSpPr>
        <p:grpSpPr bwMode="auto">
          <a:xfrm>
            <a:off x="1109663" y="1311275"/>
            <a:ext cx="457200" cy="457200"/>
            <a:chOff x="1420" y="1902"/>
            <a:chExt cx="288" cy="288"/>
          </a:xfrm>
        </p:grpSpPr>
        <p:sp>
          <p:nvSpPr>
            <p:cNvPr id="41061" name="Rectangle 8"/>
            <p:cNvSpPr>
              <a:spLocks noChangeArrowheads="1"/>
            </p:cNvSpPr>
            <p:nvPr/>
          </p:nvSpPr>
          <p:spPr bwMode="auto">
            <a:xfrm>
              <a:off x="1420" y="1902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41062" name="Text Box 9"/>
            <p:cNvSpPr txBox="1">
              <a:spLocks noChangeArrowheads="1"/>
            </p:cNvSpPr>
            <p:nvPr/>
          </p:nvSpPr>
          <p:spPr bwMode="auto">
            <a:xfrm>
              <a:off x="1468" y="1927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5</a:t>
              </a:r>
            </a:p>
          </p:txBody>
        </p:sp>
      </p:grpSp>
      <p:sp>
        <p:nvSpPr>
          <p:cNvPr id="40965" name="Rectangle 10"/>
          <p:cNvSpPr>
            <a:spLocks noChangeArrowheads="1"/>
          </p:cNvSpPr>
          <p:nvPr/>
        </p:nvSpPr>
        <p:spPr bwMode="auto">
          <a:xfrm>
            <a:off x="1566863" y="131127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0966" name="Text Box 11"/>
          <p:cNvSpPr txBox="1">
            <a:spLocks noChangeArrowheads="1"/>
          </p:cNvSpPr>
          <p:nvPr/>
        </p:nvSpPr>
        <p:spPr bwMode="auto">
          <a:xfrm>
            <a:off x="1643063" y="135096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6</a:t>
            </a:r>
          </a:p>
        </p:txBody>
      </p:sp>
      <p:sp>
        <p:nvSpPr>
          <p:cNvPr id="40967" name="Rectangle 12"/>
          <p:cNvSpPr>
            <a:spLocks noChangeArrowheads="1"/>
          </p:cNvSpPr>
          <p:nvPr/>
        </p:nvSpPr>
        <p:spPr bwMode="auto">
          <a:xfrm>
            <a:off x="2024063" y="131127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0968" name="Text Box 13"/>
          <p:cNvSpPr txBox="1">
            <a:spLocks noChangeArrowheads="1"/>
          </p:cNvSpPr>
          <p:nvPr/>
        </p:nvSpPr>
        <p:spPr bwMode="auto">
          <a:xfrm>
            <a:off x="2100263" y="135096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4</a:t>
            </a:r>
          </a:p>
        </p:txBody>
      </p:sp>
      <p:grpSp>
        <p:nvGrpSpPr>
          <p:cNvPr id="40969" name="Group 26"/>
          <p:cNvGrpSpPr>
            <a:grpSpLocks/>
          </p:cNvGrpSpPr>
          <p:nvPr/>
        </p:nvGrpSpPr>
        <p:grpSpPr bwMode="auto">
          <a:xfrm>
            <a:off x="2438400" y="3063875"/>
            <a:ext cx="457200" cy="457200"/>
            <a:chOff x="2284" y="1902"/>
            <a:chExt cx="288" cy="288"/>
          </a:xfrm>
        </p:grpSpPr>
        <p:sp>
          <p:nvSpPr>
            <p:cNvPr id="41059" name="Rectangle 14"/>
            <p:cNvSpPr>
              <a:spLocks noChangeArrowheads="1"/>
            </p:cNvSpPr>
            <p:nvPr/>
          </p:nvSpPr>
          <p:spPr bwMode="auto">
            <a:xfrm>
              <a:off x="2284" y="1902"/>
              <a:ext cx="28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41060" name="Text Box 15"/>
            <p:cNvSpPr txBox="1">
              <a:spLocks noChangeArrowheads="1"/>
            </p:cNvSpPr>
            <p:nvPr/>
          </p:nvSpPr>
          <p:spPr bwMode="auto">
            <a:xfrm>
              <a:off x="2352" y="1920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6</a:t>
              </a:r>
            </a:p>
          </p:txBody>
        </p:sp>
      </p:grpSp>
      <p:sp>
        <p:nvSpPr>
          <p:cNvPr id="40970" name="Rectangle 16"/>
          <p:cNvSpPr>
            <a:spLocks noChangeArrowheads="1"/>
          </p:cNvSpPr>
          <p:nvPr/>
        </p:nvSpPr>
        <p:spPr bwMode="auto">
          <a:xfrm>
            <a:off x="2938463" y="131127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0971" name="Text Box 17"/>
          <p:cNvSpPr txBox="1">
            <a:spLocks noChangeArrowheads="1"/>
          </p:cNvSpPr>
          <p:nvPr/>
        </p:nvSpPr>
        <p:spPr bwMode="auto">
          <a:xfrm>
            <a:off x="3014663" y="135096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3</a:t>
            </a:r>
          </a:p>
        </p:txBody>
      </p:sp>
      <p:sp>
        <p:nvSpPr>
          <p:cNvPr id="40972" name="Rectangle 18"/>
          <p:cNvSpPr>
            <a:spLocks noChangeArrowheads="1"/>
          </p:cNvSpPr>
          <p:nvPr/>
        </p:nvSpPr>
        <p:spPr bwMode="auto">
          <a:xfrm>
            <a:off x="3395663" y="131127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0973" name="Text Box 19"/>
          <p:cNvSpPr txBox="1">
            <a:spLocks noChangeArrowheads="1"/>
          </p:cNvSpPr>
          <p:nvPr/>
        </p:nvSpPr>
        <p:spPr bwMode="auto">
          <a:xfrm>
            <a:off x="3403600" y="1350963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12</a:t>
            </a:r>
          </a:p>
        </p:txBody>
      </p:sp>
      <p:sp>
        <p:nvSpPr>
          <p:cNvPr id="40974" name="Rectangle 20"/>
          <p:cNvSpPr>
            <a:spLocks noChangeArrowheads="1"/>
          </p:cNvSpPr>
          <p:nvPr/>
        </p:nvSpPr>
        <p:spPr bwMode="auto">
          <a:xfrm>
            <a:off x="3852863" y="131127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0975" name="Text Box 21"/>
          <p:cNvSpPr txBox="1">
            <a:spLocks noChangeArrowheads="1"/>
          </p:cNvSpPr>
          <p:nvPr/>
        </p:nvSpPr>
        <p:spPr bwMode="auto">
          <a:xfrm>
            <a:off x="3860800" y="1350963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19</a:t>
            </a:r>
          </a:p>
        </p:txBody>
      </p:sp>
      <p:grpSp>
        <p:nvGrpSpPr>
          <p:cNvPr id="40976" name="Group 23"/>
          <p:cNvGrpSpPr>
            <a:grpSpLocks/>
          </p:cNvGrpSpPr>
          <p:nvPr/>
        </p:nvGrpSpPr>
        <p:grpSpPr bwMode="auto">
          <a:xfrm>
            <a:off x="633413" y="1314450"/>
            <a:ext cx="457200" cy="457200"/>
            <a:chOff x="1420" y="1902"/>
            <a:chExt cx="288" cy="288"/>
          </a:xfrm>
        </p:grpSpPr>
        <p:sp>
          <p:nvSpPr>
            <p:cNvPr id="41057" name="Rectangle 24"/>
            <p:cNvSpPr>
              <a:spLocks noChangeArrowheads="1"/>
            </p:cNvSpPr>
            <p:nvPr/>
          </p:nvSpPr>
          <p:spPr bwMode="auto">
            <a:xfrm>
              <a:off x="1420" y="1902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41058" name="Text Box 25"/>
            <p:cNvSpPr txBox="1">
              <a:spLocks noChangeArrowheads="1"/>
            </p:cNvSpPr>
            <p:nvPr/>
          </p:nvSpPr>
          <p:spPr bwMode="auto">
            <a:xfrm>
              <a:off x="1468" y="1927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2</a:t>
              </a:r>
            </a:p>
          </p:txBody>
        </p:sp>
      </p:grpSp>
      <p:grpSp>
        <p:nvGrpSpPr>
          <p:cNvPr id="40977" name="Group 27"/>
          <p:cNvGrpSpPr>
            <a:grpSpLocks/>
          </p:cNvGrpSpPr>
          <p:nvPr/>
        </p:nvGrpSpPr>
        <p:grpSpPr bwMode="auto">
          <a:xfrm>
            <a:off x="2487613" y="1314450"/>
            <a:ext cx="468312" cy="457200"/>
            <a:chOff x="1420" y="1902"/>
            <a:chExt cx="295" cy="288"/>
          </a:xfrm>
        </p:grpSpPr>
        <p:sp>
          <p:nvSpPr>
            <p:cNvPr id="41055" name="Rectangle 28"/>
            <p:cNvSpPr>
              <a:spLocks noChangeArrowheads="1"/>
            </p:cNvSpPr>
            <p:nvPr/>
          </p:nvSpPr>
          <p:spPr bwMode="auto">
            <a:xfrm>
              <a:off x="1420" y="1902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41056" name="Text Box 29"/>
            <p:cNvSpPr txBox="1">
              <a:spLocks noChangeArrowheads="1"/>
            </p:cNvSpPr>
            <p:nvPr/>
          </p:nvSpPr>
          <p:spPr bwMode="auto">
            <a:xfrm>
              <a:off x="1425" y="1927"/>
              <a:ext cx="2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13</a:t>
              </a:r>
            </a:p>
          </p:txBody>
        </p:sp>
      </p:grpSp>
      <p:grpSp>
        <p:nvGrpSpPr>
          <p:cNvPr id="40978" name="Group 31"/>
          <p:cNvGrpSpPr>
            <a:grpSpLocks/>
          </p:cNvGrpSpPr>
          <p:nvPr/>
        </p:nvGrpSpPr>
        <p:grpSpPr bwMode="auto">
          <a:xfrm>
            <a:off x="4318000" y="1314450"/>
            <a:ext cx="457200" cy="457200"/>
            <a:chOff x="1420" y="1902"/>
            <a:chExt cx="288" cy="288"/>
          </a:xfrm>
        </p:grpSpPr>
        <p:sp>
          <p:nvSpPr>
            <p:cNvPr id="41053" name="Rectangle 32"/>
            <p:cNvSpPr>
              <a:spLocks noChangeArrowheads="1"/>
            </p:cNvSpPr>
            <p:nvPr/>
          </p:nvSpPr>
          <p:spPr bwMode="auto">
            <a:xfrm>
              <a:off x="1420" y="1902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41054" name="Text Box 33"/>
            <p:cNvSpPr txBox="1">
              <a:spLocks noChangeArrowheads="1"/>
            </p:cNvSpPr>
            <p:nvPr/>
          </p:nvSpPr>
          <p:spPr bwMode="auto">
            <a:xfrm>
              <a:off x="1468" y="1927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6</a:t>
              </a:r>
            </a:p>
          </p:txBody>
        </p:sp>
      </p:grpSp>
      <p:grpSp>
        <p:nvGrpSpPr>
          <p:cNvPr id="40979" name="Group 35"/>
          <p:cNvGrpSpPr>
            <a:grpSpLocks/>
          </p:cNvGrpSpPr>
          <p:nvPr/>
        </p:nvGrpSpPr>
        <p:grpSpPr bwMode="auto">
          <a:xfrm>
            <a:off x="1085850" y="2222500"/>
            <a:ext cx="457200" cy="457200"/>
            <a:chOff x="1420" y="1902"/>
            <a:chExt cx="288" cy="288"/>
          </a:xfrm>
        </p:grpSpPr>
        <p:sp>
          <p:nvSpPr>
            <p:cNvPr id="41051" name="Rectangle 36"/>
            <p:cNvSpPr>
              <a:spLocks noChangeArrowheads="1"/>
            </p:cNvSpPr>
            <p:nvPr/>
          </p:nvSpPr>
          <p:spPr bwMode="auto">
            <a:xfrm>
              <a:off x="1420" y="1902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41052" name="Text Box 37"/>
            <p:cNvSpPr txBox="1">
              <a:spLocks noChangeArrowheads="1"/>
            </p:cNvSpPr>
            <p:nvPr/>
          </p:nvSpPr>
          <p:spPr bwMode="auto">
            <a:xfrm>
              <a:off x="1468" y="1927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5</a:t>
              </a:r>
            </a:p>
          </p:txBody>
        </p:sp>
      </p:grpSp>
      <p:sp>
        <p:nvSpPr>
          <p:cNvPr id="40980" name="Rectangle 38"/>
          <p:cNvSpPr>
            <a:spLocks noChangeArrowheads="1"/>
          </p:cNvSpPr>
          <p:nvPr/>
        </p:nvSpPr>
        <p:spPr bwMode="auto">
          <a:xfrm>
            <a:off x="1543050" y="22225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0981" name="Text Box 39"/>
          <p:cNvSpPr txBox="1">
            <a:spLocks noChangeArrowheads="1"/>
          </p:cNvSpPr>
          <p:nvPr/>
        </p:nvSpPr>
        <p:spPr bwMode="auto">
          <a:xfrm>
            <a:off x="1619250" y="2262188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6</a:t>
            </a:r>
          </a:p>
        </p:txBody>
      </p:sp>
      <p:sp>
        <p:nvSpPr>
          <p:cNvPr id="40982" name="Rectangle 40"/>
          <p:cNvSpPr>
            <a:spLocks noChangeArrowheads="1"/>
          </p:cNvSpPr>
          <p:nvPr/>
        </p:nvSpPr>
        <p:spPr bwMode="auto">
          <a:xfrm>
            <a:off x="2000250" y="22225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0983" name="Text Box 41"/>
          <p:cNvSpPr txBox="1">
            <a:spLocks noChangeArrowheads="1"/>
          </p:cNvSpPr>
          <p:nvPr/>
        </p:nvSpPr>
        <p:spPr bwMode="auto">
          <a:xfrm>
            <a:off x="2076450" y="2262188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4</a:t>
            </a:r>
          </a:p>
        </p:txBody>
      </p:sp>
      <p:sp>
        <p:nvSpPr>
          <p:cNvPr id="40984" name="Rectangle 42"/>
          <p:cNvSpPr>
            <a:spLocks noChangeArrowheads="1"/>
          </p:cNvSpPr>
          <p:nvPr/>
        </p:nvSpPr>
        <p:spPr bwMode="auto">
          <a:xfrm>
            <a:off x="2914650" y="22225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0985" name="Text Box 43"/>
          <p:cNvSpPr txBox="1">
            <a:spLocks noChangeArrowheads="1"/>
          </p:cNvSpPr>
          <p:nvPr/>
        </p:nvSpPr>
        <p:spPr bwMode="auto">
          <a:xfrm>
            <a:off x="2990850" y="2262188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3</a:t>
            </a:r>
          </a:p>
        </p:txBody>
      </p:sp>
      <p:sp>
        <p:nvSpPr>
          <p:cNvPr id="40986" name="Rectangle 44"/>
          <p:cNvSpPr>
            <a:spLocks noChangeArrowheads="1"/>
          </p:cNvSpPr>
          <p:nvPr/>
        </p:nvSpPr>
        <p:spPr bwMode="auto">
          <a:xfrm>
            <a:off x="3371850" y="22225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0987" name="Text Box 45"/>
          <p:cNvSpPr txBox="1">
            <a:spLocks noChangeArrowheads="1"/>
          </p:cNvSpPr>
          <p:nvPr/>
        </p:nvSpPr>
        <p:spPr bwMode="auto">
          <a:xfrm>
            <a:off x="3379788" y="2262188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12</a:t>
            </a:r>
          </a:p>
        </p:txBody>
      </p:sp>
      <p:sp>
        <p:nvSpPr>
          <p:cNvPr id="40988" name="Rectangle 46"/>
          <p:cNvSpPr>
            <a:spLocks noChangeArrowheads="1"/>
          </p:cNvSpPr>
          <p:nvPr/>
        </p:nvSpPr>
        <p:spPr bwMode="auto">
          <a:xfrm>
            <a:off x="3829050" y="22225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0989" name="Text Box 47"/>
          <p:cNvSpPr txBox="1">
            <a:spLocks noChangeArrowheads="1"/>
          </p:cNvSpPr>
          <p:nvPr/>
        </p:nvSpPr>
        <p:spPr bwMode="auto">
          <a:xfrm>
            <a:off x="3836988" y="2262188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19</a:t>
            </a:r>
          </a:p>
        </p:txBody>
      </p:sp>
      <p:grpSp>
        <p:nvGrpSpPr>
          <p:cNvPr id="40990" name="Group 48"/>
          <p:cNvGrpSpPr>
            <a:grpSpLocks/>
          </p:cNvGrpSpPr>
          <p:nvPr/>
        </p:nvGrpSpPr>
        <p:grpSpPr bwMode="auto">
          <a:xfrm>
            <a:off x="609600" y="2225675"/>
            <a:ext cx="457200" cy="457200"/>
            <a:chOff x="1420" y="1902"/>
            <a:chExt cx="288" cy="288"/>
          </a:xfrm>
        </p:grpSpPr>
        <p:sp>
          <p:nvSpPr>
            <p:cNvPr id="41049" name="Rectangle 49"/>
            <p:cNvSpPr>
              <a:spLocks noChangeArrowheads="1"/>
            </p:cNvSpPr>
            <p:nvPr/>
          </p:nvSpPr>
          <p:spPr bwMode="auto">
            <a:xfrm>
              <a:off x="1420" y="1902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41050" name="Text Box 50"/>
            <p:cNvSpPr txBox="1">
              <a:spLocks noChangeArrowheads="1"/>
            </p:cNvSpPr>
            <p:nvPr/>
          </p:nvSpPr>
          <p:spPr bwMode="auto">
            <a:xfrm>
              <a:off x="1468" y="1927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2</a:t>
              </a:r>
            </a:p>
          </p:txBody>
        </p:sp>
      </p:grpSp>
      <p:grpSp>
        <p:nvGrpSpPr>
          <p:cNvPr id="40991" name="Group 51"/>
          <p:cNvGrpSpPr>
            <a:grpSpLocks/>
          </p:cNvGrpSpPr>
          <p:nvPr/>
        </p:nvGrpSpPr>
        <p:grpSpPr bwMode="auto">
          <a:xfrm>
            <a:off x="2463800" y="2225675"/>
            <a:ext cx="457200" cy="457200"/>
            <a:chOff x="1420" y="1902"/>
            <a:chExt cx="288" cy="288"/>
          </a:xfrm>
        </p:grpSpPr>
        <p:sp>
          <p:nvSpPr>
            <p:cNvPr id="41047" name="Rectangle 52"/>
            <p:cNvSpPr>
              <a:spLocks noChangeArrowheads="1"/>
            </p:cNvSpPr>
            <p:nvPr/>
          </p:nvSpPr>
          <p:spPr bwMode="auto">
            <a:xfrm>
              <a:off x="1420" y="1902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41048" name="Text Box 53"/>
            <p:cNvSpPr txBox="1">
              <a:spLocks noChangeArrowheads="1"/>
            </p:cNvSpPr>
            <p:nvPr/>
          </p:nvSpPr>
          <p:spPr bwMode="auto">
            <a:xfrm>
              <a:off x="1468" y="1927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6</a:t>
              </a:r>
            </a:p>
          </p:txBody>
        </p:sp>
      </p:grpSp>
      <p:grpSp>
        <p:nvGrpSpPr>
          <p:cNvPr id="40992" name="Group 54"/>
          <p:cNvGrpSpPr>
            <a:grpSpLocks/>
          </p:cNvGrpSpPr>
          <p:nvPr/>
        </p:nvGrpSpPr>
        <p:grpSpPr bwMode="auto">
          <a:xfrm>
            <a:off x="4294188" y="2225675"/>
            <a:ext cx="468312" cy="457200"/>
            <a:chOff x="1420" y="1902"/>
            <a:chExt cx="295" cy="288"/>
          </a:xfrm>
        </p:grpSpPr>
        <p:sp>
          <p:nvSpPr>
            <p:cNvPr id="41045" name="Rectangle 55"/>
            <p:cNvSpPr>
              <a:spLocks noChangeArrowheads="1"/>
            </p:cNvSpPr>
            <p:nvPr/>
          </p:nvSpPr>
          <p:spPr bwMode="auto">
            <a:xfrm>
              <a:off x="1420" y="1902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41046" name="Text Box 56"/>
            <p:cNvSpPr txBox="1">
              <a:spLocks noChangeArrowheads="1"/>
            </p:cNvSpPr>
            <p:nvPr/>
          </p:nvSpPr>
          <p:spPr bwMode="auto">
            <a:xfrm>
              <a:off x="1425" y="1927"/>
              <a:ext cx="2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13</a:t>
              </a:r>
            </a:p>
          </p:txBody>
        </p:sp>
      </p:grpSp>
      <p:sp>
        <p:nvSpPr>
          <p:cNvPr id="40993" name="Text Box 57"/>
          <p:cNvSpPr txBox="1">
            <a:spLocks noChangeArrowheads="1"/>
          </p:cNvSpPr>
          <p:nvPr/>
        </p:nvSpPr>
        <p:spPr bwMode="auto">
          <a:xfrm>
            <a:off x="5029200" y="1219200"/>
            <a:ext cx="3810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 typeface="Monotype Sorts" charset="2"/>
              <a:buNone/>
            </a:pPr>
            <a:r>
              <a:rPr lang="en-US" altLang="fr-FR" b="0"/>
              <a:t>A[left] = 2, A[center] = 13, A[right] = 6</a:t>
            </a:r>
          </a:p>
        </p:txBody>
      </p:sp>
      <p:sp>
        <p:nvSpPr>
          <p:cNvPr id="40994" name="Text Box 58"/>
          <p:cNvSpPr txBox="1">
            <a:spLocks noChangeArrowheads="1"/>
          </p:cNvSpPr>
          <p:nvPr/>
        </p:nvSpPr>
        <p:spPr bwMode="auto">
          <a:xfrm>
            <a:off x="5105400" y="2225675"/>
            <a:ext cx="3810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 typeface="Monotype Sorts" charset="2"/>
              <a:buNone/>
            </a:pPr>
            <a:r>
              <a:rPr lang="en-US" altLang="fr-FR" b="0"/>
              <a:t>Swap A[center] and A[right]</a:t>
            </a:r>
          </a:p>
        </p:txBody>
      </p:sp>
      <p:grpSp>
        <p:nvGrpSpPr>
          <p:cNvPr id="40995" name="Group 59"/>
          <p:cNvGrpSpPr>
            <a:grpSpLocks/>
          </p:cNvGrpSpPr>
          <p:nvPr/>
        </p:nvGrpSpPr>
        <p:grpSpPr bwMode="auto">
          <a:xfrm>
            <a:off x="1085850" y="3060700"/>
            <a:ext cx="457200" cy="457200"/>
            <a:chOff x="1420" y="1902"/>
            <a:chExt cx="288" cy="288"/>
          </a:xfrm>
        </p:grpSpPr>
        <p:sp>
          <p:nvSpPr>
            <p:cNvPr id="41043" name="Rectangle 60"/>
            <p:cNvSpPr>
              <a:spLocks noChangeArrowheads="1"/>
            </p:cNvSpPr>
            <p:nvPr/>
          </p:nvSpPr>
          <p:spPr bwMode="auto">
            <a:xfrm>
              <a:off x="1420" y="1902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41044" name="Text Box 61"/>
            <p:cNvSpPr txBox="1">
              <a:spLocks noChangeArrowheads="1"/>
            </p:cNvSpPr>
            <p:nvPr/>
          </p:nvSpPr>
          <p:spPr bwMode="auto">
            <a:xfrm>
              <a:off x="1468" y="1927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5</a:t>
              </a:r>
            </a:p>
          </p:txBody>
        </p:sp>
      </p:grpSp>
      <p:sp>
        <p:nvSpPr>
          <p:cNvPr id="40996" name="Rectangle 62"/>
          <p:cNvSpPr>
            <a:spLocks noChangeArrowheads="1"/>
          </p:cNvSpPr>
          <p:nvPr/>
        </p:nvSpPr>
        <p:spPr bwMode="auto">
          <a:xfrm>
            <a:off x="1543050" y="30607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0997" name="Text Box 63"/>
          <p:cNvSpPr txBox="1">
            <a:spLocks noChangeArrowheads="1"/>
          </p:cNvSpPr>
          <p:nvPr/>
        </p:nvSpPr>
        <p:spPr bwMode="auto">
          <a:xfrm>
            <a:off x="1619250" y="3100388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6</a:t>
            </a:r>
          </a:p>
        </p:txBody>
      </p:sp>
      <p:sp>
        <p:nvSpPr>
          <p:cNvPr id="40998" name="Rectangle 64"/>
          <p:cNvSpPr>
            <a:spLocks noChangeArrowheads="1"/>
          </p:cNvSpPr>
          <p:nvPr/>
        </p:nvSpPr>
        <p:spPr bwMode="auto">
          <a:xfrm>
            <a:off x="2000250" y="30607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0999" name="Text Box 65"/>
          <p:cNvSpPr txBox="1">
            <a:spLocks noChangeArrowheads="1"/>
          </p:cNvSpPr>
          <p:nvPr/>
        </p:nvSpPr>
        <p:spPr bwMode="auto">
          <a:xfrm>
            <a:off x="2076450" y="3100388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4</a:t>
            </a:r>
          </a:p>
        </p:txBody>
      </p:sp>
      <p:sp>
        <p:nvSpPr>
          <p:cNvPr id="41000" name="Rectangle 66"/>
          <p:cNvSpPr>
            <a:spLocks noChangeArrowheads="1"/>
          </p:cNvSpPr>
          <p:nvPr/>
        </p:nvSpPr>
        <p:spPr bwMode="auto">
          <a:xfrm>
            <a:off x="2914650" y="30607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1001" name="Text Box 67"/>
          <p:cNvSpPr txBox="1">
            <a:spLocks noChangeArrowheads="1"/>
          </p:cNvSpPr>
          <p:nvPr/>
        </p:nvSpPr>
        <p:spPr bwMode="auto">
          <a:xfrm>
            <a:off x="2990850" y="3100388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3</a:t>
            </a:r>
          </a:p>
        </p:txBody>
      </p:sp>
      <p:sp>
        <p:nvSpPr>
          <p:cNvPr id="41002" name="Rectangle 68"/>
          <p:cNvSpPr>
            <a:spLocks noChangeArrowheads="1"/>
          </p:cNvSpPr>
          <p:nvPr/>
        </p:nvSpPr>
        <p:spPr bwMode="auto">
          <a:xfrm>
            <a:off x="3371850" y="30607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1003" name="Text Box 69"/>
          <p:cNvSpPr txBox="1">
            <a:spLocks noChangeArrowheads="1"/>
          </p:cNvSpPr>
          <p:nvPr/>
        </p:nvSpPr>
        <p:spPr bwMode="auto">
          <a:xfrm>
            <a:off x="3379788" y="3100388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12</a:t>
            </a:r>
          </a:p>
        </p:txBody>
      </p:sp>
      <p:sp>
        <p:nvSpPr>
          <p:cNvPr id="41004" name="Rectangle 70"/>
          <p:cNvSpPr>
            <a:spLocks noChangeArrowheads="1"/>
          </p:cNvSpPr>
          <p:nvPr/>
        </p:nvSpPr>
        <p:spPr bwMode="auto">
          <a:xfrm>
            <a:off x="3829050" y="3060700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1005" name="Text Box 71"/>
          <p:cNvSpPr txBox="1">
            <a:spLocks noChangeArrowheads="1"/>
          </p:cNvSpPr>
          <p:nvPr/>
        </p:nvSpPr>
        <p:spPr bwMode="auto">
          <a:xfrm>
            <a:off x="3836988" y="3100388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19</a:t>
            </a:r>
          </a:p>
        </p:txBody>
      </p:sp>
      <p:grpSp>
        <p:nvGrpSpPr>
          <p:cNvPr id="41006" name="Group 72"/>
          <p:cNvGrpSpPr>
            <a:grpSpLocks/>
          </p:cNvGrpSpPr>
          <p:nvPr/>
        </p:nvGrpSpPr>
        <p:grpSpPr bwMode="auto">
          <a:xfrm>
            <a:off x="609600" y="3063875"/>
            <a:ext cx="457200" cy="457200"/>
            <a:chOff x="1420" y="1902"/>
            <a:chExt cx="288" cy="288"/>
          </a:xfrm>
        </p:grpSpPr>
        <p:sp>
          <p:nvSpPr>
            <p:cNvPr id="41041" name="Rectangle 73"/>
            <p:cNvSpPr>
              <a:spLocks noChangeArrowheads="1"/>
            </p:cNvSpPr>
            <p:nvPr/>
          </p:nvSpPr>
          <p:spPr bwMode="auto">
            <a:xfrm>
              <a:off x="1420" y="1902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41042" name="Text Box 74"/>
            <p:cNvSpPr txBox="1">
              <a:spLocks noChangeArrowheads="1"/>
            </p:cNvSpPr>
            <p:nvPr/>
          </p:nvSpPr>
          <p:spPr bwMode="auto">
            <a:xfrm>
              <a:off x="1468" y="1927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2</a:t>
              </a:r>
            </a:p>
          </p:txBody>
        </p:sp>
      </p:grpSp>
      <p:grpSp>
        <p:nvGrpSpPr>
          <p:cNvPr id="41007" name="Group 78"/>
          <p:cNvGrpSpPr>
            <a:grpSpLocks/>
          </p:cNvGrpSpPr>
          <p:nvPr/>
        </p:nvGrpSpPr>
        <p:grpSpPr bwMode="auto">
          <a:xfrm>
            <a:off x="4294188" y="3063875"/>
            <a:ext cx="468312" cy="457200"/>
            <a:chOff x="1420" y="1902"/>
            <a:chExt cx="295" cy="288"/>
          </a:xfrm>
        </p:grpSpPr>
        <p:sp>
          <p:nvSpPr>
            <p:cNvPr id="41039" name="Rectangle 79"/>
            <p:cNvSpPr>
              <a:spLocks noChangeArrowheads="1"/>
            </p:cNvSpPr>
            <p:nvPr/>
          </p:nvSpPr>
          <p:spPr bwMode="auto">
            <a:xfrm>
              <a:off x="1420" y="1902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41040" name="Text Box 80"/>
            <p:cNvSpPr txBox="1">
              <a:spLocks noChangeArrowheads="1"/>
            </p:cNvSpPr>
            <p:nvPr/>
          </p:nvSpPr>
          <p:spPr bwMode="auto">
            <a:xfrm>
              <a:off x="1425" y="1927"/>
              <a:ext cx="2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13</a:t>
              </a:r>
            </a:p>
          </p:txBody>
        </p:sp>
      </p:grpSp>
      <p:grpSp>
        <p:nvGrpSpPr>
          <p:cNvPr id="41008" name="Group 82"/>
          <p:cNvGrpSpPr>
            <a:grpSpLocks/>
          </p:cNvGrpSpPr>
          <p:nvPr/>
        </p:nvGrpSpPr>
        <p:grpSpPr bwMode="auto">
          <a:xfrm>
            <a:off x="3733800" y="5257800"/>
            <a:ext cx="838200" cy="854075"/>
            <a:chOff x="2188" y="2286"/>
            <a:chExt cx="528" cy="538"/>
          </a:xfrm>
        </p:grpSpPr>
        <p:sp>
          <p:nvSpPr>
            <p:cNvPr id="41037" name="Text Box 83"/>
            <p:cNvSpPr txBox="1">
              <a:spLocks noChangeArrowheads="1"/>
            </p:cNvSpPr>
            <p:nvPr/>
          </p:nvSpPr>
          <p:spPr bwMode="auto">
            <a:xfrm>
              <a:off x="2188" y="2574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Font typeface="Monotype Sorts" charset="2"/>
                <a:buNone/>
              </a:pPr>
              <a:r>
                <a:rPr lang="en-US" altLang="fr-FR"/>
                <a:t>pivot</a:t>
              </a:r>
            </a:p>
          </p:txBody>
        </p:sp>
        <p:sp>
          <p:nvSpPr>
            <p:cNvPr id="41038" name="Line 84"/>
            <p:cNvSpPr>
              <a:spLocks noChangeShapeType="1"/>
            </p:cNvSpPr>
            <p:nvPr/>
          </p:nvSpPr>
          <p:spPr bwMode="auto">
            <a:xfrm flipV="1">
              <a:off x="2428" y="2286"/>
              <a:ext cx="0" cy="240"/>
            </a:xfrm>
            <a:prstGeom prst="line">
              <a:avLst/>
            </a:prstGeom>
            <a:noFill/>
            <a:ln w="31750">
              <a:solidFill>
                <a:schemeClr val="fol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1009" name="Group 85"/>
          <p:cNvGrpSpPr>
            <a:grpSpLocks/>
          </p:cNvGrpSpPr>
          <p:nvPr/>
        </p:nvGrpSpPr>
        <p:grpSpPr bwMode="auto">
          <a:xfrm>
            <a:off x="3860800" y="4651375"/>
            <a:ext cx="457200" cy="457200"/>
            <a:chOff x="2284" y="1902"/>
            <a:chExt cx="288" cy="288"/>
          </a:xfrm>
        </p:grpSpPr>
        <p:sp>
          <p:nvSpPr>
            <p:cNvPr id="41035" name="Rectangle 86"/>
            <p:cNvSpPr>
              <a:spLocks noChangeArrowheads="1"/>
            </p:cNvSpPr>
            <p:nvPr/>
          </p:nvSpPr>
          <p:spPr bwMode="auto">
            <a:xfrm>
              <a:off x="2284" y="1902"/>
              <a:ext cx="28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41036" name="Text Box 87"/>
            <p:cNvSpPr txBox="1">
              <a:spLocks noChangeArrowheads="1"/>
            </p:cNvSpPr>
            <p:nvPr/>
          </p:nvSpPr>
          <p:spPr bwMode="auto">
            <a:xfrm>
              <a:off x="2352" y="1920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6</a:t>
              </a:r>
            </a:p>
          </p:txBody>
        </p:sp>
      </p:grpSp>
      <p:grpSp>
        <p:nvGrpSpPr>
          <p:cNvPr id="41010" name="Group 88"/>
          <p:cNvGrpSpPr>
            <a:grpSpLocks/>
          </p:cNvGrpSpPr>
          <p:nvPr/>
        </p:nvGrpSpPr>
        <p:grpSpPr bwMode="auto">
          <a:xfrm>
            <a:off x="1123950" y="4645025"/>
            <a:ext cx="457200" cy="457200"/>
            <a:chOff x="1420" y="1902"/>
            <a:chExt cx="288" cy="288"/>
          </a:xfrm>
        </p:grpSpPr>
        <p:sp>
          <p:nvSpPr>
            <p:cNvPr id="41033" name="Rectangle 89"/>
            <p:cNvSpPr>
              <a:spLocks noChangeArrowheads="1"/>
            </p:cNvSpPr>
            <p:nvPr/>
          </p:nvSpPr>
          <p:spPr bwMode="auto">
            <a:xfrm>
              <a:off x="1420" y="1902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41034" name="Text Box 90"/>
            <p:cNvSpPr txBox="1">
              <a:spLocks noChangeArrowheads="1"/>
            </p:cNvSpPr>
            <p:nvPr/>
          </p:nvSpPr>
          <p:spPr bwMode="auto">
            <a:xfrm>
              <a:off x="1468" y="1927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5</a:t>
              </a:r>
            </a:p>
          </p:txBody>
        </p:sp>
      </p:grpSp>
      <p:sp>
        <p:nvSpPr>
          <p:cNvPr id="41011" name="Rectangle 91"/>
          <p:cNvSpPr>
            <a:spLocks noChangeArrowheads="1"/>
          </p:cNvSpPr>
          <p:nvPr/>
        </p:nvSpPr>
        <p:spPr bwMode="auto">
          <a:xfrm>
            <a:off x="1581150" y="46450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1012" name="Text Box 92"/>
          <p:cNvSpPr txBox="1">
            <a:spLocks noChangeArrowheads="1"/>
          </p:cNvSpPr>
          <p:nvPr/>
        </p:nvSpPr>
        <p:spPr bwMode="auto">
          <a:xfrm>
            <a:off x="1657350" y="4684713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6</a:t>
            </a:r>
          </a:p>
        </p:txBody>
      </p:sp>
      <p:sp>
        <p:nvSpPr>
          <p:cNvPr id="41013" name="Rectangle 93"/>
          <p:cNvSpPr>
            <a:spLocks noChangeArrowheads="1"/>
          </p:cNvSpPr>
          <p:nvPr/>
        </p:nvSpPr>
        <p:spPr bwMode="auto">
          <a:xfrm>
            <a:off x="2038350" y="46450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1014" name="Text Box 94"/>
          <p:cNvSpPr txBox="1">
            <a:spLocks noChangeArrowheads="1"/>
          </p:cNvSpPr>
          <p:nvPr/>
        </p:nvSpPr>
        <p:spPr bwMode="auto">
          <a:xfrm>
            <a:off x="2114550" y="4684713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4</a:t>
            </a:r>
          </a:p>
        </p:txBody>
      </p:sp>
      <p:sp>
        <p:nvSpPr>
          <p:cNvPr id="41015" name="Rectangle 95"/>
          <p:cNvSpPr>
            <a:spLocks noChangeArrowheads="1"/>
          </p:cNvSpPr>
          <p:nvPr/>
        </p:nvSpPr>
        <p:spPr bwMode="auto">
          <a:xfrm>
            <a:off x="2952750" y="46450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1016" name="Text Box 96"/>
          <p:cNvSpPr txBox="1">
            <a:spLocks noChangeArrowheads="1"/>
          </p:cNvSpPr>
          <p:nvPr/>
        </p:nvSpPr>
        <p:spPr bwMode="auto">
          <a:xfrm>
            <a:off x="3028950" y="4684713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3</a:t>
            </a:r>
          </a:p>
        </p:txBody>
      </p:sp>
      <p:sp>
        <p:nvSpPr>
          <p:cNvPr id="41017" name="Rectangle 97"/>
          <p:cNvSpPr>
            <a:spLocks noChangeArrowheads="1"/>
          </p:cNvSpPr>
          <p:nvPr/>
        </p:nvSpPr>
        <p:spPr bwMode="auto">
          <a:xfrm>
            <a:off x="3409950" y="4645025"/>
            <a:ext cx="457200" cy="4572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1018" name="Text Box 98"/>
          <p:cNvSpPr txBox="1">
            <a:spLocks noChangeArrowheads="1"/>
          </p:cNvSpPr>
          <p:nvPr/>
        </p:nvSpPr>
        <p:spPr bwMode="auto">
          <a:xfrm>
            <a:off x="3417888" y="4684713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b="0">
                <a:solidFill>
                  <a:schemeClr val="bg1"/>
                </a:solidFill>
                <a:latin typeface="Tahoma" charset="0"/>
              </a:rPr>
              <a:t>12</a:t>
            </a:r>
          </a:p>
        </p:txBody>
      </p:sp>
      <p:grpSp>
        <p:nvGrpSpPr>
          <p:cNvPr id="41019" name="Group 107"/>
          <p:cNvGrpSpPr>
            <a:grpSpLocks/>
          </p:cNvGrpSpPr>
          <p:nvPr/>
        </p:nvGrpSpPr>
        <p:grpSpPr bwMode="auto">
          <a:xfrm>
            <a:off x="2514600" y="4651375"/>
            <a:ext cx="468313" cy="457200"/>
            <a:chOff x="2436" y="3156"/>
            <a:chExt cx="295" cy="288"/>
          </a:xfrm>
        </p:grpSpPr>
        <p:sp>
          <p:nvSpPr>
            <p:cNvPr id="41031" name="Rectangle 99"/>
            <p:cNvSpPr>
              <a:spLocks noChangeArrowheads="1"/>
            </p:cNvSpPr>
            <p:nvPr/>
          </p:nvSpPr>
          <p:spPr bwMode="auto">
            <a:xfrm>
              <a:off x="2436" y="3156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41032" name="Text Box 100"/>
            <p:cNvSpPr txBox="1">
              <a:spLocks noChangeArrowheads="1"/>
            </p:cNvSpPr>
            <p:nvPr/>
          </p:nvSpPr>
          <p:spPr bwMode="auto">
            <a:xfrm>
              <a:off x="2441" y="3181"/>
              <a:ext cx="2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19</a:t>
              </a:r>
            </a:p>
          </p:txBody>
        </p:sp>
      </p:grpSp>
      <p:grpSp>
        <p:nvGrpSpPr>
          <p:cNvPr id="41020" name="Group 101"/>
          <p:cNvGrpSpPr>
            <a:grpSpLocks/>
          </p:cNvGrpSpPr>
          <p:nvPr/>
        </p:nvGrpSpPr>
        <p:grpSpPr bwMode="auto">
          <a:xfrm>
            <a:off x="647700" y="4648200"/>
            <a:ext cx="457200" cy="457200"/>
            <a:chOff x="1420" y="1902"/>
            <a:chExt cx="288" cy="288"/>
          </a:xfrm>
        </p:grpSpPr>
        <p:sp>
          <p:nvSpPr>
            <p:cNvPr id="41029" name="Rectangle 102"/>
            <p:cNvSpPr>
              <a:spLocks noChangeArrowheads="1"/>
            </p:cNvSpPr>
            <p:nvPr/>
          </p:nvSpPr>
          <p:spPr bwMode="auto">
            <a:xfrm>
              <a:off x="1420" y="1902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41030" name="Text Box 103"/>
            <p:cNvSpPr txBox="1">
              <a:spLocks noChangeArrowheads="1"/>
            </p:cNvSpPr>
            <p:nvPr/>
          </p:nvSpPr>
          <p:spPr bwMode="auto">
            <a:xfrm>
              <a:off x="1468" y="1927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2</a:t>
              </a:r>
            </a:p>
          </p:txBody>
        </p:sp>
      </p:grpSp>
      <p:grpSp>
        <p:nvGrpSpPr>
          <p:cNvPr id="41021" name="Group 104"/>
          <p:cNvGrpSpPr>
            <a:grpSpLocks/>
          </p:cNvGrpSpPr>
          <p:nvPr/>
        </p:nvGrpSpPr>
        <p:grpSpPr bwMode="auto">
          <a:xfrm>
            <a:off x="4332288" y="4648200"/>
            <a:ext cx="468312" cy="457200"/>
            <a:chOff x="1420" y="1902"/>
            <a:chExt cx="295" cy="288"/>
          </a:xfrm>
        </p:grpSpPr>
        <p:sp>
          <p:nvSpPr>
            <p:cNvPr id="41027" name="Rectangle 105"/>
            <p:cNvSpPr>
              <a:spLocks noChangeArrowheads="1"/>
            </p:cNvSpPr>
            <p:nvPr/>
          </p:nvSpPr>
          <p:spPr bwMode="auto">
            <a:xfrm>
              <a:off x="1420" y="1902"/>
              <a:ext cx="288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41028" name="Text Box 106"/>
            <p:cNvSpPr txBox="1">
              <a:spLocks noChangeArrowheads="1"/>
            </p:cNvSpPr>
            <p:nvPr/>
          </p:nvSpPr>
          <p:spPr bwMode="auto">
            <a:xfrm>
              <a:off x="1425" y="1927"/>
              <a:ext cx="2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b="0">
                  <a:solidFill>
                    <a:schemeClr val="bg1"/>
                  </a:solidFill>
                  <a:latin typeface="Tahoma" charset="0"/>
                </a:rPr>
                <a:t>13</a:t>
              </a:r>
            </a:p>
          </p:txBody>
        </p:sp>
      </p:grpSp>
      <p:sp>
        <p:nvSpPr>
          <p:cNvPr id="41022" name="Text Box 108"/>
          <p:cNvSpPr txBox="1">
            <a:spLocks noChangeArrowheads="1"/>
          </p:cNvSpPr>
          <p:nvPr/>
        </p:nvSpPr>
        <p:spPr bwMode="auto">
          <a:xfrm>
            <a:off x="5105400" y="3124200"/>
            <a:ext cx="3810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 typeface="Monotype Sorts" charset="2"/>
              <a:buNone/>
            </a:pPr>
            <a:r>
              <a:rPr lang="en-US" altLang="fr-FR" b="0"/>
              <a:t>Choose A[center] as </a:t>
            </a:r>
            <a:r>
              <a:rPr lang="en-US" altLang="fr-FR" b="0">
                <a:solidFill>
                  <a:schemeClr val="hlink"/>
                </a:solidFill>
              </a:rPr>
              <a:t>pivot</a:t>
            </a:r>
          </a:p>
        </p:txBody>
      </p:sp>
      <p:sp>
        <p:nvSpPr>
          <p:cNvPr id="41023" name="Text Box 109"/>
          <p:cNvSpPr txBox="1">
            <a:spLocks noChangeArrowheads="1"/>
          </p:cNvSpPr>
          <p:nvPr/>
        </p:nvSpPr>
        <p:spPr bwMode="auto">
          <a:xfrm>
            <a:off x="5105400" y="4648200"/>
            <a:ext cx="3352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 typeface="Monotype Sorts" charset="2"/>
              <a:buNone/>
            </a:pPr>
            <a:r>
              <a:rPr lang="en-US" altLang="fr-FR" b="0"/>
              <a:t>Swap pivot and A[right – 1]</a:t>
            </a:r>
          </a:p>
        </p:txBody>
      </p:sp>
      <p:sp>
        <p:nvSpPr>
          <p:cNvPr id="41024" name="Text Box 110"/>
          <p:cNvSpPr txBox="1">
            <a:spLocks noChangeArrowheads="1"/>
          </p:cNvSpPr>
          <p:nvPr/>
        </p:nvSpPr>
        <p:spPr bwMode="auto">
          <a:xfrm>
            <a:off x="457200" y="5992468"/>
            <a:ext cx="6934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 typeface="Monotype Sorts" charset="2"/>
              <a:buNone/>
            </a:pPr>
            <a:r>
              <a:rPr lang="en-US" altLang="fr-FR" b="0" dirty="0"/>
              <a:t>Note we only need to partition A[</a:t>
            </a:r>
            <a:r>
              <a:rPr lang="en-US" altLang="fr-FR" b="0" dirty="0">
                <a:solidFill>
                  <a:schemeClr val="hlink"/>
                </a:solidFill>
              </a:rPr>
              <a:t>left + 1</a:t>
            </a:r>
            <a:r>
              <a:rPr lang="en-US" altLang="fr-FR" b="0" dirty="0"/>
              <a:t>, …, </a:t>
            </a:r>
            <a:r>
              <a:rPr lang="en-US" altLang="fr-FR" b="0" dirty="0">
                <a:solidFill>
                  <a:schemeClr val="hlink"/>
                </a:solidFill>
              </a:rPr>
              <a:t>right – 2</a:t>
            </a:r>
            <a:r>
              <a:rPr lang="en-US" altLang="fr-FR" b="0" dirty="0"/>
              <a:t>]. Why?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4789488" y="6538912"/>
            <a:ext cx="3584575" cy="396875"/>
          </a:xfrm>
        </p:spPr>
        <p:txBody>
          <a:bodyPr/>
          <a:lstStyle/>
          <a:p>
            <a:pPr>
              <a:defRPr/>
            </a:pPr>
            <a:r>
              <a:rPr lang="en-US" altLang="zh-TW" dirty="0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09E3F508-A748-4044-827A-59ECD9475B3C}" type="slidenum">
              <a:rPr lang="zh-TW" altLang="en-US" sz="1200">
                <a:solidFill>
                  <a:srgbClr val="898989"/>
                </a:solidFill>
              </a:rPr>
              <a:pPr/>
              <a:t>39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990600"/>
          </a:xfrm>
        </p:spPr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Main Quicksort Routine</a:t>
            </a:r>
          </a:p>
        </p:txBody>
      </p:sp>
      <p:pic>
        <p:nvPicPr>
          <p:cNvPr id="41987" name="Picture 3" descr="7"/>
          <p:cNvPicPr>
            <a:picLocks noChangeAspect="1" noChangeArrowheads="1"/>
          </p:cNvPicPr>
          <p:nvPr/>
        </p:nvPicPr>
        <p:blipFill>
          <a:blip r:embed="rId2">
            <a:lum bright="-2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4" t="1302" b="13008"/>
          <a:stretch>
            <a:fillRect/>
          </a:stretch>
        </p:blipFill>
        <p:spPr bwMode="auto">
          <a:xfrm>
            <a:off x="228600" y="1457325"/>
            <a:ext cx="5829300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762000" y="6019800"/>
            <a:ext cx="4572000" cy="457200"/>
          </a:xfrm>
          <a:prstGeom prst="rect">
            <a:avLst/>
          </a:prstGeom>
          <a:noFill/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1989" name="AutoShape 5"/>
          <p:cNvSpPr>
            <a:spLocks/>
          </p:cNvSpPr>
          <p:nvPr/>
        </p:nvSpPr>
        <p:spPr bwMode="auto">
          <a:xfrm>
            <a:off x="6477000" y="6080125"/>
            <a:ext cx="2057400" cy="419100"/>
          </a:xfrm>
          <a:prstGeom prst="borderCallout1">
            <a:avLst>
              <a:gd name="adj1" fmla="val 27273"/>
              <a:gd name="adj2" fmla="val -3704"/>
              <a:gd name="adj3" fmla="val 27273"/>
              <a:gd name="adj4" fmla="val -51852"/>
            </a:avLst>
          </a:prstGeom>
          <a:solidFill>
            <a:schemeClr val="folHlink"/>
          </a:solidFill>
          <a:ln w="31750">
            <a:solidFill>
              <a:schemeClr val="accent1"/>
            </a:solidFill>
            <a:miter lim="800000"/>
            <a:headEnd type="triangl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 typeface="Monotype Sorts" charset="2"/>
              <a:buNone/>
            </a:pPr>
            <a:r>
              <a:rPr lang="en-US" altLang="fr-FR" b="0">
                <a:solidFill>
                  <a:schemeClr val="bg2"/>
                </a:solidFill>
              </a:rPr>
              <a:t>For small arrays</a:t>
            </a:r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762000" y="5334000"/>
            <a:ext cx="5105400" cy="533400"/>
          </a:xfrm>
          <a:prstGeom prst="rect">
            <a:avLst/>
          </a:prstGeom>
          <a:noFill/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1991" name="AutoShape 7"/>
          <p:cNvSpPr>
            <a:spLocks/>
          </p:cNvSpPr>
          <p:nvPr/>
        </p:nvSpPr>
        <p:spPr bwMode="auto">
          <a:xfrm>
            <a:off x="6477000" y="5410200"/>
            <a:ext cx="2057400" cy="419100"/>
          </a:xfrm>
          <a:prstGeom prst="borderCallout1">
            <a:avLst>
              <a:gd name="adj1" fmla="val 27273"/>
              <a:gd name="adj2" fmla="val -3704"/>
              <a:gd name="adj3" fmla="val 30301"/>
              <a:gd name="adj4" fmla="val -26389"/>
            </a:avLst>
          </a:prstGeom>
          <a:solidFill>
            <a:schemeClr val="folHlink"/>
          </a:solidFill>
          <a:ln w="31750">
            <a:solidFill>
              <a:schemeClr val="accent1"/>
            </a:solidFill>
            <a:miter lim="800000"/>
            <a:headEnd type="triangl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 typeface="Monotype Sorts" charset="2"/>
              <a:buNone/>
            </a:pPr>
            <a:r>
              <a:rPr lang="en-US" altLang="fr-FR" b="0">
                <a:solidFill>
                  <a:schemeClr val="bg2"/>
                </a:solidFill>
              </a:rPr>
              <a:t>Recursion</a:t>
            </a: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762000" y="1828800"/>
            <a:ext cx="4343400" cy="304800"/>
          </a:xfrm>
          <a:prstGeom prst="rect">
            <a:avLst/>
          </a:prstGeom>
          <a:noFill/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1993" name="AutoShape 9"/>
          <p:cNvSpPr>
            <a:spLocks/>
          </p:cNvSpPr>
          <p:nvPr/>
        </p:nvSpPr>
        <p:spPr bwMode="auto">
          <a:xfrm>
            <a:off x="6553200" y="1828800"/>
            <a:ext cx="2057400" cy="419100"/>
          </a:xfrm>
          <a:prstGeom prst="borderCallout1">
            <a:avLst>
              <a:gd name="adj1" fmla="val 27273"/>
              <a:gd name="adj2" fmla="val -3704"/>
              <a:gd name="adj3" fmla="val 33333"/>
              <a:gd name="adj4" fmla="val -66435"/>
            </a:avLst>
          </a:prstGeom>
          <a:solidFill>
            <a:schemeClr val="folHlink"/>
          </a:solidFill>
          <a:ln w="31750">
            <a:solidFill>
              <a:schemeClr val="accent1"/>
            </a:solidFill>
            <a:miter lim="800000"/>
            <a:headEnd type="triangl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 typeface="Monotype Sorts" charset="2"/>
              <a:buNone/>
            </a:pPr>
            <a:r>
              <a:rPr lang="en-US" altLang="fr-FR" b="0">
                <a:solidFill>
                  <a:schemeClr val="bg2"/>
                </a:solidFill>
              </a:rPr>
              <a:t>Choose pivot</a:t>
            </a:r>
          </a:p>
        </p:txBody>
      </p: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762000" y="2514600"/>
            <a:ext cx="4572000" cy="2667000"/>
          </a:xfrm>
          <a:prstGeom prst="rect">
            <a:avLst/>
          </a:prstGeom>
          <a:noFill/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1995" name="AutoShape 11"/>
          <p:cNvSpPr>
            <a:spLocks/>
          </p:cNvSpPr>
          <p:nvPr/>
        </p:nvSpPr>
        <p:spPr bwMode="auto">
          <a:xfrm>
            <a:off x="6553200" y="3695700"/>
            <a:ext cx="2057400" cy="419100"/>
          </a:xfrm>
          <a:prstGeom prst="borderCallout1">
            <a:avLst>
              <a:gd name="adj1" fmla="val 27273"/>
              <a:gd name="adj2" fmla="val -3704"/>
              <a:gd name="adj3" fmla="val 30301"/>
              <a:gd name="adj4" fmla="val -56944"/>
            </a:avLst>
          </a:prstGeom>
          <a:solidFill>
            <a:schemeClr val="folHlink"/>
          </a:solidFill>
          <a:ln w="31750">
            <a:solidFill>
              <a:schemeClr val="accent1"/>
            </a:solidFill>
            <a:miter lim="800000"/>
            <a:headEnd type="triangl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 typeface="Monotype Sorts" charset="2"/>
              <a:buNone/>
            </a:pPr>
            <a:r>
              <a:rPr lang="en-US" altLang="fr-FR" b="0">
                <a:solidFill>
                  <a:schemeClr val="bg2"/>
                </a:solidFill>
              </a:rPr>
              <a:t>Partitioning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84508AC1-915A-E043-BC95-D8441E086345}" type="slidenum">
              <a:rPr lang="zh-TW" altLang="en-US" sz="1200">
                <a:solidFill>
                  <a:srgbClr val="898989"/>
                </a:solidFill>
              </a:rPr>
              <a:pPr/>
              <a:t>40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838200"/>
          </a:xfrm>
        </p:spPr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Partitioning Part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4572000" cy="5105400"/>
          </a:xfrm>
        </p:spPr>
        <p:txBody>
          <a:bodyPr/>
          <a:lstStyle/>
          <a:p>
            <a:r>
              <a:rPr lang="en-US" altLang="fr-FR" sz="2000"/>
              <a:t>Works only if pivot is picked as </a:t>
            </a:r>
            <a:r>
              <a:rPr lang="en-US" altLang="fr-FR" sz="2000">
                <a:solidFill>
                  <a:schemeClr val="hlink"/>
                </a:solidFill>
              </a:rPr>
              <a:t>median-of-three</a:t>
            </a:r>
            <a:r>
              <a:rPr lang="en-US" altLang="fr-FR" sz="2000"/>
              <a:t>. </a:t>
            </a:r>
          </a:p>
          <a:p>
            <a:pPr lvl="1"/>
            <a:r>
              <a:rPr lang="en-US" altLang="fr-FR" sz="1800"/>
              <a:t>A[left] &lt;= pivot and A[right] &gt;= pivot</a:t>
            </a:r>
          </a:p>
          <a:p>
            <a:pPr lvl="1"/>
            <a:r>
              <a:rPr lang="en-US" altLang="fr-FR" sz="1800"/>
              <a:t>Thus, only need to partition A[left + 1, …, right – 2]</a:t>
            </a:r>
          </a:p>
          <a:p>
            <a:endParaRPr lang="en-US" altLang="fr-FR" sz="2000"/>
          </a:p>
          <a:p>
            <a:r>
              <a:rPr lang="en-US" altLang="fr-FR" sz="2000"/>
              <a:t>j will not run past the end</a:t>
            </a:r>
          </a:p>
          <a:p>
            <a:pPr lvl="1"/>
            <a:r>
              <a:rPr lang="en-US" altLang="fr-FR" sz="1800"/>
              <a:t>because a[left] &lt;= pivot</a:t>
            </a:r>
          </a:p>
          <a:p>
            <a:pPr lvl="1"/>
            <a:endParaRPr lang="en-US" altLang="fr-FR" sz="1800"/>
          </a:p>
          <a:p>
            <a:r>
              <a:rPr lang="en-US" altLang="fr-FR" sz="2000"/>
              <a:t>i will not run past the end</a:t>
            </a:r>
          </a:p>
          <a:p>
            <a:pPr lvl="1"/>
            <a:r>
              <a:rPr lang="en-US" altLang="fr-FR" sz="1800"/>
              <a:t>because a[right-1] = pivot</a:t>
            </a:r>
          </a:p>
        </p:txBody>
      </p:sp>
      <p:pic>
        <p:nvPicPr>
          <p:cNvPr id="43012" name="Picture 4" descr="7"/>
          <p:cNvPicPr>
            <a:picLocks noChangeAspect="1" noChangeArrowheads="1"/>
          </p:cNvPicPr>
          <p:nvPr/>
        </p:nvPicPr>
        <p:blipFill>
          <a:blip r:embed="rId2">
            <a:lum bright="-2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8" t="19513" r="31694" b="42928"/>
          <a:stretch>
            <a:fillRect/>
          </a:stretch>
        </p:blipFill>
        <p:spPr bwMode="auto">
          <a:xfrm>
            <a:off x="4953000" y="1547813"/>
            <a:ext cx="4114800" cy="279558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54896A83-E60D-B14E-A705-B8487729B1DB}" type="slidenum">
              <a:rPr lang="zh-TW" altLang="en-US" sz="1200">
                <a:solidFill>
                  <a:srgbClr val="898989"/>
                </a:solidFill>
              </a:rPr>
              <a:pPr/>
              <a:t>41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914400"/>
          </a:xfrm>
        </p:spPr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Quicksort Faster than Mergesort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7848600" cy="4114800"/>
          </a:xfrm>
        </p:spPr>
        <p:txBody>
          <a:bodyPr/>
          <a:lstStyle/>
          <a:p>
            <a:r>
              <a:rPr lang="en-US" altLang="fr-FR" sz="2800"/>
              <a:t>Both quicksort and mergesort take O(N log N) in the average case.</a:t>
            </a:r>
          </a:p>
          <a:p>
            <a:r>
              <a:rPr lang="en-US" altLang="fr-FR" sz="2800"/>
              <a:t>Why is quicksort </a:t>
            </a:r>
            <a:r>
              <a:rPr lang="en-US" altLang="fr-FR" sz="2800">
                <a:solidFill>
                  <a:schemeClr val="hlink"/>
                </a:solidFill>
              </a:rPr>
              <a:t>faster</a:t>
            </a:r>
            <a:r>
              <a:rPr lang="en-US" altLang="fr-FR" sz="2800"/>
              <a:t> than mergesort?</a:t>
            </a:r>
          </a:p>
          <a:p>
            <a:pPr lvl="1"/>
            <a:r>
              <a:rPr lang="en-US" altLang="fr-FR" sz="2400"/>
              <a:t>The inner loop consists of an increment/decrement (by 1, which is fast), a test and a jump. </a:t>
            </a:r>
          </a:p>
          <a:p>
            <a:pPr lvl="1"/>
            <a:r>
              <a:rPr lang="en-US" altLang="fr-FR" sz="2400"/>
              <a:t>There is no extra juggling as in mergesort.</a:t>
            </a:r>
          </a:p>
        </p:txBody>
      </p:sp>
      <p:pic>
        <p:nvPicPr>
          <p:cNvPr id="44036" name="Picture 4" descr="7"/>
          <p:cNvPicPr>
            <a:picLocks noChangeAspect="1" noChangeArrowheads="1"/>
          </p:cNvPicPr>
          <p:nvPr/>
        </p:nvPicPr>
        <p:blipFill>
          <a:blip r:embed="rId2">
            <a:lum bright="-2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8" t="19513" r="31694" b="42928"/>
          <a:stretch>
            <a:fillRect/>
          </a:stretch>
        </p:blipFill>
        <p:spPr bwMode="auto">
          <a:xfrm>
            <a:off x="2238375" y="4114800"/>
            <a:ext cx="3733800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2895600" y="4724400"/>
            <a:ext cx="3124200" cy="1676400"/>
          </a:xfrm>
          <a:prstGeom prst="rect">
            <a:avLst/>
          </a:prstGeom>
          <a:noFill/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FR" altLang="fr-FR"/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4343400" y="5943600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 typeface="Monotype Sorts" charset="2"/>
              <a:buNone/>
            </a:pPr>
            <a:r>
              <a:rPr lang="en-US" altLang="fr-FR">
                <a:solidFill>
                  <a:schemeClr val="accent1"/>
                </a:solidFill>
              </a:rPr>
              <a:t>inner loop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146D428C-AB84-F044-9DD3-4B19D13B685C}" type="slidenum">
              <a:rPr lang="zh-TW" altLang="en-US" sz="1200">
                <a:solidFill>
                  <a:srgbClr val="898989"/>
                </a:solidFill>
              </a:rPr>
              <a:pPr/>
              <a:t>42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Analysis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8229600" cy="4114800"/>
          </a:xfrm>
        </p:spPr>
        <p:txBody>
          <a:bodyPr/>
          <a:lstStyle/>
          <a:p>
            <a:r>
              <a:rPr lang="en-US" altLang="fr-FR" dirty="0"/>
              <a:t>Assumptions:</a:t>
            </a:r>
          </a:p>
          <a:p>
            <a:pPr lvl="1"/>
            <a:r>
              <a:rPr lang="en-US" altLang="fr-FR" dirty="0"/>
              <a:t>A random pivot (no median-of-three partitioning</a:t>
            </a:r>
          </a:p>
          <a:p>
            <a:pPr lvl="1"/>
            <a:r>
              <a:rPr lang="en-US" altLang="fr-FR" dirty="0"/>
              <a:t>No cut off for small arrays</a:t>
            </a:r>
          </a:p>
          <a:p>
            <a:r>
              <a:rPr lang="en-US" altLang="fr-FR" dirty="0"/>
              <a:t>Running time</a:t>
            </a:r>
          </a:p>
          <a:p>
            <a:pPr lvl="1"/>
            <a:r>
              <a:rPr lang="en-US" altLang="fr-FR" dirty="0"/>
              <a:t>pivot selection: constant time O(1)</a:t>
            </a:r>
          </a:p>
          <a:p>
            <a:pPr lvl="1"/>
            <a:r>
              <a:rPr lang="en-US" altLang="fr-FR" dirty="0"/>
              <a:t>partitioning: linear time O(N)</a:t>
            </a:r>
          </a:p>
          <a:p>
            <a:pPr lvl="1"/>
            <a:r>
              <a:rPr lang="en-US" altLang="fr-FR" dirty="0"/>
              <a:t>running time of the two recursive calls </a:t>
            </a:r>
          </a:p>
          <a:p>
            <a:pPr lvl="1"/>
            <a:endParaRPr lang="en-US" altLang="fr-FR" dirty="0"/>
          </a:p>
          <a:p>
            <a:r>
              <a:rPr lang="en-US" altLang="fr-FR" dirty="0"/>
              <a:t>T(N)=T(</a:t>
            </a:r>
            <a:r>
              <a:rPr lang="en-US" altLang="fr-FR" dirty="0" err="1"/>
              <a:t>i</a:t>
            </a:r>
            <a:r>
              <a:rPr lang="en-US" altLang="fr-FR" dirty="0"/>
              <a:t>)+T(N-i-1)+</a:t>
            </a:r>
            <a:r>
              <a:rPr lang="en-US" altLang="fr-FR" dirty="0" err="1"/>
              <a:t>cN</a:t>
            </a:r>
            <a:r>
              <a:rPr lang="en-US" altLang="fr-FR" dirty="0"/>
              <a:t>     where c is a constant</a:t>
            </a:r>
          </a:p>
          <a:p>
            <a:pPr lvl="1"/>
            <a:r>
              <a:rPr lang="en-US" altLang="fr-FR" dirty="0"/>
              <a:t>i: number of elements in S1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9BC2052C-1F27-DB47-B0DA-999AD5048D7B}" type="slidenum">
              <a:rPr lang="zh-TW" altLang="en-US" sz="1200">
                <a:solidFill>
                  <a:srgbClr val="898989"/>
                </a:solidFill>
              </a:rPr>
              <a:pPr/>
              <a:t>43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Worst-Case Analysis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848600" cy="4114800"/>
          </a:xfrm>
        </p:spPr>
        <p:txBody>
          <a:bodyPr/>
          <a:lstStyle/>
          <a:p>
            <a:r>
              <a:rPr lang="en-US" altLang="fr-FR"/>
              <a:t>What will be the worst case?</a:t>
            </a:r>
          </a:p>
          <a:p>
            <a:pPr lvl="1"/>
            <a:r>
              <a:rPr lang="en-US" altLang="fr-FR"/>
              <a:t>The pivot is the smallest element, all the time</a:t>
            </a:r>
          </a:p>
          <a:p>
            <a:pPr lvl="1"/>
            <a:r>
              <a:rPr lang="en-US" altLang="fr-FR"/>
              <a:t>Partition is always unbalanced</a:t>
            </a:r>
          </a:p>
        </p:txBody>
      </p:sp>
      <p:pic>
        <p:nvPicPr>
          <p:cNvPr id="46084" name="Picture 4" descr="untitl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0" y="2971800"/>
            <a:ext cx="4095750" cy="304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62476031-C2FE-574A-A2BD-D9EFB75406D7}" type="slidenum">
              <a:rPr lang="zh-TW" altLang="en-US" sz="1200">
                <a:solidFill>
                  <a:srgbClr val="898989"/>
                </a:solidFill>
              </a:rPr>
              <a:pPr/>
              <a:t>44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762000"/>
          </a:xfrm>
        </p:spPr>
        <p:txBody>
          <a:bodyPr/>
          <a:lstStyle/>
          <a:p>
            <a:r>
              <a:rPr lang="en-US" altLang="fr-FR" b="1">
                <a:solidFill>
                  <a:srgbClr val="07017D"/>
                </a:solidFill>
              </a:rPr>
              <a:t>Best-case Analysis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762000"/>
            <a:ext cx="8282880" cy="3733800"/>
          </a:xfrm>
        </p:spPr>
        <p:txBody>
          <a:bodyPr/>
          <a:lstStyle/>
          <a:p>
            <a:r>
              <a:rPr lang="en-US" altLang="fr-FR" dirty="0"/>
              <a:t>What will be the best case?</a:t>
            </a:r>
          </a:p>
          <a:p>
            <a:pPr lvl="1"/>
            <a:r>
              <a:rPr lang="en-US" altLang="fr-FR" dirty="0"/>
              <a:t>Partition is perfectly balanced.</a:t>
            </a:r>
          </a:p>
          <a:p>
            <a:pPr lvl="1"/>
            <a:r>
              <a:rPr lang="en-US" altLang="fr-FR" dirty="0"/>
              <a:t>Pivot is always in the middle (median of the array)</a:t>
            </a:r>
          </a:p>
          <a:p>
            <a:endParaRPr lang="en-US" altLang="fr-FR" dirty="0"/>
          </a:p>
          <a:p>
            <a:endParaRPr lang="en-US" altLang="fr-FR" dirty="0"/>
          </a:p>
          <a:p>
            <a:endParaRPr lang="en-US" altLang="fr-FR" dirty="0"/>
          </a:p>
          <a:p>
            <a:endParaRPr lang="en-US" altLang="fr-FR" dirty="0"/>
          </a:p>
        </p:txBody>
      </p:sp>
      <p:pic>
        <p:nvPicPr>
          <p:cNvPr id="47108" name="Picture 4" descr="untitl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1" r="77429" b="87177"/>
          <a:stretch>
            <a:fillRect/>
          </a:stretch>
        </p:blipFill>
        <p:spPr bwMode="auto">
          <a:xfrm>
            <a:off x="2195736" y="2665413"/>
            <a:ext cx="5616624" cy="3702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4533900" y="6552728"/>
            <a:ext cx="4301826" cy="332656"/>
          </a:xfrm>
        </p:spPr>
        <p:txBody>
          <a:bodyPr/>
          <a:lstStyle/>
          <a:p>
            <a:pPr>
              <a:defRPr/>
            </a:pPr>
            <a:r>
              <a:rPr lang="en-US" altLang="zh-TW" dirty="0"/>
              <a:t>CS 2321: D.S.A (-Sorting Algorithms-)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0DC0D3A0-7C26-5D44-9F16-E53BB6E2D273}" type="slidenum">
              <a:rPr lang="zh-TW" altLang="en-US" sz="1200">
                <a:solidFill>
                  <a:srgbClr val="898989"/>
                </a:solidFill>
              </a:rPr>
              <a:pPr/>
              <a:t>45</a:t>
            </a:fld>
            <a:endParaRPr lang="en-US" altLang="zh-TW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 07-Sorting Algorithms" id="{41816EDC-89BD-0148-A615-339E53E3A680}" vid="{95FD5E22-5364-7E48-97F4-1CE5D852E7CB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 07-Sorting Algorithms</Template>
  <TotalTime>3713</TotalTime>
  <Words>2833</Words>
  <Application>Microsoft Office PowerPoint</Application>
  <PresentationFormat>On-screen Show (4:3)</PresentationFormat>
  <Paragraphs>485</Paragraphs>
  <Slides>45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Arial</vt:lpstr>
      <vt:lpstr>Calibri</vt:lpstr>
      <vt:lpstr>Cambria Math</vt:lpstr>
      <vt:lpstr>Courier New</vt:lpstr>
      <vt:lpstr>Monotype Sorts</vt:lpstr>
      <vt:lpstr>Tahoma</vt:lpstr>
      <vt:lpstr>Times New Roman</vt:lpstr>
      <vt:lpstr>Thème Office</vt:lpstr>
      <vt:lpstr>Bitmap Image</vt:lpstr>
      <vt:lpstr>Équation</vt:lpstr>
      <vt:lpstr>Image bitmap</vt:lpstr>
      <vt:lpstr>Sorting Algorithms</vt:lpstr>
      <vt:lpstr>Outlines</vt:lpstr>
      <vt:lpstr>1. Insertion sort</vt:lpstr>
      <vt:lpstr>Insertion sort</vt:lpstr>
      <vt:lpstr>Insertion Sort...</vt:lpstr>
      <vt:lpstr>Example</vt:lpstr>
      <vt:lpstr>PowerPoint Presentation</vt:lpstr>
      <vt:lpstr>Insertion Sort</vt:lpstr>
      <vt:lpstr>Analysis: worst-case running time</vt:lpstr>
      <vt:lpstr>Analysis: best case</vt:lpstr>
      <vt:lpstr>2. Merge sort</vt:lpstr>
      <vt:lpstr>Mergesort</vt:lpstr>
      <vt:lpstr>PowerPoint Presentation</vt:lpstr>
      <vt:lpstr>Dividing</vt:lpstr>
      <vt:lpstr>Mergesort</vt:lpstr>
      <vt:lpstr>How to merge?</vt:lpstr>
      <vt:lpstr>Example: Merge</vt:lpstr>
      <vt:lpstr>Example: Merge...</vt:lpstr>
      <vt:lpstr>PowerPoint Presentation</vt:lpstr>
      <vt:lpstr>Analysis of mergesort</vt:lpstr>
      <vt:lpstr>Analysis: solving recurrence</vt:lpstr>
      <vt:lpstr>PowerPoint Presentation</vt:lpstr>
      <vt:lpstr>An experiment</vt:lpstr>
      <vt:lpstr>3. Quick sort</vt:lpstr>
      <vt:lpstr>Introduction</vt:lpstr>
      <vt:lpstr>Quicksort</vt:lpstr>
      <vt:lpstr>Example: Quicksort</vt:lpstr>
      <vt:lpstr>Example: Quicksort...</vt:lpstr>
      <vt:lpstr>Pseudocode </vt:lpstr>
      <vt:lpstr>Partitioning</vt:lpstr>
      <vt:lpstr>Partitioning Strategy</vt:lpstr>
      <vt:lpstr>Partitioning Strategy</vt:lpstr>
      <vt:lpstr>Partitioning Strategy</vt:lpstr>
      <vt:lpstr>Partitioning Strategy</vt:lpstr>
      <vt:lpstr>Small arrays</vt:lpstr>
      <vt:lpstr>Picking the Pivot</vt:lpstr>
      <vt:lpstr>Picking the Pivot</vt:lpstr>
      <vt:lpstr>Pivot: median of three</vt:lpstr>
      <vt:lpstr>Pivot: median of three</vt:lpstr>
      <vt:lpstr>Main Quicksort Routine</vt:lpstr>
      <vt:lpstr>Partitioning Part</vt:lpstr>
      <vt:lpstr>Quicksort Faster than Mergesort</vt:lpstr>
      <vt:lpstr>Analysis</vt:lpstr>
      <vt:lpstr>Worst-Case Analysis</vt:lpstr>
      <vt:lpstr>Best-case Analysis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Sorting Algorithms</dc:title>
  <dc:creator>Mahdi Khemakhem</dc:creator>
  <cp:lastModifiedBy>Mahmoud Hassaballah</cp:lastModifiedBy>
  <cp:revision>18</cp:revision>
  <dcterms:created xsi:type="dcterms:W3CDTF">2016-04-14T05:05:34Z</dcterms:created>
  <dcterms:modified xsi:type="dcterms:W3CDTF">2023-02-06T06:36:55Z</dcterms:modified>
</cp:coreProperties>
</file>