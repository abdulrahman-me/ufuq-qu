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  <p:sldMasterId id="2147483989" r:id="rId2"/>
    <p:sldMasterId id="2147484002" r:id="rId3"/>
  </p:sldMasterIdLst>
  <p:notesMasterIdLst>
    <p:notesMasterId r:id="rId60"/>
  </p:notesMasterIdLst>
  <p:sldIdLst>
    <p:sldId id="501" r:id="rId4"/>
    <p:sldId id="502" r:id="rId5"/>
    <p:sldId id="504" r:id="rId6"/>
    <p:sldId id="399" r:id="rId7"/>
    <p:sldId id="439" r:id="rId8"/>
    <p:sldId id="440" r:id="rId9"/>
    <p:sldId id="496" r:id="rId10"/>
    <p:sldId id="497" r:id="rId11"/>
    <p:sldId id="503" r:id="rId12"/>
    <p:sldId id="444" r:id="rId13"/>
    <p:sldId id="499" r:id="rId14"/>
    <p:sldId id="403" r:id="rId15"/>
    <p:sldId id="445" r:id="rId16"/>
    <p:sldId id="446" r:id="rId17"/>
    <p:sldId id="447" r:id="rId18"/>
    <p:sldId id="498" r:id="rId19"/>
    <p:sldId id="448" r:id="rId20"/>
    <p:sldId id="508" r:id="rId21"/>
    <p:sldId id="509" r:id="rId22"/>
    <p:sldId id="505" r:id="rId23"/>
    <p:sldId id="488" r:id="rId24"/>
    <p:sldId id="506" r:id="rId25"/>
    <p:sldId id="489" r:id="rId26"/>
    <p:sldId id="490" r:id="rId27"/>
    <p:sldId id="491" r:id="rId28"/>
    <p:sldId id="494" r:id="rId29"/>
    <p:sldId id="495" r:id="rId30"/>
    <p:sldId id="507" r:id="rId31"/>
    <p:sldId id="450" r:id="rId32"/>
    <p:sldId id="410" r:id="rId33"/>
    <p:sldId id="451" r:id="rId34"/>
    <p:sldId id="452" r:id="rId35"/>
    <p:sldId id="411" r:id="rId36"/>
    <p:sldId id="412" r:id="rId37"/>
    <p:sldId id="423" r:id="rId38"/>
    <p:sldId id="455" r:id="rId39"/>
    <p:sldId id="424" r:id="rId40"/>
    <p:sldId id="456" r:id="rId41"/>
    <p:sldId id="471" r:id="rId42"/>
    <p:sldId id="472" r:id="rId43"/>
    <p:sldId id="473" r:id="rId44"/>
    <p:sldId id="477" r:id="rId45"/>
    <p:sldId id="425" r:id="rId46"/>
    <p:sldId id="426" r:id="rId47"/>
    <p:sldId id="475" r:id="rId48"/>
    <p:sldId id="476" r:id="rId49"/>
    <p:sldId id="427" r:id="rId50"/>
    <p:sldId id="457" r:id="rId51"/>
    <p:sldId id="458" r:id="rId52"/>
    <p:sldId id="431" r:id="rId53"/>
    <p:sldId id="483" r:id="rId54"/>
    <p:sldId id="467" r:id="rId55"/>
    <p:sldId id="459" r:id="rId56"/>
    <p:sldId id="466" r:id="rId57"/>
    <p:sldId id="463" r:id="rId58"/>
    <p:sldId id="500" r:id="rId59"/>
  </p:sldIdLst>
  <p:sldSz cx="9144000" cy="6858000" type="screen4x3"/>
  <p:notesSz cx="6858000" cy="9144000"/>
  <p:defaultTextStyle>
    <a:defPPr>
      <a:defRPr lang="ar-SA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00CC"/>
    <a:srgbClr val="66FFFF"/>
    <a:srgbClr val="00FF00"/>
    <a:srgbClr val="009900"/>
    <a:srgbClr val="CC0066"/>
    <a:srgbClr val="9900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5238" autoAdjust="0"/>
  </p:normalViewPr>
  <p:slideViewPr>
    <p:cSldViewPr>
      <p:cViewPr varScale="1">
        <p:scale>
          <a:sx n="68" d="100"/>
          <a:sy n="68" d="100"/>
        </p:scale>
        <p:origin x="126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5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EBB23F86-497F-4457-B055-319CF278D49C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2243274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DD521E-EA3A-48A4-B0BA-60C2833B5811}" type="slidenum">
              <a:rPr lang="ar-SA" altLang="ar-SA"/>
              <a:pPr eaLnBrk="1" hangingPunct="1"/>
              <a:t>4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481149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74A1EC-9941-4F59-A060-D92BA5329D2D}" type="slidenum">
              <a:rPr lang="ar-SA" altLang="ar-SA"/>
              <a:pPr eaLnBrk="1" hangingPunct="1"/>
              <a:t>5</a:t>
            </a:fld>
            <a:endParaRPr lang="en-US" altLang="ar-SA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397530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0F273DB-D96C-465C-83A2-1DEB3C1AA71C}" type="slidenum">
              <a:rPr lang="ar-SA" altLang="ar-SA"/>
              <a:pPr eaLnBrk="1" hangingPunct="1"/>
              <a:t>6</a:t>
            </a:fld>
            <a:endParaRPr lang="en-US" altLang="ar-SA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267625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382B618-9D25-4AC2-86A8-984C0E85F3D6}" type="slidenum">
              <a:rPr lang="ar-SA" altLang="ar-SA"/>
              <a:pPr eaLnBrk="1" hangingPunct="1"/>
              <a:t>7</a:t>
            </a:fld>
            <a:endParaRPr lang="en-US" altLang="ar-SA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861123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ACAECF-18B8-48F8-B3DE-3C618EFD77A3}" type="slidenum">
              <a:rPr lang="ar-SA" altLang="ar-SA"/>
              <a:pPr eaLnBrk="1" hangingPunct="1"/>
              <a:t>8</a:t>
            </a:fld>
            <a:endParaRPr lang="en-US" altLang="ar-SA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801530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D42A926-41E3-4010-AED9-AB77C7E6715C}" type="slidenum">
              <a:rPr lang="ar-SA" altLang="ar-SA"/>
              <a:pPr eaLnBrk="1" hangingPunct="1"/>
              <a:t>10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956031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E7DE48F-7B0C-4570-9433-900517F9C712}" type="slidenum">
              <a:rPr lang="ar-SA" altLang="ar-SA"/>
              <a:pPr eaLnBrk="1" hangingPunct="1"/>
              <a:t>11</a:t>
            </a:fld>
            <a:endParaRPr lang="en-US" altLang="ar-SA" dirty="0"/>
          </a:p>
        </p:txBody>
      </p:sp>
    </p:spTree>
    <p:extLst>
      <p:ext uri="{BB962C8B-B14F-4D97-AF65-F5344CB8AC3E}">
        <p14:creationId xmlns:p14="http://schemas.microsoft.com/office/powerpoint/2010/main" val="551630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11E2187-1812-445B-9675-54898B7027A7}" type="slidenum">
              <a:rPr lang="ar-SA" altLang="ar-SA"/>
              <a:pPr eaLnBrk="1" hangingPunct="1"/>
              <a:t>12</a:t>
            </a:fld>
            <a:endParaRPr lang="en-US" altLang="ar-SA" dirty="0"/>
          </a:p>
        </p:txBody>
      </p:sp>
    </p:spTree>
    <p:extLst>
      <p:ext uri="{BB962C8B-B14F-4D97-AF65-F5344CB8AC3E}">
        <p14:creationId xmlns:p14="http://schemas.microsoft.com/office/powerpoint/2010/main" val="572556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5674B53-144C-4D6D-98DD-65AD3EC3BC96}" type="slidenum">
              <a:rPr lang="ar-SA" altLang="ar-SA"/>
              <a:pPr eaLnBrk="1" hangingPunct="1"/>
              <a:t>13</a:t>
            </a:fld>
            <a:endParaRPr lang="en-US" altLang="ar-SA" dirty="0"/>
          </a:p>
        </p:txBody>
      </p:sp>
    </p:spTree>
    <p:extLst>
      <p:ext uri="{BB962C8B-B14F-4D97-AF65-F5344CB8AC3E}">
        <p14:creationId xmlns:p14="http://schemas.microsoft.com/office/powerpoint/2010/main" val="1220834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29CD33-F150-44D3-9ABE-7C809B1EBFE6}" type="slidenum">
              <a:rPr lang="ar-SA" altLang="ar-SA"/>
              <a:pPr eaLnBrk="1" hangingPunct="1"/>
              <a:t>14</a:t>
            </a:fld>
            <a:endParaRPr lang="en-US" altLang="ar-SA" dirty="0"/>
          </a:p>
        </p:txBody>
      </p:sp>
    </p:spTree>
    <p:extLst>
      <p:ext uri="{BB962C8B-B14F-4D97-AF65-F5344CB8AC3E}">
        <p14:creationId xmlns:p14="http://schemas.microsoft.com/office/powerpoint/2010/main" val="1512779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7BF0179-9F68-4893-A6B7-70AA18CEF1F3}" type="slidenum">
              <a:rPr lang="ar-SA" altLang="ar-SA"/>
              <a:pPr eaLnBrk="1" hangingPunct="1"/>
              <a:t>15</a:t>
            </a:fld>
            <a:endParaRPr lang="en-US" altLang="ar-SA" dirty="0"/>
          </a:p>
        </p:txBody>
      </p:sp>
    </p:spTree>
    <p:extLst>
      <p:ext uri="{BB962C8B-B14F-4D97-AF65-F5344CB8AC3E}">
        <p14:creationId xmlns:p14="http://schemas.microsoft.com/office/powerpoint/2010/main" val="1217806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1C6D616-00D2-48BE-A06C-456C519AA61B}" type="slidenum">
              <a:rPr lang="ar-SA" altLang="ar-SA"/>
              <a:pPr eaLnBrk="1" hangingPunct="1"/>
              <a:t>16</a:t>
            </a:fld>
            <a:endParaRPr lang="en-US" altLang="ar-SA" dirty="0"/>
          </a:p>
        </p:txBody>
      </p:sp>
    </p:spTree>
    <p:extLst>
      <p:ext uri="{BB962C8B-B14F-4D97-AF65-F5344CB8AC3E}">
        <p14:creationId xmlns:p14="http://schemas.microsoft.com/office/powerpoint/2010/main" val="63774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6474E4-5B6B-46E5-8294-5197295D5BC3}" type="slidenum">
              <a:rPr lang="ar-SA" altLang="ar-SA"/>
              <a:pPr eaLnBrk="1" hangingPunct="1"/>
              <a:t>17</a:t>
            </a:fld>
            <a:endParaRPr lang="en-US" altLang="ar-SA" dirty="0"/>
          </a:p>
        </p:txBody>
      </p:sp>
    </p:spTree>
    <p:extLst>
      <p:ext uri="{BB962C8B-B14F-4D97-AF65-F5344CB8AC3E}">
        <p14:creationId xmlns:p14="http://schemas.microsoft.com/office/powerpoint/2010/main" val="522795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019D26-452D-40C0-B64E-20D7305E4B4A}" type="slidenum">
              <a:rPr lang="ar-SA" altLang="ar-SA"/>
              <a:pPr eaLnBrk="1" hangingPunct="1"/>
              <a:t>18</a:t>
            </a:fld>
            <a:endParaRPr lang="en-US" altLang="ar-SA" dirty="0"/>
          </a:p>
        </p:txBody>
      </p:sp>
    </p:spTree>
    <p:extLst>
      <p:ext uri="{BB962C8B-B14F-4D97-AF65-F5344CB8AC3E}">
        <p14:creationId xmlns:p14="http://schemas.microsoft.com/office/powerpoint/2010/main" val="1269377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B6A383-5840-4173-8FE2-8EE3DB28D76A}" type="slidenum">
              <a:rPr lang="ar-SA" altLang="ar-SA"/>
              <a:pPr eaLnBrk="1" hangingPunct="1"/>
              <a:t>19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317412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75465E7-4B10-4E2C-BFD8-7094F4D60832}" type="slidenum">
              <a:rPr lang="ar-SA" altLang="ar-SA"/>
              <a:pPr eaLnBrk="1" hangingPunct="1"/>
              <a:t>21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769394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3B14BD3-143C-4832-BE22-C588847CB583}" type="slidenum">
              <a:rPr lang="ar-SA" altLang="ar-SA"/>
              <a:pPr eaLnBrk="1" hangingPunct="1"/>
              <a:t>23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211045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11BBA2-2963-4630-8469-0F4F272AB06F}" type="slidenum">
              <a:rPr lang="ar-SA" altLang="ar-SA"/>
              <a:pPr eaLnBrk="1" hangingPunct="1"/>
              <a:t>24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925189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DF5E542-1652-4D83-A593-78902288677C}" type="slidenum">
              <a:rPr lang="ar-SA" altLang="ar-SA"/>
              <a:pPr eaLnBrk="1" hangingPunct="1"/>
              <a:t>25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763443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56DEA1C-DF11-4EF6-ABD3-0357DDD4F0F7}" type="slidenum">
              <a:rPr lang="ar-SA" altLang="ar-SA"/>
              <a:pPr eaLnBrk="1" hangingPunct="1"/>
              <a:t>26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2122286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6BA0660-370A-4F1A-8975-4B26C7B08320}" type="slidenum">
              <a:rPr lang="ar-SA" altLang="ar-SA"/>
              <a:pPr eaLnBrk="1" hangingPunct="1"/>
              <a:t>27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7101191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 eaLnBrk="1" fontAlgn="base" hangingPunct="1">
              <a:spcBef>
                <a:spcPct val="30000"/>
              </a:spcBef>
              <a:spcAft>
                <a:spcPct val="0"/>
              </a:spcAft>
            </a:pPr>
            <a:endParaRPr lang="ar-SA" altLang="ar-SA" dirty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9A665E3-903F-4F77-98A4-1F83BE648CEA}" type="slidenum">
              <a:rPr lang="ar-SA" altLang="ar-SA"/>
              <a:pPr eaLnBrk="1" hangingPunct="1"/>
              <a:t>29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513721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497388F-A365-46A4-B8D0-0A65B4AC6CC7}" type="slidenum">
              <a:rPr lang="ar-SA" altLang="ar-SA"/>
              <a:pPr eaLnBrk="1" hangingPunct="1"/>
              <a:t>30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238199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9E02F38-ACCF-485A-BB89-2B4CBE3533D5}" type="slidenum">
              <a:rPr lang="ar-SA" altLang="ar-SA"/>
              <a:pPr eaLnBrk="1" hangingPunct="1"/>
              <a:t>31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306322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51BBF96-48B0-4C3F-ADB6-624DCBE5C9DA}" type="slidenum">
              <a:rPr lang="ar-SA" altLang="ar-SA"/>
              <a:pPr eaLnBrk="1" hangingPunct="1"/>
              <a:t>32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8082410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855A16-A883-4F47-B26C-90E03EFA64DD}" type="slidenum">
              <a:rPr lang="ar-SA" altLang="ar-SA"/>
              <a:pPr eaLnBrk="1" hangingPunct="1"/>
              <a:t>33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8902973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19AE6F-2D64-476F-BE76-BD4D297BA04B}" type="slidenum">
              <a:rPr lang="ar-SA" altLang="ar-SA"/>
              <a:pPr eaLnBrk="1" hangingPunct="1"/>
              <a:t>34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3547902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8AD7F7-CF51-428D-BE26-28A30F4ECE6F}" type="slidenum">
              <a:rPr lang="ar-SA" altLang="ar-SA"/>
              <a:pPr eaLnBrk="1" hangingPunct="1"/>
              <a:t>35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5452621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7A0D14-9651-480B-9D72-E95E61E8DEA7}" type="slidenum">
              <a:rPr lang="ar-SA" altLang="ar-SA"/>
              <a:pPr eaLnBrk="1" hangingPunct="1"/>
              <a:t>36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700942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2821CC7-4C95-466E-BC73-5A315F96628A}" type="slidenum">
              <a:rPr lang="ar-SA" altLang="ar-SA"/>
              <a:pPr eaLnBrk="1" hangingPunct="1"/>
              <a:t>37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1516213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21759B-EFA6-4C16-8A13-99A61D2AAFC8}" type="slidenum">
              <a:rPr lang="ar-SA" altLang="ar-SA"/>
              <a:pPr eaLnBrk="1" hangingPunct="1"/>
              <a:t>38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292971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E0FE219-74DD-46FA-8C1C-75F12DCE19BE}" type="slidenum">
              <a:rPr lang="ar-SA" altLang="ar-SA"/>
              <a:pPr eaLnBrk="1" hangingPunct="1"/>
              <a:t>39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6239490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0A0AA5-B9AE-4033-82C7-58859F17F50C}" type="slidenum">
              <a:rPr lang="ar-SA" altLang="ar-SA"/>
              <a:pPr eaLnBrk="1" hangingPunct="1"/>
              <a:t>40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5498249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6D96A35-F6E4-4F9C-BD38-60EAF52FB2AB}" type="slidenum">
              <a:rPr lang="ar-SA" altLang="ar-SA"/>
              <a:pPr eaLnBrk="1" hangingPunct="1"/>
              <a:t>41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2862722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D2F071-A59B-4C93-8F1E-4D6319F337F9}" type="slidenum">
              <a:rPr lang="ar-SA" altLang="ar-SA"/>
              <a:pPr eaLnBrk="1" hangingPunct="1"/>
              <a:t>42</a:t>
            </a:fld>
            <a:endParaRPr lang="en-US" altLang="ar-SA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0413" cy="34274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0135801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78DA1A-02B4-4BBC-927F-BDEDC11F554B}" type="slidenum">
              <a:rPr lang="ar-SA" altLang="ar-SA"/>
              <a:pPr eaLnBrk="1" hangingPunct="1"/>
              <a:t>43</a:t>
            </a:fld>
            <a:endParaRPr lang="en-US" altLang="ar-SA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0413" cy="3427412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4013770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EBA1410-0910-4A40-8346-987D0130DD16}" type="slidenum">
              <a:rPr lang="ar-SA" altLang="ar-SA"/>
              <a:pPr eaLnBrk="1" hangingPunct="1"/>
              <a:t>44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4914437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1B23580-D131-4C15-BFC7-D1451465A1F4}" type="slidenum">
              <a:rPr lang="ar-SA" altLang="ar-SA"/>
              <a:pPr eaLnBrk="1" hangingPunct="1"/>
              <a:t>45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7303138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05B31E-428D-44BA-88E4-DDF07B726C0C}" type="slidenum">
              <a:rPr lang="ar-SA" altLang="ar-SA"/>
              <a:pPr eaLnBrk="1" hangingPunct="1"/>
              <a:t>46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613796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92751EF-E7CA-4833-A83B-F495B524AC2A}" type="slidenum">
              <a:rPr lang="ar-SA" altLang="ar-SA"/>
              <a:pPr eaLnBrk="1" hangingPunct="1"/>
              <a:t>47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6846527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AA7B0E7-D202-4395-93BB-07B57962BC0B}" type="slidenum">
              <a:rPr lang="ar-SA" altLang="ar-SA"/>
              <a:pPr eaLnBrk="1" hangingPunct="1"/>
              <a:t>48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7411029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D743E2-2B74-4BBF-9C2A-3FB54BA82EC1}" type="slidenum">
              <a:rPr lang="ar-SA" altLang="ar-SA"/>
              <a:pPr eaLnBrk="1" hangingPunct="1"/>
              <a:t>49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3113717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C77DEA-87DC-4192-93BE-EE542EF832AF}" type="slidenum">
              <a:rPr lang="ar-SA" altLang="ar-SA"/>
              <a:pPr eaLnBrk="1" hangingPunct="1"/>
              <a:t>50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9545860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C8C885-66C3-4FF0-8019-72B45EF68864}" type="slidenum">
              <a:rPr lang="ar-SA" altLang="ar-SA"/>
              <a:pPr eaLnBrk="1" hangingPunct="1"/>
              <a:t>51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6704446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C3081C-A7AA-4B7A-A3A1-FB47A4C63E40}" type="slidenum">
              <a:rPr lang="ar-SA" altLang="ar-SA"/>
              <a:pPr eaLnBrk="1" hangingPunct="1"/>
              <a:t>52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3158980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91F27F-9A51-4EB8-B72E-E5CE01E82EFE}" type="slidenum">
              <a:rPr lang="ar-SA" altLang="ar-SA"/>
              <a:pPr eaLnBrk="1" hangingPunct="1"/>
              <a:t>53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5495645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4807D9C-0082-4BA7-801B-F670FFE58C44}" type="slidenum">
              <a:rPr lang="ar-SA" altLang="ar-SA"/>
              <a:pPr eaLnBrk="1" hangingPunct="1"/>
              <a:t>54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9977425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7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77A3CC-07D6-47D6-8F7D-03A74170F7E2}" type="slidenum">
              <a:rPr lang="ar-SA" altLang="ar-SA"/>
              <a:pPr eaLnBrk="1" hangingPunct="1"/>
              <a:t>55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5059657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3B91AD5-D983-4024-818F-72C2A4909079}" type="slidenum">
              <a:rPr lang="ar-SA" altLang="ar-SA"/>
              <a:pPr eaLnBrk="1" hangingPunct="1"/>
              <a:t>56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524247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64F034-2D72-476F-9A22-CE09BB1D26E4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242694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67B86A-4579-4D53-9ABA-ACA1BA34FCE0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280138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E3E228-57A1-45CA-890C-42D95E12FF28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83762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B16979-D196-4866-9941-E742DE70459C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76361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FD6DA9-983A-40CB-B4B1-5B0ADFEEC3D7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106246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0E956-E99C-467C-858E-F4376E446BDA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91248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F72746-838F-497F-903B-D505DD8AB997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28646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DA2126-3086-4827-9956-BBFB61C796D0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08608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330F07-F7ED-4805-83C2-EEAEDA016BC8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62412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2AA1AD-7F4B-4261-B999-518F98832F59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5172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474ED-8071-4EE5-8E48-A543FF75EAF9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66904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35CCA-B15C-4FD3-8ECA-112697A87CBF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75301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 rtlCol="0">
            <a:normAutofit/>
          </a:bodyPr>
          <a:lstStyle/>
          <a:p>
            <a:pPr lvl="0"/>
            <a:endParaRPr lang="ar-SA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6AB88-7FDE-4CEF-B908-86DE672CD82E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24557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DD42C0-AF59-4C25-9A70-6D248B1ACF66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074376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 rtlCol="0">
            <a:normAutofit/>
          </a:bodyPr>
          <a:lstStyle/>
          <a:p>
            <a:pPr lvl="0"/>
            <a:endParaRPr lang="ar-SA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BD789C-C065-4BFC-BA02-C365A5FD53DF}" type="slidenum">
              <a:rPr lang="ar-SA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35220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08476-422A-457D-9236-793E4120D327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02438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6DBC4D-AC4A-448E-8C76-6CB161FCE6A9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713296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14318-4FF6-4949-8311-9F53900333BB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79726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AAE9C4-3A8E-4E9A-B1A6-457E906242A6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36572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E4029-9DD8-4EBF-ADB6-A93F9D5DB720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2823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9253D-7969-42AA-A8C1-45D5D6DAA333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574606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0D96E-8B29-41C6-B58D-0BE4E1307B4D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112217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BBA342-939B-4BA2-97CD-493B1C69989D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89624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298FFB-A853-4D38-9F84-F606B294C347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756408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917BD8-A07C-4F80-A7BE-9D9DEF221A1F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46824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AAE54-D25B-4A6D-BFD0-DDCF3CA8AE2A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232004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7174B-EC73-4DB4-9152-4516E3D11AF2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819155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DA5D3-053E-4363-8500-1E90D3B04CF3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050314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AF62B4-5B2E-426A-9E65-3F866225EBE7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014835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9B6161-D4E6-457C-8FD1-981AD4BD58EE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759190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CA5875-F76D-4402-AA36-DD56582FA0D6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15699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4A367A-409B-462D-8DC3-9C6FF326322D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087862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53705-C91B-4FCC-8449-9958090D27E3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039526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0B5936-1E72-4841-8C19-15BC69C89FFE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992540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FE4282-4B71-4568-9FD6-1F26AA3A5C2F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569031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BCF045-A3BC-48D9-BADC-1CA60F886D40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7484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1BE448-4A9B-4126-8972-B5C62E7D5D17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968804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7E063-CBAE-4806-B240-1DAE02F6133A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6727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A39769DC-0673-471E-8EA2-46571AD16A01}" type="slidenum">
              <a:rPr lang="ar-SA" altLang="fr-FR"/>
              <a:pPr/>
              <a:t>‹#›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B0FA470B-21A7-42DC-B9D8-D0AD07FBAA28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  <p:sldLayoutId id="2147484029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307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CS 2321: D.S.A (-Algorithm Analysis-)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12DBABA0-617A-4D7F-A312-6F87FEFC4BE8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8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9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0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4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2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7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9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1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24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8813" y="3505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fr-FR" sz="6600" b="1" dirty="0">
                <a:cs typeface="Times New Roman" panose="02020603050405020304" pitchFamily="18" charset="0"/>
              </a:rPr>
              <a:t>Algorithm Analysis</a:t>
            </a:r>
          </a:p>
        </p:txBody>
      </p:sp>
      <p:sp>
        <p:nvSpPr>
          <p:cNvPr id="2" name="Rectangle 1"/>
          <p:cNvSpPr/>
          <p:nvPr/>
        </p:nvSpPr>
        <p:spPr>
          <a:xfrm>
            <a:off x="1396972" y="1752600"/>
            <a:ext cx="6296083" cy="19759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CS 2321</a:t>
            </a:r>
          </a:p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TW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Data Structures and Algorithms</a:t>
            </a:r>
          </a:p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sz="36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100" name="Image 8" descr="C:\Users\mahdi\Desktop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275" y="76200"/>
            <a:ext cx="18938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Rectangle 2"/>
          <p:cNvSpPr txBox="1">
            <a:spLocks noChangeArrowheads="1"/>
          </p:cNvSpPr>
          <p:nvPr/>
        </p:nvSpPr>
        <p:spPr bwMode="auto">
          <a:xfrm>
            <a:off x="228600" y="50863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fr-FR" sz="2400" b="1" dirty="0">
                <a:latin typeface="Calibri" panose="020F0502020204030204" pitchFamily="34" charset="0"/>
              </a:rPr>
              <a:t>Dr. Mahmoud </a:t>
            </a:r>
            <a:r>
              <a:rPr lang="en-US" altLang="fr-FR" sz="2400" b="1" dirty="0" err="1">
                <a:latin typeface="Calibri" panose="020F0502020204030204" pitchFamily="34" charset="0"/>
              </a:rPr>
              <a:t>Hassaballah</a:t>
            </a:r>
            <a:endParaRPr lang="en-US" altLang="fr-FR" sz="2400" b="1" dirty="0">
              <a:latin typeface="Calibri" panose="020F0502020204030204" pitchFamily="34" charset="0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96920D-D81A-49EF-BD85-D1D295F8E44B}" type="slidenum">
              <a:rPr lang="ar-SA" altLang="fr-FR">
                <a:solidFill>
                  <a:srgbClr val="898989"/>
                </a:solidFill>
              </a:rPr>
              <a:pPr eaLnBrk="1" hangingPunct="1"/>
              <a:t>1</a:t>
            </a:fld>
            <a:endParaRPr lang="en-US" altLang="fr-FR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fr-FR" b="1"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76400"/>
            <a:ext cx="8610600" cy="4800600"/>
          </a:xfrm>
        </p:spPr>
        <p:txBody>
          <a:bodyPr rtlCol="0">
            <a:normAutofit fontScale="85000" lnSpcReduction="20000"/>
          </a:bodyPr>
          <a:lstStyle/>
          <a:p>
            <a:pPr marL="742950" indent="-7429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000" b="1" dirty="0"/>
              <a:t>Introduction </a:t>
            </a:r>
          </a:p>
          <a:p>
            <a:pPr marL="742950" indent="-7429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000" b="1" dirty="0"/>
              <a:t>Mathematics Background</a:t>
            </a:r>
          </a:p>
          <a:p>
            <a:pPr marL="742950" indent="-7429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000" b="1" dirty="0"/>
              <a:t>Model</a:t>
            </a:r>
          </a:p>
          <a:p>
            <a:pPr marL="742950" indent="-7429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000" b="1" dirty="0"/>
              <a:t>What to Analyze?</a:t>
            </a:r>
          </a:p>
          <a:p>
            <a:pPr marL="742950" indent="-7429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000" b="1" dirty="0"/>
              <a:t>Running Time Calculations</a:t>
            </a:r>
          </a:p>
          <a:p>
            <a:pPr marL="357188" indent="0" eaLnBrk="1" fontAlgn="auto" hangingPunct="1">
              <a:spcAft>
                <a:spcPts val="0"/>
              </a:spcAft>
              <a:tabLst>
                <a:tab pos="628650" algn="l"/>
              </a:tabLst>
              <a:defRPr/>
            </a:pPr>
            <a:r>
              <a:rPr lang="en-US" sz="3000" b="1" dirty="0">
                <a:latin typeface="+mj-lt"/>
              </a:rPr>
              <a:t>	A Simple Example</a:t>
            </a:r>
          </a:p>
          <a:p>
            <a:pPr marL="357188" indent="0" eaLnBrk="1" fontAlgn="auto" hangingPunct="1">
              <a:spcAft>
                <a:spcPts val="0"/>
              </a:spcAft>
              <a:tabLst>
                <a:tab pos="628650" algn="l"/>
              </a:tabLst>
              <a:defRPr/>
            </a:pPr>
            <a:r>
              <a:rPr lang="en-US" sz="3000" b="1" dirty="0">
                <a:latin typeface="+mj-lt"/>
              </a:rPr>
              <a:t>	General Rules</a:t>
            </a:r>
          </a:p>
          <a:p>
            <a:pPr marL="357188" indent="0" eaLnBrk="1" fontAlgn="auto" hangingPunct="1">
              <a:spcAft>
                <a:spcPts val="0"/>
              </a:spcAft>
              <a:tabLst>
                <a:tab pos="628650" algn="l"/>
              </a:tabLst>
              <a:defRPr/>
            </a:pPr>
            <a:r>
              <a:rPr lang="en-US" sz="3000" b="1" dirty="0">
                <a:latin typeface="+mj-lt"/>
              </a:rPr>
              <a:t>	Solutions for the Maximum Subsequence Sum 	Problem</a:t>
            </a:r>
          </a:p>
          <a:p>
            <a:pPr marL="357188" indent="0" eaLnBrk="1" fontAlgn="auto" hangingPunct="1">
              <a:spcAft>
                <a:spcPts val="0"/>
              </a:spcAft>
              <a:tabLst>
                <a:tab pos="628650" algn="l"/>
              </a:tabLst>
              <a:defRPr/>
            </a:pPr>
            <a:r>
              <a:rPr lang="en-US" sz="3000" b="1" dirty="0">
                <a:latin typeface="+mj-lt"/>
              </a:rPr>
              <a:t>	Logarithms in the Running Time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 altLang="zh-TW" dirty="0"/>
              <a:t>CS 2321: D.S.A (-</a:t>
            </a:r>
            <a:r>
              <a:rPr lang="nl-NL" altLang="zh-TW" dirty="0" err="1"/>
              <a:t>Algorithm</a:t>
            </a:r>
            <a:r>
              <a:rPr lang="nl-NL" altLang="zh-TW" dirty="0"/>
              <a:t> Analysis-)</a:t>
            </a:r>
            <a:endParaRPr lang="en-US" altLang="zh-TW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517F86-2AB5-4CD5-8517-7BF00594D6DF}" type="slidenum">
              <a:rPr lang="zh-TW" altLang="en-US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z="4000" b="1"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4FD4B80-4FFB-46DC-9F47-22A0E0DC2B33}" type="slidenum">
              <a:rPr lang="ar-SA" altLang="fr-FR">
                <a:solidFill>
                  <a:srgbClr val="898989"/>
                </a:solidFill>
              </a:rPr>
              <a:pPr eaLnBrk="1" hangingPunct="1"/>
              <a:t>3</a:t>
            </a:fld>
            <a:endParaRPr lang="en-US" altLang="fr-FR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>
                <a:solidFill>
                  <a:srgbClr val="0000CC"/>
                </a:solidFill>
              </a:rPr>
              <a:t>Objectives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443A26-3556-4D68-9B06-A925DC074FC6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152400" y="863600"/>
            <a:ext cx="88392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3600" dirty="0">
                <a:latin typeface="+mj-lt"/>
              </a:rPr>
              <a:t>We shall discuss: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endParaRPr lang="en-US" sz="3200" dirty="0">
              <a:latin typeface="+mj-lt"/>
            </a:endParaRP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r>
              <a:rPr lang="en-US" sz="3200" dirty="0">
                <a:latin typeface="+mj-lt"/>
              </a:rPr>
              <a:t>How to estimate the time required for a program.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endParaRPr lang="en-US" sz="2400" dirty="0">
              <a:latin typeface="+mj-lt"/>
            </a:endParaRP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r>
              <a:rPr lang="en-US" sz="3200" dirty="0">
                <a:latin typeface="+mj-lt"/>
              </a:rPr>
              <a:t>How to reduce the running time of a program from days or years to fractions of a second.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endParaRPr lang="en-US" sz="2400" dirty="0">
              <a:latin typeface="+mj-lt"/>
            </a:endParaRP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r>
              <a:rPr lang="en-US" sz="3200" dirty="0">
                <a:latin typeface="+mj-lt"/>
              </a:rPr>
              <a:t>The results of careless use of recursion.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>
                <a:solidFill>
                  <a:srgbClr val="0000CC"/>
                </a:solidFill>
              </a:rPr>
              <a:t>Introduction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89000"/>
            <a:ext cx="8763000" cy="58166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An</a:t>
            </a:r>
            <a:r>
              <a:rPr lang="en-US" sz="2800" dirty="0">
                <a:solidFill>
                  <a:srgbClr val="FF3300"/>
                </a:solidFill>
                <a:latin typeface="+mj-l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Algorithm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is a clearly specified ordered set of simple instructions (input - output - computation – decision - repetition) to be followed to solve a problem.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Describe: in natural language / </a:t>
            </a:r>
            <a:r>
              <a:rPr lang="en-US" sz="2800" dirty="0" err="1">
                <a:latin typeface="+mj-lt"/>
              </a:rPr>
              <a:t>pseudocode</a:t>
            </a:r>
            <a:r>
              <a:rPr lang="en-US" sz="2800" dirty="0">
                <a:latin typeface="+mj-lt"/>
              </a:rPr>
              <a:t> / diagrams / etc.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Criteria: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Input</a:t>
            </a:r>
            <a:r>
              <a:rPr lang="en-US" sz="2400" dirty="0">
                <a:latin typeface="+mj-lt"/>
              </a:rPr>
              <a:t>: Zero or more quantities (externally produced).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Output</a:t>
            </a:r>
            <a:r>
              <a:rPr lang="en-US" sz="2400" dirty="0">
                <a:latin typeface="+mj-lt"/>
              </a:rPr>
              <a:t>: One or more quantities 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Definiteness</a:t>
            </a:r>
            <a:r>
              <a:rPr lang="en-US" sz="2400" dirty="0">
                <a:latin typeface="+mj-lt"/>
              </a:rPr>
              <a:t>: Clarity, precision of each instruction.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Finiteness</a:t>
            </a:r>
            <a:r>
              <a:rPr lang="en-US" sz="2400" dirty="0">
                <a:latin typeface="+mj-lt"/>
              </a:rPr>
              <a:t>: The algorithm has to stop after a finite (may be very large) number of steps.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Effectiveness</a:t>
            </a:r>
            <a:r>
              <a:rPr lang="en-US" sz="2400" dirty="0">
                <a:latin typeface="+mj-lt"/>
              </a:rPr>
              <a:t>: Each instruction has to be </a:t>
            </a:r>
            <a:r>
              <a:rPr lang="en-US" sz="2400" u="sng" dirty="0">
                <a:latin typeface="+mj-lt"/>
              </a:rPr>
              <a:t>basic enough</a:t>
            </a:r>
            <a:r>
              <a:rPr lang="en-US" sz="2400" dirty="0">
                <a:latin typeface="+mj-lt"/>
              </a:rPr>
              <a:t> and </a:t>
            </a:r>
            <a:r>
              <a:rPr lang="en-US" sz="2400" u="sng" dirty="0">
                <a:latin typeface="+mj-lt"/>
              </a:rPr>
              <a:t>feasible</a:t>
            </a:r>
            <a:r>
              <a:rPr lang="en-US" sz="2400" dirty="0">
                <a:latin typeface="+mj-lt"/>
              </a:rPr>
              <a:t>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E115C7-F30C-4676-BF47-84E2A9266A8C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>
                <a:solidFill>
                  <a:srgbClr val="0000CC"/>
                </a:solidFill>
              </a:rPr>
              <a:t>Introduction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84238"/>
            <a:ext cx="8839200" cy="5821362"/>
          </a:xfrm>
        </p:spPr>
        <p:txBody>
          <a:bodyPr rtlCol="0">
            <a:normAutofit/>
          </a:bodyPr>
          <a:lstStyle/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Implementation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Decide on the programming language to use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Write clean, well documented code</a:t>
            </a: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400" b="1" dirty="0">
              <a:solidFill>
                <a:srgbClr val="00FF00"/>
              </a:solidFill>
              <a:latin typeface="+mj-lt"/>
            </a:endParaRP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Correctness</a:t>
            </a:r>
            <a:r>
              <a:rPr lang="en-US" sz="2800" dirty="0">
                <a:latin typeface="+mj-lt"/>
              </a:rPr>
              <a:t>: An algorithm is said to be correct if for every input instance, it halts with the correct output.</a:t>
            </a: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400" b="1" dirty="0">
              <a:solidFill>
                <a:srgbClr val="00FF00"/>
              </a:solidFill>
              <a:latin typeface="+mj-lt"/>
            </a:endParaRP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Performance or Efficiency or Complexity</a:t>
            </a:r>
            <a:r>
              <a:rPr lang="en-US" sz="2800" b="1" dirty="0">
                <a:latin typeface="+mj-lt"/>
              </a:rPr>
              <a:t>: </a:t>
            </a:r>
            <a:r>
              <a:rPr lang="en-US" sz="2800" u="sng" dirty="0">
                <a:latin typeface="+mj-lt"/>
              </a:rPr>
              <a:t>Computing time</a:t>
            </a:r>
            <a:r>
              <a:rPr lang="en-US" sz="2800" dirty="0">
                <a:latin typeface="+mj-lt"/>
              </a:rPr>
              <a:t> and </a:t>
            </a:r>
            <a:r>
              <a:rPr lang="en-US" sz="2800" u="sng" dirty="0">
                <a:latin typeface="+mj-lt"/>
              </a:rPr>
              <a:t>memory space</a:t>
            </a:r>
            <a:r>
              <a:rPr lang="en-US" sz="2800" dirty="0">
                <a:latin typeface="+mj-lt"/>
              </a:rPr>
              <a:t> are two important resources (we deal with estimates).</a:t>
            </a: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The computational complexity and efficient implementation of the algorithm are important in computing, and this depends on suitable data structures.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FA742C8-8B8E-4F8B-B6C4-D79FE8186DB3}" type="slidenum">
              <a:rPr lang="ar-SA" altLang="fr-FR">
                <a:solidFill>
                  <a:srgbClr val="898989"/>
                </a:solidFill>
              </a:rPr>
              <a:pPr eaLnBrk="1" hangingPunct="1"/>
              <a:t>6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>
                <a:solidFill>
                  <a:srgbClr val="0000CC"/>
                </a:solidFill>
              </a:rPr>
              <a:t>Introduction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84238"/>
            <a:ext cx="8839200" cy="58213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Algorithm performance usually computed either by: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ar-SA" sz="1400" dirty="0"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</a:rPr>
              <a:t>Empirical Method</a:t>
            </a:r>
            <a:r>
              <a:rPr lang="en-US" sz="2600" dirty="0">
                <a:latin typeface="+mj-lt"/>
              </a:rPr>
              <a:t>; or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</a:rPr>
              <a:t>Analytical Method</a:t>
            </a:r>
            <a:r>
              <a:rPr lang="en-US" sz="2600" dirty="0">
                <a:latin typeface="+mj-lt"/>
              </a:rPr>
              <a:t>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ar-SA" sz="14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To compare two algorithms using empirical method, we need to convert each to a program using the same  programming language. After that we run both programs and see which one runs faster.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In analytical method, each algorithm is mapped to a function. Then the functions are compared in terms of their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growth rate </a:t>
            </a:r>
            <a:r>
              <a:rPr lang="en-US" sz="2800" dirty="0">
                <a:latin typeface="+mj-lt"/>
              </a:rPr>
              <a:t>to decide which is better.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7B6D384-8FEA-450F-A302-31F6B8B4824C}" type="slidenum">
              <a:rPr lang="ar-SA" altLang="fr-FR">
                <a:solidFill>
                  <a:srgbClr val="898989"/>
                </a:solidFill>
              </a:rPr>
              <a:pPr eaLnBrk="1" hangingPunct="1"/>
              <a:t>7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>
                <a:solidFill>
                  <a:srgbClr val="0000CC"/>
                </a:solidFill>
              </a:rPr>
              <a:t>Introduction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84238"/>
            <a:ext cx="8839200" cy="5821362"/>
          </a:xfrm>
        </p:spPr>
        <p:txBody>
          <a:bodyPr rtlCol="0">
            <a:normAutofit/>
          </a:bodyPr>
          <a:lstStyle/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Why Empirical Method is not Feasible? </a:t>
            </a: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800" b="1" dirty="0">
              <a:solidFill>
                <a:srgbClr val="00FF00"/>
              </a:solidFill>
              <a:latin typeface="+mj-lt"/>
            </a:endParaRP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That’s because when running a program on a computer there are some factors that affect the speed of running such as:</a:t>
            </a:r>
          </a:p>
          <a:p>
            <a:pPr marL="263525" indent="-263525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600" dirty="0"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CPU speed.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RAM size.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Hard Disk Drive (HDD).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Graphics Card.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Operating System (OS).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Compiler.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Environment (Backup, Antivirus, …</a:t>
            </a:r>
            <a:r>
              <a:rPr lang="en-US" sz="2600" dirty="0" err="1">
                <a:latin typeface="+mj-lt"/>
              </a:rPr>
              <a:t>etc</a:t>
            </a:r>
            <a:r>
              <a:rPr lang="en-US" sz="2600" dirty="0">
                <a:latin typeface="+mj-lt"/>
              </a:rPr>
              <a:t>).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4E181F-D8C4-47D2-9B75-FCA39E0BA614}" type="slidenum">
              <a:rPr lang="ar-SA" altLang="fr-FR">
                <a:solidFill>
                  <a:srgbClr val="898989"/>
                </a:solidFill>
              </a:rPr>
              <a:pPr eaLnBrk="1" hangingPunct="1"/>
              <a:t>8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z="4000" b="1">
                <a:cs typeface="Times New Roman" panose="02020603050405020304" pitchFamily="18" charset="0"/>
              </a:rPr>
              <a:t>2. Mathematics Background</a:t>
            </a:r>
          </a:p>
        </p:txBody>
      </p:sp>
      <p:sp>
        <p:nvSpPr>
          <p:cNvPr id="12291" name="Rectangle 1"/>
          <p:cNvSpPr>
            <a:spLocks noChangeArrowheads="1"/>
          </p:cNvSpPr>
          <p:nvPr/>
        </p:nvSpPr>
        <p:spPr bwMode="auto">
          <a:xfrm>
            <a:off x="1103313" y="4343400"/>
            <a:ext cx="376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r>
              <a:rPr lang="fr-FR" altLang="fr-FR" b="1">
                <a:solidFill>
                  <a:srgbClr val="FF0000"/>
                </a:solidFill>
              </a:rPr>
              <a:t>Reading: Textbook (Weiss) 2.1 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0021E9A-410B-4F1E-9B1A-94658352EBBD}" type="slidenum">
              <a:rPr lang="ar-SA" altLang="fr-FR">
                <a:solidFill>
                  <a:srgbClr val="898989"/>
                </a:solidFill>
              </a:rPr>
              <a:pPr eaLnBrk="1" hangingPunct="1"/>
              <a:t>9</a:t>
            </a:fld>
            <a:endParaRPr lang="en-US" altLang="fr-FR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603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ar-SA" b="1" dirty="0">
                <a:solidFill>
                  <a:srgbClr val="0000CC"/>
                </a:solidFill>
              </a:rPr>
              <a:t>Mathematics Background</a:t>
            </a:r>
          </a:p>
        </p:txBody>
      </p:sp>
      <p:sp>
        <p:nvSpPr>
          <p:cNvPr id="303106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9916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+mj-lt"/>
              </a:rPr>
              <a:t>The growth rate</a:t>
            </a:r>
            <a:r>
              <a:rPr lang="en-US" dirty="0">
                <a:latin typeface="+mj-lt"/>
              </a:rPr>
              <a:t>: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800" dirty="0">
                <a:latin typeface="+mj-lt"/>
              </a:rPr>
              <a:t>    Which is the smaller </a:t>
            </a:r>
            <a:r>
              <a:rPr lang="en-US" altLang="en-US" sz="2800" i="1" dirty="0">
                <a:latin typeface="+mj-lt"/>
              </a:rPr>
              <a:t>f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 = 1000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 or </a:t>
            </a:r>
            <a:r>
              <a:rPr lang="en-US" altLang="en-US" sz="2800" i="1" dirty="0">
                <a:latin typeface="+mj-lt"/>
              </a:rPr>
              <a:t>g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 = 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baseline="30000" dirty="0">
                <a:latin typeface="+mj-lt"/>
              </a:rPr>
              <a:t>2</a:t>
            </a:r>
            <a:r>
              <a:rPr lang="en-US" altLang="en-US" sz="2800" dirty="0">
                <a:latin typeface="+mj-lt"/>
              </a:rPr>
              <a:t>?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For small values of</a:t>
            </a:r>
            <a:r>
              <a:rPr lang="en-US" sz="2800" i="1" dirty="0">
                <a:latin typeface="+mj-lt"/>
              </a:rPr>
              <a:t> N</a:t>
            </a:r>
            <a:r>
              <a:rPr lang="en-US" sz="2800" dirty="0">
                <a:latin typeface="+mj-lt"/>
              </a:rPr>
              <a:t>, we see that </a:t>
            </a:r>
            <a:r>
              <a:rPr lang="en-US" sz="2800" i="1" dirty="0">
                <a:latin typeface="+mj-lt"/>
              </a:rPr>
              <a:t>f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N)</a:t>
            </a:r>
            <a:r>
              <a:rPr lang="en-US" sz="2800" dirty="0">
                <a:latin typeface="+mj-lt"/>
              </a:rPr>
              <a:t> is greater than </a:t>
            </a:r>
            <a:r>
              <a:rPr lang="en-US" sz="2800" i="1" dirty="0">
                <a:latin typeface="+mj-lt"/>
              </a:rPr>
              <a:t>g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).</a:t>
            </a:r>
            <a:endParaRPr lang="en-US" sz="2800" baseline="300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But </a:t>
            </a:r>
            <a:r>
              <a:rPr lang="en-US" sz="2800" i="1" dirty="0">
                <a:latin typeface="+mj-lt"/>
              </a:rPr>
              <a:t>g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 grows at faster rate.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Thus </a:t>
            </a:r>
            <a:r>
              <a:rPr lang="en-US" sz="2800" i="1" dirty="0">
                <a:latin typeface="+mj-lt"/>
              </a:rPr>
              <a:t>g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 will eventually be the larger function.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The </a:t>
            </a:r>
            <a:r>
              <a:rPr lang="en-US" sz="2800" b="1" u="sng" dirty="0">
                <a:solidFill>
                  <a:srgbClr val="FF0000"/>
                </a:solidFill>
                <a:latin typeface="+mj-lt"/>
              </a:rPr>
              <a:t>turning point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  </a:t>
            </a:r>
            <a:r>
              <a:rPr lang="en-US" sz="2800" dirty="0">
                <a:latin typeface="+mj-lt"/>
              </a:rPr>
              <a:t>is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= 1000 in this case.</a:t>
            </a:r>
            <a:endParaRPr lang="en-US" sz="2800" baseline="-25000" dirty="0">
              <a:latin typeface="+mj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AEFDC43-550B-4F21-A6B9-14711147EF7E}" type="slidenum">
              <a:rPr lang="ar-SA" altLang="fr-FR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 dirty="0">
                <a:solidFill>
                  <a:srgbClr val="0000CC"/>
                </a:solidFill>
              </a:rPr>
              <a:t>Mathematics 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106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52400" y="914400"/>
                <a:ext cx="8839200" cy="5791200"/>
              </a:xfrm>
            </p:spPr>
            <p:txBody>
              <a:bodyPr rtlCol="0">
                <a:normAutofit/>
              </a:bodyPr>
              <a:lstStyle/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Asymptotic growth</a:t>
                </a:r>
                <a:r>
                  <a:rPr lang="en-US" sz="2800" dirty="0">
                    <a:solidFill>
                      <a:srgbClr val="FF0000"/>
                    </a:solidFill>
                    <a:latin typeface="+mj-lt"/>
                  </a:rPr>
                  <a:t>:</a:t>
                </a:r>
                <a:r>
                  <a:rPr lang="en-US" sz="2800" dirty="0">
                    <a:latin typeface="+mj-lt"/>
                  </a:rPr>
                  <a:t> The rate of growth of a function 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endParaRPr lang="en-US" sz="1200" dirty="0">
                  <a:latin typeface="+mj-lt"/>
                </a:endParaRP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sz="2800" dirty="0">
                    <a:latin typeface="+mj-lt"/>
                  </a:rPr>
                  <a:t>Given a particular differentiable function </a:t>
                </a:r>
                <a:r>
                  <a:rPr lang="en-US" sz="2800" i="1" dirty="0">
                    <a:latin typeface="+mj-lt"/>
                  </a:rPr>
                  <a:t>f</a:t>
                </a:r>
                <a:r>
                  <a:rPr lang="en-US" sz="2800" dirty="0">
                    <a:latin typeface="+mj-lt"/>
                  </a:rPr>
                  <a:t>(</a:t>
                </a:r>
                <a:r>
                  <a:rPr lang="en-US" sz="2800" i="1" dirty="0">
                    <a:latin typeface="+mj-lt"/>
                  </a:rPr>
                  <a:t>N</a:t>
                </a:r>
                <a:r>
                  <a:rPr lang="en-US" sz="2800" dirty="0">
                    <a:latin typeface="+mj-lt"/>
                  </a:rPr>
                  <a:t>), all other differentiable functions fall into three classes: 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n-US" dirty="0">
                    <a:latin typeface="+mj-lt"/>
                  </a:rPr>
                  <a:t>growing with the same rate 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n-US" dirty="0">
                    <a:latin typeface="+mj-lt"/>
                  </a:rPr>
                  <a:t>growing faster 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n-US" dirty="0">
                    <a:latin typeface="+mj-lt"/>
                  </a:rPr>
                  <a:t>growing </a:t>
                </a:r>
                <a:r>
                  <a:rPr lang="en-US">
                    <a:latin typeface="+mj-lt"/>
                  </a:rPr>
                  <a:t>slower 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endParaRPr lang="en-US" sz="1200" dirty="0">
                  <a:latin typeface="+mj-lt"/>
                </a:endParaRP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sz="2800" dirty="0">
                    <a:latin typeface="+mj-lt"/>
                  </a:rPr>
                  <a:t>Classifying Functions by Their Asymptotic Growth: 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Big Oh (</a:t>
                </a:r>
                <a:r>
                  <a:rPr lang="en-US" i="1" dirty="0">
                    <a:solidFill>
                      <a:srgbClr val="FF0000"/>
                    </a:solidFill>
                    <a:latin typeface="+mj-lt"/>
                  </a:rPr>
                  <a:t>O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)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n-US" dirty="0">
                    <a:latin typeface="+mj-lt"/>
                  </a:rPr>
                  <a:t>Big theta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  <a:sym typeface="Symbol" pitchFamily="18" charset="2"/>
                  </a:rPr>
                  <a:t>),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Big Omega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Ω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n-US" dirty="0">
                    <a:latin typeface="+mj-lt"/>
                  </a:rPr>
                  <a:t>Little oh (</a:t>
                </a:r>
                <a:r>
                  <a:rPr lang="en-US" i="1" dirty="0">
                    <a:latin typeface="+mj-lt"/>
                  </a:rPr>
                  <a:t>o</a:t>
                </a:r>
                <a:r>
                  <a:rPr lang="en-US" dirty="0">
                    <a:latin typeface="+mj-lt"/>
                  </a:rPr>
                  <a:t>), Little omega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𝜔</m:t>
                    </m:r>
                  </m:oMath>
                </a14:m>
                <a:r>
                  <a:rPr lang="en-US" dirty="0">
                    <a:latin typeface="+mj-lt"/>
                  </a:rPr>
                  <a:t>)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endParaRPr lang="en-US" dirty="0">
                  <a:latin typeface="+mj-lt"/>
                </a:endParaRP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30310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914400"/>
                <a:ext cx="8839200" cy="5791200"/>
              </a:xfrm>
              <a:blipFill>
                <a:blip r:embed="rId3"/>
                <a:stretch>
                  <a:fillRect l="-1241" t="-947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4EECA01-73BD-4BA3-ABD9-1B53DB894251}" type="slidenum">
              <a:rPr lang="ar-SA" altLang="fr-FR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fr-FR" dirty="0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5410200" y="63404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(-Algorithm Analysis-)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 dirty="0">
                <a:solidFill>
                  <a:srgbClr val="0000CC"/>
                </a:solidFill>
              </a:rPr>
              <a:t>Mathematics Background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0" y="762000"/>
            <a:ext cx="89916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+mj-lt"/>
              </a:rPr>
              <a:t>The “Big-Oh” Notation</a:t>
            </a:r>
            <a:r>
              <a:rPr lang="en-US" sz="2800" dirty="0">
                <a:latin typeface="+mj-lt"/>
              </a:rPr>
              <a:t>: 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altLang="en-US" sz="2800" i="1" dirty="0">
                <a:latin typeface="+mj-lt"/>
              </a:rPr>
              <a:t>T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 = </a:t>
            </a:r>
            <a:r>
              <a:rPr lang="en-US" altLang="en-US" sz="2800" i="1" dirty="0">
                <a:latin typeface="+mj-lt"/>
              </a:rPr>
              <a:t>O</a:t>
            </a:r>
            <a:r>
              <a:rPr lang="en-US" altLang="en-US" sz="2800" dirty="0">
                <a:latin typeface="+mj-lt"/>
              </a:rPr>
              <a:t>( </a:t>
            </a:r>
            <a:r>
              <a:rPr lang="en-US" altLang="en-US" sz="2800" i="1" dirty="0">
                <a:latin typeface="+mj-lt"/>
              </a:rPr>
              <a:t>f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)) if there are positive constants </a:t>
            </a:r>
            <a:r>
              <a:rPr lang="en-US" altLang="en-US" sz="2800" i="1" dirty="0">
                <a:latin typeface="+mj-lt"/>
              </a:rPr>
              <a:t>c</a:t>
            </a:r>
            <a:r>
              <a:rPr lang="en-US" altLang="en-US" sz="2800" dirty="0">
                <a:latin typeface="+mj-lt"/>
              </a:rPr>
              <a:t> and 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baseline="-25000" dirty="0">
                <a:latin typeface="+mj-lt"/>
              </a:rPr>
              <a:t>0</a:t>
            </a:r>
            <a:r>
              <a:rPr lang="en-US" altLang="en-US" sz="2800" dirty="0">
                <a:latin typeface="+mj-lt"/>
              </a:rPr>
              <a:t> such that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en-US" sz="2800" i="1" dirty="0">
                <a:latin typeface="+mj-lt"/>
              </a:rPr>
              <a:t>T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 ≤  </a:t>
            </a:r>
            <a:r>
              <a:rPr lang="en-US" altLang="en-US" sz="2800" i="1" dirty="0">
                <a:latin typeface="+mj-lt"/>
              </a:rPr>
              <a:t>c</a:t>
            </a:r>
            <a:r>
              <a:rPr lang="en-US" altLang="en-US" sz="2800" dirty="0">
                <a:latin typeface="+mj-lt"/>
              </a:rPr>
              <a:t> </a:t>
            </a:r>
            <a:r>
              <a:rPr lang="en-US" altLang="en-US" sz="2800" i="1" dirty="0">
                <a:latin typeface="+mj-lt"/>
              </a:rPr>
              <a:t>f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 when 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 ≥ 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baseline="-25000" dirty="0">
                <a:latin typeface="+mj-lt"/>
              </a:rPr>
              <a:t>0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aseline="-25000" dirty="0">
              <a:latin typeface="+mj-lt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aseline="-25000" dirty="0">
              <a:latin typeface="+mj-lt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>
              <a:latin typeface="+mj-lt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 dirty="0">
                <a:latin typeface="+mj-lt"/>
              </a:rPr>
              <a:t>We read </a:t>
            </a:r>
            <a:r>
              <a:rPr lang="en-US" altLang="en-US" sz="2800" i="1" dirty="0">
                <a:latin typeface="+mj-lt"/>
              </a:rPr>
              <a:t>T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 = </a:t>
            </a:r>
            <a:r>
              <a:rPr lang="en-US" altLang="en-US" sz="2800" i="1" dirty="0">
                <a:latin typeface="+mj-lt"/>
              </a:rPr>
              <a:t>O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f</a:t>
            </a:r>
            <a:r>
              <a:rPr lang="en-US" altLang="en-US" sz="2800" dirty="0">
                <a:latin typeface="+mj-lt"/>
              </a:rPr>
              <a:t>(N)) as </a:t>
            </a:r>
            <a:r>
              <a:rPr lang="en-US" altLang="en-US" sz="2800" i="1" dirty="0">
                <a:latin typeface="+mj-lt"/>
              </a:rPr>
              <a:t>f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 is big-Oh of </a:t>
            </a:r>
            <a:r>
              <a:rPr lang="en-US" altLang="en-US" sz="2800" i="1" dirty="0">
                <a:latin typeface="+mj-lt"/>
              </a:rPr>
              <a:t>T</a:t>
            </a:r>
            <a:r>
              <a:rPr lang="en-US" altLang="en-US" sz="2800" dirty="0">
                <a:latin typeface="+mj-lt"/>
              </a:rPr>
              <a:t>(</a:t>
            </a:r>
            <a:r>
              <a:rPr lang="en-US" altLang="en-US" sz="2800" i="1" dirty="0">
                <a:latin typeface="+mj-lt"/>
              </a:rPr>
              <a:t>N</a:t>
            </a:r>
            <a:r>
              <a:rPr lang="en-US" altLang="en-US" sz="2800" dirty="0">
                <a:latin typeface="+mj-lt"/>
              </a:rPr>
              <a:t>)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The big-Oh notation gives an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upper bound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on the growth rate of a function.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The statement “</a:t>
            </a:r>
            <a:r>
              <a:rPr lang="en-US" sz="2800" i="1" dirty="0">
                <a:latin typeface="+mj-lt"/>
                <a:sym typeface="Symbol" pitchFamily="18" charset="2"/>
              </a:rPr>
              <a:t>T</a:t>
            </a:r>
            <a:r>
              <a:rPr lang="en-US" sz="2800" dirty="0">
                <a:latin typeface="+mj-lt"/>
                <a:sym typeface="Symbol" pitchFamily="18" charset="2"/>
              </a:rPr>
              <a:t>(</a:t>
            </a:r>
            <a:r>
              <a:rPr lang="en-US" sz="2800" i="1" dirty="0">
                <a:latin typeface="+mj-lt"/>
                <a:sym typeface="Symbol" pitchFamily="18" charset="2"/>
              </a:rPr>
              <a:t>N</a:t>
            </a:r>
            <a:r>
              <a:rPr lang="en-US" sz="2800" dirty="0">
                <a:latin typeface="+mj-lt"/>
                <a:sym typeface="Symbol" pitchFamily="18" charset="2"/>
              </a:rPr>
              <a:t>) </a:t>
            </a:r>
            <a:r>
              <a:rPr lang="en-US" sz="2800" dirty="0">
                <a:latin typeface="+mj-lt"/>
              </a:rPr>
              <a:t>is </a:t>
            </a:r>
            <a:r>
              <a:rPr lang="en-US" sz="2800" i="1" dirty="0">
                <a:latin typeface="+mj-lt"/>
                <a:sym typeface="Symbol" pitchFamily="18" charset="2"/>
              </a:rPr>
              <a:t>O</a:t>
            </a:r>
            <a:r>
              <a:rPr lang="en-US" sz="2800" dirty="0">
                <a:latin typeface="+mj-lt"/>
                <a:sym typeface="Symbol" pitchFamily="18" charset="2"/>
              </a:rPr>
              <a:t>(</a:t>
            </a:r>
            <a:r>
              <a:rPr lang="en-US" sz="2800" i="1" dirty="0">
                <a:latin typeface="+mj-lt"/>
                <a:sym typeface="Symbol" pitchFamily="18" charset="2"/>
              </a:rPr>
              <a:t>f</a:t>
            </a:r>
            <a:r>
              <a:rPr lang="en-US" sz="2800" dirty="0">
                <a:latin typeface="+mj-lt"/>
                <a:sym typeface="Symbol" pitchFamily="18" charset="2"/>
              </a:rPr>
              <a:t>(</a:t>
            </a:r>
            <a:r>
              <a:rPr lang="en-US" sz="2800" i="1" dirty="0">
                <a:latin typeface="+mj-lt"/>
                <a:sym typeface="Symbol" pitchFamily="18" charset="2"/>
              </a:rPr>
              <a:t>N</a:t>
            </a:r>
            <a:r>
              <a:rPr lang="en-US" sz="2800" dirty="0">
                <a:latin typeface="+mj-lt"/>
                <a:sym typeface="Symbol" pitchFamily="18" charset="2"/>
              </a:rPr>
              <a:t>))</a:t>
            </a:r>
            <a:r>
              <a:rPr lang="en-US" sz="2800" dirty="0">
                <a:latin typeface="+mj-lt"/>
              </a:rPr>
              <a:t>” means that the growth rate of </a:t>
            </a:r>
            <a:r>
              <a:rPr lang="en-US" sz="2800" i="1" dirty="0">
                <a:latin typeface="+mj-lt"/>
                <a:sym typeface="Symbol" pitchFamily="18" charset="2"/>
              </a:rPr>
              <a:t>T</a:t>
            </a:r>
            <a:r>
              <a:rPr lang="en-US" sz="2800" dirty="0">
                <a:latin typeface="+mj-lt"/>
                <a:sym typeface="Symbol" pitchFamily="18" charset="2"/>
              </a:rPr>
              <a:t>(</a:t>
            </a:r>
            <a:r>
              <a:rPr lang="en-US" sz="2800" i="1" dirty="0">
                <a:latin typeface="+mj-lt"/>
                <a:sym typeface="Symbol" pitchFamily="18" charset="2"/>
              </a:rPr>
              <a:t>N</a:t>
            </a:r>
            <a:r>
              <a:rPr lang="en-US" sz="2800" dirty="0">
                <a:latin typeface="+mj-lt"/>
                <a:sym typeface="Symbol" pitchFamily="18" charset="2"/>
              </a:rPr>
              <a:t>) </a:t>
            </a:r>
            <a:r>
              <a:rPr lang="en-US" sz="2800" dirty="0">
                <a:latin typeface="+mj-lt"/>
              </a:rPr>
              <a:t>is no more than the growth rate of </a:t>
            </a:r>
            <a:r>
              <a:rPr lang="en-US" sz="2800" i="1" dirty="0">
                <a:latin typeface="+mj-lt"/>
                <a:sym typeface="Symbol" pitchFamily="18" charset="2"/>
              </a:rPr>
              <a:t>f</a:t>
            </a:r>
            <a:r>
              <a:rPr lang="en-US" sz="2800" dirty="0">
                <a:latin typeface="+mj-lt"/>
                <a:sym typeface="Symbol" pitchFamily="18" charset="2"/>
              </a:rPr>
              <a:t>(</a:t>
            </a:r>
            <a:r>
              <a:rPr lang="en-US" sz="2800" i="1" dirty="0">
                <a:latin typeface="+mj-lt"/>
                <a:sym typeface="Symbol" pitchFamily="18" charset="2"/>
              </a:rPr>
              <a:t>N</a:t>
            </a:r>
            <a:r>
              <a:rPr lang="en-US" sz="2800" dirty="0">
                <a:latin typeface="+mj-lt"/>
                <a:sym typeface="Symbol" pitchFamily="18" charset="2"/>
              </a:rPr>
              <a:t>).</a:t>
            </a:r>
            <a:endParaRPr lang="en-US" sz="2800" baseline="-25000" dirty="0">
              <a:latin typeface="+mj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B7BC97-DB2B-492C-872C-05133025A2AC}" type="slidenum">
              <a:rPr lang="ar-SA" altLang="fr-FR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fr-FR" dirty="0">
              <a:solidFill>
                <a:srgbClr val="898989"/>
              </a:solidFill>
            </a:endParaRPr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378635"/>
              </p:ext>
            </p:extLst>
          </p:nvPr>
        </p:nvGraphicFramePr>
        <p:xfrm>
          <a:off x="1176338" y="2819400"/>
          <a:ext cx="6392862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Équation" r:id="rId4" imgW="2413000" imgH="457200" progId="Equation.3">
                  <p:embed/>
                </p:oleObj>
              </mc:Choice>
              <mc:Fallback>
                <p:oleObj name="Équation" r:id="rId4" imgW="24130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2819400"/>
                        <a:ext cx="6392862" cy="12557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(-Algorithm Analysis-)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 dirty="0">
                <a:solidFill>
                  <a:srgbClr val="0000CC"/>
                </a:solidFill>
              </a:rPr>
              <a:t>Mathematics Background</a:t>
            </a:r>
          </a:p>
        </p:txBody>
      </p:sp>
      <p:sp>
        <p:nvSpPr>
          <p:cNvPr id="30413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Example:</a:t>
            </a:r>
            <a:r>
              <a:rPr lang="en-US" sz="2400" dirty="0">
                <a:latin typeface="+mj-lt"/>
              </a:rPr>
              <a:t>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	(a) 6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+ 5 = </a:t>
            </a:r>
            <a:r>
              <a:rPr lang="en-US" sz="2400" i="1" dirty="0">
                <a:latin typeface="+mj-lt"/>
              </a:rPr>
              <a:t>O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)            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     (b) (</a:t>
            </a:r>
            <a:r>
              <a:rPr lang="en-US" sz="2400" i="1" dirty="0">
                <a:latin typeface="+mj-lt"/>
              </a:rPr>
              <a:t>N 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+ 8)(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+ 1) = </a:t>
            </a:r>
            <a:r>
              <a:rPr lang="en-US" sz="2400" i="1" dirty="0">
                <a:latin typeface="+mj-lt"/>
              </a:rPr>
              <a:t>O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3</a:t>
            </a:r>
            <a:r>
              <a:rPr lang="en-US" sz="2400" dirty="0">
                <a:latin typeface="+mj-lt"/>
              </a:rPr>
              <a:t>)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	(c) 1 + 2 + … + </a:t>
            </a:r>
            <a:r>
              <a:rPr lang="en-US" sz="2400" i="1" dirty="0">
                <a:latin typeface="+mj-lt"/>
              </a:rPr>
              <a:t>N </a:t>
            </a:r>
            <a:r>
              <a:rPr lang="en-US" sz="2400" dirty="0">
                <a:latin typeface="+mj-lt"/>
              </a:rPr>
              <a:t>= </a:t>
            </a:r>
            <a:r>
              <a:rPr lang="en-US" sz="2400" i="1" dirty="0">
                <a:latin typeface="+mj-lt"/>
              </a:rPr>
              <a:t>O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)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Proof</a:t>
            </a:r>
            <a:r>
              <a:rPr lang="en-US" sz="2400" dirty="0">
                <a:latin typeface="+mj-lt"/>
              </a:rPr>
              <a:t>    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	(a) Observing that 6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+ 5 ≤ 7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for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≥ 5, we have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 6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+ 5 = </a:t>
            </a:r>
            <a:r>
              <a:rPr lang="en-US" sz="2400" i="1" dirty="0">
                <a:latin typeface="+mj-lt"/>
              </a:rPr>
              <a:t>O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) where </a:t>
            </a:r>
            <a:r>
              <a:rPr lang="en-US" sz="2400" i="1" dirty="0">
                <a:latin typeface="+mj-lt"/>
              </a:rPr>
              <a:t>c</a:t>
            </a:r>
            <a:r>
              <a:rPr lang="en-US" sz="2400" dirty="0">
                <a:latin typeface="+mj-lt"/>
              </a:rPr>
              <a:t> = 7 and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-25000" dirty="0">
                <a:latin typeface="+mj-lt"/>
              </a:rPr>
              <a:t>0</a:t>
            </a:r>
            <a:r>
              <a:rPr lang="en-US" sz="2400" dirty="0">
                <a:latin typeface="+mj-lt"/>
              </a:rPr>
              <a:t> = 5.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	(b) In this case we see that, for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≥ 3,</a:t>
            </a:r>
            <a:endParaRPr lang="en-US" sz="2400" b="1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b="1" dirty="0">
                <a:latin typeface="+mj-lt"/>
              </a:rPr>
              <a:t>		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+ 8)(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+ 1) ≤ 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+</a:t>
            </a:r>
            <a:r>
              <a:rPr lang="en-US" sz="2400" i="1" dirty="0">
                <a:latin typeface="+mj-lt"/>
              </a:rPr>
              <a:t> N</a:t>
            </a:r>
            <a:r>
              <a:rPr lang="en-US" sz="2400" dirty="0">
                <a:latin typeface="+mj-lt"/>
              </a:rPr>
              <a:t>)(2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)</a:t>
            </a:r>
            <a:r>
              <a:rPr lang="en-US" sz="2400" i="1" dirty="0">
                <a:latin typeface="+mj-lt"/>
              </a:rPr>
              <a:t> =</a:t>
            </a:r>
            <a:r>
              <a:rPr lang="en-US" sz="2400" dirty="0">
                <a:latin typeface="+mj-lt"/>
              </a:rPr>
              <a:t> 2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3</a:t>
            </a:r>
            <a:r>
              <a:rPr lang="en-US" sz="2400" dirty="0">
                <a:latin typeface="+mj-lt"/>
              </a:rPr>
              <a:t> + 2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2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				  ≤ 2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3</a:t>
            </a:r>
            <a:r>
              <a:rPr lang="en-US" sz="2400" dirty="0">
                <a:latin typeface="+mj-lt"/>
              </a:rPr>
              <a:t> +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3</a:t>
            </a:r>
            <a:r>
              <a:rPr lang="en-US" sz="2400" dirty="0">
                <a:latin typeface="+mj-lt"/>
              </a:rPr>
              <a:t> = 3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3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		Hence 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+ 8)(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+ 1) = </a:t>
            </a:r>
            <a:r>
              <a:rPr lang="en-US" sz="2400" i="1" dirty="0">
                <a:latin typeface="+mj-lt"/>
              </a:rPr>
              <a:t>O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3</a:t>
            </a:r>
            <a:r>
              <a:rPr lang="en-US" sz="2400" dirty="0">
                <a:latin typeface="+mj-lt"/>
              </a:rPr>
              <a:t>) where </a:t>
            </a:r>
            <a:r>
              <a:rPr lang="en-US" sz="2400" i="1" dirty="0">
                <a:latin typeface="+mj-lt"/>
              </a:rPr>
              <a:t>c</a:t>
            </a:r>
            <a:r>
              <a:rPr lang="en-US" sz="2400" dirty="0">
                <a:latin typeface="+mj-lt"/>
              </a:rPr>
              <a:t> = 3 and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-25000" dirty="0">
                <a:latin typeface="+mj-lt"/>
              </a:rPr>
              <a:t>0</a:t>
            </a:r>
            <a:r>
              <a:rPr lang="en-US" sz="2400" dirty="0">
                <a:latin typeface="+mj-lt"/>
              </a:rPr>
              <a:t> = 3.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	(c) Simply notice that 1+ 2 + … </a:t>
            </a:r>
            <a:r>
              <a:rPr lang="en-US" sz="2400" i="1" dirty="0">
                <a:latin typeface="+mj-lt"/>
              </a:rPr>
              <a:t>+ N</a:t>
            </a:r>
            <a:r>
              <a:rPr lang="en-US" sz="2400" dirty="0">
                <a:latin typeface="+mj-lt"/>
              </a:rPr>
              <a:t> ≤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</a:t>
            </a:r>
            <a:r>
              <a:rPr lang="en-US" sz="2400" i="1" dirty="0">
                <a:latin typeface="+mj-lt"/>
              </a:rPr>
              <a:t>+</a:t>
            </a:r>
            <a:r>
              <a:rPr lang="en-US" sz="2400" dirty="0">
                <a:latin typeface="+mj-lt"/>
              </a:rPr>
              <a:t>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+ … + </a:t>
            </a:r>
            <a:r>
              <a:rPr lang="en-US" sz="2400" i="1" dirty="0">
                <a:latin typeface="+mj-lt"/>
              </a:rPr>
              <a:t>N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		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times) for all 1 ≤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. So we quickly have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1 + 2 + … </a:t>
            </a:r>
            <a:r>
              <a:rPr lang="en-US" sz="2400" i="1" dirty="0">
                <a:latin typeface="+mj-lt"/>
              </a:rPr>
              <a:t>+ N =</a:t>
            </a:r>
            <a:r>
              <a:rPr lang="en-US" sz="2400" dirty="0">
                <a:latin typeface="+mj-lt"/>
              </a:rPr>
              <a:t> </a:t>
            </a:r>
            <a:r>
              <a:rPr lang="en-US" sz="2400" i="1" dirty="0">
                <a:latin typeface="+mj-lt"/>
              </a:rPr>
              <a:t>O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) where </a:t>
            </a:r>
            <a:r>
              <a:rPr lang="en-US" sz="2400" i="1" dirty="0">
                <a:latin typeface="+mj-lt"/>
              </a:rPr>
              <a:t>c</a:t>
            </a:r>
            <a:r>
              <a:rPr lang="en-US" sz="2400" dirty="0">
                <a:latin typeface="+mj-lt"/>
              </a:rPr>
              <a:t> = 1 and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baseline="-25000" dirty="0">
                <a:latin typeface="+mj-lt"/>
              </a:rPr>
              <a:t>0</a:t>
            </a:r>
            <a:r>
              <a:rPr lang="en-US" sz="2400" dirty="0">
                <a:latin typeface="+mj-lt"/>
              </a:rPr>
              <a:t> = 1.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18AA00-FFEA-48F1-97DD-16C7EDC47FB4}" type="slidenum">
              <a:rPr lang="ar-SA" altLang="fr-FR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fr-FR" dirty="0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 2321: D.S.A (-Algorithm Analysis-)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03238"/>
          </a:xfrm>
        </p:spPr>
        <p:txBody>
          <a:bodyPr/>
          <a:lstStyle/>
          <a:p>
            <a:pPr eaLnBrk="1" hangingPunct="1"/>
            <a:r>
              <a:rPr lang="en-US" altLang="ar-SA" sz="4000" b="1" dirty="0">
                <a:solidFill>
                  <a:srgbClr val="0000CC"/>
                </a:solidFill>
              </a:rPr>
              <a:t>Mathematics Background</a:t>
            </a:r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03300"/>
            <a:ext cx="8839200" cy="57023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Rules: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800" dirty="0">
              <a:solidFill>
                <a:srgbClr val="FF0000"/>
              </a:solidFill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800" dirty="0">
              <a:solidFill>
                <a:srgbClr val="FF0000"/>
              </a:solidFill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For example: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If </a:t>
            </a:r>
            <a:r>
              <a:rPr lang="en-US" i="1" dirty="0">
                <a:latin typeface="+mj-lt"/>
              </a:rPr>
              <a:t>T</a:t>
            </a:r>
            <a:r>
              <a:rPr lang="en-US" baseline="-25000" dirty="0">
                <a:latin typeface="+mj-lt"/>
              </a:rPr>
              <a:t>1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) = </a:t>
            </a:r>
            <a:r>
              <a:rPr lang="en-US" i="1" dirty="0">
                <a:latin typeface="+mj-lt"/>
              </a:rPr>
              <a:t>O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baseline="30000" dirty="0">
                <a:latin typeface="+mj-lt"/>
              </a:rPr>
              <a:t>2</a:t>
            </a:r>
            <a:r>
              <a:rPr lang="en-US" dirty="0">
                <a:latin typeface="+mj-lt"/>
              </a:rPr>
              <a:t>) and </a:t>
            </a:r>
            <a:r>
              <a:rPr lang="en-US" i="1" dirty="0">
                <a:latin typeface="+mj-lt"/>
              </a:rPr>
              <a:t>T</a:t>
            </a:r>
            <a:r>
              <a:rPr lang="en-US" baseline="-25000" dirty="0">
                <a:latin typeface="+mj-lt"/>
              </a:rPr>
              <a:t>2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) = </a:t>
            </a:r>
            <a:r>
              <a:rPr lang="en-US" i="1" dirty="0">
                <a:latin typeface="+mj-lt"/>
              </a:rPr>
              <a:t>O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) then 	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(a) </a:t>
            </a:r>
            <a:r>
              <a:rPr lang="en-US" i="1" dirty="0">
                <a:latin typeface="+mj-lt"/>
              </a:rPr>
              <a:t>T</a:t>
            </a:r>
            <a:r>
              <a:rPr lang="en-US" baseline="-25000" dirty="0">
                <a:latin typeface="+mj-lt"/>
              </a:rPr>
              <a:t>1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) + </a:t>
            </a:r>
            <a:r>
              <a:rPr lang="en-US" i="1" dirty="0">
                <a:latin typeface="+mj-lt"/>
              </a:rPr>
              <a:t>T</a:t>
            </a:r>
            <a:r>
              <a:rPr lang="en-US" baseline="-25000" dirty="0">
                <a:latin typeface="+mj-lt"/>
              </a:rPr>
              <a:t>2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) = </a:t>
            </a:r>
            <a:r>
              <a:rPr lang="en-US" i="1" dirty="0">
                <a:latin typeface="+mj-lt"/>
              </a:rPr>
              <a:t>O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baseline="30000" dirty="0">
                <a:latin typeface="+mj-lt"/>
              </a:rPr>
              <a:t>2</a:t>
            </a:r>
            <a:r>
              <a:rPr lang="en-US" dirty="0">
                <a:latin typeface="+mj-lt"/>
              </a:rPr>
              <a:t>)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(b) </a:t>
            </a:r>
            <a:r>
              <a:rPr lang="en-US" i="1" dirty="0">
                <a:latin typeface="+mj-lt"/>
              </a:rPr>
              <a:t>T</a:t>
            </a:r>
            <a:r>
              <a:rPr lang="en-US" baseline="-25000" dirty="0">
                <a:latin typeface="+mj-lt"/>
              </a:rPr>
              <a:t>1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) * </a:t>
            </a:r>
            <a:r>
              <a:rPr lang="en-US" i="1" dirty="0">
                <a:latin typeface="+mj-lt"/>
              </a:rPr>
              <a:t>T</a:t>
            </a:r>
            <a:r>
              <a:rPr lang="en-US" baseline="-25000" dirty="0">
                <a:latin typeface="+mj-lt"/>
              </a:rPr>
              <a:t>2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) = </a:t>
            </a:r>
            <a:r>
              <a:rPr lang="en-US" i="1" dirty="0">
                <a:latin typeface="+mj-lt"/>
              </a:rPr>
              <a:t>O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baseline="30000" dirty="0">
                <a:latin typeface="+mj-lt"/>
              </a:rPr>
              <a:t>3</a:t>
            </a:r>
            <a:r>
              <a:rPr lang="en-US" dirty="0">
                <a:latin typeface="+mj-lt"/>
              </a:rPr>
              <a:t>)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000" dirty="0"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Do not say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 =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(2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baseline="30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) or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 =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baseline="30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 +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). The correct form is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 =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baseline="30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).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FE868A-1110-49CC-8D1A-B1EA276C6776}" type="slidenum">
              <a:rPr lang="ar-SA" altLang="fr-FR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fr-FR" dirty="0">
              <a:solidFill>
                <a:srgbClr val="898989"/>
              </a:solidFill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/>
        </p:nvGraphicFramePr>
        <p:xfrm>
          <a:off x="414338" y="1433513"/>
          <a:ext cx="8721725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Équation" r:id="rId4" imgW="2971800" imgH="685800" progId="Equation.3">
                  <p:embed/>
                </p:oleObj>
              </mc:Choice>
              <mc:Fallback>
                <p:oleObj name="Équation" r:id="rId4" imgW="2971800" imgH="68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8" y="1433513"/>
                        <a:ext cx="8721725" cy="20113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 2321: D.S.A (-Algorithm Analysis-)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"/>
            <a:ext cx="8229600" cy="5603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ar-SA" b="1" dirty="0">
                <a:solidFill>
                  <a:srgbClr val="0000CC"/>
                </a:solidFill>
              </a:rPr>
              <a:t>Mathematics Background</a:t>
            </a:r>
          </a:p>
        </p:txBody>
      </p:sp>
      <p:graphicFrame>
        <p:nvGraphicFramePr>
          <p:cNvPr id="18435" name="Object 2" descr="Dotted grid"/>
          <p:cNvGraphicFramePr>
            <a:graphicFrameLocks noGrp="1" noChangeAspect="1"/>
          </p:cNvGraphicFramePr>
          <p:nvPr>
            <p:ph type="tbl" idx="1"/>
          </p:nvPr>
        </p:nvGraphicFramePr>
        <p:xfrm>
          <a:off x="514350" y="990600"/>
          <a:ext cx="7962900" cy="421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Document" r:id="rId4" imgW="7921992" imgH="4194933" progId="Word.Document.8">
                  <p:embed/>
                </p:oleObj>
              </mc:Choice>
              <mc:Fallback>
                <p:oleObj name="Document" r:id="rId4" imgW="7921992" imgH="4194933" progId="Word.Document.8">
                  <p:embed/>
                  <p:pic>
                    <p:nvPicPr>
                      <p:cNvPr id="0" name="Object 2" descr="Dotted grid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990600"/>
                        <a:ext cx="7962900" cy="421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pattFill prst="dotGrid">
                              <a:fgClr>
                                <a:schemeClr val="hlink"/>
                              </a:fgClr>
                              <a:bgClr>
                                <a:schemeClr val="bg1"/>
                              </a:bgClr>
                            </a:patt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723E2F6-418A-46A8-B8AD-3CEC4AC86595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fr-FR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28600" y="5181600"/>
            <a:ext cx="85344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0" eaLnBrk="0" hangingPunct="0">
              <a:defRPr/>
            </a:pPr>
            <a:r>
              <a:rPr lang="en-US" altLang="ar-SA" sz="2800" dirty="0">
                <a:latin typeface="+mj-lt"/>
                <a:cs typeface="Arial" charset="0"/>
              </a:rPr>
              <a:t>Typical Growth Rates</a:t>
            </a:r>
          </a:p>
          <a:p>
            <a:pPr algn="l" rtl="0" eaLnBrk="0" hangingPunct="0">
              <a:defRPr/>
            </a:pPr>
            <a:endParaRPr lang="en-US" altLang="ar-SA" sz="2400" dirty="0">
              <a:latin typeface="+mj-lt"/>
              <a:cs typeface="Arial" charset="0"/>
            </a:endParaRPr>
          </a:p>
          <a:p>
            <a:pPr algn="l" rtl="0" eaLnBrk="0" hangingPunct="0">
              <a:defRPr/>
            </a:pPr>
            <a:r>
              <a:rPr lang="en-US" altLang="ar-SA" sz="2400" dirty="0">
                <a:latin typeface="+mj-lt"/>
                <a:cs typeface="Arial" charset="0"/>
              </a:rPr>
              <a:t>The functions are arranged by the most of growth rate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j-lt"/>
              </a:rPr>
              <a:t>CS 2321: D.S.A (-Algorithm Analysis-)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584200"/>
          </a:xfrm>
        </p:spPr>
        <p:txBody>
          <a:bodyPr/>
          <a:lstStyle/>
          <a:p>
            <a:pPr eaLnBrk="1" hangingPunct="1"/>
            <a:r>
              <a:rPr lang="en-US" altLang="ar-SA" sz="4000" b="1" dirty="0">
                <a:solidFill>
                  <a:srgbClr val="0000CC"/>
                </a:solidFill>
              </a:rPr>
              <a:t>Mathematics Background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98E43B-C623-4651-84AE-596EE14389A3}" type="slidenum">
              <a:rPr lang="ar-SA" altLang="fr-FR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fr-FR" dirty="0">
              <a:solidFill>
                <a:srgbClr val="898989"/>
              </a:solidFill>
            </a:endParaRP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40581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 2321: D.S.A (-Algorithm Analysis-)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584200"/>
          </a:xfrm>
        </p:spPr>
        <p:txBody>
          <a:bodyPr/>
          <a:lstStyle/>
          <a:p>
            <a:pPr eaLnBrk="1" hangingPunct="1"/>
            <a:r>
              <a:rPr lang="en-US" altLang="ar-SA" sz="4000" b="1" dirty="0">
                <a:solidFill>
                  <a:srgbClr val="0000CC"/>
                </a:solidFill>
              </a:rPr>
              <a:t>Mathematics Background</a:t>
            </a:r>
          </a:p>
        </p:txBody>
      </p:sp>
      <p:graphicFrame>
        <p:nvGraphicFramePr>
          <p:cNvPr id="20483" name="Object 12"/>
          <p:cNvGraphicFramePr>
            <a:graphicFrameLocks noGrp="1" noChangeAspect="1"/>
          </p:cNvGraphicFramePr>
          <p:nvPr>
            <p:ph idx="1"/>
          </p:nvPr>
        </p:nvGraphicFramePr>
        <p:xfrm>
          <a:off x="1371600" y="960438"/>
          <a:ext cx="5867400" cy="579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صورة نقطية" r:id="rId4" imgW="5191850" imgH="5125165" progId="Paint.Picture">
                  <p:embed/>
                </p:oleObj>
              </mc:Choice>
              <mc:Fallback>
                <p:oleObj name="صورة نقطية" r:id="rId4" imgW="5191850" imgH="5125165" progId="Paint.Picture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960438"/>
                        <a:ext cx="5867400" cy="579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8FDA3AD-266D-45BD-B4A4-15E5F9338E1E}" type="slidenum">
              <a:rPr lang="ar-SA" altLang="fr-FR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fr-FR" dirty="0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 2321: D.S.A (-Algorithm Analysis-)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 dirty="0">
                <a:solidFill>
                  <a:srgbClr val="0000CC"/>
                </a:solidFill>
              </a:rPr>
              <a:t>Mathematics Background</a:t>
            </a:r>
          </a:p>
        </p:txBody>
      </p:sp>
      <p:sp>
        <p:nvSpPr>
          <p:cNvPr id="300034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+mj-lt"/>
              </a:rPr>
              <a:t>Example of an exponential algorithm </a:t>
            </a:r>
            <a:endParaRPr lang="en-US" altLang="en-US" sz="2800" dirty="0">
              <a:latin typeface="+mj-lt"/>
              <a:sym typeface="Symbol" pitchFamily="18" charset="2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7E9DA39-8D21-40C2-B2ED-1B7E8E9C113E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US" altLang="fr-FR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j-lt"/>
              </a:rPr>
              <a:t>CS 2321: D.S.A (-Algorithm Analysis-)</a:t>
            </a:r>
          </a:p>
        </p:txBody>
      </p:sp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" y="1402140"/>
            <a:ext cx="8686800" cy="1569660"/>
          </a:xfrm>
          <a:prstGeom prst="rect">
            <a:avLst/>
          </a:prstGeom>
          <a:blipFill rotWithShape="1">
            <a:blip r:embed="rId3"/>
            <a:stretch>
              <a:fillRect l="-982" t="-3101" b="-7752"/>
            </a:stretch>
          </a:blipFill>
        </p:spPr>
        <p:txBody>
          <a:bodyPr/>
          <a:lstStyle/>
          <a:p>
            <a:pPr>
              <a:defRPr/>
            </a:pPr>
            <a:r>
              <a:rPr lang="fr-FR" dirty="0">
                <a:noFill/>
                <a:latin typeface="Arial" charset="0"/>
                <a:cs typeface="Arial" charset="0"/>
              </a:rPr>
              <a:t> </a:t>
            </a:r>
          </a:p>
        </p:txBody>
      </p:sp>
      <p:pic>
        <p:nvPicPr>
          <p:cNvPr id="215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305175"/>
            <a:ext cx="574357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" y="4876800"/>
            <a:ext cx="8382000" cy="1748748"/>
          </a:xfrm>
          <a:prstGeom prst="rect">
            <a:avLst/>
          </a:prstGeom>
          <a:blipFill rotWithShape="1">
            <a:blip r:embed="rId5"/>
            <a:stretch>
              <a:fillRect l="-1091" t="-2787" r="-509" b="-6969"/>
            </a:stretch>
          </a:blipFill>
        </p:spPr>
        <p:txBody>
          <a:bodyPr/>
          <a:lstStyle/>
          <a:p>
            <a:pPr>
              <a:defRPr/>
            </a:pPr>
            <a:r>
              <a:rPr lang="fr-FR" dirty="0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50" y="5247243"/>
            <a:ext cx="3619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/>
          <a:lstStyle/>
          <a:p>
            <a:pPr eaLnBrk="1" hangingPunct="1"/>
            <a:r>
              <a:rPr lang="en-US" altLang="ar-SA" sz="4000" b="1" dirty="0">
                <a:solidFill>
                  <a:srgbClr val="0000CC"/>
                </a:solidFill>
              </a:rPr>
              <a:t>Mathematics Background</a:t>
            </a:r>
          </a:p>
        </p:txBody>
      </p:sp>
      <p:sp>
        <p:nvSpPr>
          <p:cNvPr id="300034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+mj-lt"/>
              </a:rPr>
              <a:t>Example of an exponential algorithm </a:t>
            </a:r>
            <a:endParaRPr lang="en-US" altLang="en-US" sz="2800" dirty="0">
              <a:latin typeface="+mj-lt"/>
              <a:sym typeface="Symbol" pitchFamily="18" charset="2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F896072-65CF-445D-AF4D-54A3C670BF90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en-US" altLang="fr-FR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j-lt"/>
              </a:rPr>
              <a:t>CS 2321: D.S.A (-Algorithm Analysis-)</a:t>
            </a:r>
          </a:p>
        </p:txBody>
      </p:sp>
      <p:sp>
        <p:nvSpPr>
          <p:cNvPr id="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" y="1447800"/>
            <a:ext cx="8382000" cy="830997"/>
          </a:xfrm>
          <a:prstGeom prst="rect">
            <a:avLst/>
          </a:prstGeom>
          <a:blipFill rotWithShape="1">
            <a:blip r:embed="rId3"/>
            <a:stretch>
              <a:fillRect l="-1091" t="-5882" b="-15441"/>
            </a:stretch>
          </a:blipFill>
        </p:spPr>
        <p:txBody>
          <a:bodyPr/>
          <a:lstStyle/>
          <a:p>
            <a:pPr>
              <a:defRPr/>
            </a:pPr>
            <a:r>
              <a:rPr lang="fr-FR" dirty="0">
                <a:noFill/>
                <a:latin typeface="Arial" charset="0"/>
                <a:cs typeface="Arial" charset="0"/>
              </a:rPr>
              <a:t> 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762000" y="2362200"/>
          <a:ext cx="7696200" cy="3585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>
                    <a:blipFill rotWithShape="1">
                      <a:blip r:embed="rId4"/>
                      <a:stretch>
                        <a:fillRect t="-5109" r="-200000" b="-34598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/>
                        <a:t>Number of possible routes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/>
                        <a:t>Computational time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3 </a:t>
                      </a:r>
                      <a:r>
                        <a:rPr lang="el-GR" sz="2400" dirty="0"/>
                        <a:t>μ</a:t>
                      </a:r>
                      <a:r>
                        <a:rPr lang="fr-FR" sz="2400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12 </a:t>
                      </a:r>
                      <a:r>
                        <a:rPr lang="el-GR" sz="2400" dirty="0"/>
                        <a:t>μ</a:t>
                      </a:r>
                      <a:r>
                        <a:rPr lang="fr-FR" sz="2400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328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blipFill rotWithShape="1">
                      <a:blip r:embed="rId4"/>
                      <a:stretch>
                        <a:fillRect l="-100000" t="-386842" r="-100000" b="-326316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0.18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blipFill rotWithShape="1">
                      <a:blip r:embed="rId4"/>
                      <a:stretch>
                        <a:fillRect l="-100000" t="-493333" r="-100000" b="-230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12 </a:t>
                      </a:r>
                      <a:r>
                        <a:rPr lang="fr-FR" sz="2400" dirty="0" err="1"/>
                        <a:t>hours</a:t>
                      </a:r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blipFill rotWithShape="1">
                      <a:blip r:embed="rId4"/>
                      <a:stretch>
                        <a:fillRect l="-100000" t="-593333" r="-100000" b="-130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1928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years</a:t>
                      </a:r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blipFill rotWithShape="1">
                      <a:blip r:embed="rId4"/>
                      <a:stretch>
                        <a:fillRect l="-100000" t="-693333" r="-100000" b="-30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9.8 milliard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years</a:t>
                      </a:r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32375" y="6019800"/>
            <a:ext cx="3959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400" b="1">
                <a:solidFill>
                  <a:srgbClr val="FF0000"/>
                </a:solidFill>
              </a:rPr>
              <a:t>Combinatorial explosion 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z="4000" b="1">
                <a:cs typeface="Times New Roman" panose="02020603050405020304" pitchFamily="18" charset="0"/>
              </a:rPr>
              <a:t>3. Model</a:t>
            </a:r>
          </a:p>
        </p:txBody>
      </p:sp>
      <p:sp>
        <p:nvSpPr>
          <p:cNvPr id="29699" name="Rectangle 1"/>
          <p:cNvSpPr>
            <a:spLocks noChangeArrowheads="1"/>
          </p:cNvSpPr>
          <p:nvPr/>
        </p:nvSpPr>
        <p:spPr bwMode="auto">
          <a:xfrm>
            <a:off x="1103313" y="4343400"/>
            <a:ext cx="376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r>
              <a:rPr lang="fr-FR" altLang="fr-FR" b="1">
                <a:solidFill>
                  <a:srgbClr val="FF0000"/>
                </a:solidFill>
              </a:rPr>
              <a:t>Reading: Textbook (Weiss) 2.2 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859A73E-A041-482D-AB0D-CD60A37D3032}" type="slidenum">
              <a:rPr lang="ar-SA" altLang="fr-FR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fr-FR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65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ar-SA" sz="4000" b="1" dirty="0">
                <a:solidFill>
                  <a:srgbClr val="0000CC"/>
                </a:solidFill>
              </a:rPr>
              <a:t>Model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752600"/>
            <a:ext cx="8839200" cy="457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Machine model assumed: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instructions are executed one after another, with no concurrent operations, i.e., not parallel computers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simple instructions such as addition, multiplication, comparison, and assignment.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fixed-size (say, 32-bit) integers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there are no fancy operations, such as matrix inversion or sorting, that clearly cannot be done in one time unit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infinite memory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53F4C2E-FCB4-4709-BFFD-FBCD114438BE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85028" name="Rectangle 4"/>
          <p:cNvSpPr>
            <a:spLocks noChangeArrowheads="1"/>
          </p:cNvSpPr>
          <p:nvPr/>
        </p:nvSpPr>
        <p:spPr bwMode="auto">
          <a:xfrm>
            <a:off x="838200" y="3962400"/>
            <a:ext cx="7772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endParaRPr lang="en-US" sz="3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  <a:p>
            <a:pPr marL="742950" lvl="1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endParaRPr lang="en-US" sz="280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CS 2321: D.S.A (-Algorithm Analysis-)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838200"/>
            <a:ext cx="899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order to analyze algorithms in a formal framework, we need a model of computation.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z="4000" b="1">
                <a:cs typeface="Times New Roman" panose="02020603050405020304" pitchFamily="18" charset="0"/>
              </a:rPr>
              <a:t>4. What to Analyze?</a:t>
            </a:r>
          </a:p>
        </p:txBody>
      </p:sp>
      <p:sp>
        <p:nvSpPr>
          <p:cNvPr id="31747" name="Rectangle 1"/>
          <p:cNvSpPr>
            <a:spLocks noChangeArrowheads="1"/>
          </p:cNvSpPr>
          <p:nvPr/>
        </p:nvSpPr>
        <p:spPr bwMode="auto">
          <a:xfrm>
            <a:off x="1103313" y="4343400"/>
            <a:ext cx="376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r>
              <a:rPr lang="fr-FR" altLang="fr-FR" b="1" dirty="0">
                <a:solidFill>
                  <a:srgbClr val="FF0000"/>
                </a:solidFill>
              </a:rPr>
              <a:t>Reading: </a:t>
            </a:r>
            <a:r>
              <a:rPr lang="fr-FR" altLang="fr-FR" b="1" dirty="0" err="1">
                <a:solidFill>
                  <a:srgbClr val="FF0000"/>
                </a:solidFill>
              </a:rPr>
              <a:t>Textbook</a:t>
            </a:r>
            <a:r>
              <a:rPr lang="fr-FR" altLang="fr-FR" b="1" dirty="0">
                <a:solidFill>
                  <a:srgbClr val="FF0000"/>
                </a:solidFill>
              </a:rPr>
              <a:t> (Weiss) 2.3 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B7A61E3-46BE-4406-93AA-78E6C31DDB16}" type="slidenum">
              <a:rPr lang="ar-SA" altLang="fr-FR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fr-FR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65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ar-SA" sz="4000" b="1" dirty="0">
                <a:solidFill>
                  <a:srgbClr val="0000CC"/>
                </a:solidFill>
              </a:rPr>
              <a:t>What to Analyze?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Factors affecting the running time: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+mj-lt"/>
              </a:rPr>
              <a:t>Computer,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+mj-lt"/>
              </a:rPr>
              <a:t>Compiler,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+mj-lt"/>
              </a:rPr>
              <a:t>Algorithm used, and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3200" dirty="0">
                <a:latin typeface="+mj-lt"/>
              </a:rPr>
              <a:t>Input to the algorithm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2700" dirty="0">
                <a:latin typeface="+mj-lt"/>
              </a:rPr>
              <a:t>The content of the input affects the running time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2700" dirty="0">
                <a:latin typeface="+mj-lt"/>
              </a:rPr>
              <a:t>The input size is the main consideration (e.g. sorting problem </a:t>
            </a:r>
            <a:r>
              <a:rPr lang="en-US" sz="2700" dirty="0">
                <a:latin typeface="+mj-lt"/>
                <a:sym typeface="Symbol" pitchFamily="18" charset="2"/>
              </a:rPr>
              <a:t> the number of items to be sorted)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9DD6A73-8AA1-4763-AA6C-784FBB792E4E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86052" name="Rectangle 4"/>
          <p:cNvSpPr>
            <a:spLocks noChangeArrowheads="1"/>
          </p:cNvSpPr>
          <p:nvPr/>
        </p:nvSpPr>
        <p:spPr bwMode="auto">
          <a:xfrm>
            <a:off x="838200" y="3962400"/>
            <a:ext cx="7772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endParaRPr lang="en-US" sz="3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  <a:p>
            <a:pPr marL="742950" lvl="1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endParaRPr lang="en-US" sz="280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48025" y="1716088"/>
            <a:ext cx="5334000" cy="101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>
            <a:spAutoFit/>
          </a:bodyPr>
          <a:lstStyle/>
          <a:p>
            <a:pPr algn="l" rtl="0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Obviously beyond the scope of any theoretical model, so, although they are important, we cannot deal with them here.</a:t>
            </a:r>
          </a:p>
        </p:txBody>
      </p:sp>
      <p:sp>
        <p:nvSpPr>
          <p:cNvPr id="5" name="Right Brace 4"/>
          <p:cNvSpPr/>
          <p:nvPr/>
        </p:nvSpPr>
        <p:spPr>
          <a:xfrm>
            <a:off x="2971800" y="1743075"/>
            <a:ext cx="228600" cy="847725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>
              <a:defRPr/>
            </a:pPr>
            <a:endParaRPr lang="ar-SA">
              <a:latin typeface="+mj-lt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CS 2321: D.S.A (-Algorithm Analysis-)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884238"/>
            <a:ext cx="8839200" cy="58213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The Maximum Subsequence Sum Problem: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Given (possibly negative) integers </a:t>
            </a:r>
            <a:r>
              <a:rPr lang="en-US" sz="2800" i="1" dirty="0">
                <a:latin typeface="+mj-lt"/>
              </a:rPr>
              <a:t>A</a:t>
            </a:r>
            <a:r>
              <a:rPr lang="en-US" sz="2800" baseline="-25000" dirty="0">
                <a:latin typeface="+mj-lt"/>
              </a:rPr>
              <a:t>1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A</a:t>
            </a:r>
            <a:r>
              <a:rPr lang="en-US" sz="2800" baseline="-25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, …, </a:t>
            </a:r>
            <a:r>
              <a:rPr lang="en-US" sz="2800" i="1" dirty="0">
                <a:latin typeface="+mj-lt"/>
              </a:rPr>
              <a:t>A</a:t>
            </a:r>
            <a:r>
              <a:rPr lang="en-US" sz="2800" i="1" baseline="-25000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, find the maximum value of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	For convenience, the maximum subsequence sum is zero if all the integers are negative.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Example: input -2, 11, -4, 13, -5, -2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the answer is 20 (</a:t>
            </a:r>
            <a:r>
              <a:rPr lang="en-US" sz="2800" i="1" dirty="0">
                <a:latin typeface="+mj-lt"/>
              </a:rPr>
              <a:t>A</a:t>
            </a:r>
            <a:r>
              <a:rPr lang="en-US" sz="2800" baseline="-25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 through </a:t>
            </a:r>
            <a:r>
              <a:rPr lang="en-US" sz="2800" i="1" dirty="0">
                <a:latin typeface="+mj-lt"/>
              </a:rPr>
              <a:t>A</a:t>
            </a:r>
            <a:r>
              <a:rPr lang="en-US" sz="2800" baseline="-25000" dirty="0">
                <a:latin typeface="+mj-lt"/>
              </a:rPr>
              <a:t>4</a:t>
            </a:r>
            <a:r>
              <a:rPr lang="en-US" sz="2800" dirty="0">
                <a:latin typeface="+mj-lt"/>
              </a:rPr>
              <a:t>)</a:t>
            </a:r>
          </a:p>
        </p:txBody>
      </p:sp>
      <p:graphicFrame>
        <p:nvGraphicFramePr>
          <p:cNvPr id="33795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3787775" y="2362200"/>
          <a:ext cx="10128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Équation" r:id="rId4" imgW="352543" imgH="409489" progId="Equation.3">
                  <p:embed/>
                </p:oleObj>
              </mc:Choice>
              <mc:Fallback>
                <p:oleObj name="Équation" r:id="rId4" imgW="352543" imgH="409489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2362200"/>
                        <a:ext cx="10128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1237E61-4404-4A6D-8E94-E5CCD8C446E5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3797" name="Object 3"/>
          <p:cNvGraphicFramePr>
            <a:graphicFrameLocks noChangeAspect="1"/>
          </p:cNvGraphicFramePr>
          <p:nvPr/>
        </p:nvGraphicFramePr>
        <p:xfrm>
          <a:off x="4516438" y="3321050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6" imgW="114151" imgH="215619" progId="Equation.3">
                  <p:embed/>
                </p:oleObj>
              </mc:Choice>
              <mc:Fallback>
                <p:oleObj name="Equation" r:id="rId6" imgW="114151" imgH="2156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8" y="3321050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6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What to Analyze?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CS 2321: D.S.A (-Algorithm Analysis-)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/>
          <p:cNvGraphicFramePr>
            <a:graphicFrameLocks noGrp="1" noChangeAspect="1"/>
          </p:cNvGraphicFramePr>
          <p:nvPr>
            <p:ph type="tbl" idx="1"/>
          </p:nvPr>
        </p:nvGraphicFramePr>
        <p:xfrm>
          <a:off x="601663" y="1565275"/>
          <a:ext cx="7691437" cy="387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Document" r:id="rId4" imgW="8476204" imgH="4270622" progId="Word.Document.8">
                  <p:embed/>
                </p:oleObj>
              </mc:Choice>
              <mc:Fallback>
                <p:oleObj name="Document" r:id="rId4" imgW="8476204" imgH="4270622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3" y="1565275"/>
                        <a:ext cx="7691437" cy="387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4F3BB4-F005-4246-B563-5FDBE891F4CB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6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What to Analyze?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52400" y="4394200"/>
            <a:ext cx="88392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ar-SA" sz="2400">
                <a:latin typeface="+mj-lt"/>
                <a:cs typeface="Arial" charset="0"/>
              </a:rPr>
              <a:t>Running times of several algorithms for maximum subsequence sum (in seconds)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CS 2321: D.S.A (-Algorithm Analysis-)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6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What to Analyze?</a:t>
            </a:r>
          </a:p>
        </p:txBody>
      </p:sp>
      <p:sp>
        <p:nvSpPr>
          <p:cNvPr id="29699" name="Rectangle 132"/>
          <p:cNvSpPr>
            <a:spLocks noChangeArrowheads="1"/>
          </p:cNvSpPr>
          <p:nvPr/>
        </p:nvSpPr>
        <p:spPr bwMode="auto">
          <a:xfrm>
            <a:off x="152400" y="6362700"/>
            <a:ext cx="88392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ar-SA" sz="2400">
                <a:latin typeface="+mj-lt"/>
                <a:cs typeface="Arial" charset="0"/>
              </a:rPr>
              <a:t>Plot (</a:t>
            </a:r>
            <a:r>
              <a:rPr lang="en-US" altLang="ar-SA" sz="2400" i="1">
                <a:latin typeface="+mj-lt"/>
                <a:cs typeface="Arial" charset="0"/>
              </a:rPr>
              <a:t>N </a:t>
            </a:r>
            <a:r>
              <a:rPr lang="en-US" altLang="ar-SA" sz="2400">
                <a:latin typeface="+mj-lt"/>
                <a:cs typeface="Arial" charset="0"/>
              </a:rPr>
              <a:t>vs. time) of various algorithms</a:t>
            </a:r>
          </a:p>
        </p:txBody>
      </p:sp>
      <p:pic>
        <p:nvPicPr>
          <p:cNvPr id="35844" name="Picture 1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7467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7D02A45-39F3-402A-A8B5-B9B7E7F1AA1A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CS 2321: D.S.A (-Algorithm Analysis-)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6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What to Analyze?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152400" y="6362700"/>
            <a:ext cx="88392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ar-SA" sz="2400">
                <a:latin typeface="Georgia" panose="02040502050405020303" pitchFamily="18" charset="0"/>
              </a:rPr>
              <a:t>Plot (</a:t>
            </a:r>
            <a:r>
              <a:rPr lang="en-US" altLang="ar-SA" sz="2400" i="1">
                <a:latin typeface="Georgia" panose="02040502050405020303" pitchFamily="18" charset="0"/>
              </a:rPr>
              <a:t>N </a:t>
            </a:r>
            <a:r>
              <a:rPr lang="en-US" altLang="ar-SA" sz="2400">
                <a:latin typeface="Georgia" panose="02040502050405020303" pitchFamily="18" charset="0"/>
              </a:rPr>
              <a:t>vs. time) of various algorithms</a:t>
            </a:r>
          </a:p>
        </p:txBody>
      </p:sp>
      <p:pic>
        <p:nvPicPr>
          <p:cNvPr id="36868" name="Picture 1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00125"/>
            <a:ext cx="77009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D70153-A192-4A75-BD13-135A499CBBE3}" type="slidenum">
              <a:rPr lang="ar-SA" altLang="fr-FR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z="4000" b="1">
                <a:cs typeface="Times New Roman" panose="02020603050405020304" pitchFamily="18" charset="0"/>
              </a:rPr>
              <a:t>5. Running Time Calculations</a:t>
            </a:r>
          </a:p>
        </p:txBody>
      </p:sp>
      <p:sp>
        <p:nvSpPr>
          <p:cNvPr id="37891" name="Rectangle 1"/>
          <p:cNvSpPr>
            <a:spLocks noChangeArrowheads="1"/>
          </p:cNvSpPr>
          <p:nvPr/>
        </p:nvSpPr>
        <p:spPr bwMode="auto">
          <a:xfrm>
            <a:off x="1103313" y="4343400"/>
            <a:ext cx="376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r>
              <a:rPr lang="fr-FR" altLang="fr-FR" b="1">
                <a:solidFill>
                  <a:srgbClr val="FF0000"/>
                </a:solidFill>
              </a:rPr>
              <a:t>Reading: Textbook (Weiss) 2.4 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995808-526E-4A01-9C2B-AFE3DB3D8402}" type="slidenum">
              <a:rPr lang="ar-SA" altLang="fr-FR">
                <a:solidFill>
                  <a:srgbClr val="898989"/>
                </a:solidFill>
              </a:rPr>
              <a:pPr eaLnBrk="1" hangingPunct="1"/>
              <a:t>28</a:t>
            </a:fld>
            <a:endParaRPr lang="en-US" altLang="fr-FR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889000"/>
            <a:ext cx="8750300" cy="58166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Here is a simple program fragment to calculate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>
              <a:latin typeface="+mj-lt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 err="1"/>
              <a:t>int</a:t>
            </a:r>
            <a:r>
              <a:rPr lang="en-US" sz="2400" dirty="0"/>
              <a:t> sum (</a:t>
            </a:r>
            <a:r>
              <a:rPr lang="en-US" sz="2400" dirty="0" err="1"/>
              <a:t>int</a:t>
            </a:r>
            <a:r>
              <a:rPr lang="en-US" sz="2400" dirty="0"/>
              <a:t> n)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{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	int i, partialSum;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	partialSum = 0;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	for ( i = 1; i &lt;= n; i++ 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		  </a:t>
            </a:r>
            <a:r>
              <a:rPr lang="en-US" sz="2400" dirty="0" err="1"/>
              <a:t>partialSum</a:t>
            </a:r>
            <a:r>
              <a:rPr lang="en-US" sz="2400" dirty="0"/>
              <a:t> += i * i * i;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	return partialSum;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}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Thus the total cost is 6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+ 4 which is equal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).</a:t>
            </a:r>
          </a:p>
        </p:txBody>
      </p:sp>
      <p:graphicFrame>
        <p:nvGraphicFramePr>
          <p:cNvPr id="3891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811588" y="1371600"/>
          <a:ext cx="8159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330057" imgH="431613" progId="Equation.3">
                  <p:embed/>
                </p:oleObj>
              </mc:Choice>
              <mc:Fallback>
                <p:oleObj name="Equation" r:id="rId4" imgW="330057" imgH="431613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1371600"/>
                        <a:ext cx="815975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E6EEAAF-4935-45A7-90A9-E663C88434F9}" type="slidenum">
              <a:rPr lang="ar-SA" altLang="fr-FR">
                <a:solidFill>
                  <a:srgbClr val="898989"/>
                </a:solidFill>
              </a:rPr>
              <a:pPr eaLnBrk="1" hangingPunct="1"/>
              <a:t>29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52400" y="76200"/>
            <a:ext cx="88392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A Simple Example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30500" y="2514600"/>
            <a:ext cx="5727700" cy="650875"/>
            <a:chOff x="1720" y="1640"/>
            <a:chExt cx="3608" cy="410"/>
          </a:xfrm>
        </p:grpSpPr>
        <p:sp>
          <p:nvSpPr>
            <p:cNvPr id="38935" name="Text Box 9"/>
            <p:cNvSpPr txBox="1">
              <a:spLocks noChangeArrowheads="1"/>
            </p:cNvSpPr>
            <p:nvPr/>
          </p:nvSpPr>
          <p:spPr bwMode="auto">
            <a:xfrm>
              <a:off x="2359" y="1640"/>
              <a:ext cx="2969" cy="4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/>
              <a:r>
                <a:rPr lang="en-US" altLang="fr-FR">
                  <a:solidFill>
                    <a:srgbClr val="FF0000"/>
                  </a:solidFill>
                  <a:latin typeface="Georgia" panose="02040502050405020303" pitchFamily="18" charset="0"/>
                </a:rPr>
                <a:t>We ignore the costs of calling the function, thus the total is </a:t>
              </a:r>
              <a:r>
                <a:rPr lang="en-US" altLang="fr-FR" u="sng">
                  <a:solidFill>
                    <a:srgbClr val="FF0000"/>
                  </a:solidFill>
                  <a:latin typeface="Georgia" panose="02040502050405020303" pitchFamily="18" charset="0"/>
                </a:rPr>
                <a:t>1</a:t>
              </a:r>
              <a:r>
                <a:rPr lang="en-US" altLang="fr-FR">
                  <a:solidFill>
                    <a:srgbClr val="FF0000"/>
                  </a:solidFill>
                  <a:latin typeface="Georgia" panose="02040502050405020303" pitchFamily="18" charset="0"/>
                </a:rPr>
                <a:t> to initialize </a:t>
              </a:r>
              <a:r>
                <a:rPr lang="en-US" altLang="fr-FR" i="1">
                  <a:solidFill>
                    <a:srgbClr val="FF0000"/>
                  </a:solidFill>
                  <a:latin typeface="Georgia" panose="02040502050405020303" pitchFamily="18" charset="0"/>
                </a:rPr>
                <a:t>N</a:t>
              </a:r>
              <a:r>
                <a:rPr lang="en-US" altLang="fr-FR">
                  <a:solidFill>
                    <a:srgbClr val="FF0000"/>
                  </a:solidFill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38936" name="Line 12"/>
            <p:cNvSpPr>
              <a:spLocks noChangeShapeType="1"/>
            </p:cNvSpPr>
            <p:nvPr/>
          </p:nvSpPr>
          <p:spPr bwMode="auto">
            <a:xfrm flipH="1">
              <a:off x="1720" y="1856"/>
              <a:ext cx="6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200400" y="3390900"/>
            <a:ext cx="4876800" cy="376238"/>
            <a:chOff x="1488" y="2267"/>
            <a:chExt cx="3608" cy="237"/>
          </a:xfrm>
        </p:grpSpPr>
        <p:sp>
          <p:nvSpPr>
            <p:cNvPr id="38933" name="Text Box 17"/>
            <p:cNvSpPr txBox="1">
              <a:spLocks noChangeArrowheads="1"/>
            </p:cNvSpPr>
            <p:nvPr/>
          </p:nvSpPr>
          <p:spPr bwMode="auto">
            <a:xfrm>
              <a:off x="2127" y="2267"/>
              <a:ext cx="2969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/>
              <a:r>
                <a:rPr lang="en-US" altLang="fr-FR">
                  <a:solidFill>
                    <a:srgbClr val="FF0000"/>
                  </a:solidFill>
                  <a:latin typeface="Georgia" panose="02040502050405020303" pitchFamily="18" charset="0"/>
                </a:rPr>
                <a:t>The declarations count for no time.</a:t>
              </a:r>
            </a:p>
          </p:txBody>
        </p:sp>
        <p:sp>
          <p:nvSpPr>
            <p:cNvPr id="38934" name="Line 18"/>
            <p:cNvSpPr>
              <a:spLocks noChangeShapeType="1"/>
            </p:cNvSpPr>
            <p:nvPr/>
          </p:nvSpPr>
          <p:spPr bwMode="auto">
            <a:xfrm flipH="1">
              <a:off x="1488" y="2398"/>
              <a:ext cx="6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3124200" y="3810000"/>
            <a:ext cx="4876800" cy="376238"/>
            <a:chOff x="1488" y="2267"/>
            <a:chExt cx="3608" cy="237"/>
          </a:xfrm>
        </p:grpSpPr>
        <p:sp>
          <p:nvSpPr>
            <p:cNvPr id="38931" name="Text Box 21"/>
            <p:cNvSpPr txBox="1">
              <a:spLocks noChangeArrowheads="1"/>
            </p:cNvSpPr>
            <p:nvPr/>
          </p:nvSpPr>
          <p:spPr bwMode="auto">
            <a:xfrm>
              <a:off x="2127" y="2267"/>
              <a:ext cx="2969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/>
              <a:r>
                <a:rPr lang="en-US" altLang="fr-FR">
                  <a:solidFill>
                    <a:srgbClr val="FF0000"/>
                  </a:solidFill>
                  <a:latin typeface="Georgia" panose="02040502050405020303" pitchFamily="18" charset="0"/>
                </a:rPr>
                <a:t>The cost is 1 to initialize Sum.</a:t>
              </a:r>
            </a:p>
          </p:txBody>
        </p:sp>
        <p:sp>
          <p:nvSpPr>
            <p:cNvPr id="38932" name="Line 22"/>
            <p:cNvSpPr>
              <a:spLocks noChangeShapeType="1"/>
            </p:cNvSpPr>
            <p:nvPr/>
          </p:nvSpPr>
          <p:spPr bwMode="auto">
            <a:xfrm flipH="1">
              <a:off x="1488" y="2398"/>
              <a:ext cx="6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3962400" y="4241800"/>
            <a:ext cx="5029200" cy="925513"/>
            <a:chOff x="2448" y="2688"/>
            <a:chExt cx="3168" cy="583"/>
          </a:xfrm>
        </p:grpSpPr>
        <p:sp>
          <p:nvSpPr>
            <p:cNvPr id="38929" name="Text Box 24"/>
            <p:cNvSpPr txBox="1">
              <a:spLocks noChangeArrowheads="1"/>
            </p:cNvSpPr>
            <p:nvPr/>
          </p:nvSpPr>
          <p:spPr bwMode="auto">
            <a:xfrm>
              <a:off x="2743" y="2688"/>
              <a:ext cx="2873" cy="5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/>
              <a:r>
                <a:rPr lang="en-US" altLang="fr-FR">
                  <a:solidFill>
                    <a:srgbClr val="FF0000"/>
                  </a:solidFill>
                  <a:latin typeface="Georgia" panose="02040502050405020303" pitchFamily="18" charset="0"/>
                </a:rPr>
                <a:t>The total cost for this line is 1 to initialize i, N+1 for all the tests (i &lt;= N), and N for all the increments, which is 2N + 2.</a:t>
              </a:r>
            </a:p>
          </p:txBody>
        </p:sp>
        <p:sp>
          <p:nvSpPr>
            <p:cNvPr id="38930" name="Line 26"/>
            <p:cNvSpPr>
              <a:spLocks noChangeShapeType="1"/>
            </p:cNvSpPr>
            <p:nvPr/>
          </p:nvSpPr>
          <p:spPr bwMode="auto">
            <a:xfrm flipH="1">
              <a:off x="2448" y="27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3124200" y="4876800"/>
            <a:ext cx="5943600" cy="993775"/>
            <a:chOff x="1968" y="3072"/>
            <a:chExt cx="3744" cy="626"/>
          </a:xfrm>
        </p:grpSpPr>
        <p:sp>
          <p:nvSpPr>
            <p:cNvPr id="38927" name="Text Box 29"/>
            <p:cNvSpPr txBox="1">
              <a:spLocks noChangeArrowheads="1"/>
            </p:cNvSpPr>
            <p:nvPr/>
          </p:nvSpPr>
          <p:spPr bwMode="auto">
            <a:xfrm>
              <a:off x="2400" y="3288"/>
              <a:ext cx="3312" cy="4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/>
              <a:r>
                <a:rPr lang="en-US" altLang="fr-FR">
                  <a:solidFill>
                    <a:srgbClr val="FF0000"/>
                  </a:solidFill>
                  <a:latin typeface="Georgia" panose="02040502050405020303" pitchFamily="18" charset="0"/>
                </a:rPr>
                <a:t>This line counts for four units per time executed and is executed N times, for a total of 4N units.</a:t>
              </a:r>
            </a:p>
          </p:txBody>
        </p:sp>
        <p:sp>
          <p:nvSpPr>
            <p:cNvPr id="38928" name="Line 30"/>
            <p:cNvSpPr>
              <a:spLocks noChangeShapeType="1"/>
            </p:cNvSpPr>
            <p:nvPr/>
          </p:nvSpPr>
          <p:spPr bwMode="auto">
            <a:xfrm flipH="1" flipV="1">
              <a:off x="1968" y="3072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1331913" y="5281613"/>
            <a:ext cx="2298700" cy="846137"/>
            <a:chOff x="1080" y="3312"/>
            <a:chExt cx="1272" cy="702"/>
          </a:xfrm>
        </p:grpSpPr>
        <p:sp>
          <p:nvSpPr>
            <p:cNvPr id="38925" name="Text Box 33"/>
            <p:cNvSpPr txBox="1">
              <a:spLocks noChangeArrowheads="1"/>
            </p:cNvSpPr>
            <p:nvPr/>
          </p:nvSpPr>
          <p:spPr bwMode="auto">
            <a:xfrm>
              <a:off x="1080" y="3478"/>
              <a:ext cx="1272" cy="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/>
              <a:r>
                <a:rPr lang="en-US" altLang="fr-FR">
                  <a:solidFill>
                    <a:srgbClr val="FF0000"/>
                  </a:solidFill>
                  <a:latin typeface="Georgia" panose="02040502050405020303" pitchFamily="18" charset="0"/>
                </a:rPr>
                <a:t>We ignore the costs of returning.</a:t>
              </a:r>
            </a:p>
          </p:txBody>
        </p:sp>
        <p:sp>
          <p:nvSpPr>
            <p:cNvPr id="38926" name="Line 34"/>
            <p:cNvSpPr>
              <a:spLocks noChangeShapeType="1"/>
            </p:cNvSpPr>
            <p:nvPr/>
          </p:nvSpPr>
          <p:spPr bwMode="auto">
            <a:xfrm flipH="1" flipV="1">
              <a:off x="1680" y="3312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Ways to estimate the running time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Rule 1 the for loop: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The running time of a for loop is at most [the running time of the statements inside the for loop (including tests)] x [the number of iterations].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For example:</a:t>
            </a:r>
            <a:endParaRPr lang="en-US" sz="2800" dirty="0">
              <a:solidFill>
                <a:srgbClr val="00FF00"/>
              </a:solidFill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for ( i = 1; i &lt;= n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; i++ )</a:t>
            </a:r>
          </a:p>
          <a:p>
            <a:pPr lvl="2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800" dirty="0">
                <a:latin typeface="+mj-lt"/>
              </a:rPr>
              <a:t>k++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Total cost is 1 +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 + 1 +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+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 * 1 = 3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+ 2, which has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B11EA1-43DB-4B55-B966-277609D7ED5C}" type="slidenum">
              <a:rPr lang="ar-SA" altLang="fr-FR">
                <a:solidFill>
                  <a:srgbClr val="898989"/>
                </a:solidFill>
              </a:rPr>
              <a:pPr eaLnBrk="1" hangingPunct="1"/>
              <a:t>30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32771" name="Rectangle 6"/>
          <p:cNvSpPr>
            <a:spLocks noChangeArrowheads="1"/>
          </p:cNvSpPr>
          <p:nvPr/>
        </p:nvSpPr>
        <p:spPr bwMode="auto">
          <a:xfrm>
            <a:off x="152400" y="76200"/>
            <a:ext cx="88392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General Rules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Rule 2 Nested for loops: </a:t>
            </a:r>
            <a:r>
              <a:rPr lang="en-US" sz="2800" dirty="0">
                <a:latin typeface="+mj-lt"/>
              </a:rPr>
              <a:t>The total running time of a statement inside a group of nested loops is the running time of the statement multiplied by the product of the sizes of all the for loops.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For example:</a:t>
            </a:r>
            <a:endParaRPr lang="en-US" sz="2800" b="1" dirty="0">
              <a:solidFill>
                <a:srgbClr val="00FF00"/>
              </a:solidFill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for ( i = 0; i &lt; n; i++ )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	for ( j = 0; j &lt; n; j++ )</a:t>
            </a:r>
          </a:p>
          <a:p>
            <a:pPr lvl="2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800" dirty="0">
                <a:latin typeface="+mj-lt"/>
              </a:rPr>
              <a:t>	k++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Total cost is 1 + (</a:t>
            </a:r>
            <a:r>
              <a:rPr lang="en-US" sz="2800" i="1" dirty="0">
                <a:latin typeface="+mj-lt"/>
              </a:rPr>
              <a:t>N+1) </a:t>
            </a:r>
            <a:r>
              <a:rPr lang="en-US" sz="2800" dirty="0">
                <a:latin typeface="+mj-lt"/>
              </a:rPr>
              <a:t>+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+ </a:t>
            </a:r>
            <a:r>
              <a:rPr lang="en-US" sz="2800" i="1" dirty="0">
                <a:latin typeface="+mj-lt"/>
              </a:rPr>
              <a:t>N </a:t>
            </a:r>
            <a:r>
              <a:rPr lang="en-US" sz="2800" dirty="0">
                <a:latin typeface="+mj-lt"/>
              </a:rPr>
              <a:t>* (1 + (</a:t>
            </a:r>
            <a:r>
              <a:rPr lang="en-US" sz="2800" i="1" dirty="0">
                <a:latin typeface="+mj-lt"/>
              </a:rPr>
              <a:t>N+1) </a:t>
            </a:r>
            <a:r>
              <a:rPr lang="en-US" sz="2800" dirty="0">
                <a:latin typeface="+mj-lt"/>
              </a:rPr>
              <a:t>+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+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* 1) = 3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baseline="30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 + 4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+ 2, which has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baseline="30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).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690C625-5550-4575-A1D4-85AD38F297F6}" type="slidenum">
              <a:rPr lang="ar-SA" altLang="fr-FR">
                <a:solidFill>
                  <a:srgbClr val="898989"/>
                </a:solidFill>
              </a:rPr>
              <a:pPr eaLnBrk="1" hangingPunct="1"/>
              <a:t>31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152400" y="76200"/>
            <a:ext cx="88392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General Rules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787400"/>
            <a:ext cx="8839200" cy="6019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300" dirty="0">
                <a:latin typeface="+mj-lt"/>
              </a:rPr>
              <a:t>The following program fragment is </a:t>
            </a:r>
            <a:r>
              <a:rPr lang="en-US" sz="2300" i="1" dirty="0">
                <a:latin typeface="+mj-lt"/>
              </a:rPr>
              <a:t>O</a:t>
            </a:r>
            <a:r>
              <a:rPr lang="en-US" sz="2300" dirty="0">
                <a:latin typeface="+mj-lt"/>
              </a:rPr>
              <a:t>(</a:t>
            </a:r>
            <a:r>
              <a:rPr lang="en-US" sz="2300" i="1" dirty="0">
                <a:latin typeface="+mj-lt"/>
              </a:rPr>
              <a:t>N</a:t>
            </a:r>
            <a:r>
              <a:rPr lang="en-US" sz="2300" baseline="30000" dirty="0">
                <a:latin typeface="+mj-lt"/>
              </a:rPr>
              <a:t>2</a:t>
            </a:r>
            <a:r>
              <a:rPr lang="en-US" sz="2300" dirty="0">
                <a:latin typeface="+mj-lt"/>
              </a:rPr>
              <a:t>).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300" dirty="0">
                <a:latin typeface="+mj-lt"/>
              </a:rPr>
              <a:t>sum = 0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300" dirty="0">
                <a:latin typeface="+mj-lt"/>
              </a:rPr>
              <a:t>for ( j = 0; j &lt; n; j++ )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300" dirty="0">
                <a:latin typeface="+mj-lt"/>
              </a:rPr>
              <a:t>	for ( k = 0; k &lt; j; k++ )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300" dirty="0">
                <a:latin typeface="+mj-lt"/>
              </a:rPr>
              <a:t>		sum++;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300" dirty="0"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3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300" dirty="0">
                <a:latin typeface="+mj-lt"/>
              </a:rPr>
              <a:t>The following program fragment is </a:t>
            </a:r>
            <a:r>
              <a:rPr lang="en-US" sz="2300" i="1" dirty="0">
                <a:latin typeface="+mj-lt"/>
              </a:rPr>
              <a:t>O</a:t>
            </a:r>
            <a:r>
              <a:rPr lang="en-US" sz="2300" dirty="0">
                <a:latin typeface="+mj-lt"/>
              </a:rPr>
              <a:t>(</a:t>
            </a:r>
            <a:r>
              <a:rPr lang="en-US" sz="2300" i="1" dirty="0">
                <a:latin typeface="+mj-lt"/>
              </a:rPr>
              <a:t>N </a:t>
            </a:r>
            <a:r>
              <a:rPr lang="en-US" sz="2300" baseline="30000" dirty="0">
                <a:latin typeface="+mj-lt"/>
              </a:rPr>
              <a:t>3</a:t>
            </a:r>
            <a:r>
              <a:rPr lang="en-US" sz="2300" dirty="0">
                <a:latin typeface="+mj-lt"/>
              </a:rPr>
              <a:t>).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300" dirty="0">
                <a:latin typeface="+mj-lt"/>
              </a:rPr>
              <a:t>sum = 0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300" dirty="0">
                <a:latin typeface="+mj-lt"/>
              </a:rPr>
              <a:t>for ( j = 0; j &lt; n; j++ )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300" dirty="0">
                <a:latin typeface="+mj-lt"/>
              </a:rPr>
              <a:t>	for ( k = 0; k &lt; n</a:t>
            </a:r>
            <a:r>
              <a:rPr lang="en-US" sz="2300" i="1" dirty="0">
                <a:latin typeface="+mj-lt"/>
              </a:rPr>
              <a:t> </a:t>
            </a:r>
            <a:r>
              <a:rPr lang="en-US" sz="2300" dirty="0">
                <a:latin typeface="+mj-lt"/>
              </a:rPr>
              <a:t>* n; k++ )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300" dirty="0">
                <a:latin typeface="+mj-lt"/>
              </a:rPr>
              <a:t>		sum++;</a:t>
            </a:r>
          </a:p>
        </p:txBody>
      </p:sp>
      <p:graphicFrame>
        <p:nvGraphicFramePr>
          <p:cNvPr id="41987" name="Object 1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49338" y="5762625"/>
          <a:ext cx="38258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Équation" r:id="rId4" imgW="1762174" imgH="428655" progId="Equation.3">
                  <p:embed/>
                </p:oleObj>
              </mc:Choice>
              <mc:Fallback>
                <p:oleObj name="Équation" r:id="rId4" imgW="1762174" imgH="428655" progId="Equation.3">
                  <p:embed/>
                  <p:pic>
                    <p:nvPicPr>
                      <p:cNvPr id="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5762625"/>
                        <a:ext cx="382587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36D3149-38A6-422B-A970-5EA354F00AA4}" type="slidenum">
              <a:rPr lang="ar-SA" altLang="fr-FR">
                <a:solidFill>
                  <a:srgbClr val="898989"/>
                </a:solidFill>
              </a:rPr>
              <a:pPr eaLnBrk="1" hangingPunct="1"/>
              <a:t>32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152400" y="76200"/>
            <a:ext cx="88392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General Rules</a:t>
            </a:r>
          </a:p>
        </p:txBody>
      </p:sp>
      <p:graphicFrame>
        <p:nvGraphicFramePr>
          <p:cNvPr id="41990" name="Object 11"/>
          <p:cNvGraphicFramePr>
            <a:graphicFrameLocks noChangeAspect="1"/>
          </p:cNvGraphicFramePr>
          <p:nvPr/>
        </p:nvGraphicFramePr>
        <p:xfrm>
          <a:off x="715963" y="2773363"/>
          <a:ext cx="420846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Équation" r:id="rId6" imgW="1971648" imgH="419207" progId="Equation.3">
                  <p:embed/>
                </p:oleObj>
              </mc:Choice>
              <mc:Fallback>
                <p:oleObj name="Équation" r:id="rId6" imgW="1971648" imgH="41920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2773363"/>
                        <a:ext cx="4208462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763000" cy="3733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Rule 3 Consecutive Statements:</a:t>
            </a:r>
            <a:r>
              <a:rPr lang="en-US" sz="2800" b="1" dirty="0">
                <a:solidFill>
                  <a:srgbClr val="00FF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These just add.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For example,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200" dirty="0"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for (i = 0; i &lt; n; i++)</a:t>
            </a:r>
          </a:p>
          <a:p>
            <a:pPr lvl="2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800" dirty="0">
                <a:latin typeface="+mj-lt"/>
              </a:rPr>
              <a:t>a[ i ] = 0;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for (i = 0; i &lt; n; i++)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	for (j = 0; j &lt; n; j++)</a:t>
            </a:r>
          </a:p>
          <a:p>
            <a:pPr lvl="2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800" dirty="0">
                <a:latin typeface="+mj-lt"/>
              </a:rPr>
              <a:t>	a[ i ] += a[ j ] + i + j;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C4E8BA7-1A8A-4FC1-8427-8167118E80CE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33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5843" name="Rectangle 8"/>
          <p:cNvSpPr>
            <a:spLocks noChangeArrowheads="1"/>
          </p:cNvSpPr>
          <p:nvPr/>
        </p:nvSpPr>
        <p:spPr bwMode="auto">
          <a:xfrm>
            <a:off x="152400" y="76200"/>
            <a:ext cx="88392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General Rules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28600" y="5334000"/>
            <a:ext cx="876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r>
              <a:rPr lang="en-US" sz="2800" b="1" kern="0" dirty="0">
                <a:solidFill>
                  <a:srgbClr val="FF0000"/>
                </a:solidFill>
                <a:latin typeface="+mj-lt"/>
                <a:cs typeface="+mn-cs"/>
              </a:rPr>
              <a:t>The program fragment, which has </a:t>
            </a:r>
            <a:r>
              <a:rPr lang="en-US" sz="2800" b="1" i="1" kern="0" dirty="0">
                <a:solidFill>
                  <a:srgbClr val="FF0000"/>
                </a:solidFill>
                <a:latin typeface="+mj-lt"/>
                <a:cs typeface="+mn-cs"/>
              </a:rPr>
              <a:t>O</a:t>
            </a:r>
            <a:r>
              <a:rPr lang="en-US" sz="2800" b="1" kern="0" dirty="0">
                <a:solidFill>
                  <a:srgbClr val="FF0000"/>
                </a:solidFill>
                <a:latin typeface="+mj-lt"/>
                <a:cs typeface="+mn-cs"/>
              </a:rPr>
              <a:t>(</a:t>
            </a:r>
            <a:r>
              <a:rPr lang="en-US" sz="2800" b="1" i="1" kern="0" dirty="0">
                <a:solidFill>
                  <a:srgbClr val="FF0000"/>
                </a:solidFill>
                <a:latin typeface="+mj-lt"/>
                <a:cs typeface="+mn-cs"/>
              </a:rPr>
              <a:t>N</a:t>
            </a:r>
            <a:r>
              <a:rPr lang="en-US" sz="2800" b="1" kern="0" dirty="0">
                <a:solidFill>
                  <a:srgbClr val="FF0000"/>
                </a:solidFill>
                <a:latin typeface="+mj-lt"/>
                <a:cs typeface="+mn-cs"/>
              </a:rPr>
              <a:t>) work followed by </a:t>
            </a:r>
            <a:r>
              <a:rPr lang="en-US" sz="2800" b="1" i="1" kern="0" dirty="0">
                <a:solidFill>
                  <a:srgbClr val="FF0000"/>
                </a:solidFill>
                <a:latin typeface="+mj-lt"/>
                <a:cs typeface="+mn-cs"/>
              </a:rPr>
              <a:t>O</a:t>
            </a:r>
            <a:r>
              <a:rPr lang="en-US" sz="2800" b="1" kern="0" dirty="0">
                <a:solidFill>
                  <a:srgbClr val="FF0000"/>
                </a:solidFill>
                <a:latin typeface="+mj-lt"/>
                <a:cs typeface="+mn-cs"/>
              </a:rPr>
              <a:t>(</a:t>
            </a:r>
            <a:r>
              <a:rPr lang="en-US" sz="2800" b="1" i="1" kern="0" dirty="0">
                <a:solidFill>
                  <a:srgbClr val="FF0000"/>
                </a:solidFill>
                <a:latin typeface="+mj-lt"/>
                <a:cs typeface="+mn-cs"/>
              </a:rPr>
              <a:t>N</a:t>
            </a:r>
            <a:r>
              <a:rPr lang="en-US" sz="2800" b="1" kern="0" baseline="30000" dirty="0">
                <a:solidFill>
                  <a:srgbClr val="FF0000"/>
                </a:solidFill>
                <a:latin typeface="+mj-lt"/>
                <a:cs typeface="+mn-cs"/>
              </a:rPr>
              <a:t>2</a:t>
            </a:r>
            <a:r>
              <a:rPr lang="en-US" sz="2800" b="1" kern="0" dirty="0">
                <a:solidFill>
                  <a:srgbClr val="FF0000"/>
                </a:solidFill>
                <a:latin typeface="+mj-lt"/>
                <a:cs typeface="+mn-cs"/>
              </a:rPr>
              <a:t>) work, is also </a:t>
            </a:r>
            <a:r>
              <a:rPr lang="en-US" sz="2800" b="1" i="1" kern="0" dirty="0">
                <a:solidFill>
                  <a:srgbClr val="FF0000"/>
                </a:solidFill>
                <a:latin typeface="+mj-lt"/>
                <a:cs typeface="+mn-cs"/>
              </a:rPr>
              <a:t>O</a:t>
            </a:r>
            <a:r>
              <a:rPr lang="en-US" sz="2800" b="1" kern="0" dirty="0">
                <a:solidFill>
                  <a:srgbClr val="FF0000"/>
                </a:solidFill>
                <a:latin typeface="+mj-lt"/>
                <a:cs typeface="+mn-cs"/>
              </a:rPr>
              <a:t>(</a:t>
            </a:r>
            <a:r>
              <a:rPr lang="en-US" sz="2800" b="1" i="1" kern="0" dirty="0">
                <a:solidFill>
                  <a:srgbClr val="FF0000"/>
                </a:solidFill>
                <a:latin typeface="+mj-lt"/>
                <a:cs typeface="+mn-cs"/>
              </a:rPr>
              <a:t>N</a:t>
            </a:r>
            <a:r>
              <a:rPr lang="en-US" sz="2800" b="1" kern="0" baseline="30000" dirty="0">
                <a:solidFill>
                  <a:srgbClr val="FF0000"/>
                </a:solidFill>
                <a:latin typeface="+mj-lt"/>
                <a:cs typeface="+mn-cs"/>
              </a:rPr>
              <a:t>2</a:t>
            </a:r>
            <a:r>
              <a:rPr lang="en-US" sz="2800" b="1" kern="0" dirty="0">
                <a:solidFill>
                  <a:srgbClr val="FF0000"/>
                </a:solidFill>
                <a:latin typeface="+mj-lt"/>
                <a:cs typeface="+mn-cs"/>
              </a:rPr>
              <a:t>).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CS 2321: D.S.A (-Algorithm Analysis-)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89000"/>
            <a:ext cx="8763000" cy="5740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Rule 4 Condition Statement: </a:t>
            </a:r>
            <a:r>
              <a:rPr lang="en-US" sz="2800" dirty="0">
                <a:latin typeface="+mj-lt"/>
              </a:rPr>
              <a:t>For the</a:t>
            </a:r>
            <a:r>
              <a:rPr lang="en-US" sz="2800" b="1" dirty="0">
                <a:solidFill>
                  <a:srgbClr val="00FF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fragment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rgbClr val="00FF00"/>
                </a:solidFill>
                <a:latin typeface="+mj-lt"/>
              </a:rPr>
              <a:t>	</a:t>
            </a:r>
            <a:r>
              <a:rPr lang="en-US" sz="2800" dirty="0">
                <a:latin typeface="+mj-lt"/>
              </a:rPr>
              <a:t>if ( condition )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		S1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	else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		S2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6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	the running time of a if/else statement is never more the running time of the test plus the larger of the running times of S1 and S2.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0219AF-D02B-4008-BDA7-A1D5A93C5656}" type="slidenum">
              <a:rPr lang="ar-SA" altLang="fr-FR">
                <a:solidFill>
                  <a:srgbClr val="898989"/>
                </a:solidFill>
              </a:rPr>
              <a:pPr eaLnBrk="1" hangingPunct="1"/>
              <a:t>34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36867" name="Rectangle 7"/>
          <p:cNvSpPr>
            <a:spLocks noChangeArrowheads="1"/>
          </p:cNvSpPr>
          <p:nvPr/>
        </p:nvSpPr>
        <p:spPr bwMode="auto">
          <a:xfrm>
            <a:off x="152400" y="76200"/>
            <a:ext cx="88392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General Rules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mment 4"/>
          <p:cNvSpPr>
            <a:spLocks noChangeArrowheads="1"/>
          </p:cNvSpPr>
          <p:nvPr/>
        </p:nvSpPr>
        <p:spPr bwMode="auto">
          <a:xfrm>
            <a:off x="4876800" y="5867400"/>
            <a:ext cx="388620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Running Time: 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O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(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800" baseline="30000">
                <a:solidFill>
                  <a:srgbClr val="FF0000"/>
                </a:solidFill>
                <a:latin typeface="Georgia" panose="02040502050405020303" pitchFamily="18" charset="0"/>
              </a:rPr>
              <a:t>3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)</a:t>
            </a:r>
            <a:endParaRPr lang="en-US" altLang="ar-SA" sz="160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152400" y="850900"/>
            <a:ext cx="8839200" cy="596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Algorithm 1: </a:t>
            </a: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Exhaustively tries all possibilities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sz="1000" dirty="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int maxSubSum1( const vector&lt;int&gt; &amp; a )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{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int maxSum = 0;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for( int i = 0; i &lt; a.size( ); i++ )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for( int j = i; j &lt; a.size( ); j++ )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{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	int thisSum = 0;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	for( int k = i; k &lt;= j; k++ )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		thisSum += a[ k ];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	if( thisSum &gt; maxSum )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		maxSum = thisSum;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}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return maxSum;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} </a:t>
            </a:r>
          </a:p>
        </p:txBody>
      </p:sp>
      <p:sp>
        <p:nvSpPr>
          <p:cNvPr id="45060" name="Rectangle 7"/>
          <p:cNvSpPr>
            <a:spLocks noChangeArrowheads="1"/>
          </p:cNvSpPr>
          <p:nvPr/>
        </p:nvSpPr>
        <p:spPr bwMode="auto">
          <a:xfrm>
            <a:off x="457200" y="2286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40470C7-EB18-4EF8-B4B7-666ABA03B2F7}" type="slidenum">
              <a:rPr lang="ar-SA" altLang="fr-FR">
                <a:solidFill>
                  <a:srgbClr val="898989"/>
                </a:solidFill>
              </a:rPr>
              <a:pPr eaLnBrk="1" hangingPunct="1"/>
              <a:t>35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For algorithm 1, the running time is 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3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Proof</a:t>
            </a:r>
          </a:p>
        </p:txBody>
      </p:sp>
      <p:graphicFrame>
        <p:nvGraphicFramePr>
          <p:cNvPr id="53251" name="Object 1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524500" y="2493963"/>
          <a:ext cx="2286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4" imgW="2238350" imgH="352533" progId="Equation.3">
                  <p:embed/>
                </p:oleObj>
              </mc:Choice>
              <mc:Fallback>
                <p:oleObj name="Equation" r:id="rId4" imgW="2238350" imgH="352533" progId="Equation.3">
                  <p:embed/>
                  <p:pic>
                    <p:nvPicPr>
                      <p:cNvPr id="0" name="Object 1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2493963"/>
                        <a:ext cx="22860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10001176"/>
              </p:ext>
            </p:extLst>
          </p:nvPr>
        </p:nvGraphicFramePr>
        <p:xfrm>
          <a:off x="407988" y="1785937"/>
          <a:ext cx="7870825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Équation" r:id="rId6" imgW="4200550" imgH="2657496" progId="Equation.3">
                  <p:embed/>
                </p:oleObj>
              </mc:Choice>
              <mc:Fallback>
                <p:oleObj name="Équation" r:id="rId6" imgW="4200550" imgH="2657496" progId="Equation.3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1785937"/>
                        <a:ext cx="7870825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E99B10F-3E3F-4F00-992E-7B972E5813A2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36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3254" name="Object 4"/>
          <p:cNvGraphicFramePr>
            <a:graphicFrameLocks noChangeAspect="1"/>
          </p:cNvGraphicFramePr>
          <p:nvPr/>
        </p:nvGraphicFramePr>
        <p:xfrm>
          <a:off x="4516438" y="3321050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8" imgW="114151" imgH="215619" progId="Equation.3">
                  <p:embed/>
                </p:oleObj>
              </mc:Choice>
              <mc:Fallback>
                <p:oleObj name="Equation" r:id="rId8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8" y="3321050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457200" y="2286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86" name="Text Box 13"/>
              <p:cNvSpPr txBox="1">
                <a:spLocks noChangeArrowheads="1"/>
              </p:cNvSpPr>
              <p:nvPr/>
            </p:nvSpPr>
            <p:spPr bwMode="auto">
              <a:xfrm>
                <a:off x="5486400" y="1524000"/>
                <a:ext cx="3352800" cy="1615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l" rtl="0" eaLnBrk="1" hangingPunct="1">
                  <a:spcBef>
                    <a:spcPct val="50000"/>
                  </a:spcBef>
                  <a:defRPr/>
                </a:pPr>
                <a:r>
                  <a:rPr lang="en-US" altLang="ar-SA" dirty="0">
                    <a:latin typeface="+mj-lt"/>
                    <a:cs typeface="Times New Roman" pitchFamily="18" charset="0"/>
                  </a:rPr>
                  <a:t>Let </a:t>
                </a:r>
                <a:r>
                  <a:rPr lang="en-US" altLang="ar-SA" i="1" dirty="0">
                    <a:latin typeface="+mj-lt"/>
                    <a:cs typeface="Times New Roman" pitchFamily="18" charset="0"/>
                  </a:rPr>
                  <a:t>l</a:t>
                </a:r>
                <a:r>
                  <a:rPr lang="en-US" altLang="ar-SA" dirty="0">
                    <a:latin typeface="+mj-lt"/>
                    <a:cs typeface="Times New Roman" pitchFamily="18" charset="0"/>
                  </a:rPr>
                  <a:t> = </a:t>
                </a:r>
                <a:r>
                  <a:rPr lang="en-US" altLang="ar-SA" i="1" dirty="0">
                    <a:latin typeface="+mj-lt"/>
                    <a:cs typeface="Times New Roman" pitchFamily="18" charset="0"/>
                  </a:rPr>
                  <a:t>j</a:t>
                </a:r>
                <a:r>
                  <a:rPr lang="en-US" altLang="ar-SA" dirty="0">
                    <a:latin typeface="+mj-lt"/>
                    <a:cs typeface="Times New Roman" pitchFamily="18" charset="0"/>
                  </a:rPr>
                  <a:t> – </a:t>
                </a:r>
                <a:r>
                  <a:rPr lang="en-US" altLang="ar-SA" i="1" dirty="0" err="1">
                    <a:latin typeface="+mj-lt"/>
                    <a:cs typeface="Times New Roman" pitchFamily="18" charset="0"/>
                  </a:rPr>
                  <a:t>i</a:t>
                </a:r>
                <a:r>
                  <a:rPr lang="en-US" altLang="ar-SA" dirty="0">
                    <a:latin typeface="+mj-lt"/>
                    <a:cs typeface="Times New Roman" pitchFamily="18" charset="0"/>
                  </a:rPr>
                  <a:t> + 1, then</a:t>
                </a:r>
              </a:p>
              <a:p>
                <a:pPr algn="l" rtl="0" eaLnBrk="1" hangingPunct="1">
                  <a:spcBef>
                    <a:spcPct val="50000"/>
                  </a:spcBef>
                  <a:defRPr/>
                </a:pPr>
                <a:r>
                  <a:rPr lang="en-US" altLang="ar-SA" dirty="0">
                    <a:latin typeface="+mj-lt"/>
                    <a:cs typeface="Times New Roman" pitchFamily="18" charset="0"/>
                  </a:rPr>
                  <a:t>At  </a:t>
                </a:r>
                <a:r>
                  <a:rPr lang="en-US" altLang="ar-SA" i="1" dirty="0">
                    <a:latin typeface="+mj-lt"/>
                    <a:cs typeface="Times New Roman" pitchFamily="18" charset="0"/>
                  </a:rPr>
                  <a:t>j</a:t>
                </a:r>
                <a:r>
                  <a:rPr lang="en-US" altLang="ar-SA" dirty="0">
                    <a:latin typeface="+mj-lt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s-IS" altLang="ar-SA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ar-SA" i="1" dirty="0" err="1">
                    <a:latin typeface="+mj-lt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then </a:t>
                </a:r>
                <a:r>
                  <a:rPr lang="en-US" altLang="ar-SA" i="1" dirty="0">
                    <a:latin typeface="+mj-lt"/>
                    <a:cs typeface="Times New Roman" pitchFamily="18" charset="0"/>
                    <a:sym typeface="Symbol" pitchFamily="18" charset="2"/>
                  </a:rPr>
                  <a:t>l</a:t>
                </a:r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is-IS" altLang="ar-SA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1</a:t>
                </a:r>
              </a:p>
              <a:p>
                <a:pPr algn="l" rtl="0" eaLnBrk="1" hangingPunct="1">
                  <a:spcBef>
                    <a:spcPct val="50000"/>
                  </a:spcBef>
                  <a:defRPr/>
                </a:pPr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And at </a:t>
                </a:r>
                <a:r>
                  <a:rPr lang="en-US" altLang="ar-SA" i="1" dirty="0">
                    <a:latin typeface="+mj-lt"/>
                    <a:cs typeface="Times New Roman" pitchFamily="18" charset="0"/>
                    <a:sym typeface="Symbol" pitchFamily="18" charset="2"/>
                  </a:rPr>
                  <a:t>j</a:t>
                </a:r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is-IS" altLang="ar-SA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ar-SA" i="1" dirty="0">
                    <a:latin typeface="+mj-lt"/>
                    <a:cs typeface="Times New Roman" pitchFamily="18" charset="0"/>
                    <a:sym typeface="Symbol" pitchFamily="18" charset="2"/>
                  </a:rPr>
                  <a:t>N</a:t>
                </a:r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– 1 then </a:t>
                </a:r>
                <a:r>
                  <a:rPr lang="en-US" altLang="ar-SA" i="1" dirty="0">
                    <a:latin typeface="+mj-lt"/>
                    <a:cs typeface="Times New Roman" pitchFamily="18" charset="0"/>
                    <a:sym typeface="Symbol" pitchFamily="18" charset="2"/>
                  </a:rPr>
                  <a:t>l</a:t>
                </a:r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is-IS" altLang="ar-SA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ar-SA" i="1" dirty="0">
                    <a:latin typeface="+mj-lt"/>
                    <a:cs typeface="Times New Roman" pitchFamily="18" charset="0"/>
                    <a:sym typeface="Symbol" pitchFamily="18" charset="2"/>
                  </a:rPr>
                  <a:t>N</a:t>
                </a:r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 – </a:t>
                </a:r>
                <a:r>
                  <a:rPr lang="en-US" altLang="ar-SA" i="1" dirty="0" err="1">
                    <a:latin typeface="+mj-lt"/>
                    <a:cs typeface="Times New Roman" pitchFamily="18" charset="0"/>
                    <a:sym typeface="Symbol" pitchFamily="18" charset="2"/>
                  </a:rPr>
                  <a:t>i</a:t>
                </a:r>
                <a:endParaRPr lang="en-US" altLang="ar-SA" i="1" dirty="0">
                  <a:latin typeface="+mj-lt"/>
                  <a:cs typeface="Times New Roman" pitchFamily="18" charset="0"/>
                  <a:sym typeface="Symbol" pitchFamily="18" charset="2"/>
                </a:endParaRPr>
              </a:p>
              <a:p>
                <a:pPr algn="l" rtl="0" eaLnBrk="1" hangingPunct="1">
                  <a:spcBef>
                    <a:spcPct val="50000"/>
                  </a:spcBef>
                  <a:defRPr/>
                </a:pPr>
                <a:r>
                  <a:rPr lang="en-US" altLang="ar-SA" dirty="0">
                    <a:latin typeface="+mj-lt"/>
                    <a:cs typeface="Times New Roman" pitchFamily="18" charset="0"/>
                    <a:sym typeface="Symbol" pitchFamily="18" charset="2"/>
                  </a:rPr>
                  <a:t>Then </a:t>
                </a:r>
              </a:p>
            </p:txBody>
          </p:sp>
        </mc:Choice>
        <mc:Fallback xmlns="">
          <p:sp>
            <p:nvSpPr>
              <p:cNvPr id="46086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1524000"/>
                <a:ext cx="3352800" cy="1615827"/>
              </a:xfrm>
              <a:prstGeom prst="rect">
                <a:avLst/>
              </a:prstGeom>
              <a:blipFill rotWithShape="0">
                <a:blip r:embed="rId10"/>
                <a:stretch>
                  <a:fillRect l="-1455" t="-1887" b="-52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CS 2321: D.S.A (-Algorithm Analysis-)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1" name="Rectangle 5"/>
          <p:cNvSpPr>
            <a:spLocks noChangeArrowheads="1"/>
          </p:cNvSpPr>
          <p:nvPr/>
        </p:nvSpPr>
        <p:spPr bwMode="auto">
          <a:xfrm>
            <a:off x="152400" y="787400"/>
            <a:ext cx="87630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Algorithm 2: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 Eliminate the last for loop in algorithm 1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sz="800" dirty="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int maxSubSum2( const vector&lt;int&gt; &amp; a )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{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int maxSum = 0;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for( int i = 0; i &lt; a.size( ); i++ )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{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int thisSum = 0;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for( int j = i; j &lt; a.size( ); j++ )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{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	thisSum += a[ j ];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	if( thisSum &gt; maxSum )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		maxSum = thisSum;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	}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}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	return maxSum; 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	} </a:t>
            </a:r>
          </a:p>
        </p:txBody>
      </p:sp>
      <p:sp>
        <p:nvSpPr>
          <p:cNvPr id="47107" name="Rectangle 7"/>
          <p:cNvSpPr>
            <a:spLocks noChangeArrowheads="1"/>
          </p:cNvSpPr>
          <p:nvPr/>
        </p:nvSpPr>
        <p:spPr bwMode="auto">
          <a:xfrm>
            <a:off x="457200" y="1254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54276" name="Comment 9"/>
          <p:cNvSpPr>
            <a:spLocks noChangeArrowheads="1"/>
          </p:cNvSpPr>
          <p:nvPr/>
        </p:nvSpPr>
        <p:spPr bwMode="auto">
          <a:xfrm>
            <a:off x="4953000" y="5943600"/>
            <a:ext cx="388620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US" altLang="ar-SA" sz="2800" dirty="0">
                <a:solidFill>
                  <a:srgbClr val="FF0000"/>
                </a:solidFill>
                <a:latin typeface="Georgia" panose="02040502050405020303" pitchFamily="18" charset="0"/>
              </a:rPr>
              <a:t>Running Time: O(N</a:t>
            </a:r>
            <a:r>
              <a:rPr lang="en-US" altLang="ar-SA" sz="2800" baseline="30000" dirty="0">
                <a:solidFill>
                  <a:srgbClr val="FF0000"/>
                </a:solidFill>
                <a:latin typeface="Georgia" panose="02040502050405020303" pitchFamily="18" charset="0"/>
              </a:rPr>
              <a:t>2</a:t>
            </a:r>
            <a:r>
              <a:rPr lang="en-US" altLang="ar-SA" sz="2800" dirty="0">
                <a:solidFill>
                  <a:srgbClr val="FF0000"/>
                </a:solidFill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D028CCF-BB1C-401B-B165-13B2DC627DE8}" type="slidenum">
              <a:rPr lang="ar-SA" altLang="fr-FR">
                <a:solidFill>
                  <a:srgbClr val="898989"/>
                </a:solidFill>
              </a:rPr>
              <a:pPr eaLnBrk="1" hangingPunct="1"/>
              <a:t>37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For algorithm 2, the running time is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2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Proof</a:t>
            </a:r>
          </a:p>
        </p:txBody>
      </p:sp>
      <p:graphicFrame>
        <p:nvGraphicFramePr>
          <p:cNvPr id="55299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20713" y="2105025"/>
          <a:ext cx="44735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Équation" r:id="rId4" imgW="2104999" imgH="1686005" progId="Equation.3">
                  <p:embed/>
                </p:oleObj>
              </mc:Choice>
              <mc:Fallback>
                <p:oleObj name="Équation" r:id="rId4" imgW="2104999" imgH="1686005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2105025"/>
                        <a:ext cx="44735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5F4656-EB92-4713-A5A0-59BDD8169270}" type="slidenum">
              <a:rPr lang="ar-SA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38</a:t>
            </a:fld>
            <a:endParaRPr lang="en-US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5301" name="Object 3"/>
          <p:cNvGraphicFramePr>
            <a:graphicFrameLocks noChangeAspect="1"/>
          </p:cNvGraphicFramePr>
          <p:nvPr/>
        </p:nvGraphicFramePr>
        <p:xfrm>
          <a:off x="4516438" y="3321050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6" imgW="114151" imgH="215619" progId="Equation.3">
                  <p:embed/>
                </p:oleObj>
              </mc:Choice>
              <mc:Fallback>
                <p:oleObj name="Equation" r:id="rId6" imgW="114151" imgH="2156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8" y="3321050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CS 2321: D.S.A (-Algorithm Analysis-)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01700"/>
            <a:ext cx="8763000" cy="57277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Algorithm 3:</a:t>
            </a:r>
            <a:r>
              <a:rPr lang="en-US" sz="2800" b="1" dirty="0">
                <a:solidFill>
                  <a:srgbClr val="00FF00"/>
                </a:solidFill>
                <a:latin typeface="+mj-lt"/>
              </a:rPr>
              <a:t>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Divide-and-conquer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split the problem into two roughly equal subproblems, which are then solved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recursively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patch together the two solutions of the subproblems to arrive at a solution for the whole problem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maximum subsequence sum can be: 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1. Entirely in the left half of the input,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2. Entirely in the right half of the input, or</a:t>
            </a:r>
          </a:p>
          <a:p>
            <a:pPr lvl="1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3. It crosses the middle and is in both halves</a:t>
            </a:r>
            <a:r>
              <a:rPr lang="en-US" sz="2400" dirty="0">
                <a:latin typeface="+mj-lt"/>
              </a:rPr>
              <a:t>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88D5373-D53A-4C46-BCF8-F6FC44D9CB5C}" type="slidenum">
              <a:rPr lang="ar-SA" altLang="fr-FR">
                <a:solidFill>
                  <a:srgbClr val="898989"/>
                </a:solidFill>
              </a:rPr>
              <a:pPr eaLnBrk="1" hangingPunct="1"/>
              <a:t>39</a:t>
            </a:fld>
            <a:endParaRPr lang="en-US" altLang="fr-FR">
              <a:solidFill>
                <a:srgbClr val="898989"/>
              </a:solidFill>
            </a:endParaRPr>
          </a:p>
        </p:txBody>
      </p:sp>
      <p:pic>
        <p:nvPicPr>
          <p:cNvPr id="56324" name="Picture 4" descr="p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263900"/>
            <a:ext cx="5334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Rectangle 7"/>
          <p:cNvSpPr>
            <a:spLocks noChangeArrowheads="1"/>
          </p:cNvSpPr>
          <p:nvPr/>
        </p:nvSpPr>
        <p:spPr bwMode="auto">
          <a:xfrm>
            <a:off x="457200" y="2016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7630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The first two cases can be solved recursively.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For the last case: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find the largest sum in the first half that includes the last element in the first half,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find the largest sum in the second half that includes the first element in the second half, and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dirty="0">
                <a:latin typeface="+mj-lt"/>
              </a:rPr>
              <a:t>add these two sums together.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305B620-C932-4CE4-9AB4-527766BA775A}" type="slidenum">
              <a:rPr lang="ar-SA" altLang="fr-FR">
                <a:solidFill>
                  <a:srgbClr val="898989"/>
                </a:solidFill>
              </a:rPr>
              <a:pPr eaLnBrk="1" hangingPunct="1"/>
              <a:t>40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50179" name="Rectangle 6"/>
          <p:cNvSpPr>
            <a:spLocks noChangeArrowheads="1"/>
          </p:cNvSpPr>
          <p:nvPr/>
        </p:nvSpPr>
        <p:spPr bwMode="auto">
          <a:xfrm>
            <a:off x="457200" y="2286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6"/>
          <p:cNvSpPr txBox="1">
            <a:spLocks noChangeArrowheads="1"/>
          </p:cNvSpPr>
          <p:nvPr/>
        </p:nvSpPr>
        <p:spPr bwMode="auto">
          <a:xfrm>
            <a:off x="152400" y="914400"/>
            <a:ext cx="8839200" cy="543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>
              <a:buFontTx/>
              <a:buChar char="•"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Example: 8 numbers in a sequence, </a:t>
            </a:r>
          </a:p>
          <a:p>
            <a:pPr algn="ctr" rtl="0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4   –3    5    –2    	   -1    2   6   -2</a:t>
            </a:r>
          </a:p>
          <a:p>
            <a:pPr algn="l" rtl="0">
              <a:buFontTx/>
              <a:buChar char="•"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Max subsequence sum for first half  = 6  (“4, -3, 5”)</a:t>
            </a:r>
          </a:p>
          <a:p>
            <a:pPr algn="l" rtl="0">
              <a:buFontTx/>
              <a:buChar char="•"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Max subsequence sum for second half = 8 (“2, 6”)</a:t>
            </a:r>
          </a:p>
          <a:p>
            <a:pPr algn="l" rtl="0">
              <a:buFontTx/>
              <a:buChar char="•"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Max subsequence  sum for first half ending at the last </a:t>
            </a:r>
          </a:p>
          <a:p>
            <a:pPr algn="l" rtl="0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element is 4 (“4, -3, 5, -2”)</a:t>
            </a:r>
          </a:p>
          <a:p>
            <a:pPr algn="l" rtl="0">
              <a:buFontTx/>
              <a:buChar char="•"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Max subsequence  sum for second half starting </a:t>
            </a:r>
          </a:p>
          <a:p>
            <a:pPr algn="l" rtl="0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at the first element is 7 (“-1, 2, 6”)</a:t>
            </a:r>
          </a:p>
          <a:p>
            <a:pPr algn="l" rtl="0">
              <a:buFontTx/>
              <a:buChar char="•"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Max subsequence sum spanning the middle is  11 </a:t>
            </a:r>
          </a:p>
          <a:p>
            <a:pPr algn="l" rtl="0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(“4, -3, 5, -2, -1, 2, 6”)</a:t>
            </a:r>
          </a:p>
          <a:p>
            <a:pPr algn="l" rtl="0">
              <a:buFontTx/>
              <a:buChar char="•"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Max subsequence spans the middle</a:t>
            </a:r>
          </a:p>
          <a:p>
            <a:pPr algn="ctr" rtl="0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“4, -3, 5, -2, -1, 2, 6”</a:t>
            </a:r>
          </a:p>
        </p:txBody>
      </p:sp>
      <p:sp>
        <p:nvSpPr>
          <p:cNvPr id="51203" name="Rectangle 8"/>
          <p:cNvSpPr>
            <a:spLocks noChangeArrowheads="1"/>
          </p:cNvSpPr>
          <p:nvPr/>
        </p:nvSpPr>
        <p:spPr bwMode="auto">
          <a:xfrm>
            <a:off x="457200" y="2778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4D8E4AA-2A34-47EB-8CDC-EF70B30BADDD}" type="slidenum">
              <a:rPr lang="ar-SA" altLang="fr-FR">
                <a:solidFill>
                  <a:srgbClr val="898989"/>
                </a:solidFill>
              </a:rPr>
              <a:pPr eaLnBrk="1" hangingPunct="1"/>
              <a:t>41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763000" cy="5791200"/>
          </a:xfrm>
        </p:spPr>
        <p:txBody>
          <a:bodyPr/>
          <a:lstStyle/>
          <a:p>
            <a:pPr eaLnBrk="1" hangingPunct="1"/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Input: A, Left, Right</a:t>
            </a:r>
          </a:p>
          <a:p>
            <a:pPr eaLnBrk="1" hangingPunct="1"/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Output: MaxSubSum of A</a:t>
            </a:r>
          </a:p>
          <a:p>
            <a:pPr eaLnBrk="1" hangingPunct="1"/>
            <a:endParaRPr lang="en-US" altLang="fr-FR" sz="2400">
              <a:latin typeface="Georgia" panose="02040502050405020303" pitchFamily="18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MaxSubSum( A, Left, Right)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	1. If Left == Right return A[Left]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	2. Else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	3. 	Find MaxSubSum( A, Left, (Left + Right) / 2)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	4.	Find MaxSubSum( A, (Left + Right) / 2 + 1, Right)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	5.	Find MaxSubSum that contains both A[(Left + Right)/2]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		and A[(Left + Right) / 2 + 1]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latin typeface="Georgia" panose="02040502050405020303" pitchFamily="18" charset="0"/>
                <a:cs typeface="Arial" panose="020B0604020202020204" pitchFamily="34" charset="0"/>
              </a:rPr>
              <a:t>	6. 	Return the maximum for the three sequences found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6176CCB-3A2C-44FC-8136-847CD0DF6130}" type="slidenum">
              <a:rPr lang="ar-SA" altLang="fr-FR">
                <a:solidFill>
                  <a:srgbClr val="898989"/>
                </a:solidFill>
              </a:rPr>
              <a:pPr eaLnBrk="1" hangingPunct="1"/>
              <a:t>42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457200" y="2286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4953000" y="2667000"/>
            <a:ext cx="838200" cy="45720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 sz="2300" i="1">
                <a:solidFill>
                  <a:srgbClr val="000000"/>
                </a:solidFill>
                <a:latin typeface="Georgia" panose="02040502050405020303" pitchFamily="18" charset="0"/>
              </a:rPr>
              <a:t>O</a:t>
            </a:r>
            <a:r>
              <a:rPr lang="en-US" altLang="ar-SA" sz="2300">
                <a:solidFill>
                  <a:srgbClr val="000000"/>
                </a:solidFill>
                <a:latin typeface="Georgia" panose="02040502050405020303" pitchFamily="18" charset="0"/>
              </a:rPr>
              <a:t>(1)</a:t>
            </a:r>
          </a:p>
        </p:txBody>
      </p:sp>
      <p:sp>
        <p:nvSpPr>
          <p:cNvPr id="59398" name="Text Box 5"/>
          <p:cNvSpPr txBox="1">
            <a:spLocks noChangeArrowheads="1"/>
          </p:cNvSpPr>
          <p:nvPr/>
        </p:nvSpPr>
        <p:spPr bwMode="auto">
          <a:xfrm>
            <a:off x="7315200" y="3505200"/>
            <a:ext cx="1143000" cy="446088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 sz="2300" i="1">
                <a:solidFill>
                  <a:srgbClr val="000000"/>
                </a:solidFill>
                <a:latin typeface="Georgia" panose="02040502050405020303" pitchFamily="18" charset="0"/>
              </a:rPr>
              <a:t>T</a:t>
            </a:r>
            <a:r>
              <a:rPr lang="en-US" altLang="ar-SA" sz="2300">
                <a:solidFill>
                  <a:srgbClr val="000000"/>
                </a:solidFill>
                <a:latin typeface="Georgia" panose="02040502050405020303" pitchFamily="18" charset="0"/>
              </a:rPr>
              <a:t>(</a:t>
            </a:r>
            <a:r>
              <a:rPr lang="en-US" altLang="ar-SA" sz="2300" i="1">
                <a:solidFill>
                  <a:srgbClr val="00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300">
                <a:solidFill>
                  <a:srgbClr val="000000"/>
                </a:solidFill>
                <a:latin typeface="Georgia" panose="02040502050405020303" pitchFamily="18" charset="0"/>
              </a:rPr>
              <a:t>/2)</a:t>
            </a:r>
          </a:p>
        </p:txBody>
      </p:sp>
      <p:sp>
        <p:nvSpPr>
          <p:cNvPr id="59399" name="Text Box 6"/>
          <p:cNvSpPr txBox="1">
            <a:spLocks noChangeArrowheads="1"/>
          </p:cNvSpPr>
          <p:nvPr/>
        </p:nvSpPr>
        <p:spPr bwMode="auto">
          <a:xfrm>
            <a:off x="7962900" y="3987800"/>
            <a:ext cx="1143000" cy="446088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 sz="2300" i="1">
                <a:solidFill>
                  <a:srgbClr val="000000"/>
                </a:solidFill>
                <a:latin typeface="Georgia" panose="02040502050405020303" pitchFamily="18" charset="0"/>
              </a:rPr>
              <a:t>T</a:t>
            </a:r>
            <a:r>
              <a:rPr lang="en-US" altLang="ar-SA" sz="2300">
                <a:solidFill>
                  <a:srgbClr val="000000"/>
                </a:solidFill>
                <a:latin typeface="Georgia" panose="02040502050405020303" pitchFamily="18" charset="0"/>
              </a:rPr>
              <a:t>(</a:t>
            </a:r>
            <a:r>
              <a:rPr lang="en-US" altLang="ar-SA" sz="2300" i="1">
                <a:solidFill>
                  <a:srgbClr val="00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300">
                <a:solidFill>
                  <a:srgbClr val="000000"/>
                </a:solidFill>
                <a:latin typeface="Georgia" panose="02040502050405020303" pitchFamily="18" charset="0"/>
              </a:rPr>
              <a:t>/2)</a:t>
            </a:r>
          </a:p>
        </p:txBody>
      </p:sp>
      <p:sp>
        <p:nvSpPr>
          <p:cNvPr id="59400" name="Text Box 7"/>
          <p:cNvSpPr txBox="1">
            <a:spLocks noChangeArrowheads="1"/>
          </p:cNvSpPr>
          <p:nvPr/>
        </p:nvSpPr>
        <p:spPr bwMode="auto">
          <a:xfrm>
            <a:off x="5029200" y="4876800"/>
            <a:ext cx="990600" cy="45720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 sz="2300" i="1">
                <a:solidFill>
                  <a:srgbClr val="000000"/>
                </a:solidFill>
                <a:latin typeface="Georgia" panose="02040502050405020303" pitchFamily="18" charset="0"/>
              </a:rPr>
              <a:t>O</a:t>
            </a:r>
            <a:r>
              <a:rPr lang="en-US" altLang="ar-SA" sz="2300">
                <a:solidFill>
                  <a:srgbClr val="000000"/>
                </a:solidFill>
                <a:latin typeface="Georgia" panose="02040502050405020303" pitchFamily="18" charset="0"/>
              </a:rPr>
              <a:t>(</a:t>
            </a:r>
            <a:r>
              <a:rPr lang="en-US" altLang="ar-SA" sz="2300" i="1">
                <a:solidFill>
                  <a:srgbClr val="00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300">
                <a:solidFill>
                  <a:srgbClr val="000000"/>
                </a:solidFill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59401" name="Text Box 8"/>
          <p:cNvSpPr txBox="1">
            <a:spLocks noChangeArrowheads="1"/>
          </p:cNvSpPr>
          <p:nvPr/>
        </p:nvSpPr>
        <p:spPr bwMode="auto">
          <a:xfrm>
            <a:off x="8255000" y="5308600"/>
            <a:ext cx="838200" cy="45720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 sz="2300" i="1">
                <a:solidFill>
                  <a:srgbClr val="000000"/>
                </a:solidFill>
                <a:latin typeface="Georgia" panose="02040502050405020303" pitchFamily="18" charset="0"/>
              </a:rPr>
              <a:t>O</a:t>
            </a:r>
            <a:r>
              <a:rPr lang="en-US" altLang="ar-SA" sz="2300">
                <a:solidFill>
                  <a:srgbClr val="000000"/>
                </a:solidFill>
                <a:latin typeface="Georgia" panose="02040502050405020303" pitchFamily="18" charset="0"/>
              </a:rPr>
              <a:t>(1)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7630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fr-FR" sz="1800">
                <a:latin typeface="Georgia" panose="02040502050405020303" pitchFamily="18" charset="0"/>
                <a:cs typeface="Arial" panose="020B0604020202020204" pitchFamily="34" charset="0"/>
              </a:rPr>
              <a:t>Algorithm 3</a:t>
            </a:r>
            <a:r>
              <a:rPr lang="en-US" altLang="fr-FR" sz="1800" b="1">
                <a:solidFill>
                  <a:srgbClr val="00FF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r>
              <a:rPr lang="en-US" altLang="fr-FR" sz="1800">
                <a:latin typeface="Georgia" panose="02040502050405020303" pitchFamily="18" charset="0"/>
                <a:cs typeface="Arial" panose="020B0604020202020204" pitchFamily="34" charset="0"/>
              </a:rPr>
              <a:t>“divide-and-conquer” strategy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fr-FR" sz="130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int maxSumRec( const vector&lt;int&gt; &amp; a, int left, int right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if( left == right ) // Base case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if( a[ left ] &gt; 0 )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	return a[ left ];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else return 0;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int center = ( left + right ) / 2;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int maxLeftSum = maxSumRec( a, left, center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int maxRightSum = maxSumRec( a, center + 1, right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int maxLeftBorderSum = 0, leftBorderSum = 0;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for( int i = center; i &gt;= left; i--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leftBorderSum += a[ i ];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if( leftBorderSum &gt; maxLeftBorderSum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	maxLeftBorderSum = leftBorderSum;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}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int maxRightBorderSum = 0, rightBorderSum = 0;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for( int j = center + 1; j &lt;= right; j++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rightBorderSum += a[ j ];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if( rightBorderSum &gt; maxRightBorderSum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		maxRightBorderSum = rightBorderSum;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}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	return max3( maxLeftSum, maxRightSum, maxLeftBorderSum + maxRightBorderSum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fr-FR" sz="1400">
                <a:cs typeface="Arial" panose="020B0604020202020204" pitchFamily="34" charset="0"/>
              </a:rPr>
              <a:t>	}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1AF891-7F35-48C1-A1F2-1C5EC68ABC12}" type="slidenum">
              <a:rPr lang="ar-SA" altLang="fr-FR">
                <a:solidFill>
                  <a:srgbClr val="898989"/>
                </a:solidFill>
              </a:rPr>
              <a:pPr eaLnBrk="1" hangingPunct="1"/>
              <a:t>43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53251" name="Rectangle 5"/>
          <p:cNvSpPr>
            <a:spLocks noChangeArrowheads="1"/>
          </p:cNvSpPr>
          <p:nvPr/>
        </p:nvSpPr>
        <p:spPr bwMode="auto">
          <a:xfrm>
            <a:off x="457200" y="2016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60421" name="Comment 6"/>
          <p:cNvSpPr>
            <a:spLocks noChangeArrowheads="1"/>
          </p:cNvSpPr>
          <p:nvPr/>
        </p:nvSpPr>
        <p:spPr bwMode="auto">
          <a:xfrm>
            <a:off x="6248400" y="4835525"/>
            <a:ext cx="2667000" cy="955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Running Time: 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O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(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 log 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)</a:t>
            </a:r>
            <a:endParaRPr lang="en-US" altLang="ar-SA" sz="160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19200"/>
            <a:ext cx="8839200" cy="5867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int maxSubSum3( const vector&lt;int&gt; &amp; a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{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return maxSumRec( a, 0, a.size( ) - 1 );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}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fr-FR" sz="240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int max3( int a, int b, int c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{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return a &gt; b ? a &gt; c ? a : c : b &gt; c ? b : c;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}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D9FCB77-E0B4-43B5-B122-355B66EB06ED}" type="slidenum">
              <a:rPr lang="ar-SA" altLang="fr-FR">
                <a:solidFill>
                  <a:srgbClr val="898989"/>
                </a:solidFill>
              </a:rPr>
              <a:pPr eaLnBrk="1" hangingPunct="1"/>
              <a:t>44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54275" name="Rectangle 6"/>
          <p:cNvSpPr>
            <a:spLocks noChangeArrowheads="1"/>
          </p:cNvSpPr>
          <p:nvPr/>
        </p:nvSpPr>
        <p:spPr bwMode="auto">
          <a:xfrm>
            <a:off x="457200" y="2286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For algorithm 3, the running time is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log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N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Proof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Recurrence equation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>
                <a:latin typeface="+mj-lt"/>
              </a:rPr>
              <a:t>2 T(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/2): two subproblems, each of size 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/2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: for “patching” two solutions to find solution to whole problem</a:t>
            </a:r>
            <a:endParaRPr lang="en-US" sz="2400" dirty="0">
              <a:latin typeface="+mj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68AA796-916A-4A9B-B12D-F1EC77B4EF2B}" type="slidenum">
              <a:rPr lang="ar-SA" altLang="fr-FR">
                <a:solidFill>
                  <a:srgbClr val="898989"/>
                </a:solidFill>
              </a:rPr>
              <a:pPr eaLnBrk="1" hangingPunct="1"/>
              <a:t>45</a:t>
            </a:fld>
            <a:endParaRPr lang="en-US" altLang="fr-FR">
              <a:solidFill>
                <a:srgbClr val="898989"/>
              </a:solidFill>
            </a:endParaRPr>
          </a:p>
        </p:txBody>
      </p:sp>
      <p:graphicFrame>
        <p:nvGraphicFramePr>
          <p:cNvPr id="62468" name="Object 3"/>
          <p:cNvGraphicFramePr>
            <a:graphicFrameLocks noChangeAspect="1"/>
          </p:cNvGraphicFramePr>
          <p:nvPr/>
        </p:nvGraphicFramePr>
        <p:xfrm>
          <a:off x="2217738" y="3403600"/>
          <a:ext cx="317341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Équation" r:id="rId4" imgW="1209605" imgH="571449" progId="Equation.3">
                  <p:embed/>
                </p:oleObj>
              </mc:Choice>
              <mc:Fallback>
                <p:oleObj name="Équation" r:id="rId4" imgW="1209605" imgH="57144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8" y="3403600"/>
                        <a:ext cx="317341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679450" y="5600700"/>
          <a:ext cx="3670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4" imgW="1457411" imgH="342816" progId="Equation.3">
                  <p:embed/>
                </p:oleObj>
              </mc:Choice>
              <mc:Fallback>
                <p:oleObj name="Equation" r:id="rId4" imgW="1457411" imgH="342816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5600700"/>
                        <a:ext cx="3670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36D391-5193-4F8B-B8AD-B5F31405A5CC}" type="slidenum">
              <a:rPr lang="ar-SA" altLang="fr-FR">
                <a:solidFill>
                  <a:srgbClr val="898989"/>
                </a:solidFill>
              </a:rPr>
              <a:pPr eaLnBrk="1" hangingPunct="1"/>
              <a:t>46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30200" y="808038"/>
            <a:ext cx="8813800" cy="6049962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>
                <a:latin typeface="+mj-lt"/>
              </a:rPr>
              <a:t>Solving the recurrence: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>
                <a:latin typeface="+mj-lt"/>
              </a:rPr>
              <a:t>With 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 = log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(i.e. 2</a:t>
            </a:r>
            <a:r>
              <a:rPr lang="en-US" sz="2400" i="1" baseline="30000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 =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), we have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>
              <a:latin typeface="+mj-lt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>
                <a:latin typeface="+mj-lt"/>
              </a:rPr>
              <a:t>Thus, the running time is </a:t>
            </a:r>
            <a:r>
              <a:rPr lang="en-US" sz="2400" i="1" dirty="0">
                <a:latin typeface="+mj-lt"/>
              </a:rPr>
              <a:t>O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log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)</a:t>
            </a:r>
          </a:p>
        </p:txBody>
      </p:sp>
      <p:graphicFrame>
        <p:nvGraphicFramePr>
          <p:cNvPr id="63493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588" y="1143000"/>
          <a:ext cx="2924175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Équation" r:id="rId6" imgW="1295446" imgH="1800187" progId="Equation.3">
                  <p:embed/>
                </p:oleObj>
              </mc:Choice>
              <mc:Fallback>
                <p:oleObj name="Équation" r:id="rId6" imgW="1295446" imgH="18001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143000"/>
                        <a:ext cx="2924175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457200" y="2016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763000" cy="579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fr-FR" sz="2800" b="1">
                <a:solidFill>
                  <a:srgbClr val="FF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Algorithm 4: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fr-FR" sz="200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int maxSubSum4( const vector&lt;int&gt; &amp; a 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int maxSum = 0, thisSum = 0;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for( int j = 0; j &lt; a.size( ); j++ 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	thisSum += a[ j ];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	if( thisSum &gt; maxSum 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		maxSum = thisSum;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	else if( thisSum &lt; 0 )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		thisSum = 0;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	return maxSum;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200">
                <a:cs typeface="Arial" panose="020B0604020202020204" pitchFamily="34" charset="0"/>
              </a:rPr>
              <a:t>	}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F44B1D7-A528-4860-8982-76A6C50C2ABB}" type="slidenum">
              <a:rPr lang="ar-SA" altLang="fr-FR">
                <a:solidFill>
                  <a:srgbClr val="898989"/>
                </a:solidFill>
              </a:rPr>
              <a:pPr eaLnBrk="1" hangingPunct="1"/>
              <a:t>47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57347" name="Rectangle 6"/>
          <p:cNvSpPr>
            <a:spLocks noChangeArrowheads="1"/>
          </p:cNvSpPr>
          <p:nvPr/>
        </p:nvSpPr>
        <p:spPr bwMode="auto">
          <a:xfrm>
            <a:off x="457200" y="2778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  <p:sp>
        <p:nvSpPr>
          <p:cNvPr id="64517" name="Comment 7"/>
          <p:cNvSpPr>
            <a:spLocks noChangeArrowheads="1"/>
          </p:cNvSpPr>
          <p:nvPr/>
        </p:nvSpPr>
        <p:spPr bwMode="auto">
          <a:xfrm>
            <a:off x="4953000" y="5943600"/>
            <a:ext cx="388620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Running Time: 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O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(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)</a:t>
            </a:r>
            <a:endParaRPr lang="en-US" altLang="ar-SA" sz="160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763000" cy="5715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For algorithm 4, the running time is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Proof</a:t>
            </a:r>
          </a:p>
        </p:txBody>
      </p:sp>
      <p:graphicFrame>
        <p:nvGraphicFramePr>
          <p:cNvPr id="65539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20725" y="2085975"/>
          <a:ext cx="160655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Équation" r:id="rId4" imgW="695368" imgH="390594" progId="Equation.3">
                  <p:embed/>
                </p:oleObj>
              </mc:Choice>
              <mc:Fallback>
                <p:oleObj name="Équation" r:id="rId4" imgW="695368" imgH="390594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2085975"/>
                        <a:ext cx="1606550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7253783-15A2-497B-ACF7-C8C240BE6A4D}" type="slidenum">
              <a:rPr lang="ar-SA" altLang="fr-FR">
                <a:solidFill>
                  <a:srgbClr val="898989"/>
                </a:solidFill>
              </a:rPr>
              <a:pPr eaLnBrk="1" hangingPunct="1"/>
              <a:t>48</a:t>
            </a:fld>
            <a:endParaRPr lang="en-US" altLang="fr-FR">
              <a:solidFill>
                <a:srgbClr val="898989"/>
              </a:solidFill>
            </a:endParaRPr>
          </a:p>
        </p:txBody>
      </p:sp>
      <p:graphicFrame>
        <p:nvGraphicFramePr>
          <p:cNvPr id="65541" name="Object 3"/>
          <p:cNvGraphicFramePr>
            <a:graphicFrameLocks noChangeAspect="1"/>
          </p:cNvGraphicFramePr>
          <p:nvPr/>
        </p:nvGraphicFramePr>
        <p:xfrm>
          <a:off x="4516438" y="3321050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Équation" r:id="rId6" imgW="114151" imgH="215619" progId="Equation.3">
                  <p:embed/>
                </p:oleObj>
              </mc:Choice>
              <mc:Fallback>
                <p:oleObj name="Équation" r:id="rId6" imgW="114151" imgH="2156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8" y="3321050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57200" y="2778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8890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An algorithm is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(log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 if it takes constant (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(1)) time to cut the problem size by a fraction (which is usually 0.5).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Anything is halved on each iteration, then you usually get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(log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If you have an algorithm which runs in </a:t>
            </a:r>
            <a:r>
              <a:rPr lang="en-US" sz="2800" i="1" dirty="0">
                <a:latin typeface="+mj-lt"/>
              </a:rPr>
              <a:t>O</a:t>
            </a:r>
            <a:r>
              <a:rPr lang="en-US" sz="2800" dirty="0">
                <a:latin typeface="+mj-lt"/>
              </a:rPr>
              <a:t>(log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) time, take it because it will be very fast.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77D0FC6-5D15-49E6-B483-4309E974D79F}" type="slidenum">
              <a:rPr lang="ar-SA" altLang="fr-FR">
                <a:solidFill>
                  <a:srgbClr val="898989"/>
                </a:solidFill>
              </a:rPr>
              <a:pPr eaLnBrk="1" hangingPunct="1"/>
              <a:t>49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57200" y="277813"/>
            <a:ext cx="82296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Solutions for the Maximum Subsequence Sum Problem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100" b="1" dirty="0">
                <a:solidFill>
                  <a:srgbClr val="FF0000"/>
                </a:solidFill>
                <a:latin typeface="+mj-lt"/>
              </a:rPr>
              <a:t>Binary Search</a:t>
            </a:r>
            <a:r>
              <a:rPr lang="en-US" sz="3100" dirty="0">
                <a:latin typeface="+mj-lt"/>
              </a:rPr>
              <a:t>: Given an integer </a:t>
            </a:r>
            <a:r>
              <a:rPr lang="en-US" sz="3100" i="1" dirty="0">
                <a:latin typeface="+mj-lt"/>
              </a:rPr>
              <a:t>X</a:t>
            </a:r>
            <a:r>
              <a:rPr lang="en-US" sz="3100" dirty="0">
                <a:latin typeface="+mj-lt"/>
              </a:rPr>
              <a:t> and integers </a:t>
            </a:r>
            <a:r>
              <a:rPr lang="en-US" sz="3100" i="1" dirty="0">
                <a:latin typeface="+mj-lt"/>
              </a:rPr>
              <a:t>A</a:t>
            </a:r>
            <a:r>
              <a:rPr lang="en-US" sz="3100" baseline="-25000" dirty="0">
                <a:latin typeface="+mj-lt"/>
              </a:rPr>
              <a:t>0</a:t>
            </a:r>
            <a:r>
              <a:rPr lang="en-US" sz="3100" dirty="0">
                <a:latin typeface="+mj-lt"/>
              </a:rPr>
              <a:t>, </a:t>
            </a:r>
            <a:r>
              <a:rPr lang="en-US" sz="3100" i="1" dirty="0">
                <a:latin typeface="+mj-lt"/>
              </a:rPr>
              <a:t>A</a:t>
            </a:r>
            <a:r>
              <a:rPr lang="en-US" sz="3100" baseline="-25000" dirty="0">
                <a:latin typeface="+mj-lt"/>
              </a:rPr>
              <a:t>1</a:t>
            </a:r>
            <a:r>
              <a:rPr lang="en-US" sz="3100" dirty="0">
                <a:latin typeface="+mj-lt"/>
              </a:rPr>
              <a:t>, …, </a:t>
            </a:r>
            <a:r>
              <a:rPr lang="en-US" sz="3100" i="1" dirty="0">
                <a:latin typeface="+mj-lt"/>
              </a:rPr>
              <a:t>A</a:t>
            </a:r>
            <a:r>
              <a:rPr lang="en-US" sz="3100" i="1" baseline="-25000" dirty="0">
                <a:latin typeface="+mj-lt"/>
              </a:rPr>
              <a:t>N</a:t>
            </a:r>
            <a:r>
              <a:rPr lang="en-US" sz="3100" baseline="-25000" dirty="0">
                <a:latin typeface="+mj-lt"/>
              </a:rPr>
              <a:t>-1</a:t>
            </a:r>
            <a:r>
              <a:rPr lang="en-US" sz="3100" dirty="0">
                <a:latin typeface="+mj-lt"/>
              </a:rPr>
              <a:t>, which are presorted and already in memory, find </a:t>
            </a:r>
            <a:r>
              <a:rPr lang="en-US" sz="3100" i="1" dirty="0">
                <a:latin typeface="+mj-lt"/>
              </a:rPr>
              <a:t>i</a:t>
            </a:r>
            <a:r>
              <a:rPr lang="en-US" sz="3100" dirty="0">
                <a:latin typeface="+mj-lt"/>
              </a:rPr>
              <a:t> such that </a:t>
            </a:r>
            <a:r>
              <a:rPr lang="en-US" sz="3100" i="1" dirty="0">
                <a:latin typeface="+mj-lt"/>
              </a:rPr>
              <a:t>A</a:t>
            </a:r>
            <a:r>
              <a:rPr lang="en-US" sz="3100" i="1" baseline="-25000" dirty="0">
                <a:latin typeface="+mj-lt"/>
              </a:rPr>
              <a:t>i</a:t>
            </a:r>
            <a:r>
              <a:rPr lang="en-US" sz="3100" dirty="0">
                <a:latin typeface="+mj-lt"/>
              </a:rPr>
              <a:t> = </a:t>
            </a:r>
            <a:r>
              <a:rPr lang="en-US" sz="3100" i="1" dirty="0">
                <a:latin typeface="+mj-lt"/>
              </a:rPr>
              <a:t>X</a:t>
            </a:r>
            <a:r>
              <a:rPr lang="en-US" sz="3100" dirty="0">
                <a:latin typeface="+mj-lt"/>
              </a:rPr>
              <a:t>, or return </a:t>
            </a:r>
            <a:r>
              <a:rPr lang="en-US" sz="3100" i="1" dirty="0">
                <a:latin typeface="+mj-lt"/>
              </a:rPr>
              <a:t>i</a:t>
            </a:r>
            <a:r>
              <a:rPr lang="en-US" sz="3100" dirty="0">
                <a:latin typeface="+mj-lt"/>
              </a:rPr>
              <a:t> = -1 if</a:t>
            </a:r>
            <a:r>
              <a:rPr lang="en-US" sz="3100" i="1" dirty="0">
                <a:latin typeface="+mj-lt"/>
              </a:rPr>
              <a:t> X</a:t>
            </a:r>
            <a:r>
              <a:rPr lang="en-US" sz="3100" dirty="0">
                <a:latin typeface="+mj-lt"/>
              </a:rPr>
              <a:t> is not in the input.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3100" dirty="0">
              <a:latin typeface="+mj-lt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00" dirty="0">
                <a:latin typeface="+mj-lt"/>
              </a:rPr>
              <a:t>Binary search algorithm: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Compare the search element with the middle element of the array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</a:rPr>
              <a:t>If not equal, then apply binary search to half of the array (if not empty) where the search element would be.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5F2E0C-6A74-47F3-A5CB-389358A8DEA9}" type="slidenum">
              <a:rPr lang="ar-SA" altLang="fr-FR">
                <a:solidFill>
                  <a:srgbClr val="898989"/>
                </a:solidFill>
              </a:rPr>
              <a:pPr eaLnBrk="1" hangingPunct="1"/>
              <a:t>50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60419" name="Rectangle 6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Logarithms in the Running Time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template &lt;typename Comparable&gt;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int binarySearch( const vector&lt;Comparable&gt; &amp; a,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				const Comparable &amp; x 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int low = 0, high = a.size( ) - 1;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while( low &lt;= high 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	int mid = ( low + high ) / 2;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	if( a[ mid ] &lt; x 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		low = mid + 1;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	else if( a[ mid ] &gt; x 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		high = mid - 1;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	else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		return mid; // Found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	return NOT_FOUND; // NOT_FOUND is defined as -1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000">
                <a:cs typeface="Arial" panose="020B0604020202020204" pitchFamily="34" charset="0"/>
              </a:rPr>
              <a:t>	}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27CBC59-5054-4F0B-B992-D89353ABE57D}" type="slidenum">
              <a:rPr lang="ar-SA" altLang="fr-FR">
                <a:solidFill>
                  <a:srgbClr val="898989"/>
                </a:solidFill>
              </a:rPr>
              <a:pPr eaLnBrk="1" hangingPunct="1"/>
              <a:t>51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Logarithms in the Running Time</a:t>
            </a:r>
          </a:p>
        </p:txBody>
      </p:sp>
      <p:sp>
        <p:nvSpPr>
          <p:cNvPr id="68613" name="Comment 4"/>
          <p:cNvSpPr>
            <a:spLocks noChangeArrowheads="1"/>
          </p:cNvSpPr>
          <p:nvPr/>
        </p:nvSpPr>
        <p:spPr bwMode="auto">
          <a:xfrm>
            <a:off x="6096000" y="3581400"/>
            <a:ext cx="2667000" cy="955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Running Time: 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O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(log 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)</a:t>
            </a:r>
            <a:endParaRPr lang="en-US" altLang="ar-SA" sz="160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For Binary search algorithm, the running time is </a:t>
            </a: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(log</a:t>
            </a: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N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Proof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Recurrence equation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Solving the recurrence: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With k = log </a:t>
            </a: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(i.e. 2</a:t>
            </a:r>
            <a:r>
              <a:rPr lang="en-US" sz="2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k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= </a:t>
            </a: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), we have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Thus, the running time is </a:t>
            </a: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(log </a:t>
            </a:r>
            <a:r>
              <a:rPr lang="en-US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).</a:t>
            </a:r>
          </a:p>
        </p:txBody>
      </p:sp>
      <p:graphicFrame>
        <p:nvGraphicFramePr>
          <p:cNvPr id="6963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06500" y="1947863"/>
          <a:ext cx="16256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Équation" r:id="rId4" imgW="1028745" imgH="352533" progId="Equation.3">
                  <p:embed/>
                </p:oleObj>
              </mc:Choice>
              <mc:Fallback>
                <p:oleObj name="Équation" r:id="rId4" imgW="1028745" imgH="352533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1947863"/>
                        <a:ext cx="16256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54113" y="2862263"/>
          <a:ext cx="1795462" cy="277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Équation" r:id="rId6" imgW="1152648" imgH="1800187" progId="Equation.3">
                  <p:embed/>
                </p:oleObj>
              </mc:Choice>
              <mc:Fallback>
                <p:oleObj name="Équation" r:id="rId6" imgW="1152648" imgH="1800187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2862263"/>
                        <a:ext cx="1795462" cy="277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BDF4139-2297-4DD2-9702-CC7174A11C4C}" type="slidenum">
              <a:rPr lang="ar-SA" altLang="fr-FR">
                <a:solidFill>
                  <a:srgbClr val="898989"/>
                </a:solidFill>
              </a:rPr>
              <a:pPr eaLnBrk="1" hangingPunct="1"/>
              <a:t>52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Logarithms in the Running Time</a:t>
            </a:r>
          </a:p>
        </p:txBody>
      </p:sp>
      <p:graphicFrame>
        <p:nvGraphicFramePr>
          <p:cNvPr id="69639" name="Object 10"/>
          <p:cNvGraphicFramePr>
            <a:graphicFrameLocks noChangeAspect="1"/>
          </p:cNvGraphicFramePr>
          <p:nvPr/>
        </p:nvGraphicFramePr>
        <p:xfrm>
          <a:off x="1295400" y="5956300"/>
          <a:ext cx="23812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8" imgW="1247667" imgH="114182" progId="Equation.3">
                  <p:embed/>
                </p:oleObj>
              </mc:Choice>
              <mc:Fallback>
                <p:oleObj name="Equation" r:id="rId8" imgW="1247667" imgH="11418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956300"/>
                        <a:ext cx="23812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Exponentiation</a:t>
            </a:r>
            <a:r>
              <a:rPr lang="en-US" sz="2800" dirty="0">
                <a:latin typeface="+mj-lt"/>
              </a:rPr>
              <a:t>: The following algorithm for computing </a:t>
            </a:r>
            <a:r>
              <a:rPr lang="en-US" sz="2800" i="1" dirty="0">
                <a:latin typeface="+mj-lt"/>
              </a:rPr>
              <a:t>X</a:t>
            </a:r>
            <a:r>
              <a:rPr lang="en-US" sz="2800" i="1" baseline="30000" dirty="0">
                <a:latin typeface="+mj-lt"/>
              </a:rPr>
              <a:t>N</a:t>
            </a:r>
            <a:r>
              <a:rPr lang="en-US" sz="2800" baseline="-25000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where </a:t>
            </a:r>
            <a:r>
              <a:rPr lang="en-US" sz="2800" i="1" dirty="0">
                <a:latin typeface="+mj-lt"/>
              </a:rPr>
              <a:t>X</a:t>
            </a:r>
            <a:r>
              <a:rPr lang="en-US" sz="2800" dirty="0">
                <a:latin typeface="+mj-lt"/>
              </a:rPr>
              <a:t> and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 are two positive integers.</a:t>
            </a:r>
          </a:p>
        </p:txBody>
      </p:sp>
      <p:graphicFrame>
        <p:nvGraphicFramePr>
          <p:cNvPr id="70659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96950" y="2622550"/>
          <a:ext cx="5854700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Équation" r:id="rId4" imgW="2400314" imgH="923983" progId="Equation.3">
                  <p:embed/>
                </p:oleObj>
              </mc:Choice>
              <mc:Fallback>
                <p:oleObj name="Équation" r:id="rId4" imgW="2400314" imgH="923983" progId="Equation.3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2622550"/>
                        <a:ext cx="5854700" cy="231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F366AE-7969-4C5C-8F5F-6370263F4AB7}" type="slidenum">
              <a:rPr lang="ar-SA" altLang="fr-FR">
                <a:solidFill>
                  <a:srgbClr val="898989"/>
                </a:solidFill>
              </a:rPr>
              <a:pPr eaLnBrk="1" hangingPunct="1"/>
              <a:t>53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Logarithms in the Running Time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889000"/>
            <a:ext cx="8839200" cy="5791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long pow( long x, int n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{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if( n == 0 )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	return 1; 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if( n == 1 )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	return x;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if( isEven( n )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	return pow( x * x, n / 2 );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else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		return pow( x * x, n / 2 ) * x;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>
                <a:cs typeface="Arial" panose="020B0604020202020204" pitchFamily="34" charset="0"/>
              </a:rPr>
              <a:t>	}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F1F6239-9DAD-44DC-A03A-10102337C2C4}" type="slidenum">
              <a:rPr lang="ar-SA" altLang="fr-FR">
                <a:solidFill>
                  <a:srgbClr val="898989"/>
                </a:solidFill>
              </a:rPr>
              <a:pPr eaLnBrk="1" hangingPunct="1"/>
              <a:t>54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Logarithms in the Running Time</a:t>
            </a:r>
          </a:p>
        </p:txBody>
      </p:sp>
      <p:sp>
        <p:nvSpPr>
          <p:cNvPr id="71685" name="Comment 4"/>
          <p:cNvSpPr>
            <a:spLocks noChangeArrowheads="1"/>
          </p:cNvSpPr>
          <p:nvPr/>
        </p:nvSpPr>
        <p:spPr bwMode="auto">
          <a:xfrm>
            <a:off x="6324600" y="4343400"/>
            <a:ext cx="2667000" cy="955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Running Time: 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O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(log </a:t>
            </a:r>
            <a:r>
              <a:rPr lang="en-US" altLang="ar-SA" sz="2800" i="1">
                <a:solidFill>
                  <a:srgbClr val="FF0000"/>
                </a:solidFill>
                <a:latin typeface="Georgia" panose="02040502050405020303" pitchFamily="18" charset="0"/>
              </a:rPr>
              <a:t>N</a:t>
            </a:r>
            <a:r>
              <a:rPr lang="en-US" altLang="ar-SA" sz="2800">
                <a:solidFill>
                  <a:srgbClr val="FF0000"/>
                </a:solidFill>
                <a:latin typeface="Georgia" panose="02040502050405020303" pitchFamily="18" charset="0"/>
              </a:rPr>
              <a:t>)</a:t>
            </a:r>
            <a:endParaRPr lang="en-US" altLang="ar-SA" sz="160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8890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For Exponentiation algorithm, the running time is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(log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N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Proof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Exercise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A851A91-4A70-46E7-9CAF-E9772594DD8C}" type="slidenum">
              <a:rPr lang="ar-SA" altLang="fr-FR">
                <a:solidFill>
                  <a:srgbClr val="898989"/>
                </a:solidFill>
              </a:rPr>
              <a:pPr eaLnBrk="1" hangingPunct="1"/>
              <a:t>55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defRPr/>
            </a:pPr>
            <a:r>
              <a:rPr lang="en-US" altLang="ar-SA" sz="3200" b="1" dirty="0">
                <a:solidFill>
                  <a:srgbClr val="0000CC"/>
                </a:solidFill>
                <a:latin typeface="+mj-lt"/>
                <a:cs typeface="Arial" charset="0"/>
              </a:rPr>
              <a:t>Logarithms in the Running Time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889000"/>
            <a:ext cx="8839200" cy="5791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When sorting a list of numbers in ascending order; we might have one of the following cases: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Worst Case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: The list is sorted in descending order, then maximum number of swaps is performed. 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Average Case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: The list is unsorted, then average number of swaps is performed. 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Best Case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: The list is sorted in ascending order, then minimum number of swaps is performed.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B6B8E1-C2B7-4B5B-9A54-83CF790AC7A7}" type="slidenum">
              <a:rPr lang="ar-SA" altLang="fr-FR">
                <a:solidFill>
                  <a:srgbClr val="898989"/>
                </a:solidFill>
              </a:rPr>
              <a:pPr eaLnBrk="1" hangingPunct="1"/>
              <a:t>56</a:t>
            </a:fld>
            <a:endParaRPr lang="en-US" altLang="fr-FR">
              <a:solidFill>
                <a:srgbClr val="898989"/>
              </a:solidFill>
            </a:endParaRP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304800" y="76200"/>
            <a:ext cx="84582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rtl="0"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rgbClr val="0000CC"/>
                </a:solidFill>
                <a:latin typeface="+mj-lt"/>
                <a:cs typeface="Arial" charset="0"/>
              </a:rPr>
              <a:t>Worst Case, Best Case, and Average Case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(-Algorithm Analysis-)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22159</TotalTime>
  <Words>3021</Words>
  <Application>Microsoft Office PowerPoint</Application>
  <PresentationFormat>On-screen Show (4:3)</PresentationFormat>
  <Paragraphs>682</Paragraphs>
  <Slides>56</Slides>
  <Notes>49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56</vt:i4>
      </vt:variant>
    </vt:vector>
  </HeadingPairs>
  <TitlesOfParts>
    <vt:vector size="72" baseType="lpstr">
      <vt:lpstr>新細明體</vt:lpstr>
      <vt:lpstr>Arial</vt:lpstr>
      <vt:lpstr>Calibri</vt:lpstr>
      <vt:lpstr>Cambria Math</vt:lpstr>
      <vt:lpstr>Georgia</vt:lpstr>
      <vt:lpstr>Monotype Sorts</vt:lpstr>
      <vt:lpstr>Symbol</vt:lpstr>
      <vt:lpstr>Times New Roman</vt:lpstr>
      <vt:lpstr>Wingdings</vt:lpstr>
      <vt:lpstr>Thème Office</vt:lpstr>
      <vt:lpstr>Conception personnalisée</vt:lpstr>
      <vt:lpstr>1_Conception personnalisée</vt:lpstr>
      <vt:lpstr>Équation</vt:lpstr>
      <vt:lpstr>Document</vt:lpstr>
      <vt:lpstr>صورة نقطية</vt:lpstr>
      <vt:lpstr>Equation</vt:lpstr>
      <vt:lpstr>Algorithm Analysis</vt:lpstr>
      <vt:lpstr>Outlines</vt:lpstr>
      <vt:lpstr>1. Introduction</vt:lpstr>
      <vt:lpstr>Objectives</vt:lpstr>
      <vt:lpstr>Introduction</vt:lpstr>
      <vt:lpstr>Introduction</vt:lpstr>
      <vt:lpstr>Introduction</vt:lpstr>
      <vt:lpstr>Introduction</vt:lpstr>
      <vt:lpstr>2. Mathematics Background</vt:lpstr>
      <vt:lpstr>Mathematics Background</vt:lpstr>
      <vt:lpstr>Mathematics Background</vt:lpstr>
      <vt:lpstr>Mathematics Background</vt:lpstr>
      <vt:lpstr>Mathematics Background</vt:lpstr>
      <vt:lpstr>Mathematics Background</vt:lpstr>
      <vt:lpstr>Mathematics Background</vt:lpstr>
      <vt:lpstr>Mathematics Background</vt:lpstr>
      <vt:lpstr>Mathematics Background</vt:lpstr>
      <vt:lpstr>Mathematics Background</vt:lpstr>
      <vt:lpstr>Mathematics Background</vt:lpstr>
      <vt:lpstr>3. Model</vt:lpstr>
      <vt:lpstr>Model</vt:lpstr>
      <vt:lpstr>4. What to Analyze?</vt:lpstr>
      <vt:lpstr>What to Analyze?</vt:lpstr>
      <vt:lpstr>PowerPoint Presentation</vt:lpstr>
      <vt:lpstr>PowerPoint Presentation</vt:lpstr>
      <vt:lpstr>PowerPoint Presentation</vt:lpstr>
      <vt:lpstr>PowerPoint Presentation</vt:lpstr>
      <vt:lpstr>5. Running Time Calculations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mahdi</dc:creator>
  <cp:lastModifiedBy>Mahmoud Hassaballah</cp:lastModifiedBy>
  <cp:revision>2122</cp:revision>
  <cp:lastPrinted>1601-01-01T00:00:00Z</cp:lastPrinted>
  <dcterms:created xsi:type="dcterms:W3CDTF">1601-01-01T00:00:00Z</dcterms:created>
  <dcterms:modified xsi:type="dcterms:W3CDTF">2023-03-22T10:00:42Z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