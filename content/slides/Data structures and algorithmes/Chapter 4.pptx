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5" r:id="rId1"/>
  </p:sldMasterIdLst>
  <p:notesMasterIdLst>
    <p:notesMasterId r:id="rId61"/>
  </p:notesMasterIdLst>
  <p:sldIdLst>
    <p:sldId id="256" r:id="rId2"/>
    <p:sldId id="424" r:id="rId3"/>
    <p:sldId id="425" r:id="rId4"/>
    <p:sldId id="257" r:id="rId5"/>
    <p:sldId id="331" r:id="rId6"/>
    <p:sldId id="258" r:id="rId7"/>
    <p:sldId id="259" r:id="rId8"/>
    <p:sldId id="260" r:id="rId9"/>
    <p:sldId id="427" r:id="rId10"/>
    <p:sldId id="261" r:id="rId11"/>
    <p:sldId id="262" r:id="rId12"/>
    <p:sldId id="333" r:id="rId13"/>
    <p:sldId id="334" r:id="rId14"/>
    <p:sldId id="263" r:id="rId15"/>
    <p:sldId id="335" r:id="rId16"/>
    <p:sldId id="475" r:id="rId17"/>
    <p:sldId id="476" r:id="rId18"/>
    <p:sldId id="426" r:id="rId19"/>
    <p:sldId id="338" r:id="rId20"/>
    <p:sldId id="268" r:id="rId21"/>
    <p:sldId id="339" r:id="rId22"/>
    <p:sldId id="269" r:id="rId23"/>
    <p:sldId id="337" r:id="rId24"/>
    <p:sldId id="340" r:id="rId25"/>
    <p:sldId id="270" r:id="rId26"/>
    <p:sldId id="336" r:id="rId27"/>
    <p:sldId id="271" r:id="rId28"/>
    <p:sldId id="272" r:id="rId29"/>
    <p:sldId id="332" r:id="rId30"/>
    <p:sldId id="273" r:id="rId31"/>
    <p:sldId id="274" r:id="rId32"/>
    <p:sldId id="342" r:id="rId33"/>
    <p:sldId id="343" r:id="rId34"/>
    <p:sldId id="344" r:id="rId35"/>
    <p:sldId id="477" r:id="rId36"/>
    <p:sldId id="345" r:id="rId37"/>
    <p:sldId id="478" r:id="rId38"/>
    <p:sldId id="347" r:id="rId39"/>
    <p:sldId id="348" r:id="rId40"/>
    <p:sldId id="349" r:id="rId41"/>
    <p:sldId id="350" r:id="rId42"/>
    <p:sldId id="351" r:id="rId43"/>
    <p:sldId id="352" r:id="rId44"/>
    <p:sldId id="479"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Lst>
  <p:sldSz cx="9144000" cy="6858000" type="screen4x3"/>
  <p:notesSz cx="6781800" cy="9918700"/>
  <p:defaultTextStyle>
    <a:defPPr>
      <a:defRPr lang="en-US"/>
    </a:defPPr>
    <a:lvl1pPr algn="l" rtl="0" fontAlgn="base">
      <a:spcBef>
        <a:spcPct val="0"/>
      </a:spcBef>
      <a:spcAft>
        <a:spcPct val="0"/>
      </a:spcAft>
      <a:defRPr sz="2000"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sz="2000"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sz="2000"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sz="2000"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sz="2000"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000"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000"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000"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000"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17D"/>
    <a:srgbClr val="FF0000"/>
    <a:srgbClr val="00FF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p:cViewPr varScale="1">
        <p:scale>
          <a:sx n="54" d="100"/>
          <a:sy n="54" d="100"/>
        </p:scale>
        <p:origin x="156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bwMode="auto">
          <a:xfrm>
            <a:off x="0" y="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b="0">
                <a:latin typeface="Arial" charset="0"/>
                <a:cs typeface="+mn-cs"/>
              </a:defRPr>
            </a:lvl1pPr>
          </a:lstStyle>
          <a:p>
            <a:pPr>
              <a:defRPr/>
            </a:pPr>
            <a:endParaRPr lang="en-US"/>
          </a:p>
        </p:txBody>
      </p:sp>
      <p:sp>
        <p:nvSpPr>
          <p:cNvPr id="103427" name="Rectangle 3"/>
          <p:cNvSpPr>
            <a:spLocks noGrp="1" noChangeArrowheads="1"/>
          </p:cNvSpPr>
          <p:nvPr>
            <p:ph type="dt" idx="1"/>
          </p:nvPr>
        </p:nvSpPr>
        <p:spPr bwMode="auto">
          <a:xfrm>
            <a:off x="3841750" y="0"/>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b="0">
                <a:latin typeface="Arial" charset="0"/>
                <a:cs typeface="+mn-cs"/>
              </a:defRPr>
            </a:lvl1pPr>
          </a:lstStyle>
          <a:p>
            <a:pPr>
              <a:defRPr/>
            </a:pPr>
            <a:endParaRPr lang="en-US"/>
          </a:p>
        </p:txBody>
      </p:sp>
      <p:sp>
        <p:nvSpPr>
          <p:cNvPr id="61444" name="Rectangle 4"/>
          <p:cNvSpPr>
            <a:spLocks noGrp="1" noRot="1" noChangeAspect="1" noChangeArrowheads="1" noTextEdit="1"/>
          </p:cNvSpPr>
          <p:nvPr>
            <p:ph type="sldImg" idx="2"/>
          </p:nvPr>
        </p:nvSpPr>
        <p:spPr bwMode="auto">
          <a:xfrm>
            <a:off x="911225" y="744538"/>
            <a:ext cx="4959350" cy="37195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3429" name="Rectangle 5"/>
          <p:cNvSpPr>
            <a:spLocks noGrp="1" noChangeArrowheads="1"/>
          </p:cNvSpPr>
          <p:nvPr>
            <p:ph type="body" sz="quarter" idx="3"/>
          </p:nvPr>
        </p:nvSpPr>
        <p:spPr bwMode="auto">
          <a:xfrm>
            <a:off x="677863" y="4711700"/>
            <a:ext cx="5426075" cy="446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430" name="Rectangle 6"/>
          <p:cNvSpPr>
            <a:spLocks noGrp="1" noChangeArrowheads="1"/>
          </p:cNvSpPr>
          <p:nvPr>
            <p:ph type="ftr" sz="quarter" idx="4"/>
          </p:nvPr>
        </p:nvSpPr>
        <p:spPr bwMode="auto">
          <a:xfrm>
            <a:off x="0" y="9421813"/>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b="0">
                <a:latin typeface="Arial" charset="0"/>
                <a:cs typeface="+mn-cs"/>
              </a:defRPr>
            </a:lvl1pPr>
          </a:lstStyle>
          <a:p>
            <a:pPr>
              <a:defRPr/>
            </a:pPr>
            <a:endParaRPr lang="en-US"/>
          </a:p>
        </p:txBody>
      </p:sp>
      <p:sp>
        <p:nvSpPr>
          <p:cNvPr id="103431" name="Rectangle 7"/>
          <p:cNvSpPr>
            <a:spLocks noGrp="1" noChangeArrowheads="1"/>
          </p:cNvSpPr>
          <p:nvPr>
            <p:ph type="sldNum" sz="quarter" idx="5"/>
          </p:nvPr>
        </p:nvSpPr>
        <p:spPr bwMode="auto">
          <a:xfrm>
            <a:off x="3841750" y="9421813"/>
            <a:ext cx="29384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D19D0186-4BB7-4F38-92CD-FC96605083B6}" type="slidenum">
              <a:rPr lang="en-US" altLang="fr-FR"/>
              <a:pPr/>
              <a:t>‹#›</a:t>
            </a:fld>
            <a:endParaRPr lang="en-US" altLang="fr-F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ce réservé de l'image des diapositives 1"/>
          <p:cNvSpPr>
            <a:spLocks noGrp="1" noRot="1" noChangeAspect="1" noTextEdit="1"/>
          </p:cNvSpPr>
          <p:nvPr>
            <p:ph type="sldImg"/>
          </p:nvPr>
        </p:nvSpPr>
        <p:spPr>
          <a:ln/>
        </p:spPr>
      </p:sp>
      <p:sp>
        <p:nvSpPr>
          <p:cNvPr id="62467" name="Espace réservé des commentaires 2"/>
          <p:cNvSpPr>
            <a:spLocks noGrp="1"/>
          </p:cNvSpPr>
          <p:nvPr>
            <p:ph type="body" idx="1"/>
          </p:nvPr>
        </p:nvSpPr>
        <p:spPr>
          <a:noFill/>
        </p:spPr>
        <p:txBody>
          <a:bodyPr/>
          <a:lstStyle/>
          <a:p>
            <a:pPr eaLnBrk="1" hangingPunct="1"/>
            <a:endParaRPr lang="fr-FR" altLang="fr-FR">
              <a:latin typeface="Arial" panose="020B0604020202020204" pitchFamily="34" charset="0"/>
            </a:endParaRPr>
          </a:p>
        </p:txBody>
      </p:sp>
      <p:sp>
        <p:nvSpPr>
          <p:cNvPr id="62468" name="Espace réservé du numéro de diapositive 3"/>
          <p:cNvSpPr>
            <a:spLocks noGrp="1"/>
          </p:cNvSpPr>
          <p:nvPr>
            <p:ph type="sldNum" sz="quarter" idx="5"/>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fld id="{BE790365-2388-4045-8F54-80C0AFEC563B}" type="slidenum">
              <a:rPr lang="en-US" altLang="fr-FR" sz="1200" b="0"/>
              <a:pPr eaLnBrk="1" hangingPunct="1"/>
              <a:t>5</a:t>
            </a:fld>
            <a:endParaRPr lang="en-US" altLang="fr-FR" sz="1200" b="0"/>
          </a:p>
        </p:txBody>
      </p:sp>
    </p:spTree>
    <p:extLst>
      <p:ext uri="{BB962C8B-B14F-4D97-AF65-F5344CB8AC3E}">
        <p14:creationId xmlns:p14="http://schemas.microsoft.com/office/powerpoint/2010/main" val="467279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12"/>
          </p:nvPr>
        </p:nvSpPr>
        <p:spPr/>
        <p:txBody>
          <a:bodyPr/>
          <a:lstStyle>
            <a:lvl1pPr>
              <a:defRPr/>
            </a:lvl1pPr>
          </a:lstStyle>
          <a:p>
            <a:fld id="{C3CF96BE-18AE-4310-8CBD-F18DD7849A10}" type="slidenum">
              <a:rPr lang="zh-TW" altLang="en-US"/>
              <a:pPr/>
              <a:t>‹#›</a:t>
            </a:fld>
            <a:endParaRPr lang="en-US" altLang="zh-TW"/>
          </a:p>
        </p:txBody>
      </p:sp>
    </p:spTree>
    <p:extLst>
      <p:ext uri="{BB962C8B-B14F-4D97-AF65-F5344CB8AC3E}">
        <p14:creationId xmlns:p14="http://schemas.microsoft.com/office/powerpoint/2010/main" val="375928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12"/>
          </p:nvPr>
        </p:nvSpPr>
        <p:spPr/>
        <p:txBody>
          <a:bodyPr/>
          <a:lstStyle>
            <a:lvl1pPr>
              <a:defRPr/>
            </a:lvl1pPr>
          </a:lstStyle>
          <a:p>
            <a:fld id="{73473358-7008-4F6F-B5F5-0284EE97B92C}" type="slidenum">
              <a:rPr lang="zh-TW" altLang="en-US"/>
              <a:pPr/>
              <a:t>‹#›</a:t>
            </a:fld>
            <a:endParaRPr lang="en-US" altLang="zh-TW"/>
          </a:p>
        </p:txBody>
      </p:sp>
    </p:spTree>
    <p:extLst>
      <p:ext uri="{BB962C8B-B14F-4D97-AF65-F5344CB8AC3E}">
        <p14:creationId xmlns:p14="http://schemas.microsoft.com/office/powerpoint/2010/main" val="246921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12"/>
          </p:nvPr>
        </p:nvSpPr>
        <p:spPr/>
        <p:txBody>
          <a:bodyPr/>
          <a:lstStyle>
            <a:lvl1pPr>
              <a:defRPr/>
            </a:lvl1pPr>
          </a:lstStyle>
          <a:p>
            <a:fld id="{A35C880E-D2C4-4D9F-82E2-9C23647647C8}" type="slidenum">
              <a:rPr lang="zh-TW" altLang="en-US"/>
              <a:pPr/>
              <a:t>‹#›</a:t>
            </a:fld>
            <a:endParaRPr lang="en-US" altLang="zh-TW"/>
          </a:p>
        </p:txBody>
      </p:sp>
    </p:spTree>
    <p:extLst>
      <p:ext uri="{BB962C8B-B14F-4D97-AF65-F5344CB8AC3E}">
        <p14:creationId xmlns:p14="http://schemas.microsoft.com/office/powerpoint/2010/main" val="127630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7" name="Espace réservé du numéro de diapositive 5"/>
          <p:cNvSpPr>
            <a:spLocks noGrp="1"/>
          </p:cNvSpPr>
          <p:nvPr>
            <p:ph type="sldNum" sz="quarter" idx="12"/>
          </p:nvPr>
        </p:nvSpPr>
        <p:spPr/>
        <p:txBody>
          <a:bodyPr/>
          <a:lstStyle>
            <a:lvl1pPr>
              <a:defRPr/>
            </a:lvl1pPr>
          </a:lstStyle>
          <a:p>
            <a:fld id="{76BBE118-ED35-435C-8866-CC27DB1D21D5}" type="slidenum">
              <a:rPr lang="zh-TW" altLang="en-US"/>
              <a:pPr/>
              <a:t>‹#›</a:t>
            </a:fld>
            <a:endParaRPr lang="en-US" altLang="zh-TW"/>
          </a:p>
        </p:txBody>
      </p:sp>
    </p:spTree>
    <p:extLst>
      <p:ext uri="{BB962C8B-B14F-4D97-AF65-F5344CB8AC3E}">
        <p14:creationId xmlns:p14="http://schemas.microsoft.com/office/powerpoint/2010/main" val="1090116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p:cNvSpPr>
            <a:spLocks noGrp="1"/>
          </p:cNvSpPr>
          <p:nvPr>
            <p:ph type="dt" sz="half" idx="10"/>
          </p:nvPr>
        </p:nvSpPr>
        <p:spPr/>
        <p:txBody>
          <a:bodyPr/>
          <a:lstStyle>
            <a:lvl1pPr>
              <a:defRPr/>
            </a:lvl1pPr>
          </a:lstStyle>
          <a:p>
            <a:pPr>
              <a:defRPr/>
            </a:pPr>
            <a:endParaRPr lang="en-US" altLang="zh-TW"/>
          </a:p>
        </p:txBody>
      </p:sp>
      <p:sp>
        <p:nvSpPr>
          <p:cNvPr id="8"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9" name="Espace réservé du numéro de diapositive 5"/>
          <p:cNvSpPr>
            <a:spLocks noGrp="1"/>
          </p:cNvSpPr>
          <p:nvPr>
            <p:ph type="sldNum" sz="quarter" idx="12"/>
          </p:nvPr>
        </p:nvSpPr>
        <p:spPr/>
        <p:txBody>
          <a:bodyPr/>
          <a:lstStyle>
            <a:lvl1pPr>
              <a:defRPr/>
            </a:lvl1pPr>
          </a:lstStyle>
          <a:p>
            <a:fld id="{C73B5F0A-C99D-488D-B68C-BD379CC28CE0}" type="slidenum">
              <a:rPr lang="zh-TW" altLang="en-US"/>
              <a:pPr/>
              <a:t>‹#›</a:t>
            </a:fld>
            <a:endParaRPr lang="en-US" altLang="zh-TW"/>
          </a:p>
        </p:txBody>
      </p:sp>
    </p:spTree>
    <p:extLst>
      <p:ext uri="{BB962C8B-B14F-4D97-AF65-F5344CB8AC3E}">
        <p14:creationId xmlns:p14="http://schemas.microsoft.com/office/powerpoint/2010/main" val="2647975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p:cNvSpPr>
            <a:spLocks noGrp="1"/>
          </p:cNvSpPr>
          <p:nvPr>
            <p:ph type="dt" sz="half" idx="10"/>
          </p:nvPr>
        </p:nvSpPr>
        <p:spPr/>
        <p:txBody>
          <a:bodyPr/>
          <a:lstStyle>
            <a:lvl1pPr>
              <a:defRPr/>
            </a:lvl1pPr>
          </a:lstStyle>
          <a:p>
            <a:pPr>
              <a:defRPr/>
            </a:pPr>
            <a:endParaRPr lang="en-US" altLang="zh-TW"/>
          </a:p>
        </p:txBody>
      </p:sp>
      <p:sp>
        <p:nvSpPr>
          <p:cNvPr id="4"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5" name="Espace réservé du numéro de diapositive 5"/>
          <p:cNvSpPr>
            <a:spLocks noGrp="1"/>
          </p:cNvSpPr>
          <p:nvPr>
            <p:ph type="sldNum" sz="quarter" idx="12"/>
          </p:nvPr>
        </p:nvSpPr>
        <p:spPr/>
        <p:txBody>
          <a:bodyPr/>
          <a:lstStyle>
            <a:lvl1pPr>
              <a:defRPr/>
            </a:lvl1pPr>
          </a:lstStyle>
          <a:p>
            <a:fld id="{543D6CA6-F1F7-4985-A5EA-BC5816B08FE5}" type="slidenum">
              <a:rPr lang="zh-TW" altLang="en-US"/>
              <a:pPr/>
              <a:t>‹#›</a:t>
            </a:fld>
            <a:endParaRPr lang="en-US" altLang="zh-TW"/>
          </a:p>
        </p:txBody>
      </p:sp>
    </p:spTree>
    <p:extLst>
      <p:ext uri="{BB962C8B-B14F-4D97-AF65-F5344CB8AC3E}">
        <p14:creationId xmlns:p14="http://schemas.microsoft.com/office/powerpoint/2010/main" val="2201773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endParaRPr lang="en-US" altLang="zh-TW"/>
          </a:p>
        </p:txBody>
      </p:sp>
      <p:sp>
        <p:nvSpPr>
          <p:cNvPr id="3"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4" name="Espace réservé du numéro de diapositive 5"/>
          <p:cNvSpPr>
            <a:spLocks noGrp="1"/>
          </p:cNvSpPr>
          <p:nvPr>
            <p:ph type="sldNum" sz="quarter" idx="12"/>
          </p:nvPr>
        </p:nvSpPr>
        <p:spPr/>
        <p:txBody>
          <a:bodyPr/>
          <a:lstStyle>
            <a:lvl1pPr>
              <a:defRPr/>
            </a:lvl1pPr>
          </a:lstStyle>
          <a:p>
            <a:fld id="{0E115D76-7911-47CE-A228-83184DA9589A}" type="slidenum">
              <a:rPr lang="zh-TW" altLang="en-US"/>
              <a:pPr/>
              <a:t>‹#›</a:t>
            </a:fld>
            <a:endParaRPr lang="en-US" altLang="zh-TW"/>
          </a:p>
        </p:txBody>
      </p:sp>
    </p:spTree>
    <p:extLst>
      <p:ext uri="{BB962C8B-B14F-4D97-AF65-F5344CB8AC3E}">
        <p14:creationId xmlns:p14="http://schemas.microsoft.com/office/powerpoint/2010/main" val="4069168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7" name="Espace réservé du numéro de diapositive 5"/>
          <p:cNvSpPr>
            <a:spLocks noGrp="1"/>
          </p:cNvSpPr>
          <p:nvPr>
            <p:ph type="sldNum" sz="quarter" idx="12"/>
          </p:nvPr>
        </p:nvSpPr>
        <p:spPr/>
        <p:txBody>
          <a:bodyPr/>
          <a:lstStyle>
            <a:lvl1pPr>
              <a:defRPr/>
            </a:lvl1pPr>
          </a:lstStyle>
          <a:p>
            <a:fld id="{40041847-12F8-4A2C-824D-CBE782240674}" type="slidenum">
              <a:rPr lang="zh-TW" altLang="en-US"/>
              <a:pPr/>
              <a:t>‹#›</a:t>
            </a:fld>
            <a:endParaRPr lang="en-US" altLang="zh-TW"/>
          </a:p>
        </p:txBody>
      </p:sp>
    </p:spTree>
    <p:extLst>
      <p:ext uri="{BB962C8B-B14F-4D97-AF65-F5344CB8AC3E}">
        <p14:creationId xmlns:p14="http://schemas.microsoft.com/office/powerpoint/2010/main" val="9620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3"/>
          <p:cNvSpPr>
            <a:spLocks noGrp="1"/>
          </p:cNvSpPr>
          <p:nvPr>
            <p:ph type="dt" sz="half" idx="10"/>
          </p:nvPr>
        </p:nvSpPr>
        <p:spPr/>
        <p:txBody>
          <a:bodyPr/>
          <a:lstStyle>
            <a:lvl1pPr>
              <a:defRPr/>
            </a:lvl1pPr>
          </a:lstStyle>
          <a:p>
            <a:pPr>
              <a:defRPr/>
            </a:pPr>
            <a:endParaRPr lang="en-US" altLang="zh-TW"/>
          </a:p>
        </p:txBody>
      </p:sp>
      <p:sp>
        <p:nvSpPr>
          <p:cNvPr id="6"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7" name="Espace réservé du numéro de diapositive 5"/>
          <p:cNvSpPr>
            <a:spLocks noGrp="1"/>
          </p:cNvSpPr>
          <p:nvPr>
            <p:ph type="sldNum" sz="quarter" idx="12"/>
          </p:nvPr>
        </p:nvSpPr>
        <p:spPr/>
        <p:txBody>
          <a:bodyPr/>
          <a:lstStyle>
            <a:lvl1pPr>
              <a:defRPr/>
            </a:lvl1pPr>
          </a:lstStyle>
          <a:p>
            <a:fld id="{AADE8D2A-D217-4FAA-B124-64203461B255}" type="slidenum">
              <a:rPr lang="zh-TW" altLang="en-US"/>
              <a:pPr/>
              <a:t>‹#›</a:t>
            </a:fld>
            <a:endParaRPr lang="en-US" altLang="zh-TW"/>
          </a:p>
        </p:txBody>
      </p:sp>
    </p:spTree>
    <p:extLst>
      <p:ext uri="{BB962C8B-B14F-4D97-AF65-F5344CB8AC3E}">
        <p14:creationId xmlns:p14="http://schemas.microsoft.com/office/powerpoint/2010/main" val="3240353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12"/>
          </p:nvPr>
        </p:nvSpPr>
        <p:spPr/>
        <p:txBody>
          <a:bodyPr/>
          <a:lstStyle>
            <a:lvl1pPr>
              <a:defRPr/>
            </a:lvl1pPr>
          </a:lstStyle>
          <a:p>
            <a:fld id="{C121AD95-6539-4ED5-8AB9-D33F141D371D}" type="slidenum">
              <a:rPr lang="zh-TW" altLang="en-US"/>
              <a:pPr/>
              <a:t>‹#›</a:t>
            </a:fld>
            <a:endParaRPr lang="en-US" altLang="zh-TW"/>
          </a:p>
        </p:txBody>
      </p:sp>
    </p:spTree>
    <p:extLst>
      <p:ext uri="{BB962C8B-B14F-4D97-AF65-F5344CB8AC3E}">
        <p14:creationId xmlns:p14="http://schemas.microsoft.com/office/powerpoint/2010/main" val="177431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endParaRPr lang="en-US" altLang="zh-TW"/>
          </a:p>
        </p:txBody>
      </p:sp>
      <p:sp>
        <p:nvSpPr>
          <p:cNvPr id="5" name="Espace réservé du pied de page 4"/>
          <p:cNvSpPr>
            <a:spLocks noGrp="1"/>
          </p:cNvSpPr>
          <p:nvPr>
            <p:ph type="ftr" sz="quarter" idx="11"/>
          </p:nvPr>
        </p:nvSpPr>
        <p:spPr/>
        <p:txBody>
          <a:bodyPr/>
          <a:lstStyle>
            <a:lvl1pPr>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12"/>
          </p:nvPr>
        </p:nvSpPr>
        <p:spPr/>
        <p:txBody>
          <a:bodyPr/>
          <a:lstStyle>
            <a:lvl1pPr>
              <a:defRPr/>
            </a:lvl1pPr>
          </a:lstStyle>
          <a:p>
            <a:fld id="{457FA659-1C44-46FA-8082-6301C6EFD7D9}" type="slidenum">
              <a:rPr lang="zh-TW" altLang="en-US"/>
              <a:pPr/>
              <a:t>‹#›</a:t>
            </a:fld>
            <a:endParaRPr lang="en-US" altLang="zh-TW"/>
          </a:p>
        </p:txBody>
      </p:sp>
    </p:spTree>
    <p:extLst>
      <p:ext uri="{BB962C8B-B14F-4D97-AF65-F5344CB8AC3E}">
        <p14:creationId xmlns:p14="http://schemas.microsoft.com/office/powerpoint/2010/main" val="1245806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609600" y="228600"/>
            <a:ext cx="7848600" cy="1143000"/>
          </a:xfrm>
        </p:spPr>
        <p:txBody>
          <a:bodyPr/>
          <a:lstStyle/>
          <a:p>
            <a:r>
              <a:rPr lang="fr-FR"/>
              <a:t>Modifiez le style du titre</a:t>
            </a:r>
          </a:p>
        </p:txBody>
      </p:sp>
      <p:sp>
        <p:nvSpPr>
          <p:cNvPr id="3" name="Espace réservé du texte 2"/>
          <p:cNvSpPr>
            <a:spLocks noGrp="1"/>
          </p:cNvSpPr>
          <p:nvPr>
            <p:ph type="body" sz="half" idx="1"/>
          </p:nvPr>
        </p:nvSpPr>
        <p:spPr>
          <a:xfrm>
            <a:off x="609600" y="1676400"/>
            <a:ext cx="3848100" cy="4800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610100" y="1676400"/>
            <a:ext cx="3848100" cy="23241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4610100" y="4152900"/>
            <a:ext cx="3848100" cy="23241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10"/>
          </p:nvPr>
        </p:nvSpPr>
        <p:spPr>
          <a:xfrm>
            <a:off x="3124200" y="6248400"/>
            <a:ext cx="2895600" cy="457200"/>
          </a:xfrm>
        </p:spPr>
        <p:txBody>
          <a:bodyPr/>
          <a:lstStyle>
            <a:lvl1pPr>
              <a:defRPr/>
            </a:lvl1pPr>
          </a:lstStyle>
          <a:p>
            <a:pPr>
              <a:defRPr/>
            </a:pPr>
            <a:r>
              <a:rPr lang="nl-NL" altLang="zh-TW"/>
              <a:t>CS 2321: D.S.A (-Trees-)</a:t>
            </a:r>
            <a:endParaRPr lang="en-US" altLang="zh-TW"/>
          </a:p>
        </p:txBody>
      </p:sp>
      <p:sp>
        <p:nvSpPr>
          <p:cNvPr id="7" name="Espace réservé du numéro de diapositive 6"/>
          <p:cNvSpPr>
            <a:spLocks noGrp="1"/>
          </p:cNvSpPr>
          <p:nvPr>
            <p:ph type="sldNum" sz="quarter" idx="11"/>
          </p:nvPr>
        </p:nvSpPr>
        <p:spPr>
          <a:xfrm>
            <a:off x="7772400" y="6248400"/>
            <a:ext cx="1217613" cy="533400"/>
          </a:xfrm>
        </p:spPr>
        <p:txBody>
          <a:bodyPr/>
          <a:lstStyle>
            <a:lvl1pPr>
              <a:defRPr/>
            </a:lvl1pPr>
          </a:lstStyle>
          <a:p>
            <a:fld id="{BA9C334E-621B-4ACC-BD07-8C95401BB8C2}" type="slidenum">
              <a:rPr lang="zh-TW" altLang="en-US"/>
              <a:pPr/>
              <a:t>‹#›</a:t>
            </a:fld>
            <a:endParaRPr lang="en-US" altLang="zh-TW"/>
          </a:p>
        </p:txBody>
      </p:sp>
      <p:sp>
        <p:nvSpPr>
          <p:cNvPr id="8" name="Espace réservé de la date 7"/>
          <p:cNvSpPr>
            <a:spLocks noGrp="1"/>
          </p:cNvSpPr>
          <p:nvPr>
            <p:ph type="dt" sz="half" idx="12"/>
          </p:nvPr>
        </p:nvSpPr>
        <p:spPr>
          <a:xfrm>
            <a:off x="685800" y="6248400"/>
            <a:ext cx="1905000" cy="457200"/>
          </a:xfrm>
        </p:spPr>
        <p:txBody>
          <a:bodyPr/>
          <a:lstStyle>
            <a:lvl1pPr>
              <a:defRPr/>
            </a:lvl1pPr>
          </a:lstStyle>
          <a:p>
            <a:pPr>
              <a:defRPr/>
            </a:pPr>
            <a:endParaRPr lang="en-US" altLang="zh-TW"/>
          </a:p>
        </p:txBody>
      </p:sp>
    </p:spTree>
    <p:extLst>
      <p:ext uri="{BB962C8B-B14F-4D97-AF65-F5344CB8AC3E}">
        <p14:creationId xmlns:p14="http://schemas.microsoft.com/office/powerpoint/2010/main" val="2922178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Modifiez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spcBef>
                <a:spcPct val="20000"/>
              </a:spcBef>
              <a:buClr>
                <a:schemeClr val="tx2"/>
              </a:buClr>
              <a:buSzPct val="75000"/>
              <a:buFont typeface="Monotype Sorts" pitchFamily="2" charset="2"/>
              <a:buChar char="l"/>
              <a:defRPr sz="1200">
                <a:solidFill>
                  <a:schemeClr val="tx1">
                    <a:tint val="75000"/>
                  </a:schemeClr>
                </a:solidFill>
                <a:latin typeface="Arial" charset="0"/>
                <a:cs typeface="+mn-cs"/>
              </a:defRPr>
            </a:lvl1pPr>
          </a:lstStyle>
          <a:p>
            <a:pPr>
              <a:defRPr/>
            </a:pPr>
            <a:endParaRPr lang="en-US" altLang="zh-TW"/>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spcBef>
                <a:spcPct val="20000"/>
              </a:spcBef>
              <a:buClr>
                <a:schemeClr val="tx2"/>
              </a:buClr>
              <a:buSzPct val="75000"/>
              <a:buFont typeface="Monotype Sorts" pitchFamily="2" charset="2"/>
              <a:buChar char="l"/>
              <a:defRPr sz="1200">
                <a:solidFill>
                  <a:schemeClr val="tx1">
                    <a:tint val="75000"/>
                  </a:schemeClr>
                </a:solidFill>
                <a:latin typeface="Arial" charset="0"/>
                <a:cs typeface="+mn-cs"/>
              </a:defRPr>
            </a:lvl1pPr>
          </a:lstStyle>
          <a:p>
            <a:pPr>
              <a:defRPr/>
            </a:pPr>
            <a:r>
              <a:rPr lang="nl-NL" altLang="zh-TW"/>
              <a:t>CS 2321: D.S.A (-Trees-)</a:t>
            </a:r>
            <a:endParaRPr lang="en-US" altLang="zh-TW"/>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0" hangingPunct="0">
              <a:spcBef>
                <a:spcPct val="20000"/>
              </a:spcBef>
              <a:buClr>
                <a:schemeClr val="tx2"/>
              </a:buClr>
              <a:buSzPct val="75000"/>
              <a:buFont typeface="Monotype Sorts" pitchFamily="2" charset="2"/>
              <a:buChar char="l"/>
              <a:defRPr sz="1200">
                <a:solidFill>
                  <a:srgbClr val="898989"/>
                </a:solidFill>
              </a:defRPr>
            </a:lvl1pPr>
          </a:lstStyle>
          <a:p>
            <a:fld id="{AE2908DD-1255-4BF4-8F69-613F9FED62E7}" type="slidenum">
              <a:rPr lang="zh-TW" altLang="en-US"/>
              <a:pPr/>
              <a:t>‹#›</a:t>
            </a:fld>
            <a:endParaRPr lang="en-US" altLang="zh-TW"/>
          </a:p>
        </p:txBody>
      </p:sp>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9.png"/><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oleObject" Target="../embeddings/oleObject9.bin"/></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oleObject" Target="../embeddings/oleObject13.bin"/><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14.bin"/><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oleObject" Target="../embeddings/oleObject15.bin"/><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16.bin"/><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oleObject" Target="../embeddings/oleObject17.bin"/></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oleObject" Target="../embeddings/oleObject18.bin"/><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oleObject" Target="../embeddings/oleObject19.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bg>
      <p:bgPr>
        <a:solidFill>
          <a:srgbClr val="BFBFBF"/>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58813" y="3762375"/>
            <a:ext cx="7772400" cy="1143000"/>
          </a:xfrm>
        </p:spPr>
        <p:txBody>
          <a:bodyPr/>
          <a:lstStyle/>
          <a:p>
            <a:pPr eaLnBrk="1" hangingPunct="1"/>
            <a:r>
              <a:rPr lang="en-US" altLang="fr-FR" sz="6600" b="1"/>
              <a:t>Trees</a:t>
            </a:r>
          </a:p>
        </p:txBody>
      </p:sp>
      <p:sp>
        <p:nvSpPr>
          <p:cNvPr id="2" name="Rectangle 1"/>
          <p:cNvSpPr/>
          <p:nvPr/>
        </p:nvSpPr>
        <p:spPr>
          <a:xfrm>
            <a:off x="1449069" y="1752600"/>
            <a:ext cx="6191887" cy="1975926"/>
          </a:xfrm>
          <a:prstGeom prst="rect">
            <a:avLst/>
          </a:prstGeom>
        </p:spPr>
        <p:txBody>
          <a:bodyPr wrap="none">
            <a:spAutoFit/>
          </a:bodyPr>
          <a:lstStyle/>
          <a:p>
            <a:pPr algn="ctr">
              <a:spcBef>
                <a:spcPct val="20000"/>
              </a:spcBef>
              <a:buClr>
                <a:schemeClr val="tx2"/>
              </a:buClr>
              <a:buSzPct val="75000"/>
              <a:buFont typeface="Monotype Sorts" pitchFamily="2" charset="2"/>
              <a:buNone/>
              <a:defRPr/>
            </a:pPr>
            <a:r>
              <a:rPr lang="en-US" sz="3600" dirty="0">
                <a:solidFill>
                  <a:schemeClr val="accent2"/>
                </a:solidFill>
                <a:latin typeface="+mj-lt"/>
                <a:ea typeface="+mj-ea"/>
                <a:cs typeface="+mj-cs"/>
              </a:rPr>
              <a:t>CS 2321</a:t>
            </a:r>
          </a:p>
          <a:p>
            <a:pPr algn="ctr">
              <a:spcBef>
                <a:spcPct val="20000"/>
              </a:spcBef>
              <a:buClr>
                <a:schemeClr val="tx2"/>
              </a:buClr>
              <a:buSzPct val="75000"/>
              <a:buFont typeface="Monotype Sorts" pitchFamily="2" charset="2"/>
              <a:buNone/>
              <a:defRPr/>
            </a:pPr>
            <a:r>
              <a:rPr lang="en-US" altLang="zh-TW" sz="3600">
                <a:solidFill>
                  <a:schemeClr val="accent2"/>
                </a:solidFill>
                <a:latin typeface="+mj-lt"/>
                <a:ea typeface="+mj-ea"/>
                <a:cs typeface="+mj-cs"/>
              </a:rPr>
              <a:t>Data Structures </a:t>
            </a:r>
            <a:r>
              <a:rPr lang="en-US" altLang="zh-TW" sz="3600" dirty="0">
                <a:solidFill>
                  <a:schemeClr val="accent2"/>
                </a:solidFill>
                <a:latin typeface="+mj-lt"/>
                <a:ea typeface="+mj-ea"/>
                <a:cs typeface="+mj-cs"/>
              </a:rPr>
              <a:t>and Algorithms</a:t>
            </a:r>
          </a:p>
          <a:p>
            <a:pPr algn="ctr">
              <a:spcBef>
                <a:spcPct val="20000"/>
              </a:spcBef>
              <a:buClr>
                <a:schemeClr val="tx2"/>
              </a:buClr>
              <a:buSzPct val="75000"/>
              <a:buFont typeface="Monotype Sorts" pitchFamily="2" charset="2"/>
              <a:buNone/>
              <a:defRPr/>
            </a:pPr>
            <a:endParaRPr lang="en-US" sz="3600" dirty="0">
              <a:solidFill>
                <a:schemeClr val="accent2"/>
              </a:solidFill>
              <a:latin typeface="+mj-lt"/>
              <a:ea typeface="+mj-ea"/>
              <a:cs typeface="+mj-cs"/>
            </a:endParaRPr>
          </a:p>
        </p:txBody>
      </p:sp>
      <p:pic>
        <p:nvPicPr>
          <p:cNvPr id="3076" name="Image 8" descr="C:\Users\mahdi\Desktop\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275" y="76200"/>
            <a:ext cx="18938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Rectangle 2"/>
          <p:cNvSpPr txBox="1">
            <a:spLocks noChangeArrowheads="1"/>
          </p:cNvSpPr>
          <p:nvPr/>
        </p:nvSpPr>
        <p:spPr bwMode="auto">
          <a:xfrm>
            <a:off x="228600" y="508635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buClr>
                <a:schemeClr val="tx2"/>
              </a:buClr>
              <a:buSzPct val="75000"/>
              <a:buFont typeface="Monotype Sorts" pitchFamily="2" charset="2"/>
              <a:buNone/>
            </a:pPr>
            <a:r>
              <a:rPr lang="en-US" altLang="fr-FR" sz="2400">
                <a:latin typeface="Calibri" panose="020F0502020204030204" pitchFamily="34" charset="0"/>
              </a:rPr>
              <a:t>Dr. Mahdi Khemakhem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BFBFBF"/>
        </a:solidFill>
        <a:effectLst/>
      </p:bgPr>
    </p:bg>
    <p:spTree>
      <p:nvGrpSpPr>
        <p:cNvPr id="1" name=""/>
        <p:cNvGrpSpPr/>
        <p:nvPr/>
      </p:nvGrpSpPr>
      <p:grpSpPr>
        <a:xfrm>
          <a:off x="0" y="0"/>
          <a:ext cx="0" cy="0"/>
          <a:chOff x="0" y="0"/>
          <a:chExt cx="0" cy="0"/>
        </a:xfrm>
      </p:grpSpPr>
      <p:sp>
        <p:nvSpPr>
          <p:cNvPr id="4098" name="Titre 1"/>
          <p:cNvSpPr>
            <a:spLocks noGrp="1"/>
          </p:cNvSpPr>
          <p:nvPr>
            <p:ph type="title"/>
          </p:nvPr>
        </p:nvSpPr>
        <p:spPr/>
        <p:txBody>
          <a:bodyPr/>
          <a:lstStyle/>
          <a:p>
            <a:pPr algn="l" eaLnBrk="1" hangingPunct="1"/>
            <a:r>
              <a:rPr lang="en-US" altLang="fr-FR" b="1"/>
              <a:t>Outlines</a:t>
            </a:r>
          </a:p>
        </p:txBody>
      </p:sp>
      <p:sp>
        <p:nvSpPr>
          <p:cNvPr id="3" name="Espace réservé du contenu 2"/>
          <p:cNvSpPr>
            <a:spLocks noGrp="1"/>
          </p:cNvSpPr>
          <p:nvPr>
            <p:ph idx="1"/>
          </p:nvPr>
        </p:nvSpPr>
        <p:spPr>
          <a:xfrm>
            <a:off x="609600" y="1676400"/>
            <a:ext cx="8382000" cy="4800600"/>
          </a:xfrm>
        </p:spPr>
        <p:txBody>
          <a:bodyPr rtlCol="0">
            <a:normAutofit/>
          </a:bodyPr>
          <a:lstStyle/>
          <a:p>
            <a:pPr marL="514350" indent="-514350" eaLnBrk="1" fontAlgn="auto" hangingPunct="1">
              <a:spcAft>
                <a:spcPts val="0"/>
              </a:spcAft>
              <a:buFont typeface="+mj-lt"/>
              <a:buAutoNum type="arabicPeriod"/>
              <a:defRPr/>
            </a:pPr>
            <a:r>
              <a:rPr lang="en-US" sz="4000" b="1" dirty="0"/>
              <a:t>Definitions and Terminologies</a:t>
            </a:r>
          </a:p>
          <a:p>
            <a:pPr marL="514350" indent="-514350" eaLnBrk="1" fontAlgn="auto" hangingPunct="1">
              <a:spcAft>
                <a:spcPts val="0"/>
              </a:spcAft>
              <a:buFont typeface="+mj-lt"/>
              <a:buAutoNum type="arabicPeriod"/>
              <a:defRPr/>
            </a:pPr>
            <a:r>
              <a:rPr lang="en-US" sz="4000" b="1" dirty="0"/>
              <a:t>Binary Trees </a:t>
            </a:r>
          </a:p>
          <a:p>
            <a:pPr marL="514350" indent="-514350" eaLnBrk="1" fontAlgn="auto" hangingPunct="1">
              <a:spcAft>
                <a:spcPts val="0"/>
              </a:spcAft>
              <a:buFont typeface="+mj-lt"/>
              <a:buAutoNum type="arabicPeriod"/>
              <a:defRPr/>
            </a:pPr>
            <a:r>
              <a:rPr lang="en-US" sz="4000" b="1" dirty="0"/>
              <a:t>Binary Search Trees</a:t>
            </a:r>
          </a:p>
          <a:p>
            <a:pPr marL="514350" indent="-514350" eaLnBrk="1" fontAlgn="auto" hangingPunct="1">
              <a:spcAft>
                <a:spcPts val="0"/>
              </a:spcAft>
              <a:buFont typeface="+mj-lt"/>
              <a:buAutoNum type="arabicPeriod"/>
              <a:defRPr/>
            </a:pPr>
            <a:r>
              <a:rPr lang="en-US" sz="4000" b="1" dirty="0"/>
              <a:t>AVL-Trees</a:t>
            </a:r>
          </a:p>
          <a:p>
            <a:pPr eaLnBrk="1" fontAlgn="auto" hangingPunct="1">
              <a:spcAft>
                <a:spcPts val="0"/>
              </a:spcAft>
              <a:defRPr/>
            </a:pPr>
            <a:endParaRPr lang="fr-FR" sz="2000" dirty="0"/>
          </a:p>
        </p:txBody>
      </p:sp>
      <p:sp>
        <p:nvSpPr>
          <p:cNvPr id="4" name="Espace réservé du pied de page 3"/>
          <p:cNvSpPr>
            <a:spLocks noGrp="1"/>
          </p:cNvSpPr>
          <p:nvPr>
            <p:ph type="ftr" sz="quarter" idx="11"/>
          </p:nvPr>
        </p:nvSpPr>
        <p:spPr/>
        <p:txBody>
          <a:bodyPr/>
          <a:lstStyle/>
          <a:p>
            <a:pPr>
              <a:defRPr/>
            </a:pPr>
            <a:r>
              <a:rPr lang="nl-NL" altLang="zh-TW"/>
              <a:t>CS 2321: D.S.A (-Trees-)</a:t>
            </a:r>
            <a:endParaRPr lang="en-US" altLang="zh-TW" dirty="0"/>
          </a:p>
        </p:txBody>
      </p:sp>
      <p:sp>
        <p:nvSpPr>
          <p:cNvPr id="5" name="Espace réservé du numéro de diapositive 4"/>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E2C1C758-CBC0-4711-AE59-279BE1DCD75D}" type="slidenum">
              <a:rPr lang="zh-TW" altLang="en-US" sz="1200">
                <a:solidFill>
                  <a:srgbClr val="898989"/>
                </a:solidFill>
              </a:rPr>
              <a:pPr/>
              <a:t>2</a:t>
            </a:fld>
            <a:endParaRPr lang="en-US" altLang="zh-TW"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bg>
      <p:bgPr>
        <a:solidFill>
          <a:srgbClr val="A6A6A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fr-FR" altLang="fr-FR" sz="4000" b="1"/>
              <a:t>1. Defintions and Terminoligies</a:t>
            </a:r>
            <a:endParaRPr lang="en-US" altLang="fr-FR" sz="4000" b="1"/>
          </a:p>
        </p:txBody>
      </p:sp>
      <p:sp>
        <p:nvSpPr>
          <p:cNvPr id="5123" name="Rectangle 1"/>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r>
              <a:rPr lang="fr-FR" altLang="fr-FR">
                <a:solidFill>
                  <a:srgbClr val="FF0000"/>
                </a:solidFill>
              </a:rPr>
              <a:t>Reading: Text Book (Weiss) 4.1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fr-FR"/>
              <a:t>Trees</a:t>
            </a:r>
          </a:p>
        </p:txBody>
      </p:sp>
      <p:sp>
        <p:nvSpPr>
          <p:cNvPr id="6147" name="Rectangle 3"/>
          <p:cNvSpPr>
            <a:spLocks noGrp="1" noChangeArrowheads="1"/>
          </p:cNvSpPr>
          <p:nvPr>
            <p:ph idx="1"/>
          </p:nvPr>
        </p:nvSpPr>
        <p:spPr>
          <a:xfrm>
            <a:off x="457200" y="1600200"/>
            <a:ext cx="8839200" cy="4525963"/>
          </a:xfrm>
        </p:spPr>
        <p:txBody>
          <a:bodyPr/>
          <a:lstStyle/>
          <a:p>
            <a:pPr eaLnBrk="1" hangingPunct="1"/>
            <a:r>
              <a:rPr lang="en-US" altLang="fr-FR"/>
              <a:t>Logarithm access time of linked lists is prohibitive</a:t>
            </a:r>
          </a:p>
          <a:p>
            <a:pPr lvl="1" eaLnBrk="1" hangingPunct="1"/>
            <a:r>
              <a:rPr lang="en-US" altLang="fr-FR"/>
              <a:t>Does there exist any simple data structure for which the running time of most operations (search, insert, delete) is O(log N)?</a:t>
            </a:r>
          </a:p>
          <a:p>
            <a:pPr lvl="1" eaLnBrk="1" hangingPunct="1"/>
            <a:endParaRPr lang="en-US"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D27700ED-D6B0-4461-8AED-C22AF69C3985}" type="slidenum">
              <a:rPr lang="zh-TW" altLang="en-US" sz="1200">
                <a:solidFill>
                  <a:srgbClr val="898989"/>
                </a:solidFill>
              </a:rPr>
              <a:pPr/>
              <a:t>4</a:t>
            </a:fld>
            <a:endParaRPr lang="en-US" altLang="zh-TW"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fr-FR"/>
              <a:t>Trees</a:t>
            </a:r>
          </a:p>
        </p:txBody>
      </p:sp>
      <p:sp>
        <p:nvSpPr>
          <p:cNvPr id="7171" name="Rectangle 3"/>
          <p:cNvSpPr>
            <a:spLocks noGrp="1" noChangeArrowheads="1"/>
          </p:cNvSpPr>
          <p:nvPr>
            <p:ph idx="1"/>
          </p:nvPr>
        </p:nvSpPr>
        <p:spPr/>
        <p:txBody>
          <a:bodyPr/>
          <a:lstStyle/>
          <a:p>
            <a:pPr eaLnBrk="1" hangingPunct="1"/>
            <a:r>
              <a:rPr lang="en-US" altLang="fr-FR"/>
              <a:t>A tree is a collection of nodes</a:t>
            </a:r>
          </a:p>
          <a:p>
            <a:pPr lvl="1" eaLnBrk="1" hangingPunct="1"/>
            <a:r>
              <a:rPr lang="en-US" altLang="fr-FR"/>
              <a:t>The collection can be empty</a:t>
            </a:r>
          </a:p>
          <a:p>
            <a:pPr lvl="1" eaLnBrk="1" hangingPunct="1"/>
            <a:r>
              <a:rPr lang="en-US" altLang="fr-FR"/>
              <a:t>(recursive definition) If not empty, a tree consists of a distinguished node r (the </a:t>
            </a:r>
            <a:r>
              <a:rPr lang="en-US" altLang="fr-FR" b="1" i="1">
                <a:solidFill>
                  <a:srgbClr val="FF0000"/>
                </a:solidFill>
              </a:rPr>
              <a:t>root</a:t>
            </a:r>
            <a:r>
              <a:rPr lang="en-US" altLang="fr-FR"/>
              <a:t>), and zero or more nonempty </a:t>
            </a:r>
            <a:r>
              <a:rPr lang="en-US" altLang="fr-FR" b="1" i="1">
                <a:solidFill>
                  <a:srgbClr val="FF0000"/>
                </a:solidFill>
              </a:rPr>
              <a:t>subtrees</a:t>
            </a:r>
            <a:r>
              <a:rPr lang="en-US" altLang="fr-FR">
                <a:solidFill>
                  <a:srgbClr val="FF0000"/>
                </a:solidFill>
              </a:rPr>
              <a:t> </a:t>
            </a:r>
            <a:r>
              <a:rPr lang="en-US" altLang="fr-FR"/>
              <a:t>T</a:t>
            </a:r>
            <a:r>
              <a:rPr lang="en-US" altLang="fr-FR" baseline="-25000"/>
              <a:t>1</a:t>
            </a:r>
            <a:r>
              <a:rPr lang="en-US" altLang="fr-FR"/>
              <a:t>, T</a:t>
            </a:r>
            <a:r>
              <a:rPr lang="en-US" altLang="fr-FR" baseline="-25000"/>
              <a:t>2</a:t>
            </a:r>
            <a:r>
              <a:rPr lang="en-US" altLang="fr-FR"/>
              <a:t>, ...., T</a:t>
            </a:r>
            <a:r>
              <a:rPr lang="en-US" altLang="fr-FR" baseline="-25000"/>
              <a:t>k</a:t>
            </a:r>
            <a:r>
              <a:rPr lang="en-US" altLang="fr-FR"/>
              <a:t>, each of whose roots are connected by a directed </a:t>
            </a:r>
            <a:r>
              <a:rPr lang="en-US" altLang="fr-FR" b="1" i="1">
                <a:solidFill>
                  <a:srgbClr val="FF0000"/>
                </a:solidFill>
              </a:rPr>
              <a:t>edge</a:t>
            </a:r>
            <a:r>
              <a:rPr lang="en-US" altLang="fr-FR">
                <a:solidFill>
                  <a:srgbClr val="FF0000"/>
                </a:solidFill>
              </a:rPr>
              <a:t> </a:t>
            </a:r>
            <a:r>
              <a:rPr lang="en-US" altLang="fr-FR"/>
              <a:t>from r</a:t>
            </a:r>
          </a:p>
          <a:p>
            <a:pPr lvl="1" eaLnBrk="1" hangingPunct="1"/>
            <a:endParaRPr lang="en-US"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8ABF68E-9801-4F4B-89F8-6126810A6B80}" type="slidenum">
              <a:rPr lang="zh-TW" altLang="en-US" sz="1200">
                <a:solidFill>
                  <a:srgbClr val="898989"/>
                </a:solidFill>
              </a:rPr>
              <a:pPr/>
              <a:t>5</a:t>
            </a:fld>
            <a:endParaRPr lang="en-US" altLang="zh-TW" sz="1200">
              <a:solidFill>
                <a:srgbClr val="898989"/>
              </a:solidFill>
            </a:endParaRPr>
          </a:p>
        </p:txBody>
      </p:sp>
      <p:pic>
        <p:nvPicPr>
          <p:cNvPr id="7174" name="Picture 4" descr="fig4_1"/>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609600" y="4419600"/>
            <a:ext cx="7669213" cy="202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fr-FR"/>
              <a:t>Some Terminologies</a:t>
            </a:r>
          </a:p>
        </p:txBody>
      </p:sp>
      <p:sp>
        <p:nvSpPr>
          <p:cNvPr id="199683" name="Rectangle 3"/>
          <p:cNvSpPr>
            <a:spLocks noGrp="1" noChangeArrowheads="1"/>
          </p:cNvSpPr>
          <p:nvPr>
            <p:ph idx="1"/>
          </p:nvPr>
        </p:nvSpPr>
        <p:spPr/>
        <p:txBody>
          <a:bodyPr rtlCol="0">
            <a:normAutofit fontScale="92500" lnSpcReduction="10000"/>
          </a:bodyPr>
          <a:lstStyle/>
          <a:p>
            <a:pPr eaLnBrk="1" fontAlgn="auto" hangingPunct="1">
              <a:spcAft>
                <a:spcPts val="0"/>
              </a:spcAft>
              <a:defRPr/>
            </a:pPr>
            <a:endParaRPr lang="en-US" i="1" dirty="0"/>
          </a:p>
          <a:p>
            <a:pPr eaLnBrk="1" fontAlgn="auto" hangingPunct="1">
              <a:spcAft>
                <a:spcPts val="0"/>
              </a:spcAft>
              <a:defRPr/>
            </a:pPr>
            <a:endParaRPr lang="en-US" i="1" dirty="0"/>
          </a:p>
          <a:p>
            <a:pPr eaLnBrk="1" fontAlgn="auto" hangingPunct="1">
              <a:spcAft>
                <a:spcPts val="0"/>
              </a:spcAft>
              <a:defRPr/>
            </a:pPr>
            <a:endParaRPr lang="en-US" i="1" dirty="0"/>
          </a:p>
          <a:p>
            <a:pPr eaLnBrk="1" fontAlgn="auto" hangingPunct="1">
              <a:spcAft>
                <a:spcPts val="0"/>
              </a:spcAft>
              <a:defRPr/>
            </a:pPr>
            <a:endParaRPr lang="en-US" i="1" dirty="0"/>
          </a:p>
          <a:p>
            <a:pPr eaLnBrk="1" fontAlgn="auto" hangingPunct="1">
              <a:spcAft>
                <a:spcPts val="0"/>
              </a:spcAft>
              <a:defRPr/>
            </a:pPr>
            <a:r>
              <a:rPr lang="en-US" sz="2400" b="1" i="1" dirty="0">
                <a:solidFill>
                  <a:srgbClr val="FF0000"/>
                </a:solidFill>
              </a:rPr>
              <a:t>Child</a:t>
            </a:r>
            <a:r>
              <a:rPr lang="en-US" sz="2400" dirty="0"/>
              <a:t> and </a:t>
            </a:r>
            <a:r>
              <a:rPr lang="en-US" sz="2400" b="1" i="1" dirty="0">
                <a:solidFill>
                  <a:srgbClr val="FF0000"/>
                </a:solidFill>
              </a:rPr>
              <a:t>parent</a:t>
            </a:r>
          </a:p>
          <a:p>
            <a:pPr lvl="1" eaLnBrk="1" fontAlgn="auto" hangingPunct="1">
              <a:spcAft>
                <a:spcPts val="0"/>
              </a:spcAft>
              <a:defRPr/>
            </a:pPr>
            <a:r>
              <a:rPr lang="en-US" sz="2000" dirty="0"/>
              <a:t>Every node except the root has one parent </a:t>
            </a:r>
          </a:p>
          <a:p>
            <a:pPr lvl="1" eaLnBrk="1" fontAlgn="auto" hangingPunct="1">
              <a:spcAft>
                <a:spcPts val="0"/>
              </a:spcAft>
              <a:defRPr/>
            </a:pPr>
            <a:r>
              <a:rPr lang="en-US" sz="2000" dirty="0"/>
              <a:t>A node can have an arbitrary number of children</a:t>
            </a:r>
          </a:p>
          <a:p>
            <a:pPr eaLnBrk="1" fontAlgn="auto" hangingPunct="1">
              <a:spcAft>
                <a:spcPts val="0"/>
              </a:spcAft>
              <a:defRPr/>
            </a:pPr>
            <a:r>
              <a:rPr lang="en-US" sz="2400" b="1" i="1" dirty="0">
                <a:solidFill>
                  <a:srgbClr val="FF0000"/>
                </a:solidFill>
              </a:rPr>
              <a:t>Leaves</a:t>
            </a:r>
          </a:p>
          <a:p>
            <a:pPr lvl="1" eaLnBrk="1" fontAlgn="auto" hangingPunct="1">
              <a:spcAft>
                <a:spcPts val="0"/>
              </a:spcAft>
              <a:defRPr/>
            </a:pPr>
            <a:r>
              <a:rPr lang="en-US" sz="2000" dirty="0"/>
              <a:t>Nodes with no children </a:t>
            </a:r>
          </a:p>
          <a:p>
            <a:pPr eaLnBrk="1" fontAlgn="auto" hangingPunct="1">
              <a:spcAft>
                <a:spcPts val="0"/>
              </a:spcAft>
              <a:defRPr/>
            </a:pPr>
            <a:r>
              <a:rPr lang="en-US" sz="2400" b="1" i="1" dirty="0">
                <a:solidFill>
                  <a:srgbClr val="FF0000"/>
                </a:solidFill>
              </a:rPr>
              <a:t>Sibling</a:t>
            </a:r>
          </a:p>
          <a:p>
            <a:pPr lvl="1" eaLnBrk="1" fontAlgn="auto" hangingPunct="1">
              <a:spcAft>
                <a:spcPts val="0"/>
              </a:spcAft>
              <a:defRPr/>
            </a:pPr>
            <a:r>
              <a:rPr lang="en-US" sz="2000" dirty="0"/>
              <a:t>nodes with same parent</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ECC063E5-8D7D-446E-B0AF-9E5F2A7C62B6}" type="slidenum">
              <a:rPr lang="zh-TW" altLang="en-US" sz="1200">
                <a:solidFill>
                  <a:srgbClr val="898989"/>
                </a:solidFill>
              </a:rPr>
              <a:pPr/>
              <a:t>6</a:t>
            </a:fld>
            <a:endParaRPr lang="en-US" altLang="zh-TW" sz="1200">
              <a:solidFill>
                <a:srgbClr val="898989"/>
              </a:solidFill>
            </a:endParaRPr>
          </a:p>
        </p:txBody>
      </p:sp>
      <p:pic>
        <p:nvPicPr>
          <p:cNvPr id="8198" name="Picture 4" descr="fig4_2"/>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600200" y="1524000"/>
            <a:ext cx="56673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fr-FR"/>
              <a:t>Some Terminologies</a:t>
            </a:r>
          </a:p>
        </p:txBody>
      </p:sp>
      <p:sp>
        <p:nvSpPr>
          <p:cNvPr id="200707" name="Rectangle 3"/>
          <p:cNvSpPr>
            <a:spLocks noGrp="1" noChangeArrowheads="1"/>
          </p:cNvSpPr>
          <p:nvPr>
            <p:ph idx="1"/>
          </p:nvPr>
        </p:nvSpPr>
        <p:spPr>
          <a:xfrm>
            <a:off x="76200" y="1600200"/>
            <a:ext cx="9067800" cy="4525963"/>
          </a:xfrm>
        </p:spPr>
        <p:txBody>
          <a:bodyPr rtlCol="0">
            <a:normAutofit/>
          </a:bodyPr>
          <a:lstStyle/>
          <a:p>
            <a:pPr eaLnBrk="1" hangingPunct="1">
              <a:buFont typeface="Arial" charset="0"/>
              <a:buChar char="•"/>
              <a:defRPr/>
            </a:pPr>
            <a:r>
              <a:rPr lang="en-US" sz="2400" b="1" i="1" dirty="0">
                <a:solidFill>
                  <a:srgbClr val="FF0000"/>
                </a:solidFill>
              </a:rPr>
              <a:t>Path</a:t>
            </a:r>
            <a:r>
              <a:rPr lang="en-US" sz="2400" b="1" dirty="0">
                <a:solidFill>
                  <a:srgbClr val="FF0000"/>
                </a:solidFill>
              </a:rPr>
              <a:t> </a:t>
            </a:r>
            <a:r>
              <a:rPr lang="en-US" sz="2400" dirty="0"/>
              <a:t>from node </a:t>
            </a:r>
            <a:r>
              <a:rPr lang="en-US" sz="2400" i="1" dirty="0"/>
              <a:t>n</a:t>
            </a:r>
            <a:r>
              <a:rPr lang="en-US" sz="2400" baseline="-25000" dirty="0"/>
              <a:t>1</a:t>
            </a:r>
            <a:r>
              <a:rPr lang="en-US" sz="2400" dirty="0"/>
              <a:t> to </a:t>
            </a:r>
            <a:r>
              <a:rPr lang="en-US" sz="2400" i="1" dirty="0" err="1"/>
              <a:t>n</a:t>
            </a:r>
            <a:r>
              <a:rPr lang="en-US" sz="2400" baseline="-25000" dirty="0" err="1"/>
              <a:t>k</a:t>
            </a:r>
            <a:r>
              <a:rPr lang="en-US" sz="2400" i="1" dirty="0"/>
              <a:t> </a:t>
            </a:r>
            <a:r>
              <a:rPr lang="en-US" sz="2400" dirty="0"/>
              <a:t>is defined as a sequence of nodes </a:t>
            </a:r>
            <a:r>
              <a:rPr lang="en-US" sz="2400" i="1" dirty="0"/>
              <a:t>n</a:t>
            </a:r>
            <a:r>
              <a:rPr lang="en-US" sz="2400" baseline="-25000" dirty="0"/>
              <a:t>1</a:t>
            </a:r>
            <a:r>
              <a:rPr lang="en-US" sz="2400" dirty="0"/>
              <a:t>, </a:t>
            </a:r>
            <a:r>
              <a:rPr lang="en-US" sz="2400" i="1" dirty="0"/>
              <a:t>n</a:t>
            </a:r>
            <a:r>
              <a:rPr lang="en-US" sz="2400" baseline="-25000" dirty="0"/>
              <a:t>2</a:t>
            </a:r>
            <a:r>
              <a:rPr lang="en-US" sz="2400" dirty="0"/>
              <a:t>, </a:t>
            </a:r>
            <a:r>
              <a:rPr lang="en-US" sz="2400" i="1" dirty="0"/>
              <a:t>. . . </a:t>
            </a:r>
            <a:r>
              <a:rPr lang="en-US" sz="2400" dirty="0"/>
              <a:t>, </a:t>
            </a:r>
            <a:r>
              <a:rPr lang="en-US" sz="2400" i="1" dirty="0" err="1"/>
              <a:t>n</a:t>
            </a:r>
            <a:r>
              <a:rPr lang="en-US" sz="2400" baseline="-25000" dirty="0" err="1"/>
              <a:t>k</a:t>
            </a:r>
            <a:r>
              <a:rPr lang="en-US" sz="2400" i="1" dirty="0"/>
              <a:t> </a:t>
            </a:r>
            <a:r>
              <a:rPr lang="en-US" sz="2400" dirty="0"/>
              <a:t>such that </a:t>
            </a:r>
            <a:r>
              <a:rPr lang="en-US" sz="2400" i="1" dirty="0" err="1"/>
              <a:t>n</a:t>
            </a:r>
            <a:r>
              <a:rPr lang="en-US" sz="2400" baseline="-25000" dirty="0" err="1"/>
              <a:t>i</a:t>
            </a:r>
            <a:r>
              <a:rPr lang="en-US" sz="2400" i="1" dirty="0"/>
              <a:t> </a:t>
            </a:r>
            <a:r>
              <a:rPr lang="en-US" sz="2400" dirty="0"/>
              <a:t>is the parent of </a:t>
            </a:r>
            <a:r>
              <a:rPr lang="en-US" sz="2400" i="1" dirty="0"/>
              <a:t>n</a:t>
            </a:r>
            <a:r>
              <a:rPr lang="en-US" sz="2400" baseline="-25000" dirty="0"/>
              <a:t>i+1</a:t>
            </a:r>
            <a:r>
              <a:rPr lang="en-US" sz="2400" dirty="0"/>
              <a:t> for 1 ≤ </a:t>
            </a:r>
            <a:r>
              <a:rPr lang="en-US" sz="2400" i="1" dirty="0"/>
              <a:t>i &lt; k</a:t>
            </a:r>
            <a:r>
              <a:rPr lang="en-US" sz="2400" dirty="0"/>
              <a:t>.</a:t>
            </a:r>
            <a:endParaRPr lang="en-US" sz="2400" i="1" dirty="0"/>
          </a:p>
          <a:p>
            <a:pPr eaLnBrk="1" fontAlgn="auto" hangingPunct="1">
              <a:spcAft>
                <a:spcPts val="0"/>
              </a:spcAft>
              <a:defRPr/>
            </a:pPr>
            <a:r>
              <a:rPr lang="en-US" sz="2400" b="1" i="1" dirty="0">
                <a:solidFill>
                  <a:srgbClr val="FF0000"/>
                </a:solidFill>
              </a:rPr>
              <a:t>Length of a path: </a:t>
            </a:r>
            <a:r>
              <a:rPr lang="en-US" sz="2000" dirty="0"/>
              <a:t>number of edges on the path</a:t>
            </a:r>
          </a:p>
          <a:p>
            <a:pPr eaLnBrk="1" fontAlgn="auto" hangingPunct="1">
              <a:spcAft>
                <a:spcPts val="0"/>
              </a:spcAft>
              <a:defRPr/>
            </a:pPr>
            <a:r>
              <a:rPr lang="en-US" sz="2400" b="1" i="1" dirty="0">
                <a:solidFill>
                  <a:srgbClr val="FF0000"/>
                </a:solidFill>
              </a:rPr>
              <a:t>Depth</a:t>
            </a:r>
            <a:r>
              <a:rPr lang="en-US" sz="2400" b="1" dirty="0">
                <a:solidFill>
                  <a:srgbClr val="FF0000"/>
                </a:solidFill>
              </a:rPr>
              <a:t> </a:t>
            </a:r>
            <a:r>
              <a:rPr lang="en-US" sz="2400" b="1" i="1" dirty="0">
                <a:solidFill>
                  <a:srgbClr val="FF0000"/>
                </a:solidFill>
              </a:rPr>
              <a:t>of a node</a:t>
            </a:r>
            <a:r>
              <a:rPr lang="en-US" sz="2400" b="1" dirty="0">
                <a:solidFill>
                  <a:srgbClr val="FF0000"/>
                </a:solidFill>
              </a:rPr>
              <a:t>: </a:t>
            </a:r>
            <a:r>
              <a:rPr lang="en-US" sz="2000" dirty="0"/>
              <a:t>is the length of the </a:t>
            </a:r>
            <a:r>
              <a:rPr lang="en-US" sz="2000" b="1" u="sng" dirty="0"/>
              <a:t>unique path</a:t>
            </a:r>
            <a:r>
              <a:rPr lang="en-US" sz="2000" dirty="0"/>
              <a:t> from the root to that node</a:t>
            </a:r>
          </a:p>
          <a:p>
            <a:pPr marL="342900" lvl="1" indent="-342900" eaLnBrk="1" fontAlgn="auto" hangingPunct="1">
              <a:spcAft>
                <a:spcPts val="0"/>
              </a:spcAft>
              <a:buFont typeface="Arial" panose="020B0604020202020204" pitchFamily="34" charset="0"/>
              <a:buChar char="•"/>
              <a:defRPr/>
            </a:pPr>
            <a:r>
              <a:rPr lang="en-US" sz="2400" b="1" i="1" dirty="0">
                <a:solidFill>
                  <a:srgbClr val="FF0000"/>
                </a:solidFill>
              </a:rPr>
              <a:t>Depth of a tree: </a:t>
            </a:r>
            <a:r>
              <a:rPr lang="en-US" sz="2000" dirty="0"/>
              <a:t>is equal to the depth of the </a:t>
            </a:r>
            <a:r>
              <a:rPr lang="en-US" sz="2000" b="1" u="sng" dirty="0"/>
              <a:t>deepest leaf</a:t>
            </a:r>
          </a:p>
          <a:p>
            <a:pPr eaLnBrk="1" fontAlgn="auto" hangingPunct="1">
              <a:spcAft>
                <a:spcPts val="0"/>
              </a:spcAft>
              <a:defRPr/>
            </a:pPr>
            <a:r>
              <a:rPr lang="en-US" sz="2400" b="1" i="1" dirty="0">
                <a:solidFill>
                  <a:srgbClr val="FF0000"/>
                </a:solidFill>
              </a:rPr>
              <a:t>Height of a node: </a:t>
            </a:r>
            <a:r>
              <a:rPr lang="en-US" sz="2000" dirty="0"/>
              <a:t>is the length of the </a:t>
            </a:r>
            <a:r>
              <a:rPr lang="en-US" sz="2000" b="1" u="sng" dirty="0"/>
              <a:t>longest path </a:t>
            </a:r>
            <a:r>
              <a:rPr lang="en-US" sz="2000" dirty="0"/>
              <a:t>from that node to a leaf</a:t>
            </a:r>
          </a:p>
          <a:p>
            <a:pPr lvl="1" eaLnBrk="1" fontAlgn="auto" hangingPunct="1">
              <a:spcAft>
                <a:spcPts val="0"/>
              </a:spcAft>
              <a:defRPr/>
            </a:pPr>
            <a:r>
              <a:rPr lang="en-US" sz="2000" dirty="0"/>
              <a:t>all leaves are at height 0</a:t>
            </a:r>
          </a:p>
          <a:p>
            <a:pPr marL="0" lvl="1" indent="355600" eaLnBrk="1" fontAlgn="auto" hangingPunct="1">
              <a:spcAft>
                <a:spcPts val="0"/>
              </a:spcAft>
              <a:buFont typeface="Arial" panose="020B0604020202020204" pitchFamily="34" charset="0"/>
              <a:buChar char="•"/>
              <a:defRPr/>
            </a:pPr>
            <a:r>
              <a:rPr lang="en-US" sz="2400" b="1" i="1" dirty="0">
                <a:solidFill>
                  <a:srgbClr val="FF0000"/>
                </a:solidFill>
              </a:rPr>
              <a:t>The height of a tree: </a:t>
            </a:r>
            <a:r>
              <a:rPr lang="en-US" sz="2000" dirty="0"/>
              <a:t>is equal to the height of the root</a:t>
            </a:r>
          </a:p>
          <a:p>
            <a:pPr eaLnBrk="1" fontAlgn="auto" hangingPunct="1">
              <a:spcAft>
                <a:spcPts val="0"/>
              </a:spcAft>
              <a:defRPr/>
            </a:pPr>
            <a:r>
              <a:rPr lang="en-US" sz="2400" b="1" i="1" dirty="0">
                <a:solidFill>
                  <a:srgbClr val="FF0000"/>
                </a:solidFill>
              </a:rPr>
              <a:t>Ancestor</a:t>
            </a:r>
            <a:r>
              <a:rPr lang="en-US" sz="2400" b="1" dirty="0">
                <a:solidFill>
                  <a:srgbClr val="FF0000"/>
                </a:solidFill>
              </a:rPr>
              <a:t> and </a:t>
            </a:r>
            <a:r>
              <a:rPr lang="en-US" sz="2400" b="1" i="1" dirty="0">
                <a:solidFill>
                  <a:srgbClr val="FF0000"/>
                </a:solidFill>
              </a:rPr>
              <a:t>descendant</a:t>
            </a:r>
          </a:p>
          <a:p>
            <a:pPr lvl="1" eaLnBrk="1" fontAlgn="auto" hangingPunct="1">
              <a:spcAft>
                <a:spcPts val="0"/>
              </a:spcAft>
              <a:defRPr/>
            </a:pPr>
            <a:r>
              <a:rPr lang="en-US" sz="2000" dirty="0"/>
              <a:t>Proper ancestor and proper descendant</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CB390F6-03EF-4D68-9EEC-D1541F517846}" type="slidenum">
              <a:rPr lang="zh-TW" altLang="en-US" sz="1200">
                <a:solidFill>
                  <a:srgbClr val="898989"/>
                </a:solidFill>
              </a:rPr>
              <a:pPr/>
              <a:t>7</a:t>
            </a:fld>
            <a:endParaRPr lang="en-US" altLang="zh-TW" sz="120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fr-FR"/>
              <a:t>Example: UNIX Directory</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15505EF6-FABD-48F8-8A29-9A19770D525C}" type="slidenum">
              <a:rPr lang="zh-TW" altLang="en-US" sz="1200">
                <a:solidFill>
                  <a:srgbClr val="898989"/>
                </a:solidFill>
              </a:rPr>
              <a:pPr/>
              <a:t>8</a:t>
            </a:fld>
            <a:endParaRPr lang="en-US" altLang="zh-TW" sz="1200">
              <a:solidFill>
                <a:srgbClr val="898989"/>
              </a:solidFill>
            </a:endParaRPr>
          </a:p>
        </p:txBody>
      </p:sp>
      <p:pic>
        <p:nvPicPr>
          <p:cNvPr id="10245" name="Picture 3" descr="fig4_5"/>
          <p:cNvPicPr>
            <a:picLocks noChangeAspect="1" noChangeArrowheads="1"/>
          </p:cNvPicPr>
          <p:nvPr/>
        </p:nvPicPr>
        <p:blipFill>
          <a:blip r:embed="rId2">
            <a:lum bright="-20000" contrast="60000"/>
            <a:extLst>
              <a:ext uri="{28A0092B-C50C-407E-A947-70E740481C1C}">
                <a14:useLocalDpi xmlns:a14="http://schemas.microsoft.com/office/drawing/2010/main" val="0"/>
              </a:ext>
            </a:extLst>
          </a:blip>
          <a:srcRect r="3046"/>
          <a:stretch>
            <a:fillRect/>
          </a:stretch>
        </p:blipFill>
        <p:spPr bwMode="auto">
          <a:xfrm>
            <a:off x="152400" y="1619250"/>
            <a:ext cx="8732838"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BFBFBF"/>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p:txBody>
          <a:bodyPr/>
          <a:lstStyle/>
          <a:p>
            <a:pPr eaLnBrk="1" hangingPunct="1"/>
            <a:r>
              <a:rPr lang="fr-FR" altLang="fr-FR" sz="4000" b="1"/>
              <a:t>2. </a:t>
            </a:r>
            <a:r>
              <a:rPr lang="en-US" altLang="fr-FR" sz="4000" b="1"/>
              <a:t>Binary Trees</a:t>
            </a:r>
            <a:br>
              <a:rPr lang="en-US" altLang="fr-FR" sz="4000" b="1"/>
            </a:br>
            <a:endParaRPr lang="en-US" altLang="fr-FR" sz="4000" b="1"/>
          </a:p>
        </p:txBody>
      </p:sp>
      <p:sp>
        <p:nvSpPr>
          <p:cNvPr id="11267" name="Rectangle 3"/>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r>
              <a:rPr lang="fr-FR" altLang="fr-FR">
                <a:solidFill>
                  <a:srgbClr val="FF0000"/>
                </a:solidFill>
              </a:rPr>
              <a:t>Reading: Text Book (Weiss) 4.2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fr-FR"/>
              <a:t>Binary Trees</a:t>
            </a:r>
          </a:p>
        </p:txBody>
      </p:sp>
      <p:graphicFrame>
        <p:nvGraphicFramePr>
          <p:cNvPr id="12291" name="Object 6"/>
          <p:cNvGraphicFramePr>
            <a:graphicFrameLocks noGrp="1" noChangeAspect="1"/>
          </p:cNvGraphicFramePr>
          <p:nvPr>
            <p:ph idx="1"/>
          </p:nvPr>
        </p:nvGraphicFramePr>
        <p:xfrm>
          <a:off x="2590800" y="1981200"/>
          <a:ext cx="3846513" cy="1779588"/>
        </p:xfrm>
        <a:graphic>
          <a:graphicData uri="http://schemas.openxmlformats.org/presentationml/2006/ole">
            <mc:AlternateContent xmlns:mc="http://schemas.openxmlformats.org/markup-compatibility/2006">
              <mc:Choice xmlns:v="urn:schemas-microsoft-com:vml" Requires="v">
                <p:oleObj name="Bitmap Image" r:id="rId2" imgW="3952381" imgH="1828571" progId="Paint.Picture">
                  <p:embed/>
                </p:oleObj>
              </mc:Choice>
              <mc:Fallback>
                <p:oleObj name="Bitmap Image" r:id="rId2" imgW="3952381" imgH="1828571" progId="Paint.Picture">
                  <p:embed/>
                  <p:pic>
                    <p:nvPicPr>
                      <p:cNvPr id="0"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981200"/>
                        <a:ext cx="3846513" cy="17795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A581B9B2-D94F-4874-BF08-2C9A9C401BD3}" type="slidenum">
              <a:rPr lang="zh-TW" altLang="en-US" sz="1200">
                <a:solidFill>
                  <a:srgbClr val="898989"/>
                </a:solidFill>
              </a:rPr>
              <a:pPr/>
              <a:t>10</a:t>
            </a:fld>
            <a:endParaRPr lang="en-US" altLang="zh-TW" sz="1200">
              <a:solidFill>
                <a:srgbClr val="898989"/>
              </a:solidFill>
            </a:endParaRPr>
          </a:p>
        </p:txBody>
      </p:sp>
      <p:sp>
        <p:nvSpPr>
          <p:cNvPr id="12294" name="Rectangle 3"/>
          <p:cNvSpPr>
            <a:spLocks noGrp="1" noChangeArrowheads="1"/>
          </p:cNvSpPr>
          <p:nvPr>
            <p:ph type="body" idx="4294967295"/>
          </p:nvPr>
        </p:nvSpPr>
        <p:spPr>
          <a:xfrm>
            <a:off x="0" y="1447800"/>
            <a:ext cx="7848600" cy="5029200"/>
          </a:xfrm>
        </p:spPr>
        <p:txBody>
          <a:bodyPr/>
          <a:lstStyle/>
          <a:p>
            <a:pPr eaLnBrk="1" hangingPunct="1"/>
            <a:r>
              <a:rPr lang="en-US" altLang="fr-FR" sz="2000"/>
              <a:t>A tree in which no node can have more than two children</a:t>
            </a:r>
          </a:p>
          <a:p>
            <a:pPr eaLnBrk="1" hangingPunct="1"/>
            <a:endParaRPr lang="en-US" altLang="fr-FR" sz="2000"/>
          </a:p>
          <a:p>
            <a:pPr eaLnBrk="1" hangingPunct="1"/>
            <a:endParaRPr lang="en-US" altLang="fr-FR" sz="2000"/>
          </a:p>
          <a:p>
            <a:pPr eaLnBrk="1" hangingPunct="1"/>
            <a:endParaRPr lang="en-US" altLang="fr-FR" sz="2000"/>
          </a:p>
          <a:p>
            <a:pPr eaLnBrk="1" hangingPunct="1"/>
            <a:endParaRPr lang="en-US" altLang="fr-FR" sz="2000"/>
          </a:p>
          <a:p>
            <a:pPr eaLnBrk="1" hangingPunct="1"/>
            <a:endParaRPr lang="en-US" altLang="fr-FR" sz="900"/>
          </a:p>
          <a:p>
            <a:pPr eaLnBrk="1" hangingPunct="1"/>
            <a:endParaRPr lang="en-US" altLang="fr-FR" sz="900"/>
          </a:p>
          <a:p>
            <a:pPr eaLnBrk="1" hangingPunct="1"/>
            <a:endParaRPr lang="en-US" altLang="fr-FR" sz="2000"/>
          </a:p>
          <a:p>
            <a:pPr eaLnBrk="1" hangingPunct="1"/>
            <a:r>
              <a:rPr lang="en-US" altLang="fr-FR" sz="2000"/>
              <a:t>The depth of an “average” binary tree is considerably smaller than N, eventhough in the worst case, the depth can be as large as N – 1.</a:t>
            </a:r>
          </a:p>
        </p:txBody>
      </p:sp>
      <p:pic>
        <p:nvPicPr>
          <p:cNvPr id="12295" name="Picture 5" descr="fig4_12"/>
          <p:cNvPicPr>
            <a:picLocks noChangeAspect="1" noChangeArrowheads="1"/>
          </p:cNvPicPr>
          <p:nvPr/>
        </p:nvPicPr>
        <p:blipFill>
          <a:blip r:embed="rId4">
            <a:lum bright="-20000" contrast="40000"/>
            <a:extLst>
              <a:ext uri="{28A0092B-C50C-407E-A947-70E740481C1C}">
                <a14:useLocalDpi xmlns:a14="http://schemas.microsoft.com/office/drawing/2010/main" val="0"/>
              </a:ext>
            </a:extLst>
          </a:blip>
          <a:srcRect b="10492"/>
          <a:stretch>
            <a:fillRect/>
          </a:stretch>
        </p:blipFill>
        <p:spPr bwMode="auto">
          <a:xfrm>
            <a:off x="2667000" y="4724400"/>
            <a:ext cx="2895600"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fr-FR"/>
              <a:t>Example: Expression Trees</a:t>
            </a:r>
          </a:p>
        </p:txBody>
      </p:sp>
      <p:sp>
        <p:nvSpPr>
          <p:cNvPr id="13315" name="Rectangle 3"/>
          <p:cNvSpPr>
            <a:spLocks noGrp="1" noChangeArrowheads="1"/>
          </p:cNvSpPr>
          <p:nvPr>
            <p:ph idx="1"/>
          </p:nvPr>
        </p:nvSpPr>
        <p:spPr/>
        <p:txBody>
          <a:bodyPr/>
          <a:lstStyle/>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000"/>
          </a:p>
          <a:p>
            <a:pPr eaLnBrk="1" hangingPunct="1">
              <a:lnSpc>
                <a:spcPct val="90000"/>
              </a:lnSpc>
            </a:pPr>
            <a:endParaRPr lang="en-US" altLang="fr-FR" sz="2400"/>
          </a:p>
          <a:p>
            <a:pPr eaLnBrk="1" hangingPunct="1">
              <a:lnSpc>
                <a:spcPct val="90000"/>
              </a:lnSpc>
            </a:pPr>
            <a:r>
              <a:rPr lang="en-US" altLang="fr-FR" sz="2000"/>
              <a:t>Leaves are operands (constants or variables)</a:t>
            </a:r>
          </a:p>
          <a:p>
            <a:pPr eaLnBrk="1" hangingPunct="1">
              <a:lnSpc>
                <a:spcPct val="90000"/>
              </a:lnSpc>
            </a:pPr>
            <a:r>
              <a:rPr lang="en-US" altLang="fr-FR" sz="2000"/>
              <a:t>The other nodes (internal nodes) contain operators</a:t>
            </a:r>
          </a:p>
          <a:p>
            <a:pPr eaLnBrk="1" hangingPunct="1">
              <a:lnSpc>
                <a:spcPct val="90000"/>
              </a:lnSpc>
            </a:pPr>
            <a:r>
              <a:rPr lang="en-US" altLang="fr-FR" sz="2000"/>
              <a:t>Will not be a binary tree if some operators are not binary</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4B5C7C3F-18DA-462C-94C1-7816463890B5}" type="slidenum">
              <a:rPr lang="zh-TW" altLang="en-US" sz="1200">
                <a:solidFill>
                  <a:srgbClr val="898989"/>
                </a:solidFill>
              </a:rPr>
              <a:pPr/>
              <a:t>11</a:t>
            </a:fld>
            <a:endParaRPr lang="en-US" altLang="zh-TW" sz="1200">
              <a:solidFill>
                <a:srgbClr val="898989"/>
              </a:solidFill>
            </a:endParaRPr>
          </a:p>
        </p:txBody>
      </p:sp>
      <p:pic>
        <p:nvPicPr>
          <p:cNvPr id="13318" name="Picture 4" descr="fig4_14"/>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914400" y="1665288"/>
            <a:ext cx="7097713" cy="321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fr-FR" dirty="0"/>
              <a:t>Tree </a:t>
            </a:r>
            <a:r>
              <a:rPr lang="en-US" altLang="fr-FR" dirty="0">
                <a:solidFill>
                  <a:srgbClr val="FF0000"/>
                </a:solidFill>
              </a:rPr>
              <a:t>traversal</a:t>
            </a:r>
          </a:p>
        </p:txBody>
      </p:sp>
      <p:sp>
        <p:nvSpPr>
          <p:cNvPr id="14339" name="Rectangle 3"/>
          <p:cNvSpPr>
            <a:spLocks noGrp="1" noChangeArrowheads="1"/>
          </p:cNvSpPr>
          <p:nvPr>
            <p:ph idx="1"/>
          </p:nvPr>
        </p:nvSpPr>
        <p:spPr/>
        <p:txBody>
          <a:bodyPr/>
          <a:lstStyle/>
          <a:p>
            <a:pPr eaLnBrk="1" hangingPunct="1"/>
            <a:r>
              <a:rPr lang="en-US" altLang="fr-FR"/>
              <a:t>Used to print out the data in a tree in a certain order</a:t>
            </a:r>
          </a:p>
          <a:p>
            <a:pPr eaLnBrk="1" hangingPunct="1"/>
            <a:r>
              <a:rPr lang="en-US" altLang="fr-FR"/>
              <a:t>Pre-order traversal</a:t>
            </a:r>
          </a:p>
          <a:p>
            <a:pPr lvl="1" eaLnBrk="1" hangingPunct="1"/>
            <a:r>
              <a:rPr lang="en-US" altLang="fr-FR"/>
              <a:t>Print the data at the root</a:t>
            </a:r>
          </a:p>
          <a:p>
            <a:pPr lvl="1" eaLnBrk="1" hangingPunct="1"/>
            <a:r>
              <a:rPr lang="en-US" altLang="fr-FR"/>
              <a:t>Recursively print out all data in the left subtree</a:t>
            </a:r>
          </a:p>
          <a:p>
            <a:pPr lvl="1" eaLnBrk="1" hangingPunct="1"/>
            <a:r>
              <a:rPr lang="en-US" altLang="fr-FR"/>
              <a:t>Recursively print out all data in the right subtree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69EECCE9-EE75-414D-876F-FF8238258962}" type="slidenum">
              <a:rPr lang="zh-TW" altLang="en-US" sz="1200">
                <a:solidFill>
                  <a:srgbClr val="898989"/>
                </a:solidFill>
              </a:rPr>
              <a:pPr/>
              <a:t>12</a:t>
            </a:fld>
            <a:endParaRPr lang="en-US" altLang="zh-TW"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fr-FR" sz="4000"/>
              <a:t>Preorder, Postorder and Inorder</a:t>
            </a:r>
          </a:p>
        </p:txBody>
      </p:sp>
      <p:pic>
        <p:nvPicPr>
          <p:cNvPr id="15363" name="Picture 4" descr="fig4_14"/>
          <p:cNvPicPr>
            <a:picLocks noGrp="1" noChangeAspect="1" noChangeArrowheads="1"/>
          </p:cNvPicPr>
          <p:nvPr>
            <p:ph idx="1"/>
          </p:nvPr>
        </p:nvPicPr>
        <p:blipFill>
          <a:blip r:embed="rId2">
            <a:lum bright="-20000" contrast="40000"/>
            <a:extLst>
              <a:ext uri="{28A0092B-C50C-407E-A947-70E740481C1C}">
                <a14:useLocalDpi xmlns:a14="http://schemas.microsoft.com/office/drawing/2010/main" val="0"/>
              </a:ext>
            </a:extLst>
          </a:blip>
          <a:srcRect/>
          <a:stretch>
            <a:fillRect/>
          </a:stretch>
        </p:blipFill>
        <p:spPr>
          <a:xfrm>
            <a:off x="1295400" y="3505200"/>
            <a:ext cx="6096000" cy="2759075"/>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0C2A604C-2AB8-45A6-9913-731CAC580346}" type="slidenum">
              <a:rPr lang="zh-TW" altLang="en-US" sz="1200">
                <a:solidFill>
                  <a:srgbClr val="898989"/>
                </a:solidFill>
              </a:rPr>
              <a:pPr/>
              <a:t>13</a:t>
            </a:fld>
            <a:endParaRPr lang="en-US" altLang="zh-TW" sz="1200">
              <a:solidFill>
                <a:srgbClr val="898989"/>
              </a:solidFill>
            </a:endParaRPr>
          </a:p>
        </p:txBody>
      </p:sp>
      <p:sp>
        <p:nvSpPr>
          <p:cNvPr id="15366" name="Rectangle 3"/>
          <p:cNvSpPr>
            <a:spLocks noGrp="1" noChangeArrowheads="1"/>
          </p:cNvSpPr>
          <p:nvPr>
            <p:ph type="body" idx="4294967295"/>
          </p:nvPr>
        </p:nvSpPr>
        <p:spPr>
          <a:xfrm>
            <a:off x="0" y="1676400"/>
            <a:ext cx="7848600" cy="4800600"/>
          </a:xfrm>
        </p:spPr>
        <p:txBody>
          <a:bodyPr/>
          <a:lstStyle/>
          <a:p>
            <a:pPr eaLnBrk="1" hangingPunct="1">
              <a:lnSpc>
                <a:spcPct val="90000"/>
              </a:lnSpc>
            </a:pPr>
            <a:r>
              <a:rPr lang="en-US" altLang="fr-FR" b="1">
                <a:solidFill>
                  <a:srgbClr val="FF0000"/>
                </a:solidFill>
              </a:rPr>
              <a:t>Preorder traversal</a:t>
            </a:r>
          </a:p>
          <a:p>
            <a:pPr lvl="1" eaLnBrk="1" hangingPunct="1">
              <a:lnSpc>
                <a:spcPct val="90000"/>
              </a:lnSpc>
            </a:pPr>
            <a:r>
              <a:rPr lang="en-US" altLang="fr-FR" b="1">
                <a:solidFill>
                  <a:srgbClr val="07017D"/>
                </a:solidFill>
              </a:rPr>
              <a:t>root, left, right</a:t>
            </a:r>
          </a:p>
          <a:p>
            <a:pPr lvl="1" eaLnBrk="1" hangingPunct="1">
              <a:lnSpc>
                <a:spcPct val="90000"/>
              </a:lnSpc>
            </a:pPr>
            <a:r>
              <a:rPr lang="en-US" altLang="fr-FR"/>
              <a:t>prefix expression</a:t>
            </a:r>
          </a:p>
          <a:p>
            <a:pPr lvl="2" eaLnBrk="1" hangingPunct="1">
              <a:lnSpc>
                <a:spcPct val="90000"/>
              </a:lnSpc>
            </a:pPr>
            <a:r>
              <a:rPr lang="en-US" altLang="fr-FR"/>
              <a:t>++a*bc*+*defg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fr-FR" sz="4000"/>
              <a:t>Preorder, Postorder and Inorder</a:t>
            </a:r>
          </a:p>
        </p:txBody>
      </p:sp>
      <p:pic>
        <p:nvPicPr>
          <p:cNvPr id="16387" name="Picture 4" descr="fig4_14"/>
          <p:cNvPicPr>
            <a:picLocks noGrp="1" noChangeAspect="1" noChangeArrowheads="1"/>
          </p:cNvPicPr>
          <p:nvPr>
            <p:ph idx="1"/>
          </p:nvPr>
        </p:nvPicPr>
        <p:blipFill>
          <a:blip r:embed="rId2">
            <a:lum bright="-20000" contrast="40000"/>
            <a:extLst>
              <a:ext uri="{28A0092B-C50C-407E-A947-70E740481C1C}">
                <a14:useLocalDpi xmlns:a14="http://schemas.microsoft.com/office/drawing/2010/main" val="0"/>
              </a:ext>
            </a:extLst>
          </a:blip>
          <a:srcRect/>
          <a:stretch>
            <a:fillRect/>
          </a:stretch>
        </p:blipFill>
        <p:spPr>
          <a:xfrm>
            <a:off x="3228975" y="2352675"/>
            <a:ext cx="5915025" cy="2676525"/>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Espace réservé du pied de page 1"/>
          <p:cNvSpPr>
            <a:spLocks noGrp="1"/>
          </p:cNvSpPr>
          <p:nvPr>
            <p:ph type="ftr" sz="quarter" idx="11"/>
          </p:nvPr>
        </p:nvSpPr>
        <p:spPr/>
        <p:txBody>
          <a:bodyPr/>
          <a:lstStyle/>
          <a:p>
            <a:pPr>
              <a:defRPr/>
            </a:pPr>
            <a:r>
              <a:rPr lang="nl-NL" altLang="zh-TW" dirty="0"/>
              <a:t>CS 2321: D.S.A (-Trees-)</a:t>
            </a:r>
            <a:endParaRPr lang="en-US" altLang="zh-TW" dirty="0"/>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312361CA-F225-4819-82B2-E575700BF1D7}" type="slidenum">
              <a:rPr lang="zh-TW" altLang="en-US" sz="1200">
                <a:solidFill>
                  <a:srgbClr val="898989"/>
                </a:solidFill>
              </a:rPr>
              <a:pPr/>
              <a:t>14</a:t>
            </a:fld>
            <a:endParaRPr lang="en-US" altLang="zh-TW" sz="1200">
              <a:solidFill>
                <a:srgbClr val="898989"/>
              </a:solidFill>
            </a:endParaRPr>
          </a:p>
        </p:txBody>
      </p:sp>
      <p:sp>
        <p:nvSpPr>
          <p:cNvPr id="16390" name="Rectangle 3"/>
          <p:cNvSpPr>
            <a:spLocks noGrp="1" noChangeArrowheads="1"/>
          </p:cNvSpPr>
          <p:nvPr>
            <p:ph type="body" idx="4294967295"/>
          </p:nvPr>
        </p:nvSpPr>
        <p:spPr>
          <a:xfrm>
            <a:off x="0" y="1676400"/>
            <a:ext cx="3810000" cy="4267200"/>
          </a:xfrm>
        </p:spPr>
        <p:txBody>
          <a:bodyPr/>
          <a:lstStyle/>
          <a:p>
            <a:pPr eaLnBrk="1" hangingPunct="1">
              <a:lnSpc>
                <a:spcPct val="90000"/>
              </a:lnSpc>
            </a:pPr>
            <a:r>
              <a:rPr lang="en-US" altLang="fr-FR" b="1">
                <a:solidFill>
                  <a:srgbClr val="FF0000"/>
                </a:solidFill>
              </a:rPr>
              <a:t>Postorder traversal</a:t>
            </a:r>
          </a:p>
          <a:p>
            <a:pPr lvl="1" eaLnBrk="1" hangingPunct="1">
              <a:lnSpc>
                <a:spcPct val="90000"/>
              </a:lnSpc>
            </a:pPr>
            <a:r>
              <a:rPr lang="en-US" altLang="fr-FR" b="1">
                <a:solidFill>
                  <a:srgbClr val="07017D"/>
                </a:solidFill>
              </a:rPr>
              <a:t>left, right, root</a:t>
            </a:r>
          </a:p>
          <a:p>
            <a:pPr lvl="1" eaLnBrk="1" hangingPunct="1">
              <a:lnSpc>
                <a:spcPct val="90000"/>
              </a:lnSpc>
            </a:pPr>
            <a:r>
              <a:rPr lang="en-US" altLang="fr-FR"/>
              <a:t>postfix expression</a:t>
            </a:r>
          </a:p>
          <a:p>
            <a:pPr lvl="2" eaLnBrk="1" hangingPunct="1">
              <a:lnSpc>
                <a:spcPct val="90000"/>
              </a:lnSpc>
            </a:pPr>
            <a:r>
              <a:rPr lang="en-US" altLang="fr-FR"/>
              <a:t>abc*+de*f+g*+</a:t>
            </a:r>
          </a:p>
          <a:p>
            <a:pPr lvl="2" eaLnBrk="1" hangingPunct="1">
              <a:lnSpc>
                <a:spcPct val="90000"/>
              </a:lnSpc>
            </a:pPr>
            <a:endParaRPr lang="en-US" altLang="fr-FR"/>
          </a:p>
          <a:p>
            <a:pPr eaLnBrk="1" hangingPunct="1">
              <a:lnSpc>
                <a:spcPct val="90000"/>
              </a:lnSpc>
            </a:pPr>
            <a:r>
              <a:rPr lang="en-US" altLang="fr-FR" b="1">
                <a:solidFill>
                  <a:srgbClr val="FF0000"/>
                </a:solidFill>
              </a:rPr>
              <a:t>Inorder traversal</a:t>
            </a:r>
          </a:p>
          <a:p>
            <a:pPr lvl="1" eaLnBrk="1" hangingPunct="1">
              <a:lnSpc>
                <a:spcPct val="90000"/>
              </a:lnSpc>
            </a:pPr>
            <a:r>
              <a:rPr lang="en-US" altLang="fr-FR" b="1">
                <a:solidFill>
                  <a:srgbClr val="07017D"/>
                </a:solidFill>
              </a:rPr>
              <a:t>left, root, right</a:t>
            </a:r>
            <a:endParaRPr lang="en-US" altLang="fr-FR"/>
          </a:p>
          <a:p>
            <a:pPr lvl="1" eaLnBrk="1" hangingPunct="1">
              <a:lnSpc>
                <a:spcPct val="90000"/>
              </a:lnSpc>
            </a:pPr>
            <a:r>
              <a:rPr lang="en-US" altLang="fr-FR"/>
              <a:t>infix expression</a:t>
            </a:r>
          </a:p>
          <a:p>
            <a:pPr lvl="2" eaLnBrk="1" hangingPunct="1">
              <a:lnSpc>
                <a:spcPct val="90000"/>
              </a:lnSpc>
            </a:pPr>
            <a:r>
              <a:rPr lang="en-US" altLang="fr-FR"/>
              <a:t>a+b*c+d*e+f*g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fr-FR"/>
              <a:t>Preorder, Postorder and Inorder</a:t>
            </a:r>
          </a:p>
        </p:txBody>
      </p:sp>
      <p:graphicFrame>
        <p:nvGraphicFramePr>
          <p:cNvPr id="284676" name="Object 4"/>
          <p:cNvGraphicFramePr>
            <a:graphicFrameLocks noGrp="1" noChangeAspect="1"/>
          </p:cNvGraphicFramePr>
          <p:nvPr>
            <p:ph sz="quarter" idx="2"/>
          </p:nvPr>
        </p:nvGraphicFramePr>
        <p:xfrm>
          <a:off x="4419600" y="4267200"/>
          <a:ext cx="4514850" cy="2124075"/>
        </p:xfrm>
        <a:graphic>
          <a:graphicData uri="http://schemas.openxmlformats.org/presentationml/2006/ole">
            <mc:AlternateContent xmlns:mc="http://schemas.openxmlformats.org/markup-compatibility/2006">
              <mc:Choice xmlns:v="urn:schemas-microsoft-com:vml" Requires="v">
                <p:oleObj name="Bitmap Image" r:id="rId2" imgW="2734057" imgH="1286055" progId="Paint.Picture">
                  <p:embed/>
                </p:oleObj>
              </mc:Choice>
              <mc:Fallback>
                <p:oleObj name="Bitmap Image" r:id="rId2" imgW="2734057" imgH="1286055"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4267200"/>
                        <a:ext cx="451485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2" name="Object 6"/>
          <p:cNvGraphicFramePr>
            <a:graphicFrameLocks noGrp="1" noChangeAspect="1"/>
          </p:cNvGraphicFramePr>
          <p:nvPr>
            <p:ph sz="quarter" idx="3"/>
          </p:nvPr>
        </p:nvGraphicFramePr>
        <p:xfrm>
          <a:off x="1828800" y="1600200"/>
          <a:ext cx="4494213" cy="2189163"/>
        </p:xfrm>
        <a:graphic>
          <a:graphicData uri="http://schemas.openxmlformats.org/presentationml/2006/ole">
            <mc:AlternateContent xmlns:mc="http://schemas.openxmlformats.org/markup-compatibility/2006">
              <mc:Choice xmlns:v="urn:schemas-microsoft-com:vml" Requires="v">
                <p:oleObj name="Image bitmap" r:id="rId4" imgW="0" imgH="0" progId="Paint.Picture">
                  <p:embed/>
                </p:oleObj>
              </mc:Choice>
              <mc:Fallback>
                <p:oleObj name="Image bitmap" r:id="rId4" imgW="0" imgH="0" progId="Paint.Picture">
                  <p:embed/>
                  <p:pic>
                    <p:nvPicPr>
                      <p:cNvPr id="0"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600200"/>
                        <a:ext cx="4494213" cy="21891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0"/>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1"/>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529EE93A-4D46-4044-B843-041FC6E79457}" type="slidenum">
              <a:rPr lang="zh-TW" altLang="en-US" sz="1200">
                <a:solidFill>
                  <a:srgbClr val="898989"/>
                </a:solidFill>
              </a:rPr>
              <a:pPr/>
              <a:t>15</a:t>
            </a:fld>
            <a:endParaRPr lang="en-US" altLang="zh-TW" sz="1200">
              <a:solidFill>
                <a:srgbClr val="898989"/>
              </a:solidFill>
            </a:endParaRPr>
          </a:p>
        </p:txBody>
      </p:sp>
      <p:graphicFrame>
        <p:nvGraphicFramePr>
          <p:cNvPr id="284680" name="Object 8"/>
          <p:cNvGraphicFramePr>
            <a:graphicFrameLocks noChangeAspect="1"/>
          </p:cNvGraphicFramePr>
          <p:nvPr/>
        </p:nvGraphicFramePr>
        <p:xfrm>
          <a:off x="228600" y="4210050"/>
          <a:ext cx="4267200" cy="2095500"/>
        </p:xfrm>
        <a:graphic>
          <a:graphicData uri="http://schemas.openxmlformats.org/presentationml/2006/ole">
            <mc:AlternateContent xmlns:mc="http://schemas.openxmlformats.org/markup-compatibility/2006">
              <mc:Choice xmlns:v="urn:schemas-microsoft-com:vml" Requires="v">
                <p:oleObj name="Bitmap Image" r:id="rId6" imgW="2657846" imgH="1305107" progId="Paint.Picture">
                  <p:embed/>
                </p:oleObj>
              </mc:Choice>
              <mc:Fallback>
                <p:oleObj name="Bitmap Image" r:id="rId6" imgW="2657846" imgH="1305107" progId="Paint.Picture">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4210050"/>
                        <a:ext cx="4267200" cy="2095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46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46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fr-FR"/>
              <a:t>Binary Trees</a:t>
            </a:r>
            <a:endParaRPr lang="en-US" altLang="fr-FR">
              <a:cs typeface="Times New Roman" panose="02020603050405020304" pitchFamily="18" charset="0"/>
            </a:endParaRPr>
          </a:p>
        </p:txBody>
      </p:sp>
      <p:sp>
        <p:nvSpPr>
          <p:cNvPr id="18435" name="Rectangle 3"/>
          <p:cNvSpPr>
            <a:spLocks noGrp="1" noChangeArrowheads="1"/>
          </p:cNvSpPr>
          <p:nvPr>
            <p:ph idx="1"/>
          </p:nvPr>
        </p:nvSpPr>
        <p:spPr/>
        <p:txBody>
          <a:bodyPr/>
          <a:lstStyle/>
          <a:p>
            <a:pPr eaLnBrk="1" hangingPunct="1"/>
            <a:r>
              <a:rPr lang="en-US" altLang="fr-FR" sz="2400">
                <a:cs typeface="Times New Roman" panose="02020603050405020304" pitchFamily="18" charset="0"/>
              </a:rPr>
              <a:t>Possible operations on the Binary Tree ADT</a:t>
            </a:r>
          </a:p>
          <a:p>
            <a:pPr lvl="1" eaLnBrk="1" hangingPunct="1"/>
            <a:r>
              <a:rPr lang="en-US" altLang="fr-FR" sz="2000">
                <a:cs typeface="Times New Roman" panose="02020603050405020304" pitchFamily="18" charset="0"/>
              </a:rPr>
              <a:t>parent</a:t>
            </a:r>
          </a:p>
          <a:p>
            <a:pPr lvl="1" eaLnBrk="1" hangingPunct="1"/>
            <a:r>
              <a:rPr lang="en-US" altLang="fr-FR" sz="2000">
                <a:cs typeface="Times New Roman" panose="02020603050405020304" pitchFamily="18" charset="0"/>
              </a:rPr>
              <a:t>left_child, right_child</a:t>
            </a:r>
          </a:p>
          <a:p>
            <a:pPr lvl="1" eaLnBrk="1" hangingPunct="1"/>
            <a:r>
              <a:rPr lang="en-US" altLang="fr-FR" sz="2000">
                <a:cs typeface="Times New Roman" panose="02020603050405020304" pitchFamily="18" charset="0"/>
              </a:rPr>
              <a:t>sibling</a:t>
            </a:r>
          </a:p>
          <a:p>
            <a:pPr lvl="1" eaLnBrk="1" hangingPunct="1"/>
            <a:r>
              <a:rPr lang="en-US" altLang="fr-FR" sz="2000">
                <a:cs typeface="Times New Roman" panose="02020603050405020304" pitchFamily="18" charset="0"/>
              </a:rPr>
              <a:t>root, etc</a:t>
            </a:r>
          </a:p>
          <a:p>
            <a:pPr eaLnBrk="1" hangingPunct="1"/>
            <a:r>
              <a:rPr lang="en-US" altLang="fr-FR" sz="2400">
                <a:cs typeface="Times New Roman" panose="02020603050405020304" pitchFamily="18" charset="0"/>
              </a:rPr>
              <a:t>Implementation</a:t>
            </a:r>
          </a:p>
          <a:p>
            <a:pPr lvl="1" eaLnBrk="1" hangingPunct="1"/>
            <a:r>
              <a:rPr lang="en-US" altLang="fr-FR" sz="2000">
                <a:cs typeface="Times New Roman" panose="02020603050405020304" pitchFamily="18" charset="0"/>
              </a:rPr>
              <a:t>Because a binary tree has at most two children, we can keep direct pointers to them</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6C4C7485-4341-47E4-9C69-2BE2F7D79F64}" type="slidenum">
              <a:rPr lang="zh-TW" altLang="en-US" sz="1200">
                <a:solidFill>
                  <a:srgbClr val="898989"/>
                </a:solidFill>
              </a:rPr>
              <a:pPr/>
              <a:t>16</a:t>
            </a:fld>
            <a:endParaRPr lang="en-US" altLang="zh-TW" sz="1200">
              <a:solidFill>
                <a:srgbClr val="898989"/>
              </a:solidFill>
            </a:endParaRPr>
          </a:p>
        </p:txBody>
      </p:sp>
      <p:pic>
        <p:nvPicPr>
          <p:cNvPr id="18438" name="Picture 4" descr="fig4_13"/>
          <p:cNvPicPr>
            <a:picLocks noChangeAspect="1" noChangeArrowheads="1"/>
          </p:cNvPicPr>
          <p:nvPr/>
        </p:nvPicPr>
        <p:blipFill>
          <a:blip r:embed="rId2">
            <a:extLst>
              <a:ext uri="{28A0092B-C50C-407E-A947-70E740481C1C}">
                <a14:useLocalDpi xmlns:a14="http://schemas.microsoft.com/office/drawing/2010/main" val="0"/>
              </a:ext>
            </a:extLst>
          </a:blip>
          <a:srcRect b="29926"/>
          <a:stretch>
            <a:fillRect/>
          </a:stretch>
        </p:blipFill>
        <p:spPr bwMode="auto">
          <a:xfrm>
            <a:off x="990600" y="4800600"/>
            <a:ext cx="7367588"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fr-FR" sz="3200"/>
              <a:t>compare: Implementation of a general tree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43CBA515-6F4F-40E5-B03A-8BB87035AE36}" type="slidenum">
              <a:rPr lang="zh-TW" altLang="en-US" sz="1200">
                <a:solidFill>
                  <a:srgbClr val="898989"/>
                </a:solidFill>
              </a:rPr>
              <a:pPr/>
              <a:t>17</a:t>
            </a:fld>
            <a:endParaRPr lang="en-US" altLang="zh-TW" sz="1200">
              <a:solidFill>
                <a:srgbClr val="898989"/>
              </a:solidFill>
            </a:endParaRPr>
          </a:p>
        </p:txBody>
      </p:sp>
      <p:pic>
        <p:nvPicPr>
          <p:cNvPr id="19461" name="Picture 4" descr="fig4_2"/>
          <p:cNvPicPr>
            <a:picLocks noChangeAspect="1" noChangeArrowheads="1"/>
          </p:cNvPicPr>
          <p:nvPr/>
        </p:nvPicPr>
        <p:blipFill>
          <a:blip r:embed="rId2">
            <a:lum bright="-20000" contrast="60000"/>
            <a:extLst>
              <a:ext uri="{28A0092B-C50C-407E-A947-70E740481C1C}">
                <a14:useLocalDpi xmlns:a14="http://schemas.microsoft.com/office/drawing/2010/main" val="0"/>
              </a:ext>
            </a:extLst>
          </a:blip>
          <a:srcRect/>
          <a:stretch>
            <a:fillRect/>
          </a:stretch>
        </p:blipFill>
        <p:spPr bwMode="auto">
          <a:xfrm>
            <a:off x="1828800" y="1676400"/>
            <a:ext cx="5334000"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5" descr="fig4_4"/>
          <p:cNvPicPr>
            <a:picLocks noChangeAspect="1" noChangeArrowheads="1"/>
          </p:cNvPicPr>
          <p:nvPr/>
        </p:nvPicPr>
        <p:blipFill>
          <a:blip r:embed="rId3">
            <a:lum bright="-20000" contrast="60000"/>
            <a:extLst>
              <a:ext uri="{28A0092B-C50C-407E-A947-70E740481C1C}">
                <a14:useLocalDpi xmlns:a14="http://schemas.microsoft.com/office/drawing/2010/main" val="0"/>
              </a:ext>
            </a:extLst>
          </a:blip>
          <a:srcRect/>
          <a:stretch>
            <a:fillRect/>
          </a:stretch>
        </p:blipFill>
        <p:spPr bwMode="auto">
          <a:xfrm>
            <a:off x="1524000" y="3810000"/>
            <a:ext cx="6324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bg>
      <p:bgPr>
        <a:solidFill>
          <a:srgbClr val="BFBFBF"/>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p:txBody>
          <a:bodyPr/>
          <a:lstStyle/>
          <a:p>
            <a:pPr eaLnBrk="1" hangingPunct="1"/>
            <a:r>
              <a:rPr lang="en-US" altLang="fr-FR" sz="4000" b="1"/>
              <a:t>3. Binary Search Trees</a:t>
            </a:r>
          </a:p>
        </p:txBody>
      </p:sp>
      <p:sp>
        <p:nvSpPr>
          <p:cNvPr id="20483" name="Rectangle 3"/>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r>
              <a:rPr lang="fr-FR" altLang="fr-FR">
                <a:solidFill>
                  <a:srgbClr val="FF0000"/>
                </a:solidFill>
              </a:rPr>
              <a:t>Reading: Text Book (Weiss) 4.3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fr-FR"/>
              <a:t>Binary Search Trees</a:t>
            </a:r>
          </a:p>
        </p:txBody>
      </p:sp>
      <p:graphicFrame>
        <p:nvGraphicFramePr>
          <p:cNvPr id="21507" name="Object 4"/>
          <p:cNvGraphicFramePr>
            <a:graphicFrameLocks noGrp="1" noChangeAspect="1"/>
          </p:cNvGraphicFramePr>
          <p:nvPr>
            <p:ph idx="1"/>
          </p:nvPr>
        </p:nvGraphicFramePr>
        <p:xfrm>
          <a:off x="2919413" y="3810000"/>
          <a:ext cx="3305175" cy="2476500"/>
        </p:xfrm>
        <a:graphic>
          <a:graphicData uri="http://schemas.openxmlformats.org/presentationml/2006/ole">
            <mc:AlternateContent xmlns:mc="http://schemas.openxmlformats.org/markup-compatibility/2006">
              <mc:Choice xmlns:v="urn:schemas-microsoft-com:vml" Requires="v">
                <p:oleObj name="Bitmap Image" r:id="rId2" imgW="3304762" imgH="2476190" progId="Paint.Picture">
                  <p:embed/>
                </p:oleObj>
              </mc:Choice>
              <mc:Fallback>
                <p:oleObj name="Bitmap Image" r:id="rId2" imgW="3304762" imgH="2476190"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413" y="3810000"/>
                        <a:ext cx="3305175" cy="2476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CA1FBDFC-022F-4D4D-BD0B-FD6ACB408B8F}" type="slidenum">
              <a:rPr lang="zh-TW" altLang="en-US" sz="1200">
                <a:solidFill>
                  <a:srgbClr val="898989"/>
                </a:solidFill>
              </a:rPr>
              <a:pPr/>
              <a:t>19</a:t>
            </a:fld>
            <a:endParaRPr lang="en-US" altLang="zh-TW" sz="1200">
              <a:solidFill>
                <a:srgbClr val="898989"/>
              </a:solidFill>
            </a:endParaRPr>
          </a:p>
        </p:txBody>
      </p:sp>
      <p:sp>
        <p:nvSpPr>
          <p:cNvPr id="21510" name="Rectangle 3"/>
          <p:cNvSpPr>
            <a:spLocks noGrp="1" noChangeArrowheads="1"/>
          </p:cNvSpPr>
          <p:nvPr>
            <p:ph type="body" idx="4294967295"/>
          </p:nvPr>
        </p:nvSpPr>
        <p:spPr>
          <a:xfrm>
            <a:off x="0" y="1447800"/>
            <a:ext cx="7848600" cy="5029200"/>
          </a:xfrm>
        </p:spPr>
        <p:txBody>
          <a:bodyPr/>
          <a:lstStyle/>
          <a:p>
            <a:pPr eaLnBrk="1" hangingPunct="1"/>
            <a:r>
              <a:rPr lang="en-US" altLang="fr-FR" sz="2400"/>
              <a:t>Stores keys in the nodes in a way so that searching, insertion and deletion can be done efficiently.</a:t>
            </a:r>
            <a:endParaRPr lang="en-US" altLang="fr-FR">
              <a:cs typeface="Times New Roman" panose="02020603050405020304" pitchFamily="18" charset="0"/>
            </a:endParaRPr>
          </a:p>
          <a:p>
            <a:pPr eaLnBrk="1" hangingPunct="1">
              <a:buFont typeface="Monotype Sorts" pitchFamily="2" charset="2"/>
              <a:buNone/>
            </a:pPr>
            <a:r>
              <a:rPr lang="en-US" altLang="fr-FR" b="1">
                <a:solidFill>
                  <a:srgbClr val="FF0000"/>
                </a:solidFill>
                <a:cs typeface="Times New Roman" panose="02020603050405020304" pitchFamily="18" charset="0"/>
              </a:rPr>
              <a:t>Binary search tree property</a:t>
            </a:r>
          </a:p>
          <a:p>
            <a:pPr lvl="1" eaLnBrk="1" hangingPunct="1"/>
            <a:r>
              <a:rPr lang="en-US" altLang="fr-FR" sz="2000">
                <a:cs typeface="Times New Roman" panose="02020603050405020304" pitchFamily="18" charset="0"/>
              </a:rPr>
              <a:t>For every node X, all the keys in its left subtree are smaller than the key value in X, and all the keys in its right subtree are larger than the key value in X</a:t>
            </a:r>
          </a:p>
          <a:p>
            <a:pPr eaLnBrk="1" hangingPunct="1"/>
            <a:endParaRPr lang="en-US" altLang="fr-FR"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fr-FR">
                <a:cs typeface="Times New Roman" panose="02020603050405020304" pitchFamily="18" charset="0"/>
              </a:rPr>
              <a:t>Binary Search Trees</a:t>
            </a:r>
          </a:p>
        </p:txBody>
      </p:sp>
      <p:sp>
        <p:nvSpPr>
          <p:cNvPr id="22531" name="Rectangle 3"/>
          <p:cNvSpPr>
            <a:spLocks noGrp="1" noChangeArrowheads="1"/>
          </p:cNvSpPr>
          <p:nvPr>
            <p:ph idx="1"/>
          </p:nvPr>
        </p:nvSpPr>
        <p:spPr/>
        <p:txBody>
          <a:bodyPr/>
          <a:lstStyle/>
          <a:p>
            <a:pPr eaLnBrk="1" hangingPunct="1">
              <a:buFont typeface="Monotype Sorts" pitchFamily="2" charset="2"/>
              <a:buNone/>
            </a:pPr>
            <a:r>
              <a:rPr lang="en-US" altLang="fr-FR">
                <a:cs typeface="Times New Roman" panose="02020603050405020304" pitchFamily="18" charset="0"/>
              </a:rPr>
              <a:t> </a:t>
            </a:r>
          </a:p>
          <a:p>
            <a:pPr lvl="1" eaLnBrk="1" hangingPunct="1"/>
            <a:endParaRPr lang="en-US" altLang="fr-FR">
              <a:cs typeface="Times New Roman" panose="02020603050405020304" pitchFamily="18" charset="0"/>
            </a:endParaRPr>
          </a:p>
          <a:p>
            <a:pPr lvl="1" eaLnBrk="1" hangingPunct="1"/>
            <a:endParaRPr lang="en-US" altLang="fr-FR">
              <a:cs typeface="Times New Roman" panose="02020603050405020304" pitchFamily="18" charset="0"/>
            </a:endParaRPr>
          </a:p>
          <a:p>
            <a:pPr lvl="1" eaLnBrk="1" hangingPunct="1"/>
            <a:endParaRPr lang="en-US" altLang="fr-FR">
              <a:cs typeface="Times New Roman" panose="02020603050405020304" pitchFamily="18" charset="0"/>
            </a:endParaRPr>
          </a:p>
          <a:p>
            <a:pPr lvl="1" eaLnBrk="1" hangingPunct="1"/>
            <a:endParaRPr lang="en-US" altLang="fr-FR">
              <a:cs typeface="Times New Roman" panose="02020603050405020304" pitchFamily="18" charset="0"/>
            </a:endParaRPr>
          </a:p>
          <a:p>
            <a:pPr lvl="1" eaLnBrk="1" hangingPunct="1"/>
            <a:endParaRPr lang="en-US" altLang="fr-FR">
              <a:cs typeface="Times New Roman" panose="02020603050405020304" pitchFamily="18" charset="0"/>
            </a:endParaRPr>
          </a:p>
          <a:p>
            <a:pPr eaLnBrk="1" hangingPunct="1"/>
            <a:endParaRPr lang="en-US" altLang="fr-FR" sz="2400">
              <a:cs typeface="Times New Roman" panose="02020603050405020304" pitchFamily="18" charset="0"/>
            </a:endParaRPr>
          </a:p>
          <a:p>
            <a:pPr eaLnBrk="1" hangingPunct="1"/>
            <a:endParaRPr lang="en-US" altLang="fr-FR" sz="2400">
              <a:cs typeface="Times New Roman" panose="02020603050405020304" pitchFamily="18" charset="0"/>
            </a:endParaRP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ABA69B31-C98A-48EC-935A-BBB4F68FF769}" type="slidenum">
              <a:rPr lang="zh-TW" altLang="en-US" sz="1200">
                <a:solidFill>
                  <a:srgbClr val="898989"/>
                </a:solidFill>
              </a:rPr>
              <a:pPr/>
              <a:t>20</a:t>
            </a:fld>
            <a:endParaRPr lang="en-US" altLang="zh-TW" sz="1200">
              <a:solidFill>
                <a:srgbClr val="898989"/>
              </a:solidFill>
            </a:endParaRPr>
          </a:p>
        </p:txBody>
      </p:sp>
      <p:pic>
        <p:nvPicPr>
          <p:cNvPr id="22534" name="Picture 4" descr="fig4_15"/>
          <p:cNvPicPr>
            <a:picLocks noChangeAspect="1" noChangeArrowheads="1"/>
          </p:cNvPicPr>
          <p:nvPr/>
        </p:nvPicPr>
        <p:blipFill>
          <a:blip r:embed="rId2">
            <a:lum bright="-20000" contrast="60000"/>
            <a:extLst>
              <a:ext uri="{28A0092B-C50C-407E-A947-70E740481C1C}">
                <a14:useLocalDpi xmlns:a14="http://schemas.microsoft.com/office/drawing/2010/main" val="0"/>
              </a:ext>
            </a:extLst>
          </a:blip>
          <a:srcRect b="7988"/>
          <a:stretch>
            <a:fillRect/>
          </a:stretch>
        </p:blipFill>
        <p:spPr bwMode="auto">
          <a:xfrm>
            <a:off x="990600" y="1752600"/>
            <a:ext cx="70866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Text Box 5"/>
          <p:cNvSpPr txBox="1">
            <a:spLocks noChangeArrowheads="1"/>
          </p:cNvSpPr>
          <p:nvPr/>
        </p:nvSpPr>
        <p:spPr bwMode="auto">
          <a:xfrm>
            <a:off x="1143000" y="4648200"/>
            <a:ext cx="262413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t>A binary search tree</a:t>
            </a:r>
          </a:p>
        </p:txBody>
      </p:sp>
      <p:sp>
        <p:nvSpPr>
          <p:cNvPr id="22536" name="Text Box 6"/>
          <p:cNvSpPr txBox="1">
            <a:spLocks noChangeArrowheads="1"/>
          </p:cNvSpPr>
          <p:nvPr/>
        </p:nvSpPr>
        <p:spPr bwMode="auto">
          <a:xfrm>
            <a:off x="5105400" y="4724400"/>
            <a:ext cx="307498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t>Not a binary search tree</a:t>
            </a:r>
          </a:p>
        </p:txBody>
      </p:sp>
      <p:sp>
        <p:nvSpPr>
          <p:cNvPr id="22537" name="Oval 7"/>
          <p:cNvSpPr>
            <a:spLocks noChangeArrowheads="1"/>
          </p:cNvSpPr>
          <p:nvPr/>
        </p:nvSpPr>
        <p:spPr bwMode="auto">
          <a:xfrm>
            <a:off x="7010400" y="4038600"/>
            <a:ext cx="381000" cy="3810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fr-FR"/>
              <a:t>Binary search trees</a:t>
            </a:r>
          </a:p>
        </p:txBody>
      </p:sp>
      <p:graphicFrame>
        <p:nvGraphicFramePr>
          <p:cNvPr id="23555" name="Object 4"/>
          <p:cNvGraphicFramePr>
            <a:graphicFrameLocks noGrp="1" noChangeAspect="1"/>
          </p:cNvGraphicFramePr>
          <p:nvPr>
            <p:ph idx="1"/>
          </p:nvPr>
        </p:nvGraphicFramePr>
        <p:xfrm>
          <a:off x="1447800" y="1600200"/>
          <a:ext cx="5715000" cy="3643313"/>
        </p:xfrm>
        <a:graphic>
          <a:graphicData uri="http://schemas.openxmlformats.org/presentationml/2006/ole">
            <mc:AlternateContent xmlns:mc="http://schemas.openxmlformats.org/markup-compatibility/2006">
              <mc:Choice xmlns:v="urn:schemas-microsoft-com:vml" Requires="v">
                <p:oleObj name="Bitmap Image" r:id="rId2" imgW="3809524" imgH="2429214" progId="Paint.Picture">
                  <p:embed/>
                </p:oleObj>
              </mc:Choice>
              <mc:Fallback>
                <p:oleObj name="Bitmap Image" r:id="rId2" imgW="3809524" imgH="2429214"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600200"/>
                        <a:ext cx="5715000" cy="36433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B01EBFE4-5DBB-4214-8678-7661BE352F0B}" type="slidenum">
              <a:rPr lang="zh-TW" altLang="en-US" sz="1200">
                <a:solidFill>
                  <a:srgbClr val="898989"/>
                </a:solidFill>
              </a:rPr>
              <a:pPr/>
              <a:t>21</a:t>
            </a:fld>
            <a:endParaRPr lang="en-US" altLang="zh-TW" sz="1200">
              <a:solidFill>
                <a:srgbClr val="898989"/>
              </a:solidFill>
            </a:endParaRPr>
          </a:p>
        </p:txBody>
      </p:sp>
      <p:sp>
        <p:nvSpPr>
          <p:cNvPr id="292867" name="Rectangle 3"/>
          <p:cNvSpPr>
            <a:spLocks noGrp="1" noChangeArrowheads="1"/>
          </p:cNvSpPr>
          <p:nvPr>
            <p:ph type="body" idx="4294967295"/>
          </p:nvPr>
        </p:nvSpPr>
        <p:spPr>
          <a:xfrm>
            <a:off x="0" y="1676400"/>
            <a:ext cx="8991600" cy="4800600"/>
          </a:xfrm>
        </p:spPr>
        <p:txBody>
          <a:bodyPr rtlCol="0">
            <a:normAutofit fontScale="92500" lnSpcReduction="10000"/>
          </a:bodyPr>
          <a:lstStyle/>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endParaRPr lang="en-US" dirty="0">
              <a:cs typeface="Times New Roman" charset="0"/>
            </a:endParaRPr>
          </a:p>
          <a:p>
            <a:pPr eaLnBrk="1" fontAlgn="auto" hangingPunct="1">
              <a:lnSpc>
                <a:spcPct val="90000"/>
              </a:lnSpc>
              <a:spcAft>
                <a:spcPts val="0"/>
              </a:spcAft>
              <a:defRPr/>
            </a:pPr>
            <a:r>
              <a:rPr lang="en-US" sz="2600" b="1" dirty="0">
                <a:solidFill>
                  <a:srgbClr val="07017D"/>
                </a:solidFill>
                <a:cs typeface="Times New Roman" charset="0"/>
              </a:rPr>
              <a:t>Average depth of a node is O(log N); </a:t>
            </a:r>
          </a:p>
          <a:p>
            <a:pPr eaLnBrk="1" fontAlgn="auto" hangingPunct="1">
              <a:lnSpc>
                <a:spcPct val="90000"/>
              </a:lnSpc>
              <a:spcAft>
                <a:spcPts val="0"/>
              </a:spcAft>
              <a:defRPr/>
            </a:pPr>
            <a:r>
              <a:rPr lang="en-US" sz="2600" b="1" dirty="0">
                <a:solidFill>
                  <a:srgbClr val="07017D"/>
                </a:solidFill>
                <a:cs typeface="Times New Roman" charset="0"/>
              </a:rPr>
              <a:t>Maximum depth of a node is O(N)</a:t>
            </a:r>
          </a:p>
          <a:p>
            <a:pPr eaLnBrk="1" fontAlgn="auto" hangingPunct="1">
              <a:lnSpc>
                <a:spcPct val="90000"/>
              </a:lnSpc>
              <a:spcAft>
                <a:spcPts val="0"/>
              </a:spcAft>
              <a:defRPr/>
            </a:pPr>
            <a:endParaRPr lang="en-US" sz="2600" dirty="0"/>
          </a:p>
        </p:txBody>
      </p:sp>
      <p:sp>
        <p:nvSpPr>
          <p:cNvPr id="23559" name="Text Box 6"/>
          <p:cNvSpPr txBox="1">
            <a:spLocks noChangeArrowheads="1"/>
          </p:cNvSpPr>
          <p:nvPr/>
        </p:nvSpPr>
        <p:spPr bwMode="auto">
          <a:xfrm>
            <a:off x="117475" y="1524000"/>
            <a:ext cx="8991600" cy="4619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2400">
                <a:solidFill>
                  <a:srgbClr val="FF0000"/>
                </a:solidFill>
              </a:rPr>
              <a:t>Two binary search trees representing the same set: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fr-FR"/>
              <a:t>Implementation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10E40C0-817D-43C7-A45C-C42A53BDA866}" type="slidenum">
              <a:rPr lang="zh-TW" altLang="en-US" sz="1200">
                <a:solidFill>
                  <a:srgbClr val="898989"/>
                </a:solidFill>
              </a:rPr>
              <a:pPr/>
              <a:t>22</a:t>
            </a:fld>
            <a:endParaRPr lang="en-US" altLang="zh-TW" sz="1200">
              <a:solidFill>
                <a:srgbClr val="898989"/>
              </a:solidFill>
            </a:endParaRPr>
          </a:p>
        </p:txBody>
      </p:sp>
      <p:pic>
        <p:nvPicPr>
          <p:cNvPr id="24581" name="Picture 3" descr="fig4_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77724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fr-FR"/>
              <a:t>Searching BST</a:t>
            </a:r>
          </a:p>
        </p:txBody>
      </p:sp>
      <p:graphicFrame>
        <p:nvGraphicFramePr>
          <p:cNvPr id="25603" name="Object 4"/>
          <p:cNvGraphicFramePr>
            <a:graphicFrameLocks noGrp="1" noChangeAspect="1"/>
          </p:cNvGraphicFramePr>
          <p:nvPr>
            <p:ph idx="1"/>
          </p:nvPr>
        </p:nvGraphicFramePr>
        <p:xfrm>
          <a:off x="6019800" y="3886200"/>
          <a:ext cx="2970213" cy="2619375"/>
        </p:xfrm>
        <a:graphic>
          <a:graphicData uri="http://schemas.openxmlformats.org/presentationml/2006/ole">
            <mc:AlternateContent xmlns:mc="http://schemas.openxmlformats.org/markup-compatibility/2006">
              <mc:Choice xmlns:v="urn:schemas-microsoft-com:vml" Requires="v">
                <p:oleObj name="Bitmap Image" r:id="rId2" imgW="1609524" imgH="1419048" progId="Paint.Picture">
                  <p:embed/>
                </p:oleObj>
              </mc:Choice>
              <mc:Fallback>
                <p:oleObj name="Bitmap Image" r:id="rId2" imgW="1609524" imgH="1419048"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3886200"/>
                        <a:ext cx="2970213" cy="26193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EE1D26DC-722D-453D-8C21-4B1B0C699AA8}" type="slidenum">
              <a:rPr lang="zh-TW" altLang="en-US" sz="1200">
                <a:solidFill>
                  <a:srgbClr val="898989"/>
                </a:solidFill>
              </a:rPr>
              <a:pPr/>
              <a:t>23</a:t>
            </a:fld>
            <a:endParaRPr lang="en-US" altLang="zh-TW" sz="1200">
              <a:solidFill>
                <a:srgbClr val="898989"/>
              </a:solidFill>
            </a:endParaRPr>
          </a:p>
        </p:txBody>
      </p:sp>
      <p:sp>
        <p:nvSpPr>
          <p:cNvPr id="25606" name="Rectangle 3"/>
          <p:cNvSpPr>
            <a:spLocks noGrp="1" noChangeArrowheads="1"/>
          </p:cNvSpPr>
          <p:nvPr>
            <p:ph type="body" idx="4294967295"/>
          </p:nvPr>
        </p:nvSpPr>
        <p:spPr>
          <a:xfrm>
            <a:off x="0" y="1676400"/>
            <a:ext cx="7848600" cy="4800600"/>
          </a:xfrm>
        </p:spPr>
        <p:txBody>
          <a:bodyPr/>
          <a:lstStyle/>
          <a:p>
            <a:pPr eaLnBrk="1" hangingPunct="1"/>
            <a:r>
              <a:rPr lang="en-US" altLang="fr-FR"/>
              <a:t>If we are searching for 15, then we are done.</a:t>
            </a:r>
          </a:p>
          <a:p>
            <a:pPr eaLnBrk="1" hangingPunct="1"/>
            <a:r>
              <a:rPr lang="en-US" altLang="fr-FR"/>
              <a:t>If we are searching for a key &lt; 15, then we should search in the left subtree.</a:t>
            </a:r>
          </a:p>
          <a:p>
            <a:pPr eaLnBrk="1" hangingPunct="1"/>
            <a:r>
              <a:rPr lang="en-US" altLang="fr-FR"/>
              <a:t>If we are searching for a key &gt; 15, then we should search in the right subtree.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26626" name="Object 4"/>
          <p:cNvGraphicFramePr>
            <a:graphicFrameLocks noChangeAspect="1"/>
          </p:cNvGraphicFramePr>
          <p:nvPr/>
        </p:nvGraphicFramePr>
        <p:xfrm>
          <a:off x="1905000" y="-41275"/>
          <a:ext cx="5410200" cy="4156075"/>
        </p:xfrm>
        <a:graphic>
          <a:graphicData uri="http://schemas.openxmlformats.org/presentationml/2006/ole">
            <mc:AlternateContent xmlns:mc="http://schemas.openxmlformats.org/markup-compatibility/2006">
              <mc:Choice xmlns:v="urn:schemas-microsoft-com:vml" Requires="v">
                <p:oleObj name="Bitmap Image" r:id="rId2" imgW="3780952" imgH="2905531" progId="Paint.Picture">
                  <p:embed/>
                </p:oleObj>
              </mc:Choice>
              <mc:Fallback>
                <p:oleObj name="Bitmap Image" r:id="rId2" imgW="3780952" imgH="2905531"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1275"/>
                        <a:ext cx="5410200" cy="41560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7" name="Object 5"/>
          <p:cNvGraphicFramePr>
            <a:graphicFrameLocks noChangeAspect="1"/>
          </p:cNvGraphicFramePr>
          <p:nvPr/>
        </p:nvGraphicFramePr>
        <p:xfrm>
          <a:off x="152400" y="4038600"/>
          <a:ext cx="5105400" cy="2276475"/>
        </p:xfrm>
        <a:graphic>
          <a:graphicData uri="http://schemas.openxmlformats.org/presentationml/2006/ole">
            <mc:AlternateContent xmlns:mc="http://schemas.openxmlformats.org/markup-compatibility/2006">
              <mc:Choice xmlns:v="urn:schemas-microsoft-com:vml" Requires="v">
                <p:oleObj name="Image bitmap" r:id="rId4" imgW="0" imgH="0" progId="Paint.Picture">
                  <p:embed/>
                </p:oleObj>
              </mc:Choice>
              <mc:Fallback>
                <p:oleObj name="Image bitmap" r:id="rId4" imgW="0" imgH="0" progId="Paint.Picture">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4038600"/>
                        <a:ext cx="51054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dirty="0"/>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A9108F0E-0F4F-4A19-AAC4-933FF2EFF228}" type="slidenum">
              <a:rPr lang="zh-TW" altLang="en-US" sz="1200">
                <a:solidFill>
                  <a:srgbClr val="898989"/>
                </a:solidFill>
              </a:rPr>
              <a:pPr/>
              <a:t>24</a:t>
            </a:fld>
            <a:endParaRPr lang="en-US" altLang="zh-TW" sz="120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fr-FR"/>
              <a:t>Searching (Find)</a:t>
            </a:r>
          </a:p>
        </p:txBody>
      </p:sp>
      <p:sp>
        <p:nvSpPr>
          <p:cNvPr id="211971" name="Rectangle 3"/>
          <p:cNvSpPr>
            <a:spLocks noGrp="1" noChangeArrowheads="1"/>
          </p:cNvSpPr>
          <p:nvPr>
            <p:ph idx="1"/>
          </p:nvPr>
        </p:nvSpPr>
        <p:spPr/>
        <p:txBody>
          <a:bodyPr rtlCol="0">
            <a:normAutofit fontScale="92500" lnSpcReduction="10000"/>
          </a:bodyPr>
          <a:lstStyle/>
          <a:p>
            <a:pPr eaLnBrk="1" fontAlgn="auto" hangingPunct="1">
              <a:spcAft>
                <a:spcPts val="0"/>
              </a:spcAft>
              <a:defRPr/>
            </a:pPr>
            <a:r>
              <a:rPr lang="en-US" sz="2400" dirty="0"/>
              <a:t>Find X: return a pointer to the node that has key X, or NULL if there is no such node</a:t>
            </a:r>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r>
              <a:rPr lang="en-US" sz="2400" dirty="0"/>
              <a:t>Time complexity</a:t>
            </a:r>
          </a:p>
          <a:p>
            <a:pPr lvl="1" eaLnBrk="1" fontAlgn="auto" hangingPunct="1">
              <a:spcAft>
                <a:spcPts val="0"/>
              </a:spcAft>
              <a:defRPr/>
            </a:pPr>
            <a:r>
              <a:rPr lang="en-US" sz="2000" b="1" dirty="0">
                <a:solidFill>
                  <a:srgbClr val="FF0000"/>
                </a:solidFill>
              </a:rPr>
              <a:t>O(height of the tree)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A5D17B1-0E9F-46BB-83A8-D3B1233CBC83}" type="slidenum">
              <a:rPr lang="zh-TW" altLang="en-US" sz="1200">
                <a:solidFill>
                  <a:srgbClr val="898989"/>
                </a:solidFill>
              </a:rPr>
              <a:pPr/>
              <a:t>25</a:t>
            </a:fld>
            <a:endParaRPr lang="en-US" altLang="zh-TW" sz="1200">
              <a:solidFill>
                <a:srgbClr val="898989"/>
              </a:solidFill>
            </a:endParaRPr>
          </a:p>
        </p:txBody>
      </p:sp>
      <p:pic>
        <p:nvPicPr>
          <p:cNvPr id="27654" name="Picture 4" descr="fig4_19"/>
          <p:cNvPicPr>
            <a:picLocks noChangeAspect="1" noChangeArrowheads="1"/>
          </p:cNvPicPr>
          <p:nvPr/>
        </p:nvPicPr>
        <p:blipFill>
          <a:blip r:embed="rId2">
            <a:extLst>
              <a:ext uri="{28A0092B-C50C-407E-A947-70E740481C1C}">
                <a14:useLocalDpi xmlns:a14="http://schemas.microsoft.com/office/drawing/2010/main" val="0"/>
              </a:ext>
            </a:extLst>
          </a:blip>
          <a:srcRect t="27402" b="9895"/>
          <a:stretch>
            <a:fillRect/>
          </a:stretch>
        </p:blipFill>
        <p:spPr bwMode="auto">
          <a:xfrm>
            <a:off x="2174875" y="2362200"/>
            <a:ext cx="611187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fr-FR" sz="4000"/>
              <a:t>Inorder traversal of BST</a:t>
            </a:r>
          </a:p>
        </p:txBody>
      </p:sp>
      <p:graphicFrame>
        <p:nvGraphicFramePr>
          <p:cNvPr id="28675" name="Object 4"/>
          <p:cNvGraphicFramePr>
            <a:graphicFrameLocks noGrp="1" noChangeAspect="1"/>
          </p:cNvGraphicFramePr>
          <p:nvPr>
            <p:ph idx="1"/>
          </p:nvPr>
        </p:nvGraphicFramePr>
        <p:xfrm>
          <a:off x="2286000" y="2209800"/>
          <a:ext cx="3886200" cy="3871913"/>
        </p:xfrm>
        <a:graphic>
          <a:graphicData uri="http://schemas.openxmlformats.org/presentationml/2006/ole">
            <mc:AlternateContent xmlns:mc="http://schemas.openxmlformats.org/markup-compatibility/2006">
              <mc:Choice xmlns:v="urn:schemas-microsoft-com:vml" Requires="v">
                <p:oleObj name="Bitmap Image" r:id="rId2" imgW="2619048" imgH="2610214" progId="Paint.Picture">
                  <p:embed/>
                </p:oleObj>
              </mc:Choice>
              <mc:Fallback>
                <p:oleObj name="Bitmap Image" r:id="rId2" imgW="2619048" imgH="2610214" progId="Paint.Picture">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209800"/>
                        <a:ext cx="3886200" cy="38719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1CFADE0F-CCD1-4F39-8DEE-34B83D12BB65}" type="slidenum">
              <a:rPr lang="zh-TW" altLang="en-US" sz="1200">
                <a:solidFill>
                  <a:srgbClr val="898989"/>
                </a:solidFill>
              </a:rPr>
              <a:pPr/>
              <a:t>26</a:t>
            </a:fld>
            <a:endParaRPr lang="en-US" altLang="zh-TW" sz="1200">
              <a:solidFill>
                <a:srgbClr val="898989"/>
              </a:solidFill>
            </a:endParaRPr>
          </a:p>
        </p:txBody>
      </p:sp>
      <p:sp>
        <p:nvSpPr>
          <p:cNvPr id="28678" name="Rectangle 3"/>
          <p:cNvSpPr>
            <a:spLocks noGrp="1" noChangeArrowheads="1"/>
          </p:cNvSpPr>
          <p:nvPr>
            <p:ph type="body" idx="4294967295"/>
          </p:nvPr>
        </p:nvSpPr>
        <p:spPr>
          <a:xfrm>
            <a:off x="0" y="1676400"/>
            <a:ext cx="7848600" cy="4800600"/>
          </a:xfrm>
        </p:spPr>
        <p:txBody>
          <a:bodyPr/>
          <a:lstStyle/>
          <a:p>
            <a:pPr eaLnBrk="1" hangingPunct="1"/>
            <a:r>
              <a:rPr lang="en-US" altLang="fr-FR"/>
              <a:t>Print out all the keys in sorted order</a:t>
            </a:r>
          </a:p>
        </p:txBody>
      </p:sp>
      <p:sp>
        <p:nvSpPr>
          <p:cNvPr id="28679" name="Text Box 6"/>
          <p:cNvSpPr txBox="1">
            <a:spLocks noChangeArrowheads="1"/>
          </p:cNvSpPr>
          <p:nvPr/>
        </p:nvSpPr>
        <p:spPr bwMode="auto">
          <a:xfrm>
            <a:off x="1600200" y="5943600"/>
            <a:ext cx="48704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t>Inorder: 2, 3, 4, 6, 7, 9, 13, 15, 17, 18, 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fr-FR"/>
              <a:t>findMin/ findMax</a:t>
            </a:r>
          </a:p>
        </p:txBody>
      </p:sp>
      <p:sp>
        <p:nvSpPr>
          <p:cNvPr id="212995" name="Rectangle 3"/>
          <p:cNvSpPr>
            <a:spLocks noGrp="1" noChangeArrowheads="1"/>
          </p:cNvSpPr>
          <p:nvPr>
            <p:ph idx="1"/>
          </p:nvPr>
        </p:nvSpPr>
        <p:spPr/>
        <p:txBody>
          <a:bodyPr rtlCol="0">
            <a:normAutofit lnSpcReduction="10000"/>
          </a:bodyPr>
          <a:lstStyle/>
          <a:p>
            <a:pPr eaLnBrk="1" fontAlgn="auto" hangingPunct="1">
              <a:lnSpc>
                <a:spcPct val="90000"/>
              </a:lnSpc>
              <a:spcAft>
                <a:spcPts val="0"/>
              </a:spcAft>
              <a:defRPr/>
            </a:pPr>
            <a:r>
              <a:rPr lang="en-US" sz="2400" dirty="0"/>
              <a:t>Return the node containing the smallest element in the tree</a:t>
            </a:r>
          </a:p>
          <a:p>
            <a:pPr eaLnBrk="1" fontAlgn="auto" hangingPunct="1">
              <a:lnSpc>
                <a:spcPct val="90000"/>
              </a:lnSpc>
              <a:spcAft>
                <a:spcPts val="0"/>
              </a:spcAft>
              <a:defRPr/>
            </a:pPr>
            <a:r>
              <a:rPr lang="en-US" sz="2400" dirty="0"/>
              <a:t>Start at the root and go left as long as there is a left child. The stopping point is the smallest element</a:t>
            </a:r>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endParaRPr lang="en-US" sz="2400" dirty="0"/>
          </a:p>
          <a:p>
            <a:pPr eaLnBrk="1" fontAlgn="auto" hangingPunct="1">
              <a:lnSpc>
                <a:spcPct val="90000"/>
              </a:lnSpc>
              <a:spcAft>
                <a:spcPts val="0"/>
              </a:spcAft>
              <a:defRPr/>
            </a:pPr>
            <a:r>
              <a:rPr lang="en-US" sz="2400" dirty="0"/>
              <a:t>Similarly for </a:t>
            </a:r>
            <a:r>
              <a:rPr lang="en-US" sz="2400" dirty="0" err="1"/>
              <a:t>findMax</a:t>
            </a:r>
            <a:endParaRPr lang="en-US" sz="2400" dirty="0"/>
          </a:p>
          <a:p>
            <a:pPr eaLnBrk="1" fontAlgn="auto" hangingPunct="1">
              <a:lnSpc>
                <a:spcPct val="90000"/>
              </a:lnSpc>
              <a:spcAft>
                <a:spcPts val="0"/>
              </a:spcAft>
              <a:defRPr/>
            </a:pPr>
            <a:r>
              <a:rPr lang="en-US" sz="2400" b="1" dirty="0">
                <a:solidFill>
                  <a:srgbClr val="FF0000"/>
                </a:solidFill>
              </a:rPr>
              <a:t>Time complexity = O(height of the tree)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293B6163-5405-4AC5-99E7-4DAB2BE3C8CB}" type="slidenum">
              <a:rPr lang="zh-TW" altLang="en-US" sz="1200">
                <a:solidFill>
                  <a:srgbClr val="898989"/>
                </a:solidFill>
              </a:rPr>
              <a:pPr/>
              <a:t>27</a:t>
            </a:fld>
            <a:endParaRPr lang="en-US" altLang="zh-TW" sz="1200">
              <a:solidFill>
                <a:srgbClr val="898989"/>
              </a:solidFill>
            </a:endParaRPr>
          </a:p>
        </p:txBody>
      </p:sp>
      <p:pic>
        <p:nvPicPr>
          <p:cNvPr id="29702" name="Picture 4" descr="fig4_20"/>
          <p:cNvPicPr>
            <a:picLocks noChangeAspect="1" noChangeArrowheads="1"/>
          </p:cNvPicPr>
          <p:nvPr/>
        </p:nvPicPr>
        <p:blipFill>
          <a:blip r:embed="rId2">
            <a:extLst>
              <a:ext uri="{28A0092B-C50C-407E-A947-70E740481C1C}">
                <a14:useLocalDpi xmlns:a14="http://schemas.microsoft.com/office/drawing/2010/main" val="0"/>
              </a:ext>
            </a:extLst>
          </a:blip>
          <a:srcRect l="7639" t="27063" b="8119"/>
          <a:stretch>
            <a:fillRect/>
          </a:stretch>
        </p:blipFill>
        <p:spPr bwMode="auto">
          <a:xfrm>
            <a:off x="914400" y="2667000"/>
            <a:ext cx="7696200"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fr-FR"/>
              <a:t>insert</a:t>
            </a:r>
          </a:p>
        </p:txBody>
      </p:sp>
      <p:graphicFrame>
        <p:nvGraphicFramePr>
          <p:cNvPr id="30723" name="Object 5"/>
          <p:cNvGraphicFramePr>
            <a:graphicFrameLocks noGrp="1" noChangeAspect="1"/>
          </p:cNvGraphicFramePr>
          <p:nvPr>
            <p:ph idx="1"/>
          </p:nvPr>
        </p:nvGraphicFramePr>
        <p:xfrm>
          <a:off x="2209800" y="2667000"/>
          <a:ext cx="3886200" cy="3392488"/>
        </p:xfrm>
        <a:graphic>
          <a:graphicData uri="http://schemas.openxmlformats.org/presentationml/2006/ole">
            <mc:AlternateContent xmlns:mc="http://schemas.openxmlformats.org/markup-compatibility/2006">
              <mc:Choice xmlns:v="urn:schemas-microsoft-com:vml" Requires="v">
                <p:oleObj name="Bitmap Image" r:id="rId2" imgW="3076190" imgH="2685714" progId="Paint.Picture">
                  <p:embed/>
                </p:oleObj>
              </mc:Choice>
              <mc:Fallback>
                <p:oleObj name="Bitmap Image" r:id="rId2" imgW="3076190" imgH="2685714" progId="Paint.Picture">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667000"/>
                        <a:ext cx="3886200" cy="33924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cap="flat" cmpd="sng">
                            <a:solidFill>
                              <a:srgbClr val="FF0000"/>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A1C88A21-3C00-46C8-8CE7-AE04CAAB7B2D}" type="slidenum">
              <a:rPr lang="zh-TW" altLang="en-US" sz="1200">
                <a:solidFill>
                  <a:srgbClr val="898989"/>
                </a:solidFill>
              </a:rPr>
              <a:pPr/>
              <a:t>28</a:t>
            </a:fld>
            <a:endParaRPr lang="en-US" altLang="zh-TW" sz="1200">
              <a:solidFill>
                <a:srgbClr val="898989"/>
              </a:solidFill>
            </a:endParaRPr>
          </a:p>
        </p:txBody>
      </p:sp>
      <p:sp>
        <p:nvSpPr>
          <p:cNvPr id="214019" name="Rectangle 3"/>
          <p:cNvSpPr>
            <a:spLocks noGrp="1" noChangeArrowheads="1"/>
          </p:cNvSpPr>
          <p:nvPr>
            <p:ph type="body" idx="4294967295"/>
          </p:nvPr>
        </p:nvSpPr>
        <p:spPr>
          <a:xfrm>
            <a:off x="0" y="1447800"/>
            <a:ext cx="7848600" cy="5029200"/>
          </a:xfrm>
        </p:spPr>
        <p:txBody>
          <a:bodyPr rtlCol="0">
            <a:normAutofit lnSpcReduction="10000"/>
          </a:bodyPr>
          <a:lstStyle/>
          <a:p>
            <a:pPr eaLnBrk="1" fontAlgn="auto" hangingPunct="1">
              <a:spcAft>
                <a:spcPts val="0"/>
              </a:spcAft>
              <a:defRPr/>
            </a:pPr>
            <a:r>
              <a:rPr lang="en-US" sz="2000" dirty="0"/>
              <a:t>Proceed down the tree as you would with a find</a:t>
            </a:r>
          </a:p>
          <a:p>
            <a:pPr eaLnBrk="1" fontAlgn="auto" hangingPunct="1">
              <a:spcAft>
                <a:spcPts val="0"/>
              </a:spcAft>
              <a:defRPr/>
            </a:pPr>
            <a:r>
              <a:rPr lang="en-US" sz="2000" dirty="0"/>
              <a:t>If X is found, do nothing (or update something)</a:t>
            </a:r>
          </a:p>
          <a:p>
            <a:pPr eaLnBrk="1" fontAlgn="auto" hangingPunct="1">
              <a:spcAft>
                <a:spcPts val="0"/>
              </a:spcAft>
              <a:defRPr/>
            </a:pPr>
            <a:r>
              <a:rPr lang="en-US" sz="2000" dirty="0"/>
              <a:t>Otherwise, insert X at the last spot on the path traversed</a:t>
            </a:r>
          </a:p>
          <a:p>
            <a:pPr eaLnBrk="1" fontAlgn="auto" hangingPunct="1">
              <a:spcAft>
                <a:spcPts val="0"/>
              </a:spcAft>
              <a:defRPr/>
            </a:pPr>
            <a:endParaRPr lang="en-US" sz="20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2400" dirty="0"/>
          </a:p>
          <a:p>
            <a:pPr eaLnBrk="1" fontAlgn="auto" hangingPunct="1">
              <a:spcAft>
                <a:spcPts val="0"/>
              </a:spcAft>
              <a:defRPr/>
            </a:pPr>
            <a:endParaRPr lang="en-US" sz="1000" dirty="0"/>
          </a:p>
          <a:p>
            <a:pPr eaLnBrk="1" fontAlgn="auto" hangingPunct="1">
              <a:spcAft>
                <a:spcPts val="0"/>
              </a:spcAft>
              <a:defRPr/>
            </a:pPr>
            <a:r>
              <a:rPr lang="en-US" sz="2400" b="1" dirty="0">
                <a:solidFill>
                  <a:srgbClr val="FF0000"/>
                </a:solidFill>
              </a:rPr>
              <a:t>Time complexity = O(height of the tree)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fr-FR"/>
              <a:t>delete</a:t>
            </a:r>
          </a:p>
        </p:txBody>
      </p:sp>
      <p:sp>
        <p:nvSpPr>
          <p:cNvPr id="31747" name="Rectangle 3"/>
          <p:cNvSpPr>
            <a:spLocks noGrp="1" noChangeArrowheads="1"/>
          </p:cNvSpPr>
          <p:nvPr>
            <p:ph idx="1"/>
          </p:nvPr>
        </p:nvSpPr>
        <p:spPr/>
        <p:txBody>
          <a:bodyPr/>
          <a:lstStyle/>
          <a:p>
            <a:pPr eaLnBrk="1" hangingPunct="1"/>
            <a:r>
              <a:rPr lang="en-US" altLang="fr-FR"/>
              <a:t>When we delete a node, we need to consider how we take care of the children of the deleted node.</a:t>
            </a:r>
          </a:p>
          <a:p>
            <a:pPr lvl="1" eaLnBrk="1" hangingPunct="1"/>
            <a:r>
              <a:rPr lang="en-US" altLang="fr-FR"/>
              <a:t>This has to be done such that the property of the </a:t>
            </a:r>
            <a:r>
              <a:rPr lang="en-US" altLang="fr-FR">
                <a:solidFill>
                  <a:srgbClr val="00FF00"/>
                </a:solidFill>
              </a:rPr>
              <a:t>search tree</a:t>
            </a:r>
            <a:r>
              <a:rPr lang="en-US" altLang="fr-FR"/>
              <a:t> is maintained.</a:t>
            </a:r>
          </a:p>
          <a:p>
            <a:pPr eaLnBrk="1" hangingPunct="1"/>
            <a:endParaRPr lang="en-US"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0D4DEAF-6359-4400-A640-AA3A6B270B84}" type="slidenum">
              <a:rPr lang="zh-TW" altLang="en-US" sz="1200">
                <a:solidFill>
                  <a:srgbClr val="898989"/>
                </a:solidFill>
              </a:rPr>
              <a:pPr/>
              <a:t>29</a:t>
            </a:fld>
            <a:endParaRPr lang="en-US" altLang="zh-TW" sz="120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fr-FR"/>
              <a:t>delete</a:t>
            </a:r>
          </a:p>
        </p:txBody>
      </p:sp>
      <p:sp>
        <p:nvSpPr>
          <p:cNvPr id="32771" name="Rectangle 3"/>
          <p:cNvSpPr>
            <a:spLocks noGrp="1" noChangeArrowheads="1"/>
          </p:cNvSpPr>
          <p:nvPr>
            <p:ph idx="1"/>
          </p:nvPr>
        </p:nvSpPr>
        <p:spPr>
          <a:xfrm>
            <a:off x="457200" y="1036638"/>
            <a:ext cx="8229600" cy="4525962"/>
          </a:xfrm>
        </p:spPr>
        <p:txBody>
          <a:bodyPr/>
          <a:lstStyle/>
          <a:p>
            <a:pPr eaLnBrk="1" hangingPunct="1">
              <a:buFont typeface="Monotype Sorts" pitchFamily="2" charset="2"/>
              <a:buNone/>
            </a:pPr>
            <a:r>
              <a:rPr lang="en-US" altLang="fr-FR" sz="2400"/>
              <a:t>Three cases:</a:t>
            </a:r>
          </a:p>
          <a:p>
            <a:pPr eaLnBrk="1" hangingPunct="1">
              <a:buFont typeface="Monotype Sorts" pitchFamily="2" charset="2"/>
              <a:buNone/>
            </a:pPr>
            <a:r>
              <a:rPr lang="en-US" altLang="fr-FR" sz="2400"/>
              <a:t>(1) the node is a leaf</a:t>
            </a:r>
          </a:p>
          <a:p>
            <a:pPr lvl="1" eaLnBrk="1" hangingPunct="1"/>
            <a:r>
              <a:rPr lang="en-US" altLang="fr-FR" sz="2000"/>
              <a:t>Delete it immediately</a:t>
            </a:r>
          </a:p>
          <a:p>
            <a:pPr eaLnBrk="1" hangingPunct="1">
              <a:buFont typeface="Monotype Sorts" pitchFamily="2" charset="2"/>
              <a:buNone/>
            </a:pPr>
            <a:r>
              <a:rPr lang="en-US" altLang="fr-FR" sz="2400"/>
              <a:t>(2) the node has one child</a:t>
            </a:r>
          </a:p>
          <a:p>
            <a:pPr lvl="1" eaLnBrk="1" hangingPunct="1"/>
            <a:r>
              <a:rPr lang="en-US" altLang="fr-FR" sz="2000"/>
              <a:t>Adjust a pointer from the parent to bypass that node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E74005F-6E62-46ED-A447-9C9856C63790}" type="slidenum">
              <a:rPr lang="zh-TW" altLang="en-US" sz="1200">
                <a:solidFill>
                  <a:srgbClr val="898989"/>
                </a:solidFill>
              </a:rPr>
              <a:pPr/>
              <a:t>30</a:t>
            </a:fld>
            <a:endParaRPr lang="en-US" altLang="zh-TW" sz="1200">
              <a:solidFill>
                <a:srgbClr val="898989"/>
              </a:solidFill>
            </a:endParaRPr>
          </a:p>
        </p:txBody>
      </p:sp>
      <p:pic>
        <p:nvPicPr>
          <p:cNvPr id="32774" name="Picture 4" descr="fig4_24"/>
          <p:cNvPicPr>
            <a:picLocks noChangeAspect="1" noChangeArrowheads="1"/>
          </p:cNvPicPr>
          <p:nvPr/>
        </p:nvPicPr>
        <p:blipFill>
          <a:blip r:embed="rId2">
            <a:lum bright="-20000" contrast="80000"/>
            <a:extLst>
              <a:ext uri="{28A0092B-C50C-407E-A947-70E740481C1C}">
                <a14:useLocalDpi xmlns:a14="http://schemas.microsoft.com/office/drawing/2010/main" val="0"/>
              </a:ext>
            </a:extLst>
          </a:blip>
          <a:srcRect/>
          <a:stretch>
            <a:fillRect/>
          </a:stretch>
        </p:blipFill>
        <p:spPr bwMode="auto">
          <a:xfrm>
            <a:off x="838200" y="3124200"/>
            <a:ext cx="7239000"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Multiplier 4"/>
          <p:cNvSpPr/>
          <p:nvPr/>
        </p:nvSpPr>
        <p:spPr>
          <a:xfrm>
            <a:off x="6435725" y="4597400"/>
            <a:ext cx="457200" cy="685800"/>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0" hangingPunct="0">
              <a:spcBef>
                <a:spcPct val="20000"/>
              </a:spcBef>
              <a:buClr>
                <a:schemeClr val="tx2"/>
              </a:buClr>
              <a:buSzPct val="75000"/>
              <a:buFont typeface="Monotype Sorts" pitchFamily="2" charset="2"/>
              <a:buChar char="l"/>
              <a:defRPr/>
            </a:pPr>
            <a:endParaRPr lang="fr-F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fr-FR"/>
              <a:t>delete</a:t>
            </a:r>
          </a:p>
        </p:txBody>
      </p:sp>
      <p:sp>
        <p:nvSpPr>
          <p:cNvPr id="216067" name="Rectangle 3"/>
          <p:cNvSpPr>
            <a:spLocks noGrp="1" noChangeArrowheads="1"/>
          </p:cNvSpPr>
          <p:nvPr>
            <p:ph idx="1"/>
          </p:nvPr>
        </p:nvSpPr>
        <p:spPr>
          <a:xfrm>
            <a:off x="609600" y="1447800"/>
            <a:ext cx="7848600" cy="5029200"/>
          </a:xfrm>
        </p:spPr>
        <p:txBody>
          <a:bodyPr rtlCol="0">
            <a:normAutofit lnSpcReduction="10000"/>
          </a:bodyPr>
          <a:lstStyle/>
          <a:p>
            <a:pPr eaLnBrk="1" fontAlgn="auto" hangingPunct="1">
              <a:lnSpc>
                <a:spcPct val="90000"/>
              </a:lnSpc>
              <a:spcAft>
                <a:spcPts val="0"/>
              </a:spcAft>
              <a:buFont typeface="Monotype Sorts" pitchFamily="2" charset="2"/>
              <a:buNone/>
              <a:defRPr/>
            </a:pPr>
            <a:r>
              <a:rPr lang="en-US" sz="2400" dirty="0"/>
              <a:t>(3) the node has 2 children</a:t>
            </a:r>
          </a:p>
          <a:p>
            <a:pPr lvl="1" eaLnBrk="1" fontAlgn="auto" hangingPunct="1">
              <a:lnSpc>
                <a:spcPct val="90000"/>
              </a:lnSpc>
              <a:spcAft>
                <a:spcPts val="0"/>
              </a:spcAft>
              <a:defRPr/>
            </a:pPr>
            <a:r>
              <a:rPr lang="en-US" sz="2000" dirty="0"/>
              <a:t>replace the key of that node with the minimum element at the right </a:t>
            </a:r>
            <a:r>
              <a:rPr lang="en-US" sz="2000" dirty="0" err="1"/>
              <a:t>subtree</a:t>
            </a:r>
            <a:r>
              <a:rPr lang="en-US" sz="2000" dirty="0"/>
              <a:t> </a:t>
            </a:r>
          </a:p>
          <a:p>
            <a:pPr lvl="1" eaLnBrk="1" fontAlgn="auto" hangingPunct="1">
              <a:lnSpc>
                <a:spcPct val="90000"/>
              </a:lnSpc>
              <a:spcAft>
                <a:spcPts val="0"/>
              </a:spcAft>
              <a:defRPr/>
            </a:pPr>
            <a:r>
              <a:rPr lang="en-US" sz="2000" dirty="0"/>
              <a:t>delete the minimum element </a:t>
            </a:r>
          </a:p>
          <a:p>
            <a:pPr lvl="2" eaLnBrk="1" fontAlgn="auto" hangingPunct="1">
              <a:lnSpc>
                <a:spcPct val="90000"/>
              </a:lnSpc>
              <a:spcAft>
                <a:spcPts val="0"/>
              </a:spcAft>
              <a:defRPr/>
            </a:pPr>
            <a:r>
              <a:rPr lang="en-US" sz="1800" dirty="0"/>
              <a:t>Has either no child or only right child because if it has a left child, that left child would be smaller and would have been chosen. So invoke case 1 or 2.</a:t>
            </a:r>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buFont typeface="Monotype Sorts" pitchFamily="2" charset="2"/>
              <a:buNone/>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lvl="1" eaLnBrk="1" fontAlgn="auto" hangingPunct="1">
              <a:lnSpc>
                <a:spcPct val="90000"/>
              </a:lnSpc>
              <a:spcAft>
                <a:spcPts val="0"/>
              </a:spcAft>
              <a:defRPr/>
            </a:pPr>
            <a:endParaRPr lang="en-US" sz="2000" dirty="0"/>
          </a:p>
          <a:p>
            <a:pPr eaLnBrk="1" fontAlgn="auto" hangingPunct="1">
              <a:lnSpc>
                <a:spcPct val="90000"/>
              </a:lnSpc>
              <a:spcAft>
                <a:spcPts val="0"/>
              </a:spcAft>
              <a:defRPr/>
            </a:pPr>
            <a:r>
              <a:rPr lang="en-US" sz="1800" b="1" dirty="0">
                <a:solidFill>
                  <a:srgbClr val="FF0000"/>
                </a:solidFill>
              </a:rPr>
              <a:t>Time complexity = O(height of the tree)</a:t>
            </a:r>
          </a:p>
        </p:txBody>
      </p:sp>
      <p:sp>
        <p:nvSpPr>
          <p:cNvPr id="3" name="Espace réservé du pied de page 2"/>
          <p:cNvSpPr>
            <a:spLocks noGrp="1"/>
          </p:cNvSpPr>
          <p:nvPr>
            <p:ph type="ftr" sz="quarter" idx="11"/>
          </p:nvPr>
        </p:nvSpPr>
        <p:spPr/>
        <p:txBody>
          <a:bodyPr/>
          <a:lstStyle/>
          <a:p>
            <a:pPr>
              <a:defRPr/>
            </a:pPr>
            <a:r>
              <a:rPr lang="nl-NL" altLang="zh-TW"/>
              <a:t>CS 2321: D.S.A (-Trees-)</a:t>
            </a:r>
            <a:endParaRPr lang="en-US" altLang="zh-TW"/>
          </a:p>
        </p:txBody>
      </p:sp>
      <p:sp>
        <p:nvSpPr>
          <p:cNvPr id="4" name="Espace réservé du numéro de diapositive 3"/>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664A488F-8E69-439B-BB50-6D13969D3BED}" type="slidenum">
              <a:rPr lang="zh-TW" altLang="en-US" sz="1200">
                <a:solidFill>
                  <a:srgbClr val="898989"/>
                </a:solidFill>
              </a:rPr>
              <a:pPr/>
              <a:t>31</a:t>
            </a:fld>
            <a:endParaRPr lang="en-US" altLang="zh-TW" sz="1200">
              <a:solidFill>
                <a:srgbClr val="898989"/>
              </a:solidFill>
            </a:endParaRPr>
          </a:p>
        </p:txBody>
      </p:sp>
      <p:pic>
        <p:nvPicPr>
          <p:cNvPr id="33798" name="Picture 4" descr="fig4_25"/>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3429000" y="3151188"/>
            <a:ext cx="5181600" cy="294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Oval 5"/>
          <p:cNvSpPr>
            <a:spLocks noChangeArrowheads="1"/>
          </p:cNvSpPr>
          <p:nvPr/>
        </p:nvSpPr>
        <p:spPr bwMode="auto">
          <a:xfrm>
            <a:off x="3994150" y="3805238"/>
            <a:ext cx="304800" cy="3048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3800" name="Oval 6"/>
          <p:cNvSpPr>
            <a:spLocks noChangeArrowheads="1"/>
          </p:cNvSpPr>
          <p:nvPr/>
        </p:nvSpPr>
        <p:spPr bwMode="auto">
          <a:xfrm>
            <a:off x="7250113" y="4927600"/>
            <a:ext cx="304800" cy="3048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8" name="Flèche courbée vers le bas 7"/>
          <p:cNvSpPr/>
          <p:nvPr/>
        </p:nvSpPr>
        <p:spPr>
          <a:xfrm rot="15252346">
            <a:off x="5800726" y="4052887"/>
            <a:ext cx="1687512" cy="1096963"/>
          </a:xfrm>
          <a:prstGeom prst="curvedDownArrow">
            <a:avLst>
              <a:gd name="adj1" fmla="val 25000"/>
              <a:gd name="adj2" fmla="val 48819"/>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spcBef>
                <a:spcPct val="20000"/>
              </a:spcBef>
              <a:buClr>
                <a:schemeClr val="tx2"/>
              </a:buClr>
              <a:buSzPct val="75000"/>
              <a:buFont typeface="Monotype Sorts" pitchFamily="2" charset="2"/>
              <a:buChar char="l"/>
              <a:defRPr/>
            </a:pPr>
            <a:endParaRPr lang="fr-FR">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bg>
      <p:bgPr>
        <a:solidFill>
          <a:srgbClr val="BFBFBF"/>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p:txBody>
          <a:bodyPr/>
          <a:lstStyle/>
          <a:p>
            <a:pPr eaLnBrk="1" hangingPunct="1"/>
            <a:r>
              <a:rPr lang="en-US" altLang="fr-FR" sz="4000" b="1"/>
              <a:t>4. AVL-Trees</a:t>
            </a:r>
          </a:p>
        </p:txBody>
      </p:sp>
      <p:sp>
        <p:nvSpPr>
          <p:cNvPr id="34819" name="Rectangle 4"/>
          <p:cNvSpPr>
            <a:spLocks noChangeArrowheads="1"/>
          </p:cNvSpPr>
          <p:nvPr/>
        </p:nvSpPr>
        <p:spPr bwMode="auto">
          <a:xfrm>
            <a:off x="609600" y="4343400"/>
            <a:ext cx="4262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r>
              <a:rPr lang="fr-FR" altLang="fr-FR">
                <a:solidFill>
                  <a:srgbClr val="FF0000"/>
                </a:solidFill>
              </a:rPr>
              <a:t>Reading: Text Book (Weiss) 4.4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68086" y="40100"/>
            <a:ext cx="8229600" cy="1143000"/>
          </a:xfrm>
        </p:spPr>
        <p:txBody>
          <a:bodyPr/>
          <a:lstStyle/>
          <a:p>
            <a:pPr eaLnBrk="1" hangingPunct="1"/>
            <a:r>
              <a:rPr lang="en-US" altLang="fr-FR" dirty="0"/>
              <a:t>Balanced binary tree</a:t>
            </a:r>
          </a:p>
        </p:txBody>
      </p:sp>
      <p:sp>
        <p:nvSpPr>
          <p:cNvPr id="35843" name="Rectangle 3"/>
          <p:cNvSpPr>
            <a:spLocks noGrp="1" noChangeArrowheads="1"/>
          </p:cNvSpPr>
          <p:nvPr>
            <p:ph idx="1"/>
          </p:nvPr>
        </p:nvSpPr>
        <p:spPr>
          <a:xfrm>
            <a:off x="468086" y="1114900"/>
            <a:ext cx="8229600" cy="5075237"/>
          </a:xfrm>
        </p:spPr>
        <p:txBody>
          <a:bodyPr/>
          <a:lstStyle/>
          <a:p>
            <a:pPr eaLnBrk="1" hangingPunct="1"/>
            <a:r>
              <a:rPr lang="en-US" altLang="fr-FR" sz="2400" b="1" u="sng" dirty="0">
                <a:solidFill>
                  <a:srgbClr val="FF0000"/>
                </a:solidFill>
              </a:rPr>
              <a:t>The disadvantage of a binary search tree is that its height can achieve N-1</a:t>
            </a:r>
          </a:p>
          <a:p>
            <a:pPr eaLnBrk="1" hangingPunct="1"/>
            <a:r>
              <a:rPr lang="en-US" altLang="fr-FR" sz="2400" dirty="0"/>
              <a:t>This means that the time needed to perform insertion and deletion and many other operations can be O(N) in the worst case</a:t>
            </a:r>
          </a:p>
          <a:p>
            <a:pPr eaLnBrk="1" hangingPunct="1"/>
            <a:r>
              <a:rPr lang="en-US" altLang="fr-FR" sz="2400" dirty="0"/>
              <a:t>We want a tree with small height</a:t>
            </a:r>
          </a:p>
          <a:p>
            <a:pPr eaLnBrk="1" hangingPunct="1"/>
            <a:r>
              <a:rPr lang="en-US" altLang="fr-FR" sz="2400" dirty="0"/>
              <a:t>A binary tree with N node(s) has height </a:t>
            </a:r>
            <a:r>
              <a:rPr lang="en-US" altLang="fr-FR" sz="2400" dirty="0">
                <a:solidFill>
                  <a:srgbClr val="FF0000"/>
                </a:solidFill>
              </a:rPr>
              <a:t>at least  </a:t>
            </a:r>
            <a:r>
              <a:rPr lang="en-US" altLang="fr-FR" sz="2400" dirty="0">
                <a:sym typeface="Symbol" panose="05050102010706020507" pitchFamily="18" charset="2"/>
              </a:rPr>
              <a:t>O(</a:t>
            </a:r>
            <a:r>
              <a:rPr lang="en-US" altLang="fr-FR" sz="2400" dirty="0"/>
              <a:t>log N) </a:t>
            </a:r>
          </a:p>
          <a:p>
            <a:pPr eaLnBrk="1" hangingPunct="1"/>
            <a:r>
              <a:rPr lang="en-US" altLang="fr-FR" sz="2400" dirty="0"/>
              <a:t>Thus, our goal is to keep the height of a binary search tree O(log N)</a:t>
            </a:r>
          </a:p>
          <a:p>
            <a:pPr eaLnBrk="1" hangingPunct="1"/>
            <a:r>
              <a:rPr lang="en-US" altLang="fr-FR" sz="2400" dirty="0"/>
              <a:t>Such trees are called </a:t>
            </a:r>
            <a:r>
              <a:rPr lang="en-US" altLang="fr-FR" sz="2400" dirty="0">
                <a:solidFill>
                  <a:srgbClr val="FF0000"/>
                </a:solidFill>
              </a:rPr>
              <a:t>balanced </a:t>
            </a:r>
            <a:r>
              <a:rPr lang="en-US" altLang="fr-FR" sz="2400" dirty="0"/>
              <a:t>binary search trees.  Examples are AVL tree, Red-black tree.</a:t>
            </a:r>
          </a:p>
          <a:p>
            <a:pPr eaLnBrk="1" hangingPunct="1"/>
            <a:r>
              <a:rPr lang="en-US" altLang="fr-FR" sz="2400" dirty="0">
                <a:solidFill>
                  <a:srgbClr val="FF0000"/>
                </a:solidFill>
              </a:rPr>
              <a:t>AVL stands to “</a:t>
            </a:r>
            <a:r>
              <a:rPr lang="fr-FR" altLang="fr-FR" sz="2400" dirty="0" err="1">
                <a:solidFill>
                  <a:srgbClr val="FF0000"/>
                </a:solidFill>
              </a:rPr>
              <a:t>Adelson-Velskii</a:t>
            </a:r>
            <a:r>
              <a:rPr lang="fr-FR" altLang="fr-FR" sz="2400" dirty="0">
                <a:solidFill>
                  <a:srgbClr val="FF0000"/>
                </a:solidFill>
              </a:rPr>
              <a:t> and </a:t>
            </a:r>
            <a:r>
              <a:rPr lang="fr-FR" altLang="fr-FR" sz="2400" dirty="0" err="1">
                <a:solidFill>
                  <a:srgbClr val="FF0000"/>
                </a:solidFill>
              </a:rPr>
              <a:t>Landis</a:t>
            </a:r>
            <a:r>
              <a:rPr lang="fr-FR" altLang="fr-FR" sz="2400" dirty="0">
                <a:solidFill>
                  <a:srgbClr val="FF0000"/>
                </a:solidFill>
              </a:rPr>
              <a:t>"</a:t>
            </a:r>
            <a:endParaRPr lang="en-US" altLang="fr-FR" sz="2400" dirty="0">
              <a:solidFill>
                <a:srgbClr val="FF0000"/>
              </a:solidFill>
            </a:endParaRPr>
          </a:p>
        </p:txBody>
      </p:sp>
      <p:sp>
        <p:nvSpPr>
          <p:cNvPr id="2" name="Espace réservé du pied de page 1"/>
          <p:cNvSpPr>
            <a:spLocks noGrp="1"/>
          </p:cNvSpPr>
          <p:nvPr>
            <p:ph type="ftr" sz="quarter" idx="11"/>
          </p:nvPr>
        </p:nvSpPr>
        <p:spPr>
          <a:xfrm>
            <a:off x="5334000" y="6492875"/>
            <a:ext cx="2895600" cy="365125"/>
          </a:xfrm>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8213D1C9-08AB-4542-8D9D-628D871940B8}" type="slidenum">
              <a:rPr lang="zh-TW" altLang="en-US" sz="1200">
                <a:solidFill>
                  <a:srgbClr val="898989"/>
                </a:solidFill>
              </a:rPr>
              <a:pPr/>
              <a:t>33</a:t>
            </a:fld>
            <a:endParaRPr lang="en-US" altLang="zh-TW" sz="1200" dirty="0">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fr-FR"/>
              <a:t>AVL tree</a:t>
            </a:r>
          </a:p>
        </p:txBody>
      </p:sp>
      <p:sp>
        <p:nvSpPr>
          <p:cNvPr id="362499" name="Rectangle 3"/>
          <p:cNvSpPr>
            <a:spLocks noGrp="1" noChangeArrowheads="1"/>
          </p:cNvSpPr>
          <p:nvPr>
            <p:ph idx="1"/>
          </p:nvPr>
        </p:nvSpPr>
        <p:spPr/>
        <p:txBody>
          <a:bodyPr rtlCol="0">
            <a:normAutofit lnSpcReduction="10000"/>
          </a:bodyPr>
          <a:lstStyle/>
          <a:p>
            <a:pPr algn="just" eaLnBrk="1" fontAlgn="auto" hangingPunct="1">
              <a:spcAft>
                <a:spcPts val="0"/>
              </a:spcAft>
              <a:buFont typeface="Monotype Sorts" pitchFamily="2" charset="2"/>
              <a:buNone/>
              <a:defRPr/>
            </a:pPr>
            <a:r>
              <a:rPr lang="en-US" dirty="0"/>
              <a:t>Height of a node</a:t>
            </a:r>
          </a:p>
          <a:p>
            <a:pPr algn="just" eaLnBrk="1" fontAlgn="auto" hangingPunct="1">
              <a:spcAft>
                <a:spcPts val="0"/>
              </a:spcAft>
              <a:defRPr/>
            </a:pPr>
            <a:r>
              <a:rPr lang="en-US" dirty="0"/>
              <a:t>The height of a leaf is 1.  The height of a null pointer is zero.</a:t>
            </a:r>
          </a:p>
          <a:p>
            <a:pPr algn="just" eaLnBrk="1" fontAlgn="auto" hangingPunct="1">
              <a:spcAft>
                <a:spcPts val="0"/>
              </a:spcAft>
              <a:defRPr/>
            </a:pPr>
            <a:r>
              <a:rPr lang="en-US" dirty="0"/>
              <a:t>The height of an internal node is the maximum height of its children plus 1</a:t>
            </a:r>
          </a:p>
          <a:p>
            <a:pPr algn="just" eaLnBrk="1" fontAlgn="auto" hangingPunct="1">
              <a:spcAft>
                <a:spcPts val="0"/>
              </a:spcAft>
              <a:buFont typeface="Monotype Sorts" pitchFamily="2" charset="2"/>
              <a:buNone/>
              <a:defRPr/>
            </a:pPr>
            <a:r>
              <a:rPr lang="en-US" dirty="0"/>
              <a:t>    </a:t>
            </a:r>
          </a:p>
          <a:p>
            <a:pPr algn="just" eaLnBrk="1" fontAlgn="auto" hangingPunct="1">
              <a:spcAft>
                <a:spcPts val="0"/>
              </a:spcAft>
              <a:buFont typeface="Monotype Sorts" pitchFamily="2" charset="2"/>
              <a:buNone/>
              <a:defRPr/>
            </a:pPr>
            <a:r>
              <a:rPr lang="en-US" dirty="0"/>
              <a:t>    </a:t>
            </a:r>
            <a:r>
              <a:rPr lang="en-US" sz="2400" dirty="0">
                <a:solidFill>
                  <a:schemeClr val="hlink"/>
                </a:solidFill>
              </a:rPr>
              <a:t>Note that this definition of height is different from the one we defined previously (we defined the height of a leaf as zero previously).</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11281BC1-5F89-48E9-AC66-A0F1028802D8}" type="slidenum">
              <a:rPr lang="zh-TW" altLang="en-US" sz="1200">
                <a:solidFill>
                  <a:srgbClr val="898989"/>
                </a:solidFill>
              </a:rPr>
              <a:pPr/>
              <a:t>34</a:t>
            </a:fld>
            <a:endParaRPr lang="en-US" altLang="zh-TW" sz="1200">
              <a:solidFill>
                <a:srgbClr val="89898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784BF3-45C0-D10F-36A8-6815BBB69345}"/>
              </a:ext>
            </a:extLst>
          </p:cNvPr>
          <p:cNvSpPr>
            <a:spLocks noGrp="1"/>
          </p:cNvSpPr>
          <p:nvPr>
            <p:ph type="ftr" sz="quarter" idx="11"/>
          </p:nvPr>
        </p:nvSpPr>
        <p:spPr/>
        <p:txBody>
          <a:bodyPr/>
          <a:lstStyle/>
          <a:p>
            <a:pPr>
              <a:defRPr/>
            </a:pPr>
            <a:r>
              <a:rPr lang="nl-NL" altLang="zh-TW"/>
              <a:t>CS 2321: D.S.A (-Trees-)</a:t>
            </a:r>
            <a:endParaRPr lang="en-US" altLang="zh-TW"/>
          </a:p>
        </p:txBody>
      </p:sp>
      <p:sp>
        <p:nvSpPr>
          <p:cNvPr id="5" name="Slide Number Placeholder 4">
            <a:extLst>
              <a:ext uri="{FF2B5EF4-FFF2-40B4-BE49-F238E27FC236}">
                <a16:creationId xmlns:a16="http://schemas.microsoft.com/office/drawing/2014/main" id="{6240EADC-B7E2-871E-3704-BE2B55FE4E6D}"/>
              </a:ext>
            </a:extLst>
          </p:cNvPr>
          <p:cNvSpPr>
            <a:spLocks noGrp="1"/>
          </p:cNvSpPr>
          <p:nvPr>
            <p:ph type="sldNum" sz="quarter" idx="12"/>
          </p:nvPr>
        </p:nvSpPr>
        <p:spPr/>
        <p:txBody>
          <a:bodyPr/>
          <a:lstStyle/>
          <a:p>
            <a:fld id="{73473358-7008-4F6F-B5F5-0284EE97B92C}" type="slidenum">
              <a:rPr lang="zh-TW" altLang="en-US" smtClean="0"/>
              <a:pPr/>
              <a:t>35</a:t>
            </a:fld>
            <a:endParaRPr lang="en-US" altLang="zh-TW"/>
          </a:p>
        </p:txBody>
      </p:sp>
      <p:pic>
        <p:nvPicPr>
          <p:cNvPr id="7" name="Picture 6" descr="Diagram&#10;&#10;Description automatically generated">
            <a:extLst>
              <a:ext uri="{FF2B5EF4-FFF2-40B4-BE49-F238E27FC236}">
                <a16:creationId xmlns:a16="http://schemas.microsoft.com/office/drawing/2014/main" id="{7CDD50E3-48DC-0527-8493-15F15BAA7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746126"/>
            <a:ext cx="6096000" cy="4495800"/>
          </a:xfrm>
          <a:prstGeom prst="rect">
            <a:avLst/>
          </a:prstGeom>
        </p:spPr>
      </p:pic>
    </p:spTree>
    <p:extLst>
      <p:ext uri="{BB962C8B-B14F-4D97-AF65-F5344CB8AC3E}">
        <p14:creationId xmlns:p14="http://schemas.microsoft.com/office/powerpoint/2010/main" val="2945596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fr-FR" dirty="0"/>
              <a:t>AVL tree</a:t>
            </a:r>
          </a:p>
        </p:txBody>
      </p:sp>
      <p:sp>
        <p:nvSpPr>
          <p:cNvPr id="37891" name="Rectangle 3"/>
          <p:cNvSpPr>
            <a:spLocks noGrp="1" noChangeArrowheads="1"/>
          </p:cNvSpPr>
          <p:nvPr>
            <p:ph idx="1"/>
          </p:nvPr>
        </p:nvSpPr>
        <p:spPr/>
        <p:txBody>
          <a:bodyPr/>
          <a:lstStyle/>
          <a:p>
            <a:pPr eaLnBrk="1" hangingPunct="1"/>
            <a:r>
              <a:rPr lang="en-US" altLang="fr-FR" dirty="0"/>
              <a:t>An AVL tree is a binary search tree in which</a:t>
            </a:r>
          </a:p>
          <a:p>
            <a:pPr lvl="1" eaLnBrk="1" hangingPunct="1"/>
            <a:r>
              <a:rPr lang="en-US" altLang="fr-FR" u="sng" dirty="0">
                <a:solidFill>
                  <a:srgbClr val="FF0000"/>
                </a:solidFill>
              </a:rPr>
              <a:t>for </a:t>
            </a:r>
            <a:r>
              <a:rPr lang="en-US" altLang="fr-FR" i="1" u="sng" dirty="0">
                <a:solidFill>
                  <a:srgbClr val="FF0000"/>
                </a:solidFill>
              </a:rPr>
              <a:t>every</a:t>
            </a:r>
            <a:r>
              <a:rPr lang="en-US" altLang="fr-FR" u="sng" dirty="0">
                <a:solidFill>
                  <a:srgbClr val="FF0000"/>
                </a:solidFill>
              </a:rPr>
              <a:t> node in the tree</a:t>
            </a:r>
            <a:r>
              <a:rPr lang="en-US" altLang="fr-FR" dirty="0"/>
              <a:t>, the height of the left and right sub-trees differ by </a:t>
            </a:r>
            <a:r>
              <a:rPr lang="en-US" altLang="fr-FR" b="1" dirty="0">
                <a:solidFill>
                  <a:srgbClr val="FF0000"/>
                </a:solidFill>
              </a:rPr>
              <a:t>at most 1</a:t>
            </a:r>
            <a:r>
              <a:rPr lang="en-US" altLang="fr-FR" dirty="0"/>
              <a:t>.</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19F153C3-39A2-4730-B08D-2F04538AD636}" type="slidenum">
              <a:rPr lang="zh-TW" altLang="en-US" sz="1200">
                <a:solidFill>
                  <a:srgbClr val="898989"/>
                </a:solidFill>
              </a:rPr>
              <a:pPr/>
              <a:t>36</a:t>
            </a:fld>
            <a:endParaRPr lang="en-US" altLang="zh-TW" sz="1200">
              <a:solidFill>
                <a:srgbClr val="898989"/>
              </a:solidFill>
            </a:endParaRPr>
          </a:p>
        </p:txBody>
      </p:sp>
      <p:pic>
        <p:nvPicPr>
          <p:cNvPr id="37894" name="Picture 4" descr="fig4_32"/>
          <p:cNvPicPr>
            <a:picLocks noChangeAspect="1" noChangeArrowheads="1"/>
          </p:cNvPicPr>
          <p:nvPr/>
        </p:nvPicPr>
        <p:blipFill>
          <a:blip r:embed="rId2">
            <a:lum bright="-20000" contrast="60000"/>
            <a:extLst>
              <a:ext uri="{28A0092B-C50C-407E-A947-70E740481C1C}">
                <a14:useLocalDpi xmlns:a14="http://schemas.microsoft.com/office/drawing/2010/main" val="0"/>
              </a:ext>
            </a:extLst>
          </a:blip>
          <a:srcRect/>
          <a:stretch>
            <a:fillRect/>
          </a:stretch>
        </p:blipFill>
        <p:spPr bwMode="auto">
          <a:xfrm>
            <a:off x="1066800" y="3429000"/>
            <a:ext cx="7010400"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Oval 6"/>
          <p:cNvSpPr>
            <a:spLocks noChangeArrowheads="1"/>
          </p:cNvSpPr>
          <p:nvPr/>
        </p:nvSpPr>
        <p:spPr bwMode="auto">
          <a:xfrm>
            <a:off x="6553200" y="3657600"/>
            <a:ext cx="304800" cy="3810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7896" name="Text Box 7"/>
          <p:cNvSpPr txBox="1">
            <a:spLocks noChangeArrowheads="1"/>
          </p:cNvSpPr>
          <p:nvPr/>
        </p:nvSpPr>
        <p:spPr bwMode="auto">
          <a:xfrm>
            <a:off x="4876800" y="3505200"/>
            <a:ext cx="1676400" cy="5810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1600">
                <a:solidFill>
                  <a:srgbClr val="FF0000"/>
                </a:solidFill>
              </a:rPr>
              <a:t>AVL property violated here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A4B598D-A07E-4C32-5859-98E9D822C0E3}"/>
              </a:ext>
            </a:extLst>
          </p:cNvPr>
          <p:cNvPicPr>
            <a:picLocks noGrp="1" noChangeAspect="1"/>
          </p:cNvPicPr>
          <p:nvPr>
            <p:ph idx="1"/>
          </p:nvPr>
        </p:nvPicPr>
        <p:blipFill>
          <a:blip r:embed="rId2"/>
          <a:stretch>
            <a:fillRect/>
          </a:stretch>
        </p:blipFill>
        <p:spPr>
          <a:xfrm>
            <a:off x="239486" y="762000"/>
            <a:ext cx="8828314" cy="4798122"/>
          </a:xfrm>
          <a:prstGeom prst="rect">
            <a:avLst/>
          </a:prstGeom>
        </p:spPr>
      </p:pic>
      <p:sp>
        <p:nvSpPr>
          <p:cNvPr id="4" name="Footer Placeholder 3">
            <a:extLst>
              <a:ext uri="{FF2B5EF4-FFF2-40B4-BE49-F238E27FC236}">
                <a16:creationId xmlns:a16="http://schemas.microsoft.com/office/drawing/2014/main" id="{35803C7B-FA2D-0A3E-0E04-297B5D6C9A57}"/>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eaLnBrk="1" hangingPunct="1">
              <a:defRPr/>
            </a:pPr>
            <a:r>
              <a:rPr lang="en-US" altLang="zh-TW" kern="1200">
                <a:solidFill>
                  <a:schemeClr val="tx1">
                    <a:tint val="75000"/>
                  </a:schemeClr>
                </a:solidFill>
                <a:latin typeface="+mn-lt"/>
                <a:ea typeface="+mn-ea"/>
                <a:cs typeface="+mn-cs"/>
              </a:rPr>
              <a:t>CS 2321: D.S.A (-Trees-)</a:t>
            </a:r>
          </a:p>
        </p:txBody>
      </p:sp>
      <p:sp>
        <p:nvSpPr>
          <p:cNvPr id="5" name="Slide Number Placeholder 4">
            <a:extLst>
              <a:ext uri="{FF2B5EF4-FFF2-40B4-BE49-F238E27FC236}">
                <a16:creationId xmlns:a16="http://schemas.microsoft.com/office/drawing/2014/main" id="{70213970-1975-0E32-FB43-0D728874791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eaLnBrk="1" hangingPunct="1"/>
            <a:fld id="{73473358-7008-4F6F-B5F5-0284EE97B92C}" type="slidenum">
              <a:rPr lang="en-US" altLang="zh-TW" smtClean="0">
                <a:solidFill>
                  <a:schemeClr val="tx1">
                    <a:tint val="75000"/>
                  </a:schemeClr>
                </a:solidFill>
                <a:latin typeface="+mn-lt"/>
                <a:cs typeface="+mn-cs"/>
              </a:rPr>
              <a:pPr eaLnBrk="1" hangingPunct="1"/>
              <a:t>37</a:t>
            </a:fld>
            <a:endParaRPr lang="en-US" altLang="zh-TW">
              <a:solidFill>
                <a:schemeClr val="tx1">
                  <a:tint val="75000"/>
                </a:schemeClr>
              </a:solidFill>
              <a:latin typeface="+mn-lt"/>
              <a:cs typeface="+mn-cs"/>
            </a:endParaRPr>
          </a:p>
        </p:txBody>
      </p:sp>
    </p:spTree>
    <p:extLst>
      <p:ext uri="{BB962C8B-B14F-4D97-AF65-F5344CB8AC3E}">
        <p14:creationId xmlns:p14="http://schemas.microsoft.com/office/powerpoint/2010/main" val="1354151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fr-FR"/>
              <a:t>Rotations</a:t>
            </a:r>
          </a:p>
        </p:txBody>
      </p:sp>
      <p:sp>
        <p:nvSpPr>
          <p:cNvPr id="39939" name="Rectangle 3"/>
          <p:cNvSpPr>
            <a:spLocks noGrp="1" noChangeArrowheads="1"/>
          </p:cNvSpPr>
          <p:nvPr>
            <p:ph idx="1"/>
          </p:nvPr>
        </p:nvSpPr>
        <p:spPr/>
        <p:txBody>
          <a:bodyPr/>
          <a:lstStyle/>
          <a:p>
            <a:pPr eaLnBrk="1" hangingPunct="1"/>
            <a:r>
              <a:rPr lang="en-US" altLang="fr-FR" sz="2400" dirty="0"/>
              <a:t>When the tree structure changes (e.g., insertion or deletion), we need to transform the tree to restore the AVL tree property.</a:t>
            </a:r>
          </a:p>
          <a:p>
            <a:pPr eaLnBrk="1" hangingPunct="1"/>
            <a:r>
              <a:rPr lang="en-US" altLang="fr-FR" sz="2400" dirty="0"/>
              <a:t>This is done using </a:t>
            </a:r>
            <a:r>
              <a:rPr lang="en-US" altLang="fr-FR" sz="2400" b="1" dirty="0">
                <a:solidFill>
                  <a:srgbClr val="FF0000"/>
                </a:solidFill>
              </a:rPr>
              <a:t>single rotations </a:t>
            </a:r>
            <a:r>
              <a:rPr lang="en-US" altLang="fr-FR" sz="2400" dirty="0"/>
              <a:t>or </a:t>
            </a:r>
            <a:r>
              <a:rPr lang="en-US" altLang="fr-FR" sz="2400" b="1" dirty="0">
                <a:solidFill>
                  <a:srgbClr val="FF0000"/>
                </a:solidFill>
              </a:rPr>
              <a:t>double rotations</a:t>
            </a:r>
            <a:r>
              <a:rPr lang="en-US" altLang="fr-FR" sz="2400" dirty="0"/>
              <a:t>.</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B0150E80-A904-43EF-BC81-2E35A8A029F0}" type="slidenum">
              <a:rPr lang="zh-TW" altLang="en-US" sz="1200">
                <a:solidFill>
                  <a:srgbClr val="898989"/>
                </a:solidFill>
              </a:rPr>
              <a:pPr/>
              <a:t>38</a:t>
            </a:fld>
            <a:endParaRPr lang="en-US" altLang="zh-TW" sz="1200">
              <a:solidFill>
                <a:srgbClr val="898989"/>
              </a:solidFill>
            </a:endParaRPr>
          </a:p>
        </p:txBody>
      </p:sp>
      <p:sp>
        <p:nvSpPr>
          <p:cNvPr id="39942" name="Oval 5"/>
          <p:cNvSpPr>
            <a:spLocks noChangeArrowheads="1"/>
          </p:cNvSpPr>
          <p:nvPr/>
        </p:nvSpPr>
        <p:spPr bwMode="auto">
          <a:xfrm>
            <a:off x="2349500" y="4002088"/>
            <a:ext cx="635000" cy="4603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43" name="Oval 6"/>
          <p:cNvSpPr>
            <a:spLocks noChangeArrowheads="1"/>
          </p:cNvSpPr>
          <p:nvPr/>
        </p:nvSpPr>
        <p:spPr bwMode="auto">
          <a:xfrm>
            <a:off x="1397000" y="4749800"/>
            <a:ext cx="635000" cy="4603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44" name="AutoShape 7"/>
          <p:cNvSpPr>
            <a:spLocks noChangeArrowheads="1"/>
          </p:cNvSpPr>
          <p:nvPr/>
        </p:nvSpPr>
        <p:spPr bwMode="auto">
          <a:xfrm>
            <a:off x="762000" y="5497513"/>
            <a:ext cx="1071563" cy="976312"/>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45" name="AutoShape 8"/>
          <p:cNvSpPr>
            <a:spLocks noChangeArrowheads="1"/>
          </p:cNvSpPr>
          <p:nvPr/>
        </p:nvSpPr>
        <p:spPr bwMode="auto">
          <a:xfrm>
            <a:off x="2159000" y="5557837"/>
            <a:ext cx="881063" cy="690563"/>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46" name="AutoShape 9"/>
          <p:cNvSpPr>
            <a:spLocks noChangeArrowheads="1"/>
          </p:cNvSpPr>
          <p:nvPr/>
        </p:nvSpPr>
        <p:spPr bwMode="auto">
          <a:xfrm>
            <a:off x="3238500" y="4692650"/>
            <a:ext cx="881063" cy="688975"/>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47" name="Text Box 10"/>
          <p:cNvSpPr txBox="1">
            <a:spLocks noChangeArrowheads="1"/>
          </p:cNvSpPr>
          <p:nvPr/>
        </p:nvSpPr>
        <p:spPr bwMode="auto">
          <a:xfrm>
            <a:off x="2476500" y="4059238"/>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x</a:t>
            </a:r>
          </a:p>
        </p:txBody>
      </p:sp>
      <p:sp>
        <p:nvSpPr>
          <p:cNvPr id="39948" name="Text Box 11"/>
          <p:cNvSpPr txBox="1">
            <a:spLocks noChangeArrowheads="1"/>
          </p:cNvSpPr>
          <p:nvPr/>
        </p:nvSpPr>
        <p:spPr bwMode="auto">
          <a:xfrm>
            <a:off x="1524000" y="4724400"/>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y</a:t>
            </a:r>
          </a:p>
        </p:txBody>
      </p:sp>
      <p:sp>
        <p:nvSpPr>
          <p:cNvPr id="39949" name="Text Box 12"/>
          <p:cNvSpPr txBox="1">
            <a:spLocks noChangeArrowheads="1"/>
          </p:cNvSpPr>
          <p:nvPr/>
        </p:nvSpPr>
        <p:spPr bwMode="auto">
          <a:xfrm>
            <a:off x="1016000" y="5956300"/>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a:t>
            </a:r>
          </a:p>
        </p:txBody>
      </p:sp>
      <p:sp>
        <p:nvSpPr>
          <p:cNvPr id="39950" name="Text Box 13"/>
          <p:cNvSpPr txBox="1">
            <a:spLocks noChangeArrowheads="1"/>
          </p:cNvSpPr>
          <p:nvPr/>
        </p:nvSpPr>
        <p:spPr bwMode="auto">
          <a:xfrm>
            <a:off x="2413000" y="5610225"/>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B</a:t>
            </a:r>
          </a:p>
        </p:txBody>
      </p:sp>
      <p:sp>
        <p:nvSpPr>
          <p:cNvPr id="39951" name="Text Box 14"/>
          <p:cNvSpPr txBox="1">
            <a:spLocks noChangeArrowheads="1"/>
          </p:cNvSpPr>
          <p:nvPr/>
        </p:nvSpPr>
        <p:spPr bwMode="auto">
          <a:xfrm>
            <a:off x="3492500" y="4922838"/>
            <a:ext cx="158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C</a:t>
            </a:r>
          </a:p>
        </p:txBody>
      </p:sp>
      <p:sp>
        <p:nvSpPr>
          <p:cNvPr id="39952" name="Line 15"/>
          <p:cNvSpPr>
            <a:spLocks noChangeShapeType="1"/>
          </p:cNvSpPr>
          <p:nvPr/>
        </p:nvSpPr>
        <p:spPr bwMode="auto">
          <a:xfrm flipV="1">
            <a:off x="1841500" y="4403725"/>
            <a:ext cx="635000" cy="346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39953" name="Line 16"/>
          <p:cNvSpPr>
            <a:spLocks noChangeShapeType="1"/>
          </p:cNvSpPr>
          <p:nvPr/>
        </p:nvSpPr>
        <p:spPr bwMode="auto">
          <a:xfrm flipV="1">
            <a:off x="1270000" y="5210175"/>
            <a:ext cx="5715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39954" name="Line 17"/>
          <p:cNvSpPr>
            <a:spLocks noChangeShapeType="1"/>
          </p:cNvSpPr>
          <p:nvPr/>
        </p:nvSpPr>
        <p:spPr bwMode="auto">
          <a:xfrm>
            <a:off x="1833563" y="5243511"/>
            <a:ext cx="761578" cy="3365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39955" name="Line 18"/>
          <p:cNvSpPr>
            <a:spLocks noChangeShapeType="1"/>
          </p:cNvSpPr>
          <p:nvPr/>
        </p:nvSpPr>
        <p:spPr bwMode="auto">
          <a:xfrm>
            <a:off x="2857500" y="4403725"/>
            <a:ext cx="82550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351251" name="Group 19"/>
          <p:cNvGrpSpPr>
            <a:grpSpLocks/>
          </p:cNvGrpSpPr>
          <p:nvPr/>
        </p:nvGrpSpPr>
        <p:grpSpPr bwMode="auto">
          <a:xfrm>
            <a:off x="5791200" y="3733800"/>
            <a:ext cx="1714500" cy="496888"/>
            <a:chOff x="3792" y="1794"/>
            <a:chExt cx="1296" cy="414"/>
          </a:xfrm>
        </p:grpSpPr>
        <p:sp>
          <p:nvSpPr>
            <p:cNvPr id="39976" name="Oval 20"/>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77" name="Text Box 21"/>
            <p:cNvSpPr txBox="1">
              <a:spLocks noChangeArrowheads="1"/>
            </p:cNvSpPr>
            <p:nvPr/>
          </p:nvSpPr>
          <p:spPr bwMode="auto">
            <a:xfrm>
              <a:off x="3886" y="1794"/>
              <a:ext cx="120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y</a:t>
              </a:r>
            </a:p>
          </p:txBody>
        </p:sp>
      </p:grpSp>
      <p:grpSp>
        <p:nvGrpSpPr>
          <p:cNvPr id="351254" name="Group 22"/>
          <p:cNvGrpSpPr>
            <a:grpSpLocks/>
          </p:cNvGrpSpPr>
          <p:nvPr/>
        </p:nvGrpSpPr>
        <p:grpSpPr bwMode="auto">
          <a:xfrm>
            <a:off x="6413500" y="4002088"/>
            <a:ext cx="1384300" cy="862012"/>
            <a:chOff x="4272" y="2016"/>
            <a:chExt cx="1046" cy="720"/>
          </a:xfrm>
        </p:grpSpPr>
        <p:sp>
          <p:nvSpPr>
            <p:cNvPr id="39973" name="Oval 23"/>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74" name="Text Box 24"/>
            <p:cNvSpPr txBox="1">
              <a:spLocks noChangeArrowheads="1"/>
            </p:cNvSpPr>
            <p:nvPr/>
          </p:nvSpPr>
          <p:spPr bwMode="auto">
            <a:xfrm>
              <a:off x="4838" y="2351"/>
              <a:ext cx="480"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x</a:t>
              </a:r>
            </a:p>
          </p:txBody>
        </p:sp>
        <p:sp>
          <p:nvSpPr>
            <p:cNvPr id="39975" name="Line 25"/>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51258" name="Group 26"/>
          <p:cNvGrpSpPr>
            <a:grpSpLocks/>
          </p:cNvGrpSpPr>
          <p:nvPr/>
        </p:nvGrpSpPr>
        <p:grpSpPr bwMode="auto">
          <a:xfrm>
            <a:off x="5016500" y="4232275"/>
            <a:ext cx="1395413" cy="1495425"/>
            <a:chOff x="3216" y="2208"/>
            <a:chExt cx="1055" cy="1248"/>
          </a:xfrm>
        </p:grpSpPr>
        <p:sp>
          <p:nvSpPr>
            <p:cNvPr id="39970" name="AutoShape 27"/>
            <p:cNvSpPr>
              <a:spLocks noChangeArrowheads="1"/>
            </p:cNvSpPr>
            <p:nvPr/>
          </p:nvSpPr>
          <p:spPr bwMode="auto">
            <a:xfrm>
              <a:off x="3216" y="2448"/>
              <a:ext cx="810" cy="100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71" name="Text Box 28"/>
            <p:cNvSpPr txBox="1">
              <a:spLocks noChangeArrowheads="1"/>
            </p:cNvSpPr>
            <p:nvPr/>
          </p:nvSpPr>
          <p:spPr bwMode="auto">
            <a:xfrm>
              <a:off x="3456" y="2928"/>
              <a:ext cx="815"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a:t>
              </a:r>
            </a:p>
          </p:txBody>
        </p:sp>
        <p:sp>
          <p:nvSpPr>
            <p:cNvPr id="39972" name="Line 29"/>
            <p:cNvSpPr>
              <a:spLocks noChangeShapeType="1"/>
            </p:cNvSpPr>
            <p:nvPr/>
          </p:nvSpPr>
          <p:spPr bwMode="auto">
            <a:xfrm flipV="1">
              <a:off x="3648" y="2208"/>
              <a:ext cx="38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51262" name="Group 30"/>
          <p:cNvGrpSpPr>
            <a:grpSpLocks/>
          </p:cNvGrpSpPr>
          <p:nvPr/>
        </p:nvGrpSpPr>
        <p:grpSpPr bwMode="auto">
          <a:xfrm>
            <a:off x="6604000" y="4864100"/>
            <a:ext cx="881063" cy="863600"/>
            <a:chOff x="4416" y="2736"/>
            <a:chExt cx="666" cy="720"/>
          </a:xfrm>
        </p:grpSpPr>
        <p:sp>
          <p:nvSpPr>
            <p:cNvPr id="39967" name="AutoShape 31"/>
            <p:cNvSpPr>
              <a:spLocks noChangeArrowheads="1"/>
            </p:cNvSpPr>
            <p:nvPr/>
          </p:nvSpPr>
          <p:spPr bwMode="auto">
            <a:xfrm>
              <a:off x="4416" y="2880"/>
              <a:ext cx="666" cy="57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68" name="Text Box 32"/>
            <p:cNvSpPr txBox="1">
              <a:spLocks noChangeArrowheads="1"/>
            </p:cNvSpPr>
            <p:nvPr/>
          </p:nvSpPr>
          <p:spPr bwMode="auto">
            <a:xfrm>
              <a:off x="4560" y="3071"/>
              <a:ext cx="480" cy="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B</a:t>
              </a:r>
            </a:p>
          </p:txBody>
        </p:sp>
        <p:sp>
          <p:nvSpPr>
            <p:cNvPr id="39969" name="Line 33"/>
            <p:cNvSpPr>
              <a:spLocks noChangeShapeType="1"/>
            </p:cNvSpPr>
            <p:nvPr/>
          </p:nvSpPr>
          <p:spPr bwMode="auto">
            <a:xfrm flipV="1">
              <a:off x="4752" y="2736"/>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51266" name="Group 34"/>
          <p:cNvGrpSpPr>
            <a:grpSpLocks/>
          </p:cNvGrpSpPr>
          <p:nvPr/>
        </p:nvGrpSpPr>
        <p:grpSpPr bwMode="auto">
          <a:xfrm>
            <a:off x="7429500" y="4864100"/>
            <a:ext cx="952500" cy="803275"/>
            <a:chOff x="5040" y="2736"/>
            <a:chExt cx="720" cy="670"/>
          </a:xfrm>
        </p:grpSpPr>
        <p:sp>
          <p:nvSpPr>
            <p:cNvPr id="39964" name="AutoShape 35"/>
            <p:cNvSpPr>
              <a:spLocks noChangeArrowheads="1"/>
            </p:cNvSpPr>
            <p:nvPr/>
          </p:nvSpPr>
          <p:spPr bwMode="auto">
            <a:xfrm>
              <a:off x="5094" y="2784"/>
              <a:ext cx="666" cy="576"/>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39965" name="Text Box 36"/>
            <p:cNvSpPr txBox="1">
              <a:spLocks noChangeArrowheads="1"/>
            </p:cNvSpPr>
            <p:nvPr/>
          </p:nvSpPr>
          <p:spPr bwMode="auto">
            <a:xfrm>
              <a:off x="5280" y="3025"/>
              <a:ext cx="48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C</a:t>
              </a:r>
            </a:p>
          </p:txBody>
        </p:sp>
        <p:sp>
          <p:nvSpPr>
            <p:cNvPr id="39966" name="Line 37"/>
            <p:cNvSpPr>
              <a:spLocks noChangeShapeType="1"/>
            </p:cNvSpPr>
            <p:nvPr/>
          </p:nvSpPr>
          <p:spPr bwMode="auto">
            <a:xfrm>
              <a:off x="5040" y="2736"/>
              <a:ext cx="38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39961" name="Text Box 38"/>
          <p:cNvSpPr txBox="1">
            <a:spLocks noChangeArrowheads="1"/>
          </p:cNvSpPr>
          <p:nvPr/>
        </p:nvSpPr>
        <p:spPr bwMode="auto">
          <a:xfrm>
            <a:off x="2667000" y="6186488"/>
            <a:ext cx="1905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dirty="0"/>
              <a:t>Before Rotation</a:t>
            </a:r>
          </a:p>
        </p:txBody>
      </p:sp>
      <p:sp>
        <p:nvSpPr>
          <p:cNvPr id="351271" name="Text Box 39"/>
          <p:cNvSpPr txBox="1">
            <a:spLocks noChangeArrowheads="1"/>
          </p:cNvSpPr>
          <p:nvPr/>
        </p:nvSpPr>
        <p:spPr bwMode="auto">
          <a:xfrm>
            <a:off x="5651500" y="612775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t>After Rotation</a:t>
            </a:r>
          </a:p>
        </p:txBody>
      </p:sp>
      <p:sp>
        <p:nvSpPr>
          <p:cNvPr id="39963" name="Text Box 40"/>
          <p:cNvSpPr txBox="1">
            <a:spLocks noChangeArrowheads="1"/>
          </p:cNvSpPr>
          <p:nvPr/>
        </p:nvSpPr>
        <p:spPr bwMode="auto">
          <a:xfrm>
            <a:off x="304800" y="3581400"/>
            <a:ext cx="2819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b="0"/>
              <a:t>e.g. Single Rotation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12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12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512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512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5126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5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71"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fr-FR"/>
              <a:t>Rotations</a:t>
            </a:r>
          </a:p>
        </p:txBody>
      </p:sp>
      <p:sp>
        <p:nvSpPr>
          <p:cNvPr id="352259" name="Rectangle 3"/>
          <p:cNvSpPr>
            <a:spLocks noGrp="1" noChangeArrowheads="1"/>
          </p:cNvSpPr>
          <p:nvPr>
            <p:ph idx="1"/>
          </p:nvPr>
        </p:nvSpPr>
        <p:spPr>
          <a:xfrm>
            <a:off x="0" y="1295400"/>
            <a:ext cx="9144000" cy="4525963"/>
          </a:xfrm>
        </p:spPr>
        <p:txBody>
          <a:bodyPr rtlCol="0">
            <a:normAutofit/>
          </a:bodyPr>
          <a:lstStyle/>
          <a:p>
            <a:pPr algn="just" eaLnBrk="1" fontAlgn="auto" hangingPunct="1">
              <a:spcAft>
                <a:spcPts val="0"/>
              </a:spcAft>
              <a:defRPr/>
            </a:pPr>
            <a:r>
              <a:rPr lang="en-US" dirty="0"/>
              <a:t>Since an insertion/deletion involves adding/deleting a single node, this can only increase/decrease the height of some subtree by 1</a:t>
            </a:r>
          </a:p>
          <a:p>
            <a:pPr algn="just" eaLnBrk="1" fontAlgn="auto" hangingPunct="1">
              <a:spcAft>
                <a:spcPts val="0"/>
              </a:spcAft>
              <a:defRPr/>
            </a:pPr>
            <a:r>
              <a:rPr lang="en-US" dirty="0"/>
              <a:t>Thus, if the AVL tree property is violated at a node x, it means that the heights of left(x) and right(x) </a:t>
            </a:r>
            <a:r>
              <a:rPr lang="en-US" b="1" dirty="0">
                <a:solidFill>
                  <a:srgbClr val="FF0000"/>
                </a:solidFill>
              </a:rPr>
              <a:t>differ by exactly 2</a:t>
            </a:r>
            <a:r>
              <a:rPr lang="en-US" dirty="0"/>
              <a:t>.</a:t>
            </a:r>
          </a:p>
          <a:p>
            <a:pPr algn="just" eaLnBrk="1" fontAlgn="auto" hangingPunct="1">
              <a:spcAft>
                <a:spcPts val="0"/>
              </a:spcAft>
              <a:defRPr/>
            </a:pPr>
            <a:r>
              <a:rPr lang="en-US" dirty="0"/>
              <a:t>Rotations will be applied to x to restore the AVL tree property.</a:t>
            </a:r>
          </a:p>
          <a:p>
            <a:pPr algn="just" eaLnBrk="1" fontAlgn="auto" hangingPunct="1">
              <a:spcAft>
                <a:spcPts val="0"/>
              </a:spcAft>
              <a:defRPr/>
            </a:pPr>
            <a:endParaRPr lang="en-US" dirty="0"/>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0C9AEBB6-82A4-43D8-A339-0649BA44746F}" type="slidenum">
              <a:rPr lang="zh-TW" altLang="en-US" sz="1200">
                <a:solidFill>
                  <a:srgbClr val="898989"/>
                </a:solidFill>
              </a:rPr>
              <a:pPr/>
              <a:t>39</a:t>
            </a:fld>
            <a:endParaRPr lang="en-US" altLang="zh-TW" sz="1200">
              <a:solidFill>
                <a:srgbClr val="898989"/>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fr-FR"/>
              <a:t>Insertion</a:t>
            </a:r>
          </a:p>
        </p:txBody>
      </p:sp>
      <p:sp>
        <p:nvSpPr>
          <p:cNvPr id="41987" name="Rectangle 3"/>
          <p:cNvSpPr>
            <a:spLocks noGrp="1" noChangeArrowheads="1"/>
          </p:cNvSpPr>
          <p:nvPr>
            <p:ph idx="1"/>
          </p:nvPr>
        </p:nvSpPr>
        <p:spPr>
          <a:xfrm>
            <a:off x="457200" y="1646238"/>
            <a:ext cx="8229600" cy="4525962"/>
          </a:xfrm>
        </p:spPr>
        <p:txBody>
          <a:bodyPr/>
          <a:lstStyle/>
          <a:p>
            <a:pPr eaLnBrk="1" hangingPunct="1"/>
            <a:r>
              <a:rPr lang="en-US" altLang="fr-FR" sz="2400"/>
              <a:t>First, insert the new key as a new leaf just as in ordinary binary search tree</a:t>
            </a:r>
          </a:p>
          <a:p>
            <a:pPr eaLnBrk="1" hangingPunct="1"/>
            <a:r>
              <a:rPr lang="en-US" altLang="fr-FR" sz="2400"/>
              <a:t>Then trace the path </a:t>
            </a:r>
            <a:r>
              <a:rPr lang="en-US" altLang="fr-FR" sz="2400" b="1">
                <a:solidFill>
                  <a:srgbClr val="FF0000"/>
                </a:solidFill>
              </a:rPr>
              <a:t>from the new leaf towards the root</a:t>
            </a:r>
            <a:r>
              <a:rPr lang="en-US" altLang="fr-FR" sz="2400"/>
              <a:t>.  For each node x encountered, check if heights of left(x) and right(x) differ by at most 1.</a:t>
            </a:r>
          </a:p>
          <a:p>
            <a:pPr eaLnBrk="1" hangingPunct="1"/>
            <a:r>
              <a:rPr lang="en-US" altLang="fr-FR" sz="2400"/>
              <a:t>If yes, proceed to parent(x).  If not, restructure by doing </a:t>
            </a:r>
            <a:r>
              <a:rPr lang="en-US" altLang="fr-FR" sz="2400" b="1">
                <a:solidFill>
                  <a:srgbClr val="FF0000"/>
                </a:solidFill>
              </a:rPr>
              <a:t>either a single rotation or a double rotation </a:t>
            </a:r>
            <a:r>
              <a:rPr lang="en-US" altLang="fr-FR" sz="2400">
                <a:solidFill>
                  <a:schemeClr val="hlink"/>
                </a:solidFill>
              </a:rPr>
              <a:t>[next slide].</a:t>
            </a:r>
          </a:p>
          <a:p>
            <a:pPr eaLnBrk="1" hangingPunct="1"/>
            <a:r>
              <a:rPr lang="en-US" altLang="fr-FR" sz="2400"/>
              <a:t>For insertion, once we perform a rotation at a node x, we don’t need to perform any rotation at any ancestor of x.</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9DCCE8AB-F84E-4C40-8039-220F40E7B566}" type="slidenum">
              <a:rPr lang="zh-TW" altLang="en-US" sz="1200">
                <a:solidFill>
                  <a:srgbClr val="898989"/>
                </a:solidFill>
              </a:rPr>
              <a:pPr/>
              <a:t>40</a:t>
            </a:fld>
            <a:endParaRPr lang="en-US" altLang="zh-TW" sz="1200">
              <a:solidFill>
                <a:srgbClr val="898989"/>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fr-FR"/>
              <a:t>Insertion </a:t>
            </a:r>
          </a:p>
        </p:txBody>
      </p:sp>
      <mc:AlternateContent xmlns:mc="http://schemas.openxmlformats.org/markup-compatibility/2006" xmlns:a14="http://schemas.microsoft.com/office/drawing/2010/main">
        <mc:Choice Requires="a14">
          <p:sp>
            <p:nvSpPr>
              <p:cNvPr id="356355" name="Rectangle 3"/>
              <p:cNvSpPr>
                <a:spLocks noGrp="1" noChangeArrowheads="1"/>
              </p:cNvSpPr>
              <p:nvPr>
                <p:ph idx="1"/>
              </p:nvPr>
            </p:nvSpPr>
            <p:spPr>
              <a:xfrm>
                <a:off x="419100" y="1250950"/>
                <a:ext cx="8229600" cy="4800600"/>
              </a:xfrm>
            </p:spPr>
            <p:txBody>
              <a:bodyPr rtlCol="0">
                <a:normAutofit fontScale="92500"/>
              </a:bodyPr>
              <a:lstStyle/>
              <a:p>
                <a:pPr eaLnBrk="1" fontAlgn="auto" hangingPunct="1">
                  <a:spcAft>
                    <a:spcPts val="0"/>
                  </a:spcAft>
                  <a:defRPr/>
                </a:pPr>
                <a:r>
                  <a:rPr lang="en-US" dirty="0"/>
                  <a:t>Let x be the node at which left(x) and right(x) differ by more than 1</a:t>
                </a:r>
              </a:p>
              <a:p>
                <a:pPr eaLnBrk="1" fontAlgn="auto" hangingPunct="1">
                  <a:spcAft>
                    <a:spcPts val="0"/>
                  </a:spcAft>
                  <a:defRPr/>
                </a:pPr>
                <a:r>
                  <a:rPr lang="en-US" dirty="0"/>
                  <a:t>Assume that the height of x is h+3</a:t>
                </a:r>
              </a:p>
              <a:p>
                <a:pPr eaLnBrk="1" fontAlgn="auto" hangingPunct="1">
                  <a:spcAft>
                    <a:spcPts val="0"/>
                  </a:spcAft>
                  <a:defRPr/>
                </a:pPr>
                <a:r>
                  <a:rPr lang="en-US" dirty="0"/>
                  <a:t>There are 4 cases</a:t>
                </a:r>
              </a:p>
              <a:p>
                <a:pPr lvl="1" eaLnBrk="1" fontAlgn="auto" hangingPunct="1">
                  <a:spcAft>
                    <a:spcPts val="0"/>
                  </a:spcAft>
                  <a:defRPr/>
                </a:pPr>
                <a:r>
                  <a:rPr lang="en-US" dirty="0"/>
                  <a:t>Height of left(x) is h+2 </a:t>
                </a:r>
                <a:r>
                  <a:rPr lang="en-US" dirty="0">
                    <a:solidFill>
                      <a:schemeClr val="hlink"/>
                    </a:solidFill>
                  </a:rPr>
                  <a:t>(i.e. height of right(x) is h)</a:t>
                </a:r>
              </a:p>
              <a:p>
                <a:pPr lvl="2" eaLnBrk="1" fontAlgn="auto" hangingPunct="1">
                  <a:spcAft>
                    <a:spcPts val="0"/>
                  </a:spcAft>
                  <a:defRPr/>
                </a:pPr>
                <a:r>
                  <a:rPr lang="en-US" dirty="0"/>
                  <a:t>Height of left(left(x)) is h+1 </a:t>
                </a:r>
                <a14:m>
                  <m:oMath xmlns:m="http://schemas.openxmlformats.org/officeDocument/2006/math">
                    <m:r>
                      <a:rPr lang="is-IS" i="1" dirty="0" smtClean="0">
                        <a:latin typeface="Cambria Math" charset="0"/>
                        <a:ea typeface="Cambria Math" charset="0"/>
                        <a:cs typeface="Cambria Math" charset="0"/>
                        <a:sym typeface="Symbol" pitchFamily="18" charset="2"/>
                      </a:rPr>
                      <m:t>→</m:t>
                    </m:r>
                  </m:oMath>
                </a14:m>
                <a:r>
                  <a:rPr lang="en-US" dirty="0">
                    <a:sym typeface="Symbol" pitchFamily="18" charset="2"/>
                  </a:rPr>
                  <a:t> </a:t>
                </a:r>
                <a:r>
                  <a:rPr lang="en-US" dirty="0"/>
                  <a:t>single rotate with left child</a:t>
                </a:r>
              </a:p>
              <a:p>
                <a:pPr lvl="2" eaLnBrk="1" fontAlgn="auto" hangingPunct="1">
                  <a:spcAft>
                    <a:spcPts val="0"/>
                  </a:spcAft>
                  <a:defRPr/>
                </a:pPr>
                <a:r>
                  <a:rPr lang="en-US" dirty="0"/>
                  <a:t>Height of right(left(x)) is h+1 </a:t>
                </a:r>
                <a14:m>
                  <m:oMath xmlns:m="http://schemas.openxmlformats.org/officeDocument/2006/math">
                    <m:r>
                      <a:rPr lang="is-IS" i="1" dirty="0">
                        <a:latin typeface="Cambria Math" charset="0"/>
                        <a:ea typeface="Cambria Math" charset="0"/>
                        <a:cs typeface="Cambria Math" charset="0"/>
                        <a:sym typeface="Symbol" pitchFamily="18" charset="2"/>
                      </a:rPr>
                      <m:t>→</m:t>
                    </m:r>
                  </m:oMath>
                </a14:m>
                <a:r>
                  <a:rPr lang="en-US" dirty="0">
                    <a:sym typeface="Symbol" pitchFamily="18" charset="2"/>
                  </a:rPr>
                  <a:t> </a:t>
                </a:r>
                <a:r>
                  <a:rPr lang="en-US" dirty="0"/>
                  <a:t>double rotate with left child</a:t>
                </a:r>
              </a:p>
              <a:p>
                <a:pPr lvl="1" eaLnBrk="1" fontAlgn="auto" hangingPunct="1">
                  <a:spcAft>
                    <a:spcPts val="0"/>
                  </a:spcAft>
                  <a:defRPr/>
                </a:pPr>
                <a:r>
                  <a:rPr lang="en-US" dirty="0"/>
                  <a:t>Height of right(x) is h+2 </a:t>
                </a:r>
                <a:r>
                  <a:rPr lang="en-US" dirty="0">
                    <a:solidFill>
                      <a:schemeClr val="hlink"/>
                    </a:solidFill>
                  </a:rPr>
                  <a:t>(i.e. height of left(x) is h)</a:t>
                </a:r>
                <a:endParaRPr lang="en-US" dirty="0"/>
              </a:p>
              <a:p>
                <a:pPr lvl="2" eaLnBrk="1" fontAlgn="auto" hangingPunct="1">
                  <a:spcAft>
                    <a:spcPts val="0"/>
                  </a:spcAft>
                  <a:defRPr/>
                </a:pPr>
                <a:r>
                  <a:rPr lang="en-US" dirty="0"/>
                  <a:t>Height of right(right(x)) is h+1 </a:t>
                </a:r>
                <a14:m>
                  <m:oMath xmlns:m="http://schemas.openxmlformats.org/officeDocument/2006/math">
                    <m:r>
                      <a:rPr lang="is-IS" i="1" dirty="0">
                        <a:latin typeface="Cambria Math" charset="0"/>
                        <a:ea typeface="Cambria Math" charset="0"/>
                        <a:cs typeface="Cambria Math" charset="0"/>
                        <a:sym typeface="Symbol" pitchFamily="18" charset="2"/>
                      </a:rPr>
                      <m:t>→</m:t>
                    </m:r>
                  </m:oMath>
                </a14:m>
                <a:r>
                  <a:rPr lang="en-US" dirty="0">
                    <a:sym typeface="Symbol" pitchFamily="18" charset="2"/>
                  </a:rPr>
                  <a:t> </a:t>
                </a:r>
                <a:r>
                  <a:rPr lang="en-US" dirty="0"/>
                  <a:t>single rotate with right child</a:t>
                </a:r>
              </a:p>
              <a:p>
                <a:pPr lvl="2" eaLnBrk="1" fontAlgn="auto" hangingPunct="1">
                  <a:spcAft>
                    <a:spcPts val="0"/>
                  </a:spcAft>
                  <a:defRPr/>
                </a:pPr>
                <a:r>
                  <a:rPr lang="en-US" dirty="0"/>
                  <a:t>Height of left(right(x)) is h+1 </a:t>
                </a:r>
                <a14:m>
                  <m:oMath xmlns:m="http://schemas.openxmlformats.org/officeDocument/2006/math">
                    <m:r>
                      <a:rPr lang="is-IS" i="1" dirty="0">
                        <a:latin typeface="Cambria Math" charset="0"/>
                        <a:ea typeface="Cambria Math" charset="0"/>
                        <a:cs typeface="Cambria Math" charset="0"/>
                        <a:sym typeface="Symbol" pitchFamily="18" charset="2"/>
                      </a:rPr>
                      <m:t>→</m:t>
                    </m:r>
                  </m:oMath>
                </a14:m>
                <a:r>
                  <a:rPr lang="en-US" dirty="0">
                    <a:sym typeface="Symbol" pitchFamily="18" charset="2"/>
                  </a:rPr>
                  <a:t> double</a:t>
                </a:r>
                <a:r>
                  <a:rPr lang="en-US" dirty="0"/>
                  <a:t> rotate with right child</a:t>
                </a:r>
              </a:p>
              <a:p>
                <a:pPr lvl="2" eaLnBrk="1" fontAlgn="auto" hangingPunct="1">
                  <a:spcAft>
                    <a:spcPts val="0"/>
                  </a:spcAft>
                  <a:defRPr/>
                </a:pPr>
                <a:endParaRPr lang="en-US" dirty="0"/>
              </a:p>
            </p:txBody>
          </p:sp>
        </mc:Choice>
        <mc:Fallback xmlns="">
          <p:sp>
            <p:nvSpPr>
              <p:cNvPr id="356355" name="Rectangle 3"/>
              <p:cNvSpPr>
                <a:spLocks noGrp="1" noRot="1" noChangeAspect="1" noMove="1" noResize="1" noEditPoints="1" noAdjustHandles="1" noChangeArrowheads="1" noChangeShapeType="1" noTextEdit="1"/>
              </p:cNvSpPr>
              <p:nvPr>
                <p:ph idx="1"/>
              </p:nvPr>
            </p:nvSpPr>
            <p:spPr>
              <a:xfrm>
                <a:off x="419100" y="1250950"/>
                <a:ext cx="8229600" cy="4800600"/>
              </a:xfrm>
              <a:blipFill rotWithShape="0">
                <a:blip r:embed="rId2"/>
                <a:stretch>
                  <a:fillRect l="-1556" t="-1523" r="-741"/>
                </a:stretch>
              </a:blipFill>
            </p:spPr>
            <p:txBody>
              <a:bodyPr/>
              <a:lstStyle/>
              <a:p>
                <a:r>
                  <a:rPr lang="en-US">
                    <a:noFill/>
                  </a:rPr>
                  <a:t> </a:t>
                </a:r>
              </a:p>
            </p:txBody>
          </p:sp>
        </mc:Fallback>
      </mc:AlternateContent>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7DA5069F-E6BF-49A3-A6AE-C9FDB248AF39}" type="slidenum">
              <a:rPr lang="zh-TW" altLang="en-US" sz="1200">
                <a:solidFill>
                  <a:srgbClr val="898989"/>
                </a:solidFill>
              </a:rPr>
              <a:pPr/>
              <a:t>41</a:t>
            </a:fld>
            <a:endParaRPr lang="en-US" altLang="zh-TW" sz="1200">
              <a:solidFill>
                <a:srgbClr val="898989"/>
              </a:solidFill>
            </a:endParaRPr>
          </a:p>
        </p:txBody>
      </p:sp>
      <p:sp>
        <p:nvSpPr>
          <p:cNvPr id="43014" name="Text Box 4"/>
          <p:cNvSpPr txBox="1">
            <a:spLocks noChangeArrowheads="1"/>
          </p:cNvSpPr>
          <p:nvPr/>
        </p:nvSpPr>
        <p:spPr bwMode="auto">
          <a:xfrm>
            <a:off x="228600" y="6096000"/>
            <a:ext cx="8610600" cy="5810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1600">
                <a:solidFill>
                  <a:schemeClr val="hlink"/>
                </a:solidFill>
              </a:rPr>
              <a:t>Note: Our test conditions for the 4 cases are different from the code shown in the textbook.  These conditions allow a uniform treatment between insertion and deletion.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fr-FR"/>
              <a:t>Single rotation in insertion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A092FFCA-C9EF-40D2-81D0-4529C254D399}" type="slidenum">
              <a:rPr lang="zh-TW" altLang="en-US" sz="1200">
                <a:solidFill>
                  <a:srgbClr val="898989"/>
                </a:solidFill>
              </a:rPr>
              <a:pPr/>
              <a:t>42</a:t>
            </a:fld>
            <a:endParaRPr lang="en-US" altLang="zh-TW" sz="1200">
              <a:solidFill>
                <a:srgbClr val="898989"/>
              </a:solidFill>
            </a:endParaRPr>
          </a:p>
        </p:txBody>
      </p:sp>
      <p:grpSp>
        <p:nvGrpSpPr>
          <p:cNvPr id="44037" name="Group 17"/>
          <p:cNvGrpSpPr>
            <a:grpSpLocks/>
          </p:cNvGrpSpPr>
          <p:nvPr/>
        </p:nvGrpSpPr>
        <p:grpSpPr bwMode="auto">
          <a:xfrm>
            <a:off x="762000" y="3581400"/>
            <a:ext cx="7696200" cy="3048000"/>
            <a:chOff x="768" y="2424"/>
            <a:chExt cx="4147" cy="1560"/>
          </a:xfrm>
        </p:grpSpPr>
        <p:graphicFrame>
          <p:nvGraphicFramePr>
            <p:cNvPr id="44039" name="Object 3"/>
            <p:cNvGraphicFramePr>
              <a:graphicFrameLocks noChangeAspect="1"/>
            </p:cNvGraphicFramePr>
            <p:nvPr/>
          </p:nvGraphicFramePr>
          <p:xfrm>
            <a:off x="768" y="2424"/>
            <a:ext cx="4147" cy="1560"/>
          </p:xfrm>
          <a:graphic>
            <a:graphicData uri="http://schemas.openxmlformats.org/presentationml/2006/ole">
              <mc:AlternateContent xmlns:mc="http://schemas.openxmlformats.org/markup-compatibility/2006">
                <mc:Choice xmlns:v="urn:schemas-microsoft-com:vml" Requires="v">
                  <p:oleObj name="Bitmap Image" r:id="rId2" imgW="6582694" imgH="2476190" progId="Paint.Picture">
                    <p:embed/>
                  </p:oleObj>
                </mc:Choice>
                <mc:Fallback>
                  <p:oleObj name="Bitmap Image" r:id="rId2" imgW="6582694" imgH="2476190"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2424"/>
                          <a:ext cx="4147" cy="156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40" name="Oval 5"/>
            <p:cNvSpPr>
              <a:spLocks noChangeArrowheads="1"/>
            </p:cNvSpPr>
            <p:nvPr/>
          </p:nvSpPr>
          <p:spPr bwMode="auto">
            <a:xfrm>
              <a:off x="1680" y="261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4041" name="Line 10"/>
            <p:cNvSpPr>
              <a:spLocks noChangeShapeType="1"/>
            </p:cNvSpPr>
            <p:nvPr/>
          </p:nvSpPr>
          <p:spPr bwMode="auto">
            <a:xfrm flipH="1">
              <a:off x="1536" y="2760"/>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4042" name="Line 15"/>
            <p:cNvSpPr>
              <a:spLocks noChangeShapeType="1"/>
            </p:cNvSpPr>
            <p:nvPr/>
          </p:nvSpPr>
          <p:spPr bwMode="auto">
            <a:xfrm flipH="1">
              <a:off x="1275" y="2979"/>
              <a:ext cx="192"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44038" name="Text Box 16"/>
          <p:cNvSpPr txBox="1">
            <a:spLocks noChangeArrowheads="1"/>
          </p:cNvSpPr>
          <p:nvPr/>
        </p:nvSpPr>
        <p:spPr bwMode="auto">
          <a:xfrm>
            <a:off x="1143000" y="1600200"/>
            <a:ext cx="7010400" cy="1771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2400" b="0"/>
              <a:t>The new key is inserted in the subtree A. </a:t>
            </a:r>
          </a:p>
          <a:p>
            <a:pPr>
              <a:spcBef>
                <a:spcPct val="20000"/>
              </a:spcBef>
              <a:buClr>
                <a:schemeClr val="tx2"/>
              </a:buClr>
              <a:buSzPct val="75000"/>
              <a:buFont typeface="Monotype Sorts" pitchFamily="2" charset="2"/>
              <a:buNone/>
            </a:pPr>
            <a:r>
              <a:rPr lang="en-US" altLang="fr-FR" sz="2400" b="0"/>
              <a:t>The AVL-property is violated at x</a:t>
            </a:r>
          </a:p>
          <a:p>
            <a:pPr>
              <a:spcBef>
                <a:spcPct val="20000"/>
              </a:spcBef>
              <a:buClr>
                <a:schemeClr val="tx2"/>
              </a:buClr>
              <a:buSzPct val="75000"/>
              <a:buFont typeface="Monotype Sorts" pitchFamily="2" charset="2"/>
              <a:buChar char="l"/>
            </a:pPr>
            <a:r>
              <a:rPr lang="en-US" altLang="fr-FR" sz="2400" b="0"/>
              <a:t> height of left(x) is h+2</a:t>
            </a:r>
          </a:p>
          <a:p>
            <a:pPr>
              <a:spcBef>
                <a:spcPct val="20000"/>
              </a:spcBef>
              <a:buClr>
                <a:schemeClr val="tx2"/>
              </a:buClr>
              <a:buSzPct val="75000"/>
              <a:buFont typeface="Monotype Sorts" pitchFamily="2" charset="2"/>
              <a:buChar char="l"/>
            </a:pPr>
            <a:r>
              <a:rPr lang="en-US" altLang="fr-FR" sz="2400" b="0"/>
              <a:t> height of right(x) is h.</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fr-FR"/>
              <a:t>Single rotation in insertion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6E23B8E3-5D61-45BA-8778-CE7266860530}" type="slidenum">
              <a:rPr lang="zh-TW" altLang="en-US" sz="1200">
                <a:solidFill>
                  <a:srgbClr val="898989"/>
                </a:solidFill>
              </a:rPr>
              <a:pPr/>
              <a:t>43</a:t>
            </a:fld>
            <a:endParaRPr lang="en-US" altLang="zh-TW" sz="1200">
              <a:solidFill>
                <a:srgbClr val="898989"/>
              </a:solidFill>
            </a:endParaRPr>
          </a:p>
        </p:txBody>
      </p:sp>
      <p:sp>
        <p:nvSpPr>
          <p:cNvPr id="45061" name="Text Box 9"/>
          <p:cNvSpPr txBox="1">
            <a:spLocks noChangeArrowheads="1"/>
          </p:cNvSpPr>
          <p:nvPr/>
        </p:nvSpPr>
        <p:spPr bwMode="auto">
          <a:xfrm>
            <a:off x="2819400" y="5562600"/>
            <a:ext cx="3916363" cy="762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solidFill>
                  <a:schemeClr val="hlink"/>
                </a:solidFill>
              </a:rPr>
              <a:t>Single rotation takes O(1) time.</a:t>
            </a:r>
          </a:p>
          <a:p>
            <a:pPr>
              <a:spcBef>
                <a:spcPct val="20000"/>
              </a:spcBef>
              <a:buClr>
                <a:schemeClr val="tx2"/>
              </a:buClr>
              <a:buSzPct val="75000"/>
              <a:buFont typeface="Monotype Sorts" pitchFamily="2" charset="2"/>
              <a:buNone/>
            </a:pPr>
            <a:r>
              <a:rPr lang="en-US" altLang="fr-FR">
                <a:solidFill>
                  <a:schemeClr val="hlink"/>
                </a:solidFill>
              </a:rPr>
              <a:t>Insertion takes O(log N) time.</a:t>
            </a:r>
          </a:p>
        </p:txBody>
      </p:sp>
      <p:grpSp>
        <p:nvGrpSpPr>
          <p:cNvPr id="45062" name="Group 15"/>
          <p:cNvGrpSpPr>
            <a:grpSpLocks/>
          </p:cNvGrpSpPr>
          <p:nvPr/>
        </p:nvGrpSpPr>
        <p:grpSpPr bwMode="auto">
          <a:xfrm>
            <a:off x="838200" y="2209800"/>
            <a:ext cx="7772400" cy="3276600"/>
            <a:chOff x="720" y="1920"/>
            <a:chExt cx="4049" cy="1734"/>
          </a:xfrm>
        </p:grpSpPr>
        <p:graphicFrame>
          <p:nvGraphicFramePr>
            <p:cNvPr id="45064" name="Object 4"/>
            <p:cNvGraphicFramePr>
              <a:graphicFrameLocks noChangeAspect="1"/>
            </p:cNvGraphicFramePr>
            <p:nvPr/>
          </p:nvGraphicFramePr>
          <p:xfrm>
            <a:off x="720" y="1920"/>
            <a:ext cx="4049" cy="1734"/>
          </p:xfrm>
          <a:graphic>
            <a:graphicData uri="http://schemas.openxmlformats.org/presentationml/2006/ole">
              <mc:AlternateContent xmlns:mc="http://schemas.openxmlformats.org/markup-compatibility/2006">
                <mc:Choice xmlns:v="urn:schemas-microsoft-com:vml" Requires="v">
                  <p:oleObj name="Bitmap Image" r:id="rId2" imgW="6428571" imgH="2752381" progId="Paint.Picture">
                    <p:embed/>
                  </p:oleObj>
                </mc:Choice>
                <mc:Fallback>
                  <p:oleObj name="Bitmap Image" r:id="rId2" imgW="6428571" imgH="2752381"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920"/>
                          <a:ext cx="4049" cy="173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5" name="Oval 6"/>
            <p:cNvSpPr>
              <a:spLocks noChangeArrowheads="1"/>
            </p:cNvSpPr>
            <p:nvPr/>
          </p:nvSpPr>
          <p:spPr bwMode="auto">
            <a:xfrm>
              <a:off x="1216" y="2200"/>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5066" name="Line 11"/>
            <p:cNvSpPr>
              <a:spLocks noChangeShapeType="1"/>
            </p:cNvSpPr>
            <p:nvPr/>
          </p:nvSpPr>
          <p:spPr bwMode="auto">
            <a:xfrm>
              <a:off x="1344" y="2304"/>
              <a:ext cx="288"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5067" name="Line 12"/>
            <p:cNvSpPr>
              <a:spLocks noChangeShapeType="1"/>
            </p:cNvSpPr>
            <p:nvPr/>
          </p:nvSpPr>
          <p:spPr bwMode="auto">
            <a:xfrm>
              <a:off x="1728" y="2544"/>
              <a:ext cx="192"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45063" name="Text Box 14"/>
          <p:cNvSpPr txBox="1">
            <a:spLocks noChangeArrowheads="1"/>
          </p:cNvSpPr>
          <p:nvPr/>
        </p:nvSpPr>
        <p:spPr bwMode="auto">
          <a:xfrm>
            <a:off x="1143000" y="1600200"/>
            <a:ext cx="7010400" cy="8953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2400" b="0"/>
              <a:t>The new key is inserted in the subtree C. </a:t>
            </a:r>
          </a:p>
          <a:p>
            <a:pPr>
              <a:spcBef>
                <a:spcPct val="20000"/>
              </a:spcBef>
              <a:buClr>
                <a:schemeClr val="tx2"/>
              </a:buClr>
              <a:buSzPct val="75000"/>
              <a:buFont typeface="Monotype Sorts" pitchFamily="2" charset="2"/>
              <a:buNone/>
            </a:pPr>
            <a:r>
              <a:rPr lang="en-US" altLang="fr-FR" sz="2400" b="0"/>
              <a:t>The AVL-property is violated at x.</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Diagram&#10;&#10;Description automatically generated with medium confidence">
            <a:extLst>
              <a:ext uri="{FF2B5EF4-FFF2-40B4-BE49-F238E27FC236}">
                <a16:creationId xmlns:a16="http://schemas.microsoft.com/office/drawing/2014/main" id="{E3BE5A88-867D-C5A9-811B-CC4433C78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676" y="385032"/>
            <a:ext cx="8178799" cy="3026155"/>
          </a:xfrm>
          <a:prstGeom prst="rect">
            <a:avLst/>
          </a:prstGeom>
        </p:spPr>
      </p:pic>
      <p:sp>
        <p:nvSpPr>
          <p:cNvPr id="4" name="Footer Placeholder 3">
            <a:extLst>
              <a:ext uri="{FF2B5EF4-FFF2-40B4-BE49-F238E27FC236}">
                <a16:creationId xmlns:a16="http://schemas.microsoft.com/office/drawing/2014/main" id="{1608833E-7BE4-84AB-5F74-B80AC6598291}"/>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eaLnBrk="1" hangingPunct="1">
              <a:defRPr/>
            </a:pPr>
            <a:r>
              <a:rPr lang="en-US" altLang="zh-TW" kern="1200">
                <a:solidFill>
                  <a:schemeClr val="tx1">
                    <a:tint val="75000"/>
                  </a:schemeClr>
                </a:solidFill>
                <a:latin typeface="+mn-lt"/>
                <a:ea typeface="+mn-ea"/>
                <a:cs typeface="+mn-cs"/>
              </a:rPr>
              <a:t>CS 2321: D.S.A (-Trees-)</a:t>
            </a:r>
          </a:p>
        </p:txBody>
      </p:sp>
      <p:sp>
        <p:nvSpPr>
          <p:cNvPr id="5" name="Slide Number Placeholder 4">
            <a:extLst>
              <a:ext uri="{FF2B5EF4-FFF2-40B4-BE49-F238E27FC236}">
                <a16:creationId xmlns:a16="http://schemas.microsoft.com/office/drawing/2014/main" id="{E7E3A7AC-8F3F-B25D-F44D-591A0861FE8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eaLnBrk="1" hangingPunct="1"/>
            <a:fld id="{73473358-7008-4F6F-B5F5-0284EE97B92C}" type="slidenum">
              <a:rPr lang="en-US" altLang="zh-TW" smtClean="0">
                <a:solidFill>
                  <a:schemeClr val="tx1">
                    <a:tint val="75000"/>
                  </a:schemeClr>
                </a:solidFill>
                <a:latin typeface="+mn-lt"/>
                <a:cs typeface="+mn-cs"/>
              </a:rPr>
              <a:pPr eaLnBrk="1" hangingPunct="1"/>
              <a:t>44</a:t>
            </a:fld>
            <a:endParaRPr lang="en-US" altLang="zh-TW">
              <a:solidFill>
                <a:schemeClr val="tx1">
                  <a:tint val="75000"/>
                </a:schemeClr>
              </a:solidFill>
              <a:latin typeface="+mn-lt"/>
              <a:cs typeface="+mn-cs"/>
            </a:endParaRPr>
          </a:p>
        </p:txBody>
      </p:sp>
      <p:pic>
        <p:nvPicPr>
          <p:cNvPr id="8" name="Picture 7">
            <a:extLst>
              <a:ext uri="{FF2B5EF4-FFF2-40B4-BE49-F238E27FC236}">
                <a16:creationId xmlns:a16="http://schemas.microsoft.com/office/drawing/2014/main" id="{98A7560D-8367-0A2D-32A3-7CD35E33BC2E}"/>
              </a:ext>
            </a:extLst>
          </p:cNvPr>
          <p:cNvPicPr>
            <a:picLocks noChangeAspect="1"/>
          </p:cNvPicPr>
          <p:nvPr/>
        </p:nvPicPr>
        <p:blipFill>
          <a:blip r:embed="rId3"/>
          <a:stretch>
            <a:fillRect/>
          </a:stretch>
        </p:blipFill>
        <p:spPr>
          <a:xfrm>
            <a:off x="499713" y="3917950"/>
            <a:ext cx="7828724" cy="2438400"/>
          </a:xfrm>
          <a:prstGeom prst="rect">
            <a:avLst/>
          </a:prstGeom>
        </p:spPr>
      </p:pic>
    </p:spTree>
    <p:extLst>
      <p:ext uri="{BB962C8B-B14F-4D97-AF65-F5344CB8AC3E}">
        <p14:creationId xmlns:p14="http://schemas.microsoft.com/office/powerpoint/2010/main" val="38534437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6082" name="Oval 2"/>
          <p:cNvSpPr>
            <a:spLocks noChangeArrowheads="1"/>
          </p:cNvSpPr>
          <p:nvPr/>
        </p:nvSpPr>
        <p:spPr bwMode="auto">
          <a:xfrm>
            <a:off x="2590800" y="6858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083" name="Line 3"/>
          <p:cNvSpPr>
            <a:spLocks noChangeShapeType="1"/>
          </p:cNvSpPr>
          <p:nvPr/>
        </p:nvSpPr>
        <p:spPr bwMode="auto">
          <a:xfrm flipH="1">
            <a:off x="1905000" y="1219200"/>
            <a:ext cx="762000" cy="485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084" name="Text Box 4"/>
          <p:cNvSpPr txBox="1">
            <a:spLocks noChangeArrowheads="1"/>
          </p:cNvSpPr>
          <p:nvPr/>
        </p:nvSpPr>
        <p:spPr bwMode="auto">
          <a:xfrm>
            <a:off x="2667000" y="6858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nvGrpSpPr>
          <p:cNvPr id="46085" name="Group 5"/>
          <p:cNvGrpSpPr>
            <a:grpSpLocks/>
          </p:cNvGrpSpPr>
          <p:nvPr/>
        </p:nvGrpSpPr>
        <p:grpSpPr bwMode="auto">
          <a:xfrm>
            <a:off x="457200" y="1658938"/>
            <a:ext cx="2209800" cy="1541462"/>
            <a:chOff x="288" y="1045"/>
            <a:chExt cx="1392" cy="971"/>
          </a:xfrm>
        </p:grpSpPr>
        <p:sp>
          <p:nvSpPr>
            <p:cNvPr id="46154" name="Oval 6"/>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55" name="Oval 7"/>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56" name="Line 8"/>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57" name="Text Box 9"/>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46158" name="Text Box 10"/>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46086" name="Group 11"/>
          <p:cNvGrpSpPr>
            <a:grpSpLocks/>
          </p:cNvGrpSpPr>
          <p:nvPr/>
        </p:nvGrpSpPr>
        <p:grpSpPr bwMode="auto">
          <a:xfrm>
            <a:off x="1676400" y="2308225"/>
            <a:ext cx="1143000" cy="811213"/>
            <a:chOff x="1056" y="1454"/>
            <a:chExt cx="720" cy="511"/>
          </a:xfrm>
        </p:grpSpPr>
        <p:sp>
          <p:nvSpPr>
            <p:cNvPr id="46150" name="Line 12"/>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46151" name="Group 13"/>
            <p:cNvGrpSpPr>
              <a:grpSpLocks/>
            </p:cNvGrpSpPr>
            <p:nvPr/>
          </p:nvGrpSpPr>
          <p:grpSpPr bwMode="auto">
            <a:xfrm>
              <a:off x="1152" y="1556"/>
              <a:ext cx="624" cy="409"/>
              <a:chOff x="1152" y="1556"/>
              <a:chExt cx="624" cy="409"/>
            </a:xfrm>
          </p:grpSpPr>
          <p:sp>
            <p:nvSpPr>
              <p:cNvPr id="46152" name="Oval 14"/>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53" name="Text Box 15"/>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grpSp>
      </p:grpSp>
      <p:sp>
        <p:nvSpPr>
          <p:cNvPr id="334864" name="Text Box 16"/>
          <p:cNvSpPr txBox="1">
            <a:spLocks noChangeArrowheads="1"/>
          </p:cNvSpPr>
          <p:nvPr/>
        </p:nvSpPr>
        <p:spPr bwMode="auto">
          <a:xfrm>
            <a:off x="5410200" y="38862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Insert 0.8</a:t>
            </a:r>
          </a:p>
        </p:txBody>
      </p:sp>
      <p:sp>
        <p:nvSpPr>
          <p:cNvPr id="46088" name="Text Box 17"/>
          <p:cNvSpPr txBox="1">
            <a:spLocks noChangeArrowheads="1"/>
          </p:cNvSpPr>
          <p:nvPr/>
        </p:nvSpPr>
        <p:spPr bwMode="auto">
          <a:xfrm>
            <a:off x="304800" y="5334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 AVL Tree</a:t>
            </a:r>
          </a:p>
        </p:txBody>
      </p:sp>
      <p:sp>
        <p:nvSpPr>
          <p:cNvPr id="46089" name="Oval 18"/>
          <p:cNvSpPr>
            <a:spLocks noChangeArrowheads="1"/>
          </p:cNvSpPr>
          <p:nvPr/>
        </p:nvSpPr>
        <p:spPr bwMode="auto">
          <a:xfrm>
            <a:off x="2971800" y="1676400"/>
            <a:ext cx="685800" cy="533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090" name="Text Box 19"/>
          <p:cNvSpPr txBox="1">
            <a:spLocks noChangeArrowheads="1"/>
          </p:cNvSpPr>
          <p:nvPr/>
        </p:nvSpPr>
        <p:spPr bwMode="auto">
          <a:xfrm>
            <a:off x="3048000" y="1676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8</a:t>
            </a:r>
          </a:p>
        </p:txBody>
      </p:sp>
      <p:sp>
        <p:nvSpPr>
          <p:cNvPr id="46091" name="Line 20"/>
          <p:cNvSpPr>
            <a:spLocks noChangeShapeType="1"/>
          </p:cNvSpPr>
          <p:nvPr/>
        </p:nvSpPr>
        <p:spPr bwMode="auto">
          <a:xfrm>
            <a:off x="3124200" y="1295400"/>
            <a:ext cx="152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092" name="Oval 22"/>
          <p:cNvSpPr>
            <a:spLocks noChangeArrowheads="1"/>
          </p:cNvSpPr>
          <p:nvPr/>
        </p:nvSpPr>
        <p:spPr bwMode="auto">
          <a:xfrm>
            <a:off x="4495800" y="32004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093" name="Text Box 23"/>
          <p:cNvSpPr txBox="1">
            <a:spLocks noChangeArrowheads="1"/>
          </p:cNvSpPr>
          <p:nvPr/>
        </p:nvSpPr>
        <p:spPr bwMode="auto">
          <a:xfrm>
            <a:off x="4572000" y="32766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0.8</a:t>
            </a:r>
          </a:p>
        </p:txBody>
      </p:sp>
      <p:grpSp>
        <p:nvGrpSpPr>
          <p:cNvPr id="46094" name="Group 24"/>
          <p:cNvGrpSpPr>
            <a:grpSpLocks/>
          </p:cNvGrpSpPr>
          <p:nvPr/>
        </p:nvGrpSpPr>
        <p:grpSpPr bwMode="auto">
          <a:xfrm>
            <a:off x="4876800" y="457200"/>
            <a:ext cx="3657600" cy="2514600"/>
            <a:chOff x="192" y="2256"/>
            <a:chExt cx="2304" cy="1584"/>
          </a:xfrm>
        </p:grpSpPr>
        <p:sp>
          <p:nvSpPr>
            <p:cNvPr id="46136" name="Oval 25"/>
            <p:cNvSpPr>
              <a:spLocks noChangeArrowheads="1"/>
            </p:cNvSpPr>
            <p:nvPr/>
          </p:nvSpPr>
          <p:spPr bwMode="auto">
            <a:xfrm>
              <a:off x="1536" y="22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37" name="Oval 26"/>
            <p:cNvSpPr>
              <a:spLocks noChangeArrowheads="1"/>
            </p:cNvSpPr>
            <p:nvPr/>
          </p:nvSpPr>
          <p:spPr bwMode="auto">
            <a:xfrm>
              <a:off x="720" y="286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38" name="Oval 27"/>
            <p:cNvSpPr>
              <a:spLocks noChangeArrowheads="1"/>
            </p:cNvSpPr>
            <p:nvPr/>
          </p:nvSpPr>
          <p:spPr bwMode="auto">
            <a:xfrm>
              <a:off x="192" y="343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39" name="Oval 28"/>
            <p:cNvSpPr>
              <a:spLocks noChangeArrowheads="1"/>
            </p:cNvSpPr>
            <p:nvPr/>
          </p:nvSpPr>
          <p:spPr bwMode="auto">
            <a:xfrm>
              <a:off x="1056" y="3380"/>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40" name="Oval 29"/>
            <p:cNvSpPr>
              <a:spLocks noChangeArrowheads="1"/>
            </p:cNvSpPr>
            <p:nvPr/>
          </p:nvSpPr>
          <p:spPr bwMode="auto">
            <a:xfrm>
              <a:off x="1920" y="273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41" name="Line 30"/>
            <p:cNvSpPr>
              <a:spLocks noChangeShapeType="1"/>
            </p:cNvSpPr>
            <p:nvPr/>
          </p:nvSpPr>
          <p:spPr bwMode="auto">
            <a:xfrm flipH="1">
              <a:off x="1104" y="2592"/>
              <a:ext cx="480" cy="3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42" name="Line 31"/>
            <p:cNvSpPr>
              <a:spLocks noChangeShapeType="1"/>
            </p:cNvSpPr>
            <p:nvPr/>
          </p:nvSpPr>
          <p:spPr bwMode="auto">
            <a:xfrm>
              <a:off x="1776" y="2665"/>
              <a:ext cx="192"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43" name="Line 32"/>
            <p:cNvSpPr>
              <a:spLocks noChangeShapeType="1"/>
            </p:cNvSpPr>
            <p:nvPr/>
          </p:nvSpPr>
          <p:spPr bwMode="auto">
            <a:xfrm flipH="1">
              <a:off x="528" y="327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44" name="Line 33"/>
            <p:cNvSpPr>
              <a:spLocks noChangeShapeType="1"/>
            </p:cNvSpPr>
            <p:nvPr/>
          </p:nvSpPr>
          <p:spPr bwMode="auto">
            <a:xfrm>
              <a:off x="960" y="3278"/>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45" name="Text Box 34"/>
            <p:cNvSpPr txBox="1">
              <a:spLocks noChangeArrowheads="1"/>
            </p:cNvSpPr>
            <p:nvPr/>
          </p:nvSpPr>
          <p:spPr bwMode="auto">
            <a:xfrm>
              <a:off x="1584" y="225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46146" name="Text Box 35"/>
            <p:cNvSpPr txBox="1">
              <a:spLocks noChangeArrowheads="1"/>
            </p:cNvSpPr>
            <p:nvPr/>
          </p:nvSpPr>
          <p:spPr bwMode="auto">
            <a:xfrm>
              <a:off x="816" y="292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46147" name="Text Box 36"/>
            <p:cNvSpPr txBox="1">
              <a:spLocks noChangeArrowheads="1"/>
            </p:cNvSpPr>
            <p:nvPr/>
          </p:nvSpPr>
          <p:spPr bwMode="auto">
            <a:xfrm>
              <a:off x="288" y="348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46148" name="Text Box 37"/>
            <p:cNvSpPr txBox="1">
              <a:spLocks noChangeArrowheads="1"/>
            </p:cNvSpPr>
            <p:nvPr/>
          </p:nvSpPr>
          <p:spPr bwMode="auto">
            <a:xfrm>
              <a:off x="1104" y="3456"/>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46149" name="Text Box 38"/>
            <p:cNvSpPr txBox="1">
              <a:spLocks noChangeArrowheads="1"/>
            </p:cNvSpPr>
            <p:nvPr/>
          </p:nvSpPr>
          <p:spPr bwMode="auto">
            <a:xfrm>
              <a:off x="1968" y="2832"/>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sp>
        <p:nvSpPr>
          <p:cNvPr id="46095" name="Line 39"/>
          <p:cNvSpPr>
            <a:spLocks noChangeShapeType="1"/>
          </p:cNvSpPr>
          <p:nvPr/>
        </p:nvSpPr>
        <p:spPr bwMode="auto">
          <a:xfrm flipH="1">
            <a:off x="4876800" y="2971800"/>
            <a:ext cx="304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096" name="Rectangle 41"/>
          <p:cNvSpPr>
            <a:spLocks noChangeArrowheads="1"/>
          </p:cNvSpPr>
          <p:nvPr/>
        </p:nvSpPr>
        <p:spPr bwMode="auto">
          <a:xfrm>
            <a:off x="6934200" y="228600"/>
            <a:ext cx="18288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097" name="Text Box 42"/>
          <p:cNvSpPr txBox="1">
            <a:spLocks noChangeArrowheads="1"/>
          </p:cNvSpPr>
          <p:nvPr/>
        </p:nvSpPr>
        <p:spPr bwMode="auto">
          <a:xfrm>
            <a:off x="7772400" y="381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x</a:t>
            </a:r>
          </a:p>
        </p:txBody>
      </p:sp>
      <p:sp>
        <p:nvSpPr>
          <p:cNvPr id="46098" name="Rectangle 43"/>
          <p:cNvSpPr>
            <a:spLocks noChangeArrowheads="1"/>
          </p:cNvSpPr>
          <p:nvPr/>
        </p:nvSpPr>
        <p:spPr bwMode="auto">
          <a:xfrm>
            <a:off x="5334000" y="1295400"/>
            <a:ext cx="18288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099" name="Text Box 44"/>
          <p:cNvSpPr txBox="1">
            <a:spLocks noChangeArrowheads="1"/>
          </p:cNvSpPr>
          <p:nvPr/>
        </p:nvSpPr>
        <p:spPr bwMode="auto">
          <a:xfrm>
            <a:off x="6553200" y="1371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y</a:t>
            </a:r>
          </a:p>
        </p:txBody>
      </p:sp>
      <p:sp>
        <p:nvSpPr>
          <p:cNvPr id="46100" name="Rectangle 45"/>
          <p:cNvSpPr>
            <a:spLocks noChangeArrowheads="1"/>
          </p:cNvSpPr>
          <p:nvPr/>
        </p:nvSpPr>
        <p:spPr bwMode="auto">
          <a:xfrm>
            <a:off x="4419600" y="2286000"/>
            <a:ext cx="1752600" cy="16764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01" name="Text Box 46"/>
          <p:cNvSpPr txBox="1">
            <a:spLocks noChangeArrowheads="1"/>
          </p:cNvSpPr>
          <p:nvPr/>
        </p:nvSpPr>
        <p:spPr bwMode="auto">
          <a:xfrm>
            <a:off x="5562600" y="2971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a:t>
            </a:r>
          </a:p>
        </p:txBody>
      </p:sp>
      <p:sp>
        <p:nvSpPr>
          <p:cNvPr id="46102" name="Rectangle 47"/>
          <p:cNvSpPr>
            <a:spLocks noChangeArrowheads="1"/>
          </p:cNvSpPr>
          <p:nvPr/>
        </p:nvSpPr>
        <p:spPr bwMode="auto">
          <a:xfrm>
            <a:off x="6400800" y="2133600"/>
            <a:ext cx="1752600" cy="16764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03" name="Text Box 48"/>
          <p:cNvSpPr txBox="1">
            <a:spLocks noChangeArrowheads="1"/>
          </p:cNvSpPr>
          <p:nvPr/>
        </p:nvSpPr>
        <p:spPr bwMode="auto">
          <a:xfrm>
            <a:off x="7315200" y="2438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B</a:t>
            </a:r>
          </a:p>
        </p:txBody>
      </p:sp>
      <p:sp>
        <p:nvSpPr>
          <p:cNvPr id="46104" name="Rectangle 49"/>
          <p:cNvSpPr>
            <a:spLocks noChangeArrowheads="1"/>
          </p:cNvSpPr>
          <p:nvPr/>
        </p:nvSpPr>
        <p:spPr bwMode="auto">
          <a:xfrm>
            <a:off x="7467600" y="1143000"/>
            <a:ext cx="1524000" cy="838200"/>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05" name="Text Box 50"/>
          <p:cNvSpPr txBox="1">
            <a:spLocks noChangeArrowheads="1"/>
          </p:cNvSpPr>
          <p:nvPr/>
        </p:nvSpPr>
        <p:spPr bwMode="auto">
          <a:xfrm>
            <a:off x="8534400" y="1295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C</a:t>
            </a:r>
          </a:p>
        </p:txBody>
      </p:sp>
      <p:grpSp>
        <p:nvGrpSpPr>
          <p:cNvPr id="334899" name="Group 51"/>
          <p:cNvGrpSpPr>
            <a:grpSpLocks/>
          </p:cNvGrpSpPr>
          <p:nvPr/>
        </p:nvGrpSpPr>
        <p:grpSpPr bwMode="auto">
          <a:xfrm>
            <a:off x="1371600" y="4114800"/>
            <a:ext cx="2057400" cy="609600"/>
            <a:chOff x="3792" y="1824"/>
            <a:chExt cx="1296" cy="384"/>
          </a:xfrm>
        </p:grpSpPr>
        <p:sp>
          <p:nvSpPr>
            <p:cNvPr id="46134" name="Oval 52"/>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35" name="Text Box 53"/>
            <p:cNvSpPr txBox="1">
              <a:spLocks noChangeArrowheads="1"/>
            </p:cNvSpPr>
            <p:nvPr/>
          </p:nvSpPr>
          <p:spPr bwMode="auto">
            <a:xfrm>
              <a:off x="3888" y="1920"/>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3</a:t>
              </a:r>
            </a:p>
          </p:txBody>
        </p:sp>
      </p:grpSp>
      <p:grpSp>
        <p:nvGrpSpPr>
          <p:cNvPr id="334902" name="Group 54"/>
          <p:cNvGrpSpPr>
            <a:grpSpLocks/>
          </p:cNvGrpSpPr>
          <p:nvPr/>
        </p:nvGrpSpPr>
        <p:grpSpPr bwMode="auto">
          <a:xfrm>
            <a:off x="1981200" y="4648200"/>
            <a:ext cx="1447800" cy="1143000"/>
            <a:chOff x="4272" y="2016"/>
            <a:chExt cx="912" cy="720"/>
          </a:xfrm>
        </p:grpSpPr>
        <p:sp>
          <p:nvSpPr>
            <p:cNvPr id="46131" name="Oval 55"/>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32" name="Text Box 56"/>
            <p:cNvSpPr txBox="1">
              <a:spLocks noChangeArrowheads="1"/>
            </p:cNvSpPr>
            <p:nvPr/>
          </p:nvSpPr>
          <p:spPr bwMode="auto">
            <a:xfrm>
              <a:off x="4704" y="2352"/>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5</a:t>
              </a:r>
            </a:p>
          </p:txBody>
        </p:sp>
        <p:sp>
          <p:nvSpPr>
            <p:cNvPr id="46133" name="Line 57"/>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34906" name="Group 58"/>
          <p:cNvGrpSpPr>
            <a:grpSpLocks/>
          </p:cNvGrpSpPr>
          <p:nvPr/>
        </p:nvGrpSpPr>
        <p:grpSpPr bwMode="auto">
          <a:xfrm>
            <a:off x="0" y="4724400"/>
            <a:ext cx="2209800" cy="2133600"/>
            <a:chOff x="0" y="2976"/>
            <a:chExt cx="1392" cy="1344"/>
          </a:xfrm>
        </p:grpSpPr>
        <p:grpSp>
          <p:nvGrpSpPr>
            <p:cNvPr id="46124" name="Group 59"/>
            <p:cNvGrpSpPr>
              <a:grpSpLocks/>
            </p:cNvGrpSpPr>
            <p:nvPr/>
          </p:nvGrpSpPr>
          <p:grpSpPr bwMode="auto">
            <a:xfrm>
              <a:off x="0" y="3349"/>
              <a:ext cx="1392" cy="971"/>
              <a:chOff x="288" y="1045"/>
              <a:chExt cx="1392" cy="971"/>
            </a:xfrm>
          </p:grpSpPr>
          <p:sp>
            <p:nvSpPr>
              <p:cNvPr id="46126" name="Oval 60"/>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27" name="Oval 61"/>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28" name="Line 62"/>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29" name="Text Box 63"/>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46130" name="Text Box 64"/>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0.8</a:t>
                </a:r>
              </a:p>
            </p:txBody>
          </p:sp>
        </p:grpSp>
        <p:sp>
          <p:nvSpPr>
            <p:cNvPr id="46125" name="Line 65"/>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34914" name="Group 66"/>
          <p:cNvGrpSpPr>
            <a:grpSpLocks/>
          </p:cNvGrpSpPr>
          <p:nvPr/>
        </p:nvGrpSpPr>
        <p:grpSpPr bwMode="auto">
          <a:xfrm>
            <a:off x="2133600" y="5715000"/>
            <a:ext cx="990600" cy="877888"/>
            <a:chOff x="1344" y="3600"/>
            <a:chExt cx="624" cy="553"/>
          </a:xfrm>
        </p:grpSpPr>
        <p:grpSp>
          <p:nvGrpSpPr>
            <p:cNvPr id="46120" name="Group 67"/>
            <p:cNvGrpSpPr>
              <a:grpSpLocks/>
            </p:cNvGrpSpPr>
            <p:nvPr/>
          </p:nvGrpSpPr>
          <p:grpSpPr bwMode="auto">
            <a:xfrm>
              <a:off x="1344" y="3744"/>
              <a:ext cx="624" cy="409"/>
              <a:chOff x="1152" y="1556"/>
              <a:chExt cx="624" cy="409"/>
            </a:xfrm>
          </p:grpSpPr>
          <p:sp>
            <p:nvSpPr>
              <p:cNvPr id="46122" name="Oval 6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23" name="Text Box 69"/>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grpSp>
        <p:sp>
          <p:nvSpPr>
            <p:cNvPr id="46121" name="Line 70"/>
            <p:cNvSpPr>
              <a:spLocks noChangeShapeType="1"/>
            </p:cNvSpPr>
            <p:nvPr/>
          </p:nvSpPr>
          <p:spPr bwMode="auto">
            <a:xfrm flipH="1">
              <a:off x="1632" y="3600"/>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34919" name="Group 71"/>
          <p:cNvGrpSpPr>
            <a:grpSpLocks/>
          </p:cNvGrpSpPr>
          <p:nvPr/>
        </p:nvGrpSpPr>
        <p:grpSpPr bwMode="auto">
          <a:xfrm>
            <a:off x="3352800" y="5715000"/>
            <a:ext cx="1143000" cy="811213"/>
            <a:chOff x="1056" y="1454"/>
            <a:chExt cx="720" cy="511"/>
          </a:xfrm>
        </p:grpSpPr>
        <p:sp>
          <p:nvSpPr>
            <p:cNvPr id="46116" name="Line 72"/>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46117" name="Group 73"/>
            <p:cNvGrpSpPr>
              <a:grpSpLocks/>
            </p:cNvGrpSpPr>
            <p:nvPr/>
          </p:nvGrpSpPr>
          <p:grpSpPr bwMode="auto">
            <a:xfrm>
              <a:off x="1152" y="1556"/>
              <a:ext cx="624" cy="409"/>
              <a:chOff x="1152" y="1556"/>
              <a:chExt cx="624" cy="409"/>
            </a:xfrm>
          </p:grpSpPr>
          <p:sp>
            <p:nvSpPr>
              <p:cNvPr id="46118" name="Oval 74"/>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6119" name="Text Box 75"/>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grpSp>
      <p:sp>
        <p:nvSpPr>
          <p:cNvPr id="334924" name="Text Box 76"/>
          <p:cNvSpPr txBox="1">
            <a:spLocks noChangeArrowheads="1"/>
          </p:cNvSpPr>
          <p:nvPr/>
        </p:nvSpPr>
        <p:spPr bwMode="auto">
          <a:xfrm>
            <a:off x="4343400" y="57912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After rotation</a:t>
            </a:r>
          </a:p>
        </p:txBody>
      </p:sp>
      <p:sp>
        <p:nvSpPr>
          <p:cNvPr id="46112" name="Line 77"/>
          <p:cNvSpPr>
            <a:spLocks noChangeShapeType="1"/>
          </p:cNvSpPr>
          <p:nvPr/>
        </p:nvSpPr>
        <p:spPr bwMode="auto">
          <a:xfrm>
            <a:off x="3886200" y="1219200"/>
            <a:ext cx="9906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6113" name="Line 78"/>
          <p:cNvSpPr>
            <a:spLocks noChangeShapeType="1"/>
          </p:cNvSpPr>
          <p:nvPr/>
        </p:nvSpPr>
        <p:spPr bwMode="auto">
          <a:xfrm flipH="1">
            <a:off x="3352800" y="4114800"/>
            <a:ext cx="762000" cy="53340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42598989-62C0-44D0-A2ED-771C21093291}" type="slidenum">
              <a:rPr lang="zh-TW" altLang="en-US" sz="1200">
                <a:solidFill>
                  <a:srgbClr val="898989"/>
                </a:solidFill>
              </a:rPr>
              <a:pPr/>
              <a:t>45</a:t>
            </a:fld>
            <a:endParaRPr lang="en-US" altLang="zh-TW"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48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49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348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3490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3490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349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334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64" grpId="0" autoUpdateAnimBg="0"/>
      <p:bldP spid="33492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fr-FR"/>
              <a:t>Double rotation in insertion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6F74DF8-7384-4B06-8356-7ABD1DC1818A}" type="slidenum">
              <a:rPr lang="zh-TW" altLang="en-US" sz="1200">
                <a:solidFill>
                  <a:srgbClr val="898989"/>
                </a:solidFill>
              </a:rPr>
              <a:pPr/>
              <a:t>46</a:t>
            </a:fld>
            <a:endParaRPr lang="en-US" altLang="zh-TW" sz="1200">
              <a:solidFill>
                <a:srgbClr val="898989"/>
              </a:solidFill>
            </a:endParaRPr>
          </a:p>
        </p:txBody>
      </p:sp>
      <p:sp>
        <p:nvSpPr>
          <p:cNvPr id="47109" name="Text Box 7"/>
          <p:cNvSpPr txBox="1">
            <a:spLocks noChangeArrowheads="1"/>
          </p:cNvSpPr>
          <p:nvPr/>
        </p:nvSpPr>
        <p:spPr bwMode="auto">
          <a:xfrm>
            <a:off x="1219200" y="1371600"/>
            <a:ext cx="7010400" cy="1333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2400" b="0"/>
              <a:t>The new key is inserted in the subtree B1 or B2. </a:t>
            </a:r>
          </a:p>
          <a:p>
            <a:pPr>
              <a:spcBef>
                <a:spcPct val="20000"/>
              </a:spcBef>
              <a:buClr>
                <a:schemeClr val="tx2"/>
              </a:buClr>
              <a:buSzPct val="75000"/>
              <a:buFont typeface="Monotype Sorts" pitchFamily="2" charset="2"/>
              <a:buNone/>
            </a:pPr>
            <a:r>
              <a:rPr lang="en-US" altLang="fr-FR" sz="2400" b="0"/>
              <a:t>The AVL-property is violated at x.</a:t>
            </a:r>
          </a:p>
          <a:p>
            <a:pPr>
              <a:spcBef>
                <a:spcPct val="20000"/>
              </a:spcBef>
              <a:buClr>
                <a:schemeClr val="tx2"/>
              </a:buClr>
              <a:buSzPct val="75000"/>
              <a:buFont typeface="Monotype Sorts" pitchFamily="2" charset="2"/>
              <a:buNone/>
            </a:pPr>
            <a:r>
              <a:rPr lang="en-US" altLang="fr-FR" sz="2400" b="0"/>
              <a:t>x-y-z forms a zig-zag shape</a:t>
            </a:r>
          </a:p>
        </p:txBody>
      </p:sp>
      <p:grpSp>
        <p:nvGrpSpPr>
          <p:cNvPr id="47110" name="Group 14"/>
          <p:cNvGrpSpPr>
            <a:grpSpLocks/>
          </p:cNvGrpSpPr>
          <p:nvPr/>
        </p:nvGrpSpPr>
        <p:grpSpPr bwMode="auto">
          <a:xfrm>
            <a:off x="1066800" y="2667000"/>
            <a:ext cx="7467600" cy="3276600"/>
            <a:chOff x="720" y="2274"/>
            <a:chExt cx="4265" cy="1710"/>
          </a:xfrm>
        </p:grpSpPr>
        <p:graphicFrame>
          <p:nvGraphicFramePr>
            <p:cNvPr id="47112" name="Object 3"/>
            <p:cNvGraphicFramePr>
              <a:graphicFrameLocks noChangeAspect="1"/>
            </p:cNvGraphicFramePr>
            <p:nvPr/>
          </p:nvGraphicFramePr>
          <p:xfrm>
            <a:off x="720" y="2274"/>
            <a:ext cx="4265" cy="1710"/>
          </p:xfrm>
          <a:graphic>
            <a:graphicData uri="http://schemas.openxmlformats.org/presentationml/2006/ole">
              <mc:AlternateContent xmlns:mc="http://schemas.openxmlformats.org/markup-compatibility/2006">
                <mc:Choice xmlns:v="urn:schemas-microsoft-com:vml" Requires="v">
                  <p:oleObj name="Bitmap Image" r:id="rId2" imgW="6771429" imgH="2715004" progId="Paint.Picture">
                    <p:embed/>
                  </p:oleObj>
                </mc:Choice>
                <mc:Fallback>
                  <p:oleObj name="Bitmap Image" r:id="rId2" imgW="6771429" imgH="2715004"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274"/>
                          <a:ext cx="4265" cy="171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3" name="Oval 6"/>
            <p:cNvSpPr>
              <a:spLocks noChangeArrowheads="1"/>
            </p:cNvSpPr>
            <p:nvPr/>
          </p:nvSpPr>
          <p:spPr bwMode="auto">
            <a:xfrm>
              <a:off x="1552" y="250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7114" name="Line 9"/>
            <p:cNvSpPr>
              <a:spLocks noChangeShapeType="1"/>
            </p:cNvSpPr>
            <p:nvPr/>
          </p:nvSpPr>
          <p:spPr bwMode="auto">
            <a:xfrm flipH="1">
              <a:off x="1440" y="2610"/>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7115" name="Line 10"/>
            <p:cNvSpPr>
              <a:spLocks noChangeShapeType="1"/>
            </p:cNvSpPr>
            <p:nvPr/>
          </p:nvSpPr>
          <p:spPr bwMode="auto">
            <a:xfrm>
              <a:off x="1440" y="2898"/>
              <a:ext cx="48" cy="96"/>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47111" name="Text Box 13"/>
          <p:cNvSpPr txBox="1">
            <a:spLocks noChangeArrowheads="1"/>
          </p:cNvSpPr>
          <p:nvPr/>
        </p:nvSpPr>
        <p:spPr bwMode="auto">
          <a:xfrm>
            <a:off x="3048000" y="5867400"/>
            <a:ext cx="34226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t>also called left-right rotate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fr-FR"/>
              <a:t>Double rotation in insertion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CECEBA15-2A0B-4921-97B6-D7536D330934}" type="slidenum">
              <a:rPr lang="zh-TW" altLang="en-US" sz="1200">
                <a:solidFill>
                  <a:srgbClr val="898989"/>
                </a:solidFill>
              </a:rPr>
              <a:pPr/>
              <a:t>47</a:t>
            </a:fld>
            <a:endParaRPr lang="en-US" altLang="zh-TW" sz="1200">
              <a:solidFill>
                <a:srgbClr val="898989"/>
              </a:solidFill>
            </a:endParaRPr>
          </a:p>
        </p:txBody>
      </p:sp>
      <p:grpSp>
        <p:nvGrpSpPr>
          <p:cNvPr id="48133" name="Group 15"/>
          <p:cNvGrpSpPr>
            <a:grpSpLocks/>
          </p:cNvGrpSpPr>
          <p:nvPr/>
        </p:nvGrpSpPr>
        <p:grpSpPr bwMode="auto">
          <a:xfrm>
            <a:off x="685800" y="2667000"/>
            <a:ext cx="7696200" cy="3219450"/>
            <a:chOff x="672" y="1872"/>
            <a:chExt cx="4345" cy="1740"/>
          </a:xfrm>
        </p:grpSpPr>
        <p:graphicFrame>
          <p:nvGraphicFramePr>
            <p:cNvPr id="48136" name="Object 4"/>
            <p:cNvGraphicFramePr>
              <a:graphicFrameLocks noChangeAspect="1"/>
            </p:cNvGraphicFramePr>
            <p:nvPr/>
          </p:nvGraphicFramePr>
          <p:xfrm>
            <a:off x="672" y="1872"/>
            <a:ext cx="4345" cy="1740"/>
          </p:xfrm>
          <a:graphic>
            <a:graphicData uri="http://schemas.openxmlformats.org/presentationml/2006/ole">
              <mc:AlternateContent xmlns:mc="http://schemas.openxmlformats.org/markup-compatibility/2006">
                <mc:Choice xmlns:v="urn:schemas-microsoft-com:vml" Requires="v">
                  <p:oleObj name="Bitmap Image" r:id="rId2" imgW="6897063" imgH="2762636" progId="Paint.Picture">
                    <p:embed/>
                  </p:oleObj>
                </mc:Choice>
                <mc:Fallback>
                  <p:oleObj name="Bitmap Image" r:id="rId2" imgW="6897063" imgH="2762636"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872"/>
                          <a:ext cx="4345" cy="174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7" name="Oval 5"/>
            <p:cNvSpPr>
              <a:spLocks noChangeArrowheads="1"/>
            </p:cNvSpPr>
            <p:nvPr/>
          </p:nvSpPr>
          <p:spPr bwMode="auto">
            <a:xfrm>
              <a:off x="1248" y="2136"/>
              <a:ext cx="144" cy="144"/>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8138" name="Line 11"/>
            <p:cNvSpPr>
              <a:spLocks noChangeShapeType="1"/>
            </p:cNvSpPr>
            <p:nvPr/>
          </p:nvSpPr>
          <p:spPr bwMode="auto">
            <a:xfrm>
              <a:off x="1392" y="2220"/>
              <a:ext cx="288" cy="192"/>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8139" name="Line 12"/>
            <p:cNvSpPr>
              <a:spLocks noChangeShapeType="1"/>
            </p:cNvSpPr>
            <p:nvPr/>
          </p:nvSpPr>
          <p:spPr bwMode="auto">
            <a:xfrm flipH="1">
              <a:off x="1536" y="2508"/>
              <a:ext cx="144" cy="144"/>
            </a:xfrm>
            <a:prstGeom prst="line">
              <a:avLst/>
            </a:prstGeom>
            <a:noFill/>
            <a:ln w="317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48134" name="Text Box 13"/>
          <p:cNvSpPr txBox="1">
            <a:spLocks noChangeArrowheads="1"/>
          </p:cNvSpPr>
          <p:nvPr/>
        </p:nvSpPr>
        <p:spPr bwMode="auto">
          <a:xfrm>
            <a:off x="1143000" y="1600200"/>
            <a:ext cx="7010400" cy="8953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2400" b="0"/>
              <a:t>The new key is inserted in the subtree B1 or B2. </a:t>
            </a:r>
          </a:p>
          <a:p>
            <a:pPr>
              <a:spcBef>
                <a:spcPct val="20000"/>
              </a:spcBef>
              <a:buClr>
                <a:schemeClr val="tx2"/>
              </a:buClr>
              <a:buSzPct val="75000"/>
              <a:buFont typeface="Monotype Sorts" pitchFamily="2" charset="2"/>
              <a:buNone/>
            </a:pPr>
            <a:r>
              <a:rPr lang="en-US" altLang="fr-FR" sz="2400" b="0"/>
              <a:t>The AVL-property is violated at x.</a:t>
            </a:r>
          </a:p>
        </p:txBody>
      </p:sp>
      <p:sp>
        <p:nvSpPr>
          <p:cNvPr id="48135" name="Text Box 14"/>
          <p:cNvSpPr txBox="1">
            <a:spLocks noChangeArrowheads="1"/>
          </p:cNvSpPr>
          <p:nvPr/>
        </p:nvSpPr>
        <p:spPr bwMode="auto">
          <a:xfrm>
            <a:off x="2743200" y="5867400"/>
            <a:ext cx="34226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t>also called right-left rotate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9154" name="Oval 2"/>
          <p:cNvSpPr>
            <a:spLocks noChangeArrowheads="1"/>
          </p:cNvSpPr>
          <p:nvPr/>
        </p:nvSpPr>
        <p:spPr bwMode="auto">
          <a:xfrm>
            <a:off x="2590800" y="685800"/>
            <a:ext cx="685800" cy="649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55" name="Line 3"/>
          <p:cNvSpPr>
            <a:spLocks noChangeShapeType="1"/>
          </p:cNvSpPr>
          <p:nvPr/>
        </p:nvSpPr>
        <p:spPr bwMode="auto">
          <a:xfrm flipH="1">
            <a:off x="1905000" y="1219200"/>
            <a:ext cx="762000" cy="485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156" name="Text Box 4"/>
          <p:cNvSpPr txBox="1">
            <a:spLocks noChangeArrowheads="1"/>
          </p:cNvSpPr>
          <p:nvPr/>
        </p:nvSpPr>
        <p:spPr bwMode="auto">
          <a:xfrm>
            <a:off x="2667000" y="6858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nvGrpSpPr>
          <p:cNvPr id="49157" name="Group 5"/>
          <p:cNvGrpSpPr>
            <a:grpSpLocks/>
          </p:cNvGrpSpPr>
          <p:nvPr/>
        </p:nvGrpSpPr>
        <p:grpSpPr bwMode="auto">
          <a:xfrm>
            <a:off x="457200" y="1658938"/>
            <a:ext cx="2209800" cy="1541462"/>
            <a:chOff x="288" y="1045"/>
            <a:chExt cx="1392" cy="971"/>
          </a:xfrm>
        </p:grpSpPr>
        <p:sp>
          <p:nvSpPr>
            <p:cNvPr id="49229" name="Oval 6"/>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30" name="Oval 7"/>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31" name="Line 8"/>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232" name="Text Box 9"/>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49233" name="Text Box 10"/>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49158" name="Group 11"/>
          <p:cNvGrpSpPr>
            <a:grpSpLocks/>
          </p:cNvGrpSpPr>
          <p:nvPr/>
        </p:nvGrpSpPr>
        <p:grpSpPr bwMode="auto">
          <a:xfrm>
            <a:off x="1676400" y="2308225"/>
            <a:ext cx="1143000" cy="811213"/>
            <a:chOff x="1056" y="1454"/>
            <a:chExt cx="720" cy="511"/>
          </a:xfrm>
        </p:grpSpPr>
        <p:sp>
          <p:nvSpPr>
            <p:cNvPr id="49225" name="Line 12"/>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49226" name="Group 13"/>
            <p:cNvGrpSpPr>
              <a:grpSpLocks/>
            </p:cNvGrpSpPr>
            <p:nvPr/>
          </p:nvGrpSpPr>
          <p:grpSpPr bwMode="auto">
            <a:xfrm>
              <a:off x="1152" y="1556"/>
              <a:ext cx="624" cy="409"/>
              <a:chOff x="1152" y="1556"/>
              <a:chExt cx="624" cy="409"/>
            </a:xfrm>
          </p:grpSpPr>
          <p:sp>
            <p:nvSpPr>
              <p:cNvPr id="49227" name="Oval 14"/>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28" name="Text Box 15"/>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grpSp>
      </p:grpSp>
      <p:sp>
        <p:nvSpPr>
          <p:cNvPr id="336912" name="Text Box 16"/>
          <p:cNvSpPr txBox="1">
            <a:spLocks noChangeArrowheads="1"/>
          </p:cNvSpPr>
          <p:nvPr/>
        </p:nvSpPr>
        <p:spPr bwMode="auto">
          <a:xfrm>
            <a:off x="5410200" y="38862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Insert 3.5</a:t>
            </a:r>
          </a:p>
        </p:txBody>
      </p:sp>
      <p:sp>
        <p:nvSpPr>
          <p:cNvPr id="49160" name="Text Box 17"/>
          <p:cNvSpPr txBox="1">
            <a:spLocks noChangeArrowheads="1"/>
          </p:cNvSpPr>
          <p:nvPr/>
        </p:nvSpPr>
        <p:spPr bwMode="auto">
          <a:xfrm>
            <a:off x="381000" y="6858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 AVL Tree</a:t>
            </a:r>
          </a:p>
        </p:txBody>
      </p:sp>
      <p:sp>
        <p:nvSpPr>
          <p:cNvPr id="49161" name="Oval 18"/>
          <p:cNvSpPr>
            <a:spLocks noChangeArrowheads="1"/>
          </p:cNvSpPr>
          <p:nvPr/>
        </p:nvSpPr>
        <p:spPr bwMode="auto">
          <a:xfrm>
            <a:off x="2971800" y="1676400"/>
            <a:ext cx="685800" cy="533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62" name="Text Box 19"/>
          <p:cNvSpPr txBox="1">
            <a:spLocks noChangeArrowheads="1"/>
          </p:cNvSpPr>
          <p:nvPr/>
        </p:nvSpPr>
        <p:spPr bwMode="auto">
          <a:xfrm>
            <a:off x="3048000" y="1676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8</a:t>
            </a:r>
          </a:p>
        </p:txBody>
      </p:sp>
      <p:sp>
        <p:nvSpPr>
          <p:cNvPr id="49163" name="Line 20"/>
          <p:cNvSpPr>
            <a:spLocks noChangeShapeType="1"/>
          </p:cNvSpPr>
          <p:nvPr/>
        </p:nvSpPr>
        <p:spPr bwMode="auto">
          <a:xfrm>
            <a:off x="3124200" y="1295400"/>
            <a:ext cx="152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336917" name="Group 21"/>
          <p:cNvGrpSpPr>
            <a:grpSpLocks/>
          </p:cNvGrpSpPr>
          <p:nvPr/>
        </p:nvGrpSpPr>
        <p:grpSpPr bwMode="auto">
          <a:xfrm>
            <a:off x="4876800" y="457200"/>
            <a:ext cx="3657600" cy="3316288"/>
            <a:chOff x="3072" y="288"/>
            <a:chExt cx="2304" cy="2089"/>
          </a:xfrm>
        </p:grpSpPr>
        <p:sp>
          <p:nvSpPr>
            <p:cNvPr id="49207" name="Oval 22"/>
            <p:cNvSpPr>
              <a:spLocks noChangeArrowheads="1"/>
            </p:cNvSpPr>
            <p:nvPr/>
          </p:nvSpPr>
          <p:spPr bwMode="auto">
            <a:xfrm>
              <a:off x="3696" y="1968"/>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08" name="Text Box 23"/>
            <p:cNvSpPr txBox="1">
              <a:spLocks noChangeArrowheads="1"/>
            </p:cNvSpPr>
            <p:nvPr/>
          </p:nvSpPr>
          <p:spPr bwMode="auto">
            <a:xfrm>
              <a:off x="3744" y="201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3.5</a:t>
              </a:r>
            </a:p>
          </p:txBody>
        </p:sp>
        <p:grpSp>
          <p:nvGrpSpPr>
            <p:cNvPr id="49209" name="Group 24"/>
            <p:cNvGrpSpPr>
              <a:grpSpLocks/>
            </p:cNvGrpSpPr>
            <p:nvPr/>
          </p:nvGrpSpPr>
          <p:grpSpPr bwMode="auto">
            <a:xfrm>
              <a:off x="3072" y="288"/>
              <a:ext cx="2304" cy="1584"/>
              <a:chOff x="192" y="2256"/>
              <a:chExt cx="2304" cy="1584"/>
            </a:xfrm>
          </p:grpSpPr>
          <p:sp>
            <p:nvSpPr>
              <p:cNvPr id="49211" name="Oval 25"/>
              <p:cNvSpPr>
                <a:spLocks noChangeArrowheads="1"/>
              </p:cNvSpPr>
              <p:nvPr/>
            </p:nvSpPr>
            <p:spPr bwMode="auto">
              <a:xfrm>
                <a:off x="1536" y="22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12" name="Oval 26"/>
              <p:cNvSpPr>
                <a:spLocks noChangeArrowheads="1"/>
              </p:cNvSpPr>
              <p:nvPr/>
            </p:nvSpPr>
            <p:spPr bwMode="auto">
              <a:xfrm>
                <a:off x="720" y="286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13" name="Oval 27"/>
              <p:cNvSpPr>
                <a:spLocks noChangeArrowheads="1"/>
              </p:cNvSpPr>
              <p:nvPr/>
            </p:nvSpPr>
            <p:spPr bwMode="auto">
              <a:xfrm>
                <a:off x="192" y="343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14" name="Oval 28"/>
              <p:cNvSpPr>
                <a:spLocks noChangeArrowheads="1"/>
              </p:cNvSpPr>
              <p:nvPr/>
            </p:nvSpPr>
            <p:spPr bwMode="auto">
              <a:xfrm>
                <a:off x="1056" y="3380"/>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15" name="Oval 29"/>
              <p:cNvSpPr>
                <a:spLocks noChangeArrowheads="1"/>
              </p:cNvSpPr>
              <p:nvPr/>
            </p:nvSpPr>
            <p:spPr bwMode="auto">
              <a:xfrm>
                <a:off x="1920" y="273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16" name="Line 30"/>
              <p:cNvSpPr>
                <a:spLocks noChangeShapeType="1"/>
              </p:cNvSpPr>
              <p:nvPr/>
            </p:nvSpPr>
            <p:spPr bwMode="auto">
              <a:xfrm flipH="1">
                <a:off x="1104" y="2592"/>
                <a:ext cx="480" cy="3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217" name="Line 31"/>
              <p:cNvSpPr>
                <a:spLocks noChangeShapeType="1"/>
              </p:cNvSpPr>
              <p:nvPr/>
            </p:nvSpPr>
            <p:spPr bwMode="auto">
              <a:xfrm>
                <a:off x="1776" y="2665"/>
                <a:ext cx="192"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218" name="Line 32"/>
              <p:cNvSpPr>
                <a:spLocks noChangeShapeType="1"/>
              </p:cNvSpPr>
              <p:nvPr/>
            </p:nvSpPr>
            <p:spPr bwMode="auto">
              <a:xfrm flipH="1">
                <a:off x="528" y="327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219" name="Line 33"/>
              <p:cNvSpPr>
                <a:spLocks noChangeShapeType="1"/>
              </p:cNvSpPr>
              <p:nvPr/>
            </p:nvSpPr>
            <p:spPr bwMode="auto">
              <a:xfrm>
                <a:off x="960" y="3278"/>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220" name="Text Box 34"/>
              <p:cNvSpPr txBox="1">
                <a:spLocks noChangeArrowheads="1"/>
              </p:cNvSpPr>
              <p:nvPr/>
            </p:nvSpPr>
            <p:spPr bwMode="auto">
              <a:xfrm>
                <a:off x="1584" y="225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49221" name="Text Box 35"/>
              <p:cNvSpPr txBox="1">
                <a:spLocks noChangeArrowheads="1"/>
              </p:cNvSpPr>
              <p:nvPr/>
            </p:nvSpPr>
            <p:spPr bwMode="auto">
              <a:xfrm>
                <a:off x="816" y="292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49222" name="Text Box 36"/>
              <p:cNvSpPr txBox="1">
                <a:spLocks noChangeArrowheads="1"/>
              </p:cNvSpPr>
              <p:nvPr/>
            </p:nvSpPr>
            <p:spPr bwMode="auto">
              <a:xfrm>
                <a:off x="288" y="348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49223" name="Text Box 37"/>
              <p:cNvSpPr txBox="1">
                <a:spLocks noChangeArrowheads="1"/>
              </p:cNvSpPr>
              <p:nvPr/>
            </p:nvSpPr>
            <p:spPr bwMode="auto">
              <a:xfrm>
                <a:off x="1104" y="3456"/>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49224" name="Text Box 38"/>
              <p:cNvSpPr txBox="1">
                <a:spLocks noChangeArrowheads="1"/>
              </p:cNvSpPr>
              <p:nvPr/>
            </p:nvSpPr>
            <p:spPr bwMode="auto">
              <a:xfrm>
                <a:off x="1968" y="2832"/>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sp>
          <p:nvSpPr>
            <p:cNvPr id="49210" name="Line 39"/>
            <p:cNvSpPr>
              <a:spLocks noChangeShapeType="1"/>
            </p:cNvSpPr>
            <p:nvPr/>
          </p:nvSpPr>
          <p:spPr bwMode="auto">
            <a:xfrm flipH="1">
              <a:off x="3936" y="1824"/>
              <a:ext cx="19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36936" name="Group 40"/>
          <p:cNvGrpSpPr>
            <a:grpSpLocks/>
          </p:cNvGrpSpPr>
          <p:nvPr/>
        </p:nvGrpSpPr>
        <p:grpSpPr bwMode="auto">
          <a:xfrm>
            <a:off x="1371600" y="4114800"/>
            <a:ext cx="2057400" cy="609600"/>
            <a:chOff x="3792" y="1824"/>
            <a:chExt cx="1296" cy="384"/>
          </a:xfrm>
        </p:grpSpPr>
        <p:sp>
          <p:nvSpPr>
            <p:cNvPr id="49205" name="Oval 41"/>
            <p:cNvSpPr>
              <a:spLocks noChangeArrowheads="1"/>
            </p:cNvSpPr>
            <p:nvPr/>
          </p:nvSpPr>
          <p:spPr bwMode="auto">
            <a:xfrm>
              <a:off x="3792" y="1824"/>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06" name="Text Box 42"/>
            <p:cNvSpPr txBox="1">
              <a:spLocks noChangeArrowheads="1"/>
            </p:cNvSpPr>
            <p:nvPr/>
          </p:nvSpPr>
          <p:spPr bwMode="auto">
            <a:xfrm>
              <a:off x="3888" y="1920"/>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4</a:t>
              </a:r>
            </a:p>
          </p:txBody>
        </p:sp>
      </p:grpSp>
      <p:grpSp>
        <p:nvGrpSpPr>
          <p:cNvPr id="336939" name="Group 43"/>
          <p:cNvGrpSpPr>
            <a:grpSpLocks/>
          </p:cNvGrpSpPr>
          <p:nvPr/>
        </p:nvGrpSpPr>
        <p:grpSpPr bwMode="auto">
          <a:xfrm>
            <a:off x="1981200" y="4648200"/>
            <a:ext cx="1447800" cy="1143000"/>
            <a:chOff x="4272" y="2016"/>
            <a:chExt cx="912" cy="720"/>
          </a:xfrm>
        </p:grpSpPr>
        <p:sp>
          <p:nvSpPr>
            <p:cNvPr id="49202" name="Oval 44"/>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03" name="Text Box 45"/>
            <p:cNvSpPr txBox="1">
              <a:spLocks noChangeArrowheads="1"/>
            </p:cNvSpPr>
            <p:nvPr/>
          </p:nvSpPr>
          <p:spPr bwMode="auto">
            <a:xfrm>
              <a:off x="4704" y="2352"/>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5</a:t>
              </a:r>
            </a:p>
          </p:txBody>
        </p:sp>
        <p:sp>
          <p:nvSpPr>
            <p:cNvPr id="49204" name="Line 46"/>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49167" name="Oval 48"/>
          <p:cNvSpPr>
            <a:spLocks noChangeArrowheads="1"/>
          </p:cNvSpPr>
          <p:nvPr/>
        </p:nvSpPr>
        <p:spPr bwMode="auto">
          <a:xfrm>
            <a:off x="0" y="6208713"/>
            <a:ext cx="685800" cy="6492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68" name="Line 49"/>
          <p:cNvSpPr>
            <a:spLocks noChangeShapeType="1"/>
          </p:cNvSpPr>
          <p:nvPr/>
        </p:nvSpPr>
        <p:spPr bwMode="auto">
          <a:xfrm flipH="1">
            <a:off x="533400" y="5965825"/>
            <a:ext cx="533400" cy="2428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169" name="Text Box 50"/>
          <p:cNvSpPr txBox="1">
            <a:spLocks noChangeArrowheads="1"/>
          </p:cNvSpPr>
          <p:nvPr/>
        </p:nvSpPr>
        <p:spPr bwMode="auto">
          <a:xfrm>
            <a:off x="152400" y="6289675"/>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nvGrpSpPr>
          <p:cNvPr id="336947" name="Group 51"/>
          <p:cNvGrpSpPr>
            <a:grpSpLocks/>
          </p:cNvGrpSpPr>
          <p:nvPr/>
        </p:nvGrpSpPr>
        <p:grpSpPr bwMode="auto">
          <a:xfrm>
            <a:off x="838200" y="4724400"/>
            <a:ext cx="1371600" cy="1241425"/>
            <a:chOff x="528" y="2976"/>
            <a:chExt cx="864" cy="782"/>
          </a:xfrm>
        </p:grpSpPr>
        <p:sp>
          <p:nvSpPr>
            <p:cNvPr id="49199" name="Oval 52"/>
            <p:cNvSpPr>
              <a:spLocks noChangeArrowheads="1"/>
            </p:cNvSpPr>
            <p:nvPr/>
          </p:nvSpPr>
          <p:spPr bwMode="auto">
            <a:xfrm>
              <a:off x="528" y="334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200" name="Text Box 53"/>
            <p:cNvSpPr txBox="1">
              <a:spLocks noChangeArrowheads="1"/>
            </p:cNvSpPr>
            <p:nvPr/>
          </p:nvSpPr>
          <p:spPr bwMode="auto">
            <a:xfrm>
              <a:off x="624" y="340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49201" name="Line 54"/>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336951" name="Group 55"/>
          <p:cNvGrpSpPr>
            <a:grpSpLocks/>
          </p:cNvGrpSpPr>
          <p:nvPr/>
        </p:nvGrpSpPr>
        <p:grpSpPr bwMode="auto">
          <a:xfrm>
            <a:off x="1447800" y="5867400"/>
            <a:ext cx="1143000" cy="811213"/>
            <a:chOff x="1056" y="1454"/>
            <a:chExt cx="720" cy="511"/>
          </a:xfrm>
        </p:grpSpPr>
        <p:sp>
          <p:nvSpPr>
            <p:cNvPr id="49195" name="Line 5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49196" name="Group 57"/>
            <p:cNvGrpSpPr>
              <a:grpSpLocks/>
            </p:cNvGrpSpPr>
            <p:nvPr/>
          </p:nvGrpSpPr>
          <p:grpSpPr bwMode="auto">
            <a:xfrm>
              <a:off x="1152" y="1556"/>
              <a:ext cx="624" cy="409"/>
              <a:chOff x="1152" y="1556"/>
              <a:chExt cx="624" cy="409"/>
            </a:xfrm>
          </p:grpSpPr>
          <p:sp>
            <p:nvSpPr>
              <p:cNvPr id="49197" name="Oval 5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98" name="Text Box 59"/>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3.5</a:t>
                </a:r>
              </a:p>
            </p:txBody>
          </p:sp>
        </p:grpSp>
      </p:grpSp>
      <p:sp>
        <p:nvSpPr>
          <p:cNvPr id="336956" name="Text Box 60"/>
          <p:cNvSpPr txBox="1">
            <a:spLocks noChangeArrowheads="1"/>
          </p:cNvSpPr>
          <p:nvPr/>
        </p:nvSpPr>
        <p:spPr bwMode="auto">
          <a:xfrm>
            <a:off x="4343400" y="60198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After Rotation</a:t>
            </a:r>
          </a:p>
        </p:txBody>
      </p:sp>
      <p:grpSp>
        <p:nvGrpSpPr>
          <p:cNvPr id="336957" name="Group 61"/>
          <p:cNvGrpSpPr>
            <a:grpSpLocks/>
          </p:cNvGrpSpPr>
          <p:nvPr/>
        </p:nvGrpSpPr>
        <p:grpSpPr bwMode="auto">
          <a:xfrm>
            <a:off x="4114800" y="228600"/>
            <a:ext cx="5029200" cy="3657600"/>
            <a:chOff x="2592" y="144"/>
            <a:chExt cx="3168" cy="2304"/>
          </a:xfrm>
        </p:grpSpPr>
        <p:sp>
          <p:nvSpPr>
            <p:cNvPr id="49183" name="Rectangle 62"/>
            <p:cNvSpPr>
              <a:spLocks noChangeArrowheads="1"/>
            </p:cNvSpPr>
            <p:nvPr/>
          </p:nvSpPr>
          <p:spPr bwMode="auto">
            <a:xfrm>
              <a:off x="4176" y="144"/>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84" name="Text Box 63"/>
            <p:cNvSpPr txBox="1">
              <a:spLocks noChangeArrowheads="1"/>
            </p:cNvSpPr>
            <p:nvPr/>
          </p:nvSpPr>
          <p:spPr bwMode="auto">
            <a:xfrm>
              <a:off x="4896" y="24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x</a:t>
              </a:r>
            </a:p>
          </p:txBody>
        </p:sp>
        <p:sp>
          <p:nvSpPr>
            <p:cNvPr id="49185" name="Rectangle 64"/>
            <p:cNvSpPr>
              <a:spLocks noChangeArrowheads="1"/>
            </p:cNvSpPr>
            <p:nvPr/>
          </p:nvSpPr>
          <p:spPr bwMode="auto">
            <a:xfrm>
              <a:off x="3072" y="768"/>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86" name="Text Box 65"/>
            <p:cNvSpPr txBox="1">
              <a:spLocks noChangeArrowheads="1"/>
            </p:cNvSpPr>
            <p:nvPr/>
          </p:nvSpPr>
          <p:spPr bwMode="auto">
            <a:xfrm>
              <a:off x="3360" y="76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y</a:t>
              </a:r>
            </a:p>
          </p:txBody>
        </p:sp>
        <p:sp>
          <p:nvSpPr>
            <p:cNvPr id="49187" name="Rectangle 66"/>
            <p:cNvSpPr>
              <a:spLocks noChangeArrowheads="1"/>
            </p:cNvSpPr>
            <p:nvPr/>
          </p:nvSpPr>
          <p:spPr bwMode="auto">
            <a:xfrm>
              <a:off x="2592" y="1344"/>
              <a:ext cx="1152"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88" name="Text Box 67"/>
            <p:cNvSpPr txBox="1">
              <a:spLocks noChangeArrowheads="1"/>
            </p:cNvSpPr>
            <p:nvPr/>
          </p:nvSpPr>
          <p:spPr bwMode="auto">
            <a:xfrm>
              <a:off x="2736" y="148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A</a:t>
              </a:r>
            </a:p>
          </p:txBody>
        </p:sp>
        <p:sp>
          <p:nvSpPr>
            <p:cNvPr id="49189" name="Rectangle 68"/>
            <p:cNvSpPr>
              <a:spLocks noChangeArrowheads="1"/>
            </p:cNvSpPr>
            <p:nvPr/>
          </p:nvSpPr>
          <p:spPr bwMode="auto">
            <a:xfrm>
              <a:off x="3840" y="1392"/>
              <a:ext cx="1008" cy="432"/>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90" name="Text Box 69"/>
            <p:cNvSpPr txBox="1">
              <a:spLocks noChangeArrowheads="1"/>
            </p:cNvSpPr>
            <p:nvPr/>
          </p:nvSpPr>
          <p:spPr bwMode="auto">
            <a:xfrm>
              <a:off x="4464" y="148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z</a:t>
              </a:r>
            </a:p>
          </p:txBody>
        </p:sp>
        <p:sp>
          <p:nvSpPr>
            <p:cNvPr id="49191" name="Rectangle 70"/>
            <p:cNvSpPr>
              <a:spLocks noChangeArrowheads="1"/>
            </p:cNvSpPr>
            <p:nvPr/>
          </p:nvSpPr>
          <p:spPr bwMode="auto">
            <a:xfrm>
              <a:off x="3312" y="1920"/>
              <a:ext cx="960"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92" name="Text Box 71"/>
            <p:cNvSpPr txBox="1">
              <a:spLocks noChangeArrowheads="1"/>
            </p:cNvSpPr>
            <p:nvPr/>
          </p:nvSpPr>
          <p:spPr bwMode="auto">
            <a:xfrm>
              <a:off x="3312" y="20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B</a:t>
              </a:r>
            </a:p>
          </p:txBody>
        </p:sp>
        <p:sp>
          <p:nvSpPr>
            <p:cNvPr id="49193" name="Rectangle 72"/>
            <p:cNvSpPr>
              <a:spLocks noChangeArrowheads="1"/>
            </p:cNvSpPr>
            <p:nvPr/>
          </p:nvSpPr>
          <p:spPr bwMode="auto">
            <a:xfrm>
              <a:off x="4800" y="720"/>
              <a:ext cx="960" cy="528"/>
            </a:xfrm>
            <a:prstGeom prst="rect">
              <a:avLst/>
            </a:prstGeom>
            <a:noFill/>
            <a:ln w="9525"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94" name="Text Box 73"/>
            <p:cNvSpPr txBox="1">
              <a:spLocks noChangeArrowheads="1"/>
            </p:cNvSpPr>
            <p:nvPr/>
          </p:nvSpPr>
          <p:spPr bwMode="auto">
            <a:xfrm>
              <a:off x="5376" y="672"/>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C</a:t>
              </a:r>
            </a:p>
          </p:txBody>
        </p:sp>
      </p:grpSp>
      <p:grpSp>
        <p:nvGrpSpPr>
          <p:cNvPr id="336970" name="Group 74"/>
          <p:cNvGrpSpPr>
            <a:grpSpLocks/>
          </p:cNvGrpSpPr>
          <p:nvPr/>
        </p:nvGrpSpPr>
        <p:grpSpPr bwMode="auto">
          <a:xfrm>
            <a:off x="3200400" y="5791200"/>
            <a:ext cx="1143000" cy="811213"/>
            <a:chOff x="1056" y="1454"/>
            <a:chExt cx="720" cy="511"/>
          </a:xfrm>
        </p:grpSpPr>
        <p:sp>
          <p:nvSpPr>
            <p:cNvPr id="49179" name="Line 75"/>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49180" name="Group 76"/>
            <p:cNvGrpSpPr>
              <a:grpSpLocks/>
            </p:cNvGrpSpPr>
            <p:nvPr/>
          </p:nvGrpSpPr>
          <p:grpSpPr bwMode="auto">
            <a:xfrm>
              <a:off x="1152" y="1556"/>
              <a:ext cx="624" cy="409"/>
              <a:chOff x="1152" y="1556"/>
              <a:chExt cx="624" cy="409"/>
            </a:xfrm>
          </p:grpSpPr>
          <p:sp>
            <p:nvSpPr>
              <p:cNvPr id="49181" name="Oval 77"/>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49182" name="Text Box 78"/>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grpSp>
      <p:sp>
        <p:nvSpPr>
          <p:cNvPr id="49175" name="Line 79"/>
          <p:cNvSpPr>
            <a:spLocks noChangeShapeType="1"/>
          </p:cNvSpPr>
          <p:nvPr/>
        </p:nvSpPr>
        <p:spPr bwMode="auto">
          <a:xfrm flipV="1">
            <a:off x="3733800" y="914400"/>
            <a:ext cx="1066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9176" name="Line 80"/>
          <p:cNvSpPr>
            <a:spLocks noChangeShapeType="1"/>
          </p:cNvSpPr>
          <p:nvPr/>
        </p:nvSpPr>
        <p:spPr bwMode="auto">
          <a:xfrm flipH="1">
            <a:off x="3657600" y="3886200"/>
            <a:ext cx="990600" cy="76200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5AC63978-4664-45E6-A258-D36DD8887B88}" type="slidenum">
              <a:rPr lang="zh-TW" altLang="en-US" sz="1200">
                <a:solidFill>
                  <a:srgbClr val="898989"/>
                </a:solidFill>
              </a:rPr>
              <a:pPr/>
              <a:t>48</a:t>
            </a:fld>
            <a:endParaRPr lang="en-US" altLang="zh-TW"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69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336917"/>
                                        </p:tgtEl>
                                        <p:attrNameLst>
                                          <p:attrName>style.visibility</p:attrName>
                                        </p:attrNameLst>
                                      </p:cBhvr>
                                      <p:to>
                                        <p:strVal val="visible"/>
                                      </p:to>
                                    </p:set>
                                    <p:anim calcmode="lin" valueType="num">
                                      <p:cBhvr additive="base">
                                        <p:cTn id="11" dur="500" fill="hold"/>
                                        <p:tgtEl>
                                          <p:spTgt spid="336917"/>
                                        </p:tgtEl>
                                        <p:attrNameLst>
                                          <p:attrName>ppt_x</p:attrName>
                                        </p:attrNameLst>
                                      </p:cBhvr>
                                      <p:tavLst>
                                        <p:tav tm="0">
                                          <p:val>
                                            <p:strVal val="0-#ppt_w/2"/>
                                          </p:val>
                                        </p:tav>
                                        <p:tav tm="100000">
                                          <p:val>
                                            <p:strVal val="#ppt_x"/>
                                          </p:val>
                                        </p:tav>
                                      </p:tavLst>
                                    </p:anim>
                                    <p:anim calcmode="lin" valueType="num">
                                      <p:cBhvr additive="base">
                                        <p:cTn id="12" dur="500" fill="hold"/>
                                        <p:tgtEl>
                                          <p:spTgt spid="33691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3695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369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33693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336947"/>
                                        </p:tgtEl>
                                        <p:attrNameLst>
                                          <p:attrName>style.visibility</p:attrName>
                                        </p:attrNameLst>
                                      </p:cBhvr>
                                      <p:to>
                                        <p:strVal val="visible"/>
                                      </p:to>
                                    </p:set>
                                    <p:anim calcmode="lin" valueType="num">
                                      <p:cBhvr additive="base">
                                        <p:cTn id="29" dur="500" fill="hold"/>
                                        <p:tgtEl>
                                          <p:spTgt spid="336947"/>
                                        </p:tgtEl>
                                        <p:attrNameLst>
                                          <p:attrName>ppt_x</p:attrName>
                                        </p:attrNameLst>
                                      </p:cBhvr>
                                      <p:tavLst>
                                        <p:tav tm="0">
                                          <p:val>
                                            <p:strVal val="0-#ppt_w/2"/>
                                          </p:val>
                                        </p:tav>
                                        <p:tav tm="100000">
                                          <p:val>
                                            <p:strVal val="#ppt_x"/>
                                          </p:val>
                                        </p:tav>
                                      </p:tavLst>
                                    </p:anim>
                                    <p:anim calcmode="lin" valueType="num">
                                      <p:cBhvr additive="base">
                                        <p:cTn id="30" dur="500" fill="hold"/>
                                        <p:tgtEl>
                                          <p:spTgt spid="33694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3693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33697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369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12" grpId="0" autoUpdateAnimBg="0"/>
      <p:bldP spid="336956"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fr-FR"/>
              <a:t>An Extended Example</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7038EB69-EE67-46EB-B915-476A327E0D15}" type="slidenum">
              <a:rPr lang="zh-TW" altLang="en-US" sz="1200">
                <a:solidFill>
                  <a:srgbClr val="898989"/>
                </a:solidFill>
              </a:rPr>
              <a:pPr/>
              <a:t>49</a:t>
            </a:fld>
            <a:endParaRPr lang="en-US" altLang="zh-TW" sz="1200">
              <a:solidFill>
                <a:srgbClr val="898989"/>
              </a:solidFill>
            </a:endParaRPr>
          </a:p>
        </p:txBody>
      </p:sp>
      <p:sp>
        <p:nvSpPr>
          <p:cNvPr id="50181" name="Text Box 3"/>
          <p:cNvSpPr txBox="1">
            <a:spLocks noChangeArrowheads="1"/>
          </p:cNvSpPr>
          <p:nvPr/>
        </p:nvSpPr>
        <p:spPr bwMode="auto">
          <a:xfrm>
            <a:off x="609600" y="198120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Insert 3,2,1,4,5,6,7, 16,15,14</a:t>
            </a:r>
          </a:p>
        </p:txBody>
      </p:sp>
      <p:grpSp>
        <p:nvGrpSpPr>
          <p:cNvPr id="342020" name="Group 4"/>
          <p:cNvGrpSpPr>
            <a:grpSpLocks/>
          </p:cNvGrpSpPr>
          <p:nvPr/>
        </p:nvGrpSpPr>
        <p:grpSpPr bwMode="auto">
          <a:xfrm>
            <a:off x="990600" y="2819400"/>
            <a:ext cx="1600200" cy="1281113"/>
            <a:chOff x="624" y="1776"/>
            <a:chExt cx="1008" cy="807"/>
          </a:xfrm>
        </p:grpSpPr>
        <p:grpSp>
          <p:nvGrpSpPr>
            <p:cNvPr id="50266" name="Group 5"/>
            <p:cNvGrpSpPr>
              <a:grpSpLocks/>
            </p:cNvGrpSpPr>
            <p:nvPr/>
          </p:nvGrpSpPr>
          <p:grpSpPr bwMode="auto">
            <a:xfrm>
              <a:off x="720" y="1776"/>
              <a:ext cx="912" cy="409"/>
              <a:chOff x="720" y="1776"/>
              <a:chExt cx="912" cy="409"/>
            </a:xfrm>
          </p:grpSpPr>
          <p:sp>
            <p:nvSpPr>
              <p:cNvPr id="50268" name="Oval 6"/>
              <p:cNvSpPr>
                <a:spLocks noChangeArrowheads="1"/>
              </p:cNvSpPr>
              <p:nvPr/>
            </p:nvSpPr>
            <p:spPr bwMode="auto">
              <a:xfrm>
                <a:off x="720" y="177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69" name="Text Box 7"/>
              <p:cNvSpPr txBox="1">
                <a:spLocks noChangeArrowheads="1"/>
              </p:cNvSpPr>
              <p:nvPr/>
            </p:nvSpPr>
            <p:spPr bwMode="auto">
              <a:xfrm>
                <a:off x="864" y="187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sp>
          <p:nvSpPr>
            <p:cNvPr id="50267" name="Text Box 8"/>
            <p:cNvSpPr txBox="1">
              <a:spLocks noChangeArrowheads="1"/>
            </p:cNvSpPr>
            <p:nvPr/>
          </p:nvSpPr>
          <p:spPr bwMode="auto">
            <a:xfrm>
              <a:off x="624" y="235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a:t>
              </a:r>
            </a:p>
          </p:txBody>
        </p:sp>
      </p:grpSp>
      <p:grpSp>
        <p:nvGrpSpPr>
          <p:cNvPr id="342025" name="Group 9"/>
          <p:cNvGrpSpPr>
            <a:grpSpLocks/>
          </p:cNvGrpSpPr>
          <p:nvPr/>
        </p:nvGrpSpPr>
        <p:grpSpPr bwMode="auto">
          <a:xfrm>
            <a:off x="2286000" y="2667000"/>
            <a:ext cx="2209800" cy="1966913"/>
            <a:chOff x="1440" y="1680"/>
            <a:chExt cx="1392" cy="1239"/>
          </a:xfrm>
        </p:grpSpPr>
        <p:grpSp>
          <p:nvGrpSpPr>
            <p:cNvPr id="50259" name="Group 10"/>
            <p:cNvGrpSpPr>
              <a:grpSpLocks/>
            </p:cNvGrpSpPr>
            <p:nvPr/>
          </p:nvGrpSpPr>
          <p:grpSpPr bwMode="auto">
            <a:xfrm>
              <a:off x="1440" y="1680"/>
              <a:ext cx="1392" cy="971"/>
              <a:chOff x="288" y="1045"/>
              <a:chExt cx="1392" cy="971"/>
            </a:xfrm>
          </p:grpSpPr>
          <p:sp>
            <p:nvSpPr>
              <p:cNvPr id="50261" name="Oval 11"/>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62" name="Oval 12"/>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63" name="Line 13"/>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264" name="Text Box 14"/>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50265" name="Text Box 15"/>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sp>
          <p:nvSpPr>
            <p:cNvPr id="50260" name="Text Box 16"/>
            <p:cNvSpPr txBox="1">
              <a:spLocks noChangeArrowheads="1"/>
            </p:cNvSpPr>
            <p:nvPr/>
          </p:nvSpPr>
          <p:spPr bwMode="auto">
            <a:xfrm>
              <a:off x="1536" y="268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2</a:t>
              </a:r>
            </a:p>
          </p:txBody>
        </p:sp>
      </p:grpSp>
      <p:grpSp>
        <p:nvGrpSpPr>
          <p:cNvPr id="342033" name="Group 17"/>
          <p:cNvGrpSpPr>
            <a:grpSpLocks/>
          </p:cNvGrpSpPr>
          <p:nvPr/>
        </p:nvGrpSpPr>
        <p:grpSpPr bwMode="auto">
          <a:xfrm>
            <a:off x="3810000" y="2514600"/>
            <a:ext cx="2819400" cy="3109913"/>
            <a:chOff x="2400" y="1584"/>
            <a:chExt cx="1776" cy="1959"/>
          </a:xfrm>
        </p:grpSpPr>
        <p:grpSp>
          <p:nvGrpSpPr>
            <p:cNvPr id="50247" name="Group 18"/>
            <p:cNvGrpSpPr>
              <a:grpSpLocks/>
            </p:cNvGrpSpPr>
            <p:nvPr/>
          </p:nvGrpSpPr>
          <p:grpSpPr bwMode="auto">
            <a:xfrm>
              <a:off x="2400" y="1584"/>
              <a:ext cx="1776" cy="1694"/>
              <a:chOff x="2400" y="1584"/>
              <a:chExt cx="1776" cy="1694"/>
            </a:xfrm>
          </p:grpSpPr>
          <p:grpSp>
            <p:nvGrpSpPr>
              <p:cNvPr id="50249" name="Group 19"/>
              <p:cNvGrpSpPr>
                <a:grpSpLocks/>
              </p:cNvGrpSpPr>
              <p:nvPr/>
            </p:nvGrpSpPr>
            <p:grpSpPr bwMode="auto">
              <a:xfrm>
                <a:off x="2784" y="1584"/>
                <a:ext cx="1392" cy="971"/>
                <a:chOff x="288" y="1045"/>
                <a:chExt cx="1392" cy="971"/>
              </a:xfrm>
            </p:grpSpPr>
            <p:sp>
              <p:nvSpPr>
                <p:cNvPr id="50254" name="Oval 20"/>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55" name="Oval 21"/>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56" name="Line 22"/>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257" name="Text Box 23"/>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50258" name="Text Box 24"/>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0250" name="Group 25"/>
              <p:cNvGrpSpPr>
                <a:grpSpLocks/>
              </p:cNvGrpSpPr>
              <p:nvPr/>
            </p:nvGrpSpPr>
            <p:grpSpPr bwMode="auto">
              <a:xfrm>
                <a:off x="2400" y="2496"/>
                <a:ext cx="864" cy="782"/>
                <a:chOff x="528" y="2976"/>
                <a:chExt cx="864" cy="782"/>
              </a:xfrm>
            </p:grpSpPr>
            <p:sp>
              <p:nvSpPr>
                <p:cNvPr id="50251" name="Oval 26"/>
                <p:cNvSpPr>
                  <a:spLocks noChangeArrowheads="1"/>
                </p:cNvSpPr>
                <p:nvPr/>
              </p:nvSpPr>
              <p:spPr bwMode="auto">
                <a:xfrm>
                  <a:off x="528" y="3349"/>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52" name="Text Box 27"/>
                <p:cNvSpPr txBox="1">
                  <a:spLocks noChangeArrowheads="1"/>
                </p:cNvSpPr>
                <p:nvPr/>
              </p:nvSpPr>
              <p:spPr bwMode="auto">
                <a:xfrm>
                  <a:off x="624" y="3400"/>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50253" name="Line 28"/>
                <p:cNvSpPr>
                  <a:spLocks noChangeShapeType="1"/>
                </p:cNvSpPr>
                <p:nvPr/>
              </p:nvSpPr>
              <p:spPr bwMode="auto">
                <a:xfrm flipH="1">
                  <a:off x="768" y="297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sp>
          <p:nvSpPr>
            <p:cNvPr id="50248" name="Text Box 29"/>
            <p:cNvSpPr txBox="1">
              <a:spLocks noChangeArrowheads="1"/>
            </p:cNvSpPr>
            <p:nvPr/>
          </p:nvSpPr>
          <p:spPr bwMode="auto">
            <a:xfrm>
              <a:off x="2448" y="331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3</a:t>
              </a:r>
            </a:p>
          </p:txBody>
        </p:sp>
      </p:grpSp>
      <p:grpSp>
        <p:nvGrpSpPr>
          <p:cNvPr id="342046" name="Group 30"/>
          <p:cNvGrpSpPr>
            <a:grpSpLocks/>
          </p:cNvGrpSpPr>
          <p:nvPr/>
        </p:nvGrpSpPr>
        <p:grpSpPr bwMode="auto">
          <a:xfrm>
            <a:off x="6096000" y="2590800"/>
            <a:ext cx="2362200" cy="1662113"/>
            <a:chOff x="3840" y="1632"/>
            <a:chExt cx="1488" cy="1047"/>
          </a:xfrm>
        </p:grpSpPr>
        <p:grpSp>
          <p:nvGrpSpPr>
            <p:cNvPr id="50235" name="Group 31"/>
            <p:cNvGrpSpPr>
              <a:grpSpLocks/>
            </p:cNvGrpSpPr>
            <p:nvPr/>
          </p:nvGrpSpPr>
          <p:grpSpPr bwMode="auto">
            <a:xfrm>
              <a:off x="3840" y="1632"/>
              <a:ext cx="1488" cy="971"/>
              <a:chOff x="3840" y="1632"/>
              <a:chExt cx="1488" cy="971"/>
            </a:xfrm>
          </p:grpSpPr>
          <p:grpSp>
            <p:nvGrpSpPr>
              <p:cNvPr id="50237" name="Group 32"/>
              <p:cNvGrpSpPr>
                <a:grpSpLocks/>
              </p:cNvGrpSpPr>
              <p:nvPr/>
            </p:nvGrpSpPr>
            <p:grpSpPr bwMode="auto">
              <a:xfrm>
                <a:off x="3840" y="1632"/>
                <a:ext cx="1392" cy="971"/>
                <a:chOff x="288" y="1045"/>
                <a:chExt cx="1392" cy="971"/>
              </a:xfrm>
            </p:grpSpPr>
            <p:sp>
              <p:nvSpPr>
                <p:cNvPr id="50242" name="Oval 33"/>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43" name="Oval 34"/>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44" name="Line 35"/>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245" name="Text Box 36"/>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0246" name="Text Box 37"/>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0238" name="Group 38"/>
              <p:cNvGrpSpPr>
                <a:grpSpLocks/>
              </p:cNvGrpSpPr>
              <p:nvPr/>
            </p:nvGrpSpPr>
            <p:grpSpPr bwMode="auto">
              <a:xfrm>
                <a:off x="4656" y="2016"/>
                <a:ext cx="672" cy="576"/>
                <a:chOff x="4272" y="2016"/>
                <a:chExt cx="912" cy="720"/>
              </a:xfrm>
            </p:grpSpPr>
            <p:sp>
              <p:nvSpPr>
                <p:cNvPr id="50239" name="Oval 39"/>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40" name="Text Box 40"/>
                <p:cNvSpPr txBox="1">
                  <a:spLocks noChangeArrowheads="1"/>
                </p:cNvSpPr>
                <p:nvPr/>
              </p:nvSpPr>
              <p:spPr bwMode="auto">
                <a:xfrm>
                  <a:off x="4704" y="2352"/>
                  <a:ext cx="48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3</a:t>
                  </a:r>
                </a:p>
              </p:txBody>
            </p:sp>
            <p:sp>
              <p:nvSpPr>
                <p:cNvPr id="50241" name="Line 41"/>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sp>
          <p:nvSpPr>
            <p:cNvPr id="50236" name="Text Box 42"/>
            <p:cNvSpPr txBox="1">
              <a:spLocks noChangeArrowheads="1"/>
            </p:cNvSpPr>
            <p:nvPr/>
          </p:nvSpPr>
          <p:spPr bwMode="auto">
            <a:xfrm>
              <a:off x="4320" y="244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4</a:t>
              </a:r>
            </a:p>
          </p:txBody>
        </p:sp>
      </p:grpSp>
      <p:grpSp>
        <p:nvGrpSpPr>
          <p:cNvPr id="342059" name="Group 43"/>
          <p:cNvGrpSpPr>
            <a:grpSpLocks/>
          </p:cNvGrpSpPr>
          <p:nvPr/>
        </p:nvGrpSpPr>
        <p:grpSpPr bwMode="auto">
          <a:xfrm>
            <a:off x="533400" y="4572000"/>
            <a:ext cx="3429000" cy="2286000"/>
            <a:chOff x="336" y="2880"/>
            <a:chExt cx="2160" cy="1440"/>
          </a:xfrm>
        </p:grpSpPr>
        <p:grpSp>
          <p:nvGrpSpPr>
            <p:cNvPr id="50217" name="Group 44"/>
            <p:cNvGrpSpPr>
              <a:grpSpLocks/>
            </p:cNvGrpSpPr>
            <p:nvPr/>
          </p:nvGrpSpPr>
          <p:grpSpPr bwMode="auto">
            <a:xfrm>
              <a:off x="336" y="2880"/>
              <a:ext cx="2160" cy="1440"/>
              <a:chOff x="240" y="2880"/>
              <a:chExt cx="2160" cy="1440"/>
            </a:xfrm>
          </p:grpSpPr>
          <p:grpSp>
            <p:nvGrpSpPr>
              <p:cNvPr id="50219" name="Group 45"/>
              <p:cNvGrpSpPr>
                <a:grpSpLocks/>
              </p:cNvGrpSpPr>
              <p:nvPr/>
            </p:nvGrpSpPr>
            <p:grpSpPr bwMode="auto">
              <a:xfrm>
                <a:off x="240" y="2880"/>
                <a:ext cx="1488" cy="971"/>
                <a:chOff x="3840" y="1632"/>
                <a:chExt cx="1488" cy="971"/>
              </a:xfrm>
            </p:grpSpPr>
            <p:grpSp>
              <p:nvGrpSpPr>
                <p:cNvPr id="50225" name="Group 46"/>
                <p:cNvGrpSpPr>
                  <a:grpSpLocks/>
                </p:cNvGrpSpPr>
                <p:nvPr/>
              </p:nvGrpSpPr>
              <p:grpSpPr bwMode="auto">
                <a:xfrm>
                  <a:off x="3840" y="1632"/>
                  <a:ext cx="1392" cy="971"/>
                  <a:chOff x="288" y="1045"/>
                  <a:chExt cx="1392" cy="971"/>
                </a:xfrm>
              </p:grpSpPr>
              <p:sp>
                <p:nvSpPr>
                  <p:cNvPr id="50230" name="Oval 47"/>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31" name="Oval 48"/>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32" name="Line 49"/>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233" name="Text Box 50"/>
                  <p:cNvSpPr txBox="1">
                    <a:spLocks noChangeArrowheads="1"/>
                  </p:cNvSpPr>
                  <p:nvPr/>
                </p:nvSpPr>
                <p:spPr bwMode="auto">
                  <a:xfrm>
                    <a:off x="912" y="1096"/>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0234" name="Text Box 51"/>
                  <p:cNvSpPr txBox="1">
                    <a:spLocks noChangeArrowheads="1"/>
                  </p:cNvSpPr>
                  <p:nvPr/>
                </p:nvSpPr>
                <p:spPr bwMode="auto">
                  <a:xfrm>
                    <a:off x="384" y="165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0226" name="Group 52"/>
                <p:cNvGrpSpPr>
                  <a:grpSpLocks/>
                </p:cNvGrpSpPr>
                <p:nvPr/>
              </p:nvGrpSpPr>
              <p:grpSpPr bwMode="auto">
                <a:xfrm>
                  <a:off x="4656" y="2016"/>
                  <a:ext cx="672" cy="576"/>
                  <a:chOff x="4272" y="2016"/>
                  <a:chExt cx="912" cy="720"/>
                </a:xfrm>
              </p:grpSpPr>
              <p:sp>
                <p:nvSpPr>
                  <p:cNvPr id="50227" name="Oval 53"/>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28" name="Text Box 54"/>
                  <p:cNvSpPr txBox="1">
                    <a:spLocks noChangeArrowheads="1"/>
                  </p:cNvSpPr>
                  <p:nvPr/>
                </p:nvSpPr>
                <p:spPr bwMode="auto">
                  <a:xfrm>
                    <a:off x="4704" y="2352"/>
                    <a:ext cx="48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3</a:t>
                    </a:r>
                  </a:p>
                </p:txBody>
              </p:sp>
              <p:sp>
                <p:nvSpPr>
                  <p:cNvPr id="50229" name="Line 55"/>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0220" name="Group 56"/>
              <p:cNvGrpSpPr>
                <a:grpSpLocks/>
              </p:cNvGrpSpPr>
              <p:nvPr/>
            </p:nvGrpSpPr>
            <p:grpSpPr bwMode="auto">
              <a:xfrm>
                <a:off x="1680" y="3809"/>
                <a:ext cx="720" cy="511"/>
                <a:chOff x="1056" y="1454"/>
                <a:chExt cx="720" cy="511"/>
              </a:xfrm>
            </p:grpSpPr>
            <p:sp>
              <p:nvSpPr>
                <p:cNvPr id="50221" name="Line 57"/>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0222" name="Group 58"/>
                <p:cNvGrpSpPr>
                  <a:grpSpLocks/>
                </p:cNvGrpSpPr>
                <p:nvPr/>
              </p:nvGrpSpPr>
              <p:grpSpPr bwMode="auto">
                <a:xfrm>
                  <a:off x="1152" y="1556"/>
                  <a:ext cx="624" cy="409"/>
                  <a:chOff x="1152" y="1556"/>
                  <a:chExt cx="624" cy="409"/>
                </a:xfrm>
              </p:grpSpPr>
              <p:sp>
                <p:nvSpPr>
                  <p:cNvPr id="50223" name="Oval 59"/>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24" name="Text Box 60"/>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grpSp>
          </p:grpSp>
        </p:grpSp>
        <p:sp>
          <p:nvSpPr>
            <p:cNvPr id="50218" name="Text Box 61"/>
            <p:cNvSpPr txBox="1">
              <a:spLocks noChangeArrowheads="1"/>
            </p:cNvSpPr>
            <p:nvPr/>
          </p:nvSpPr>
          <p:spPr bwMode="auto">
            <a:xfrm>
              <a:off x="816" y="37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5</a:t>
              </a:r>
            </a:p>
          </p:txBody>
        </p:sp>
      </p:grpSp>
      <p:grpSp>
        <p:nvGrpSpPr>
          <p:cNvPr id="342078" name="Group 62"/>
          <p:cNvGrpSpPr>
            <a:grpSpLocks/>
          </p:cNvGrpSpPr>
          <p:nvPr/>
        </p:nvGrpSpPr>
        <p:grpSpPr bwMode="auto">
          <a:xfrm>
            <a:off x="5257800" y="4648200"/>
            <a:ext cx="3581400" cy="2209800"/>
            <a:chOff x="3312" y="2928"/>
            <a:chExt cx="2256" cy="1392"/>
          </a:xfrm>
        </p:grpSpPr>
        <p:grpSp>
          <p:nvGrpSpPr>
            <p:cNvPr id="50194" name="Group 63"/>
            <p:cNvGrpSpPr>
              <a:grpSpLocks/>
            </p:cNvGrpSpPr>
            <p:nvPr/>
          </p:nvGrpSpPr>
          <p:grpSpPr bwMode="auto">
            <a:xfrm>
              <a:off x="3312" y="2928"/>
              <a:ext cx="2256" cy="1392"/>
              <a:chOff x="3312" y="2928"/>
              <a:chExt cx="2256" cy="1392"/>
            </a:xfrm>
          </p:grpSpPr>
          <p:grpSp>
            <p:nvGrpSpPr>
              <p:cNvPr id="50196" name="Group 64"/>
              <p:cNvGrpSpPr>
                <a:grpSpLocks/>
              </p:cNvGrpSpPr>
              <p:nvPr/>
            </p:nvGrpSpPr>
            <p:grpSpPr bwMode="auto">
              <a:xfrm>
                <a:off x="3312" y="2928"/>
                <a:ext cx="1824" cy="1104"/>
                <a:chOff x="240" y="2880"/>
                <a:chExt cx="2160" cy="1440"/>
              </a:xfrm>
            </p:grpSpPr>
            <p:grpSp>
              <p:nvGrpSpPr>
                <p:cNvPr id="50201" name="Group 65"/>
                <p:cNvGrpSpPr>
                  <a:grpSpLocks/>
                </p:cNvGrpSpPr>
                <p:nvPr/>
              </p:nvGrpSpPr>
              <p:grpSpPr bwMode="auto">
                <a:xfrm>
                  <a:off x="240" y="2880"/>
                  <a:ext cx="1489" cy="1028"/>
                  <a:chOff x="3840" y="1632"/>
                  <a:chExt cx="1489" cy="1028"/>
                </a:xfrm>
              </p:grpSpPr>
              <p:grpSp>
                <p:nvGrpSpPr>
                  <p:cNvPr id="50207" name="Group 66"/>
                  <p:cNvGrpSpPr>
                    <a:grpSpLocks/>
                  </p:cNvGrpSpPr>
                  <p:nvPr/>
                </p:nvGrpSpPr>
                <p:grpSpPr bwMode="auto">
                  <a:xfrm>
                    <a:off x="3840" y="1632"/>
                    <a:ext cx="1391" cy="971"/>
                    <a:chOff x="288" y="1045"/>
                    <a:chExt cx="1391" cy="971"/>
                  </a:xfrm>
                </p:grpSpPr>
                <p:sp>
                  <p:nvSpPr>
                    <p:cNvPr id="50212" name="Oval 67"/>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13" name="Oval 68"/>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14" name="Line 69"/>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215" name="Text Box 70"/>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0216" name="Text Box 71"/>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0208" name="Group 72"/>
                  <p:cNvGrpSpPr>
                    <a:grpSpLocks/>
                  </p:cNvGrpSpPr>
                  <p:nvPr/>
                </p:nvGrpSpPr>
                <p:grpSpPr bwMode="auto">
                  <a:xfrm>
                    <a:off x="4656" y="2016"/>
                    <a:ext cx="673" cy="644"/>
                    <a:chOff x="4272" y="2016"/>
                    <a:chExt cx="913" cy="805"/>
                  </a:xfrm>
                </p:grpSpPr>
                <p:sp>
                  <p:nvSpPr>
                    <p:cNvPr id="50209" name="Oval 73"/>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10" name="Text Box 74"/>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3</a:t>
                      </a:r>
                    </a:p>
                  </p:txBody>
                </p:sp>
                <p:sp>
                  <p:nvSpPr>
                    <p:cNvPr id="50211" name="Line 75"/>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0202" name="Group 76"/>
                <p:cNvGrpSpPr>
                  <a:grpSpLocks/>
                </p:cNvGrpSpPr>
                <p:nvPr/>
              </p:nvGrpSpPr>
              <p:grpSpPr bwMode="auto">
                <a:xfrm>
                  <a:off x="1680" y="3809"/>
                  <a:ext cx="720" cy="511"/>
                  <a:chOff x="1056" y="1454"/>
                  <a:chExt cx="720" cy="511"/>
                </a:xfrm>
              </p:grpSpPr>
              <p:sp>
                <p:nvSpPr>
                  <p:cNvPr id="50203" name="Line 77"/>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0204" name="Group 78"/>
                  <p:cNvGrpSpPr>
                    <a:grpSpLocks/>
                  </p:cNvGrpSpPr>
                  <p:nvPr/>
                </p:nvGrpSpPr>
                <p:grpSpPr bwMode="auto">
                  <a:xfrm>
                    <a:off x="1152" y="1556"/>
                    <a:ext cx="624" cy="409"/>
                    <a:chOff x="1152" y="1556"/>
                    <a:chExt cx="624" cy="409"/>
                  </a:xfrm>
                </p:grpSpPr>
                <p:sp>
                  <p:nvSpPr>
                    <p:cNvPr id="50205" name="Oval 79"/>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206" name="Text Box 80"/>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grpSp>
            </p:grpSp>
          </p:grpSp>
          <p:grpSp>
            <p:nvGrpSpPr>
              <p:cNvPr id="50197" name="Group 81"/>
              <p:cNvGrpSpPr>
                <a:grpSpLocks/>
              </p:cNvGrpSpPr>
              <p:nvPr/>
            </p:nvGrpSpPr>
            <p:grpSpPr bwMode="auto">
              <a:xfrm>
                <a:off x="4992" y="3808"/>
                <a:ext cx="576" cy="512"/>
                <a:chOff x="4272" y="2016"/>
                <a:chExt cx="912" cy="768"/>
              </a:xfrm>
            </p:grpSpPr>
            <p:sp>
              <p:nvSpPr>
                <p:cNvPr id="50198" name="Oval 82"/>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199" name="Text Box 83"/>
                <p:cNvSpPr txBox="1">
                  <a:spLocks noChangeArrowheads="1"/>
                </p:cNvSpPr>
                <p:nvPr/>
              </p:nvSpPr>
              <p:spPr bwMode="auto">
                <a:xfrm>
                  <a:off x="4704" y="2352"/>
                  <a:ext cx="480"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5</a:t>
                  </a:r>
                </a:p>
              </p:txBody>
            </p:sp>
            <p:sp>
              <p:nvSpPr>
                <p:cNvPr id="50200" name="Line 84"/>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sp>
          <p:nvSpPr>
            <p:cNvPr id="50195" name="Text Box 85"/>
            <p:cNvSpPr txBox="1">
              <a:spLocks noChangeArrowheads="1"/>
            </p:cNvSpPr>
            <p:nvPr/>
          </p:nvSpPr>
          <p:spPr bwMode="auto">
            <a:xfrm>
              <a:off x="3696" y="379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6</a:t>
              </a:r>
            </a:p>
          </p:txBody>
        </p:sp>
      </p:grpSp>
      <p:sp>
        <p:nvSpPr>
          <p:cNvPr id="50188" name="Line 86"/>
          <p:cNvSpPr>
            <a:spLocks noChangeShapeType="1"/>
          </p:cNvSpPr>
          <p:nvPr/>
        </p:nvSpPr>
        <p:spPr bwMode="auto">
          <a:xfrm>
            <a:off x="6172200" y="25908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189" name="Line 87"/>
          <p:cNvSpPr>
            <a:spLocks noChangeShapeType="1"/>
          </p:cNvSpPr>
          <p:nvPr/>
        </p:nvSpPr>
        <p:spPr bwMode="auto">
          <a:xfrm>
            <a:off x="7620000" y="54864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0190" name="Text Box 88"/>
          <p:cNvSpPr txBox="1">
            <a:spLocks noChangeArrowheads="1"/>
          </p:cNvSpPr>
          <p:nvPr/>
        </p:nvSpPr>
        <p:spPr bwMode="auto">
          <a:xfrm>
            <a:off x="5638800" y="2057400"/>
            <a:ext cx="180816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Single rotation</a:t>
            </a:r>
          </a:p>
        </p:txBody>
      </p:sp>
      <p:sp>
        <p:nvSpPr>
          <p:cNvPr id="50191" name="Text Box 89"/>
          <p:cNvSpPr txBox="1">
            <a:spLocks noChangeArrowheads="1"/>
          </p:cNvSpPr>
          <p:nvPr/>
        </p:nvSpPr>
        <p:spPr bwMode="auto">
          <a:xfrm>
            <a:off x="7107238" y="4953000"/>
            <a:ext cx="1808162"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Single rotation</a:t>
            </a:r>
          </a:p>
        </p:txBody>
      </p:sp>
      <p:sp>
        <p:nvSpPr>
          <p:cNvPr id="50192" name="Oval 90"/>
          <p:cNvSpPr>
            <a:spLocks noChangeArrowheads="1"/>
          </p:cNvSpPr>
          <p:nvPr/>
        </p:nvSpPr>
        <p:spPr bwMode="auto">
          <a:xfrm>
            <a:off x="5257800" y="2514600"/>
            <a:ext cx="609600" cy="6096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0193" name="Oval 91"/>
          <p:cNvSpPr>
            <a:spLocks noChangeArrowheads="1"/>
          </p:cNvSpPr>
          <p:nvPr/>
        </p:nvSpPr>
        <p:spPr bwMode="auto">
          <a:xfrm>
            <a:off x="6781800" y="5410200"/>
            <a:ext cx="4572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20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20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20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20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205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42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343042" name="Group 2"/>
          <p:cNvGrpSpPr>
            <a:grpSpLocks/>
          </p:cNvGrpSpPr>
          <p:nvPr/>
        </p:nvGrpSpPr>
        <p:grpSpPr bwMode="auto">
          <a:xfrm>
            <a:off x="304800" y="304800"/>
            <a:ext cx="2971800" cy="2195513"/>
            <a:chOff x="192" y="192"/>
            <a:chExt cx="1872" cy="1383"/>
          </a:xfrm>
        </p:grpSpPr>
        <p:grpSp>
          <p:nvGrpSpPr>
            <p:cNvPr id="51337" name="Group 3"/>
            <p:cNvGrpSpPr>
              <a:grpSpLocks/>
            </p:cNvGrpSpPr>
            <p:nvPr/>
          </p:nvGrpSpPr>
          <p:grpSpPr bwMode="auto">
            <a:xfrm>
              <a:off x="192" y="192"/>
              <a:ext cx="1824" cy="1186"/>
              <a:chOff x="192" y="192"/>
              <a:chExt cx="1824" cy="1186"/>
            </a:xfrm>
          </p:grpSpPr>
          <p:grpSp>
            <p:nvGrpSpPr>
              <p:cNvPr id="51339" name="Group 4"/>
              <p:cNvGrpSpPr>
                <a:grpSpLocks/>
              </p:cNvGrpSpPr>
              <p:nvPr/>
            </p:nvGrpSpPr>
            <p:grpSpPr bwMode="auto">
              <a:xfrm>
                <a:off x="192" y="192"/>
                <a:ext cx="1824" cy="1104"/>
                <a:chOff x="240" y="2880"/>
                <a:chExt cx="2160" cy="1440"/>
              </a:xfrm>
            </p:grpSpPr>
            <p:grpSp>
              <p:nvGrpSpPr>
                <p:cNvPr id="51344" name="Group 5"/>
                <p:cNvGrpSpPr>
                  <a:grpSpLocks/>
                </p:cNvGrpSpPr>
                <p:nvPr/>
              </p:nvGrpSpPr>
              <p:grpSpPr bwMode="auto">
                <a:xfrm>
                  <a:off x="240" y="2880"/>
                  <a:ext cx="1489" cy="1028"/>
                  <a:chOff x="3840" y="1632"/>
                  <a:chExt cx="1489" cy="1028"/>
                </a:xfrm>
              </p:grpSpPr>
              <p:grpSp>
                <p:nvGrpSpPr>
                  <p:cNvPr id="51350" name="Group 6"/>
                  <p:cNvGrpSpPr>
                    <a:grpSpLocks/>
                  </p:cNvGrpSpPr>
                  <p:nvPr/>
                </p:nvGrpSpPr>
                <p:grpSpPr bwMode="auto">
                  <a:xfrm>
                    <a:off x="3840" y="1632"/>
                    <a:ext cx="1391" cy="971"/>
                    <a:chOff x="288" y="1045"/>
                    <a:chExt cx="1391" cy="971"/>
                  </a:xfrm>
                </p:grpSpPr>
                <p:sp>
                  <p:nvSpPr>
                    <p:cNvPr id="51355" name="Oval 7"/>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56" name="Oval 8"/>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57" name="Line 9"/>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358" name="Text Box 10"/>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1359" name="Text Box 11"/>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1351" name="Group 12"/>
                  <p:cNvGrpSpPr>
                    <a:grpSpLocks/>
                  </p:cNvGrpSpPr>
                  <p:nvPr/>
                </p:nvGrpSpPr>
                <p:grpSpPr bwMode="auto">
                  <a:xfrm>
                    <a:off x="4656" y="2016"/>
                    <a:ext cx="673" cy="644"/>
                    <a:chOff x="4272" y="2016"/>
                    <a:chExt cx="913" cy="805"/>
                  </a:xfrm>
                </p:grpSpPr>
                <p:sp>
                  <p:nvSpPr>
                    <p:cNvPr id="51352" name="Oval 13"/>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53" name="Text Box 14"/>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4</a:t>
                      </a:r>
                    </a:p>
                  </p:txBody>
                </p:sp>
                <p:sp>
                  <p:nvSpPr>
                    <p:cNvPr id="51354" name="Line 15"/>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1345" name="Group 16"/>
                <p:cNvGrpSpPr>
                  <a:grpSpLocks/>
                </p:cNvGrpSpPr>
                <p:nvPr/>
              </p:nvGrpSpPr>
              <p:grpSpPr bwMode="auto">
                <a:xfrm>
                  <a:off x="1680" y="3809"/>
                  <a:ext cx="720" cy="511"/>
                  <a:chOff x="1056" y="1454"/>
                  <a:chExt cx="720" cy="511"/>
                </a:xfrm>
              </p:grpSpPr>
              <p:sp>
                <p:nvSpPr>
                  <p:cNvPr id="51346" name="Line 17"/>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347" name="Group 18"/>
                  <p:cNvGrpSpPr>
                    <a:grpSpLocks/>
                  </p:cNvGrpSpPr>
                  <p:nvPr/>
                </p:nvGrpSpPr>
                <p:grpSpPr bwMode="auto">
                  <a:xfrm>
                    <a:off x="1152" y="1556"/>
                    <a:ext cx="624" cy="409"/>
                    <a:chOff x="1152" y="1556"/>
                    <a:chExt cx="624" cy="409"/>
                  </a:xfrm>
                </p:grpSpPr>
                <p:sp>
                  <p:nvSpPr>
                    <p:cNvPr id="51348" name="Oval 19"/>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49" name="Text Box 20"/>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grpSp>
          </p:grpSp>
          <p:grpSp>
            <p:nvGrpSpPr>
              <p:cNvPr id="51340" name="Group 21"/>
              <p:cNvGrpSpPr>
                <a:grpSpLocks/>
              </p:cNvGrpSpPr>
              <p:nvPr/>
            </p:nvGrpSpPr>
            <p:grpSpPr bwMode="auto">
              <a:xfrm>
                <a:off x="720" y="864"/>
                <a:ext cx="432" cy="514"/>
                <a:chOff x="0" y="3758"/>
                <a:chExt cx="672" cy="562"/>
              </a:xfrm>
            </p:grpSpPr>
            <p:sp>
              <p:nvSpPr>
                <p:cNvPr id="51341" name="Oval 22"/>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42" name="Line 23"/>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343" name="Text Box 24"/>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sp>
          <p:nvSpPr>
            <p:cNvPr id="51338" name="Text Box 25"/>
            <p:cNvSpPr txBox="1">
              <a:spLocks noChangeArrowheads="1"/>
            </p:cNvSpPr>
            <p:nvPr/>
          </p:nvSpPr>
          <p:spPr bwMode="auto">
            <a:xfrm>
              <a:off x="1344" y="1344"/>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7</a:t>
              </a:r>
            </a:p>
          </p:txBody>
        </p:sp>
      </p:grpSp>
      <p:grpSp>
        <p:nvGrpSpPr>
          <p:cNvPr id="343066" name="Group 26"/>
          <p:cNvGrpSpPr>
            <a:grpSpLocks/>
          </p:cNvGrpSpPr>
          <p:nvPr/>
        </p:nvGrpSpPr>
        <p:grpSpPr bwMode="auto">
          <a:xfrm>
            <a:off x="3581400" y="152400"/>
            <a:ext cx="3200400" cy="2454275"/>
            <a:chOff x="2256" y="96"/>
            <a:chExt cx="2016" cy="1546"/>
          </a:xfrm>
        </p:grpSpPr>
        <p:grpSp>
          <p:nvGrpSpPr>
            <p:cNvPr id="51309" name="Group 27"/>
            <p:cNvGrpSpPr>
              <a:grpSpLocks/>
            </p:cNvGrpSpPr>
            <p:nvPr/>
          </p:nvGrpSpPr>
          <p:grpSpPr bwMode="auto">
            <a:xfrm>
              <a:off x="2256" y="96"/>
              <a:ext cx="2016" cy="1546"/>
              <a:chOff x="2256" y="96"/>
              <a:chExt cx="2016" cy="1546"/>
            </a:xfrm>
          </p:grpSpPr>
          <p:grpSp>
            <p:nvGrpSpPr>
              <p:cNvPr id="51311" name="Group 28"/>
              <p:cNvGrpSpPr>
                <a:grpSpLocks/>
              </p:cNvGrpSpPr>
              <p:nvPr/>
            </p:nvGrpSpPr>
            <p:grpSpPr bwMode="auto">
              <a:xfrm>
                <a:off x="3840" y="1152"/>
                <a:ext cx="432" cy="490"/>
                <a:chOff x="4272" y="2016"/>
                <a:chExt cx="912" cy="814"/>
              </a:xfrm>
            </p:grpSpPr>
            <p:sp>
              <p:nvSpPr>
                <p:cNvPr id="51334" name="Oval 29"/>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35" name="Text Box 30"/>
                <p:cNvSpPr txBox="1">
                  <a:spLocks noChangeArrowheads="1"/>
                </p:cNvSpPr>
                <p:nvPr/>
              </p:nvSpPr>
              <p:spPr bwMode="auto">
                <a:xfrm>
                  <a:off x="4705" y="2352"/>
                  <a:ext cx="479" cy="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1336" name="Line 31"/>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51312" name="Group 32"/>
              <p:cNvGrpSpPr>
                <a:grpSpLocks/>
              </p:cNvGrpSpPr>
              <p:nvPr/>
            </p:nvGrpSpPr>
            <p:grpSpPr bwMode="auto">
              <a:xfrm>
                <a:off x="2256" y="96"/>
                <a:ext cx="1824" cy="1186"/>
                <a:chOff x="192" y="192"/>
                <a:chExt cx="1824" cy="1186"/>
              </a:xfrm>
            </p:grpSpPr>
            <p:grpSp>
              <p:nvGrpSpPr>
                <p:cNvPr id="51313" name="Group 33"/>
                <p:cNvGrpSpPr>
                  <a:grpSpLocks/>
                </p:cNvGrpSpPr>
                <p:nvPr/>
              </p:nvGrpSpPr>
              <p:grpSpPr bwMode="auto">
                <a:xfrm>
                  <a:off x="192" y="192"/>
                  <a:ext cx="1824" cy="1104"/>
                  <a:chOff x="240" y="2880"/>
                  <a:chExt cx="2160" cy="1440"/>
                </a:xfrm>
              </p:grpSpPr>
              <p:grpSp>
                <p:nvGrpSpPr>
                  <p:cNvPr id="51318" name="Group 34"/>
                  <p:cNvGrpSpPr>
                    <a:grpSpLocks/>
                  </p:cNvGrpSpPr>
                  <p:nvPr/>
                </p:nvGrpSpPr>
                <p:grpSpPr bwMode="auto">
                  <a:xfrm>
                    <a:off x="240" y="2880"/>
                    <a:ext cx="1489" cy="1028"/>
                    <a:chOff x="3840" y="1632"/>
                    <a:chExt cx="1489" cy="1028"/>
                  </a:xfrm>
                </p:grpSpPr>
                <p:grpSp>
                  <p:nvGrpSpPr>
                    <p:cNvPr id="51324" name="Group 35"/>
                    <p:cNvGrpSpPr>
                      <a:grpSpLocks/>
                    </p:cNvGrpSpPr>
                    <p:nvPr/>
                  </p:nvGrpSpPr>
                  <p:grpSpPr bwMode="auto">
                    <a:xfrm>
                      <a:off x="3840" y="1632"/>
                      <a:ext cx="1391" cy="971"/>
                      <a:chOff x="288" y="1045"/>
                      <a:chExt cx="1391" cy="971"/>
                    </a:xfrm>
                  </p:grpSpPr>
                  <p:sp>
                    <p:nvSpPr>
                      <p:cNvPr id="51329" name="Oval 36"/>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30" name="Oval 37"/>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31" name="Line 38"/>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332" name="Text Box 39"/>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1333" name="Text Box 40"/>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1325" name="Group 41"/>
                    <p:cNvGrpSpPr>
                      <a:grpSpLocks/>
                    </p:cNvGrpSpPr>
                    <p:nvPr/>
                  </p:nvGrpSpPr>
                  <p:grpSpPr bwMode="auto">
                    <a:xfrm>
                      <a:off x="4656" y="2016"/>
                      <a:ext cx="673" cy="644"/>
                      <a:chOff x="4272" y="2016"/>
                      <a:chExt cx="913" cy="805"/>
                    </a:xfrm>
                  </p:grpSpPr>
                  <p:sp>
                    <p:nvSpPr>
                      <p:cNvPr id="51326" name="Oval 42"/>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27" name="Text Box 43"/>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4</a:t>
                        </a:r>
                      </a:p>
                    </p:txBody>
                  </p:sp>
                  <p:sp>
                    <p:nvSpPr>
                      <p:cNvPr id="51328" name="Line 44"/>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1319" name="Group 45"/>
                  <p:cNvGrpSpPr>
                    <a:grpSpLocks/>
                  </p:cNvGrpSpPr>
                  <p:nvPr/>
                </p:nvGrpSpPr>
                <p:grpSpPr bwMode="auto">
                  <a:xfrm>
                    <a:off x="1680" y="3809"/>
                    <a:ext cx="720" cy="511"/>
                    <a:chOff x="1056" y="1454"/>
                    <a:chExt cx="720" cy="511"/>
                  </a:xfrm>
                </p:grpSpPr>
                <p:sp>
                  <p:nvSpPr>
                    <p:cNvPr id="51320" name="Line 4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321" name="Group 47"/>
                    <p:cNvGrpSpPr>
                      <a:grpSpLocks/>
                    </p:cNvGrpSpPr>
                    <p:nvPr/>
                  </p:nvGrpSpPr>
                  <p:grpSpPr bwMode="auto">
                    <a:xfrm>
                      <a:off x="1152" y="1556"/>
                      <a:ext cx="624" cy="409"/>
                      <a:chOff x="1152" y="1556"/>
                      <a:chExt cx="624" cy="409"/>
                    </a:xfrm>
                  </p:grpSpPr>
                  <p:sp>
                    <p:nvSpPr>
                      <p:cNvPr id="51322" name="Oval 4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23" name="Text Box 49"/>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grpSp>
            </p:grpSp>
            <p:grpSp>
              <p:nvGrpSpPr>
                <p:cNvPr id="51314" name="Group 50"/>
                <p:cNvGrpSpPr>
                  <a:grpSpLocks/>
                </p:cNvGrpSpPr>
                <p:nvPr/>
              </p:nvGrpSpPr>
              <p:grpSpPr bwMode="auto">
                <a:xfrm>
                  <a:off x="720" y="864"/>
                  <a:ext cx="432" cy="514"/>
                  <a:chOff x="0" y="3758"/>
                  <a:chExt cx="672" cy="562"/>
                </a:xfrm>
              </p:grpSpPr>
              <p:sp>
                <p:nvSpPr>
                  <p:cNvPr id="51315" name="Oval 51"/>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16" name="Line 52"/>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317" name="Text Box 53"/>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1310" name="Text Box 54"/>
            <p:cNvSpPr txBox="1">
              <a:spLocks noChangeArrowheads="1"/>
            </p:cNvSpPr>
            <p:nvPr/>
          </p:nvSpPr>
          <p:spPr bwMode="auto">
            <a:xfrm>
              <a:off x="2976" y="124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8</a:t>
              </a:r>
            </a:p>
          </p:txBody>
        </p:sp>
      </p:grpSp>
      <p:grpSp>
        <p:nvGrpSpPr>
          <p:cNvPr id="343095" name="Group 55"/>
          <p:cNvGrpSpPr>
            <a:grpSpLocks/>
          </p:cNvGrpSpPr>
          <p:nvPr/>
        </p:nvGrpSpPr>
        <p:grpSpPr bwMode="auto">
          <a:xfrm>
            <a:off x="0" y="2590800"/>
            <a:ext cx="3352800" cy="2424113"/>
            <a:chOff x="0" y="1632"/>
            <a:chExt cx="2112" cy="1527"/>
          </a:xfrm>
        </p:grpSpPr>
        <p:grpSp>
          <p:nvGrpSpPr>
            <p:cNvPr id="51281" name="Group 56"/>
            <p:cNvGrpSpPr>
              <a:grpSpLocks/>
            </p:cNvGrpSpPr>
            <p:nvPr/>
          </p:nvGrpSpPr>
          <p:grpSpPr bwMode="auto">
            <a:xfrm>
              <a:off x="0" y="1632"/>
              <a:ext cx="2112" cy="1234"/>
              <a:chOff x="0" y="1632"/>
              <a:chExt cx="2112" cy="1234"/>
            </a:xfrm>
          </p:grpSpPr>
          <p:grpSp>
            <p:nvGrpSpPr>
              <p:cNvPr id="51283" name="Group 57"/>
              <p:cNvGrpSpPr>
                <a:grpSpLocks/>
              </p:cNvGrpSpPr>
              <p:nvPr/>
            </p:nvGrpSpPr>
            <p:grpSpPr bwMode="auto">
              <a:xfrm>
                <a:off x="288" y="1632"/>
                <a:ext cx="1824" cy="1104"/>
                <a:chOff x="240" y="2880"/>
                <a:chExt cx="2160" cy="1440"/>
              </a:xfrm>
            </p:grpSpPr>
            <p:grpSp>
              <p:nvGrpSpPr>
                <p:cNvPr id="51293" name="Group 58"/>
                <p:cNvGrpSpPr>
                  <a:grpSpLocks/>
                </p:cNvGrpSpPr>
                <p:nvPr/>
              </p:nvGrpSpPr>
              <p:grpSpPr bwMode="auto">
                <a:xfrm>
                  <a:off x="240" y="2880"/>
                  <a:ext cx="1489" cy="1028"/>
                  <a:chOff x="3840" y="1632"/>
                  <a:chExt cx="1489" cy="1028"/>
                </a:xfrm>
              </p:grpSpPr>
              <p:grpSp>
                <p:nvGrpSpPr>
                  <p:cNvPr id="51299" name="Group 59"/>
                  <p:cNvGrpSpPr>
                    <a:grpSpLocks/>
                  </p:cNvGrpSpPr>
                  <p:nvPr/>
                </p:nvGrpSpPr>
                <p:grpSpPr bwMode="auto">
                  <a:xfrm>
                    <a:off x="3840" y="1632"/>
                    <a:ext cx="1391" cy="971"/>
                    <a:chOff x="288" y="1045"/>
                    <a:chExt cx="1391" cy="971"/>
                  </a:xfrm>
                </p:grpSpPr>
                <p:sp>
                  <p:nvSpPr>
                    <p:cNvPr id="51304" name="Oval 60"/>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05" name="Oval 61"/>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06" name="Line 62"/>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307" name="Text Box 63"/>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1308" name="Text Box 64"/>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1300" name="Group 65"/>
                  <p:cNvGrpSpPr>
                    <a:grpSpLocks/>
                  </p:cNvGrpSpPr>
                  <p:nvPr/>
                </p:nvGrpSpPr>
                <p:grpSpPr bwMode="auto">
                  <a:xfrm>
                    <a:off x="4656" y="2016"/>
                    <a:ext cx="673" cy="644"/>
                    <a:chOff x="4272" y="2016"/>
                    <a:chExt cx="913" cy="805"/>
                  </a:xfrm>
                </p:grpSpPr>
                <p:sp>
                  <p:nvSpPr>
                    <p:cNvPr id="51301" name="Oval 66"/>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302" name="Text Box 67"/>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5</a:t>
                      </a:r>
                    </a:p>
                  </p:txBody>
                </p:sp>
                <p:sp>
                  <p:nvSpPr>
                    <p:cNvPr id="51303" name="Line 68"/>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1294" name="Group 69"/>
                <p:cNvGrpSpPr>
                  <a:grpSpLocks/>
                </p:cNvGrpSpPr>
                <p:nvPr/>
              </p:nvGrpSpPr>
              <p:grpSpPr bwMode="auto">
                <a:xfrm>
                  <a:off x="1680" y="3809"/>
                  <a:ext cx="720" cy="511"/>
                  <a:chOff x="1056" y="1454"/>
                  <a:chExt cx="720" cy="511"/>
                </a:xfrm>
              </p:grpSpPr>
              <p:sp>
                <p:nvSpPr>
                  <p:cNvPr id="51295" name="Line 70"/>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96" name="Group 71"/>
                  <p:cNvGrpSpPr>
                    <a:grpSpLocks/>
                  </p:cNvGrpSpPr>
                  <p:nvPr/>
                </p:nvGrpSpPr>
                <p:grpSpPr bwMode="auto">
                  <a:xfrm>
                    <a:off x="1152" y="1556"/>
                    <a:ext cx="624" cy="409"/>
                    <a:chOff x="1152" y="1556"/>
                    <a:chExt cx="624" cy="409"/>
                  </a:xfrm>
                </p:grpSpPr>
                <p:sp>
                  <p:nvSpPr>
                    <p:cNvPr id="51297" name="Oval 72"/>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98" name="Text Box 73"/>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6</a:t>
                      </a:r>
                    </a:p>
                  </p:txBody>
                </p:sp>
              </p:grpSp>
            </p:grpSp>
          </p:grpSp>
          <p:grpSp>
            <p:nvGrpSpPr>
              <p:cNvPr id="51284" name="Group 74"/>
              <p:cNvGrpSpPr>
                <a:grpSpLocks/>
              </p:cNvGrpSpPr>
              <p:nvPr/>
            </p:nvGrpSpPr>
            <p:grpSpPr bwMode="auto">
              <a:xfrm>
                <a:off x="0" y="2352"/>
                <a:ext cx="432" cy="514"/>
                <a:chOff x="0" y="3758"/>
                <a:chExt cx="672" cy="562"/>
              </a:xfrm>
            </p:grpSpPr>
            <p:sp>
              <p:nvSpPr>
                <p:cNvPr id="51290" name="Oval 75"/>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91" name="Line 76"/>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92" name="Text Box 77"/>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1285" name="Group 78"/>
              <p:cNvGrpSpPr>
                <a:grpSpLocks/>
              </p:cNvGrpSpPr>
              <p:nvPr/>
            </p:nvGrpSpPr>
            <p:grpSpPr bwMode="auto">
              <a:xfrm>
                <a:off x="576" y="2352"/>
                <a:ext cx="720" cy="511"/>
                <a:chOff x="1056" y="1454"/>
                <a:chExt cx="720" cy="511"/>
              </a:xfrm>
            </p:grpSpPr>
            <p:sp>
              <p:nvSpPr>
                <p:cNvPr id="51286" name="Line 79"/>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87" name="Group 80"/>
                <p:cNvGrpSpPr>
                  <a:grpSpLocks/>
                </p:cNvGrpSpPr>
                <p:nvPr/>
              </p:nvGrpSpPr>
              <p:grpSpPr bwMode="auto">
                <a:xfrm>
                  <a:off x="1152" y="1556"/>
                  <a:ext cx="624" cy="409"/>
                  <a:chOff x="1152" y="1556"/>
                  <a:chExt cx="624" cy="409"/>
                </a:xfrm>
              </p:grpSpPr>
              <p:sp>
                <p:nvSpPr>
                  <p:cNvPr id="51288" name="Oval 81"/>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89" name="Text Box 82"/>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1282" name="Text Box 83"/>
            <p:cNvSpPr txBox="1">
              <a:spLocks noChangeArrowheads="1"/>
            </p:cNvSpPr>
            <p:nvPr/>
          </p:nvSpPr>
          <p:spPr bwMode="auto">
            <a:xfrm>
              <a:off x="720" y="29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9</a:t>
              </a:r>
            </a:p>
          </p:txBody>
        </p:sp>
      </p:grpSp>
      <p:grpSp>
        <p:nvGrpSpPr>
          <p:cNvPr id="343124" name="Group 84"/>
          <p:cNvGrpSpPr>
            <a:grpSpLocks/>
          </p:cNvGrpSpPr>
          <p:nvPr/>
        </p:nvGrpSpPr>
        <p:grpSpPr bwMode="auto">
          <a:xfrm>
            <a:off x="4724400" y="2590800"/>
            <a:ext cx="3962400" cy="2563813"/>
            <a:chOff x="2976" y="1632"/>
            <a:chExt cx="2496" cy="1615"/>
          </a:xfrm>
        </p:grpSpPr>
        <p:grpSp>
          <p:nvGrpSpPr>
            <p:cNvPr id="51247" name="Group 85"/>
            <p:cNvGrpSpPr>
              <a:grpSpLocks/>
            </p:cNvGrpSpPr>
            <p:nvPr/>
          </p:nvGrpSpPr>
          <p:grpSpPr bwMode="auto">
            <a:xfrm>
              <a:off x="2976" y="1632"/>
              <a:ext cx="2496" cy="1615"/>
              <a:chOff x="2400" y="1776"/>
              <a:chExt cx="2496" cy="1615"/>
            </a:xfrm>
          </p:grpSpPr>
          <p:grpSp>
            <p:nvGrpSpPr>
              <p:cNvPr id="51249" name="Group 86"/>
              <p:cNvGrpSpPr>
                <a:grpSpLocks/>
              </p:cNvGrpSpPr>
              <p:nvPr/>
            </p:nvGrpSpPr>
            <p:grpSpPr bwMode="auto">
              <a:xfrm>
                <a:off x="2400" y="1776"/>
                <a:ext cx="2112" cy="1234"/>
                <a:chOff x="0" y="1632"/>
                <a:chExt cx="2112" cy="1234"/>
              </a:xfrm>
            </p:grpSpPr>
            <p:grpSp>
              <p:nvGrpSpPr>
                <p:cNvPr id="51255" name="Group 87"/>
                <p:cNvGrpSpPr>
                  <a:grpSpLocks/>
                </p:cNvGrpSpPr>
                <p:nvPr/>
              </p:nvGrpSpPr>
              <p:grpSpPr bwMode="auto">
                <a:xfrm>
                  <a:off x="288" y="1632"/>
                  <a:ext cx="1824" cy="1104"/>
                  <a:chOff x="240" y="2880"/>
                  <a:chExt cx="2160" cy="1440"/>
                </a:xfrm>
              </p:grpSpPr>
              <p:grpSp>
                <p:nvGrpSpPr>
                  <p:cNvPr id="51265" name="Group 88"/>
                  <p:cNvGrpSpPr>
                    <a:grpSpLocks/>
                  </p:cNvGrpSpPr>
                  <p:nvPr/>
                </p:nvGrpSpPr>
                <p:grpSpPr bwMode="auto">
                  <a:xfrm>
                    <a:off x="240" y="2880"/>
                    <a:ext cx="1489" cy="1028"/>
                    <a:chOff x="3840" y="1632"/>
                    <a:chExt cx="1489" cy="1028"/>
                  </a:xfrm>
                </p:grpSpPr>
                <p:grpSp>
                  <p:nvGrpSpPr>
                    <p:cNvPr id="51271" name="Group 89"/>
                    <p:cNvGrpSpPr>
                      <a:grpSpLocks/>
                    </p:cNvGrpSpPr>
                    <p:nvPr/>
                  </p:nvGrpSpPr>
                  <p:grpSpPr bwMode="auto">
                    <a:xfrm>
                      <a:off x="3840" y="1632"/>
                      <a:ext cx="1391" cy="971"/>
                      <a:chOff x="288" y="1045"/>
                      <a:chExt cx="1391" cy="971"/>
                    </a:xfrm>
                  </p:grpSpPr>
                  <p:sp>
                    <p:nvSpPr>
                      <p:cNvPr id="51276" name="Oval 90"/>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77" name="Oval 91"/>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78" name="Line 92"/>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79" name="Text Box 93"/>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1280" name="Text Box 94"/>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1272" name="Group 95"/>
                    <p:cNvGrpSpPr>
                      <a:grpSpLocks/>
                    </p:cNvGrpSpPr>
                    <p:nvPr/>
                  </p:nvGrpSpPr>
                  <p:grpSpPr bwMode="auto">
                    <a:xfrm>
                      <a:off x="4656" y="2016"/>
                      <a:ext cx="673" cy="644"/>
                      <a:chOff x="4272" y="2016"/>
                      <a:chExt cx="913" cy="805"/>
                    </a:xfrm>
                  </p:grpSpPr>
                  <p:sp>
                    <p:nvSpPr>
                      <p:cNvPr id="51273" name="Oval 96"/>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74" name="Text Box 97"/>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5</a:t>
                        </a:r>
                      </a:p>
                    </p:txBody>
                  </p:sp>
                  <p:sp>
                    <p:nvSpPr>
                      <p:cNvPr id="51275" name="Line 98"/>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1266" name="Group 99"/>
                  <p:cNvGrpSpPr>
                    <a:grpSpLocks/>
                  </p:cNvGrpSpPr>
                  <p:nvPr/>
                </p:nvGrpSpPr>
                <p:grpSpPr bwMode="auto">
                  <a:xfrm>
                    <a:off x="1680" y="3809"/>
                    <a:ext cx="720" cy="511"/>
                    <a:chOff x="1056" y="1454"/>
                    <a:chExt cx="720" cy="511"/>
                  </a:xfrm>
                </p:grpSpPr>
                <p:sp>
                  <p:nvSpPr>
                    <p:cNvPr id="51267" name="Line 100"/>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68" name="Group 101"/>
                    <p:cNvGrpSpPr>
                      <a:grpSpLocks/>
                    </p:cNvGrpSpPr>
                    <p:nvPr/>
                  </p:nvGrpSpPr>
                  <p:grpSpPr bwMode="auto">
                    <a:xfrm>
                      <a:off x="1152" y="1556"/>
                      <a:ext cx="624" cy="409"/>
                      <a:chOff x="1152" y="1556"/>
                      <a:chExt cx="624" cy="409"/>
                    </a:xfrm>
                  </p:grpSpPr>
                  <p:sp>
                    <p:nvSpPr>
                      <p:cNvPr id="51269" name="Oval 102"/>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70" name="Text Box 103"/>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6</a:t>
                        </a:r>
                      </a:p>
                    </p:txBody>
                  </p:sp>
                </p:grpSp>
              </p:grpSp>
            </p:grpSp>
            <p:grpSp>
              <p:nvGrpSpPr>
                <p:cNvPr id="51256" name="Group 104"/>
                <p:cNvGrpSpPr>
                  <a:grpSpLocks/>
                </p:cNvGrpSpPr>
                <p:nvPr/>
              </p:nvGrpSpPr>
              <p:grpSpPr bwMode="auto">
                <a:xfrm>
                  <a:off x="0" y="2352"/>
                  <a:ext cx="432" cy="514"/>
                  <a:chOff x="0" y="3758"/>
                  <a:chExt cx="672" cy="562"/>
                </a:xfrm>
              </p:grpSpPr>
              <p:sp>
                <p:nvSpPr>
                  <p:cNvPr id="51262" name="Oval 105"/>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63" name="Line 106"/>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64" name="Text Box 107"/>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1257" name="Group 108"/>
                <p:cNvGrpSpPr>
                  <a:grpSpLocks/>
                </p:cNvGrpSpPr>
                <p:nvPr/>
              </p:nvGrpSpPr>
              <p:grpSpPr bwMode="auto">
                <a:xfrm>
                  <a:off x="576" y="2352"/>
                  <a:ext cx="720" cy="511"/>
                  <a:chOff x="1056" y="1454"/>
                  <a:chExt cx="720" cy="511"/>
                </a:xfrm>
              </p:grpSpPr>
              <p:sp>
                <p:nvSpPr>
                  <p:cNvPr id="51258" name="Line 109"/>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59" name="Group 110"/>
                  <p:cNvGrpSpPr>
                    <a:grpSpLocks/>
                  </p:cNvGrpSpPr>
                  <p:nvPr/>
                </p:nvGrpSpPr>
                <p:grpSpPr bwMode="auto">
                  <a:xfrm>
                    <a:off x="1152" y="1556"/>
                    <a:ext cx="624" cy="409"/>
                    <a:chOff x="1152" y="1556"/>
                    <a:chExt cx="624" cy="409"/>
                  </a:xfrm>
                </p:grpSpPr>
                <p:sp>
                  <p:nvSpPr>
                    <p:cNvPr id="51260" name="Oval 111"/>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61" name="Text Box 112"/>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grpSp>
            <p:nvGrpSpPr>
              <p:cNvPr id="51250" name="Group 113"/>
              <p:cNvGrpSpPr>
                <a:grpSpLocks/>
              </p:cNvGrpSpPr>
              <p:nvPr/>
            </p:nvGrpSpPr>
            <p:grpSpPr bwMode="auto">
              <a:xfrm>
                <a:off x="4176" y="2880"/>
                <a:ext cx="720" cy="511"/>
                <a:chOff x="1056" y="1454"/>
                <a:chExt cx="720" cy="511"/>
              </a:xfrm>
            </p:grpSpPr>
            <p:sp>
              <p:nvSpPr>
                <p:cNvPr id="51251" name="Line 114"/>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52" name="Group 115"/>
                <p:cNvGrpSpPr>
                  <a:grpSpLocks/>
                </p:cNvGrpSpPr>
                <p:nvPr/>
              </p:nvGrpSpPr>
              <p:grpSpPr bwMode="auto">
                <a:xfrm>
                  <a:off x="1152" y="1556"/>
                  <a:ext cx="624" cy="409"/>
                  <a:chOff x="1152" y="1556"/>
                  <a:chExt cx="624" cy="409"/>
                </a:xfrm>
              </p:grpSpPr>
              <p:sp>
                <p:nvSpPr>
                  <p:cNvPr id="51253" name="Oval 116"/>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54" name="Text Box 117"/>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grpSp>
          </p:grpSp>
        </p:grpSp>
        <p:sp>
          <p:nvSpPr>
            <p:cNvPr id="51248" name="Text Box 118"/>
            <p:cNvSpPr txBox="1">
              <a:spLocks noChangeArrowheads="1"/>
            </p:cNvSpPr>
            <p:nvPr/>
          </p:nvSpPr>
          <p:spPr bwMode="auto">
            <a:xfrm>
              <a:off x="3984" y="288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10</a:t>
              </a:r>
            </a:p>
          </p:txBody>
        </p:sp>
      </p:grpSp>
      <p:grpSp>
        <p:nvGrpSpPr>
          <p:cNvPr id="343159" name="Group 119"/>
          <p:cNvGrpSpPr>
            <a:grpSpLocks/>
          </p:cNvGrpSpPr>
          <p:nvPr/>
        </p:nvGrpSpPr>
        <p:grpSpPr bwMode="auto">
          <a:xfrm>
            <a:off x="2362200" y="4114800"/>
            <a:ext cx="3581400" cy="2438400"/>
            <a:chOff x="1488" y="2592"/>
            <a:chExt cx="2256" cy="1536"/>
          </a:xfrm>
        </p:grpSpPr>
        <p:grpSp>
          <p:nvGrpSpPr>
            <p:cNvPr id="51215" name="Group 120"/>
            <p:cNvGrpSpPr>
              <a:grpSpLocks/>
            </p:cNvGrpSpPr>
            <p:nvPr/>
          </p:nvGrpSpPr>
          <p:grpSpPr bwMode="auto">
            <a:xfrm>
              <a:off x="1488" y="2592"/>
              <a:ext cx="2112" cy="1536"/>
              <a:chOff x="1488" y="2592"/>
              <a:chExt cx="2112" cy="1536"/>
            </a:xfrm>
          </p:grpSpPr>
          <p:grpSp>
            <p:nvGrpSpPr>
              <p:cNvPr id="51217" name="Group 121"/>
              <p:cNvGrpSpPr>
                <a:grpSpLocks/>
              </p:cNvGrpSpPr>
              <p:nvPr/>
            </p:nvGrpSpPr>
            <p:grpSpPr bwMode="auto">
              <a:xfrm>
                <a:off x="1488" y="2592"/>
                <a:ext cx="2112" cy="1234"/>
                <a:chOff x="0" y="1632"/>
                <a:chExt cx="2112" cy="1234"/>
              </a:xfrm>
            </p:grpSpPr>
            <p:grpSp>
              <p:nvGrpSpPr>
                <p:cNvPr id="51221" name="Group 122"/>
                <p:cNvGrpSpPr>
                  <a:grpSpLocks/>
                </p:cNvGrpSpPr>
                <p:nvPr/>
              </p:nvGrpSpPr>
              <p:grpSpPr bwMode="auto">
                <a:xfrm>
                  <a:off x="288" y="1632"/>
                  <a:ext cx="1824" cy="1104"/>
                  <a:chOff x="240" y="2880"/>
                  <a:chExt cx="2160" cy="1440"/>
                </a:xfrm>
              </p:grpSpPr>
              <p:grpSp>
                <p:nvGrpSpPr>
                  <p:cNvPr id="51231" name="Group 123"/>
                  <p:cNvGrpSpPr>
                    <a:grpSpLocks/>
                  </p:cNvGrpSpPr>
                  <p:nvPr/>
                </p:nvGrpSpPr>
                <p:grpSpPr bwMode="auto">
                  <a:xfrm>
                    <a:off x="240" y="2880"/>
                    <a:ext cx="1489" cy="1028"/>
                    <a:chOff x="3840" y="1632"/>
                    <a:chExt cx="1489" cy="1028"/>
                  </a:xfrm>
                </p:grpSpPr>
                <p:grpSp>
                  <p:nvGrpSpPr>
                    <p:cNvPr id="51237" name="Group 124"/>
                    <p:cNvGrpSpPr>
                      <a:grpSpLocks/>
                    </p:cNvGrpSpPr>
                    <p:nvPr/>
                  </p:nvGrpSpPr>
                  <p:grpSpPr bwMode="auto">
                    <a:xfrm>
                      <a:off x="3840" y="1632"/>
                      <a:ext cx="1391" cy="971"/>
                      <a:chOff x="288" y="1045"/>
                      <a:chExt cx="1391" cy="971"/>
                    </a:xfrm>
                  </p:grpSpPr>
                  <p:sp>
                    <p:nvSpPr>
                      <p:cNvPr id="51242" name="Oval 125"/>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43" name="Oval 126"/>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44" name="Line 127"/>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45" name="Text Box 128"/>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1246" name="Text Box 129"/>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1238" name="Group 130"/>
                    <p:cNvGrpSpPr>
                      <a:grpSpLocks/>
                    </p:cNvGrpSpPr>
                    <p:nvPr/>
                  </p:nvGrpSpPr>
                  <p:grpSpPr bwMode="auto">
                    <a:xfrm>
                      <a:off x="4656" y="2016"/>
                      <a:ext cx="673" cy="644"/>
                      <a:chOff x="4272" y="2016"/>
                      <a:chExt cx="913" cy="805"/>
                    </a:xfrm>
                  </p:grpSpPr>
                  <p:sp>
                    <p:nvSpPr>
                      <p:cNvPr id="51239" name="Oval 131"/>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40" name="Text Box 132"/>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1241" name="Line 133"/>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1232" name="Group 134"/>
                  <p:cNvGrpSpPr>
                    <a:grpSpLocks/>
                  </p:cNvGrpSpPr>
                  <p:nvPr/>
                </p:nvGrpSpPr>
                <p:grpSpPr bwMode="auto">
                  <a:xfrm>
                    <a:off x="1680" y="3809"/>
                    <a:ext cx="720" cy="511"/>
                    <a:chOff x="1056" y="1454"/>
                    <a:chExt cx="720" cy="511"/>
                  </a:xfrm>
                </p:grpSpPr>
                <p:sp>
                  <p:nvSpPr>
                    <p:cNvPr id="51233" name="Line 135"/>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34" name="Group 136"/>
                    <p:cNvGrpSpPr>
                      <a:grpSpLocks/>
                    </p:cNvGrpSpPr>
                    <p:nvPr/>
                  </p:nvGrpSpPr>
                  <p:grpSpPr bwMode="auto">
                    <a:xfrm>
                      <a:off x="1152" y="1556"/>
                      <a:ext cx="624" cy="409"/>
                      <a:chOff x="1152" y="1556"/>
                      <a:chExt cx="624" cy="409"/>
                    </a:xfrm>
                  </p:grpSpPr>
                  <p:sp>
                    <p:nvSpPr>
                      <p:cNvPr id="51235" name="Oval 137"/>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36" name="Text Box 138"/>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grpSp>
              </p:grpSp>
            </p:grpSp>
            <p:grpSp>
              <p:nvGrpSpPr>
                <p:cNvPr id="51222" name="Group 139"/>
                <p:cNvGrpSpPr>
                  <a:grpSpLocks/>
                </p:cNvGrpSpPr>
                <p:nvPr/>
              </p:nvGrpSpPr>
              <p:grpSpPr bwMode="auto">
                <a:xfrm>
                  <a:off x="0" y="2352"/>
                  <a:ext cx="432" cy="514"/>
                  <a:chOff x="0" y="3758"/>
                  <a:chExt cx="672" cy="562"/>
                </a:xfrm>
              </p:grpSpPr>
              <p:sp>
                <p:nvSpPr>
                  <p:cNvPr id="51228" name="Oval 140"/>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29" name="Line 141"/>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30" name="Text Box 142"/>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1223" name="Group 143"/>
                <p:cNvGrpSpPr>
                  <a:grpSpLocks/>
                </p:cNvGrpSpPr>
                <p:nvPr/>
              </p:nvGrpSpPr>
              <p:grpSpPr bwMode="auto">
                <a:xfrm>
                  <a:off x="576" y="2352"/>
                  <a:ext cx="720" cy="511"/>
                  <a:chOff x="1056" y="1454"/>
                  <a:chExt cx="720" cy="511"/>
                </a:xfrm>
              </p:grpSpPr>
              <p:sp>
                <p:nvSpPr>
                  <p:cNvPr id="51224" name="Line 144"/>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1225" name="Group 145"/>
                  <p:cNvGrpSpPr>
                    <a:grpSpLocks/>
                  </p:cNvGrpSpPr>
                  <p:nvPr/>
                </p:nvGrpSpPr>
                <p:grpSpPr bwMode="auto">
                  <a:xfrm>
                    <a:off x="1152" y="1556"/>
                    <a:ext cx="624" cy="409"/>
                    <a:chOff x="1152" y="1556"/>
                    <a:chExt cx="624" cy="409"/>
                  </a:xfrm>
                </p:grpSpPr>
                <p:sp>
                  <p:nvSpPr>
                    <p:cNvPr id="51226" name="Oval 146"/>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27" name="Text Box 147"/>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1218" name="Oval 148"/>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19" name="Text Box 149"/>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51220" name="Line 150"/>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sp>
          <p:nvSpPr>
            <p:cNvPr id="51216" name="Text Box 151"/>
            <p:cNvSpPr txBox="1">
              <a:spLocks noChangeArrowheads="1"/>
            </p:cNvSpPr>
            <p:nvPr/>
          </p:nvSpPr>
          <p:spPr bwMode="auto">
            <a:xfrm>
              <a:off x="3024" y="3840"/>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11</a:t>
              </a:r>
            </a:p>
          </p:txBody>
        </p:sp>
      </p:grpSp>
      <p:sp>
        <p:nvSpPr>
          <p:cNvPr id="51207" name="Line 152"/>
          <p:cNvSpPr>
            <a:spLocks noChangeShapeType="1"/>
          </p:cNvSpPr>
          <p:nvPr/>
        </p:nvSpPr>
        <p:spPr bwMode="auto">
          <a:xfrm>
            <a:off x="6096000" y="9906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08" name="Text Box 153"/>
          <p:cNvSpPr txBox="1">
            <a:spLocks noChangeArrowheads="1"/>
          </p:cNvSpPr>
          <p:nvPr/>
        </p:nvSpPr>
        <p:spPr bwMode="auto">
          <a:xfrm>
            <a:off x="5562600" y="457200"/>
            <a:ext cx="180816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Single rotation</a:t>
            </a:r>
          </a:p>
        </p:txBody>
      </p:sp>
      <p:sp>
        <p:nvSpPr>
          <p:cNvPr id="51209" name="Line 154"/>
          <p:cNvSpPr>
            <a:spLocks noChangeShapeType="1"/>
          </p:cNvSpPr>
          <p:nvPr/>
        </p:nvSpPr>
        <p:spPr bwMode="auto">
          <a:xfrm>
            <a:off x="7716838" y="36576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1210" name="Text Box 155"/>
          <p:cNvSpPr txBox="1">
            <a:spLocks noChangeArrowheads="1"/>
          </p:cNvSpPr>
          <p:nvPr/>
        </p:nvSpPr>
        <p:spPr bwMode="auto">
          <a:xfrm>
            <a:off x="7183438" y="3124200"/>
            <a:ext cx="1808162"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Single rotation</a:t>
            </a:r>
          </a:p>
        </p:txBody>
      </p:sp>
      <p:sp>
        <p:nvSpPr>
          <p:cNvPr id="51211" name="Oval 156"/>
          <p:cNvSpPr>
            <a:spLocks noChangeArrowheads="1"/>
          </p:cNvSpPr>
          <p:nvPr/>
        </p:nvSpPr>
        <p:spPr bwMode="auto">
          <a:xfrm>
            <a:off x="4343400" y="152400"/>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1212" name="Oval 157"/>
          <p:cNvSpPr>
            <a:spLocks noChangeArrowheads="1"/>
          </p:cNvSpPr>
          <p:nvPr/>
        </p:nvSpPr>
        <p:spPr bwMode="auto">
          <a:xfrm>
            <a:off x="6629400" y="3352800"/>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4FD3636A-6361-4B07-9624-10706A628DB5}" type="slidenum">
              <a:rPr lang="zh-TW" altLang="en-US" sz="1200">
                <a:solidFill>
                  <a:srgbClr val="898989"/>
                </a:solidFill>
              </a:rPr>
              <a:pPr/>
              <a:t>50</a:t>
            </a:fld>
            <a:endParaRPr lang="en-US" altLang="zh-TW"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30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30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4309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431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43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2226" name="Group 2"/>
          <p:cNvGrpSpPr>
            <a:grpSpLocks/>
          </p:cNvGrpSpPr>
          <p:nvPr/>
        </p:nvGrpSpPr>
        <p:grpSpPr bwMode="auto">
          <a:xfrm>
            <a:off x="2133600" y="685800"/>
            <a:ext cx="4191000" cy="2652713"/>
            <a:chOff x="480" y="432"/>
            <a:chExt cx="2640" cy="1671"/>
          </a:xfrm>
        </p:grpSpPr>
        <p:grpSp>
          <p:nvGrpSpPr>
            <p:cNvPr id="52317" name="Group 3"/>
            <p:cNvGrpSpPr>
              <a:grpSpLocks/>
            </p:cNvGrpSpPr>
            <p:nvPr/>
          </p:nvGrpSpPr>
          <p:grpSpPr bwMode="auto">
            <a:xfrm>
              <a:off x="480" y="432"/>
              <a:ext cx="2640" cy="1536"/>
              <a:chOff x="480" y="432"/>
              <a:chExt cx="2640" cy="1536"/>
            </a:xfrm>
          </p:grpSpPr>
          <p:grpSp>
            <p:nvGrpSpPr>
              <p:cNvPr id="52319" name="Group 4"/>
              <p:cNvGrpSpPr>
                <a:grpSpLocks/>
              </p:cNvGrpSpPr>
              <p:nvPr/>
            </p:nvGrpSpPr>
            <p:grpSpPr bwMode="auto">
              <a:xfrm>
                <a:off x="480" y="432"/>
                <a:ext cx="2112" cy="1536"/>
                <a:chOff x="1488" y="2592"/>
                <a:chExt cx="2112" cy="1536"/>
              </a:xfrm>
            </p:grpSpPr>
            <p:grpSp>
              <p:nvGrpSpPr>
                <p:cNvPr id="52325" name="Group 5"/>
                <p:cNvGrpSpPr>
                  <a:grpSpLocks/>
                </p:cNvGrpSpPr>
                <p:nvPr/>
              </p:nvGrpSpPr>
              <p:grpSpPr bwMode="auto">
                <a:xfrm>
                  <a:off x="1488" y="2592"/>
                  <a:ext cx="2112" cy="1234"/>
                  <a:chOff x="0" y="1632"/>
                  <a:chExt cx="2112" cy="1234"/>
                </a:xfrm>
              </p:grpSpPr>
              <p:grpSp>
                <p:nvGrpSpPr>
                  <p:cNvPr id="52329" name="Group 6"/>
                  <p:cNvGrpSpPr>
                    <a:grpSpLocks/>
                  </p:cNvGrpSpPr>
                  <p:nvPr/>
                </p:nvGrpSpPr>
                <p:grpSpPr bwMode="auto">
                  <a:xfrm>
                    <a:off x="288" y="1632"/>
                    <a:ext cx="1824" cy="1104"/>
                    <a:chOff x="240" y="2880"/>
                    <a:chExt cx="2160" cy="1440"/>
                  </a:xfrm>
                </p:grpSpPr>
                <p:grpSp>
                  <p:nvGrpSpPr>
                    <p:cNvPr id="52339" name="Group 7"/>
                    <p:cNvGrpSpPr>
                      <a:grpSpLocks/>
                    </p:cNvGrpSpPr>
                    <p:nvPr/>
                  </p:nvGrpSpPr>
                  <p:grpSpPr bwMode="auto">
                    <a:xfrm>
                      <a:off x="240" y="2880"/>
                      <a:ext cx="1489" cy="1028"/>
                      <a:chOff x="3840" y="1632"/>
                      <a:chExt cx="1489" cy="1028"/>
                    </a:xfrm>
                  </p:grpSpPr>
                  <p:grpSp>
                    <p:nvGrpSpPr>
                      <p:cNvPr id="52345" name="Group 8"/>
                      <p:cNvGrpSpPr>
                        <a:grpSpLocks/>
                      </p:cNvGrpSpPr>
                      <p:nvPr/>
                    </p:nvGrpSpPr>
                    <p:grpSpPr bwMode="auto">
                      <a:xfrm>
                        <a:off x="3840" y="1632"/>
                        <a:ext cx="1391" cy="971"/>
                        <a:chOff x="288" y="1045"/>
                        <a:chExt cx="1391" cy="971"/>
                      </a:xfrm>
                    </p:grpSpPr>
                    <p:sp>
                      <p:nvSpPr>
                        <p:cNvPr id="52350" name="Oval 9"/>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51" name="Oval 10"/>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52" name="Line 11"/>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353" name="Text Box 12"/>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2354" name="Text Box 13"/>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2346" name="Group 14"/>
                      <p:cNvGrpSpPr>
                        <a:grpSpLocks/>
                      </p:cNvGrpSpPr>
                      <p:nvPr/>
                    </p:nvGrpSpPr>
                    <p:grpSpPr bwMode="auto">
                      <a:xfrm>
                        <a:off x="4656" y="2016"/>
                        <a:ext cx="673" cy="644"/>
                        <a:chOff x="4272" y="2016"/>
                        <a:chExt cx="913" cy="805"/>
                      </a:xfrm>
                    </p:grpSpPr>
                    <p:sp>
                      <p:nvSpPr>
                        <p:cNvPr id="52347" name="Oval 15"/>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48" name="Text Box 16"/>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2349" name="Line 17"/>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2340" name="Group 18"/>
                    <p:cNvGrpSpPr>
                      <a:grpSpLocks/>
                    </p:cNvGrpSpPr>
                    <p:nvPr/>
                  </p:nvGrpSpPr>
                  <p:grpSpPr bwMode="auto">
                    <a:xfrm>
                      <a:off x="1680" y="3809"/>
                      <a:ext cx="720" cy="511"/>
                      <a:chOff x="1056" y="1454"/>
                      <a:chExt cx="720" cy="511"/>
                    </a:xfrm>
                  </p:grpSpPr>
                  <p:sp>
                    <p:nvSpPr>
                      <p:cNvPr id="52341" name="Line 19"/>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342" name="Group 20"/>
                      <p:cNvGrpSpPr>
                        <a:grpSpLocks/>
                      </p:cNvGrpSpPr>
                      <p:nvPr/>
                    </p:nvGrpSpPr>
                    <p:grpSpPr bwMode="auto">
                      <a:xfrm>
                        <a:off x="1152" y="1556"/>
                        <a:ext cx="624" cy="409"/>
                        <a:chOff x="1152" y="1556"/>
                        <a:chExt cx="624" cy="409"/>
                      </a:xfrm>
                    </p:grpSpPr>
                    <p:sp>
                      <p:nvSpPr>
                        <p:cNvPr id="52343" name="Oval 21"/>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44" name="Text Box 22"/>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grpSp>
                </p:grpSp>
              </p:grpSp>
              <p:grpSp>
                <p:nvGrpSpPr>
                  <p:cNvPr id="52330" name="Group 23"/>
                  <p:cNvGrpSpPr>
                    <a:grpSpLocks/>
                  </p:cNvGrpSpPr>
                  <p:nvPr/>
                </p:nvGrpSpPr>
                <p:grpSpPr bwMode="auto">
                  <a:xfrm>
                    <a:off x="0" y="2352"/>
                    <a:ext cx="432" cy="514"/>
                    <a:chOff x="0" y="3758"/>
                    <a:chExt cx="672" cy="562"/>
                  </a:xfrm>
                </p:grpSpPr>
                <p:sp>
                  <p:nvSpPr>
                    <p:cNvPr id="52336" name="Oval 24"/>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37" name="Line 25"/>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338" name="Text Box 26"/>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2331" name="Group 27"/>
                  <p:cNvGrpSpPr>
                    <a:grpSpLocks/>
                  </p:cNvGrpSpPr>
                  <p:nvPr/>
                </p:nvGrpSpPr>
                <p:grpSpPr bwMode="auto">
                  <a:xfrm>
                    <a:off x="576" y="2352"/>
                    <a:ext cx="720" cy="511"/>
                    <a:chOff x="1056" y="1454"/>
                    <a:chExt cx="720" cy="511"/>
                  </a:xfrm>
                </p:grpSpPr>
                <p:sp>
                  <p:nvSpPr>
                    <p:cNvPr id="52332" name="Line 28"/>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333" name="Group 29"/>
                    <p:cNvGrpSpPr>
                      <a:grpSpLocks/>
                    </p:cNvGrpSpPr>
                    <p:nvPr/>
                  </p:nvGrpSpPr>
                  <p:grpSpPr bwMode="auto">
                    <a:xfrm>
                      <a:off x="1152" y="1556"/>
                      <a:ext cx="624" cy="409"/>
                      <a:chOff x="1152" y="1556"/>
                      <a:chExt cx="624" cy="409"/>
                    </a:xfrm>
                  </p:grpSpPr>
                  <p:sp>
                    <p:nvSpPr>
                      <p:cNvPr id="52334" name="Oval 30"/>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35" name="Text Box 31"/>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2326" name="Oval 32"/>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27" name="Text Box 33"/>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52328" name="Line 34"/>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52320" name="Group 35"/>
              <p:cNvGrpSpPr>
                <a:grpSpLocks/>
              </p:cNvGrpSpPr>
              <p:nvPr/>
            </p:nvGrpSpPr>
            <p:grpSpPr bwMode="auto">
              <a:xfrm>
                <a:off x="2400" y="1440"/>
                <a:ext cx="720" cy="511"/>
                <a:chOff x="1056" y="1454"/>
                <a:chExt cx="720" cy="511"/>
              </a:xfrm>
            </p:grpSpPr>
            <p:sp>
              <p:nvSpPr>
                <p:cNvPr id="52321" name="Line 3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322" name="Group 37"/>
                <p:cNvGrpSpPr>
                  <a:grpSpLocks/>
                </p:cNvGrpSpPr>
                <p:nvPr/>
              </p:nvGrpSpPr>
              <p:grpSpPr bwMode="auto">
                <a:xfrm>
                  <a:off x="1152" y="1556"/>
                  <a:ext cx="624" cy="409"/>
                  <a:chOff x="1152" y="1556"/>
                  <a:chExt cx="624" cy="409"/>
                </a:xfrm>
              </p:grpSpPr>
              <p:sp>
                <p:nvSpPr>
                  <p:cNvPr id="52323" name="Oval 3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24" name="Text Box 39"/>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16</a:t>
                    </a:r>
                  </a:p>
                </p:txBody>
              </p:sp>
            </p:grpSp>
          </p:grpSp>
        </p:grpSp>
        <p:sp>
          <p:nvSpPr>
            <p:cNvPr id="52318" name="Text Box 40"/>
            <p:cNvSpPr txBox="1">
              <a:spLocks noChangeArrowheads="1"/>
            </p:cNvSpPr>
            <p:nvPr/>
          </p:nvSpPr>
          <p:spPr bwMode="auto">
            <a:xfrm>
              <a:off x="1872" y="187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12</a:t>
              </a:r>
            </a:p>
          </p:txBody>
        </p:sp>
      </p:grpSp>
      <p:grpSp>
        <p:nvGrpSpPr>
          <p:cNvPr id="344105" name="Group 41"/>
          <p:cNvGrpSpPr>
            <a:grpSpLocks/>
          </p:cNvGrpSpPr>
          <p:nvPr/>
        </p:nvGrpSpPr>
        <p:grpSpPr bwMode="auto">
          <a:xfrm>
            <a:off x="304800" y="3527425"/>
            <a:ext cx="4191000" cy="3025775"/>
            <a:chOff x="3120" y="432"/>
            <a:chExt cx="2640" cy="1906"/>
          </a:xfrm>
        </p:grpSpPr>
        <p:grpSp>
          <p:nvGrpSpPr>
            <p:cNvPr id="52275" name="Group 42"/>
            <p:cNvGrpSpPr>
              <a:grpSpLocks/>
            </p:cNvGrpSpPr>
            <p:nvPr/>
          </p:nvGrpSpPr>
          <p:grpSpPr bwMode="auto">
            <a:xfrm>
              <a:off x="3120" y="432"/>
              <a:ext cx="2640" cy="1906"/>
              <a:chOff x="3120" y="432"/>
              <a:chExt cx="2640" cy="1906"/>
            </a:xfrm>
          </p:grpSpPr>
          <p:grpSp>
            <p:nvGrpSpPr>
              <p:cNvPr id="52277" name="Group 43"/>
              <p:cNvGrpSpPr>
                <a:grpSpLocks/>
              </p:cNvGrpSpPr>
              <p:nvPr/>
            </p:nvGrpSpPr>
            <p:grpSpPr bwMode="auto">
              <a:xfrm>
                <a:off x="3120" y="432"/>
                <a:ext cx="2640" cy="1536"/>
                <a:chOff x="480" y="432"/>
                <a:chExt cx="2640" cy="1536"/>
              </a:xfrm>
            </p:grpSpPr>
            <p:grpSp>
              <p:nvGrpSpPr>
                <p:cNvPr id="52281" name="Group 44"/>
                <p:cNvGrpSpPr>
                  <a:grpSpLocks/>
                </p:cNvGrpSpPr>
                <p:nvPr/>
              </p:nvGrpSpPr>
              <p:grpSpPr bwMode="auto">
                <a:xfrm>
                  <a:off x="480" y="432"/>
                  <a:ext cx="2112" cy="1536"/>
                  <a:chOff x="1488" y="2592"/>
                  <a:chExt cx="2112" cy="1536"/>
                </a:xfrm>
              </p:grpSpPr>
              <p:grpSp>
                <p:nvGrpSpPr>
                  <p:cNvPr id="52287" name="Group 45"/>
                  <p:cNvGrpSpPr>
                    <a:grpSpLocks/>
                  </p:cNvGrpSpPr>
                  <p:nvPr/>
                </p:nvGrpSpPr>
                <p:grpSpPr bwMode="auto">
                  <a:xfrm>
                    <a:off x="1488" y="2592"/>
                    <a:ext cx="2112" cy="1234"/>
                    <a:chOff x="0" y="1632"/>
                    <a:chExt cx="2112" cy="1234"/>
                  </a:xfrm>
                </p:grpSpPr>
                <p:grpSp>
                  <p:nvGrpSpPr>
                    <p:cNvPr id="52291" name="Group 46"/>
                    <p:cNvGrpSpPr>
                      <a:grpSpLocks/>
                    </p:cNvGrpSpPr>
                    <p:nvPr/>
                  </p:nvGrpSpPr>
                  <p:grpSpPr bwMode="auto">
                    <a:xfrm>
                      <a:off x="288" y="1632"/>
                      <a:ext cx="1824" cy="1104"/>
                      <a:chOff x="240" y="2880"/>
                      <a:chExt cx="2160" cy="1440"/>
                    </a:xfrm>
                  </p:grpSpPr>
                  <p:grpSp>
                    <p:nvGrpSpPr>
                      <p:cNvPr id="52301" name="Group 47"/>
                      <p:cNvGrpSpPr>
                        <a:grpSpLocks/>
                      </p:cNvGrpSpPr>
                      <p:nvPr/>
                    </p:nvGrpSpPr>
                    <p:grpSpPr bwMode="auto">
                      <a:xfrm>
                        <a:off x="240" y="2880"/>
                        <a:ext cx="1489" cy="1028"/>
                        <a:chOff x="3840" y="1632"/>
                        <a:chExt cx="1489" cy="1028"/>
                      </a:xfrm>
                    </p:grpSpPr>
                    <p:grpSp>
                      <p:nvGrpSpPr>
                        <p:cNvPr id="52307" name="Group 48"/>
                        <p:cNvGrpSpPr>
                          <a:grpSpLocks/>
                        </p:cNvGrpSpPr>
                        <p:nvPr/>
                      </p:nvGrpSpPr>
                      <p:grpSpPr bwMode="auto">
                        <a:xfrm>
                          <a:off x="3840" y="1632"/>
                          <a:ext cx="1391" cy="971"/>
                          <a:chOff x="288" y="1045"/>
                          <a:chExt cx="1391" cy="971"/>
                        </a:xfrm>
                      </p:grpSpPr>
                      <p:sp>
                        <p:nvSpPr>
                          <p:cNvPr id="52312" name="Oval 49"/>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13" name="Oval 50"/>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14" name="Line 51"/>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315" name="Text Box 52"/>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2316" name="Text Box 53"/>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2308" name="Group 54"/>
                        <p:cNvGrpSpPr>
                          <a:grpSpLocks/>
                        </p:cNvGrpSpPr>
                        <p:nvPr/>
                      </p:nvGrpSpPr>
                      <p:grpSpPr bwMode="auto">
                        <a:xfrm>
                          <a:off x="4656" y="2016"/>
                          <a:ext cx="673" cy="644"/>
                          <a:chOff x="4272" y="2016"/>
                          <a:chExt cx="913" cy="805"/>
                        </a:xfrm>
                      </p:grpSpPr>
                      <p:sp>
                        <p:nvSpPr>
                          <p:cNvPr id="52309" name="Oval 55"/>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10" name="Text Box 56"/>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2311" name="Line 57"/>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2302" name="Group 58"/>
                      <p:cNvGrpSpPr>
                        <a:grpSpLocks/>
                      </p:cNvGrpSpPr>
                      <p:nvPr/>
                    </p:nvGrpSpPr>
                    <p:grpSpPr bwMode="auto">
                      <a:xfrm>
                        <a:off x="1680" y="3809"/>
                        <a:ext cx="720" cy="511"/>
                        <a:chOff x="1056" y="1454"/>
                        <a:chExt cx="720" cy="511"/>
                      </a:xfrm>
                    </p:grpSpPr>
                    <p:sp>
                      <p:nvSpPr>
                        <p:cNvPr id="52303" name="Line 59"/>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304" name="Group 60"/>
                        <p:cNvGrpSpPr>
                          <a:grpSpLocks/>
                        </p:cNvGrpSpPr>
                        <p:nvPr/>
                      </p:nvGrpSpPr>
                      <p:grpSpPr bwMode="auto">
                        <a:xfrm>
                          <a:off x="1152" y="1556"/>
                          <a:ext cx="624" cy="409"/>
                          <a:chOff x="1152" y="1556"/>
                          <a:chExt cx="624" cy="409"/>
                        </a:xfrm>
                      </p:grpSpPr>
                      <p:sp>
                        <p:nvSpPr>
                          <p:cNvPr id="52305" name="Oval 61"/>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306" name="Text Box 62"/>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grpSp>
                  </p:grpSp>
                </p:grpSp>
                <p:grpSp>
                  <p:nvGrpSpPr>
                    <p:cNvPr id="52292" name="Group 63"/>
                    <p:cNvGrpSpPr>
                      <a:grpSpLocks/>
                    </p:cNvGrpSpPr>
                    <p:nvPr/>
                  </p:nvGrpSpPr>
                  <p:grpSpPr bwMode="auto">
                    <a:xfrm>
                      <a:off x="0" y="2352"/>
                      <a:ext cx="432" cy="514"/>
                      <a:chOff x="0" y="3758"/>
                      <a:chExt cx="672" cy="562"/>
                    </a:xfrm>
                  </p:grpSpPr>
                  <p:sp>
                    <p:nvSpPr>
                      <p:cNvPr id="52298" name="Oval 64"/>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99" name="Line 65"/>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300" name="Text Box 66"/>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2293" name="Group 67"/>
                    <p:cNvGrpSpPr>
                      <a:grpSpLocks/>
                    </p:cNvGrpSpPr>
                    <p:nvPr/>
                  </p:nvGrpSpPr>
                  <p:grpSpPr bwMode="auto">
                    <a:xfrm>
                      <a:off x="576" y="2352"/>
                      <a:ext cx="720" cy="511"/>
                      <a:chOff x="1056" y="1454"/>
                      <a:chExt cx="720" cy="511"/>
                    </a:xfrm>
                  </p:grpSpPr>
                  <p:sp>
                    <p:nvSpPr>
                      <p:cNvPr id="52294" name="Line 68"/>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95" name="Group 69"/>
                      <p:cNvGrpSpPr>
                        <a:grpSpLocks/>
                      </p:cNvGrpSpPr>
                      <p:nvPr/>
                    </p:nvGrpSpPr>
                    <p:grpSpPr bwMode="auto">
                      <a:xfrm>
                        <a:off x="1152" y="1556"/>
                        <a:ext cx="624" cy="409"/>
                        <a:chOff x="1152" y="1556"/>
                        <a:chExt cx="624" cy="409"/>
                      </a:xfrm>
                    </p:grpSpPr>
                    <p:sp>
                      <p:nvSpPr>
                        <p:cNvPr id="52296" name="Oval 70"/>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97" name="Text Box 71"/>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2288" name="Oval 72"/>
                  <p:cNvSpPr>
                    <a:spLocks noChangeArrowheads="1"/>
                  </p:cNvSpPr>
                  <p:nvPr/>
                </p:nvSpPr>
                <p:spPr bwMode="auto">
                  <a:xfrm>
                    <a:off x="2544" y="3840"/>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89" name="Text Box 73"/>
                  <p:cNvSpPr txBox="1">
                    <a:spLocks noChangeArrowheads="1"/>
                  </p:cNvSpPr>
                  <p:nvPr/>
                </p:nvSpPr>
                <p:spPr bwMode="auto">
                  <a:xfrm>
                    <a:off x="2640" y="38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52290" name="Line 74"/>
                  <p:cNvSpPr>
                    <a:spLocks noChangeShapeType="1"/>
                  </p:cNvSpPr>
                  <p:nvPr/>
                </p:nvSpPr>
                <p:spPr bwMode="auto">
                  <a:xfrm flipH="1">
                    <a:off x="2736" y="3312"/>
                    <a:ext cx="144"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nvGrpSpPr>
                <p:cNvPr id="52282" name="Group 75"/>
                <p:cNvGrpSpPr>
                  <a:grpSpLocks/>
                </p:cNvGrpSpPr>
                <p:nvPr/>
              </p:nvGrpSpPr>
              <p:grpSpPr bwMode="auto">
                <a:xfrm>
                  <a:off x="2400" y="1440"/>
                  <a:ext cx="720" cy="511"/>
                  <a:chOff x="1056" y="1454"/>
                  <a:chExt cx="720" cy="511"/>
                </a:xfrm>
              </p:grpSpPr>
              <p:sp>
                <p:nvSpPr>
                  <p:cNvPr id="52283" name="Line 7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84" name="Group 77"/>
                  <p:cNvGrpSpPr>
                    <a:grpSpLocks/>
                  </p:cNvGrpSpPr>
                  <p:nvPr/>
                </p:nvGrpSpPr>
                <p:grpSpPr bwMode="auto">
                  <a:xfrm>
                    <a:off x="1152" y="1556"/>
                    <a:ext cx="624" cy="409"/>
                    <a:chOff x="1152" y="1556"/>
                    <a:chExt cx="624" cy="409"/>
                  </a:xfrm>
                </p:grpSpPr>
                <p:sp>
                  <p:nvSpPr>
                    <p:cNvPr id="52285" name="Oval 7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86" name="Text Box 79"/>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16</a:t>
                      </a:r>
                    </a:p>
                  </p:txBody>
                </p:sp>
              </p:grpSp>
            </p:grpSp>
          </p:grpSp>
          <p:sp>
            <p:nvSpPr>
              <p:cNvPr id="52278" name="Oval 80"/>
              <p:cNvSpPr>
                <a:spLocks noChangeArrowheads="1"/>
              </p:cNvSpPr>
              <p:nvPr/>
            </p:nvSpPr>
            <p:spPr bwMode="auto">
              <a:xfrm>
                <a:off x="4752" y="2064"/>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79" name="Line 81"/>
              <p:cNvSpPr>
                <a:spLocks noChangeShapeType="1"/>
              </p:cNvSpPr>
              <p:nvPr/>
            </p:nvSpPr>
            <p:spPr bwMode="auto">
              <a:xfrm flipH="1">
                <a:off x="4944" y="1920"/>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280" name="Text Box 82"/>
              <p:cNvSpPr txBox="1">
                <a:spLocks noChangeArrowheads="1"/>
              </p:cNvSpPr>
              <p:nvPr/>
            </p:nvSpPr>
            <p:spPr bwMode="auto">
              <a:xfrm>
                <a:off x="4704" y="206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15</a:t>
                </a:r>
              </a:p>
            </p:txBody>
          </p:sp>
        </p:grpSp>
        <p:sp>
          <p:nvSpPr>
            <p:cNvPr id="52276" name="Text Box 83"/>
            <p:cNvSpPr txBox="1">
              <a:spLocks noChangeArrowheads="1"/>
            </p:cNvSpPr>
            <p:nvPr/>
          </p:nvSpPr>
          <p:spPr bwMode="auto">
            <a:xfrm>
              <a:off x="3744" y="196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13</a:t>
              </a:r>
            </a:p>
          </p:txBody>
        </p:sp>
      </p:grpSp>
      <p:grpSp>
        <p:nvGrpSpPr>
          <p:cNvPr id="344148" name="Group 84"/>
          <p:cNvGrpSpPr>
            <a:grpSpLocks/>
          </p:cNvGrpSpPr>
          <p:nvPr/>
        </p:nvGrpSpPr>
        <p:grpSpPr bwMode="auto">
          <a:xfrm>
            <a:off x="4876800" y="3900488"/>
            <a:ext cx="4191000" cy="2576512"/>
            <a:chOff x="384" y="2160"/>
            <a:chExt cx="2640" cy="1623"/>
          </a:xfrm>
        </p:grpSpPr>
        <p:grpSp>
          <p:nvGrpSpPr>
            <p:cNvPr id="52234" name="Group 85"/>
            <p:cNvGrpSpPr>
              <a:grpSpLocks/>
            </p:cNvGrpSpPr>
            <p:nvPr/>
          </p:nvGrpSpPr>
          <p:grpSpPr bwMode="auto">
            <a:xfrm>
              <a:off x="384" y="2160"/>
              <a:ext cx="2640" cy="1618"/>
              <a:chOff x="864" y="2112"/>
              <a:chExt cx="2640" cy="1618"/>
            </a:xfrm>
          </p:grpSpPr>
          <p:sp>
            <p:nvSpPr>
              <p:cNvPr id="52236" name="Line 86"/>
              <p:cNvSpPr>
                <a:spLocks noChangeShapeType="1"/>
              </p:cNvSpPr>
              <p:nvPr/>
            </p:nvSpPr>
            <p:spPr bwMode="auto">
              <a:xfrm flipH="1">
                <a:off x="2208" y="283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37" name="Group 87"/>
              <p:cNvGrpSpPr>
                <a:grpSpLocks/>
              </p:cNvGrpSpPr>
              <p:nvPr/>
            </p:nvGrpSpPr>
            <p:grpSpPr bwMode="auto">
              <a:xfrm>
                <a:off x="864" y="2112"/>
                <a:ext cx="2640" cy="1618"/>
                <a:chOff x="864" y="2112"/>
                <a:chExt cx="2640" cy="1618"/>
              </a:xfrm>
            </p:grpSpPr>
            <p:grpSp>
              <p:nvGrpSpPr>
                <p:cNvPr id="52238" name="Group 88"/>
                <p:cNvGrpSpPr>
                  <a:grpSpLocks/>
                </p:cNvGrpSpPr>
                <p:nvPr/>
              </p:nvGrpSpPr>
              <p:grpSpPr bwMode="auto">
                <a:xfrm>
                  <a:off x="864" y="2112"/>
                  <a:ext cx="2112" cy="1234"/>
                  <a:chOff x="0" y="1632"/>
                  <a:chExt cx="2112" cy="1234"/>
                </a:xfrm>
              </p:grpSpPr>
              <p:grpSp>
                <p:nvGrpSpPr>
                  <p:cNvPr id="52249" name="Group 89"/>
                  <p:cNvGrpSpPr>
                    <a:grpSpLocks/>
                  </p:cNvGrpSpPr>
                  <p:nvPr/>
                </p:nvGrpSpPr>
                <p:grpSpPr bwMode="auto">
                  <a:xfrm>
                    <a:off x="288" y="1632"/>
                    <a:ext cx="1824" cy="1104"/>
                    <a:chOff x="240" y="2880"/>
                    <a:chExt cx="2160" cy="1440"/>
                  </a:xfrm>
                </p:grpSpPr>
                <p:grpSp>
                  <p:nvGrpSpPr>
                    <p:cNvPr id="52259" name="Group 90"/>
                    <p:cNvGrpSpPr>
                      <a:grpSpLocks/>
                    </p:cNvGrpSpPr>
                    <p:nvPr/>
                  </p:nvGrpSpPr>
                  <p:grpSpPr bwMode="auto">
                    <a:xfrm>
                      <a:off x="240" y="2880"/>
                      <a:ext cx="1489" cy="1028"/>
                      <a:chOff x="3840" y="1632"/>
                      <a:chExt cx="1489" cy="1028"/>
                    </a:xfrm>
                  </p:grpSpPr>
                  <p:grpSp>
                    <p:nvGrpSpPr>
                      <p:cNvPr id="52265" name="Group 91"/>
                      <p:cNvGrpSpPr>
                        <a:grpSpLocks/>
                      </p:cNvGrpSpPr>
                      <p:nvPr/>
                    </p:nvGrpSpPr>
                    <p:grpSpPr bwMode="auto">
                      <a:xfrm>
                        <a:off x="3840" y="1632"/>
                        <a:ext cx="1391" cy="971"/>
                        <a:chOff x="288" y="1045"/>
                        <a:chExt cx="1391" cy="971"/>
                      </a:xfrm>
                    </p:grpSpPr>
                    <p:sp>
                      <p:nvSpPr>
                        <p:cNvPr id="52270" name="Oval 92"/>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71" name="Oval 93"/>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72" name="Line 94"/>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273" name="Text Box 95"/>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2274" name="Text Box 96"/>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2266" name="Group 97"/>
                      <p:cNvGrpSpPr>
                        <a:grpSpLocks/>
                      </p:cNvGrpSpPr>
                      <p:nvPr/>
                    </p:nvGrpSpPr>
                    <p:grpSpPr bwMode="auto">
                      <a:xfrm>
                        <a:off x="4656" y="2016"/>
                        <a:ext cx="673" cy="644"/>
                        <a:chOff x="4272" y="2016"/>
                        <a:chExt cx="913" cy="805"/>
                      </a:xfrm>
                    </p:grpSpPr>
                    <p:sp>
                      <p:nvSpPr>
                        <p:cNvPr id="52267" name="Oval 98"/>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68" name="Text Box 99"/>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2269" name="Line 100"/>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2260" name="Group 101"/>
                    <p:cNvGrpSpPr>
                      <a:grpSpLocks/>
                    </p:cNvGrpSpPr>
                    <p:nvPr/>
                  </p:nvGrpSpPr>
                  <p:grpSpPr bwMode="auto">
                    <a:xfrm>
                      <a:off x="1680" y="3809"/>
                      <a:ext cx="720" cy="511"/>
                      <a:chOff x="1056" y="1454"/>
                      <a:chExt cx="720" cy="511"/>
                    </a:xfrm>
                  </p:grpSpPr>
                  <p:sp>
                    <p:nvSpPr>
                      <p:cNvPr id="52261" name="Line 102"/>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62" name="Group 103"/>
                      <p:cNvGrpSpPr>
                        <a:grpSpLocks/>
                      </p:cNvGrpSpPr>
                      <p:nvPr/>
                    </p:nvGrpSpPr>
                    <p:grpSpPr bwMode="auto">
                      <a:xfrm>
                        <a:off x="1152" y="1556"/>
                        <a:ext cx="624" cy="409"/>
                        <a:chOff x="1152" y="1556"/>
                        <a:chExt cx="624" cy="409"/>
                      </a:xfrm>
                    </p:grpSpPr>
                    <p:sp>
                      <p:nvSpPr>
                        <p:cNvPr id="52263" name="Oval 104"/>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64" name="Text Box 105"/>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15</a:t>
                          </a:r>
                        </a:p>
                      </p:txBody>
                    </p:sp>
                  </p:grpSp>
                </p:grpSp>
              </p:grpSp>
              <p:grpSp>
                <p:nvGrpSpPr>
                  <p:cNvPr id="52250" name="Group 106"/>
                  <p:cNvGrpSpPr>
                    <a:grpSpLocks/>
                  </p:cNvGrpSpPr>
                  <p:nvPr/>
                </p:nvGrpSpPr>
                <p:grpSpPr bwMode="auto">
                  <a:xfrm>
                    <a:off x="0" y="2352"/>
                    <a:ext cx="432" cy="514"/>
                    <a:chOff x="0" y="3758"/>
                    <a:chExt cx="672" cy="562"/>
                  </a:xfrm>
                </p:grpSpPr>
                <p:sp>
                  <p:nvSpPr>
                    <p:cNvPr id="52256" name="Oval 107"/>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57" name="Line 108"/>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258" name="Text Box 109"/>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2251" name="Group 110"/>
                  <p:cNvGrpSpPr>
                    <a:grpSpLocks/>
                  </p:cNvGrpSpPr>
                  <p:nvPr/>
                </p:nvGrpSpPr>
                <p:grpSpPr bwMode="auto">
                  <a:xfrm>
                    <a:off x="576" y="2352"/>
                    <a:ext cx="720" cy="511"/>
                    <a:chOff x="1056" y="1454"/>
                    <a:chExt cx="720" cy="511"/>
                  </a:xfrm>
                </p:grpSpPr>
                <p:sp>
                  <p:nvSpPr>
                    <p:cNvPr id="52252" name="Line 111"/>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53" name="Group 112"/>
                    <p:cNvGrpSpPr>
                      <a:grpSpLocks/>
                    </p:cNvGrpSpPr>
                    <p:nvPr/>
                  </p:nvGrpSpPr>
                  <p:grpSpPr bwMode="auto">
                    <a:xfrm>
                      <a:off x="1152" y="1556"/>
                      <a:ext cx="624" cy="409"/>
                      <a:chOff x="1152" y="1556"/>
                      <a:chExt cx="624" cy="409"/>
                    </a:xfrm>
                  </p:grpSpPr>
                  <p:sp>
                    <p:nvSpPr>
                      <p:cNvPr id="52254" name="Oval 113"/>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55" name="Text Box 114"/>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2239" name="Oval 115"/>
                <p:cNvSpPr>
                  <a:spLocks noChangeArrowheads="1"/>
                </p:cNvSpPr>
                <p:nvPr/>
              </p:nvSpPr>
              <p:spPr bwMode="auto">
                <a:xfrm>
                  <a:off x="2064" y="307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40" name="Text Box 116"/>
                <p:cNvSpPr txBox="1">
                  <a:spLocks noChangeArrowheads="1"/>
                </p:cNvSpPr>
                <p:nvPr/>
              </p:nvSpPr>
              <p:spPr bwMode="auto">
                <a:xfrm>
                  <a:off x="2112" y="30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nvGrpSpPr>
                <p:cNvPr id="52241" name="Group 117"/>
                <p:cNvGrpSpPr>
                  <a:grpSpLocks/>
                </p:cNvGrpSpPr>
                <p:nvPr/>
              </p:nvGrpSpPr>
              <p:grpSpPr bwMode="auto">
                <a:xfrm>
                  <a:off x="2784" y="3120"/>
                  <a:ext cx="720" cy="511"/>
                  <a:chOff x="1056" y="1454"/>
                  <a:chExt cx="720" cy="511"/>
                </a:xfrm>
              </p:grpSpPr>
              <p:sp>
                <p:nvSpPr>
                  <p:cNvPr id="52245" name="Line 118"/>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2246" name="Group 119"/>
                  <p:cNvGrpSpPr>
                    <a:grpSpLocks/>
                  </p:cNvGrpSpPr>
                  <p:nvPr/>
                </p:nvGrpSpPr>
                <p:grpSpPr bwMode="auto">
                  <a:xfrm>
                    <a:off x="1152" y="1556"/>
                    <a:ext cx="624" cy="409"/>
                    <a:chOff x="1152" y="1556"/>
                    <a:chExt cx="624" cy="409"/>
                  </a:xfrm>
                </p:grpSpPr>
                <p:sp>
                  <p:nvSpPr>
                    <p:cNvPr id="52247" name="Oval 120"/>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48" name="Text Box 121"/>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16</a:t>
                      </a:r>
                    </a:p>
                  </p:txBody>
                </p:sp>
              </p:grpSp>
            </p:grpSp>
            <p:sp>
              <p:nvSpPr>
                <p:cNvPr id="52242" name="Oval 122"/>
                <p:cNvSpPr>
                  <a:spLocks noChangeArrowheads="1"/>
                </p:cNvSpPr>
                <p:nvPr/>
              </p:nvSpPr>
              <p:spPr bwMode="auto">
                <a:xfrm>
                  <a:off x="2400" y="3456"/>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2243" name="Text Box 123"/>
                <p:cNvSpPr txBox="1">
                  <a:spLocks noChangeArrowheads="1"/>
                </p:cNvSpPr>
                <p:nvPr/>
              </p:nvSpPr>
              <p:spPr bwMode="auto">
                <a:xfrm>
                  <a:off x="2448" y="345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sp>
              <p:nvSpPr>
                <p:cNvPr id="52244" name="Line 124"/>
                <p:cNvSpPr>
                  <a:spLocks noChangeShapeType="1"/>
                </p:cNvSpPr>
                <p:nvPr/>
              </p:nvSpPr>
              <p:spPr bwMode="auto">
                <a:xfrm flipH="1">
                  <a:off x="2544" y="3216"/>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sp>
          <p:nvSpPr>
            <p:cNvPr id="52235" name="Text Box 125"/>
            <p:cNvSpPr txBox="1">
              <a:spLocks noChangeArrowheads="1"/>
            </p:cNvSpPr>
            <p:nvPr/>
          </p:nvSpPr>
          <p:spPr bwMode="auto">
            <a:xfrm>
              <a:off x="1008" y="3552"/>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14</a:t>
              </a:r>
            </a:p>
          </p:txBody>
        </p:sp>
      </p:grpSp>
      <p:sp>
        <p:nvSpPr>
          <p:cNvPr id="52229" name="Line 126"/>
          <p:cNvSpPr>
            <a:spLocks noChangeShapeType="1"/>
          </p:cNvSpPr>
          <p:nvPr/>
        </p:nvSpPr>
        <p:spPr bwMode="auto">
          <a:xfrm>
            <a:off x="3808413" y="4343400"/>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2230" name="Text Box 127"/>
          <p:cNvSpPr txBox="1">
            <a:spLocks noChangeArrowheads="1"/>
          </p:cNvSpPr>
          <p:nvPr/>
        </p:nvSpPr>
        <p:spPr bwMode="auto">
          <a:xfrm>
            <a:off x="3275013" y="3810000"/>
            <a:ext cx="1906587"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Double rotation</a:t>
            </a:r>
          </a:p>
        </p:txBody>
      </p:sp>
      <p:sp>
        <p:nvSpPr>
          <p:cNvPr id="52231" name="Oval 128"/>
          <p:cNvSpPr>
            <a:spLocks noChangeArrowheads="1"/>
          </p:cNvSpPr>
          <p:nvPr/>
        </p:nvSpPr>
        <p:spPr bwMode="auto">
          <a:xfrm>
            <a:off x="2819400" y="4822825"/>
            <a:ext cx="5334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0A1E0B20-B3E9-49D3-A2E8-BC72641071F1}" type="slidenum">
              <a:rPr lang="zh-TW" altLang="en-US" sz="1200">
                <a:solidFill>
                  <a:srgbClr val="898989"/>
                </a:solidFill>
              </a:rPr>
              <a:pPr/>
              <a:t>51</a:t>
            </a:fld>
            <a:endParaRPr lang="en-US" altLang="zh-TW"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41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4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345090" name="Group 2"/>
          <p:cNvGrpSpPr>
            <a:grpSpLocks/>
          </p:cNvGrpSpPr>
          <p:nvPr/>
        </p:nvGrpSpPr>
        <p:grpSpPr bwMode="auto">
          <a:xfrm>
            <a:off x="4762500" y="1479550"/>
            <a:ext cx="4191000" cy="3262313"/>
            <a:chOff x="3120" y="192"/>
            <a:chExt cx="2640" cy="2055"/>
          </a:xfrm>
        </p:grpSpPr>
        <p:grpSp>
          <p:nvGrpSpPr>
            <p:cNvPr id="53304" name="Group 3"/>
            <p:cNvGrpSpPr>
              <a:grpSpLocks/>
            </p:cNvGrpSpPr>
            <p:nvPr/>
          </p:nvGrpSpPr>
          <p:grpSpPr bwMode="auto">
            <a:xfrm>
              <a:off x="3120" y="192"/>
              <a:ext cx="2640" cy="1810"/>
              <a:chOff x="3120" y="192"/>
              <a:chExt cx="2640" cy="1810"/>
            </a:xfrm>
          </p:grpSpPr>
          <p:sp>
            <p:nvSpPr>
              <p:cNvPr id="53306" name="Oval 4"/>
              <p:cNvSpPr>
                <a:spLocks noChangeArrowheads="1"/>
              </p:cNvSpPr>
              <p:nvPr/>
            </p:nvSpPr>
            <p:spPr bwMode="auto">
              <a:xfrm>
                <a:off x="4539" y="1619"/>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grpSp>
            <p:nvGrpSpPr>
              <p:cNvPr id="53307" name="Group 5"/>
              <p:cNvGrpSpPr>
                <a:grpSpLocks/>
              </p:cNvGrpSpPr>
              <p:nvPr/>
            </p:nvGrpSpPr>
            <p:grpSpPr bwMode="auto">
              <a:xfrm>
                <a:off x="3120" y="192"/>
                <a:ext cx="2640" cy="1810"/>
                <a:chOff x="3120" y="192"/>
                <a:chExt cx="2640" cy="1810"/>
              </a:xfrm>
            </p:grpSpPr>
            <p:grpSp>
              <p:nvGrpSpPr>
                <p:cNvPr id="53308" name="Group 6"/>
                <p:cNvGrpSpPr>
                  <a:grpSpLocks/>
                </p:cNvGrpSpPr>
                <p:nvPr/>
              </p:nvGrpSpPr>
              <p:grpSpPr bwMode="auto">
                <a:xfrm>
                  <a:off x="3840" y="1440"/>
                  <a:ext cx="672" cy="562"/>
                  <a:chOff x="0" y="3758"/>
                  <a:chExt cx="672" cy="562"/>
                </a:xfrm>
              </p:grpSpPr>
              <p:sp>
                <p:nvSpPr>
                  <p:cNvPr id="53346" name="Oval 7"/>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47" name="Line 8"/>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348" name="Text Box 9"/>
                  <p:cNvSpPr txBox="1">
                    <a:spLocks noChangeArrowheads="1"/>
                  </p:cNvSpPr>
                  <p:nvPr/>
                </p:nvSpPr>
                <p:spPr bwMode="auto">
                  <a:xfrm>
                    <a:off x="96" y="396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grpSp>
              <p:nvGrpSpPr>
                <p:cNvPr id="53309" name="Group 10"/>
                <p:cNvGrpSpPr>
                  <a:grpSpLocks/>
                </p:cNvGrpSpPr>
                <p:nvPr/>
              </p:nvGrpSpPr>
              <p:grpSpPr bwMode="auto">
                <a:xfrm>
                  <a:off x="3120" y="192"/>
                  <a:ext cx="2640" cy="1683"/>
                  <a:chOff x="3120" y="192"/>
                  <a:chExt cx="2640" cy="1683"/>
                </a:xfrm>
              </p:grpSpPr>
              <p:sp>
                <p:nvSpPr>
                  <p:cNvPr id="53310" name="Line 11"/>
                  <p:cNvSpPr>
                    <a:spLocks noChangeShapeType="1"/>
                  </p:cNvSpPr>
                  <p:nvPr/>
                </p:nvSpPr>
                <p:spPr bwMode="auto">
                  <a:xfrm flipH="1">
                    <a:off x="4464" y="91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311" name="Group 12"/>
                  <p:cNvGrpSpPr>
                    <a:grpSpLocks/>
                  </p:cNvGrpSpPr>
                  <p:nvPr/>
                </p:nvGrpSpPr>
                <p:grpSpPr bwMode="auto">
                  <a:xfrm>
                    <a:off x="3120" y="192"/>
                    <a:ext cx="2112" cy="1234"/>
                    <a:chOff x="0" y="1632"/>
                    <a:chExt cx="2112" cy="1234"/>
                  </a:xfrm>
                </p:grpSpPr>
                <p:grpSp>
                  <p:nvGrpSpPr>
                    <p:cNvPr id="53320" name="Group 13"/>
                    <p:cNvGrpSpPr>
                      <a:grpSpLocks/>
                    </p:cNvGrpSpPr>
                    <p:nvPr/>
                  </p:nvGrpSpPr>
                  <p:grpSpPr bwMode="auto">
                    <a:xfrm>
                      <a:off x="288" y="1632"/>
                      <a:ext cx="1824" cy="1104"/>
                      <a:chOff x="240" y="2880"/>
                      <a:chExt cx="2160" cy="1440"/>
                    </a:xfrm>
                  </p:grpSpPr>
                  <p:grpSp>
                    <p:nvGrpSpPr>
                      <p:cNvPr id="53330" name="Group 14"/>
                      <p:cNvGrpSpPr>
                        <a:grpSpLocks/>
                      </p:cNvGrpSpPr>
                      <p:nvPr/>
                    </p:nvGrpSpPr>
                    <p:grpSpPr bwMode="auto">
                      <a:xfrm>
                        <a:off x="240" y="2880"/>
                        <a:ext cx="1489" cy="971"/>
                        <a:chOff x="3840" y="1632"/>
                        <a:chExt cx="1489" cy="971"/>
                      </a:xfrm>
                    </p:grpSpPr>
                    <p:grpSp>
                      <p:nvGrpSpPr>
                        <p:cNvPr id="53336" name="Group 15"/>
                        <p:cNvGrpSpPr>
                          <a:grpSpLocks/>
                        </p:cNvGrpSpPr>
                        <p:nvPr/>
                      </p:nvGrpSpPr>
                      <p:grpSpPr bwMode="auto">
                        <a:xfrm>
                          <a:off x="3840" y="1632"/>
                          <a:ext cx="1391" cy="971"/>
                          <a:chOff x="288" y="1045"/>
                          <a:chExt cx="1391" cy="971"/>
                        </a:xfrm>
                      </p:grpSpPr>
                      <p:sp>
                        <p:nvSpPr>
                          <p:cNvPr id="53341" name="Oval 16"/>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42" name="Oval 17"/>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43" name="Line 18"/>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344" name="Text Box 19"/>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3345" name="Text Box 20"/>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3337" name="Group 21"/>
                        <p:cNvGrpSpPr>
                          <a:grpSpLocks/>
                        </p:cNvGrpSpPr>
                        <p:nvPr/>
                      </p:nvGrpSpPr>
                      <p:grpSpPr bwMode="auto">
                        <a:xfrm>
                          <a:off x="4656" y="2016"/>
                          <a:ext cx="673" cy="576"/>
                          <a:chOff x="4272" y="2016"/>
                          <a:chExt cx="913" cy="720"/>
                        </a:xfrm>
                      </p:grpSpPr>
                      <p:sp>
                        <p:nvSpPr>
                          <p:cNvPr id="53338" name="Oval 22"/>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39" name="Text Box 23"/>
                          <p:cNvSpPr txBox="1">
                            <a:spLocks noChangeArrowheads="1"/>
                          </p:cNvSpPr>
                          <p:nvPr/>
                        </p:nvSpPr>
                        <p:spPr bwMode="auto">
                          <a:xfrm>
                            <a:off x="4703" y="2351"/>
                            <a:ext cx="4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sp>
                        <p:nvSpPr>
                          <p:cNvPr id="53340" name="Line 24"/>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3331" name="Group 25"/>
                      <p:cNvGrpSpPr>
                        <a:grpSpLocks/>
                      </p:cNvGrpSpPr>
                      <p:nvPr/>
                    </p:nvGrpSpPr>
                    <p:grpSpPr bwMode="auto">
                      <a:xfrm>
                        <a:off x="1680" y="3809"/>
                        <a:ext cx="720" cy="511"/>
                        <a:chOff x="1056" y="1454"/>
                        <a:chExt cx="720" cy="511"/>
                      </a:xfrm>
                    </p:grpSpPr>
                    <p:sp>
                      <p:nvSpPr>
                        <p:cNvPr id="53332" name="Line 2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333" name="Group 27"/>
                        <p:cNvGrpSpPr>
                          <a:grpSpLocks/>
                        </p:cNvGrpSpPr>
                        <p:nvPr/>
                      </p:nvGrpSpPr>
                      <p:grpSpPr bwMode="auto">
                        <a:xfrm>
                          <a:off x="1152" y="1556"/>
                          <a:ext cx="624" cy="409"/>
                          <a:chOff x="1152" y="1556"/>
                          <a:chExt cx="624" cy="409"/>
                        </a:xfrm>
                      </p:grpSpPr>
                      <p:sp>
                        <p:nvSpPr>
                          <p:cNvPr id="53334" name="Oval 2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35" name="Text Box 29"/>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15</a:t>
                            </a:r>
                          </a:p>
                        </p:txBody>
                      </p:sp>
                    </p:grpSp>
                  </p:grpSp>
                </p:grpSp>
                <p:grpSp>
                  <p:nvGrpSpPr>
                    <p:cNvPr id="53321" name="Group 30"/>
                    <p:cNvGrpSpPr>
                      <a:grpSpLocks/>
                    </p:cNvGrpSpPr>
                    <p:nvPr/>
                  </p:nvGrpSpPr>
                  <p:grpSpPr bwMode="auto">
                    <a:xfrm>
                      <a:off x="0" y="2352"/>
                      <a:ext cx="432" cy="514"/>
                      <a:chOff x="0" y="3758"/>
                      <a:chExt cx="672" cy="562"/>
                    </a:xfrm>
                  </p:grpSpPr>
                  <p:sp>
                    <p:nvSpPr>
                      <p:cNvPr id="53327" name="Oval 31"/>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28" name="Line 32"/>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329" name="Text Box 33"/>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3322" name="Group 34"/>
                    <p:cNvGrpSpPr>
                      <a:grpSpLocks/>
                    </p:cNvGrpSpPr>
                    <p:nvPr/>
                  </p:nvGrpSpPr>
                  <p:grpSpPr bwMode="auto">
                    <a:xfrm>
                      <a:off x="576" y="2352"/>
                      <a:ext cx="720" cy="511"/>
                      <a:chOff x="1056" y="1454"/>
                      <a:chExt cx="720" cy="511"/>
                    </a:xfrm>
                  </p:grpSpPr>
                  <p:sp>
                    <p:nvSpPr>
                      <p:cNvPr id="53323" name="Line 35"/>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324" name="Group 36"/>
                      <p:cNvGrpSpPr>
                        <a:grpSpLocks/>
                      </p:cNvGrpSpPr>
                      <p:nvPr/>
                    </p:nvGrpSpPr>
                    <p:grpSpPr bwMode="auto">
                      <a:xfrm>
                        <a:off x="1152" y="1556"/>
                        <a:ext cx="624" cy="409"/>
                        <a:chOff x="1152" y="1556"/>
                        <a:chExt cx="624" cy="409"/>
                      </a:xfrm>
                    </p:grpSpPr>
                    <p:sp>
                      <p:nvSpPr>
                        <p:cNvPr id="53325" name="Oval 37"/>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26" name="Text Box 38"/>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3312" name="Oval 39"/>
                  <p:cNvSpPr>
                    <a:spLocks noChangeArrowheads="1"/>
                  </p:cNvSpPr>
                  <p:nvPr/>
                </p:nvSpPr>
                <p:spPr bwMode="auto">
                  <a:xfrm>
                    <a:off x="4320" y="115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13" name="Text Box 40"/>
                  <p:cNvSpPr txBox="1">
                    <a:spLocks noChangeArrowheads="1"/>
                  </p:cNvSpPr>
                  <p:nvPr/>
                </p:nvSpPr>
                <p:spPr bwMode="auto">
                  <a:xfrm>
                    <a:off x="4368" y="115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6</a:t>
                    </a:r>
                  </a:p>
                </p:txBody>
              </p:sp>
              <p:grpSp>
                <p:nvGrpSpPr>
                  <p:cNvPr id="53314" name="Group 41"/>
                  <p:cNvGrpSpPr>
                    <a:grpSpLocks/>
                  </p:cNvGrpSpPr>
                  <p:nvPr/>
                </p:nvGrpSpPr>
                <p:grpSpPr bwMode="auto">
                  <a:xfrm>
                    <a:off x="5424" y="1536"/>
                    <a:ext cx="336" cy="281"/>
                    <a:chOff x="1152" y="1556"/>
                    <a:chExt cx="624" cy="424"/>
                  </a:xfrm>
                </p:grpSpPr>
                <p:sp>
                  <p:nvSpPr>
                    <p:cNvPr id="53318" name="Oval 42"/>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19" name="Text Box 43"/>
                    <p:cNvSpPr txBox="1">
                      <a:spLocks noChangeArrowheads="1"/>
                    </p:cNvSpPr>
                    <p:nvPr/>
                  </p:nvSpPr>
                  <p:spPr bwMode="auto">
                    <a:xfrm>
                      <a:off x="1200" y="1631"/>
                      <a:ext cx="576"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16</a:t>
                      </a:r>
                    </a:p>
                  </p:txBody>
                </p:sp>
              </p:grpSp>
              <p:sp>
                <p:nvSpPr>
                  <p:cNvPr id="53315" name="Text Box 44"/>
                  <p:cNvSpPr txBox="1">
                    <a:spLocks noChangeArrowheads="1"/>
                  </p:cNvSpPr>
                  <p:nvPr/>
                </p:nvSpPr>
                <p:spPr bwMode="auto">
                  <a:xfrm>
                    <a:off x="4518" y="164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14</a:t>
                    </a:r>
                  </a:p>
                </p:txBody>
              </p:sp>
              <p:sp>
                <p:nvSpPr>
                  <p:cNvPr id="53316" name="Line 45"/>
                  <p:cNvSpPr>
                    <a:spLocks noChangeShapeType="1"/>
                  </p:cNvSpPr>
                  <p:nvPr/>
                </p:nvSpPr>
                <p:spPr bwMode="auto">
                  <a:xfrm>
                    <a:off x="5088" y="1104"/>
                    <a:ext cx="432"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317" name="Line 46"/>
                  <p:cNvSpPr>
                    <a:spLocks noChangeShapeType="1"/>
                  </p:cNvSpPr>
                  <p:nvPr/>
                </p:nvSpPr>
                <p:spPr bwMode="auto">
                  <a:xfrm flipH="1">
                    <a:off x="4705" y="1276"/>
                    <a:ext cx="86" cy="3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sp>
          <p:nvSpPr>
            <p:cNvPr id="53305" name="Text Box 47"/>
            <p:cNvSpPr txBox="1">
              <a:spLocks noChangeArrowheads="1"/>
            </p:cNvSpPr>
            <p:nvPr/>
          </p:nvSpPr>
          <p:spPr bwMode="auto">
            <a:xfrm>
              <a:off x="4272" y="2016"/>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16</a:t>
              </a:r>
            </a:p>
          </p:txBody>
        </p:sp>
      </p:grpSp>
      <p:grpSp>
        <p:nvGrpSpPr>
          <p:cNvPr id="53251" name="Group 48"/>
          <p:cNvGrpSpPr>
            <a:grpSpLocks/>
          </p:cNvGrpSpPr>
          <p:nvPr/>
        </p:nvGrpSpPr>
        <p:grpSpPr bwMode="auto">
          <a:xfrm>
            <a:off x="381000" y="1550988"/>
            <a:ext cx="4191000" cy="3325812"/>
            <a:chOff x="240" y="240"/>
            <a:chExt cx="2640" cy="2095"/>
          </a:xfrm>
        </p:grpSpPr>
        <p:grpSp>
          <p:nvGrpSpPr>
            <p:cNvPr id="53257" name="Group 49"/>
            <p:cNvGrpSpPr>
              <a:grpSpLocks/>
            </p:cNvGrpSpPr>
            <p:nvPr/>
          </p:nvGrpSpPr>
          <p:grpSpPr bwMode="auto">
            <a:xfrm>
              <a:off x="240" y="240"/>
              <a:ext cx="2640" cy="2095"/>
              <a:chOff x="816" y="240"/>
              <a:chExt cx="2640" cy="2095"/>
            </a:xfrm>
          </p:grpSpPr>
          <p:grpSp>
            <p:nvGrpSpPr>
              <p:cNvPr id="53259" name="Group 50"/>
              <p:cNvGrpSpPr>
                <a:grpSpLocks/>
              </p:cNvGrpSpPr>
              <p:nvPr/>
            </p:nvGrpSpPr>
            <p:grpSpPr bwMode="auto">
              <a:xfrm>
                <a:off x="816" y="240"/>
                <a:ext cx="2640" cy="1618"/>
                <a:chOff x="864" y="2112"/>
                <a:chExt cx="2640" cy="1618"/>
              </a:xfrm>
            </p:grpSpPr>
            <p:sp>
              <p:nvSpPr>
                <p:cNvPr id="53265" name="Line 51"/>
                <p:cNvSpPr>
                  <a:spLocks noChangeShapeType="1"/>
                </p:cNvSpPr>
                <p:nvPr/>
              </p:nvSpPr>
              <p:spPr bwMode="auto">
                <a:xfrm flipH="1">
                  <a:off x="2208" y="2832"/>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266" name="Group 52"/>
                <p:cNvGrpSpPr>
                  <a:grpSpLocks/>
                </p:cNvGrpSpPr>
                <p:nvPr/>
              </p:nvGrpSpPr>
              <p:grpSpPr bwMode="auto">
                <a:xfrm>
                  <a:off x="864" y="2112"/>
                  <a:ext cx="2640" cy="1618"/>
                  <a:chOff x="864" y="2112"/>
                  <a:chExt cx="2640" cy="1618"/>
                </a:xfrm>
              </p:grpSpPr>
              <p:grpSp>
                <p:nvGrpSpPr>
                  <p:cNvPr id="53267" name="Group 53"/>
                  <p:cNvGrpSpPr>
                    <a:grpSpLocks/>
                  </p:cNvGrpSpPr>
                  <p:nvPr/>
                </p:nvGrpSpPr>
                <p:grpSpPr bwMode="auto">
                  <a:xfrm>
                    <a:off x="864" y="2112"/>
                    <a:ext cx="2112" cy="1234"/>
                    <a:chOff x="0" y="1632"/>
                    <a:chExt cx="2112" cy="1234"/>
                  </a:xfrm>
                </p:grpSpPr>
                <p:grpSp>
                  <p:nvGrpSpPr>
                    <p:cNvPr id="53278" name="Group 54"/>
                    <p:cNvGrpSpPr>
                      <a:grpSpLocks/>
                    </p:cNvGrpSpPr>
                    <p:nvPr/>
                  </p:nvGrpSpPr>
                  <p:grpSpPr bwMode="auto">
                    <a:xfrm>
                      <a:off x="288" y="1632"/>
                      <a:ext cx="1824" cy="1104"/>
                      <a:chOff x="240" y="2880"/>
                      <a:chExt cx="2160" cy="1440"/>
                    </a:xfrm>
                  </p:grpSpPr>
                  <p:grpSp>
                    <p:nvGrpSpPr>
                      <p:cNvPr id="53288" name="Group 55"/>
                      <p:cNvGrpSpPr>
                        <a:grpSpLocks/>
                      </p:cNvGrpSpPr>
                      <p:nvPr/>
                    </p:nvGrpSpPr>
                    <p:grpSpPr bwMode="auto">
                      <a:xfrm>
                        <a:off x="240" y="2880"/>
                        <a:ext cx="1489" cy="1028"/>
                        <a:chOff x="3840" y="1632"/>
                        <a:chExt cx="1489" cy="1028"/>
                      </a:xfrm>
                    </p:grpSpPr>
                    <p:grpSp>
                      <p:nvGrpSpPr>
                        <p:cNvPr id="53294" name="Group 56"/>
                        <p:cNvGrpSpPr>
                          <a:grpSpLocks/>
                        </p:cNvGrpSpPr>
                        <p:nvPr/>
                      </p:nvGrpSpPr>
                      <p:grpSpPr bwMode="auto">
                        <a:xfrm>
                          <a:off x="3840" y="1632"/>
                          <a:ext cx="1391" cy="971"/>
                          <a:chOff x="288" y="1045"/>
                          <a:chExt cx="1391" cy="971"/>
                        </a:xfrm>
                      </p:grpSpPr>
                      <p:sp>
                        <p:nvSpPr>
                          <p:cNvPr id="53299" name="Oval 57"/>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00" name="Oval 58"/>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301" name="Line 59"/>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302" name="Text Box 60"/>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4</a:t>
                            </a:r>
                          </a:p>
                        </p:txBody>
                      </p:sp>
                      <p:sp>
                        <p:nvSpPr>
                          <p:cNvPr id="53303" name="Text Box 61"/>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grpSp>
                      <p:nvGrpSpPr>
                        <p:cNvPr id="53295" name="Group 62"/>
                        <p:cNvGrpSpPr>
                          <a:grpSpLocks/>
                        </p:cNvGrpSpPr>
                        <p:nvPr/>
                      </p:nvGrpSpPr>
                      <p:grpSpPr bwMode="auto">
                        <a:xfrm>
                          <a:off x="4656" y="2016"/>
                          <a:ext cx="673" cy="644"/>
                          <a:chOff x="4272" y="2016"/>
                          <a:chExt cx="913" cy="805"/>
                        </a:xfrm>
                      </p:grpSpPr>
                      <p:sp>
                        <p:nvSpPr>
                          <p:cNvPr id="53296" name="Oval 63"/>
                          <p:cNvSpPr>
                            <a:spLocks noChangeArrowheads="1"/>
                          </p:cNvSpPr>
                          <p:nvPr/>
                        </p:nvSpPr>
                        <p:spPr bwMode="auto">
                          <a:xfrm>
                            <a:off x="4704" y="2352"/>
                            <a:ext cx="480"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97" name="Text Box 64"/>
                          <p:cNvSpPr txBox="1">
                            <a:spLocks noChangeArrowheads="1"/>
                          </p:cNvSpPr>
                          <p:nvPr/>
                        </p:nvSpPr>
                        <p:spPr bwMode="auto">
                          <a:xfrm>
                            <a:off x="4704" y="2351"/>
                            <a:ext cx="48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2400" b="0">
                                <a:latin typeface="Times New Roman" panose="02020603050405020304" pitchFamily="18" charset="0"/>
                              </a:rPr>
                              <a:t>6</a:t>
                            </a:r>
                          </a:p>
                        </p:txBody>
                      </p:sp>
                      <p:sp>
                        <p:nvSpPr>
                          <p:cNvPr id="53298" name="Line 65"/>
                          <p:cNvSpPr>
                            <a:spLocks noChangeShapeType="1"/>
                          </p:cNvSpPr>
                          <p:nvPr/>
                        </p:nvSpPr>
                        <p:spPr bwMode="auto">
                          <a:xfrm>
                            <a:off x="4272" y="201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3289" name="Group 66"/>
                      <p:cNvGrpSpPr>
                        <a:grpSpLocks/>
                      </p:cNvGrpSpPr>
                      <p:nvPr/>
                    </p:nvGrpSpPr>
                    <p:grpSpPr bwMode="auto">
                      <a:xfrm>
                        <a:off x="1680" y="3809"/>
                        <a:ext cx="720" cy="511"/>
                        <a:chOff x="1056" y="1454"/>
                        <a:chExt cx="720" cy="511"/>
                      </a:xfrm>
                    </p:grpSpPr>
                    <p:sp>
                      <p:nvSpPr>
                        <p:cNvPr id="53290" name="Line 67"/>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291" name="Group 68"/>
                        <p:cNvGrpSpPr>
                          <a:grpSpLocks/>
                        </p:cNvGrpSpPr>
                        <p:nvPr/>
                      </p:nvGrpSpPr>
                      <p:grpSpPr bwMode="auto">
                        <a:xfrm>
                          <a:off x="1152" y="1556"/>
                          <a:ext cx="624" cy="409"/>
                          <a:chOff x="1152" y="1556"/>
                          <a:chExt cx="624" cy="409"/>
                        </a:xfrm>
                      </p:grpSpPr>
                      <p:sp>
                        <p:nvSpPr>
                          <p:cNvPr id="53292" name="Oval 69"/>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93" name="Text Box 70"/>
                          <p:cNvSpPr txBox="1">
                            <a:spLocks noChangeArrowheads="1"/>
                          </p:cNvSpPr>
                          <p:nvPr/>
                        </p:nvSpPr>
                        <p:spPr bwMode="auto">
                          <a:xfrm>
                            <a:off x="1200" y="1631"/>
                            <a:ext cx="576"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15</a:t>
                            </a:r>
                          </a:p>
                        </p:txBody>
                      </p:sp>
                    </p:grpSp>
                  </p:grpSp>
                </p:grpSp>
                <p:grpSp>
                  <p:nvGrpSpPr>
                    <p:cNvPr id="53279" name="Group 71"/>
                    <p:cNvGrpSpPr>
                      <a:grpSpLocks/>
                    </p:cNvGrpSpPr>
                    <p:nvPr/>
                  </p:nvGrpSpPr>
                  <p:grpSpPr bwMode="auto">
                    <a:xfrm>
                      <a:off x="0" y="2352"/>
                      <a:ext cx="432" cy="514"/>
                      <a:chOff x="0" y="3758"/>
                      <a:chExt cx="672" cy="562"/>
                    </a:xfrm>
                  </p:grpSpPr>
                  <p:sp>
                    <p:nvSpPr>
                      <p:cNvPr id="53285" name="Oval 72"/>
                      <p:cNvSpPr>
                        <a:spLocks noChangeArrowheads="1"/>
                      </p:cNvSpPr>
                      <p:nvPr/>
                    </p:nvSpPr>
                    <p:spPr bwMode="auto">
                      <a:xfrm>
                        <a:off x="0" y="3911"/>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86" name="Line 73"/>
                      <p:cNvSpPr>
                        <a:spLocks noChangeShapeType="1"/>
                      </p:cNvSpPr>
                      <p:nvPr/>
                    </p:nvSpPr>
                    <p:spPr bwMode="auto">
                      <a:xfrm flipH="1">
                        <a:off x="336" y="3758"/>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287" name="Text Box 74"/>
                      <p:cNvSpPr txBox="1">
                        <a:spLocks noChangeArrowheads="1"/>
                      </p:cNvSpPr>
                      <p:nvPr/>
                    </p:nvSpPr>
                    <p:spPr bwMode="auto">
                      <a:xfrm>
                        <a:off x="96" y="3962"/>
                        <a:ext cx="4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53280" name="Group 75"/>
                    <p:cNvGrpSpPr>
                      <a:grpSpLocks/>
                    </p:cNvGrpSpPr>
                    <p:nvPr/>
                  </p:nvGrpSpPr>
                  <p:grpSpPr bwMode="auto">
                    <a:xfrm>
                      <a:off x="576" y="2352"/>
                      <a:ext cx="720" cy="511"/>
                      <a:chOff x="1056" y="1454"/>
                      <a:chExt cx="720" cy="511"/>
                    </a:xfrm>
                  </p:grpSpPr>
                  <p:sp>
                    <p:nvSpPr>
                      <p:cNvPr id="53281" name="Line 76"/>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282" name="Group 77"/>
                      <p:cNvGrpSpPr>
                        <a:grpSpLocks/>
                      </p:cNvGrpSpPr>
                      <p:nvPr/>
                    </p:nvGrpSpPr>
                    <p:grpSpPr bwMode="auto">
                      <a:xfrm>
                        <a:off x="1152" y="1556"/>
                        <a:ext cx="624" cy="409"/>
                        <a:chOff x="1152" y="1556"/>
                        <a:chExt cx="624" cy="409"/>
                      </a:xfrm>
                    </p:grpSpPr>
                    <p:sp>
                      <p:nvSpPr>
                        <p:cNvPr id="53283" name="Oval 7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84" name="Text Box 79"/>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grpSp>
              </p:grpSp>
              <p:sp>
                <p:nvSpPr>
                  <p:cNvPr id="53268" name="Oval 80"/>
                  <p:cNvSpPr>
                    <a:spLocks noChangeArrowheads="1"/>
                  </p:cNvSpPr>
                  <p:nvPr/>
                </p:nvSpPr>
                <p:spPr bwMode="auto">
                  <a:xfrm>
                    <a:off x="2064" y="307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69" name="Text Box 81"/>
                  <p:cNvSpPr txBox="1">
                    <a:spLocks noChangeArrowheads="1"/>
                  </p:cNvSpPr>
                  <p:nvPr/>
                </p:nvSpPr>
                <p:spPr bwMode="auto">
                  <a:xfrm>
                    <a:off x="2112" y="30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nvGrpSpPr>
                  <p:cNvPr id="53270" name="Group 82"/>
                  <p:cNvGrpSpPr>
                    <a:grpSpLocks/>
                  </p:cNvGrpSpPr>
                  <p:nvPr/>
                </p:nvGrpSpPr>
                <p:grpSpPr bwMode="auto">
                  <a:xfrm>
                    <a:off x="2784" y="3120"/>
                    <a:ext cx="720" cy="511"/>
                    <a:chOff x="1056" y="1454"/>
                    <a:chExt cx="720" cy="511"/>
                  </a:xfrm>
                </p:grpSpPr>
                <p:sp>
                  <p:nvSpPr>
                    <p:cNvPr id="53274" name="Line 83"/>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275" name="Group 84"/>
                    <p:cNvGrpSpPr>
                      <a:grpSpLocks/>
                    </p:cNvGrpSpPr>
                    <p:nvPr/>
                  </p:nvGrpSpPr>
                  <p:grpSpPr bwMode="auto">
                    <a:xfrm>
                      <a:off x="1152" y="1556"/>
                      <a:ext cx="624" cy="409"/>
                      <a:chOff x="1152" y="1556"/>
                      <a:chExt cx="624" cy="409"/>
                    </a:xfrm>
                  </p:grpSpPr>
                  <p:sp>
                    <p:nvSpPr>
                      <p:cNvPr id="53276" name="Oval 85"/>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77" name="Text Box 86"/>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16</a:t>
                        </a:r>
                      </a:p>
                    </p:txBody>
                  </p:sp>
                </p:grpSp>
              </p:grpSp>
              <p:sp>
                <p:nvSpPr>
                  <p:cNvPr id="53271" name="Oval 87"/>
                  <p:cNvSpPr>
                    <a:spLocks noChangeArrowheads="1"/>
                  </p:cNvSpPr>
                  <p:nvPr/>
                </p:nvSpPr>
                <p:spPr bwMode="auto">
                  <a:xfrm>
                    <a:off x="2400" y="3456"/>
                    <a:ext cx="288" cy="27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72" name="Text Box 88"/>
                  <p:cNvSpPr txBox="1">
                    <a:spLocks noChangeArrowheads="1"/>
                  </p:cNvSpPr>
                  <p:nvPr/>
                </p:nvSpPr>
                <p:spPr bwMode="auto">
                  <a:xfrm>
                    <a:off x="2448" y="345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7</a:t>
                    </a:r>
                  </a:p>
                </p:txBody>
              </p:sp>
              <p:sp>
                <p:nvSpPr>
                  <p:cNvPr id="53273" name="Line 89"/>
                  <p:cNvSpPr>
                    <a:spLocks noChangeShapeType="1"/>
                  </p:cNvSpPr>
                  <p:nvPr/>
                </p:nvSpPr>
                <p:spPr bwMode="auto">
                  <a:xfrm flipH="1">
                    <a:off x="2544" y="3216"/>
                    <a:ext cx="4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grpSp>
          <p:grpSp>
            <p:nvGrpSpPr>
              <p:cNvPr id="53260" name="Group 90"/>
              <p:cNvGrpSpPr>
                <a:grpSpLocks/>
              </p:cNvGrpSpPr>
              <p:nvPr/>
            </p:nvGrpSpPr>
            <p:grpSpPr bwMode="auto">
              <a:xfrm>
                <a:off x="2544" y="1824"/>
                <a:ext cx="720" cy="511"/>
                <a:chOff x="1056" y="1454"/>
                <a:chExt cx="720" cy="511"/>
              </a:xfrm>
            </p:grpSpPr>
            <p:sp>
              <p:nvSpPr>
                <p:cNvPr id="53261" name="Line 91"/>
                <p:cNvSpPr>
                  <a:spLocks noChangeShapeType="1"/>
                </p:cNvSpPr>
                <p:nvPr/>
              </p:nvSpPr>
              <p:spPr bwMode="auto">
                <a:xfrm>
                  <a:off x="1056" y="1454"/>
                  <a:ext cx="240" cy="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3262" name="Group 92"/>
                <p:cNvGrpSpPr>
                  <a:grpSpLocks/>
                </p:cNvGrpSpPr>
                <p:nvPr/>
              </p:nvGrpSpPr>
              <p:grpSpPr bwMode="auto">
                <a:xfrm>
                  <a:off x="1152" y="1556"/>
                  <a:ext cx="624" cy="409"/>
                  <a:chOff x="1152" y="1556"/>
                  <a:chExt cx="624" cy="409"/>
                </a:xfrm>
              </p:grpSpPr>
              <p:sp>
                <p:nvSpPr>
                  <p:cNvPr id="53263" name="Oval 93"/>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3264" name="Text Box 94"/>
                  <p:cNvSpPr txBox="1">
                    <a:spLocks noChangeArrowheads="1"/>
                  </p:cNvSpPr>
                  <p:nvPr/>
                </p:nvSpPr>
                <p:spPr bwMode="auto">
                  <a:xfrm>
                    <a:off x="1200" y="1632"/>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14</a:t>
                    </a:r>
                  </a:p>
                </p:txBody>
              </p:sp>
            </p:grpSp>
          </p:grpSp>
        </p:grpSp>
        <p:sp>
          <p:nvSpPr>
            <p:cNvPr id="53258" name="Text Box 95"/>
            <p:cNvSpPr txBox="1">
              <a:spLocks noChangeArrowheads="1"/>
            </p:cNvSpPr>
            <p:nvPr/>
          </p:nvSpPr>
          <p:spPr bwMode="auto">
            <a:xfrm>
              <a:off x="864" y="172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Fig 15</a:t>
              </a:r>
            </a:p>
          </p:txBody>
        </p:sp>
      </p:grpSp>
      <p:sp>
        <p:nvSpPr>
          <p:cNvPr id="53252" name="Line 98"/>
          <p:cNvSpPr>
            <a:spLocks noChangeShapeType="1"/>
          </p:cNvSpPr>
          <p:nvPr/>
        </p:nvSpPr>
        <p:spPr bwMode="auto">
          <a:xfrm>
            <a:off x="3886200" y="2236788"/>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3253" name="Text Box 99"/>
          <p:cNvSpPr txBox="1">
            <a:spLocks noChangeArrowheads="1"/>
          </p:cNvSpPr>
          <p:nvPr/>
        </p:nvSpPr>
        <p:spPr bwMode="auto">
          <a:xfrm>
            <a:off x="3352800" y="1703388"/>
            <a:ext cx="190658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Double rotation</a:t>
            </a:r>
          </a:p>
        </p:txBody>
      </p:sp>
      <p:sp>
        <p:nvSpPr>
          <p:cNvPr id="53254" name="Oval 143"/>
          <p:cNvSpPr>
            <a:spLocks noChangeArrowheads="1"/>
          </p:cNvSpPr>
          <p:nvPr/>
        </p:nvSpPr>
        <p:spPr bwMode="auto">
          <a:xfrm>
            <a:off x="2362200" y="2312988"/>
            <a:ext cx="457200" cy="457200"/>
          </a:xfrm>
          <a:prstGeom prst="ellipse">
            <a:avLst/>
          </a:prstGeom>
          <a:noFill/>
          <a:ln w="31750">
            <a:solidFill>
              <a:srgbClr val="FF00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477800B4-69A5-4168-86A7-328E26FF23C9}" type="slidenum">
              <a:rPr lang="zh-TW" altLang="en-US" sz="1200">
                <a:solidFill>
                  <a:srgbClr val="898989"/>
                </a:solidFill>
              </a:rPr>
              <a:pPr/>
              <a:t>52</a:t>
            </a:fld>
            <a:endParaRPr lang="en-US" altLang="zh-TW"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450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fr-FR"/>
              <a:t>Deletion </a:t>
            </a:r>
          </a:p>
        </p:txBody>
      </p:sp>
      <p:sp>
        <p:nvSpPr>
          <p:cNvPr id="54275" name="Rectangle 3"/>
          <p:cNvSpPr>
            <a:spLocks noGrp="1" noChangeArrowheads="1"/>
          </p:cNvSpPr>
          <p:nvPr>
            <p:ph idx="1"/>
          </p:nvPr>
        </p:nvSpPr>
        <p:spPr/>
        <p:txBody>
          <a:bodyPr/>
          <a:lstStyle/>
          <a:p>
            <a:pPr eaLnBrk="1" hangingPunct="1"/>
            <a:r>
              <a:rPr lang="en-US" altLang="fr-FR" sz="2400"/>
              <a:t>Delete a node x as in ordinary binary search tree.  Note that the last node deleted is a leaf.</a:t>
            </a:r>
          </a:p>
          <a:p>
            <a:pPr eaLnBrk="1" hangingPunct="1"/>
            <a:r>
              <a:rPr lang="en-US" altLang="fr-FR" sz="2400"/>
              <a:t>Then trace the path from </a:t>
            </a:r>
            <a:r>
              <a:rPr lang="en-US" altLang="fr-FR" sz="2400" b="1">
                <a:solidFill>
                  <a:srgbClr val="FF0000"/>
                </a:solidFill>
              </a:rPr>
              <a:t>the new leaf towards the root</a:t>
            </a:r>
            <a:r>
              <a:rPr lang="en-US" altLang="fr-FR" sz="2400"/>
              <a:t>.</a:t>
            </a:r>
          </a:p>
          <a:p>
            <a:pPr eaLnBrk="1" hangingPunct="1"/>
            <a:r>
              <a:rPr lang="en-US" altLang="fr-FR" sz="2400"/>
              <a:t>For each node x encountered, check if heights of left(x) and right(x) differ by at most 1.  If yes, proceed to parent(x).  If not, perform an appropriate rotation at x.  There are 4 cases as in the case of insertion.</a:t>
            </a:r>
          </a:p>
          <a:p>
            <a:pPr eaLnBrk="1" hangingPunct="1"/>
            <a:r>
              <a:rPr lang="en-US" altLang="fr-FR" sz="2400"/>
              <a:t>For deletion, after we perform a rotation at x, we may have to perform a rotation at some ancestor of x. Thus, we must </a:t>
            </a:r>
            <a:r>
              <a:rPr lang="en-US" altLang="fr-FR" sz="2400" b="1">
                <a:solidFill>
                  <a:srgbClr val="FF0000"/>
                </a:solidFill>
              </a:rPr>
              <a:t>continue to trace the path until we reach the root</a:t>
            </a:r>
            <a:r>
              <a:rPr lang="en-US" altLang="fr-FR" sz="2400"/>
              <a:t>. </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CB068082-1A64-413B-8190-F82214B694CA}" type="slidenum">
              <a:rPr lang="zh-TW" altLang="en-US" sz="1200">
                <a:solidFill>
                  <a:srgbClr val="898989"/>
                </a:solidFill>
              </a:rPr>
              <a:pPr/>
              <a:t>53</a:t>
            </a:fld>
            <a:endParaRPr lang="en-US" altLang="zh-TW" sz="1200">
              <a:solidFill>
                <a:srgbClr val="898989"/>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fr-FR"/>
              <a:t>Deletion </a:t>
            </a:r>
          </a:p>
        </p:txBody>
      </p:sp>
      <p:sp>
        <p:nvSpPr>
          <p:cNvPr id="55299" name="Rectangle 3"/>
          <p:cNvSpPr>
            <a:spLocks noGrp="1" noChangeArrowheads="1"/>
          </p:cNvSpPr>
          <p:nvPr>
            <p:ph idx="1"/>
          </p:nvPr>
        </p:nvSpPr>
        <p:spPr/>
        <p:txBody>
          <a:bodyPr/>
          <a:lstStyle/>
          <a:p>
            <a:pPr eaLnBrk="1" hangingPunct="1"/>
            <a:r>
              <a:rPr lang="en-US" altLang="fr-FR"/>
              <a:t>On closer examination: the single rotation for deletion can be divided into 4 cases (instead of 2 cases)</a:t>
            </a:r>
          </a:p>
          <a:p>
            <a:pPr lvl="1" eaLnBrk="1" hangingPunct="1"/>
            <a:r>
              <a:rPr lang="en-US" altLang="fr-FR"/>
              <a:t>Two cases for rotate with left child</a:t>
            </a:r>
          </a:p>
          <a:p>
            <a:pPr lvl="1" eaLnBrk="1" hangingPunct="1"/>
            <a:r>
              <a:rPr lang="en-US" altLang="fr-FR"/>
              <a:t>Two cases for rotate with right child</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3813BCB3-FFE7-4907-B556-95CEE2971949}" type="slidenum">
              <a:rPr lang="zh-TW" altLang="en-US" sz="1200">
                <a:solidFill>
                  <a:srgbClr val="898989"/>
                </a:solidFill>
              </a:rPr>
              <a:pPr/>
              <a:t>54</a:t>
            </a:fld>
            <a:endParaRPr lang="en-US" altLang="zh-TW" sz="1200">
              <a:solidFill>
                <a:srgbClr val="898989"/>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fr-FR"/>
              <a:t>Single rotation in deletion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F156369B-47EB-4D1B-BF2D-F493702048AE}" type="slidenum">
              <a:rPr lang="zh-TW" altLang="en-US" sz="1200">
                <a:solidFill>
                  <a:srgbClr val="898989"/>
                </a:solidFill>
              </a:rPr>
              <a:pPr/>
              <a:t>55</a:t>
            </a:fld>
            <a:endParaRPr lang="en-US" altLang="zh-TW" sz="1200">
              <a:solidFill>
                <a:srgbClr val="898989"/>
              </a:solidFill>
            </a:endParaRPr>
          </a:p>
        </p:txBody>
      </p:sp>
      <p:graphicFrame>
        <p:nvGraphicFramePr>
          <p:cNvPr id="56325" name="Object 3"/>
          <p:cNvGraphicFramePr>
            <a:graphicFrameLocks noChangeAspect="1"/>
          </p:cNvGraphicFramePr>
          <p:nvPr/>
        </p:nvGraphicFramePr>
        <p:xfrm>
          <a:off x="685800" y="2590800"/>
          <a:ext cx="7696200" cy="2378075"/>
        </p:xfrm>
        <a:graphic>
          <a:graphicData uri="http://schemas.openxmlformats.org/presentationml/2006/ole">
            <mc:AlternateContent xmlns:mc="http://schemas.openxmlformats.org/markup-compatibility/2006">
              <mc:Choice xmlns:v="urn:schemas-microsoft-com:vml" Requires="v">
                <p:oleObj name="Bitmap Image" r:id="rId2" imgW="6380952" imgH="1971950" progId="Paint.Picture">
                  <p:embed/>
                </p:oleObj>
              </mc:Choice>
              <mc:Fallback>
                <p:oleObj name="Bitmap Image" r:id="rId2" imgW="6380952" imgH="1971950"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7696200" cy="23780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26" name="Object 4"/>
          <p:cNvGraphicFramePr>
            <a:graphicFrameLocks noChangeAspect="1"/>
          </p:cNvGraphicFramePr>
          <p:nvPr/>
        </p:nvGraphicFramePr>
        <p:xfrm>
          <a:off x="685800" y="4616450"/>
          <a:ext cx="7696200" cy="2241550"/>
        </p:xfrm>
        <a:graphic>
          <a:graphicData uri="http://schemas.openxmlformats.org/presentationml/2006/ole">
            <mc:AlternateContent xmlns:mc="http://schemas.openxmlformats.org/markup-compatibility/2006">
              <mc:Choice xmlns:v="urn:schemas-microsoft-com:vml" Requires="v">
                <p:oleObj name="Bitmap Image" r:id="rId4" imgW="6211167" imgH="1971950" progId="Paint.Picture">
                  <p:embed/>
                </p:oleObj>
              </mc:Choice>
              <mc:Fallback>
                <p:oleObj name="Bitmap Image" r:id="rId4" imgW="6211167" imgH="1971950"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b="8192"/>
                      <a:stretch>
                        <a:fillRect/>
                      </a:stretch>
                    </p:blipFill>
                    <p:spPr bwMode="auto">
                      <a:xfrm>
                        <a:off x="685800" y="4616450"/>
                        <a:ext cx="7696200" cy="2241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7" name="Text Box 5"/>
          <p:cNvSpPr txBox="1">
            <a:spLocks noChangeArrowheads="1"/>
          </p:cNvSpPr>
          <p:nvPr/>
        </p:nvSpPr>
        <p:spPr bwMode="auto">
          <a:xfrm>
            <a:off x="3124200" y="6461125"/>
            <a:ext cx="257651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a:solidFill>
                  <a:schemeClr val="bg2"/>
                </a:solidFill>
              </a:rPr>
              <a:t>rotate with left child</a:t>
            </a:r>
          </a:p>
        </p:txBody>
      </p:sp>
      <p:sp>
        <p:nvSpPr>
          <p:cNvPr id="56328" name="Text Box 6"/>
          <p:cNvSpPr txBox="1">
            <a:spLocks noChangeArrowheads="1"/>
          </p:cNvSpPr>
          <p:nvPr/>
        </p:nvSpPr>
        <p:spPr bwMode="auto">
          <a:xfrm>
            <a:off x="838200" y="1219200"/>
            <a:ext cx="7696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t>In both figures, a node is deleted in subtree C, causing the height to drop to h.  The height of y is h+2.  When the height of subtree A is h+1, the height of B can be h or h+1.  Fortunately, the same single rotation can correct both cases.  </a:t>
            </a:r>
          </a:p>
        </p:txBody>
      </p:sp>
      <p:sp>
        <p:nvSpPr>
          <p:cNvPr id="56329" name="Text Box 7"/>
          <p:cNvSpPr txBox="1">
            <a:spLocks noChangeArrowheads="1"/>
          </p:cNvSpPr>
          <p:nvPr/>
        </p:nvSpPr>
        <p:spPr bwMode="auto">
          <a:xfrm>
            <a:off x="3124200" y="2438400"/>
            <a:ext cx="18415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endParaRPr lang="fr-FR" altLang="fr-F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fr-FR"/>
              <a:t>Single rotation in deletion</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67A1953D-0E26-4CE8-A757-127B968D8D9F}" type="slidenum">
              <a:rPr lang="zh-TW" altLang="en-US" sz="1200">
                <a:solidFill>
                  <a:srgbClr val="898989"/>
                </a:solidFill>
              </a:rPr>
              <a:pPr/>
              <a:t>56</a:t>
            </a:fld>
            <a:endParaRPr lang="en-US" altLang="zh-TW" sz="1200">
              <a:solidFill>
                <a:srgbClr val="898989"/>
              </a:solidFill>
            </a:endParaRPr>
          </a:p>
        </p:txBody>
      </p:sp>
      <p:graphicFrame>
        <p:nvGraphicFramePr>
          <p:cNvPr id="57349" name="Object 3"/>
          <p:cNvGraphicFramePr>
            <a:graphicFrameLocks noChangeAspect="1"/>
          </p:cNvGraphicFramePr>
          <p:nvPr/>
        </p:nvGraphicFramePr>
        <p:xfrm>
          <a:off x="1066800" y="2790825"/>
          <a:ext cx="6646863" cy="1857375"/>
        </p:xfrm>
        <a:graphic>
          <a:graphicData uri="http://schemas.openxmlformats.org/presentationml/2006/ole">
            <mc:AlternateContent xmlns:mc="http://schemas.openxmlformats.org/markup-compatibility/2006">
              <mc:Choice xmlns:v="urn:schemas-microsoft-com:vml" Requires="v">
                <p:oleObj name="Bitmap Image" r:id="rId2" imgW="6647619" imgH="1857143" progId="Paint.Picture">
                  <p:embed/>
                </p:oleObj>
              </mc:Choice>
              <mc:Fallback>
                <p:oleObj name="Bitmap Image" r:id="rId2" imgW="6647619" imgH="1857143" progId="Paint.Picture">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790825"/>
                        <a:ext cx="6646863" cy="18573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0" name="Object 4"/>
          <p:cNvGraphicFramePr>
            <a:graphicFrameLocks noChangeAspect="1"/>
          </p:cNvGraphicFramePr>
          <p:nvPr/>
        </p:nvGraphicFramePr>
        <p:xfrm>
          <a:off x="1066800" y="4695825"/>
          <a:ext cx="6745288" cy="2009775"/>
        </p:xfrm>
        <a:graphic>
          <a:graphicData uri="http://schemas.openxmlformats.org/presentationml/2006/ole">
            <mc:AlternateContent xmlns:mc="http://schemas.openxmlformats.org/markup-compatibility/2006">
              <mc:Choice xmlns:v="urn:schemas-microsoft-com:vml" Requires="v">
                <p:oleObj name="Bitmap Image" r:id="rId4" imgW="6744641" imgH="2010056" progId="Paint.Picture">
                  <p:embed/>
                </p:oleObj>
              </mc:Choice>
              <mc:Fallback>
                <p:oleObj name="Bitmap Image" r:id="rId4" imgW="6744641" imgH="2010056"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695825"/>
                        <a:ext cx="6745288" cy="20097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51" name="Text Box 5"/>
          <p:cNvSpPr txBox="1">
            <a:spLocks noChangeArrowheads="1"/>
          </p:cNvSpPr>
          <p:nvPr/>
        </p:nvSpPr>
        <p:spPr bwMode="auto">
          <a:xfrm>
            <a:off x="2792413" y="6410325"/>
            <a:ext cx="2508250" cy="3667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sz="1800">
                <a:solidFill>
                  <a:schemeClr val="bg2"/>
                </a:solidFill>
              </a:rPr>
              <a:t>rotate with right child</a:t>
            </a:r>
          </a:p>
        </p:txBody>
      </p:sp>
      <p:sp>
        <p:nvSpPr>
          <p:cNvPr id="57352" name="Text Box 6"/>
          <p:cNvSpPr txBox="1">
            <a:spLocks noChangeArrowheads="1"/>
          </p:cNvSpPr>
          <p:nvPr/>
        </p:nvSpPr>
        <p:spPr bwMode="auto">
          <a:xfrm>
            <a:off x="838200" y="1447800"/>
            <a:ext cx="7696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t>In both figures, a node is deleted in subtree A, causing the height to drop to h.  The height of y is h+2.  When the height of subtree C is h+1, the height of B can be h or h+1. A single rotation can correct both cases.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fr-FR"/>
              <a:t>Rotation in deletion</a:t>
            </a:r>
          </a:p>
        </p:txBody>
      </p:sp>
      <p:sp>
        <p:nvSpPr>
          <p:cNvPr id="58371" name="Rectangle 3"/>
          <p:cNvSpPr>
            <a:spLocks noGrp="1" noChangeArrowheads="1"/>
          </p:cNvSpPr>
          <p:nvPr>
            <p:ph idx="1"/>
          </p:nvPr>
        </p:nvSpPr>
        <p:spPr/>
        <p:txBody>
          <a:bodyPr/>
          <a:lstStyle/>
          <a:p>
            <a:pPr eaLnBrk="1" hangingPunct="1"/>
            <a:r>
              <a:rPr lang="en-US" altLang="fr-FR"/>
              <a:t>There are 4 cases for single rotations, but we do not need to distinguish among them.</a:t>
            </a:r>
          </a:p>
          <a:p>
            <a:pPr eaLnBrk="1" hangingPunct="1"/>
            <a:r>
              <a:rPr lang="en-US" altLang="fr-FR"/>
              <a:t>There are exactly two cases for double rotations (as in the case of insertion)</a:t>
            </a:r>
          </a:p>
          <a:p>
            <a:pPr eaLnBrk="1" hangingPunct="1"/>
            <a:r>
              <a:rPr lang="en-US" altLang="fr-FR"/>
              <a:t>Therefore, we can reuse exactly the same procedure for insertion to determine which rotation to perform</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547373FD-8A1C-4EC6-B998-4ED9A6E7DE1D}" type="slidenum">
              <a:rPr lang="zh-TW" altLang="en-US" sz="1200">
                <a:solidFill>
                  <a:srgbClr val="898989"/>
                </a:solidFill>
              </a:rPr>
              <a:pPr/>
              <a:t>57</a:t>
            </a:fld>
            <a:endParaRPr lang="en-US" altLang="zh-TW" sz="1200">
              <a:solidFill>
                <a:srgbClr val="898989"/>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68736" name="Line 96"/>
          <p:cNvSpPr>
            <a:spLocks noChangeShapeType="1"/>
          </p:cNvSpPr>
          <p:nvPr/>
        </p:nvSpPr>
        <p:spPr bwMode="auto">
          <a:xfrm>
            <a:off x="3886200" y="2236788"/>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368737" name="Text Box 97"/>
          <p:cNvSpPr txBox="1">
            <a:spLocks noChangeArrowheads="1"/>
          </p:cNvSpPr>
          <p:nvPr/>
        </p:nvSpPr>
        <p:spPr bwMode="auto">
          <a:xfrm>
            <a:off x="3581400" y="1752600"/>
            <a:ext cx="127158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Delete 12</a:t>
            </a:r>
          </a:p>
        </p:txBody>
      </p:sp>
      <p:grpSp>
        <p:nvGrpSpPr>
          <p:cNvPr id="59396" name="Group 138"/>
          <p:cNvGrpSpPr>
            <a:grpSpLocks/>
          </p:cNvGrpSpPr>
          <p:nvPr/>
        </p:nvGrpSpPr>
        <p:grpSpPr bwMode="auto">
          <a:xfrm>
            <a:off x="304800" y="1550988"/>
            <a:ext cx="3124200" cy="2771775"/>
            <a:chOff x="192" y="977"/>
            <a:chExt cx="1968" cy="1746"/>
          </a:xfrm>
        </p:grpSpPr>
        <p:sp>
          <p:nvSpPr>
            <p:cNvPr id="59425" name="Line 51"/>
            <p:cNvSpPr>
              <a:spLocks noChangeShapeType="1"/>
            </p:cNvSpPr>
            <p:nvPr/>
          </p:nvSpPr>
          <p:spPr bwMode="auto">
            <a:xfrm flipH="1">
              <a:off x="1776" y="1728"/>
              <a:ext cx="9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9426" name="Group 56"/>
            <p:cNvGrpSpPr>
              <a:grpSpLocks/>
            </p:cNvGrpSpPr>
            <p:nvPr/>
          </p:nvGrpSpPr>
          <p:grpSpPr bwMode="auto">
            <a:xfrm>
              <a:off x="816" y="977"/>
              <a:ext cx="1174" cy="744"/>
              <a:chOff x="288" y="1045"/>
              <a:chExt cx="1391" cy="971"/>
            </a:xfrm>
          </p:grpSpPr>
          <p:sp>
            <p:nvSpPr>
              <p:cNvPr id="59445" name="Oval 57"/>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46" name="Oval 58"/>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47" name="Line 59"/>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48" name="Text Box 60"/>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9</a:t>
                </a:r>
              </a:p>
            </p:txBody>
          </p:sp>
          <p:sp>
            <p:nvSpPr>
              <p:cNvPr id="59449" name="Text Box 61"/>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sp>
          <p:nvSpPr>
            <p:cNvPr id="59427" name="Oval 63"/>
            <p:cNvSpPr>
              <a:spLocks noChangeArrowheads="1"/>
            </p:cNvSpPr>
            <p:nvPr/>
          </p:nvSpPr>
          <p:spPr bwMode="auto">
            <a:xfrm>
              <a:off x="1776" y="1440"/>
              <a:ext cx="338" cy="29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28" name="Line 65"/>
            <p:cNvSpPr>
              <a:spLocks noChangeShapeType="1"/>
            </p:cNvSpPr>
            <p:nvPr/>
          </p:nvSpPr>
          <p:spPr bwMode="auto">
            <a:xfrm>
              <a:off x="1505" y="1271"/>
              <a:ext cx="388" cy="2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29" name="Oval 72"/>
            <p:cNvSpPr>
              <a:spLocks noChangeArrowheads="1"/>
            </p:cNvSpPr>
            <p:nvPr/>
          </p:nvSpPr>
          <p:spPr bwMode="auto">
            <a:xfrm>
              <a:off x="528" y="1837"/>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30" name="Line 73"/>
            <p:cNvSpPr>
              <a:spLocks noChangeShapeType="1"/>
            </p:cNvSpPr>
            <p:nvPr/>
          </p:nvSpPr>
          <p:spPr bwMode="auto">
            <a:xfrm flipH="1">
              <a:off x="744" y="1697"/>
              <a:ext cx="216"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31" name="Text Box 74"/>
            <p:cNvSpPr txBox="1">
              <a:spLocks noChangeArrowheads="1"/>
            </p:cNvSpPr>
            <p:nvPr/>
          </p:nvSpPr>
          <p:spPr bwMode="auto">
            <a:xfrm>
              <a:off x="590" y="1884"/>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59432" name="Line 76"/>
            <p:cNvSpPr>
              <a:spLocks noChangeShapeType="1"/>
            </p:cNvSpPr>
            <p:nvPr/>
          </p:nvSpPr>
          <p:spPr bwMode="auto">
            <a:xfrm>
              <a:off x="1104" y="1697"/>
              <a:ext cx="240" cy="1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9433" name="Group 77"/>
            <p:cNvGrpSpPr>
              <a:grpSpLocks/>
            </p:cNvGrpSpPr>
            <p:nvPr/>
          </p:nvGrpSpPr>
          <p:grpSpPr bwMode="auto">
            <a:xfrm>
              <a:off x="1200" y="1824"/>
              <a:ext cx="528" cy="384"/>
              <a:chOff x="1152" y="1556"/>
              <a:chExt cx="624" cy="409"/>
            </a:xfrm>
          </p:grpSpPr>
          <p:sp>
            <p:nvSpPr>
              <p:cNvPr id="59443" name="Oval 78"/>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44" name="Text Box 79"/>
              <p:cNvSpPr txBox="1">
                <a:spLocks noChangeArrowheads="1"/>
              </p:cNvSpPr>
              <p:nvPr/>
            </p:nvSpPr>
            <p:spPr bwMode="auto">
              <a:xfrm>
                <a:off x="1200" y="1632"/>
                <a:ext cx="57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sp>
          <p:nvSpPr>
            <p:cNvPr id="59434" name="Oval 80"/>
            <p:cNvSpPr>
              <a:spLocks noChangeArrowheads="1"/>
            </p:cNvSpPr>
            <p:nvPr/>
          </p:nvSpPr>
          <p:spPr bwMode="auto">
            <a:xfrm>
              <a:off x="1632" y="1889"/>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35" name="Text Box 81"/>
            <p:cNvSpPr txBox="1">
              <a:spLocks noChangeArrowheads="1"/>
            </p:cNvSpPr>
            <p:nvPr/>
          </p:nvSpPr>
          <p:spPr bwMode="auto">
            <a:xfrm>
              <a:off x="1680" y="1889"/>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11</a:t>
              </a:r>
            </a:p>
          </p:txBody>
        </p:sp>
        <p:sp>
          <p:nvSpPr>
            <p:cNvPr id="59436" name="Line 99"/>
            <p:cNvSpPr>
              <a:spLocks noChangeShapeType="1"/>
            </p:cNvSpPr>
            <p:nvPr/>
          </p:nvSpPr>
          <p:spPr bwMode="auto">
            <a:xfrm flipH="1">
              <a:off x="432" y="2208"/>
              <a:ext cx="12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37" name="Oval 100"/>
            <p:cNvSpPr>
              <a:spLocks noChangeArrowheads="1"/>
            </p:cNvSpPr>
            <p:nvPr/>
          </p:nvSpPr>
          <p:spPr bwMode="auto">
            <a:xfrm>
              <a:off x="192" y="2317"/>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38" name="Text Box 101"/>
            <p:cNvSpPr txBox="1">
              <a:spLocks noChangeArrowheads="1"/>
            </p:cNvSpPr>
            <p:nvPr/>
          </p:nvSpPr>
          <p:spPr bwMode="auto">
            <a:xfrm>
              <a:off x="240" y="2400"/>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59439" name="Oval 102"/>
            <p:cNvSpPr>
              <a:spLocks noChangeArrowheads="1"/>
            </p:cNvSpPr>
            <p:nvPr/>
          </p:nvSpPr>
          <p:spPr bwMode="auto">
            <a:xfrm>
              <a:off x="720" y="2352"/>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40" name="Line 103"/>
            <p:cNvSpPr>
              <a:spLocks noChangeShapeType="1"/>
            </p:cNvSpPr>
            <p:nvPr/>
          </p:nvSpPr>
          <p:spPr bwMode="auto">
            <a:xfrm>
              <a:off x="768" y="2208"/>
              <a:ext cx="4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41" name="Text Box 104"/>
            <p:cNvSpPr txBox="1">
              <a:spLocks noChangeArrowheads="1"/>
            </p:cNvSpPr>
            <p:nvPr/>
          </p:nvSpPr>
          <p:spPr bwMode="auto">
            <a:xfrm>
              <a:off x="796" y="2400"/>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sp>
          <p:nvSpPr>
            <p:cNvPr id="59442" name="Text Box 105"/>
            <p:cNvSpPr txBox="1">
              <a:spLocks noChangeArrowheads="1"/>
            </p:cNvSpPr>
            <p:nvPr/>
          </p:nvSpPr>
          <p:spPr bwMode="auto">
            <a:xfrm>
              <a:off x="1804" y="1449"/>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12</a:t>
              </a:r>
            </a:p>
          </p:txBody>
        </p:sp>
      </p:grpSp>
      <p:grpSp>
        <p:nvGrpSpPr>
          <p:cNvPr id="59397" name="Group 137"/>
          <p:cNvGrpSpPr>
            <a:grpSpLocks/>
          </p:cNvGrpSpPr>
          <p:nvPr/>
        </p:nvGrpSpPr>
        <p:grpSpPr bwMode="auto">
          <a:xfrm>
            <a:off x="5105400" y="1571625"/>
            <a:ext cx="2971800" cy="1954213"/>
            <a:chOff x="3216" y="990"/>
            <a:chExt cx="1872" cy="1231"/>
          </a:xfrm>
        </p:grpSpPr>
        <p:sp>
          <p:nvSpPr>
            <p:cNvPr id="59403" name="Line 107"/>
            <p:cNvSpPr>
              <a:spLocks noChangeShapeType="1"/>
            </p:cNvSpPr>
            <p:nvPr/>
          </p:nvSpPr>
          <p:spPr bwMode="auto">
            <a:xfrm flipH="1">
              <a:off x="4464" y="1741"/>
              <a:ext cx="9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9404" name="Group 108"/>
            <p:cNvGrpSpPr>
              <a:grpSpLocks/>
            </p:cNvGrpSpPr>
            <p:nvPr/>
          </p:nvGrpSpPr>
          <p:grpSpPr bwMode="auto">
            <a:xfrm>
              <a:off x="3504" y="990"/>
              <a:ext cx="1174" cy="744"/>
              <a:chOff x="288" y="1045"/>
              <a:chExt cx="1391" cy="971"/>
            </a:xfrm>
          </p:grpSpPr>
          <p:sp>
            <p:nvSpPr>
              <p:cNvPr id="59420" name="Oval 109"/>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21" name="Oval 110"/>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22" name="Line 111"/>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23" name="Text Box 112"/>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sp>
            <p:nvSpPr>
              <p:cNvPr id="59424" name="Text Box 113"/>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grpSp>
        <p:sp>
          <p:nvSpPr>
            <p:cNvPr id="59405" name="Oval 114"/>
            <p:cNvSpPr>
              <a:spLocks noChangeArrowheads="1"/>
            </p:cNvSpPr>
            <p:nvPr/>
          </p:nvSpPr>
          <p:spPr bwMode="auto">
            <a:xfrm>
              <a:off x="4464" y="1453"/>
              <a:ext cx="338" cy="29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06" name="Line 115"/>
            <p:cNvSpPr>
              <a:spLocks noChangeShapeType="1"/>
            </p:cNvSpPr>
            <p:nvPr/>
          </p:nvSpPr>
          <p:spPr bwMode="auto">
            <a:xfrm>
              <a:off x="4193" y="1284"/>
              <a:ext cx="388" cy="2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07" name="Oval 116"/>
            <p:cNvSpPr>
              <a:spLocks noChangeArrowheads="1"/>
            </p:cNvSpPr>
            <p:nvPr/>
          </p:nvSpPr>
          <p:spPr bwMode="auto">
            <a:xfrm>
              <a:off x="3216" y="1850"/>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08" name="Line 117"/>
            <p:cNvSpPr>
              <a:spLocks noChangeShapeType="1"/>
            </p:cNvSpPr>
            <p:nvPr/>
          </p:nvSpPr>
          <p:spPr bwMode="auto">
            <a:xfrm flipH="1">
              <a:off x="3432" y="1710"/>
              <a:ext cx="216"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09" name="Text Box 118"/>
            <p:cNvSpPr txBox="1">
              <a:spLocks noChangeArrowheads="1"/>
            </p:cNvSpPr>
            <p:nvPr/>
          </p:nvSpPr>
          <p:spPr bwMode="auto">
            <a:xfrm>
              <a:off x="3278" y="1897"/>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sp>
          <p:nvSpPr>
            <p:cNvPr id="59410" name="Line 119"/>
            <p:cNvSpPr>
              <a:spLocks noChangeShapeType="1"/>
            </p:cNvSpPr>
            <p:nvPr/>
          </p:nvSpPr>
          <p:spPr bwMode="auto">
            <a:xfrm>
              <a:off x="3792" y="1710"/>
              <a:ext cx="240" cy="1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59411" name="Group 120"/>
            <p:cNvGrpSpPr>
              <a:grpSpLocks/>
            </p:cNvGrpSpPr>
            <p:nvPr/>
          </p:nvGrpSpPr>
          <p:grpSpPr bwMode="auto">
            <a:xfrm>
              <a:off x="3888" y="1837"/>
              <a:ext cx="528" cy="384"/>
              <a:chOff x="1152" y="1556"/>
              <a:chExt cx="624" cy="409"/>
            </a:xfrm>
          </p:grpSpPr>
          <p:sp>
            <p:nvSpPr>
              <p:cNvPr id="59418" name="Oval 121"/>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19" name="Text Box 122"/>
              <p:cNvSpPr txBox="1">
                <a:spLocks noChangeArrowheads="1"/>
              </p:cNvSpPr>
              <p:nvPr/>
            </p:nvSpPr>
            <p:spPr bwMode="auto">
              <a:xfrm>
                <a:off x="1200" y="1632"/>
                <a:ext cx="57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2</a:t>
                </a:r>
              </a:p>
            </p:txBody>
          </p:sp>
        </p:grpSp>
        <p:sp>
          <p:nvSpPr>
            <p:cNvPr id="59412" name="Oval 123"/>
            <p:cNvSpPr>
              <a:spLocks noChangeArrowheads="1"/>
            </p:cNvSpPr>
            <p:nvPr/>
          </p:nvSpPr>
          <p:spPr bwMode="auto">
            <a:xfrm>
              <a:off x="4320" y="1902"/>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13" name="Text Box 124"/>
            <p:cNvSpPr txBox="1">
              <a:spLocks noChangeArrowheads="1"/>
            </p:cNvSpPr>
            <p:nvPr/>
          </p:nvSpPr>
          <p:spPr bwMode="auto">
            <a:xfrm>
              <a:off x="4368" y="190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sp>
          <p:nvSpPr>
            <p:cNvPr id="59414" name="Oval 129"/>
            <p:cNvSpPr>
              <a:spLocks noChangeArrowheads="1"/>
            </p:cNvSpPr>
            <p:nvPr/>
          </p:nvSpPr>
          <p:spPr bwMode="auto">
            <a:xfrm>
              <a:off x="4704" y="1824"/>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59415" name="Line 130"/>
            <p:cNvSpPr>
              <a:spLocks noChangeShapeType="1"/>
            </p:cNvSpPr>
            <p:nvPr/>
          </p:nvSpPr>
          <p:spPr bwMode="auto">
            <a:xfrm>
              <a:off x="4752" y="1728"/>
              <a:ext cx="4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59416" name="Text Box 131"/>
            <p:cNvSpPr txBox="1">
              <a:spLocks noChangeArrowheads="1"/>
            </p:cNvSpPr>
            <p:nvPr/>
          </p:nvSpPr>
          <p:spPr bwMode="auto">
            <a:xfrm>
              <a:off x="4780" y="187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11</a:t>
              </a:r>
            </a:p>
          </p:txBody>
        </p:sp>
        <p:sp>
          <p:nvSpPr>
            <p:cNvPr id="59417" name="Text Box 132"/>
            <p:cNvSpPr txBox="1">
              <a:spLocks noChangeArrowheads="1"/>
            </p:cNvSpPr>
            <p:nvPr/>
          </p:nvSpPr>
          <p:spPr bwMode="auto">
            <a:xfrm>
              <a:off x="4492" y="146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 9</a:t>
              </a:r>
            </a:p>
          </p:txBody>
        </p:sp>
      </p:grpSp>
      <p:sp>
        <p:nvSpPr>
          <p:cNvPr id="368773" name="Text Box 133"/>
          <p:cNvSpPr txBox="1">
            <a:spLocks noChangeArrowheads="1"/>
          </p:cNvSpPr>
          <p:nvPr/>
        </p:nvSpPr>
        <p:spPr bwMode="auto">
          <a:xfrm>
            <a:off x="3581400" y="2498725"/>
            <a:ext cx="1808163"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Single rotation</a:t>
            </a:r>
          </a:p>
        </p:txBody>
      </p:sp>
      <p:sp>
        <p:nvSpPr>
          <p:cNvPr id="59399" name="Rectangle 134"/>
          <p:cNvSpPr>
            <a:spLocks noGrp="1" noChangeArrowheads="1"/>
          </p:cNvSpPr>
          <p:nvPr>
            <p:ph type="title"/>
          </p:nvPr>
        </p:nvSpPr>
        <p:spPr/>
        <p:txBody>
          <a:bodyPr/>
          <a:lstStyle/>
          <a:p>
            <a:pPr eaLnBrk="1" hangingPunct="1"/>
            <a:r>
              <a:rPr lang="en-US" altLang="fr-FR"/>
              <a:t>Deletion </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0C483230-DED6-4782-B6B8-BAE98607C992}" type="slidenum">
              <a:rPr lang="zh-TW" altLang="en-US" sz="1200">
                <a:solidFill>
                  <a:srgbClr val="898989"/>
                </a:solidFill>
              </a:rPr>
              <a:pPr/>
              <a:t>58</a:t>
            </a:fld>
            <a:endParaRPr lang="en-US" altLang="zh-TW" sz="1200">
              <a:solidFill>
                <a:srgbClr val="898989"/>
              </a:solidFill>
            </a:endParaRPr>
          </a:p>
        </p:txBody>
      </p:sp>
      <p:sp>
        <p:nvSpPr>
          <p:cNvPr id="59402" name="Oval 135"/>
          <p:cNvSpPr>
            <a:spLocks noChangeArrowheads="1"/>
          </p:cNvSpPr>
          <p:nvPr/>
        </p:nvSpPr>
        <p:spPr bwMode="auto">
          <a:xfrm>
            <a:off x="2819400" y="2286000"/>
            <a:ext cx="533400" cy="457200"/>
          </a:xfrm>
          <a:prstGeom prst="ellipse">
            <a:avLst/>
          </a:prstGeom>
          <a:noFill/>
          <a:ln w="31750">
            <a:solidFill>
              <a:srgbClr val="00FF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7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7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37" grpId="0"/>
      <p:bldP spid="368773" grpId="0"/>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69684" name="Line 20"/>
          <p:cNvSpPr>
            <a:spLocks noChangeShapeType="1"/>
          </p:cNvSpPr>
          <p:nvPr/>
        </p:nvSpPr>
        <p:spPr bwMode="auto">
          <a:xfrm>
            <a:off x="3886200" y="2236788"/>
            <a:ext cx="685800" cy="0"/>
          </a:xfrm>
          <a:prstGeom prst="line">
            <a:avLst/>
          </a:prstGeom>
          <a:noFill/>
          <a:ln w="31750">
            <a:solidFill>
              <a:srgbClr val="FF0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369685" name="Text Box 21"/>
          <p:cNvSpPr txBox="1">
            <a:spLocks noChangeArrowheads="1"/>
          </p:cNvSpPr>
          <p:nvPr/>
        </p:nvSpPr>
        <p:spPr bwMode="auto">
          <a:xfrm>
            <a:off x="3581400" y="1752600"/>
            <a:ext cx="1271588"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Delete 12</a:t>
            </a:r>
          </a:p>
        </p:txBody>
      </p:sp>
      <p:sp>
        <p:nvSpPr>
          <p:cNvPr id="369715" name="Text Box 51"/>
          <p:cNvSpPr txBox="1">
            <a:spLocks noChangeArrowheads="1"/>
          </p:cNvSpPr>
          <p:nvPr/>
        </p:nvSpPr>
        <p:spPr bwMode="auto">
          <a:xfrm>
            <a:off x="3581400" y="2498725"/>
            <a:ext cx="1863725"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3175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None/>
            </a:pPr>
            <a:r>
              <a:rPr lang="en-US" altLang="fr-FR" b="0">
                <a:solidFill>
                  <a:srgbClr val="FF0000"/>
                </a:solidFill>
              </a:rPr>
              <a:t>double rotation</a:t>
            </a:r>
          </a:p>
        </p:txBody>
      </p:sp>
      <p:grpSp>
        <p:nvGrpSpPr>
          <p:cNvPr id="60421" name="Group 61"/>
          <p:cNvGrpSpPr>
            <a:grpSpLocks/>
          </p:cNvGrpSpPr>
          <p:nvPr/>
        </p:nvGrpSpPr>
        <p:grpSpPr bwMode="auto">
          <a:xfrm>
            <a:off x="228600" y="1550988"/>
            <a:ext cx="3200400" cy="2695575"/>
            <a:chOff x="144" y="977"/>
            <a:chExt cx="2016" cy="1698"/>
          </a:xfrm>
        </p:grpSpPr>
        <p:sp>
          <p:nvSpPr>
            <p:cNvPr id="60449" name="Line 2"/>
            <p:cNvSpPr>
              <a:spLocks noChangeShapeType="1"/>
            </p:cNvSpPr>
            <p:nvPr/>
          </p:nvSpPr>
          <p:spPr bwMode="auto">
            <a:xfrm flipH="1">
              <a:off x="1776" y="1728"/>
              <a:ext cx="96"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60450" name="Group 3"/>
            <p:cNvGrpSpPr>
              <a:grpSpLocks/>
            </p:cNvGrpSpPr>
            <p:nvPr/>
          </p:nvGrpSpPr>
          <p:grpSpPr bwMode="auto">
            <a:xfrm>
              <a:off x="816" y="977"/>
              <a:ext cx="1174" cy="744"/>
              <a:chOff x="288" y="1045"/>
              <a:chExt cx="1391" cy="971"/>
            </a:xfrm>
          </p:grpSpPr>
          <p:sp>
            <p:nvSpPr>
              <p:cNvPr id="60469" name="Oval 4"/>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70" name="Oval 5"/>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71" name="Line 6"/>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72" name="Text Box 7"/>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9</a:t>
                </a:r>
              </a:p>
            </p:txBody>
          </p:sp>
          <p:sp>
            <p:nvSpPr>
              <p:cNvPr id="60473" name="Text Box 8"/>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sp>
          <p:nvSpPr>
            <p:cNvPr id="60451" name="Oval 9"/>
            <p:cNvSpPr>
              <a:spLocks noChangeArrowheads="1"/>
            </p:cNvSpPr>
            <p:nvPr/>
          </p:nvSpPr>
          <p:spPr bwMode="auto">
            <a:xfrm>
              <a:off x="1776" y="1440"/>
              <a:ext cx="338" cy="29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52" name="Line 10"/>
            <p:cNvSpPr>
              <a:spLocks noChangeShapeType="1"/>
            </p:cNvSpPr>
            <p:nvPr/>
          </p:nvSpPr>
          <p:spPr bwMode="auto">
            <a:xfrm>
              <a:off x="1505" y="1271"/>
              <a:ext cx="388" cy="2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53" name="Oval 11"/>
            <p:cNvSpPr>
              <a:spLocks noChangeArrowheads="1"/>
            </p:cNvSpPr>
            <p:nvPr/>
          </p:nvSpPr>
          <p:spPr bwMode="auto">
            <a:xfrm>
              <a:off x="528" y="1837"/>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54" name="Line 12"/>
            <p:cNvSpPr>
              <a:spLocks noChangeShapeType="1"/>
            </p:cNvSpPr>
            <p:nvPr/>
          </p:nvSpPr>
          <p:spPr bwMode="auto">
            <a:xfrm flipH="1">
              <a:off x="744" y="1697"/>
              <a:ext cx="216"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55" name="Text Box 13"/>
            <p:cNvSpPr txBox="1">
              <a:spLocks noChangeArrowheads="1"/>
            </p:cNvSpPr>
            <p:nvPr/>
          </p:nvSpPr>
          <p:spPr bwMode="auto">
            <a:xfrm>
              <a:off x="590" y="1884"/>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60456" name="Line 14"/>
            <p:cNvSpPr>
              <a:spLocks noChangeShapeType="1"/>
            </p:cNvSpPr>
            <p:nvPr/>
          </p:nvSpPr>
          <p:spPr bwMode="auto">
            <a:xfrm>
              <a:off x="1104" y="1697"/>
              <a:ext cx="240" cy="1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60457" name="Group 15"/>
            <p:cNvGrpSpPr>
              <a:grpSpLocks/>
            </p:cNvGrpSpPr>
            <p:nvPr/>
          </p:nvGrpSpPr>
          <p:grpSpPr bwMode="auto">
            <a:xfrm>
              <a:off x="1200" y="1824"/>
              <a:ext cx="528" cy="384"/>
              <a:chOff x="1152" y="1556"/>
              <a:chExt cx="624" cy="409"/>
            </a:xfrm>
          </p:grpSpPr>
          <p:sp>
            <p:nvSpPr>
              <p:cNvPr id="60467" name="Oval 16"/>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68" name="Text Box 17"/>
              <p:cNvSpPr txBox="1">
                <a:spLocks noChangeArrowheads="1"/>
              </p:cNvSpPr>
              <p:nvPr/>
            </p:nvSpPr>
            <p:spPr bwMode="auto">
              <a:xfrm>
                <a:off x="1200" y="1632"/>
                <a:ext cx="57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grpSp>
        <p:sp>
          <p:nvSpPr>
            <p:cNvPr id="60458" name="Oval 18"/>
            <p:cNvSpPr>
              <a:spLocks noChangeArrowheads="1"/>
            </p:cNvSpPr>
            <p:nvPr/>
          </p:nvSpPr>
          <p:spPr bwMode="auto">
            <a:xfrm>
              <a:off x="1632" y="1889"/>
              <a:ext cx="336"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59" name="Text Box 19"/>
            <p:cNvSpPr txBox="1">
              <a:spLocks noChangeArrowheads="1"/>
            </p:cNvSpPr>
            <p:nvPr/>
          </p:nvSpPr>
          <p:spPr bwMode="auto">
            <a:xfrm>
              <a:off x="1680" y="1889"/>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11</a:t>
              </a:r>
            </a:p>
          </p:txBody>
        </p:sp>
        <p:sp>
          <p:nvSpPr>
            <p:cNvPr id="60460" name="Oval 25"/>
            <p:cNvSpPr>
              <a:spLocks noChangeArrowheads="1"/>
            </p:cNvSpPr>
            <p:nvPr/>
          </p:nvSpPr>
          <p:spPr bwMode="auto">
            <a:xfrm>
              <a:off x="912" y="2304"/>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61" name="Line 26"/>
            <p:cNvSpPr>
              <a:spLocks noChangeShapeType="1"/>
            </p:cNvSpPr>
            <p:nvPr/>
          </p:nvSpPr>
          <p:spPr bwMode="auto">
            <a:xfrm flipH="1">
              <a:off x="1152" y="2160"/>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62" name="Text Box 27"/>
            <p:cNvSpPr txBox="1">
              <a:spLocks noChangeArrowheads="1"/>
            </p:cNvSpPr>
            <p:nvPr/>
          </p:nvSpPr>
          <p:spPr bwMode="auto">
            <a:xfrm>
              <a:off x="988" y="235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6</a:t>
              </a:r>
            </a:p>
          </p:txBody>
        </p:sp>
        <p:sp>
          <p:nvSpPr>
            <p:cNvPr id="60463" name="Text Box 28"/>
            <p:cNvSpPr txBox="1">
              <a:spLocks noChangeArrowheads="1"/>
            </p:cNvSpPr>
            <p:nvPr/>
          </p:nvSpPr>
          <p:spPr bwMode="auto">
            <a:xfrm>
              <a:off x="1804" y="1449"/>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12</a:t>
              </a:r>
            </a:p>
          </p:txBody>
        </p:sp>
        <p:sp>
          <p:nvSpPr>
            <p:cNvPr id="60464" name="Oval 52"/>
            <p:cNvSpPr>
              <a:spLocks noChangeArrowheads="1"/>
            </p:cNvSpPr>
            <p:nvPr/>
          </p:nvSpPr>
          <p:spPr bwMode="auto">
            <a:xfrm>
              <a:off x="144" y="2304"/>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65" name="Line 53"/>
            <p:cNvSpPr>
              <a:spLocks noChangeShapeType="1"/>
            </p:cNvSpPr>
            <p:nvPr/>
          </p:nvSpPr>
          <p:spPr bwMode="auto">
            <a:xfrm flipH="1">
              <a:off x="384" y="2160"/>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66" name="Text Box 54"/>
            <p:cNvSpPr txBox="1">
              <a:spLocks noChangeArrowheads="1"/>
            </p:cNvSpPr>
            <p:nvPr/>
          </p:nvSpPr>
          <p:spPr bwMode="auto">
            <a:xfrm>
              <a:off x="220" y="235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grpSp>
        <p:nvGrpSpPr>
          <p:cNvPr id="60422" name="Group 60"/>
          <p:cNvGrpSpPr>
            <a:grpSpLocks/>
          </p:cNvGrpSpPr>
          <p:nvPr/>
        </p:nvGrpSpPr>
        <p:grpSpPr bwMode="auto">
          <a:xfrm>
            <a:off x="4495800" y="1571625"/>
            <a:ext cx="3581400" cy="2695575"/>
            <a:chOff x="2832" y="990"/>
            <a:chExt cx="2256" cy="1698"/>
          </a:xfrm>
        </p:grpSpPr>
        <p:grpSp>
          <p:nvGrpSpPr>
            <p:cNvPr id="60427" name="Group 30"/>
            <p:cNvGrpSpPr>
              <a:grpSpLocks/>
            </p:cNvGrpSpPr>
            <p:nvPr/>
          </p:nvGrpSpPr>
          <p:grpSpPr bwMode="auto">
            <a:xfrm>
              <a:off x="3504" y="990"/>
              <a:ext cx="1174" cy="744"/>
              <a:chOff x="288" y="1045"/>
              <a:chExt cx="1391" cy="971"/>
            </a:xfrm>
          </p:grpSpPr>
          <p:sp>
            <p:nvSpPr>
              <p:cNvPr id="60444" name="Oval 31"/>
              <p:cNvSpPr>
                <a:spLocks noChangeArrowheads="1"/>
              </p:cNvSpPr>
              <p:nvPr/>
            </p:nvSpPr>
            <p:spPr bwMode="auto">
              <a:xfrm>
                <a:off x="816" y="1045"/>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45" name="Oval 32"/>
              <p:cNvSpPr>
                <a:spLocks noChangeArrowheads="1"/>
              </p:cNvSpPr>
              <p:nvPr/>
            </p:nvSpPr>
            <p:spPr bwMode="auto">
              <a:xfrm>
                <a:off x="288" y="1607"/>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46" name="Line 33"/>
              <p:cNvSpPr>
                <a:spLocks noChangeShapeType="1"/>
              </p:cNvSpPr>
              <p:nvPr/>
            </p:nvSpPr>
            <p:spPr bwMode="auto">
              <a:xfrm flipH="1">
                <a:off x="624" y="1454"/>
                <a:ext cx="336" cy="1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47" name="Text Box 34"/>
              <p:cNvSpPr txBox="1">
                <a:spLocks noChangeArrowheads="1"/>
              </p:cNvSpPr>
              <p:nvPr/>
            </p:nvSpPr>
            <p:spPr bwMode="auto">
              <a:xfrm>
                <a:off x="912" y="1096"/>
                <a:ext cx="767"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8</a:t>
                </a:r>
              </a:p>
            </p:txBody>
          </p:sp>
          <p:sp>
            <p:nvSpPr>
              <p:cNvPr id="60448" name="Text Box 35"/>
              <p:cNvSpPr txBox="1">
                <a:spLocks noChangeArrowheads="1"/>
              </p:cNvSpPr>
              <p:nvPr/>
            </p:nvSpPr>
            <p:spPr bwMode="auto">
              <a:xfrm>
                <a:off x="384" y="1658"/>
                <a:ext cx="48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5</a:t>
                </a:r>
              </a:p>
            </p:txBody>
          </p:sp>
        </p:grpSp>
        <p:sp>
          <p:nvSpPr>
            <p:cNvPr id="60428" name="Oval 36"/>
            <p:cNvSpPr>
              <a:spLocks noChangeArrowheads="1"/>
            </p:cNvSpPr>
            <p:nvPr/>
          </p:nvSpPr>
          <p:spPr bwMode="auto">
            <a:xfrm>
              <a:off x="4464" y="1453"/>
              <a:ext cx="338" cy="29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29" name="Line 37"/>
            <p:cNvSpPr>
              <a:spLocks noChangeShapeType="1"/>
            </p:cNvSpPr>
            <p:nvPr/>
          </p:nvSpPr>
          <p:spPr bwMode="auto">
            <a:xfrm>
              <a:off x="4193" y="1284"/>
              <a:ext cx="388" cy="2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30" name="Oval 38"/>
            <p:cNvSpPr>
              <a:spLocks noChangeArrowheads="1"/>
            </p:cNvSpPr>
            <p:nvPr/>
          </p:nvSpPr>
          <p:spPr bwMode="auto">
            <a:xfrm>
              <a:off x="3216" y="1850"/>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31" name="Line 39"/>
            <p:cNvSpPr>
              <a:spLocks noChangeShapeType="1"/>
            </p:cNvSpPr>
            <p:nvPr/>
          </p:nvSpPr>
          <p:spPr bwMode="auto">
            <a:xfrm flipH="1">
              <a:off x="3432" y="1710"/>
              <a:ext cx="216" cy="1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32" name="Text Box 40"/>
            <p:cNvSpPr txBox="1">
              <a:spLocks noChangeArrowheads="1"/>
            </p:cNvSpPr>
            <p:nvPr/>
          </p:nvSpPr>
          <p:spPr bwMode="auto">
            <a:xfrm>
              <a:off x="3278" y="1897"/>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3</a:t>
              </a:r>
            </a:p>
          </p:txBody>
        </p:sp>
        <p:sp>
          <p:nvSpPr>
            <p:cNvPr id="60433" name="Line 41"/>
            <p:cNvSpPr>
              <a:spLocks noChangeShapeType="1"/>
            </p:cNvSpPr>
            <p:nvPr/>
          </p:nvSpPr>
          <p:spPr bwMode="auto">
            <a:xfrm>
              <a:off x="3792" y="1710"/>
              <a:ext cx="240" cy="1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60434" name="Group 42"/>
            <p:cNvGrpSpPr>
              <a:grpSpLocks/>
            </p:cNvGrpSpPr>
            <p:nvPr/>
          </p:nvGrpSpPr>
          <p:grpSpPr bwMode="auto">
            <a:xfrm>
              <a:off x="3888" y="1837"/>
              <a:ext cx="528" cy="384"/>
              <a:chOff x="1152" y="1556"/>
              <a:chExt cx="624" cy="409"/>
            </a:xfrm>
          </p:grpSpPr>
          <p:sp>
            <p:nvSpPr>
              <p:cNvPr id="60442" name="Oval 43"/>
              <p:cNvSpPr>
                <a:spLocks noChangeArrowheads="1"/>
              </p:cNvSpPr>
              <p:nvPr/>
            </p:nvSpPr>
            <p:spPr bwMode="auto">
              <a:xfrm>
                <a:off x="1152" y="1556"/>
                <a:ext cx="432"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43" name="Text Box 44"/>
              <p:cNvSpPr txBox="1">
                <a:spLocks noChangeArrowheads="1"/>
              </p:cNvSpPr>
              <p:nvPr/>
            </p:nvSpPr>
            <p:spPr bwMode="auto">
              <a:xfrm>
                <a:off x="1200" y="1632"/>
                <a:ext cx="57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6</a:t>
                </a:r>
              </a:p>
            </p:txBody>
          </p:sp>
        </p:grpSp>
        <p:sp>
          <p:nvSpPr>
            <p:cNvPr id="60435" name="Oval 47"/>
            <p:cNvSpPr>
              <a:spLocks noChangeArrowheads="1"/>
            </p:cNvSpPr>
            <p:nvPr/>
          </p:nvSpPr>
          <p:spPr bwMode="auto">
            <a:xfrm>
              <a:off x="4704" y="1824"/>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36" name="Line 48"/>
            <p:cNvSpPr>
              <a:spLocks noChangeShapeType="1"/>
            </p:cNvSpPr>
            <p:nvPr/>
          </p:nvSpPr>
          <p:spPr bwMode="auto">
            <a:xfrm>
              <a:off x="4752" y="1728"/>
              <a:ext cx="4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37" name="Text Box 49"/>
            <p:cNvSpPr txBox="1">
              <a:spLocks noChangeArrowheads="1"/>
            </p:cNvSpPr>
            <p:nvPr/>
          </p:nvSpPr>
          <p:spPr bwMode="auto">
            <a:xfrm>
              <a:off x="4780" y="187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11</a:t>
              </a:r>
            </a:p>
          </p:txBody>
        </p:sp>
        <p:sp>
          <p:nvSpPr>
            <p:cNvPr id="60438" name="Text Box 50"/>
            <p:cNvSpPr txBox="1">
              <a:spLocks noChangeArrowheads="1"/>
            </p:cNvSpPr>
            <p:nvPr/>
          </p:nvSpPr>
          <p:spPr bwMode="auto">
            <a:xfrm>
              <a:off x="4492" y="1462"/>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9</a:t>
              </a:r>
            </a:p>
          </p:txBody>
        </p:sp>
        <p:sp>
          <p:nvSpPr>
            <p:cNvPr id="60439" name="Oval 55"/>
            <p:cNvSpPr>
              <a:spLocks noChangeArrowheads="1"/>
            </p:cNvSpPr>
            <p:nvPr/>
          </p:nvSpPr>
          <p:spPr bwMode="auto">
            <a:xfrm>
              <a:off x="2832" y="2317"/>
              <a:ext cx="336" cy="37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
          <p:nvSpPr>
            <p:cNvPr id="60440" name="Line 56"/>
            <p:cNvSpPr>
              <a:spLocks noChangeShapeType="1"/>
            </p:cNvSpPr>
            <p:nvPr/>
          </p:nvSpPr>
          <p:spPr bwMode="auto">
            <a:xfrm flipH="1">
              <a:off x="3072" y="2173"/>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0441" name="Text Box 57"/>
            <p:cNvSpPr txBox="1">
              <a:spLocks noChangeArrowheads="1"/>
            </p:cNvSpPr>
            <p:nvPr/>
          </p:nvSpPr>
          <p:spPr bwMode="auto">
            <a:xfrm>
              <a:off x="2908" y="2365"/>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fr-FR" sz="1800" b="0">
                  <a:latin typeface="Times New Roman" panose="02020603050405020304" pitchFamily="18" charset="0"/>
                </a:rPr>
                <a:t>1</a:t>
              </a:r>
            </a:p>
          </p:txBody>
        </p:sp>
      </p:grpSp>
      <p:sp>
        <p:nvSpPr>
          <p:cNvPr id="60423" name="Rectangle 58"/>
          <p:cNvSpPr>
            <a:spLocks noGrp="1" noChangeArrowheads="1"/>
          </p:cNvSpPr>
          <p:nvPr>
            <p:ph type="title"/>
          </p:nvPr>
        </p:nvSpPr>
        <p:spPr/>
        <p:txBody>
          <a:bodyPr/>
          <a:lstStyle/>
          <a:p>
            <a:pPr eaLnBrk="1" hangingPunct="1"/>
            <a:r>
              <a:rPr lang="en-US" altLang="fr-FR"/>
              <a:t>Deletion </a:t>
            </a:r>
          </a:p>
        </p:txBody>
      </p:sp>
      <p:sp>
        <p:nvSpPr>
          <p:cNvPr id="2" name="Espace réservé du pied de page 1"/>
          <p:cNvSpPr>
            <a:spLocks noGrp="1"/>
          </p:cNvSpPr>
          <p:nvPr>
            <p:ph type="ftr" sz="quarter" idx="11"/>
          </p:nvPr>
        </p:nvSpPr>
        <p:spPr/>
        <p:txBody>
          <a:bodyPr/>
          <a:lstStyle/>
          <a:p>
            <a:pPr>
              <a:defRPr/>
            </a:pPr>
            <a:r>
              <a:rPr lang="nl-NL" altLang="zh-TW"/>
              <a:t>CS 2321: D.S.A (-Trees-)</a:t>
            </a:r>
            <a:endParaRPr lang="en-US" altLang="zh-TW"/>
          </a:p>
        </p:txBody>
      </p:sp>
      <p:sp>
        <p:nvSpPr>
          <p:cNvPr id="3" name="Espace réservé du numéro de diapositive 2"/>
          <p:cNvSpPr>
            <a:spLocks noGrp="1"/>
          </p:cNvSpPr>
          <p:nvPr>
            <p:ph type="sldNum" sz="quarter" idx="12"/>
          </p:nvPr>
        </p:nvSpPr>
        <p:spPr/>
        <p:txBody>
          <a:bodyP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fld id="{582EE5BF-5CD5-441E-810C-E4D45750A52D}" type="slidenum">
              <a:rPr lang="zh-TW" altLang="en-US" sz="1200">
                <a:solidFill>
                  <a:srgbClr val="898989"/>
                </a:solidFill>
              </a:rPr>
              <a:pPr/>
              <a:t>59</a:t>
            </a:fld>
            <a:endParaRPr lang="en-US" altLang="zh-TW" sz="1200">
              <a:solidFill>
                <a:srgbClr val="898989"/>
              </a:solidFill>
            </a:endParaRPr>
          </a:p>
        </p:txBody>
      </p:sp>
      <p:sp>
        <p:nvSpPr>
          <p:cNvPr id="60426" name="Oval 59"/>
          <p:cNvSpPr>
            <a:spLocks noChangeArrowheads="1"/>
          </p:cNvSpPr>
          <p:nvPr/>
        </p:nvSpPr>
        <p:spPr bwMode="auto">
          <a:xfrm>
            <a:off x="2819400" y="2286000"/>
            <a:ext cx="533400" cy="457200"/>
          </a:xfrm>
          <a:prstGeom prst="ellipse">
            <a:avLst/>
          </a:prstGeom>
          <a:noFill/>
          <a:ln w="31750">
            <a:solidFill>
              <a:srgbClr val="00FF00"/>
            </a:solidFill>
            <a:round/>
            <a:headEnd type="none" w="sm" len="sm"/>
            <a:tailEnd type="none" w="sm" len="sm"/>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b="1">
                <a:solidFill>
                  <a:schemeClr val="tx1"/>
                </a:solidFill>
                <a:latin typeface="Arial" panose="020B0604020202020204" pitchFamily="34" charset="0"/>
                <a:cs typeface="Arial" panose="020B0604020202020204" pitchFamily="34" charset="0"/>
              </a:defRPr>
            </a:lvl1pPr>
            <a:lvl2pPr marL="742950" indent="-285750" eaLnBrk="0" hangingPunct="0">
              <a:defRPr sz="2000" b="1">
                <a:solidFill>
                  <a:schemeClr val="tx1"/>
                </a:solidFill>
                <a:latin typeface="Arial" panose="020B0604020202020204" pitchFamily="34" charset="0"/>
                <a:cs typeface="Arial" panose="020B0604020202020204" pitchFamily="34" charset="0"/>
              </a:defRPr>
            </a:lvl2pPr>
            <a:lvl3pPr marL="1143000" indent="-228600" eaLnBrk="0" hangingPunct="0">
              <a:defRPr sz="2000" b="1">
                <a:solidFill>
                  <a:schemeClr val="tx1"/>
                </a:solidFill>
                <a:latin typeface="Arial" panose="020B0604020202020204" pitchFamily="34" charset="0"/>
                <a:cs typeface="Arial" panose="020B0604020202020204" pitchFamily="34" charset="0"/>
              </a:defRPr>
            </a:lvl3pPr>
            <a:lvl4pPr marL="1600200" indent="-228600" eaLnBrk="0" hangingPunct="0">
              <a:defRPr sz="2000" b="1">
                <a:solidFill>
                  <a:schemeClr val="tx1"/>
                </a:solidFill>
                <a:latin typeface="Arial" panose="020B0604020202020204" pitchFamily="34" charset="0"/>
                <a:cs typeface="Arial" panose="020B0604020202020204" pitchFamily="34" charset="0"/>
              </a:defRPr>
            </a:lvl4pPr>
            <a:lvl5pPr marL="2057400" indent="-228600" eaLnBrk="0" hangingPunct="0">
              <a:defRPr sz="20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pPr>
              <a:spcBef>
                <a:spcPct val="20000"/>
              </a:spcBef>
              <a:buClr>
                <a:schemeClr val="tx2"/>
              </a:buClr>
              <a:buSzPct val="75000"/>
              <a:buFont typeface="Monotype Sorts" pitchFamily="2" charset="2"/>
              <a:buChar char="l"/>
            </a:pPr>
            <a:endParaRPr lang="fr-FR" alt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96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96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9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85" grpId="0"/>
      <p:bldP spid="369715"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7255</TotalTime>
  <Words>3069</Words>
  <Application>Microsoft Office PowerPoint</Application>
  <PresentationFormat>On-screen Show (4:3)</PresentationFormat>
  <Paragraphs>604</Paragraphs>
  <Slides>59</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67" baseType="lpstr">
      <vt:lpstr>Arial</vt:lpstr>
      <vt:lpstr>Calibri</vt:lpstr>
      <vt:lpstr>Cambria Math</vt:lpstr>
      <vt:lpstr>Monotype Sorts</vt:lpstr>
      <vt:lpstr>Times New Roman</vt:lpstr>
      <vt:lpstr>Thème Office</vt:lpstr>
      <vt:lpstr>Bitmap Image</vt:lpstr>
      <vt:lpstr>Image bitmap</vt:lpstr>
      <vt:lpstr>Trees</vt:lpstr>
      <vt:lpstr>Outlines</vt:lpstr>
      <vt:lpstr>1. Defintions and Terminoligies</vt:lpstr>
      <vt:lpstr>Trees</vt:lpstr>
      <vt:lpstr>Trees</vt:lpstr>
      <vt:lpstr>Some Terminologies</vt:lpstr>
      <vt:lpstr>Some Terminologies</vt:lpstr>
      <vt:lpstr>Example: UNIX Directory</vt:lpstr>
      <vt:lpstr>2. Binary Trees </vt:lpstr>
      <vt:lpstr>Binary Trees</vt:lpstr>
      <vt:lpstr>Example: Expression Trees</vt:lpstr>
      <vt:lpstr>Tree traversal</vt:lpstr>
      <vt:lpstr>Preorder, Postorder and Inorder</vt:lpstr>
      <vt:lpstr>Preorder, Postorder and Inorder</vt:lpstr>
      <vt:lpstr>Preorder, Postorder and Inorder</vt:lpstr>
      <vt:lpstr>Binary Trees</vt:lpstr>
      <vt:lpstr>compare: Implementation of a general tree</vt:lpstr>
      <vt:lpstr>3. Binary Search Trees</vt:lpstr>
      <vt:lpstr>Binary Search Trees</vt:lpstr>
      <vt:lpstr>Binary Search Trees</vt:lpstr>
      <vt:lpstr>Binary search trees</vt:lpstr>
      <vt:lpstr>Implementation</vt:lpstr>
      <vt:lpstr>Searching BST</vt:lpstr>
      <vt:lpstr>PowerPoint Presentation</vt:lpstr>
      <vt:lpstr>Searching (Find)</vt:lpstr>
      <vt:lpstr>Inorder traversal of BST</vt:lpstr>
      <vt:lpstr>findMin/ findMax</vt:lpstr>
      <vt:lpstr>insert</vt:lpstr>
      <vt:lpstr>delete</vt:lpstr>
      <vt:lpstr>delete</vt:lpstr>
      <vt:lpstr>delete</vt:lpstr>
      <vt:lpstr>4. AVL-Trees</vt:lpstr>
      <vt:lpstr>Balanced binary tree</vt:lpstr>
      <vt:lpstr>AVL tree</vt:lpstr>
      <vt:lpstr>PowerPoint Presentation</vt:lpstr>
      <vt:lpstr>AVL tree</vt:lpstr>
      <vt:lpstr>PowerPoint Presentation</vt:lpstr>
      <vt:lpstr>Rotations</vt:lpstr>
      <vt:lpstr>Rotations</vt:lpstr>
      <vt:lpstr>Insertion</vt:lpstr>
      <vt:lpstr>Insertion </vt:lpstr>
      <vt:lpstr>Single rotation in insertion</vt:lpstr>
      <vt:lpstr>Single rotation in insertion</vt:lpstr>
      <vt:lpstr>PowerPoint Presentation</vt:lpstr>
      <vt:lpstr>PowerPoint Presentation</vt:lpstr>
      <vt:lpstr>Double rotation in insertion</vt:lpstr>
      <vt:lpstr>Double rotation in insertion</vt:lpstr>
      <vt:lpstr>PowerPoint Presentation</vt:lpstr>
      <vt:lpstr>An Extended Example</vt:lpstr>
      <vt:lpstr>PowerPoint Presentation</vt:lpstr>
      <vt:lpstr>PowerPoint Presentation</vt:lpstr>
      <vt:lpstr>PowerPoint Presentation</vt:lpstr>
      <vt:lpstr>Deletion </vt:lpstr>
      <vt:lpstr>Deletion </vt:lpstr>
      <vt:lpstr>Single rotation in deletion</vt:lpstr>
      <vt:lpstr>Single rotation in deletion</vt:lpstr>
      <vt:lpstr>Rotation in deletion</vt:lpstr>
      <vt:lpstr>Deletion </vt:lpstr>
      <vt:lpstr>Deletion </vt:lpstr>
    </vt:vector>
  </TitlesOfParts>
  <Company>HKUST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search tree</dc:title>
  <dc:creator>taicl</dc:creator>
  <cp:lastModifiedBy>Mahmoud Hassaballah</cp:lastModifiedBy>
  <cp:revision>197</cp:revision>
  <dcterms:created xsi:type="dcterms:W3CDTF">2005-09-13T14:58:53Z</dcterms:created>
  <dcterms:modified xsi:type="dcterms:W3CDTF">2023-01-23T10:51:06Z</dcterms:modified>
</cp:coreProperties>
</file>