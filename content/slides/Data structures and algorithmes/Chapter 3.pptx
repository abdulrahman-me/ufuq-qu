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6" r:id="rId1"/>
  </p:sldMasterIdLst>
  <p:notesMasterIdLst>
    <p:notesMasterId r:id="rId50"/>
  </p:notesMasterIdLst>
  <p:sldIdLst>
    <p:sldId id="355" r:id="rId2"/>
    <p:sldId id="356" r:id="rId3"/>
    <p:sldId id="259" r:id="rId4"/>
    <p:sldId id="357" r:id="rId5"/>
    <p:sldId id="260" r:id="rId6"/>
    <p:sldId id="358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86" r:id="rId19"/>
    <p:sldId id="308" r:id="rId20"/>
    <p:sldId id="309" r:id="rId21"/>
    <p:sldId id="359" r:id="rId22"/>
    <p:sldId id="310" r:id="rId23"/>
    <p:sldId id="311" r:id="rId24"/>
    <p:sldId id="312" r:id="rId25"/>
    <p:sldId id="314" r:id="rId26"/>
    <p:sldId id="348" r:id="rId27"/>
    <p:sldId id="315" r:id="rId28"/>
    <p:sldId id="349" r:id="rId29"/>
    <p:sldId id="316" r:id="rId30"/>
    <p:sldId id="352" r:id="rId31"/>
    <p:sldId id="353" r:id="rId32"/>
    <p:sldId id="354" r:id="rId33"/>
    <p:sldId id="317" r:id="rId34"/>
    <p:sldId id="318" r:id="rId35"/>
    <p:sldId id="350" r:id="rId36"/>
    <p:sldId id="319" r:id="rId37"/>
    <p:sldId id="320" r:id="rId38"/>
    <p:sldId id="321" r:id="rId39"/>
    <p:sldId id="322" r:id="rId40"/>
    <p:sldId id="323" r:id="rId41"/>
    <p:sldId id="324" r:id="rId42"/>
    <p:sldId id="360" r:id="rId43"/>
    <p:sldId id="325" r:id="rId44"/>
    <p:sldId id="326" r:id="rId45"/>
    <p:sldId id="327" r:id="rId46"/>
    <p:sldId id="347" r:id="rId47"/>
    <p:sldId id="329" r:id="rId48"/>
    <p:sldId id="330" r:id="rId49"/>
  </p:sldIdLst>
  <p:sldSz cx="9144000" cy="6858000" type="screen4x3"/>
  <p:notesSz cx="6797675" cy="992822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0" autoAdjust="0"/>
    <p:restoredTop sz="94660" autoAdjust="0"/>
  </p:normalViewPr>
  <p:slideViewPr>
    <p:cSldViewPr>
      <p:cViewPr varScale="1">
        <p:scale>
          <a:sx n="58" d="100"/>
          <a:sy n="58" d="100"/>
        </p:scale>
        <p:origin x="1448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86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4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52016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74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25827F2A-0954-460E-AC61-458242CE1062}" type="datetimeFigureOut">
              <a:rPr lang="ar-SA" smtClean="0"/>
              <a:t>11/06/1444</a:t>
            </a:fld>
            <a:endParaRPr lang="ar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52016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74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1A8B4D8D-77F4-4E61-82B7-80D753BE4E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57286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B235992-171C-4670-94DF-A82887807EA5}" type="slidenum">
              <a:rPr lang="ar-SA" altLang="ar-SA" sz="1200"/>
              <a:pPr eaLnBrk="1" hangingPunct="1">
                <a:spcBef>
                  <a:spcPct val="0"/>
                </a:spcBef>
              </a:pPr>
              <a:t>3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2031376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2C6C0CC-684F-4130-8EFA-D23F058D7B78}" type="slidenum">
              <a:rPr lang="ar-SA" altLang="ar-SA" sz="1200"/>
              <a:pPr eaLnBrk="1" hangingPunct="1">
                <a:spcBef>
                  <a:spcPct val="0"/>
                </a:spcBef>
              </a:pPr>
              <a:t>5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645596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FFDA44C-78BA-4B9D-86BF-E1861BE9EAA8}" type="slidenum">
              <a:rPr lang="ar-SA" altLang="ar-SA" sz="1200"/>
              <a:pPr eaLnBrk="1" hangingPunct="1">
                <a:spcBef>
                  <a:spcPct val="0"/>
                </a:spcBef>
              </a:pPr>
              <a:t>7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267040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534ED42-82EA-40A5-9889-85597E2C148E}" type="slidenum">
              <a:rPr lang="ar-SA" altLang="ar-SA" sz="1200"/>
              <a:pPr eaLnBrk="1" hangingPunct="1">
                <a:spcBef>
                  <a:spcPct val="0"/>
                </a:spcBef>
              </a:pPr>
              <a:t>8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696696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3B7146F-1539-4173-84D6-D08A96EBD400}" type="slidenum">
              <a:rPr lang="ar-SA" altLang="ar-SA" sz="1200"/>
              <a:pPr eaLnBrk="1" hangingPunct="1">
                <a:spcBef>
                  <a:spcPct val="0"/>
                </a:spcBef>
              </a:pPr>
              <a:t>9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304055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259EB9A-3E7E-45A7-9BC8-7A16AB60E581}" type="slidenum">
              <a:rPr lang="ar-SA" altLang="ar-SA" sz="1200"/>
              <a:pPr eaLnBrk="1" hangingPunct="1">
                <a:spcBef>
                  <a:spcPct val="0"/>
                </a:spcBef>
              </a:pPr>
              <a:t>10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46015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1246FBE-77B4-4FAF-B554-2B13627DAD52}" type="slidenum">
              <a:rPr lang="ar-SA" altLang="ar-SA" sz="1200"/>
              <a:pPr eaLnBrk="1" hangingPunct="1">
                <a:spcBef>
                  <a:spcPct val="0"/>
                </a:spcBef>
              </a:pPr>
              <a:t>11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2800593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AB68D1D-7D6A-4B8F-BB84-9789E37A3BD5}" type="slidenum">
              <a:rPr lang="ar-SA" altLang="ar-SA" sz="1200"/>
              <a:pPr eaLnBrk="1" hangingPunct="1">
                <a:spcBef>
                  <a:spcPct val="0"/>
                </a:spcBef>
              </a:pPr>
              <a:t>12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820118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ADE2914-3AC1-4735-BDCC-9E286AC9A5C6}" type="slidenum">
              <a:rPr lang="ar-SA" altLang="ar-SA" sz="1200"/>
              <a:pPr eaLnBrk="1" hangingPunct="1">
                <a:spcBef>
                  <a:spcPct val="0"/>
                </a:spcBef>
              </a:pPr>
              <a:t>13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9826121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22D653B-2805-44C2-9108-177AD9CB6FC0}" type="slidenum">
              <a:rPr lang="ar-SA" altLang="ar-SA" sz="1200"/>
              <a:pPr eaLnBrk="1" hangingPunct="1">
                <a:spcBef>
                  <a:spcPct val="0"/>
                </a:spcBef>
              </a:pPr>
              <a:t>14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4067264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AA4A5C3-2B12-4EBD-899B-E6F8F1CE042F}" type="slidenum">
              <a:rPr lang="ar-SA" altLang="ar-SA" sz="1200"/>
              <a:pPr eaLnBrk="1" hangingPunct="1">
                <a:spcBef>
                  <a:spcPct val="0"/>
                </a:spcBef>
              </a:pPr>
              <a:t>15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2038576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5AEB69E-7F62-4450-9D06-B0CE849FA435}" type="slidenum">
              <a:rPr lang="ar-SA" altLang="ar-SA" sz="1200"/>
              <a:pPr eaLnBrk="1" hangingPunct="1">
                <a:spcBef>
                  <a:spcPct val="0"/>
                </a:spcBef>
              </a:pPr>
              <a:t>16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7925557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896D2DA-4A5F-48CD-84F1-14B5DDF2A76C}" type="slidenum">
              <a:rPr lang="ar-SA" altLang="ar-SA" sz="1200"/>
              <a:pPr eaLnBrk="1" hangingPunct="1">
                <a:spcBef>
                  <a:spcPct val="0"/>
                </a:spcBef>
              </a:pPr>
              <a:t>17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4365577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116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5955001-9C6A-47C3-A05D-CA3DF21769A7}" type="slidenum">
              <a:rPr lang="ar-SA" altLang="ar-SA" sz="1200"/>
              <a:pPr eaLnBrk="1" hangingPunct="1">
                <a:spcBef>
                  <a:spcPct val="0"/>
                </a:spcBef>
              </a:pPr>
              <a:t>18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7861852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34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341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121F91E-24E8-4C62-9512-4AD807C60582}" type="slidenum">
              <a:rPr lang="ar-SA" altLang="ar-SA" sz="1200"/>
              <a:pPr eaLnBrk="1" hangingPunct="1">
                <a:spcBef>
                  <a:spcPct val="0"/>
                </a:spcBef>
              </a:pPr>
              <a:t>19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7419314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B4D444D-5E1F-49A6-848F-FB7203399497}" type="slidenum">
              <a:rPr lang="ar-SA" altLang="ar-SA" sz="1200"/>
              <a:pPr eaLnBrk="1" hangingPunct="1">
                <a:spcBef>
                  <a:spcPct val="0"/>
                </a:spcBef>
              </a:pPr>
              <a:t>20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3522794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36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36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4F6EB93-9F66-4D02-BEBA-6678FBC4955C}" type="slidenum">
              <a:rPr lang="ar-SA" altLang="ar-SA" sz="1200"/>
              <a:pPr eaLnBrk="1" hangingPunct="1">
                <a:spcBef>
                  <a:spcPct val="0"/>
                </a:spcBef>
              </a:pPr>
              <a:t>22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9413975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372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372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28700CA-F88B-44CE-8DA8-F4362C15B5E3}" type="slidenum">
              <a:rPr lang="ar-SA" altLang="ar-SA" sz="1200"/>
              <a:pPr eaLnBrk="1" hangingPunct="1">
                <a:spcBef>
                  <a:spcPct val="0"/>
                </a:spcBef>
              </a:pPr>
              <a:t>23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488178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38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38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4004B12-0830-4847-9DDB-9CCFBECCC45F}" type="slidenum">
              <a:rPr lang="ar-SA" altLang="ar-SA" sz="1200"/>
              <a:pPr eaLnBrk="1" hangingPunct="1">
                <a:spcBef>
                  <a:spcPct val="0"/>
                </a:spcBef>
              </a:pPr>
              <a:t>24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5100011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40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40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2E1ACCB-27C9-4513-AECC-76A86DFAEFBA}" type="slidenum">
              <a:rPr lang="ar-SA" altLang="ar-SA" sz="1200"/>
              <a:pPr eaLnBrk="1" hangingPunct="1">
                <a:spcBef>
                  <a:spcPct val="0"/>
                </a:spcBef>
              </a:pPr>
              <a:t>25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7755084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413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413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218AD26-45B4-4FC5-AE61-A7D335A5CE8C}" type="slidenum">
              <a:rPr lang="ar-SA" altLang="ar-SA" sz="1200"/>
              <a:pPr eaLnBrk="1" hangingPunct="1">
                <a:spcBef>
                  <a:spcPct val="0"/>
                </a:spcBef>
              </a:pPr>
              <a:t>26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6849583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413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413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218AD26-45B4-4FC5-AE61-A7D335A5CE8C}" type="slidenum">
              <a:rPr lang="ar-SA" altLang="ar-SA" sz="1200"/>
              <a:pPr eaLnBrk="1" hangingPunct="1">
                <a:spcBef>
                  <a:spcPct val="0"/>
                </a:spcBef>
              </a:pPr>
              <a:t>27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2284043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413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413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218AD26-45B4-4FC5-AE61-A7D335A5CE8C}" type="slidenum">
              <a:rPr lang="ar-SA" altLang="ar-SA" sz="1200"/>
              <a:pPr eaLnBrk="1" hangingPunct="1">
                <a:spcBef>
                  <a:spcPct val="0"/>
                </a:spcBef>
              </a:pPr>
              <a:t>28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2390198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42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42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7845CB4-7AC5-4DE9-8698-96AB3D6BD5A9}" type="slidenum">
              <a:rPr lang="ar-SA" altLang="ar-SA" sz="1200"/>
              <a:pPr eaLnBrk="1" hangingPunct="1">
                <a:spcBef>
                  <a:spcPct val="0"/>
                </a:spcBef>
              </a:pPr>
              <a:t>29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572233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42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42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7845CB4-7AC5-4DE9-8698-96AB3D6BD5A9}" type="slidenum">
              <a:rPr lang="ar-SA" altLang="ar-SA" sz="1200"/>
              <a:pPr eaLnBrk="1" hangingPunct="1">
                <a:spcBef>
                  <a:spcPct val="0"/>
                </a:spcBef>
              </a:pPr>
              <a:t>30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8284095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42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42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7845CB4-7AC5-4DE9-8698-96AB3D6BD5A9}" type="slidenum">
              <a:rPr lang="ar-SA" altLang="ar-SA" sz="1200"/>
              <a:pPr eaLnBrk="1" hangingPunct="1">
                <a:spcBef>
                  <a:spcPct val="0"/>
                </a:spcBef>
              </a:pPr>
              <a:t>31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7359027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42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42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7845CB4-7AC5-4DE9-8698-96AB3D6BD5A9}" type="slidenum">
              <a:rPr lang="ar-SA" altLang="ar-SA" sz="1200"/>
              <a:pPr eaLnBrk="1" hangingPunct="1">
                <a:spcBef>
                  <a:spcPct val="0"/>
                </a:spcBef>
              </a:pPr>
              <a:t>32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7524940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433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433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409686B-78D8-4D7D-AE30-3B9C6367A7AD}" type="slidenum">
              <a:rPr lang="ar-SA" altLang="ar-SA" sz="1200"/>
              <a:pPr eaLnBrk="1" hangingPunct="1">
                <a:spcBef>
                  <a:spcPct val="0"/>
                </a:spcBef>
              </a:pPr>
              <a:t>33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4299184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443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44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7DA90DD-E98A-49D6-A0D0-B41926DBABF4}" type="slidenum">
              <a:rPr lang="ar-SA" altLang="ar-SA" sz="1200"/>
              <a:pPr eaLnBrk="1" hangingPunct="1">
                <a:spcBef>
                  <a:spcPct val="0"/>
                </a:spcBef>
              </a:pPr>
              <a:t>34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492401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443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44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7DA90DD-E98A-49D6-A0D0-B41926DBABF4}" type="slidenum">
              <a:rPr lang="ar-SA" altLang="ar-SA" sz="1200"/>
              <a:pPr eaLnBrk="1" hangingPunct="1">
                <a:spcBef>
                  <a:spcPct val="0"/>
                </a:spcBef>
              </a:pPr>
              <a:t>35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74610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454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454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4FEFCD1-BB21-4B3D-9F71-1F46D7385272}" type="slidenum">
              <a:rPr lang="ar-SA" altLang="ar-SA" sz="1200"/>
              <a:pPr eaLnBrk="1" hangingPunct="1">
                <a:spcBef>
                  <a:spcPct val="0"/>
                </a:spcBef>
              </a:pPr>
              <a:t>36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5572692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46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46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7917437-71DA-4079-B512-FFCBB639313A}" type="slidenum">
              <a:rPr lang="ar-SA" altLang="ar-SA" sz="1200"/>
              <a:pPr eaLnBrk="1" hangingPunct="1">
                <a:spcBef>
                  <a:spcPct val="0"/>
                </a:spcBef>
              </a:pPr>
              <a:t>37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8478144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474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47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862766E-CCFC-423F-AD00-51B309FDF7B6}" type="slidenum">
              <a:rPr lang="ar-SA" altLang="ar-SA" sz="1200"/>
              <a:pPr eaLnBrk="1" hangingPunct="1">
                <a:spcBef>
                  <a:spcPct val="0"/>
                </a:spcBef>
              </a:pPr>
              <a:t>38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6636986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484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48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F5AD998-9D2D-4F12-B9AC-A88E2919E71B}" type="slidenum">
              <a:rPr lang="ar-SA" altLang="ar-SA" sz="1200"/>
              <a:pPr eaLnBrk="1" hangingPunct="1">
                <a:spcBef>
                  <a:spcPct val="0"/>
                </a:spcBef>
              </a:pPr>
              <a:t>39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7523581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495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49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258B8D7-0870-4095-ACBA-0B1CFB0B7F7F}" type="slidenum">
              <a:rPr lang="ar-SA" altLang="ar-SA" sz="1200"/>
              <a:pPr eaLnBrk="1" hangingPunct="1">
                <a:spcBef>
                  <a:spcPct val="0"/>
                </a:spcBef>
              </a:pPr>
              <a:t>40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4989235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50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50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B267A45-966F-4EE3-8FDF-35D69144950C}" type="slidenum">
              <a:rPr lang="ar-SA" altLang="ar-SA" sz="1200"/>
              <a:pPr eaLnBrk="1" hangingPunct="1">
                <a:spcBef>
                  <a:spcPct val="0"/>
                </a:spcBef>
              </a:pPr>
              <a:t>41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63253520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515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51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6616BCF-D5FB-4858-BB70-D399CC375AFF}" type="slidenum">
              <a:rPr lang="ar-SA" altLang="ar-SA" sz="1200"/>
              <a:pPr eaLnBrk="1" hangingPunct="1">
                <a:spcBef>
                  <a:spcPct val="0"/>
                </a:spcBef>
              </a:pPr>
              <a:t>43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76814997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52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52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676556D-4D93-4A69-8616-E43C9B2F5C17}" type="slidenum">
              <a:rPr lang="ar-SA" altLang="ar-SA" sz="1200"/>
              <a:pPr eaLnBrk="1" hangingPunct="1">
                <a:spcBef>
                  <a:spcPct val="0"/>
                </a:spcBef>
              </a:pPr>
              <a:t>44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4179562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53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53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2BC35CC-E86E-4111-8487-F17759360BD8}" type="slidenum">
              <a:rPr lang="ar-SA" altLang="ar-SA" sz="1200"/>
              <a:pPr eaLnBrk="1" hangingPunct="1">
                <a:spcBef>
                  <a:spcPct val="0"/>
                </a:spcBef>
              </a:pPr>
              <a:t>45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7173483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53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53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2BC35CC-E86E-4111-8487-F17759360BD8}" type="slidenum">
              <a:rPr lang="ar-SA" altLang="ar-SA" sz="1200"/>
              <a:pPr eaLnBrk="1" hangingPunct="1">
                <a:spcBef>
                  <a:spcPct val="0"/>
                </a:spcBef>
              </a:pPr>
              <a:t>46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293334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556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55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00AA4B6-D0E5-4581-BEED-1061F7100A2B}" type="slidenum">
              <a:rPr lang="ar-SA" altLang="ar-SA" sz="1200"/>
              <a:pPr eaLnBrk="1" hangingPunct="1">
                <a:spcBef>
                  <a:spcPct val="0"/>
                </a:spcBef>
              </a:pPr>
              <a:t>47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45417952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56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SA" altLang="ar-SA"/>
          </a:p>
        </p:txBody>
      </p:sp>
      <p:sp>
        <p:nvSpPr>
          <p:cNvPr id="156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85817" indent="-263776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055103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477145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99186" indent="-211021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6C06EC4-9C58-4900-B876-184C1F496A61}" type="slidenum">
              <a:rPr lang="ar-SA" altLang="ar-SA" sz="1200"/>
              <a:pPr eaLnBrk="1" hangingPunct="1">
                <a:spcBef>
                  <a:spcPct val="0"/>
                </a:spcBef>
              </a:pPr>
              <a:t>48</a:t>
            </a:fld>
            <a:endParaRPr lang="en-US" altLang="ar-SA" sz="1200"/>
          </a:p>
        </p:txBody>
      </p:sp>
    </p:spTree>
    <p:extLst>
      <p:ext uri="{BB962C8B-B14F-4D97-AF65-F5344CB8AC3E}">
        <p14:creationId xmlns:p14="http://schemas.microsoft.com/office/powerpoint/2010/main" val="1460335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F5288-86E8-4873-B63E-BD0A830D3C38}" type="uaqdatetime1">
              <a:rPr lang="ar-SA" smtClean="0"/>
              <a:t>10/06/1444</a:t>
            </a:fld>
            <a:endParaRPr lang="ar-S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61992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82D80-46C3-4E3D-B891-07FEDA090493}" type="uaqdatetime1">
              <a:rPr lang="ar-SA" smtClean="0"/>
              <a:t>10/06/1444</a:t>
            </a:fld>
            <a:endParaRPr lang="ar-S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05975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F6F47-EE1C-425B-A88F-66C48218FC4E}" type="uaqdatetime1">
              <a:rPr lang="ar-SA" smtClean="0"/>
              <a:t>10/06/1444</a:t>
            </a:fld>
            <a:endParaRPr lang="ar-S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06798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9B367-8CF1-4887-9F87-781D1C5AC8E8}" type="uaqdatetime1">
              <a:rPr lang="ar-SA" smtClean="0"/>
              <a:t>10/06/1444</a:t>
            </a:fld>
            <a:endParaRPr lang="ar-S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24900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F8465-3968-42C4-AD82-7A662D798DD1}" type="uaqdatetime1">
              <a:rPr lang="ar-SA" smtClean="0"/>
              <a:t>10/06/1444</a:t>
            </a:fld>
            <a:endParaRPr lang="ar-S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12698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AFB8-8427-40D8-B394-3E888060D62E}" type="uaqdatetime1">
              <a:rPr lang="ar-SA" smtClean="0"/>
              <a:t>10/06/1444</a:t>
            </a:fld>
            <a:endParaRPr lang="ar-S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13443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D541-0C9F-4B7D-AB27-121DCA19D7FA}" type="uaqdatetime1">
              <a:rPr lang="ar-SA" smtClean="0"/>
              <a:t>10/06/1444</a:t>
            </a:fld>
            <a:endParaRPr lang="ar-S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9267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BA57-B4D3-4E3D-80C1-C2AB20AC50D8}" type="uaqdatetime1">
              <a:rPr lang="ar-SA" smtClean="0"/>
              <a:t>10/06/1444</a:t>
            </a:fld>
            <a:endParaRPr lang="ar-S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64792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3456C-8D4F-4DC5-82BF-66988AD73DA2}" type="uaqdatetime1">
              <a:rPr lang="ar-SA" smtClean="0"/>
              <a:t>10/06/1444</a:t>
            </a:fld>
            <a:endParaRPr lang="ar-S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73817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B6AC3-2743-4E55-82F1-7EDFA35C7B9C}" type="uaqdatetime1">
              <a:rPr lang="ar-SA" smtClean="0"/>
              <a:t>10/06/1444</a:t>
            </a:fld>
            <a:endParaRPr lang="ar-S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57701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A6ED5-0B0F-42C0-A642-403B6D2FAF01}" type="uaqdatetime1">
              <a:rPr lang="ar-SA" smtClean="0"/>
              <a:t>10/06/1444</a:t>
            </a:fld>
            <a:endParaRPr lang="ar-S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20198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4A8A78-BB62-431A-B37B-3FFEF27580EB}" type="uaqdatetime1">
              <a:rPr lang="ar-SA" smtClean="0"/>
              <a:t>10/06/1444</a:t>
            </a:fld>
            <a:endParaRPr lang="en-US"/>
          </a:p>
        </p:txBody>
      </p:sp>
      <p:sp>
        <p:nvSpPr>
          <p:cNvPr id="6" name="Rectangle 7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2321: D.S.A (-Lists, Stacks, and Queues-)</a:t>
            </a:r>
          </a:p>
        </p:txBody>
      </p:sp>
      <p:sp>
        <p:nvSpPr>
          <p:cNvPr id="7" name="Rectangle 7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3E8FCA-FB07-4A33-B1EB-D60148EAA78C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7145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F85D4-082A-418E-9816-5816E4977951}" type="uaqdatetime1">
              <a:rPr lang="ar-SA" smtClean="0"/>
              <a:t>10/06/1444</a:t>
            </a:fld>
            <a:endParaRPr lang="en-US"/>
          </a:p>
        </p:txBody>
      </p:sp>
      <p:sp>
        <p:nvSpPr>
          <p:cNvPr id="7" name="Rectangle 7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2321: D.S.A (-Lists, Stacks, and Queues-)</a:t>
            </a:r>
          </a:p>
        </p:txBody>
      </p:sp>
      <p:sp>
        <p:nvSpPr>
          <p:cNvPr id="8" name="Rectangle 7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6DB842-C13A-458E-8DE3-24D06605D1FD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44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ar-SA" noProof="0"/>
          </a:p>
        </p:txBody>
      </p:sp>
      <p:sp>
        <p:nvSpPr>
          <p:cNvPr id="4" name="Rectangle 6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DAAF38-C53A-4706-8637-4B619781016A}" type="uaqdatetime1">
              <a:rPr lang="ar-SA" smtClean="0"/>
              <a:t>10/06/1444</a:t>
            </a:fld>
            <a:endParaRPr lang="en-US"/>
          </a:p>
        </p:txBody>
      </p:sp>
      <p:sp>
        <p:nvSpPr>
          <p:cNvPr id="5" name="Rectangle 7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2321: D.S.A (-Lists, Stacks, and Queues-)</a:t>
            </a:r>
          </a:p>
        </p:txBody>
      </p:sp>
      <p:sp>
        <p:nvSpPr>
          <p:cNvPr id="6" name="Rectangle 7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D5C614-A236-4E95-9105-E600B4ECC222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2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9E3A8-FBE5-42FB-B5FA-A8036DBB49B1}" type="uaqdatetime1">
              <a:rPr lang="ar-SA" smtClean="0"/>
              <a:t>10/06/1444</a:t>
            </a:fld>
            <a:endParaRPr lang="ar-S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C972D-C661-4BB2-A328-37778239E9A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77305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9" r:id="rId12"/>
    <p:sldLayoutId id="2147483830" r:id="rId13"/>
    <p:sldLayoutId id="2147483831" r:id="rId14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58813" y="3505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fr-FR" sz="6600" b="1" dirty="0">
                <a:cs typeface="Times New Roman" panose="02020603050405020304" pitchFamily="18" charset="0"/>
              </a:rPr>
              <a:t>Lists, Stacks, and Queues</a:t>
            </a:r>
          </a:p>
        </p:txBody>
      </p:sp>
      <p:sp>
        <p:nvSpPr>
          <p:cNvPr id="2" name="Rectangle 1"/>
          <p:cNvSpPr/>
          <p:nvPr/>
        </p:nvSpPr>
        <p:spPr>
          <a:xfrm>
            <a:off x="1564550" y="1752600"/>
            <a:ext cx="5960927" cy="19759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36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CS 2321</a:t>
            </a:r>
          </a:p>
          <a:p>
            <a:pPr algn="ctr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TW" sz="3600" b="1">
                <a:solidFill>
                  <a:srgbClr val="C00000"/>
                </a:solidFill>
                <a:latin typeface="+mj-lt"/>
                <a:ea typeface="+mj-ea"/>
                <a:cs typeface="+mj-cs"/>
              </a:rPr>
              <a:t>Data Structures 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and Algorithms</a:t>
            </a:r>
          </a:p>
          <a:p>
            <a:pPr algn="ctr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lang="en-US" sz="3600" b="1" dirty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100" name="Image 8" descr="C:\Users\mahdi\Desktop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275" y="76200"/>
            <a:ext cx="189388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1" name="Rectangle 2"/>
          <p:cNvSpPr txBox="1">
            <a:spLocks noChangeArrowheads="1"/>
          </p:cNvSpPr>
          <p:nvPr/>
        </p:nvSpPr>
        <p:spPr bwMode="auto">
          <a:xfrm>
            <a:off x="228600" y="50863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tx2"/>
              </a:buClr>
              <a:buSzPct val="75000"/>
            </a:pPr>
            <a:r>
              <a:rPr lang="en-US" altLang="fr-FR" sz="2400" b="1" dirty="0">
                <a:latin typeface="Calibri" panose="020F0502020204030204" pitchFamily="34" charset="0"/>
              </a:rPr>
              <a:t>Dr</a:t>
            </a:r>
            <a:r>
              <a:rPr lang="en-US" altLang="fr-FR" sz="2400" b="1">
                <a:latin typeface="Calibri" panose="020F0502020204030204" pitchFamily="34" charset="0"/>
              </a:rPr>
              <a:t>. Mahmoud </a:t>
            </a:r>
            <a:r>
              <a:rPr lang="en-US" altLang="fr-FR" sz="2400" b="1" dirty="0">
                <a:latin typeface="Calibri" panose="020F0502020204030204" pitchFamily="34" charset="0"/>
              </a:rPr>
              <a:t>Hassaballah</a:t>
            </a:r>
          </a:p>
          <a:p>
            <a:pPr eaLnBrk="1" hangingPunct="1">
              <a:buClr>
                <a:schemeClr val="tx2"/>
              </a:buClr>
              <a:buSzPct val="75000"/>
              <a:buFont typeface="Monotype Sorts" pitchFamily="2" charset="2"/>
              <a:buNone/>
            </a:pPr>
            <a:endParaRPr lang="en-US" altLang="fr-FR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885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fr-FR" sz="4000" b="1" dirty="0">
                <a:cs typeface="Times New Roman" panose="02020603050405020304" pitchFamily="18" charset="0"/>
              </a:rPr>
              <a:t>Outlines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76400"/>
            <a:ext cx="8610600" cy="4800600"/>
          </a:xfrm>
        </p:spPr>
        <p:txBody>
          <a:bodyPr rtlCol="0"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en-US" sz="3000" b="1" dirty="0">
                <a:latin typeface="+mj-lt"/>
              </a:rPr>
              <a:t>Objectives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000" b="1" dirty="0">
                <a:latin typeface="+mj-lt"/>
              </a:rPr>
              <a:t>Abstract Data Types (ADTs)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000" b="1" dirty="0">
                <a:latin typeface="+mj-lt"/>
              </a:rPr>
              <a:t>The List ADT</a:t>
            </a:r>
          </a:p>
          <a:p>
            <a:pPr marL="0" indent="0">
              <a:buNone/>
              <a:defRPr/>
            </a:pPr>
            <a:r>
              <a:rPr lang="en-US" sz="3000" b="1" dirty="0">
                <a:latin typeface="+mj-lt"/>
              </a:rPr>
              <a:t>		</a:t>
            </a:r>
            <a:r>
              <a:rPr lang="en-US" sz="2600" b="1" dirty="0">
                <a:solidFill>
                  <a:srgbClr val="C00000"/>
                </a:solidFill>
                <a:latin typeface="+mj-lt"/>
              </a:rPr>
              <a:t>Simple Array Implementation of Lists</a:t>
            </a:r>
          </a:p>
          <a:p>
            <a:pPr marL="0" indent="0">
              <a:buNone/>
              <a:defRPr/>
            </a:pPr>
            <a:r>
              <a:rPr lang="en-US" sz="2600" b="1" dirty="0">
                <a:solidFill>
                  <a:srgbClr val="C00000"/>
                </a:solidFill>
                <a:latin typeface="+mj-lt"/>
              </a:rPr>
              <a:t>		Simple Linked Lists</a:t>
            </a:r>
          </a:p>
          <a:p>
            <a:pPr marL="0" indent="0">
              <a:buNone/>
              <a:defRPr/>
            </a:pPr>
            <a:r>
              <a:rPr lang="en-US" sz="3000" b="1" dirty="0">
                <a:latin typeface="+mj-lt"/>
              </a:rPr>
              <a:t>3.   The Stack ADT</a:t>
            </a:r>
          </a:p>
          <a:p>
            <a:pPr marL="0" indent="0">
              <a:buNone/>
              <a:defRPr/>
            </a:pPr>
            <a:r>
              <a:rPr lang="en-US" sz="3000" b="1" dirty="0">
                <a:latin typeface="+mj-lt"/>
              </a:rPr>
              <a:t>		</a:t>
            </a:r>
            <a:r>
              <a:rPr lang="en-US" sz="2600" b="1" dirty="0">
                <a:solidFill>
                  <a:srgbClr val="C00000"/>
                </a:solidFill>
                <a:latin typeface="+mj-lt"/>
              </a:rPr>
              <a:t>Stack Model</a:t>
            </a:r>
          </a:p>
          <a:p>
            <a:pPr marL="0" indent="0">
              <a:buNone/>
              <a:defRPr/>
            </a:pPr>
            <a:r>
              <a:rPr lang="en-US" sz="2600" b="1" dirty="0">
                <a:solidFill>
                  <a:srgbClr val="C00000"/>
                </a:solidFill>
                <a:latin typeface="+mj-lt"/>
              </a:rPr>
              <a:t>		Implementation of Stacks</a:t>
            </a:r>
          </a:p>
          <a:p>
            <a:pPr marL="0" indent="0">
              <a:buNone/>
              <a:defRPr/>
            </a:pPr>
            <a:r>
              <a:rPr lang="en-US" sz="2600" b="1" dirty="0">
                <a:solidFill>
                  <a:srgbClr val="C00000"/>
                </a:solidFill>
                <a:latin typeface="+mj-lt"/>
              </a:rPr>
              <a:t>		Applications</a:t>
            </a:r>
          </a:p>
          <a:p>
            <a:pPr marL="0" indent="0">
              <a:buNone/>
              <a:defRPr/>
            </a:pPr>
            <a:r>
              <a:rPr lang="en-US" sz="3000" b="1" dirty="0">
                <a:latin typeface="+mj-lt"/>
              </a:rPr>
              <a:t>4.   The Queue ADT</a:t>
            </a:r>
          </a:p>
          <a:p>
            <a:pPr marL="342900" lvl="1" indent="0">
              <a:buNone/>
              <a:defRPr/>
            </a:pPr>
            <a:r>
              <a:rPr lang="en-US" sz="2700" b="1" dirty="0">
                <a:latin typeface="+mj-lt"/>
              </a:rPr>
              <a:t>		</a:t>
            </a:r>
            <a:r>
              <a:rPr lang="en-US" sz="2600" b="1" dirty="0">
                <a:solidFill>
                  <a:srgbClr val="C00000"/>
                </a:solidFill>
                <a:latin typeface="+mj-lt"/>
              </a:rPr>
              <a:t>Queue Model</a:t>
            </a:r>
          </a:p>
          <a:p>
            <a:pPr marL="342900" lvl="1" indent="0">
              <a:buNone/>
              <a:defRPr/>
            </a:pPr>
            <a:r>
              <a:rPr lang="en-US" sz="2600" b="1" dirty="0">
                <a:solidFill>
                  <a:srgbClr val="C00000"/>
                </a:solidFill>
                <a:latin typeface="+mj-lt"/>
              </a:rPr>
              <a:t>		Implementation of Queues</a:t>
            </a:r>
          </a:p>
          <a:p>
            <a:pPr marL="342900" lvl="1" indent="0">
              <a:buNone/>
              <a:defRPr/>
            </a:pPr>
            <a:r>
              <a:rPr lang="en-US" sz="2600" b="1" dirty="0">
                <a:solidFill>
                  <a:srgbClr val="C00000"/>
                </a:solidFill>
                <a:latin typeface="+mj-lt"/>
              </a:rPr>
              <a:t>		Applications of Queues</a:t>
            </a:r>
          </a:p>
          <a:p>
            <a:pPr marL="742950" indent="-7429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endParaRPr lang="en-US" sz="3000" b="1" dirty="0">
              <a:latin typeface="+mj-lt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CS 2321: D.S.A (-Lists, Stacks, and Queues-)</a:t>
            </a:r>
            <a:endParaRPr lang="en-US" altLang="zh-TW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F517F86-2AB5-4CD5-8517-7BF00594D6DF}" type="slidenum">
              <a:rPr lang="zh-TW" altLang="en-US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TW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542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64356"/>
            <a:ext cx="8229600" cy="560388"/>
          </a:xfrm>
        </p:spPr>
        <p:txBody>
          <a:bodyPr>
            <a:normAutofit fontScale="90000"/>
          </a:bodyPr>
          <a:lstStyle/>
          <a:p>
            <a:pPr algn="ctr" rtl="0" eaLnBrk="1" hangingPunct="1"/>
            <a:r>
              <a:rPr lang="en-US" altLang="ar-SA" sz="4000" b="1" dirty="0">
                <a:solidFill>
                  <a:srgbClr val="FF33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248836" name="Rectangle 4"/>
          <p:cNvSpPr>
            <a:spLocks noChangeArrowheads="1"/>
          </p:cNvSpPr>
          <p:nvPr/>
        </p:nvSpPr>
        <p:spPr bwMode="auto">
          <a:xfrm>
            <a:off x="152400" y="1628800"/>
            <a:ext cx="8839200" cy="50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will:</a:t>
            </a:r>
          </a:p>
          <a:p>
            <a:pPr marL="342900" indent="-342900" algn="l" rtl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l" rtl="0">
              <a:spcBef>
                <a:spcPct val="20000"/>
              </a:spcBef>
              <a:buClr>
                <a:schemeClr val="hlink"/>
              </a:buClr>
              <a:buSzPct val="80000"/>
              <a:buFont typeface="+mj-lt"/>
              <a:buAutoNum type="arabicPeriod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the concept of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Data Types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514350" indent="-514350" algn="l" rtl="0">
              <a:spcBef>
                <a:spcPct val="20000"/>
              </a:spcBef>
              <a:buClr>
                <a:schemeClr val="hlink"/>
              </a:buClr>
              <a:buSzPct val="80000"/>
              <a:buFont typeface="+mj-lt"/>
              <a:buAutoNum type="arabicPeriod"/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l" rtl="0">
              <a:spcBef>
                <a:spcPct val="20000"/>
              </a:spcBef>
              <a:buClr>
                <a:schemeClr val="hlink"/>
              </a:buClr>
              <a:buSzPct val="80000"/>
              <a:buFont typeface="+mj-lt"/>
              <a:buAutoNum type="arabicPeriod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how to efficiently perform operations on lists.</a:t>
            </a:r>
          </a:p>
          <a:p>
            <a:pPr marL="514350" indent="-514350" algn="l" rtl="0">
              <a:spcBef>
                <a:spcPct val="20000"/>
              </a:spcBef>
              <a:buClr>
                <a:schemeClr val="hlink"/>
              </a:buClr>
              <a:buSzPct val="80000"/>
              <a:buFont typeface="+mj-lt"/>
              <a:buAutoNum type="arabicPeriod"/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l" rtl="0">
              <a:spcBef>
                <a:spcPct val="20000"/>
              </a:spcBef>
              <a:buClr>
                <a:schemeClr val="hlink"/>
              </a:buClr>
              <a:buSzPct val="80000"/>
              <a:buFont typeface="+mj-lt"/>
              <a:buAutoNum type="arabicPeriod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the stack and queue ADTs.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(-Lists, Stacks, and Queues-)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3E8FCA-FB07-4A33-B1EB-D60148EAA78C}" type="slidenum">
              <a:rPr lang="ar-SA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38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fr-FR" altLang="fr-FR" sz="4000" b="1" dirty="0">
                <a:cs typeface="Times New Roman" panose="02020603050405020304" pitchFamily="18" charset="0"/>
              </a:rPr>
              <a:t>1. </a:t>
            </a:r>
            <a:r>
              <a:rPr lang="en-US" sz="4000" b="1" dirty="0">
                <a:latin typeface="+mj-lt"/>
              </a:rPr>
              <a:t>Abstract Data Types (ADTs)</a:t>
            </a:r>
            <a:endParaRPr lang="fr-FR" altLang="fr-FR" sz="40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708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5"/>
          <p:cNvSpPr>
            <a:spLocks noGrp="1" noChangeArrowheads="1"/>
          </p:cNvSpPr>
          <p:nvPr>
            <p:ph type="title"/>
          </p:nvPr>
        </p:nvSpPr>
        <p:spPr>
          <a:xfrm>
            <a:off x="539552" y="476672"/>
            <a:ext cx="8229600" cy="560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/>
          <a:p>
            <a:pPr algn="ctr" rtl="0" eaLnBrk="1" hangingPunct="1"/>
            <a:r>
              <a:rPr lang="en-US" altLang="ar-SA" sz="4000" b="1" dirty="0">
                <a:solidFill>
                  <a:srgbClr val="FF33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 Data Types (ADTs)</a:t>
            </a:r>
          </a:p>
        </p:txBody>
      </p:sp>
      <p:sp>
        <p:nvSpPr>
          <p:cNvPr id="249859" name="Rectangle 3"/>
          <p:cNvSpPr>
            <a:spLocks noGrp="1" noChangeArrowheads="1"/>
          </p:cNvSpPr>
          <p:nvPr>
            <p:ph idx="1"/>
          </p:nvPr>
        </p:nvSpPr>
        <p:spPr>
          <a:xfrm>
            <a:off x="0" y="1232520"/>
            <a:ext cx="9144000" cy="4932784"/>
          </a:xfrm>
        </p:spPr>
        <p:txBody>
          <a:bodyPr>
            <a:normAutofit fontScale="92500"/>
          </a:bodyPr>
          <a:lstStyle/>
          <a:p>
            <a:pPr algn="l" rtl="0" eaLnBrk="1" hangingPunct="1">
              <a:defRPr/>
            </a:pP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Data Types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set of objects + a set of operations</a:t>
            </a:r>
          </a:p>
          <a:p>
            <a:pPr lvl="1" algn="l" rtl="0" eaLnBrk="1" hangingPunct="1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 rtl="0"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integer</a:t>
            </a:r>
          </a:p>
          <a:p>
            <a:pPr lvl="2" algn="l" rtl="0" eaLnBrk="1" hangingPunct="1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whole numbers</a:t>
            </a:r>
          </a:p>
          <a:p>
            <a:pPr lvl="2" algn="l" rtl="0" eaLnBrk="1" hangingPunct="1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operations: +, -, *, /</a:t>
            </a:r>
          </a:p>
          <a:p>
            <a:pPr algn="l" rtl="0" eaLnBrk="1" hangingPunct="1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Data Types (ADT) is a logical view of the data objects together with specifications of the operations required to create and manipulate them.</a:t>
            </a:r>
          </a:p>
          <a:p>
            <a:pPr algn="l" rtl="0" eaLnBrk="1" hangingPunct="1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an algorithm – pseudocode </a:t>
            </a:r>
          </a:p>
          <a:p>
            <a:pPr algn="l" rtl="0" eaLnBrk="1" hangingPunct="1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a data structure – ADT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5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62185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fr-FR" altLang="fr-FR" sz="4000" b="1" dirty="0">
                <a:cs typeface="Times New Roman" panose="02020603050405020304" pitchFamily="18" charset="0"/>
              </a:rPr>
              <a:t>2. </a:t>
            </a:r>
            <a:r>
              <a:rPr lang="en-US" sz="4000" b="1" dirty="0">
                <a:latin typeface="+mj-lt"/>
              </a:rPr>
              <a:t>The List ADT</a:t>
            </a:r>
            <a:endParaRPr lang="fr-FR" altLang="fr-FR" sz="40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906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628800"/>
            <a:ext cx="8839200" cy="5076800"/>
          </a:xfrm>
        </p:spPr>
        <p:txBody>
          <a:bodyPr>
            <a:normAutofit lnSpcReduction="10000"/>
          </a:bodyPr>
          <a:lstStyle/>
          <a:p>
            <a:pPr algn="l" rtl="0" eaLnBrk="1" hangingPunct="1">
              <a:lnSpc>
                <a:spcPct val="90000"/>
              </a:lnSpc>
              <a:defRPr/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sequence of zero or more elements</a:t>
            </a:r>
          </a:p>
          <a:p>
            <a:pPr algn="ctr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 A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(length) of the list</a:t>
            </a: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size is zero, then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 list </a:t>
            </a: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element</a:t>
            </a: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9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 element</a:t>
            </a: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9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9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precedes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predecessor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</a:t>
            </a:r>
            <a:r>
              <a:rPr lang="en-US" sz="29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9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0)</a:t>
            </a: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9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follows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successor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</a:t>
            </a:r>
            <a:r>
              <a:rPr lang="en-US" sz="29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9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sz="2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rtl="0" eaLnBrk="1" hangingPunct="1">
              <a:lnSpc>
                <a:spcPct val="90000"/>
              </a:lnSpc>
              <a:defRPr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assume, to simplify matters, that the elements in the list are integers, but in general, arbitrarily complex elements are allowed.</a:t>
            </a:r>
          </a:p>
        </p:txBody>
      </p:sp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457200" y="492348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4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List ADT: </a:t>
            </a:r>
            <a:r>
              <a:rPr lang="en-US" alt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4914900" y="6371169"/>
            <a:ext cx="3086100" cy="365125"/>
          </a:xfrm>
        </p:spPr>
        <p:txBody>
          <a:bodyPr/>
          <a:lstStyle/>
          <a:p>
            <a:r>
              <a:rPr lang="en-US" dirty="0"/>
              <a:t>CS 2321: D.S.A (-Lists, Stacks, and Queues-)</a:t>
            </a:r>
            <a:endParaRPr lang="ar-SA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7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52273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497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52400" y="1334244"/>
                <a:ext cx="8839200" cy="5191100"/>
              </a:xfrm>
            </p:spPr>
            <p:txBody>
              <a:bodyPr>
                <a:normAutofit/>
              </a:bodyPr>
              <a:lstStyle/>
              <a:p>
                <a:pPr algn="l" rtl="0" eaLnBrk="1" hangingPunct="1">
                  <a:defRPr/>
                </a:pPr>
                <a:r>
                  <a:rPr lang="en-US" sz="2800" dirty="0" err="1">
                    <a:latin typeface="Consolas" panose="020B0609020204030204" pitchFamily="49" charset="0"/>
                    <a:ea typeface="Arial Unicode MS" pitchFamily="34" charset="-128"/>
                    <a:cs typeface="Consolas" panose="020B0609020204030204" pitchFamily="49" charset="0"/>
                  </a:rPr>
                  <a:t>printList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print the list elements</a:t>
                </a:r>
              </a:p>
              <a:p>
                <a:pPr algn="l" rtl="0" eaLnBrk="1" hangingPunct="1">
                  <a:defRPr/>
                </a:pPr>
                <a:r>
                  <a:rPr lang="en-US" sz="2800" dirty="0" err="1">
                    <a:latin typeface="Consolas" panose="020B0609020204030204" pitchFamily="49" charset="0"/>
                    <a:ea typeface="Arial Unicode MS" pitchFamily="34" charset="-128"/>
                    <a:cs typeface="Consolas" panose="020B0609020204030204" pitchFamily="49" charset="0"/>
                  </a:rPr>
                  <a:t>makeEmpty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create an empty list</a:t>
                </a:r>
              </a:p>
              <a:p>
                <a:pPr algn="l" rtl="0" eaLnBrk="1" hangingPunct="1">
                  <a:defRPr/>
                </a:pPr>
                <a:r>
                  <a:rPr lang="en-US" sz="2800" dirty="0">
                    <a:latin typeface="Consolas" panose="020B0609020204030204" pitchFamily="49" charset="0"/>
                    <a:ea typeface="Arial Unicode MS" pitchFamily="34" charset="-128"/>
                    <a:cs typeface="Consolas" panose="020B0609020204030204" pitchFamily="49" charset="0"/>
                  </a:rPr>
                  <a:t>find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locate the position of the first occurrence of a key in a list</a:t>
                </a:r>
              </a:p>
              <a:p>
                <a:pPr lvl="1" algn="l" rtl="0" eaLnBrk="1" hangingPunct="1"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list: </a:t>
                </a:r>
                <a:r>
                  <a:rPr lang="en-US" sz="2400" dirty="0">
                    <a:latin typeface="Consolas" panose="020B0609020204030204" pitchFamily="49" charset="0"/>
                    <a:ea typeface="Arial Unicode MS" pitchFamily="34" charset="-128"/>
                    <a:cs typeface="Consolas" panose="020B0609020204030204" pitchFamily="49" charset="0"/>
                  </a:rPr>
                  <a:t>34, 22, 52, 16, 12</a:t>
                </a:r>
              </a:p>
              <a:p>
                <a:pPr lvl="1">
                  <a:defRPr/>
                </a:pPr>
                <a:r>
                  <a:rPr lang="en-US" sz="2400" dirty="0">
                    <a:latin typeface="Consolas" panose="020B0609020204030204" pitchFamily="49" charset="0"/>
                    <a:ea typeface="Arial Unicode MS" pitchFamily="34" charset="-128"/>
                    <a:cs typeface="Consolas" panose="020B0609020204030204" pitchFamily="49" charset="0"/>
                  </a:rPr>
                  <a:t>find(52) </a:t>
                </a:r>
                <a14:m>
                  <m:oMath xmlns:m="http://schemas.openxmlformats.org/officeDocument/2006/math">
                    <m:r>
                      <a:rPr lang="is-IS" sz="24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</m:oMath>
                </a14:m>
                <a:r>
                  <a:rPr lang="en-US" sz="2400" dirty="0">
                    <a:latin typeface="Consolas" panose="020B0609020204030204" pitchFamily="49" charset="0"/>
                    <a:ea typeface="Arial Unicode MS" pitchFamily="34" charset="-128"/>
                    <a:cs typeface="Consolas" panose="020B0609020204030204" pitchFamily="49" charset="0"/>
                    <a:sym typeface="Symbol" pitchFamily="18" charset="2"/>
                  </a:rPr>
                  <a:t> </a:t>
                </a:r>
                <a:r>
                  <a:rPr lang="en-US" sz="2400" dirty="0">
                    <a:latin typeface="Consolas" panose="020B0609020204030204" pitchFamily="49" charset="0"/>
                    <a:ea typeface="Arial Unicode MS" pitchFamily="34" charset="-128"/>
                    <a:cs typeface="Consolas" panose="020B0609020204030204" pitchFamily="49" charset="0"/>
                  </a:rPr>
                  <a:t>2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sz="2400" dirty="0">
                    <a:latin typeface="Consolas" panose="020B0609020204030204" pitchFamily="49" charset="0"/>
                    <a:ea typeface="Arial Unicode MS" pitchFamily="34" charset="-128"/>
                    <a:cs typeface="Consolas" panose="020B0609020204030204" pitchFamily="49" charset="0"/>
                  </a:rPr>
                  <a:t>find(12) </a:t>
                </a:r>
                <a14:m>
                  <m:oMath xmlns:m="http://schemas.openxmlformats.org/officeDocument/2006/math">
                    <m:r>
                      <a:rPr lang="is-I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</m:oMath>
                </a14:m>
                <a:r>
                  <a:rPr lang="en-US" sz="2400" dirty="0">
                    <a:latin typeface="Consolas" panose="020B0609020204030204" pitchFamily="49" charset="0"/>
                    <a:ea typeface="Arial Unicode MS" pitchFamily="34" charset="-128"/>
                    <a:cs typeface="Consolas" panose="020B0609020204030204" pitchFamily="49" charset="0"/>
                    <a:sym typeface="Symbol" pitchFamily="18" charset="2"/>
                  </a:rPr>
                  <a:t> </a:t>
                </a:r>
                <a:r>
                  <a:rPr lang="en-US" sz="2400" dirty="0">
                    <a:latin typeface="Consolas" panose="020B0609020204030204" pitchFamily="49" charset="0"/>
                    <a:ea typeface="Arial Unicode MS" pitchFamily="34" charset="-128"/>
                    <a:cs typeface="Consolas" panose="020B0609020204030204" pitchFamily="49" charset="0"/>
                  </a:rPr>
                  <a:t>4</a:t>
                </a:r>
              </a:p>
              <a:p>
                <a:pPr algn="l" rtl="0" eaLnBrk="1" hangingPunct="1">
                  <a:defRPr/>
                </a:pPr>
                <a:r>
                  <a:rPr lang="en-US" sz="2800" dirty="0">
                    <a:latin typeface="Consolas" panose="020B0609020204030204" pitchFamily="49" charset="0"/>
                    <a:ea typeface="Arial Unicode MS" pitchFamily="34" charset="-128"/>
                    <a:cs typeface="Consolas" panose="020B0609020204030204" pitchFamily="49" charset="0"/>
                  </a:rPr>
                  <a:t>insert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insert an object to a list</a:t>
                </a:r>
              </a:p>
              <a:p>
                <a:pPr lvl="1">
                  <a:defRPr/>
                </a:pPr>
                <a:r>
                  <a:rPr lang="en-US" sz="2400" dirty="0">
                    <a:latin typeface="Consolas" panose="020B0609020204030204" pitchFamily="49" charset="0"/>
                    <a:ea typeface="Arial Unicode MS" pitchFamily="34" charset="-128"/>
                    <a:cs typeface="Consolas" panose="020B0609020204030204" pitchFamily="49" charset="0"/>
                  </a:rPr>
                  <a:t>insert(x, 3) </a:t>
                </a:r>
                <a14:m>
                  <m:oMath xmlns:m="http://schemas.openxmlformats.org/officeDocument/2006/math">
                    <m:r>
                      <a:rPr lang="is-I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</m:oMath>
                </a14:m>
                <a:r>
                  <a:rPr lang="en-US" sz="2400" dirty="0">
                    <a:latin typeface="Consolas" panose="020B0609020204030204" pitchFamily="49" charset="0"/>
                    <a:ea typeface="Arial Unicode MS" pitchFamily="34" charset="-128"/>
                    <a:cs typeface="Consolas" panose="020B0609020204030204" pitchFamily="49" charset="0"/>
                    <a:sym typeface="Symbol" pitchFamily="18" charset="2"/>
                  </a:rPr>
                  <a:t> </a:t>
                </a:r>
                <a:r>
                  <a:rPr lang="en-US" sz="2400" dirty="0">
                    <a:latin typeface="Consolas" panose="020B0609020204030204" pitchFamily="49" charset="0"/>
                    <a:ea typeface="Arial Unicode MS" pitchFamily="34" charset="-128"/>
                    <a:cs typeface="Consolas" panose="020B0609020204030204" pitchFamily="49" charset="0"/>
                  </a:rPr>
                  <a:t>34, 22, 52, x, 16, 12</a:t>
                </a:r>
              </a:p>
              <a:p>
                <a:pPr algn="l" rtl="0" eaLnBrk="1" hangingPunct="1">
                  <a:defRPr/>
                </a:pPr>
                <a:r>
                  <a:rPr lang="en-US" sz="2800" dirty="0">
                    <a:latin typeface="Consolas" panose="020B0609020204030204" pitchFamily="49" charset="0"/>
                    <a:ea typeface="Arial Unicode MS" pitchFamily="34" charset="-128"/>
                    <a:cs typeface="Consolas" panose="020B0609020204030204" pitchFamily="49" charset="0"/>
                  </a:rPr>
                  <a:t>remove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delete an element from the list</a:t>
                </a:r>
              </a:p>
              <a:p>
                <a:pPr lvl="1">
                  <a:defRPr/>
                </a:pPr>
                <a:r>
                  <a:rPr lang="en-US" sz="2400" dirty="0">
                    <a:latin typeface="Consolas" panose="020B0609020204030204" pitchFamily="49" charset="0"/>
                    <a:ea typeface="Arial Unicode MS" pitchFamily="34" charset="-128"/>
                    <a:cs typeface="Consolas" panose="020B0609020204030204" pitchFamily="49" charset="0"/>
                  </a:rPr>
                  <a:t>remove(52) </a:t>
                </a:r>
                <a14:m>
                  <m:oMath xmlns:m="http://schemas.openxmlformats.org/officeDocument/2006/math">
                    <m:r>
                      <a:rPr lang="is-I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</m:oMath>
                </a14:m>
                <a:r>
                  <a:rPr lang="en-US" sz="2400" dirty="0">
                    <a:latin typeface="Consolas" panose="020B0609020204030204" pitchFamily="49" charset="0"/>
                    <a:ea typeface="Arial Unicode MS" pitchFamily="34" charset="-128"/>
                    <a:cs typeface="Consolas" panose="020B0609020204030204" pitchFamily="49" charset="0"/>
                    <a:sym typeface="Symbol" pitchFamily="18" charset="2"/>
                  </a:rPr>
                  <a:t> </a:t>
                </a:r>
                <a:r>
                  <a:rPr lang="en-US" sz="2400" dirty="0">
                    <a:latin typeface="Consolas" panose="020B0609020204030204" pitchFamily="49" charset="0"/>
                    <a:ea typeface="Arial Unicode MS" pitchFamily="34" charset="-128"/>
                    <a:cs typeface="Consolas" panose="020B0609020204030204" pitchFamily="49" charset="0"/>
                  </a:rPr>
                  <a:t>34, 22, 16, 12</a:t>
                </a:r>
              </a:p>
              <a:p>
                <a:pPr algn="l" rtl="0" eaLnBrk="1" hangingPunct="1">
                  <a:defRPr/>
                </a:pPr>
                <a:r>
                  <a:rPr lang="en-US" sz="2800" dirty="0" err="1">
                    <a:latin typeface="Consolas" panose="020B0609020204030204" pitchFamily="49" charset="0"/>
                    <a:ea typeface="Arial Unicode MS" pitchFamily="34" charset="-128"/>
                    <a:cs typeface="Consolas" panose="020B0609020204030204" pitchFamily="49" charset="0"/>
                  </a:rPr>
                  <a:t>findKth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returns the element at a certain position</a:t>
                </a:r>
              </a:p>
              <a:p>
                <a:pPr lvl="1">
                  <a:defRPr/>
                </a:pPr>
                <a:r>
                  <a:rPr lang="en-US" sz="2400" dirty="0" err="1">
                    <a:latin typeface="Consolas" panose="020B0609020204030204" pitchFamily="49" charset="0"/>
                    <a:ea typeface="Arial Unicode MS" pitchFamily="34" charset="-128"/>
                    <a:cs typeface="Consolas" panose="020B0609020204030204" pitchFamily="49" charset="0"/>
                  </a:rPr>
                  <a:t>finKth</a:t>
                </a:r>
                <a:r>
                  <a:rPr lang="en-US" sz="2400" dirty="0">
                    <a:latin typeface="Consolas" panose="020B0609020204030204" pitchFamily="49" charset="0"/>
                    <a:ea typeface="Arial Unicode MS" pitchFamily="34" charset="-128"/>
                    <a:cs typeface="Consolas" panose="020B0609020204030204" pitchFamily="49" charset="0"/>
                  </a:rPr>
                  <a:t>(3) </a:t>
                </a:r>
                <a14:m>
                  <m:oMath xmlns:m="http://schemas.openxmlformats.org/officeDocument/2006/math">
                    <m:r>
                      <a:rPr lang="is-I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</m:oMath>
                </a14:m>
                <a:r>
                  <a:rPr lang="en-US" sz="2400" dirty="0">
                    <a:latin typeface="Consolas" panose="020B0609020204030204" pitchFamily="49" charset="0"/>
                    <a:ea typeface="Arial Unicode MS" pitchFamily="34" charset="-128"/>
                    <a:cs typeface="Consolas" panose="020B0609020204030204" pitchFamily="49" charset="0"/>
                    <a:sym typeface="Symbol" pitchFamily="18" charset="2"/>
                  </a:rPr>
                  <a:t> </a:t>
                </a:r>
                <a:r>
                  <a:rPr lang="en-US" sz="2400" dirty="0">
                    <a:latin typeface="Consolas" panose="020B0609020204030204" pitchFamily="49" charset="0"/>
                    <a:ea typeface="Arial Unicode MS" pitchFamily="34" charset="-128"/>
                    <a:cs typeface="Consolas" panose="020B0609020204030204" pitchFamily="49" charset="0"/>
                  </a:rPr>
                  <a:t>16</a:t>
                </a:r>
              </a:p>
            </p:txBody>
          </p:sp>
        </mc:Choice>
        <mc:Fallback xmlns="">
          <p:sp>
            <p:nvSpPr>
              <p:cNvPr id="2549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334244"/>
                <a:ext cx="8839200" cy="5191100"/>
              </a:xfrm>
              <a:blipFill>
                <a:blip r:embed="rId3"/>
                <a:stretch>
                  <a:fillRect l="-1241" t="-2233"/>
                </a:stretch>
              </a:blipFill>
            </p:spPr>
            <p:txBody>
              <a:bodyPr/>
              <a:lstStyle/>
              <a:p>
                <a:r>
                  <a:rPr lang="en-001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457200" y="492348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4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List ADT: </a:t>
            </a:r>
            <a:r>
              <a:rPr lang="en-US" alt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8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38081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628800"/>
            <a:ext cx="8839200" cy="5076800"/>
          </a:xfrm>
        </p:spPr>
        <p:txBody>
          <a:bodyPr/>
          <a:lstStyle/>
          <a:p>
            <a:pPr algn="l" rtl="0" eaLnBrk="1" hangingPunct="1"/>
            <a:r>
              <a:rPr lang="en-US" altLang="ar-SA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operation associated with the ADT is implemented by one or more routines</a:t>
            </a:r>
          </a:p>
          <a:p>
            <a:pPr algn="l" rtl="0" eaLnBrk="1" hangingPunct="1"/>
            <a:endParaRPr lang="en-US" altLang="ar-SA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/>
            <a:r>
              <a:rPr lang="en-US" altLang="ar-SA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Five standard implementations for the list ADT:</a:t>
            </a:r>
          </a:p>
          <a:p>
            <a:pPr algn="l" rtl="0" eaLnBrk="1" hangingPunct="1">
              <a:buFont typeface="Wingdings" pitchFamily="2" charset="2"/>
              <a:buNone/>
            </a:pPr>
            <a:r>
              <a:rPr lang="en-US" altLang="ar-SA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1. Array, </a:t>
            </a:r>
          </a:p>
          <a:p>
            <a:pPr algn="l" rtl="0" eaLnBrk="1" hangingPunct="1">
              <a:buFont typeface="Wingdings" pitchFamily="2" charset="2"/>
              <a:buNone/>
            </a:pPr>
            <a:r>
              <a:rPr lang="en-US" altLang="ar-SA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2. Linked List, </a:t>
            </a:r>
          </a:p>
          <a:p>
            <a:pPr algn="l" rtl="0" eaLnBrk="1" hangingPunct="1">
              <a:buFont typeface="Wingdings" pitchFamily="2" charset="2"/>
              <a:buNone/>
            </a:pPr>
            <a:r>
              <a:rPr lang="en-US" altLang="ar-SA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3. Doubly Linked List,</a:t>
            </a:r>
          </a:p>
          <a:p>
            <a:pPr algn="l" rtl="0">
              <a:buNone/>
            </a:pPr>
            <a:r>
              <a:rPr lang="en-US" altLang="ar-SA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4. </a:t>
            </a:r>
            <a:r>
              <a:rPr lang="en-US" altLang="ar-SA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Linked Lists, and</a:t>
            </a:r>
          </a:p>
          <a:p>
            <a:pPr algn="l" rtl="0">
              <a:buNone/>
            </a:pPr>
            <a:r>
              <a:rPr lang="en-US" altLang="ar-SA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5. </a:t>
            </a:r>
            <a:r>
              <a:rPr lang="en-US" altLang="ar-SA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Doubly Circular </a:t>
            </a:r>
            <a:r>
              <a:rPr lang="en-US" altLang="ar-SA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Lists.</a:t>
            </a:r>
          </a:p>
        </p:txBody>
      </p:sp>
      <p:sp>
        <p:nvSpPr>
          <p:cNvPr id="10243" name="Rectangle 10"/>
          <p:cNvSpPr>
            <a:spLocks noChangeArrowheads="1"/>
          </p:cNvSpPr>
          <p:nvPr/>
        </p:nvSpPr>
        <p:spPr bwMode="auto">
          <a:xfrm>
            <a:off x="0" y="420340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8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List ADT: </a:t>
            </a:r>
            <a:r>
              <a:rPr lang="en-US" altLang="ar-SA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 and standard implementations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4788024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CS 2321: D.S.A (-Lists, Stacks, and Queues-)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3E8FCA-FB07-4A33-B1EB-D60148EAA78C}" type="slidenum">
              <a:rPr lang="ar-SA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729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628800"/>
            <a:ext cx="8839200" cy="5076800"/>
          </a:xfrm>
        </p:spPr>
        <p:txBody>
          <a:bodyPr/>
          <a:lstStyle/>
          <a:p>
            <a:pPr algn="l" rtl="0" eaLnBrk="1" hangingPunct="1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use array, elements are stored in contiguous array positions</a:t>
            </a:r>
          </a:p>
          <a:p>
            <a:pPr algn="l" rtl="0" eaLnBrk="1" hangingPunct="1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an estimate of the maximum size of the list, waste space.</a:t>
            </a:r>
          </a:p>
        </p:txBody>
      </p:sp>
      <p:sp>
        <p:nvSpPr>
          <p:cNvPr id="11268" name="Rectangle 5"/>
          <p:cNvSpPr>
            <a:spLocks noChangeArrowheads="1"/>
          </p:cNvSpPr>
          <p:nvPr/>
        </p:nvSpPr>
        <p:spPr bwMode="auto">
          <a:xfrm>
            <a:off x="0" y="420340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8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List ADT: </a:t>
            </a:r>
            <a:r>
              <a:rPr lang="en-US" altLang="ar-SA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Array Implementation of Lists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2195736" y="2965064"/>
            <a:ext cx="5004412" cy="3375411"/>
            <a:chOff x="2159876" y="3374922"/>
            <a:chExt cx="5004412" cy="3375411"/>
          </a:xfrm>
        </p:grpSpPr>
        <p:grpSp>
          <p:nvGrpSpPr>
            <p:cNvPr id="26" name="Group 25"/>
            <p:cNvGrpSpPr/>
            <p:nvPr/>
          </p:nvGrpSpPr>
          <p:grpSpPr>
            <a:xfrm>
              <a:off x="2159876" y="3401817"/>
              <a:ext cx="3456384" cy="3339551"/>
              <a:chOff x="1979712" y="3401817"/>
              <a:chExt cx="3456384" cy="3339551"/>
            </a:xfrm>
          </p:grpSpPr>
          <p:sp>
            <p:nvSpPr>
              <p:cNvPr id="2" name="TextBox 1"/>
              <p:cNvSpPr txBox="1"/>
              <p:nvPr/>
            </p:nvSpPr>
            <p:spPr>
              <a:xfrm>
                <a:off x="3779912" y="3401817"/>
                <a:ext cx="1656184" cy="36933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 element</a:t>
                </a:r>
                <a:endParaRPr lang="ar-S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779912" y="3770822"/>
                <a:ext cx="1656184" cy="36933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Second element</a:t>
                </a:r>
                <a:endParaRPr lang="ar-S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779912" y="4139827"/>
                <a:ext cx="1656184" cy="36933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txBody>
              <a:bodyPr wrap="square" rtlCol="1">
                <a:spAutoFit/>
              </a:bodyPr>
              <a:lstStyle/>
              <a:p>
                <a:pPr algn="ctr" rtl="0"/>
                <a:endParaRPr lang="ar-S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3779912" y="4508832"/>
                <a:ext cx="1656184" cy="36933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txBody>
              <a:bodyPr wrap="square" rtlCol="1">
                <a:spAutoFit/>
              </a:bodyPr>
              <a:lstStyle/>
              <a:p>
                <a:pPr algn="ctr" rtl="0"/>
                <a:endParaRPr lang="ar-S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3779912" y="4878125"/>
                <a:ext cx="1656184" cy="36933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txBody>
              <a:bodyPr wrap="square" rtlCol="1">
                <a:spAutoFit/>
              </a:bodyPr>
              <a:lstStyle/>
              <a:p>
                <a:pPr algn="ctr" rtl="0"/>
                <a:endParaRPr lang="ar-S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3779912" y="5247130"/>
                <a:ext cx="1656184" cy="36933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Last element</a:t>
                </a:r>
                <a:endParaRPr lang="ar-S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3779912" y="5624812"/>
                <a:ext cx="1656184" cy="36933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txBody>
              <a:bodyPr wrap="square" rtlCol="1">
                <a:spAutoFit/>
              </a:bodyPr>
              <a:lstStyle/>
              <a:p>
                <a:pPr algn="ctr" rtl="0"/>
                <a:endParaRPr lang="ar-S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779912" y="5993817"/>
                <a:ext cx="1656184" cy="36933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txBody>
              <a:bodyPr wrap="square" rtlCol="1">
                <a:spAutoFit/>
              </a:bodyPr>
              <a:lstStyle/>
              <a:p>
                <a:pPr algn="ctr" rtl="0"/>
                <a:endParaRPr lang="ar-S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3779912" y="6363071"/>
                <a:ext cx="1656184" cy="36933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txBody>
              <a:bodyPr wrap="square" rtlCol="1">
                <a:spAutoFit/>
              </a:bodyPr>
              <a:lstStyle/>
              <a:p>
                <a:pPr algn="ctr" rtl="0"/>
                <a:endParaRPr lang="ar-S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1979712" y="3410782"/>
                <a:ext cx="1656184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square" rtlCol="1">
                <a:spAutoFit/>
              </a:bodyPr>
              <a:lstStyle/>
              <a:p>
                <a:pPr rtl="0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ar-S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1979712" y="3779787"/>
                <a:ext cx="1656184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square" rtlCol="1">
                <a:spAutoFit/>
              </a:bodyPr>
              <a:lstStyle/>
              <a:p>
                <a:pPr rtl="0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ar-S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1979712" y="4148792"/>
                <a:ext cx="1656184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square" rtlCol="1">
                <a:spAutoFit/>
              </a:bodyPr>
              <a:lstStyle/>
              <a:p>
                <a:pPr algn="ctr" rtl="0"/>
                <a:endParaRPr lang="ar-S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1979712" y="4517797"/>
                <a:ext cx="1656184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square" rtlCol="1">
                <a:spAutoFit/>
              </a:bodyPr>
              <a:lstStyle/>
              <a:p>
                <a:pPr algn="ctr" rtl="0"/>
                <a:endParaRPr lang="ar-S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979712" y="4887090"/>
                <a:ext cx="1656184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square" rtlCol="1">
                <a:spAutoFit/>
              </a:bodyPr>
              <a:lstStyle/>
              <a:p>
                <a:pPr algn="ctr" rtl="0"/>
                <a:endParaRPr lang="ar-S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979712" y="5256095"/>
                <a:ext cx="1656184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square" rtlCol="1">
                <a:spAutoFit/>
              </a:bodyPr>
              <a:lstStyle/>
              <a:p>
                <a:pPr algn="l" rtl="0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Last</a:t>
                </a:r>
                <a:endParaRPr lang="ar-S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1979712" y="5633777"/>
                <a:ext cx="1656184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square" rtlCol="1">
                <a:spAutoFit/>
              </a:bodyPr>
              <a:lstStyle/>
              <a:p>
                <a:pPr rtl="0"/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</a:t>
                </a:r>
                <a:endParaRPr lang="ar-S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1979712" y="6002782"/>
                <a:ext cx="1656184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square" rtlCol="1">
                <a:spAutoFit/>
              </a:bodyPr>
              <a:lstStyle/>
              <a:p>
                <a:pPr algn="ctr" rtl="0"/>
                <a:endParaRPr lang="ar-S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1979712" y="6372036"/>
                <a:ext cx="1656184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square" rtlCol="1">
                <a:spAutoFit/>
              </a:bodyPr>
              <a:lstStyle/>
              <a:p>
                <a:pPr rtl="0"/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maxlength</a:t>
                </a:r>
                <a:endParaRPr lang="ar-S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" name="Straight Arrow Connector 3"/>
              <p:cNvCxnSpPr>
                <a:endCxn id="10" idx="1"/>
              </p:cNvCxnSpPr>
              <p:nvPr/>
            </p:nvCxnSpPr>
            <p:spPr>
              <a:xfrm>
                <a:off x="2555776" y="5431796"/>
                <a:ext cx="1224136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Right Brace 26"/>
            <p:cNvSpPr/>
            <p:nvPr/>
          </p:nvSpPr>
          <p:spPr>
            <a:xfrm>
              <a:off x="5652120" y="3374922"/>
              <a:ext cx="432048" cy="2214645"/>
            </a:xfrm>
            <a:prstGeom prst="rightBrac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084168" y="4293096"/>
              <a:ext cx="576064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l" rtl="0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</a:t>
              </a:r>
              <a:endParaRPr lang="ar-SA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Right Brace 31"/>
            <p:cNvSpPr/>
            <p:nvPr/>
          </p:nvSpPr>
          <p:spPr>
            <a:xfrm>
              <a:off x="5652120" y="5625427"/>
              <a:ext cx="432048" cy="1124906"/>
            </a:xfrm>
            <a:prstGeom prst="rightBrac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084168" y="5949280"/>
              <a:ext cx="108012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l" rtl="0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ar-SA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(-Lists, Stacks, and Queues-)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3E8FCA-FB07-4A33-B1EB-D60148EAA78C}" type="slidenum">
              <a:rPr lang="ar-SA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179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556792"/>
            <a:ext cx="8884096" cy="5148808"/>
          </a:xfrm>
        </p:spPr>
        <p:txBody>
          <a:bodyPr>
            <a:normAutofit/>
          </a:bodyPr>
          <a:lstStyle/>
          <a:p>
            <a:pPr algn="l" rtl="0" eaLnBrk="1" hangingPunct="1">
              <a:lnSpc>
                <a:spcPct val="80000"/>
              </a:lnSpc>
              <a:defRPr/>
            </a:pPr>
            <a:r>
              <a:rPr lang="en-US" sz="2800" dirty="0" err="1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printList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dirty="0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find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linear time O(N)</a:t>
            </a:r>
          </a:p>
          <a:p>
            <a:pPr algn="l" rtl="0" eaLnBrk="1" hangingPunct="1">
              <a:lnSpc>
                <a:spcPct val="80000"/>
              </a:lnSpc>
              <a:defRPr/>
            </a:pPr>
            <a:endParaRPr lang="en-US" sz="2800" dirty="0">
              <a:latin typeface="Times New Roman" panose="02020603050405020304" pitchFamily="18" charset="0"/>
              <a:ea typeface="Arial Unicode MS" pitchFamily="34" charset="-128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80000"/>
              </a:lnSpc>
              <a:defRPr/>
            </a:pPr>
            <a:r>
              <a:rPr lang="en-US" sz="2800" dirty="0" err="1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findKth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Constant time O(1)</a:t>
            </a:r>
          </a:p>
          <a:p>
            <a:pPr algn="l" rtl="0" eaLnBrk="1" hangingPunct="1">
              <a:lnSpc>
                <a:spcPct val="80000"/>
              </a:lnSpc>
              <a:defRPr/>
            </a:pPr>
            <a:endParaRPr lang="en-US" sz="2800" dirty="0">
              <a:latin typeface="Times New Roman" panose="02020603050405020304" pitchFamily="18" charset="0"/>
              <a:ea typeface="Arial Unicode MS" pitchFamily="34" charset="-128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80000"/>
              </a:lnSpc>
              <a:defRPr/>
            </a:pPr>
            <a:r>
              <a:rPr lang="en-US" sz="2800" dirty="0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insert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dirty="0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remove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slow – the worst case is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 lvl="1" algn="just" rtl="0" eaLnBrk="1" hangingPunct="1">
              <a:lnSpc>
                <a:spcPct val="80000"/>
              </a:lnSpc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</a:t>
            </a:r>
            <a:r>
              <a:rPr lang="en-US" sz="20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insert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position 0 (making a new element) requires first pushing the entire array down one spot to make room</a:t>
            </a:r>
          </a:p>
          <a:p>
            <a:pPr lvl="1" algn="just" rtl="0" eaLnBrk="1" hangingPunct="1">
              <a:lnSpc>
                <a:spcPct val="80000"/>
              </a:lnSpc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</a:t>
            </a:r>
            <a:r>
              <a:rPr lang="en-US" sz="20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remove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position 0 requires shifting all the elements in the list up one</a:t>
            </a:r>
          </a:p>
          <a:p>
            <a:pPr lvl="1">
              <a:lnSpc>
                <a:spcPct val="80000"/>
              </a:lnSpc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average, half of the lists needs to be moved for either operation,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linear time is still required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).</a:t>
            </a:r>
            <a:endParaRPr lang="en-US" sz="2000" dirty="0">
              <a:latin typeface="Times New Roman" panose="02020603050405020304" pitchFamily="18" charset="0"/>
              <a:ea typeface="Arial Unicode MS" pitchFamily="34" charset="-128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80000"/>
              </a:lnSpc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 eaLnBrk="1" hangingPunct="1">
              <a:lnSpc>
                <a:spcPct val="80000"/>
              </a:lnSpc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a list by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successive inserts would require quadratic time (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0" y="348332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8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List ADT: </a:t>
            </a:r>
            <a:r>
              <a:rPr lang="en-US" altLang="ar-SA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Array Implementation of Lists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5148064" y="6327105"/>
            <a:ext cx="3086100" cy="365125"/>
          </a:xfrm>
        </p:spPr>
        <p:txBody>
          <a:bodyPr/>
          <a:lstStyle/>
          <a:p>
            <a:r>
              <a:rPr lang="en-US" dirty="0"/>
              <a:t>CS 2321: D.S.A (-Lists, Stacks, and Queues-)</a:t>
            </a:r>
            <a:endParaRPr lang="ar-SA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11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87786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556792"/>
            <a:ext cx="8839200" cy="3528392"/>
          </a:xfrm>
        </p:spPr>
        <p:txBody>
          <a:bodyPr/>
          <a:lstStyle/>
          <a:p>
            <a:pPr algn="just" rtl="0" eaLnBrk="1" hangingPunct="1">
              <a:lnSpc>
                <a:spcPct val="9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 running time for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insertions and deletions is so slow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size must be known in advance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simple arrays are generally not used to implement lists.</a:t>
            </a:r>
          </a:p>
          <a:p>
            <a:pPr algn="l" rtl="0" eaLnBrk="1" hangingPunct="1">
              <a:lnSpc>
                <a:spcPct val="90000"/>
              </a:lnSpc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avoid the linear cost of insertion and deletion, we need to ensure that the list is not stored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contiguously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 rtl="0" eaLnBrk="1" hangingPunct="1">
              <a:lnSpc>
                <a:spcPct val="90000"/>
              </a:lnSpc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linked list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series of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which are not necessarily adjacent in memory.</a:t>
            </a:r>
          </a:p>
        </p:txBody>
      </p:sp>
      <p:sp>
        <p:nvSpPr>
          <p:cNvPr id="13315" name="Rectangle 32"/>
          <p:cNvSpPr>
            <a:spLocks noChangeArrowheads="1"/>
          </p:cNvSpPr>
          <p:nvPr/>
        </p:nvSpPr>
        <p:spPr bwMode="auto">
          <a:xfrm>
            <a:off x="457200" y="348332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36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List ADT: </a:t>
            </a:r>
            <a:r>
              <a:rPr lang="en-US" altLang="ar-SA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Linked Lists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12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3409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idx="1"/>
          </p:nvPr>
        </p:nvSpPr>
        <p:spPr>
          <a:xfrm>
            <a:off x="177800" y="1556792"/>
            <a:ext cx="8813800" cy="3312368"/>
          </a:xfrm>
        </p:spPr>
        <p:txBody>
          <a:bodyPr/>
          <a:lstStyle/>
          <a:p>
            <a:pPr algn="l" rtl="0" eaLnBrk="1" hangingPunct="1">
              <a:lnSpc>
                <a:spcPct val="8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lists are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complex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code and manage than arrays, but they have some distinct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 rtl="0" eaLnBrk="1" hangingPunct="1">
              <a:lnSpc>
                <a:spcPct val="80000"/>
              </a:lnSpc>
              <a:defRPr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b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linked list can easily grow and shrink in size.</a:t>
            </a:r>
          </a:p>
          <a:p>
            <a:pPr lvl="2" algn="l" rtl="0" eaLnBrk="1" hangingPunct="1">
              <a:lnSpc>
                <a:spcPct val="8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don’t need to know how many nodes will be in the list. They are created in memory as needed.</a:t>
            </a:r>
          </a:p>
          <a:p>
            <a:pPr lvl="2" algn="l" rtl="0" eaLnBrk="1" hangingPunct="1">
              <a:lnSpc>
                <a:spcPct val="80000"/>
              </a:lnSpc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l" rtl="0" eaLnBrk="1" hangingPunct="1">
              <a:lnSpc>
                <a:spcPct val="80000"/>
              </a:lnSpc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b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and fast insertions and deletions</a:t>
            </a:r>
          </a:p>
          <a:p>
            <a:pPr lvl="2" algn="l" rtl="0" eaLnBrk="1" hangingPunct="1">
              <a:lnSpc>
                <a:spcPct val="8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insert or delete an element in an array, we need to copy to temporary variables to make room for new elements or close the gap caused by deleted elements.</a:t>
            </a:r>
          </a:p>
          <a:p>
            <a:pPr lvl="2" algn="l" rtl="0" eaLnBrk="1" hangingPunct="1">
              <a:lnSpc>
                <a:spcPct val="8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linked list, no need to move other nodes. Only need to reset some pointers.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457200" y="348332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36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List ADT: </a:t>
            </a:r>
            <a:r>
              <a:rPr lang="en-US" altLang="ar-SA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Linked Lists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13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8482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1628800"/>
            <a:ext cx="8839200" cy="5076800"/>
          </a:xfrm>
        </p:spPr>
        <p:txBody>
          <a:bodyPr>
            <a:normAutofit fontScale="92500" lnSpcReduction="10000"/>
          </a:bodyPr>
          <a:lstStyle/>
          <a:p>
            <a:pPr algn="l" rtl="0" eaLnBrk="1" hangingPunct="1">
              <a:lnSpc>
                <a:spcPct val="80000"/>
              </a:lnSpc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figure shows the general idea of a linked list. The list contains five structures</a:t>
            </a:r>
          </a:p>
          <a:p>
            <a:pPr algn="l" rtl="0" eaLnBrk="1" hangingPunct="1">
              <a:lnSpc>
                <a:spcPct val="80000"/>
              </a:lnSpc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80000"/>
              </a:lnSpc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80000"/>
              </a:lnSpc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80000"/>
              </a:lnSpc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structure contains at least</a:t>
            </a:r>
          </a:p>
          <a:p>
            <a:pPr lvl="1" algn="l" rtl="0" eaLnBrk="1" hangingPunct="1">
              <a:lnSpc>
                <a:spcPct val="80000"/>
              </a:lnSpc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element: a piece of data (any type)</a:t>
            </a:r>
          </a:p>
          <a:p>
            <a:pPr lvl="1" algn="l" rtl="0" eaLnBrk="1" hangingPunct="1">
              <a:lnSpc>
                <a:spcPct val="80000"/>
              </a:lnSpc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next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pointer: a pointer to the next structure in the list</a:t>
            </a:r>
          </a:p>
          <a:p>
            <a:pPr algn="l" rtl="0" eaLnBrk="1" hangingPunct="1">
              <a:lnSpc>
                <a:spcPct val="80000"/>
              </a:lnSpc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80000"/>
              </a:lnSpc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80000"/>
              </a:lnSpc>
              <a:defRPr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80000"/>
              </a:lnSpc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node’s </a:t>
            </a:r>
            <a:r>
              <a:rPr lang="en-US" sz="28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next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pointer points to </a:t>
            </a:r>
            <a:r>
              <a:rPr lang="en-US" sz="2800" dirty="0" err="1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nullPtr</a:t>
            </a:r>
            <a:r>
              <a:rPr lang="en-US" sz="28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. </a:t>
            </a:r>
          </a:p>
          <a:p>
            <a:pPr algn="l" rtl="0" eaLnBrk="1" hangingPunct="1">
              <a:lnSpc>
                <a:spcPct val="80000"/>
              </a:lnSpc>
              <a:defRPr/>
            </a:pPr>
            <a:r>
              <a:rPr lang="en-US" sz="28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ANSI C specifies that </a:t>
            </a:r>
            <a:r>
              <a:rPr lang="en-US" sz="2800" dirty="0" err="1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nullPtr</a:t>
            </a:r>
            <a:r>
              <a:rPr lang="en-US" sz="28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 is zero.</a:t>
            </a:r>
          </a:p>
        </p:txBody>
      </p:sp>
      <p:grpSp>
        <p:nvGrpSpPr>
          <p:cNvPr id="15363" name="Group 3"/>
          <p:cNvGrpSpPr>
            <a:grpSpLocks/>
          </p:cNvGrpSpPr>
          <p:nvPr/>
        </p:nvGrpSpPr>
        <p:grpSpPr bwMode="auto">
          <a:xfrm>
            <a:off x="2667000" y="4503390"/>
            <a:ext cx="3581400" cy="1085850"/>
            <a:chOff x="3504" y="3168"/>
            <a:chExt cx="2208" cy="1029"/>
          </a:xfrm>
        </p:grpSpPr>
        <p:sp>
          <p:nvSpPr>
            <p:cNvPr id="15400" name="Rectangle 4"/>
            <p:cNvSpPr>
              <a:spLocks noChangeArrowheads="1"/>
            </p:cNvSpPr>
            <p:nvPr/>
          </p:nvSpPr>
          <p:spPr bwMode="auto">
            <a:xfrm>
              <a:off x="4816" y="3416"/>
              <a:ext cx="576" cy="38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ar-SA" altLang="ar-SA"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5401" name="Group 5"/>
            <p:cNvGrpSpPr>
              <a:grpSpLocks/>
            </p:cNvGrpSpPr>
            <p:nvPr/>
          </p:nvGrpSpPr>
          <p:grpSpPr bwMode="auto">
            <a:xfrm>
              <a:off x="4144" y="3416"/>
              <a:ext cx="672" cy="463"/>
              <a:chOff x="1728" y="2880"/>
              <a:chExt cx="384" cy="463"/>
            </a:xfrm>
          </p:grpSpPr>
          <p:sp>
            <p:nvSpPr>
              <p:cNvPr id="15407" name="Rectangle 6"/>
              <p:cNvSpPr>
                <a:spLocks noChangeArrowheads="1"/>
              </p:cNvSpPr>
              <p:nvPr/>
            </p:nvSpPr>
            <p:spPr bwMode="auto">
              <a:xfrm>
                <a:off x="1728" y="2880"/>
                <a:ext cx="384" cy="384"/>
              </a:xfrm>
              <a:prstGeom prst="rect">
                <a:avLst/>
              </a:prstGeom>
              <a:solidFill>
                <a:schemeClr val="folHlink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408" name="Text Box 7"/>
              <p:cNvSpPr txBox="1">
                <a:spLocks noChangeArrowheads="1"/>
              </p:cNvSpPr>
              <p:nvPr/>
            </p:nvSpPr>
            <p:spPr bwMode="auto">
              <a:xfrm>
                <a:off x="1893" y="2967"/>
                <a:ext cx="65" cy="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ar-SA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5402" name="Text Box 8"/>
            <p:cNvSpPr txBox="1">
              <a:spLocks noChangeArrowheads="1"/>
            </p:cNvSpPr>
            <p:nvPr/>
          </p:nvSpPr>
          <p:spPr bwMode="auto">
            <a:xfrm>
              <a:off x="4272" y="3850"/>
              <a:ext cx="432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ar-SA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  <p:sp>
          <p:nvSpPr>
            <p:cNvPr id="15403" name="Text Box 9"/>
            <p:cNvSpPr txBox="1">
              <a:spLocks noChangeArrowheads="1"/>
            </p:cNvSpPr>
            <p:nvPr/>
          </p:nvSpPr>
          <p:spPr bwMode="auto">
            <a:xfrm>
              <a:off x="4800" y="3850"/>
              <a:ext cx="625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ar-SA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Pointer</a:t>
              </a:r>
            </a:p>
          </p:txBody>
        </p:sp>
        <p:sp>
          <p:nvSpPr>
            <p:cNvPr id="15404" name="Rectangle 10"/>
            <p:cNvSpPr>
              <a:spLocks noChangeArrowheads="1"/>
            </p:cNvSpPr>
            <p:nvPr/>
          </p:nvSpPr>
          <p:spPr bwMode="auto">
            <a:xfrm>
              <a:off x="3504" y="3168"/>
              <a:ext cx="2112" cy="1008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ar-SA" altLang="ar-SA"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405" name="Text Box 11"/>
            <p:cNvSpPr txBox="1">
              <a:spLocks noChangeArrowheads="1"/>
            </p:cNvSpPr>
            <p:nvPr/>
          </p:nvSpPr>
          <p:spPr bwMode="auto">
            <a:xfrm>
              <a:off x="3553" y="3225"/>
              <a:ext cx="527" cy="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ar-SA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Node</a:t>
              </a:r>
            </a:p>
          </p:txBody>
        </p:sp>
        <p:sp>
          <p:nvSpPr>
            <p:cNvPr id="15406" name="Line 12"/>
            <p:cNvSpPr>
              <a:spLocks noChangeShapeType="1"/>
            </p:cNvSpPr>
            <p:nvPr/>
          </p:nvSpPr>
          <p:spPr bwMode="auto">
            <a:xfrm flipV="1">
              <a:off x="5136" y="3600"/>
              <a:ext cx="57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ar-S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364" name="Rectangle 13"/>
          <p:cNvSpPr>
            <a:spLocks noChangeArrowheads="1"/>
          </p:cNvSpPr>
          <p:nvPr/>
        </p:nvSpPr>
        <p:spPr bwMode="auto">
          <a:xfrm>
            <a:off x="457200" y="348332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36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List ADT: </a:t>
            </a:r>
            <a:r>
              <a:rPr lang="en-US" altLang="ar-SA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Linked Lists</a:t>
            </a:r>
          </a:p>
        </p:txBody>
      </p:sp>
      <p:grpSp>
        <p:nvGrpSpPr>
          <p:cNvPr id="15365" name="Group 14"/>
          <p:cNvGrpSpPr>
            <a:grpSpLocks/>
          </p:cNvGrpSpPr>
          <p:nvPr/>
        </p:nvGrpSpPr>
        <p:grpSpPr bwMode="auto">
          <a:xfrm>
            <a:off x="609600" y="2420888"/>
            <a:ext cx="8229600" cy="736600"/>
            <a:chOff x="288" y="1680"/>
            <a:chExt cx="5184" cy="464"/>
          </a:xfrm>
        </p:grpSpPr>
        <p:grpSp>
          <p:nvGrpSpPr>
            <p:cNvPr id="15366" name="Group 15"/>
            <p:cNvGrpSpPr>
              <a:grpSpLocks/>
            </p:cNvGrpSpPr>
            <p:nvPr/>
          </p:nvGrpSpPr>
          <p:grpSpPr bwMode="auto">
            <a:xfrm>
              <a:off x="288" y="1680"/>
              <a:ext cx="1018" cy="464"/>
              <a:chOff x="1290" y="1684"/>
              <a:chExt cx="1152" cy="384"/>
            </a:xfrm>
          </p:grpSpPr>
          <p:sp>
            <p:nvSpPr>
              <p:cNvPr id="15395" name="Rectangle 16"/>
              <p:cNvSpPr>
                <a:spLocks noChangeArrowheads="1"/>
              </p:cNvSpPr>
              <p:nvPr/>
            </p:nvSpPr>
            <p:spPr bwMode="auto">
              <a:xfrm>
                <a:off x="1674" y="1684"/>
                <a:ext cx="384" cy="38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96" name="Line 17"/>
              <p:cNvSpPr>
                <a:spLocks noChangeShapeType="1"/>
              </p:cNvSpPr>
              <p:nvPr/>
            </p:nvSpPr>
            <p:spPr bwMode="auto">
              <a:xfrm flipV="1">
                <a:off x="1866" y="1876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5397" name="Group 18"/>
              <p:cNvGrpSpPr>
                <a:grpSpLocks/>
              </p:cNvGrpSpPr>
              <p:nvPr/>
            </p:nvGrpSpPr>
            <p:grpSpPr bwMode="auto">
              <a:xfrm>
                <a:off x="1290" y="1684"/>
                <a:ext cx="384" cy="384"/>
                <a:chOff x="1728" y="2880"/>
                <a:chExt cx="384" cy="384"/>
              </a:xfrm>
            </p:grpSpPr>
            <p:sp>
              <p:nvSpPr>
                <p:cNvPr id="15398" name="Rectangle 19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99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1764" y="2967"/>
                  <a:ext cx="325" cy="2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5367" name="Group 21"/>
            <p:cNvGrpSpPr>
              <a:grpSpLocks/>
            </p:cNvGrpSpPr>
            <p:nvPr/>
          </p:nvGrpSpPr>
          <p:grpSpPr bwMode="auto">
            <a:xfrm>
              <a:off x="1306" y="1680"/>
              <a:ext cx="1017" cy="464"/>
              <a:chOff x="1290" y="1684"/>
              <a:chExt cx="1152" cy="384"/>
            </a:xfrm>
          </p:grpSpPr>
          <p:sp>
            <p:nvSpPr>
              <p:cNvPr id="15390" name="Rectangle 22"/>
              <p:cNvSpPr>
                <a:spLocks noChangeArrowheads="1"/>
              </p:cNvSpPr>
              <p:nvPr/>
            </p:nvSpPr>
            <p:spPr bwMode="auto">
              <a:xfrm>
                <a:off x="1674" y="1684"/>
                <a:ext cx="384" cy="38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91" name="Line 23"/>
              <p:cNvSpPr>
                <a:spLocks noChangeShapeType="1"/>
              </p:cNvSpPr>
              <p:nvPr/>
            </p:nvSpPr>
            <p:spPr bwMode="auto">
              <a:xfrm flipV="1">
                <a:off x="1866" y="1876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5392" name="Group 24"/>
              <p:cNvGrpSpPr>
                <a:grpSpLocks/>
              </p:cNvGrpSpPr>
              <p:nvPr/>
            </p:nvGrpSpPr>
            <p:grpSpPr bwMode="auto">
              <a:xfrm>
                <a:off x="1290" y="1684"/>
                <a:ext cx="384" cy="384"/>
                <a:chOff x="1728" y="2880"/>
                <a:chExt cx="384" cy="384"/>
              </a:xfrm>
            </p:grpSpPr>
            <p:sp>
              <p:nvSpPr>
                <p:cNvPr id="15393" name="Rectangle 25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94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764" y="2967"/>
                  <a:ext cx="325" cy="2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5368" name="Group 27"/>
            <p:cNvGrpSpPr>
              <a:grpSpLocks/>
            </p:cNvGrpSpPr>
            <p:nvPr/>
          </p:nvGrpSpPr>
          <p:grpSpPr bwMode="auto">
            <a:xfrm>
              <a:off x="2323" y="1680"/>
              <a:ext cx="1018" cy="464"/>
              <a:chOff x="1290" y="1684"/>
              <a:chExt cx="1152" cy="384"/>
            </a:xfrm>
          </p:grpSpPr>
          <p:sp>
            <p:nvSpPr>
              <p:cNvPr id="15385" name="Rectangle 28"/>
              <p:cNvSpPr>
                <a:spLocks noChangeArrowheads="1"/>
              </p:cNvSpPr>
              <p:nvPr/>
            </p:nvSpPr>
            <p:spPr bwMode="auto">
              <a:xfrm>
                <a:off x="1674" y="1684"/>
                <a:ext cx="384" cy="38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86" name="Line 29"/>
              <p:cNvSpPr>
                <a:spLocks noChangeShapeType="1"/>
              </p:cNvSpPr>
              <p:nvPr/>
            </p:nvSpPr>
            <p:spPr bwMode="auto">
              <a:xfrm flipV="1">
                <a:off x="1866" y="1876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5387" name="Group 30"/>
              <p:cNvGrpSpPr>
                <a:grpSpLocks/>
              </p:cNvGrpSpPr>
              <p:nvPr/>
            </p:nvGrpSpPr>
            <p:grpSpPr bwMode="auto">
              <a:xfrm>
                <a:off x="1290" y="1684"/>
                <a:ext cx="384" cy="384"/>
                <a:chOff x="1728" y="2880"/>
                <a:chExt cx="384" cy="384"/>
              </a:xfrm>
            </p:grpSpPr>
            <p:sp>
              <p:nvSpPr>
                <p:cNvPr id="15388" name="Rectangle 31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89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1763" y="2967"/>
                  <a:ext cx="325" cy="2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5369" name="Group 33"/>
            <p:cNvGrpSpPr>
              <a:grpSpLocks/>
            </p:cNvGrpSpPr>
            <p:nvPr/>
          </p:nvGrpSpPr>
          <p:grpSpPr bwMode="auto">
            <a:xfrm>
              <a:off x="3341" y="1680"/>
              <a:ext cx="1017" cy="464"/>
              <a:chOff x="1290" y="1684"/>
              <a:chExt cx="1152" cy="384"/>
            </a:xfrm>
          </p:grpSpPr>
          <p:sp>
            <p:nvSpPr>
              <p:cNvPr id="15380" name="Rectangle 34"/>
              <p:cNvSpPr>
                <a:spLocks noChangeArrowheads="1"/>
              </p:cNvSpPr>
              <p:nvPr/>
            </p:nvSpPr>
            <p:spPr bwMode="auto">
              <a:xfrm>
                <a:off x="1674" y="1684"/>
                <a:ext cx="384" cy="38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81" name="Line 35"/>
              <p:cNvSpPr>
                <a:spLocks noChangeShapeType="1"/>
              </p:cNvSpPr>
              <p:nvPr/>
            </p:nvSpPr>
            <p:spPr bwMode="auto">
              <a:xfrm flipV="1">
                <a:off x="1866" y="1876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5382" name="Group 36"/>
              <p:cNvGrpSpPr>
                <a:grpSpLocks/>
              </p:cNvGrpSpPr>
              <p:nvPr/>
            </p:nvGrpSpPr>
            <p:grpSpPr bwMode="auto">
              <a:xfrm>
                <a:off x="1290" y="1684"/>
                <a:ext cx="384" cy="384"/>
                <a:chOff x="1728" y="2880"/>
                <a:chExt cx="384" cy="384"/>
              </a:xfrm>
            </p:grpSpPr>
            <p:sp>
              <p:nvSpPr>
                <p:cNvPr id="15383" name="Rectangle 37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84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1764" y="2967"/>
                  <a:ext cx="325" cy="2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5370" name="Group 39"/>
            <p:cNvGrpSpPr>
              <a:grpSpLocks/>
            </p:cNvGrpSpPr>
            <p:nvPr/>
          </p:nvGrpSpPr>
          <p:grpSpPr bwMode="auto">
            <a:xfrm>
              <a:off x="4358" y="1680"/>
              <a:ext cx="1018" cy="464"/>
              <a:chOff x="4358" y="1680"/>
              <a:chExt cx="1018" cy="464"/>
            </a:xfrm>
          </p:grpSpPr>
          <p:sp>
            <p:nvSpPr>
              <p:cNvPr id="15375" name="Rectangle 40"/>
              <p:cNvSpPr>
                <a:spLocks noChangeArrowheads="1"/>
              </p:cNvSpPr>
              <p:nvPr/>
            </p:nvSpPr>
            <p:spPr bwMode="auto">
              <a:xfrm>
                <a:off x="4697" y="1680"/>
                <a:ext cx="340" cy="46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76" name="Line 41"/>
              <p:cNvSpPr>
                <a:spLocks noChangeShapeType="1"/>
              </p:cNvSpPr>
              <p:nvPr/>
            </p:nvSpPr>
            <p:spPr bwMode="auto">
              <a:xfrm flipV="1">
                <a:off x="4867" y="1912"/>
                <a:ext cx="509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5377" name="Group 42"/>
              <p:cNvGrpSpPr>
                <a:grpSpLocks/>
              </p:cNvGrpSpPr>
              <p:nvPr/>
            </p:nvGrpSpPr>
            <p:grpSpPr bwMode="auto">
              <a:xfrm>
                <a:off x="4358" y="1680"/>
                <a:ext cx="339" cy="464"/>
                <a:chOff x="1728" y="2880"/>
                <a:chExt cx="384" cy="384"/>
              </a:xfrm>
            </p:grpSpPr>
            <p:sp>
              <p:nvSpPr>
                <p:cNvPr id="15378" name="Rectangle 43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79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1764" y="2967"/>
                  <a:ext cx="325" cy="2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5371" name="Group 45"/>
            <p:cNvGrpSpPr>
              <a:grpSpLocks/>
            </p:cNvGrpSpPr>
            <p:nvPr/>
          </p:nvGrpSpPr>
          <p:grpSpPr bwMode="auto">
            <a:xfrm>
              <a:off x="5384" y="1784"/>
              <a:ext cx="88" cy="240"/>
              <a:chOff x="5384" y="1784"/>
              <a:chExt cx="88" cy="240"/>
            </a:xfrm>
          </p:grpSpPr>
          <p:sp>
            <p:nvSpPr>
              <p:cNvPr id="15372" name="Line 46"/>
              <p:cNvSpPr>
                <a:spLocks noChangeShapeType="1"/>
              </p:cNvSpPr>
              <p:nvPr/>
            </p:nvSpPr>
            <p:spPr bwMode="auto">
              <a:xfrm>
                <a:off x="5384" y="1784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73" name="Line 47"/>
              <p:cNvSpPr>
                <a:spLocks noChangeShapeType="1"/>
              </p:cNvSpPr>
              <p:nvPr/>
            </p:nvSpPr>
            <p:spPr bwMode="auto">
              <a:xfrm>
                <a:off x="5424" y="1816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74" name="Line 48"/>
              <p:cNvSpPr>
                <a:spLocks noChangeShapeType="1"/>
              </p:cNvSpPr>
              <p:nvPr/>
            </p:nvSpPr>
            <p:spPr bwMode="auto">
              <a:xfrm>
                <a:off x="5472" y="1840"/>
                <a:ext cx="0" cy="14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14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18949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1556792"/>
            <a:ext cx="8839200" cy="5148808"/>
          </a:xfrm>
        </p:spPr>
        <p:txBody>
          <a:bodyPr>
            <a:normAutofit lnSpcReduction="10000"/>
          </a:bodyPr>
          <a:lstStyle/>
          <a:p>
            <a:pPr algn="l" rtl="0" eaLnBrk="1" hangingPunct="1">
              <a:lnSpc>
                <a:spcPct val="90000"/>
              </a:lnSpc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figure shows actual representation of a linked list. </a:t>
            </a:r>
          </a:p>
          <a:p>
            <a:pPr algn="l" rtl="0" eaLnBrk="1" hangingPunct="1">
              <a:lnSpc>
                <a:spcPct val="90000"/>
              </a:lnSpc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90000"/>
              </a:lnSpc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90000"/>
              </a:lnSpc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list contains five structures, which happen to reside in memory locations 1000, 800, 712, 992 and 692 respectively.</a:t>
            </a: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next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pointer in the first structure has the value 800, which provides the indication of where the second structure is.</a:t>
            </a: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draw pointers with arrows, because they are more illustrative.</a:t>
            </a:r>
          </a:p>
        </p:txBody>
      </p:sp>
      <p:sp>
        <p:nvSpPr>
          <p:cNvPr id="16387" name="Rectangle 13"/>
          <p:cNvSpPr>
            <a:spLocks noChangeArrowheads="1"/>
          </p:cNvSpPr>
          <p:nvPr/>
        </p:nvSpPr>
        <p:spPr bwMode="auto">
          <a:xfrm>
            <a:off x="457200" y="348332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36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List ADT: </a:t>
            </a:r>
            <a:r>
              <a:rPr lang="en-US" altLang="ar-SA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Linked Lists</a:t>
            </a:r>
          </a:p>
        </p:txBody>
      </p:sp>
      <p:grpSp>
        <p:nvGrpSpPr>
          <p:cNvPr id="16388" name="Group 69"/>
          <p:cNvGrpSpPr>
            <a:grpSpLocks/>
          </p:cNvGrpSpPr>
          <p:nvPr/>
        </p:nvGrpSpPr>
        <p:grpSpPr bwMode="auto">
          <a:xfrm>
            <a:off x="533400" y="2425824"/>
            <a:ext cx="8305800" cy="1219200"/>
            <a:chOff x="336" y="1920"/>
            <a:chExt cx="5232" cy="768"/>
          </a:xfrm>
        </p:grpSpPr>
        <p:grpSp>
          <p:nvGrpSpPr>
            <p:cNvPr id="16389" name="Group 52"/>
            <p:cNvGrpSpPr>
              <a:grpSpLocks/>
            </p:cNvGrpSpPr>
            <p:nvPr/>
          </p:nvGrpSpPr>
          <p:grpSpPr bwMode="auto">
            <a:xfrm>
              <a:off x="336" y="1920"/>
              <a:ext cx="896" cy="768"/>
              <a:chOff x="384" y="1920"/>
              <a:chExt cx="896" cy="768"/>
            </a:xfrm>
          </p:grpSpPr>
          <p:sp>
            <p:nvSpPr>
              <p:cNvPr id="16406" name="Rectangle 16"/>
              <p:cNvSpPr>
                <a:spLocks noChangeArrowheads="1"/>
              </p:cNvSpPr>
              <p:nvPr/>
            </p:nvSpPr>
            <p:spPr bwMode="auto">
              <a:xfrm>
                <a:off x="832" y="1920"/>
                <a:ext cx="448" cy="46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ar-SA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800</a:t>
                </a:r>
              </a:p>
            </p:txBody>
          </p:sp>
          <p:sp>
            <p:nvSpPr>
              <p:cNvPr id="16407" name="Rectangle 19"/>
              <p:cNvSpPr>
                <a:spLocks noChangeArrowheads="1"/>
              </p:cNvSpPr>
              <p:nvPr/>
            </p:nvSpPr>
            <p:spPr bwMode="auto">
              <a:xfrm>
                <a:off x="384" y="1920"/>
                <a:ext cx="448" cy="464"/>
              </a:xfrm>
              <a:prstGeom prst="rect">
                <a:avLst/>
              </a:prstGeom>
              <a:solidFill>
                <a:schemeClr val="folHlink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ar-SA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ar-SA" sz="20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ar-SA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08" name="Text Box 50"/>
              <p:cNvSpPr txBox="1">
                <a:spLocks noChangeArrowheads="1"/>
              </p:cNvSpPr>
              <p:nvPr/>
            </p:nvSpPr>
            <p:spPr bwMode="auto">
              <a:xfrm>
                <a:off x="528" y="2457"/>
                <a:ext cx="52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1000</a:t>
                </a:r>
              </a:p>
            </p:txBody>
          </p:sp>
        </p:grpSp>
        <p:grpSp>
          <p:nvGrpSpPr>
            <p:cNvPr id="16390" name="Group 53"/>
            <p:cNvGrpSpPr>
              <a:grpSpLocks/>
            </p:cNvGrpSpPr>
            <p:nvPr/>
          </p:nvGrpSpPr>
          <p:grpSpPr bwMode="auto">
            <a:xfrm>
              <a:off x="1440" y="1920"/>
              <a:ext cx="896" cy="768"/>
              <a:chOff x="384" y="1920"/>
              <a:chExt cx="896" cy="768"/>
            </a:xfrm>
          </p:grpSpPr>
          <p:sp>
            <p:nvSpPr>
              <p:cNvPr id="16403" name="Rectangle 54"/>
              <p:cNvSpPr>
                <a:spLocks noChangeArrowheads="1"/>
              </p:cNvSpPr>
              <p:nvPr/>
            </p:nvSpPr>
            <p:spPr bwMode="auto">
              <a:xfrm>
                <a:off x="832" y="1920"/>
                <a:ext cx="448" cy="46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ar-SA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712</a:t>
                </a:r>
              </a:p>
            </p:txBody>
          </p:sp>
          <p:sp>
            <p:nvSpPr>
              <p:cNvPr id="16404" name="Rectangle 55"/>
              <p:cNvSpPr>
                <a:spLocks noChangeArrowheads="1"/>
              </p:cNvSpPr>
              <p:nvPr/>
            </p:nvSpPr>
            <p:spPr bwMode="auto">
              <a:xfrm>
                <a:off x="384" y="1920"/>
                <a:ext cx="448" cy="464"/>
              </a:xfrm>
              <a:prstGeom prst="rect">
                <a:avLst/>
              </a:prstGeom>
              <a:solidFill>
                <a:schemeClr val="folHlink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ar-SA" sz="2000" baseline="-25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ar-SA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05" name="Text Box 56"/>
              <p:cNvSpPr txBox="1">
                <a:spLocks noChangeArrowheads="1"/>
              </p:cNvSpPr>
              <p:nvPr/>
            </p:nvSpPr>
            <p:spPr bwMode="auto">
              <a:xfrm>
                <a:off x="528" y="2457"/>
                <a:ext cx="52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800</a:t>
                </a:r>
              </a:p>
            </p:txBody>
          </p:sp>
        </p:grpSp>
        <p:grpSp>
          <p:nvGrpSpPr>
            <p:cNvPr id="16391" name="Group 57"/>
            <p:cNvGrpSpPr>
              <a:grpSpLocks/>
            </p:cNvGrpSpPr>
            <p:nvPr/>
          </p:nvGrpSpPr>
          <p:grpSpPr bwMode="auto">
            <a:xfrm>
              <a:off x="2544" y="1920"/>
              <a:ext cx="896" cy="768"/>
              <a:chOff x="384" y="1920"/>
              <a:chExt cx="896" cy="768"/>
            </a:xfrm>
          </p:grpSpPr>
          <p:sp>
            <p:nvSpPr>
              <p:cNvPr id="16400" name="Rectangle 58"/>
              <p:cNvSpPr>
                <a:spLocks noChangeArrowheads="1"/>
              </p:cNvSpPr>
              <p:nvPr/>
            </p:nvSpPr>
            <p:spPr bwMode="auto">
              <a:xfrm>
                <a:off x="832" y="1920"/>
                <a:ext cx="448" cy="46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ar-SA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992</a:t>
                </a:r>
              </a:p>
            </p:txBody>
          </p:sp>
          <p:sp>
            <p:nvSpPr>
              <p:cNvPr id="16401" name="Rectangle 59"/>
              <p:cNvSpPr>
                <a:spLocks noChangeArrowheads="1"/>
              </p:cNvSpPr>
              <p:nvPr/>
            </p:nvSpPr>
            <p:spPr bwMode="auto">
              <a:xfrm>
                <a:off x="384" y="1920"/>
                <a:ext cx="448" cy="464"/>
              </a:xfrm>
              <a:prstGeom prst="rect">
                <a:avLst/>
              </a:prstGeom>
              <a:solidFill>
                <a:schemeClr val="folHlink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ar-SA" sz="2000" baseline="-25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altLang="ar-SA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02" name="Text Box 60"/>
              <p:cNvSpPr txBox="1">
                <a:spLocks noChangeArrowheads="1"/>
              </p:cNvSpPr>
              <p:nvPr/>
            </p:nvSpPr>
            <p:spPr bwMode="auto">
              <a:xfrm>
                <a:off x="528" y="2457"/>
                <a:ext cx="52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ar-SA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712</a:t>
                </a:r>
              </a:p>
            </p:txBody>
          </p:sp>
        </p:grpSp>
        <p:grpSp>
          <p:nvGrpSpPr>
            <p:cNvPr id="16392" name="Group 61"/>
            <p:cNvGrpSpPr>
              <a:grpSpLocks/>
            </p:cNvGrpSpPr>
            <p:nvPr/>
          </p:nvGrpSpPr>
          <p:grpSpPr bwMode="auto">
            <a:xfrm>
              <a:off x="3616" y="1920"/>
              <a:ext cx="896" cy="768"/>
              <a:chOff x="384" y="1920"/>
              <a:chExt cx="896" cy="768"/>
            </a:xfrm>
          </p:grpSpPr>
          <p:sp>
            <p:nvSpPr>
              <p:cNvPr id="16397" name="Rectangle 62"/>
              <p:cNvSpPr>
                <a:spLocks noChangeArrowheads="1"/>
              </p:cNvSpPr>
              <p:nvPr/>
            </p:nvSpPr>
            <p:spPr bwMode="auto">
              <a:xfrm>
                <a:off x="832" y="1920"/>
                <a:ext cx="448" cy="46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ar-SA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692</a:t>
                </a:r>
              </a:p>
            </p:txBody>
          </p:sp>
          <p:sp>
            <p:nvSpPr>
              <p:cNvPr id="16398" name="Rectangle 63"/>
              <p:cNvSpPr>
                <a:spLocks noChangeArrowheads="1"/>
              </p:cNvSpPr>
              <p:nvPr/>
            </p:nvSpPr>
            <p:spPr bwMode="auto">
              <a:xfrm>
                <a:off x="384" y="1920"/>
                <a:ext cx="448" cy="464"/>
              </a:xfrm>
              <a:prstGeom prst="rect">
                <a:avLst/>
              </a:prstGeom>
              <a:solidFill>
                <a:schemeClr val="folHlink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ar-SA" sz="2000" baseline="-25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altLang="ar-SA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399" name="Text Box 64"/>
              <p:cNvSpPr txBox="1">
                <a:spLocks noChangeArrowheads="1"/>
              </p:cNvSpPr>
              <p:nvPr/>
            </p:nvSpPr>
            <p:spPr bwMode="auto">
              <a:xfrm>
                <a:off x="528" y="2457"/>
                <a:ext cx="52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ar-SA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992</a:t>
                </a:r>
              </a:p>
            </p:txBody>
          </p:sp>
        </p:grpSp>
        <p:grpSp>
          <p:nvGrpSpPr>
            <p:cNvPr id="16393" name="Group 65"/>
            <p:cNvGrpSpPr>
              <a:grpSpLocks/>
            </p:cNvGrpSpPr>
            <p:nvPr/>
          </p:nvGrpSpPr>
          <p:grpSpPr bwMode="auto">
            <a:xfrm>
              <a:off x="4672" y="1920"/>
              <a:ext cx="896" cy="768"/>
              <a:chOff x="384" y="1920"/>
              <a:chExt cx="896" cy="768"/>
            </a:xfrm>
          </p:grpSpPr>
          <p:sp>
            <p:nvSpPr>
              <p:cNvPr id="16394" name="Rectangle 66"/>
              <p:cNvSpPr>
                <a:spLocks noChangeArrowheads="1"/>
              </p:cNvSpPr>
              <p:nvPr/>
            </p:nvSpPr>
            <p:spPr bwMode="auto">
              <a:xfrm>
                <a:off x="832" y="1920"/>
                <a:ext cx="448" cy="46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ar-SA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6395" name="Rectangle 67"/>
              <p:cNvSpPr>
                <a:spLocks noChangeArrowheads="1"/>
              </p:cNvSpPr>
              <p:nvPr/>
            </p:nvSpPr>
            <p:spPr bwMode="auto">
              <a:xfrm>
                <a:off x="384" y="1920"/>
                <a:ext cx="448" cy="464"/>
              </a:xfrm>
              <a:prstGeom prst="rect">
                <a:avLst/>
              </a:prstGeom>
              <a:solidFill>
                <a:schemeClr val="folHlink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ar-SA" sz="2000" baseline="-25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US" altLang="ar-SA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396" name="Text Box 68"/>
              <p:cNvSpPr txBox="1">
                <a:spLocks noChangeArrowheads="1"/>
              </p:cNvSpPr>
              <p:nvPr/>
            </p:nvSpPr>
            <p:spPr bwMode="auto">
              <a:xfrm>
                <a:off x="528" y="2457"/>
                <a:ext cx="52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692</a:t>
                </a:r>
              </a:p>
            </p:txBody>
          </p:sp>
        </p:grpSp>
      </p:grp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15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24214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1556792"/>
            <a:ext cx="8839200" cy="5148808"/>
          </a:xfrm>
        </p:spPr>
        <p:txBody>
          <a:bodyPr/>
          <a:lstStyle/>
          <a:p>
            <a:pPr algn="l" rtl="0" eaLnBrk="1" hangingPunct="1">
              <a:lnSpc>
                <a:spcPct val="90000"/>
              </a:lnSpc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access this list, we need to know where the first cell can be founded. A pointer variable can be used for this purpose called </a:t>
            </a:r>
            <a:r>
              <a:rPr lang="en-US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en-US" sz="2800" b="1" dirty="0">
                <a:solidFill>
                  <a:srgbClr val="00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</a:t>
            </a:r>
          </a:p>
          <a:p>
            <a:pPr algn="l" rtl="0" eaLnBrk="1" hangingPunct="1">
              <a:lnSpc>
                <a:spcPct val="90000"/>
              </a:lnSpc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head is extra node in a linked list that holds no data but serves to satisfy the requirement that every node have a previous node.</a:t>
            </a:r>
          </a:p>
          <a:p>
            <a:pPr algn="l" rtl="0" eaLnBrk="1" hangingPunct="1">
              <a:lnSpc>
                <a:spcPct val="90000"/>
              </a:lnSpc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90000"/>
              </a:lnSpc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1" name="Rectangle 13"/>
          <p:cNvSpPr>
            <a:spLocks noChangeArrowheads="1"/>
          </p:cNvSpPr>
          <p:nvPr/>
        </p:nvSpPr>
        <p:spPr bwMode="auto">
          <a:xfrm>
            <a:off x="457200" y="348332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36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List ADT: </a:t>
            </a:r>
            <a:r>
              <a:rPr lang="en-US" altLang="ar-SA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Linked Lists</a:t>
            </a:r>
          </a:p>
        </p:txBody>
      </p:sp>
      <p:grpSp>
        <p:nvGrpSpPr>
          <p:cNvPr id="17412" name="Group 8"/>
          <p:cNvGrpSpPr>
            <a:grpSpLocks/>
          </p:cNvGrpSpPr>
          <p:nvPr/>
        </p:nvGrpSpPr>
        <p:grpSpPr bwMode="auto">
          <a:xfrm>
            <a:off x="755848" y="4843115"/>
            <a:ext cx="7848600" cy="746125"/>
            <a:chOff x="1063257" y="5562600"/>
            <a:chExt cx="6205905" cy="746198"/>
          </a:xfrm>
        </p:grpSpPr>
        <p:grpSp>
          <p:nvGrpSpPr>
            <p:cNvPr id="17413" name="Group 4"/>
            <p:cNvGrpSpPr>
              <a:grpSpLocks/>
            </p:cNvGrpSpPr>
            <p:nvPr/>
          </p:nvGrpSpPr>
          <p:grpSpPr bwMode="auto">
            <a:xfrm>
              <a:off x="1063257" y="5562600"/>
              <a:ext cx="1176705" cy="736600"/>
              <a:chOff x="1063257" y="5562600"/>
              <a:chExt cx="1176705" cy="736600"/>
            </a:xfrm>
          </p:grpSpPr>
          <p:sp>
            <p:nvSpPr>
              <p:cNvPr id="55" name="Rectangle 16"/>
              <p:cNvSpPr>
                <a:spLocks noChangeArrowheads="1"/>
              </p:cNvSpPr>
              <p:nvPr/>
            </p:nvSpPr>
            <p:spPr bwMode="auto">
              <a:xfrm>
                <a:off x="1063257" y="5562600"/>
                <a:ext cx="917581" cy="736672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Line 17"/>
              <p:cNvSpPr>
                <a:spLocks noChangeShapeType="1"/>
              </p:cNvSpPr>
              <p:nvPr/>
            </p:nvSpPr>
            <p:spPr bwMode="auto">
              <a:xfrm flipV="1">
                <a:off x="1812636" y="5918235"/>
                <a:ext cx="42678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7414" name="Text Box 20"/>
            <p:cNvSpPr txBox="1">
              <a:spLocks noChangeArrowheads="1"/>
            </p:cNvSpPr>
            <p:nvPr/>
          </p:nvSpPr>
          <p:spPr bwMode="auto">
            <a:xfrm>
              <a:off x="1190006" y="5695090"/>
              <a:ext cx="574430" cy="4001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ar-SA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Head</a:t>
              </a:r>
            </a:p>
          </p:txBody>
        </p:sp>
        <p:grpSp>
          <p:nvGrpSpPr>
            <p:cNvPr id="17415" name="Group 66"/>
            <p:cNvGrpSpPr>
              <a:grpSpLocks/>
            </p:cNvGrpSpPr>
            <p:nvPr/>
          </p:nvGrpSpPr>
          <p:grpSpPr bwMode="auto">
            <a:xfrm>
              <a:off x="2239963" y="5562600"/>
              <a:ext cx="1676454" cy="746198"/>
              <a:chOff x="1" y="5816600"/>
              <a:chExt cx="1676454" cy="746198"/>
            </a:xfrm>
          </p:grpSpPr>
          <p:sp>
            <p:nvSpPr>
              <p:cNvPr id="68" name="Rectangle 16"/>
              <p:cNvSpPr>
                <a:spLocks noChangeArrowheads="1"/>
              </p:cNvSpPr>
              <p:nvPr/>
            </p:nvSpPr>
            <p:spPr bwMode="auto">
              <a:xfrm>
                <a:off x="1147999" y="5816600"/>
                <a:ext cx="269877" cy="736672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Line 17"/>
              <p:cNvSpPr>
                <a:spLocks noChangeShapeType="1"/>
              </p:cNvSpPr>
              <p:nvPr/>
            </p:nvSpPr>
            <p:spPr bwMode="auto">
              <a:xfrm flipV="1">
                <a:off x="1249674" y="6172235"/>
                <a:ext cx="426781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430" name="Group 18"/>
              <p:cNvGrpSpPr>
                <a:grpSpLocks/>
              </p:cNvGrpSpPr>
              <p:nvPr/>
            </p:nvGrpSpPr>
            <p:grpSpPr bwMode="auto">
              <a:xfrm>
                <a:off x="1" y="5816606"/>
                <a:ext cx="1181186" cy="746192"/>
                <a:chOff x="1728" y="2880"/>
                <a:chExt cx="395" cy="389"/>
              </a:xfrm>
            </p:grpSpPr>
            <p:sp>
              <p:nvSpPr>
                <p:cNvPr id="71" name="Rectangle 19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432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1734" y="2900"/>
                  <a:ext cx="389" cy="36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Predecessor </a:t>
                  </a:r>
                </a:p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X</a:t>
                  </a:r>
                </a:p>
              </p:txBody>
            </p:sp>
          </p:grpSp>
        </p:grpSp>
        <p:grpSp>
          <p:nvGrpSpPr>
            <p:cNvPr id="17416" name="Group 72"/>
            <p:cNvGrpSpPr>
              <a:grpSpLocks/>
            </p:cNvGrpSpPr>
            <p:nvPr/>
          </p:nvGrpSpPr>
          <p:grpSpPr bwMode="auto">
            <a:xfrm>
              <a:off x="3916362" y="5562600"/>
              <a:ext cx="1676400" cy="736600"/>
              <a:chOff x="0" y="5816600"/>
              <a:chExt cx="1676400" cy="736600"/>
            </a:xfrm>
          </p:grpSpPr>
          <p:sp>
            <p:nvSpPr>
              <p:cNvPr id="74" name="Rectangle 16"/>
              <p:cNvSpPr>
                <a:spLocks noChangeArrowheads="1"/>
              </p:cNvSpPr>
              <p:nvPr/>
            </p:nvSpPr>
            <p:spPr bwMode="auto">
              <a:xfrm>
                <a:off x="1147344" y="5816600"/>
                <a:ext cx="269876" cy="736672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Line 17"/>
              <p:cNvSpPr>
                <a:spLocks noChangeShapeType="1"/>
              </p:cNvSpPr>
              <p:nvPr/>
            </p:nvSpPr>
            <p:spPr bwMode="auto">
              <a:xfrm flipV="1">
                <a:off x="1249018" y="6172235"/>
                <a:ext cx="426781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425" name="Group 18"/>
              <p:cNvGrpSpPr>
                <a:grpSpLocks/>
              </p:cNvGrpSpPr>
              <p:nvPr/>
            </p:nvGrpSpPr>
            <p:grpSpPr bwMode="auto">
              <a:xfrm>
                <a:off x="0" y="5816600"/>
                <a:ext cx="1148292" cy="736600"/>
                <a:chOff x="1728" y="2880"/>
                <a:chExt cx="384" cy="384"/>
              </a:xfrm>
            </p:grpSpPr>
            <p:sp>
              <p:nvSpPr>
                <p:cNvPr id="77" name="Rectangle 19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427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1796" y="2967"/>
                  <a:ext cx="262" cy="20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Node X</a:t>
                  </a:r>
                </a:p>
              </p:txBody>
            </p:sp>
          </p:grpSp>
        </p:grpSp>
        <p:grpSp>
          <p:nvGrpSpPr>
            <p:cNvPr id="17417" name="Group 78"/>
            <p:cNvGrpSpPr>
              <a:grpSpLocks/>
            </p:cNvGrpSpPr>
            <p:nvPr/>
          </p:nvGrpSpPr>
          <p:grpSpPr bwMode="auto">
            <a:xfrm>
              <a:off x="5592766" y="5562600"/>
              <a:ext cx="1676396" cy="736616"/>
              <a:chOff x="4" y="5816600"/>
              <a:chExt cx="1676396" cy="736616"/>
            </a:xfrm>
          </p:grpSpPr>
          <p:sp>
            <p:nvSpPr>
              <p:cNvPr id="80" name="Rectangle 16"/>
              <p:cNvSpPr>
                <a:spLocks noChangeArrowheads="1"/>
              </p:cNvSpPr>
              <p:nvPr/>
            </p:nvSpPr>
            <p:spPr bwMode="auto">
              <a:xfrm>
                <a:off x="1147945" y="5816600"/>
                <a:ext cx="269876" cy="736672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Line 17"/>
              <p:cNvSpPr>
                <a:spLocks noChangeShapeType="1"/>
              </p:cNvSpPr>
              <p:nvPr/>
            </p:nvSpPr>
            <p:spPr bwMode="auto">
              <a:xfrm flipV="1">
                <a:off x="1249619" y="6172235"/>
                <a:ext cx="426781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420" name="Group 18"/>
              <p:cNvGrpSpPr>
                <a:grpSpLocks/>
              </p:cNvGrpSpPr>
              <p:nvPr/>
            </p:nvGrpSpPr>
            <p:grpSpPr bwMode="auto">
              <a:xfrm>
                <a:off x="4" y="5816614"/>
                <a:ext cx="1148293" cy="736602"/>
                <a:chOff x="1728" y="2880"/>
                <a:chExt cx="384" cy="384"/>
              </a:xfrm>
            </p:grpSpPr>
            <p:sp>
              <p:nvSpPr>
                <p:cNvPr id="83" name="Rectangle 19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422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1761" y="2895"/>
                  <a:ext cx="320" cy="36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Successor</a:t>
                  </a:r>
                </a:p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X</a:t>
                  </a:r>
                </a:p>
              </p:txBody>
            </p:sp>
          </p:grpSp>
        </p:grpSp>
      </p:grp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16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82066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1556792"/>
            <a:ext cx="8839200" cy="5148808"/>
          </a:xfrm>
        </p:spPr>
        <p:txBody>
          <a:bodyPr/>
          <a:lstStyle/>
          <a:p>
            <a:pPr algn="l" rtl="0" eaLnBrk="1" hangingPunct="1">
              <a:defRPr/>
            </a:pPr>
            <a:r>
              <a:rPr lang="en-US" sz="22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To execute </a:t>
            </a:r>
            <a:r>
              <a:rPr lang="en-US" sz="2200" dirty="0" err="1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printList</a:t>
            </a:r>
            <a:r>
              <a:rPr lang="en-US" sz="2200" dirty="0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(L)</a:t>
            </a:r>
            <a:r>
              <a:rPr lang="en-US" sz="22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 or </a:t>
            </a:r>
            <a:r>
              <a:rPr lang="en-US" sz="2200" dirty="0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find(L, key)</a:t>
            </a:r>
            <a:r>
              <a:rPr lang="en-US" sz="22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, we merely pass a pointer to the first element in the list and then 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traverse</a:t>
            </a:r>
            <a:r>
              <a:rPr lang="en-US" sz="22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 the list by following the next pointers: 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liner time </a:t>
            </a:r>
          </a:p>
          <a:p>
            <a:pPr algn="l" rtl="0" eaLnBrk="1" hangingPunct="1">
              <a:defRPr/>
            </a:pPr>
            <a:r>
              <a:rPr lang="en-US" sz="2200" dirty="0" err="1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findKth</a:t>
            </a:r>
            <a:r>
              <a:rPr lang="en-US" sz="2200" dirty="0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(L, </a:t>
            </a:r>
            <a:r>
              <a:rPr lang="en-US" sz="2200" dirty="0" err="1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i</a:t>
            </a:r>
            <a:r>
              <a:rPr lang="en-US" sz="2200" dirty="0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) </a:t>
            </a:r>
            <a:r>
              <a:rPr lang="en-US" sz="22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takes </a:t>
            </a:r>
            <a:r>
              <a:rPr lang="en-US" sz="2200" i="1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O </a:t>
            </a:r>
            <a:r>
              <a:rPr lang="en-US" sz="22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(</a:t>
            </a:r>
            <a:r>
              <a:rPr lang="en-US" sz="2200" i="1" dirty="0" err="1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i</a:t>
            </a:r>
            <a:r>
              <a:rPr lang="en-US" sz="2200" i="1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) time and works by traversing down the list in the obvious manner.</a:t>
            </a:r>
          </a:p>
          <a:p>
            <a:pPr algn="l" rtl="0" eaLnBrk="1" hangingPunct="1">
              <a:defRPr/>
            </a:pPr>
            <a:r>
              <a:rPr lang="en-US" sz="22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remove</a:t>
            </a:r>
            <a:r>
              <a:rPr lang="en-US" sz="22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 command can be executed in one pointer change.</a:t>
            </a:r>
          </a:p>
          <a:p>
            <a:pPr algn="l" rtl="0" eaLnBrk="1" hangingPunct="1">
              <a:defRPr/>
            </a:pPr>
            <a:endParaRPr lang="en-US" sz="2200" dirty="0">
              <a:latin typeface="Times New Roman" panose="02020603050405020304" pitchFamily="18" charset="0"/>
              <a:ea typeface="Arial Unicode MS" pitchFamily="34" charset="-128"/>
              <a:cs typeface="Times New Roman" panose="02020603050405020304" pitchFamily="18" charset="0"/>
            </a:endParaRPr>
          </a:p>
          <a:p>
            <a:pPr algn="l" rtl="0" eaLnBrk="1" hangingPunct="1">
              <a:defRPr/>
            </a:pPr>
            <a:endParaRPr lang="en-US" sz="2200" dirty="0">
              <a:latin typeface="Times New Roman" panose="02020603050405020304" pitchFamily="18" charset="0"/>
              <a:ea typeface="Arial Unicode MS" pitchFamily="34" charset="-128"/>
              <a:cs typeface="Times New Roman" panose="02020603050405020304" pitchFamily="18" charset="0"/>
            </a:endParaRPr>
          </a:p>
          <a:p>
            <a:pPr algn="l" rtl="0" eaLnBrk="1" hangingPunct="1">
              <a:defRPr/>
            </a:pPr>
            <a:r>
              <a:rPr lang="en-US" sz="22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insert</a:t>
            </a:r>
            <a:r>
              <a:rPr lang="en-US" sz="22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 command requires obtaining a 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cell from the system then executing two pointer maneuvers.</a:t>
            </a:r>
          </a:p>
        </p:txBody>
      </p:sp>
      <p:sp>
        <p:nvSpPr>
          <p:cNvPr id="18435" name="Rectangle 13"/>
          <p:cNvSpPr>
            <a:spLocks noChangeArrowheads="1"/>
          </p:cNvSpPr>
          <p:nvPr/>
        </p:nvSpPr>
        <p:spPr bwMode="auto">
          <a:xfrm>
            <a:off x="457200" y="348332"/>
            <a:ext cx="822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36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List ADT: </a:t>
            </a:r>
            <a:r>
              <a:rPr lang="en-US" altLang="ar-SA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Linked Lists</a:t>
            </a:r>
          </a:p>
        </p:txBody>
      </p:sp>
      <p:grpSp>
        <p:nvGrpSpPr>
          <p:cNvPr id="18436" name="Group 55"/>
          <p:cNvGrpSpPr>
            <a:grpSpLocks/>
          </p:cNvGrpSpPr>
          <p:nvPr/>
        </p:nvGrpSpPr>
        <p:grpSpPr bwMode="auto">
          <a:xfrm>
            <a:off x="897632" y="3861048"/>
            <a:ext cx="7058744" cy="852095"/>
            <a:chOff x="384" y="2080"/>
            <a:chExt cx="5184" cy="672"/>
          </a:xfrm>
        </p:grpSpPr>
        <p:grpSp>
          <p:nvGrpSpPr>
            <p:cNvPr id="18479" name="Group 15"/>
            <p:cNvGrpSpPr>
              <a:grpSpLocks/>
            </p:cNvGrpSpPr>
            <p:nvPr/>
          </p:nvGrpSpPr>
          <p:grpSpPr bwMode="auto">
            <a:xfrm>
              <a:off x="384" y="2080"/>
              <a:ext cx="1018" cy="464"/>
              <a:chOff x="1290" y="1684"/>
              <a:chExt cx="1152" cy="384"/>
            </a:xfrm>
          </p:grpSpPr>
          <p:sp>
            <p:nvSpPr>
              <p:cNvPr id="17485" name="Rectangle 16"/>
              <p:cNvSpPr>
                <a:spLocks noChangeArrowheads="1"/>
              </p:cNvSpPr>
              <p:nvPr/>
            </p:nvSpPr>
            <p:spPr bwMode="auto">
              <a:xfrm>
                <a:off x="1674" y="1684"/>
                <a:ext cx="385" cy="38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86" name="Line 17"/>
              <p:cNvSpPr>
                <a:spLocks noChangeShapeType="1"/>
              </p:cNvSpPr>
              <p:nvPr/>
            </p:nvSpPr>
            <p:spPr bwMode="auto">
              <a:xfrm flipV="1">
                <a:off x="1866" y="1876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8511" name="Group 18"/>
              <p:cNvGrpSpPr>
                <a:grpSpLocks/>
              </p:cNvGrpSpPr>
              <p:nvPr/>
            </p:nvGrpSpPr>
            <p:grpSpPr bwMode="auto">
              <a:xfrm>
                <a:off x="1290" y="1684"/>
                <a:ext cx="384" cy="384"/>
                <a:chOff x="1728" y="2880"/>
                <a:chExt cx="384" cy="384"/>
              </a:xfrm>
            </p:grpSpPr>
            <p:sp>
              <p:nvSpPr>
                <p:cNvPr id="17488" name="Rectangle 19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513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1764" y="2967"/>
                  <a:ext cx="325" cy="20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8480" name="Group 49"/>
            <p:cNvGrpSpPr>
              <a:grpSpLocks/>
            </p:cNvGrpSpPr>
            <p:nvPr/>
          </p:nvGrpSpPr>
          <p:grpSpPr bwMode="auto">
            <a:xfrm>
              <a:off x="1402" y="2080"/>
              <a:ext cx="1017" cy="464"/>
              <a:chOff x="1402" y="2080"/>
              <a:chExt cx="1017" cy="464"/>
            </a:xfrm>
          </p:grpSpPr>
          <p:sp>
            <p:nvSpPr>
              <p:cNvPr id="17480" name="Rectangle 22"/>
              <p:cNvSpPr>
                <a:spLocks noChangeArrowheads="1"/>
              </p:cNvSpPr>
              <p:nvPr/>
            </p:nvSpPr>
            <p:spPr bwMode="auto">
              <a:xfrm>
                <a:off x="1741" y="2080"/>
                <a:ext cx="339" cy="46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81" name="Line 23"/>
              <p:cNvSpPr>
                <a:spLocks noChangeShapeType="1"/>
              </p:cNvSpPr>
              <p:nvPr/>
            </p:nvSpPr>
            <p:spPr bwMode="auto">
              <a:xfrm flipV="1">
                <a:off x="1911" y="2312"/>
                <a:ext cx="50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prstDash val="dash"/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8506" name="Group 24"/>
              <p:cNvGrpSpPr>
                <a:grpSpLocks/>
              </p:cNvGrpSpPr>
              <p:nvPr/>
            </p:nvGrpSpPr>
            <p:grpSpPr bwMode="auto">
              <a:xfrm>
                <a:off x="1402" y="2080"/>
                <a:ext cx="339" cy="464"/>
                <a:chOff x="1728" y="2880"/>
                <a:chExt cx="384" cy="384"/>
              </a:xfrm>
            </p:grpSpPr>
            <p:sp>
              <p:nvSpPr>
                <p:cNvPr id="17483" name="Rectangle 25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508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764" y="2967"/>
                  <a:ext cx="325" cy="20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en-US" altLang="ar-SA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8481" name="Group 27"/>
            <p:cNvGrpSpPr>
              <a:grpSpLocks/>
            </p:cNvGrpSpPr>
            <p:nvPr/>
          </p:nvGrpSpPr>
          <p:grpSpPr bwMode="auto">
            <a:xfrm>
              <a:off x="2419" y="2080"/>
              <a:ext cx="1018" cy="464"/>
              <a:chOff x="1290" y="1684"/>
              <a:chExt cx="1152" cy="384"/>
            </a:xfrm>
          </p:grpSpPr>
          <p:sp>
            <p:nvSpPr>
              <p:cNvPr id="17475" name="Rectangle 28"/>
              <p:cNvSpPr>
                <a:spLocks noChangeArrowheads="1"/>
              </p:cNvSpPr>
              <p:nvPr/>
            </p:nvSpPr>
            <p:spPr bwMode="auto">
              <a:xfrm>
                <a:off x="1674" y="1684"/>
                <a:ext cx="385" cy="38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76" name="Line 29"/>
              <p:cNvSpPr>
                <a:spLocks noChangeShapeType="1"/>
              </p:cNvSpPr>
              <p:nvPr/>
            </p:nvSpPr>
            <p:spPr bwMode="auto">
              <a:xfrm flipV="1">
                <a:off x="1866" y="1876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8501" name="Group 30"/>
              <p:cNvGrpSpPr>
                <a:grpSpLocks/>
              </p:cNvGrpSpPr>
              <p:nvPr/>
            </p:nvGrpSpPr>
            <p:grpSpPr bwMode="auto">
              <a:xfrm>
                <a:off x="1290" y="1684"/>
                <a:ext cx="384" cy="384"/>
                <a:chOff x="1728" y="2880"/>
                <a:chExt cx="384" cy="384"/>
              </a:xfrm>
            </p:grpSpPr>
            <p:sp>
              <p:nvSpPr>
                <p:cNvPr id="17478" name="Rectangle 31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503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1763" y="2967"/>
                  <a:ext cx="325" cy="20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8482" name="Group 33"/>
            <p:cNvGrpSpPr>
              <a:grpSpLocks/>
            </p:cNvGrpSpPr>
            <p:nvPr/>
          </p:nvGrpSpPr>
          <p:grpSpPr bwMode="auto">
            <a:xfrm>
              <a:off x="3437" y="2080"/>
              <a:ext cx="1017" cy="464"/>
              <a:chOff x="1290" y="1684"/>
              <a:chExt cx="1152" cy="384"/>
            </a:xfrm>
          </p:grpSpPr>
          <p:sp>
            <p:nvSpPr>
              <p:cNvPr id="17470" name="Rectangle 34"/>
              <p:cNvSpPr>
                <a:spLocks noChangeArrowheads="1"/>
              </p:cNvSpPr>
              <p:nvPr/>
            </p:nvSpPr>
            <p:spPr bwMode="auto">
              <a:xfrm>
                <a:off x="1674" y="1684"/>
                <a:ext cx="384" cy="38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71" name="Line 35"/>
              <p:cNvSpPr>
                <a:spLocks noChangeShapeType="1"/>
              </p:cNvSpPr>
              <p:nvPr/>
            </p:nvSpPr>
            <p:spPr bwMode="auto">
              <a:xfrm flipV="1">
                <a:off x="1867" y="1876"/>
                <a:ext cx="57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8496" name="Group 36"/>
              <p:cNvGrpSpPr>
                <a:grpSpLocks/>
              </p:cNvGrpSpPr>
              <p:nvPr/>
            </p:nvGrpSpPr>
            <p:grpSpPr bwMode="auto">
              <a:xfrm>
                <a:off x="1290" y="1684"/>
                <a:ext cx="384" cy="384"/>
                <a:chOff x="1728" y="2880"/>
                <a:chExt cx="384" cy="384"/>
              </a:xfrm>
            </p:grpSpPr>
            <p:sp>
              <p:nvSpPr>
                <p:cNvPr id="17473" name="Rectangle 37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498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1764" y="2967"/>
                  <a:ext cx="325" cy="20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8483" name="Group 39"/>
            <p:cNvGrpSpPr>
              <a:grpSpLocks/>
            </p:cNvGrpSpPr>
            <p:nvPr/>
          </p:nvGrpSpPr>
          <p:grpSpPr bwMode="auto">
            <a:xfrm>
              <a:off x="4454" y="2080"/>
              <a:ext cx="1018" cy="464"/>
              <a:chOff x="4358" y="1680"/>
              <a:chExt cx="1018" cy="464"/>
            </a:xfrm>
          </p:grpSpPr>
          <p:sp>
            <p:nvSpPr>
              <p:cNvPr id="17465" name="Rectangle 40"/>
              <p:cNvSpPr>
                <a:spLocks noChangeArrowheads="1"/>
              </p:cNvSpPr>
              <p:nvPr/>
            </p:nvSpPr>
            <p:spPr bwMode="auto">
              <a:xfrm>
                <a:off x="4697" y="1680"/>
                <a:ext cx="340" cy="46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66" name="Line 41"/>
              <p:cNvSpPr>
                <a:spLocks noChangeShapeType="1"/>
              </p:cNvSpPr>
              <p:nvPr/>
            </p:nvSpPr>
            <p:spPr bwMode="auto">
              <a:xfrm flipV="1">
                <a:off x="4867" y="1912"/>
                <a:ext cx="509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8491" name="Group 42"/>
              <p:cNvGrpSpPr>
                <a:grpSpLocks/>
              </p:cNvGrpSpPr>
              <p:nvPr/>
            </p:nvGrpSpPr>
            <p:grpSpPr bwMode="auto">
              <a:xfrm>
                <a:off x="4358" y="1680"/>
                <a:ext cx="339" cy="464"/>
                <a:chOff x="1728" y="2880"/>
                <a:chExt cx="384" cy="384"/>
              </a:xfrm>
            </p:grpSpPr>
            <p:sp>
              <p:nvSpPr>
                <p:cNvPr id="17468" name="Rectangle 43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493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1764" y="2967"/>
                  <a:ext cx="325" cy="20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  <a:endParaRPr lang="en-US" altLang="ar-SA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8484" name="Group 45"/>
            <p:cNvGrpSpPr>
              <a:grpSpLocks/>
            </p:cNvGrpSpPr>
            <p:nvPr/>
          </p:nvGrpSpPr>
          <p:grpSpPr bwMode="auto">
            <a:xfrm>
              <a:off x="5480" y="2184"/>
              <a:ext cx="88" cy="240"/>
              <a:chOff x="5384" y="1784"/>
              <a:chExt cx="88" cy="240"/>
            </a:xfrm>
          </p:grpSpPr>
          <p:sp>
            <p:nvSpPr>
              <p:cNvPr id="17462" name="Line 46"/>
              <p:cNvSpPr>
                <a:spLocks noChangeShapeType="1"/>
              </p:cNvSpPr>
              <p:nvPr/>
            </p:nvSpPr>
            <p:spPr bwMode="auto">
              <a:xfrm>
                <a:off x="5384" y="1784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63" name="Line 47"/>
              <p:cNvSpPr>
                <a:spLocks noChangeShapeType="1"/>
              </p:cNvSpPr>
              <p:nvPr/>
            </p:nvSpPr>
            <p:spPr bwMode="auto">
              <a:xfrm>
                <a:off x="5424" y="1816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64" name="Line 48"/>
              <p:cNvSpPr>
                <a:spLocks noChangeShapeType="1"/>
              </p:cNvSpPr>
              <p:nvPr/>
            </p:nvSpPr>
            <p:spPr bwMode="auto">
              <a:xfrm>
                <a:off x="5472" y="1840"/>
                <a:ext cx="0" cy="14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7461" name="Freeform 54"/>
            <p:cNvSpPr>
              <a:spLocks/>
            </p:cNvSpPr>
            <p:nvPr/>
          </p:nvSpPr>
          <p:spPr bwMode="auto">
            <a:xfrm>
              <a:off x="1912" y="2304"/>
              <a:ext cx="1496" cy="448"/>
            </a:xfrm>
            <a:custGeom>
              <a:avLst/>
              <a:gdLst>
                <a:gd name="T0" fmla="*/ 0 w 1488"/>
                <a:gd name="T1" fmla="*/ 0 h 440"/>
                <a:gd name="T2" fmla="*/ 408 w 1488"/>
                <a:gd name="T3" fmla="*/ 416 h 440"/>
                <a:gd name="T4" fmla="*/ 924 w 1488"/>
                <a:gd name="T5" fmla="*/ 536 h 440"/>
                <a:gd name="T6" fmla="*/ 1380 w 1488"/>
                <a:gd name="T7" fmla="*/ 357 h 440"/>
                <a:gd name="T8" fmla="*/ 1584 w 1488"/>
                <a:gd name="T9" fmla="*/ 60 h 4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88"/>
                <a:gd name="T16" fmla="*/ 0 h 440"/>
                <a:gd name="T17" fmla="*/ 1488 w 1488"/>
                <a:gd name="T18" fmla="*/ 440 h 4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88" h="440">
                  <a:moveTo>
                    <a:pt x="0" y="0"/>
                  </a:moveTo>
                  <a:cubicBezTo>
                    <a:pt x="120" y="132"/>
                    <a:pt x="240" y="264"/>
                    <a:pt x="384" y="336"/>
                  </a:cubicBezTo>
                  <a:cubicBezTo>
                    <a:pt x="528" y="408"/>
                    <a:pt x="712" y="440"/>
                    <a:pt x="864" y="432"/>
                  </a:cubicBezTo>
                  <a:cubicBezTo>
                    <a:pt x="1016" y="424"/>
                    <a:pt x="1192" y="352"/>
                    <a:pt x="1296" y="288"/>
                  </a:cubicBezTo>
                  <a:cubicBezTo>
                    <a:pt x="1400" y="224"/>
                    <a:pt x="1444" y="136"/>
                    <a:pt x="1488" y="48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ar-S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37" name="Group 102"/>
          <p:cNvGrpSpPr>
            <a:grpSpLocks/>
          </p:cNvGrpSpPr>
          <p:nvPr/>
        </p:nvGrpSpPr>
        <p:grpSpPr bwMode="auto">
          <a:xfrm>
            <a:off x="700335" y="5454385"/>
            <a:ext cx="7616081" cy="1352814"/>
            <a:chOff x="192" y="3240"/>
            <a:chExt cx="5472" cy="1048"/>
          </a:xfrm>
        </p:grpSpPr>
        <p:grpSp>
          <p:nvGrpSpPr>
            <p:cNvPr id="18438" name="Group 57"/>
            <p:cNvGrpSpPr>
              <a:grpSpLocks/>
            </p:cNvGrpSpPr>
            <p:nvPr/>
          </p:nvGrpSpPr>
          <p:grpSpPr bwMode="auto">
            <a:xfrm>
              <a:off x="192" y="3240"/>
              <a:ext cx="990" cy="398"/>
              <a:chOff x="1290" y="1684"/>
              <a:chExt cx="1152" cy="384"/>
            </a:xfrm>
          </p:grpSpPr>
          <p:sp>
            <p:nvSpPr>
              <p:cNvPr id="17450" name="Rectangle 58"/>
              <p:cNvSpPr>
                <a:spLocks noChangeArrowheads="1"/>
              </p:cNvSpPr>
              <p:nvPr/>
            </p:nvSpPr>
            <p:spPr bwMode="auto">
              <a:xfrm>
                <a:off x="1674" y="1684"/>
                <a:ext cx="384" cy="38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51" name="Line 59"/>
              <p:cNvSpPr>
                <a:spLocks noChangeShapeType="1"/>
              </p:cNvSpPr>
              <p:nvPr/>
            </p:nvSpPr>
            <p:spPr bwMode="auto">
              <a:xfrm flipV="1">
                <a:off x="1866" y="1876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8476" name="Group 60"/>
              <p:cNvGrpSpPr>
                <a:grpSpLocks/>
              </p:cNvGrpSpPr>
              <p:nvPr/>
            </p:nvGrpSpPr>
            <p:grpSpPr bwMode="auto">
              <a:xfrm>
                <a:off x="1290" y="1684"/>
                <a:ext cx="384" cy="384"/>
                <a:chOff x="1728" y="2880"/>
                <a:chExt cx="384" cy="384"/>
              </a:xfrm>
            </p:grpSpPr>
            <p:sp>
              <p:nvSpPr>
                <p:cNvPr id="17453" name="Rectangle 61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478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1761" y="2967"/>
                  <a:ext cx="334" cy="24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en-US" altLang="ar-SA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8439" name="Group 92"/>
            <p:cNvGrpSpPr>
              <a:grpSpLocks/>
            </p:cNvGrpSpPr>
            <p:nvPr/>
          </p:nvGrpSpPr>
          <p:grpSpPr bwMode="auto">
            <a:xfrm>
              <a:off x="1182" y="3240"/>
              <a:ext cx="1410" cy="398"/>
              <a:chOff x="1182" y="3504"/>
              <a:chExt cx="1410" cy="398"/>
            </a:xfrm>
          </p:grpSpPr>
          <p:sp>
            <p:nvSpPr>
              <p:cNvPr id="17445" name="Rectangle 64"/>
              <p:cNvSpPr>
                <a:spLocks noChangeArrowheads="1"/>
              </p:cNvSpPr>
              <p:nvPr/>
            </p:nvSpPr>
            <p:spPr bwMode="auto">
              <a:xfrm>
                <a:off x="1511" y="3504"/>
                <a:ext cx="330" cy="39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46" name="Line 65"/>
              <p:cNvSpPr>
                <a:spLocks noChangeShapeType="1"/>
              </p:cNvSpPr>
              <p:nvPr/>
            </p:nvSpPr>
            <p:spPr bwMode="auto">
              <a:xfrm flipV="1">
                <a:off x="1676" y="3696"/>
                <a:ext cx="916" cy="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prstDash val="dash"/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8471" name="Group 66"/>
              <p:cNvGrpSpPr>
                <a:grpSpLocks/>
              </p:cNvGrpSpPr>
              <p:nvPr/>
            </p:nvGrpSpPr>
            <p:grpSpPr bwMode="auto">
              <a:xfrm>
                <a:off x="1182" y="3504"/>
                <a:ext cx="329" cy="398"/>
                <a:chOff x="1728" y="2880"/>
                <a:chExt cx="384" cy="384"/>
              </a:xfrm>
            </p:grpSpPr>
            <p:sp>
              <p:nvSpPr>
                <p:cNvPr id="17448" name="Rectangle 67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473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1760" y="2967"/>
                  <a:ext cx="335" cy="24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8440" name="Group 69"/>
            <p:cNvGrpSpPr>
              <a:grpSpLocks/>
            </p:cNvGrpSpPr>
            <p:nvPr/>
          </p:nvGrpSpPr>
          <p:grpSpPr bwMode="auto">
            <a:xfrm>
              <a:off x="2602" y="3240"/>
              <a:ext cx="990" cy="398"/>
              <a:chOff x="1290" y="1684"/>
              <a:chExt cx="1152" cy="384"/>
            </a:xfrm>
          </p:grpSpPr>
          <p:sp>
            <p:nvSpPr>
              <p:cNvPr id="17440" name="Rectangle 70"/>
              <p:cNvSpPr>
                <a:spLocks noChangeArrowheads="1"/>
              </p:cNvSpPr>
              <p:nvPr/>
            </p:nvSpPr>
            <p:spPr bwMode="auto">
              <a:xfrm>
                <a:off x="1674" y="1684"/>
                <a:ext cx="384" cy="38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41" name="Line 71"/>
              <p:cNvSpPr>
                <a:spLocks noChangeShapeType="1"/>
              </p:cNvSpPr>
              <p:nvPr/>
            </p:nvSpPr>
            <p:spPr bwMode="auto">
              <a:xfrm flipV="1">
                <a:off x="1866" y="1876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8466" name="Group 72"/>
              <p:cNvGrpSpPr>
                <a:grpSpLocks/>
              </p:cNvGrpSpPr>
              <p:nvPr/>
            </p:nvGrpSpPr>
            <p:grpSpPr bwMode="auto">
              <a:xfrm>
                <a:off x="1290" y="1684"/>
                <a:ext cx="384" cy="384"/>
                <a:chOff x="1728" y="2880"/>
                <a:chExt cx="384" cy="384"/>
              </a:xfrm>
            </p:grpSpPr>
            <p:sp>
              <p:nvSpPr>
                <p:cNvPr id="17443" name="Rectangle 73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468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1760" y="2967"/>
                  <a:ext cx="334" cy="24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8441" name="Group 75"/>
            <p:cNvGrpSpPr>
              <a:grpSpLocks/>
            </p:cNvGrpSpPr>
            <p:nvPr/>
          </p:nvGrpSpPr>
          <p:grpSpPr bwMode="auto">
            <a:xfrm>
              <a:off x="3592" y="3240"/>
              <a:ext cx="989" cy="398"/>
              <a:chOff x="1290" y="1684"/>
              <a:chExt cx="1152" cy="384"/>
            </a:xfrm>
          </p:grpSpPr>
          <p:sp>
            <p:nvSpPr>
              <p:cNvPr id="17435" name="Rectangle 76"/>
              <p:cNvSpPr>
                <a:spLocks noChangeArrowheads="1"/>
              </p:cNvSpPr>
              <p:nvPr/>
            </p:nvSpPr>
            <p:spPr bwMode="auto">
              <a:xfrm>
                <a:off x="1674" y="1684"/>
                <a:ext cx="383" cy="38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36" name="Line 77"/>
              <p:cNvSpPr>
                <a:spLocks noChangeShapeType="1"/>
              </p:cNvSpPr>
              <p:nvPr/>
            </p:nvSpPr>
            <p:spPr bwMode="auto">
              <a:xfrm flipV="1">
                <a:off x="1867" y="1876"/>
                <a:ext cx="57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8461" name="Group 78"/>
              <p:cNvGrpSpPr>
                <a:grpSpLocks/>
              </p:cNvGrpSpPr>
              <p:nvPr/>
            </p:nvGrpSpPr>
            <p:grpSpPr bwMode="auto">
              <a:xfrm>
                <a:off x="1290" y="1684"/>
                <a:ext cx="384" cy="384"/>
                <a:chOff x="1728" y="2880"/>
                <a:chExt cx="384" cy="384"/>
              </a:xfrm>
            </p:grpSpPr>
            <p:sp>
              <p:nvSpPr>
                <p:cNvPr id="17438" name="Rectangle 79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463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1760" y="2967"/>
                  <a:ext cx="334" cy="24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8442" name="Group 81"/>
            <p:cNvGrpSpPr>
              <a:grpSpLocks/>
            </p:cNvGrpSpPr>
            <p:nvPr/>
          </p:nvGrpSpPr>
          <p:grpSpPr bwMode="auto">
            <a:xfrm>
              <a:off x="4581" y="3240"/>
              <a:ext cx="990" cy="398"/>
              <a:chOff x="4358" y="1680"/>
              <a:chExt cx="1018" cy="464"/>
            </a:xfrm>
          </p:grpSpPr>
          <p:sp>
            <p:nvSpPr>
              <p:cNvPr id="17430" name="Rectangle 82"/>
              <p:cNvSpPr>
                <a:spLocks noChangeArrowheads="1"/>
              </p:cNvSpPr>
              <p:nvPr/>
            </p:nvSpPr>
            <p:spPr bwMode="auto">
              <a:xfrm>
                <a:off x="4697" y="1680"/>
                <a:ext cx="339" cy="46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31" name="Line 83"/>
              <p:cNvSpPr>
                <a:spLocks noChangeShapeType="1"/>
              </p:cNvSpPr>
              <p:nvPr/>
            </p:nvSpPr>
            <p:spPr bwMode="auto">
              <a:xfrm flipV="1">
                <a:off x="4867" y="1912"/>
                <a:ext cx="509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8456" name="Group 84"/>
              <p:cNvGrpSpPr>
                <a:grpSpLocks/>
              </p:cNvGrpSpPr>
              <p:nvPr/>
            </p:nvGrpSpPr>
            <p:grpSpPr bwMode="auto">
              <a:xfrm>
                <a:off x="4358" y="1680"/>
                <a:ext cx="339" cy="464"/>
                <a:chOff x="1728" y="2880"/>
                <a:chExt cx="384" cy="384"/>
              </a:xfrm>
            </p:grpSpPr>
            <p:sp>
              <p:nvSpPr>
                <p:cNvPr id="17433" name="Rectangle 85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458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1760" y="2967"/>
                  <a:ext cx="334" cy="24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8443" name="Group 87"/>
            <p:cNvGrpSpPr>
              <a:grpSpLocks/>
            </p:cNvGrpSpPr>
            <p:nvPr/>
          </p:nvGrpSpPr>
          <p:grpSpPr bwMode="auto">
            <a:xfrm>
              <a:off x="5578" y="3329"/>
              <a:ext cx="86" cy="206"/>
              <a:chOff x="5384" y="1784"/>
              <a:chExt cx="88" cy="240"/>
            </a:xfrm>
          </p:grpSpPr>
          <p:sp>
            <p:nvSpPr>
              <p:cNvPr id="17427" name="Line 88"/>
              <p:cNvSpPr>
                <a:spLocks noChangeShapeType="1"/>
              </p:cNvSpPr>
              <p:nvPr/>
            </p:nvSpPr>
            <p:spPr bwMode="auto">
              <a:xfrm>
                <a:off x="5384" y="1784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28" name="Line 89"/>
              <p:cNvSpPr>
                <a:spLocks noChangeShapeType="1"/>
              </p:cNvSpPr>
              <p:nvPr/>
            </p:nvSpPr>
            <p:spPr bwMode="auto">
              <a:xfrm>
                <a:off x="5424" y="1815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29" name="Line 90"/>
              <p:cNvSpPr>
                <a:spLocks noChangeShapeType="1"/>
              </p:cNvSpPr>
              <p:nvPr/>
            </p:nvSpPr>
            <p:spPr bwMode="auto">
              <a:xfrm>
                <a:off x="5472" y="1840"/>
                <a:ext cx="0" cy="14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444" name="Group 101"/>
            <p:cNvGrpSpPr>
              <a:grpSpLocks/>
            </p:cNvGrpSpPr>
            <p:nvPr/>
          </p:nvGrpSpPr>
          <p:grpSpPr bwMode="auto">
            <a:xfrm>
              <a:off x="1672" y="3456"/>
              <a:ext cx="920" cy="832"/>
              <a:chOff x="1672" y="3440"/>
              <a:chExt cx="920" cy="832"/>
            </a:xfrm>
          </p:grpSpPr>
          <p:sp>
            <p:nvSpPr>
              <p:cNvPr id="17421" name="Rectangle 95"/>
              <p:cNvSpPr>
                <a:spLocks noChangeArrowheads="1"/>
              </p:cNvSpPr>
              <p:nvPr/>
            </p:nvSpPr>
            <p:spPr bwMode="auto">
              <a:xfrm>
                <a:off x="2212" y="3874"/>
                <a:ext cx="330" cy="39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22" name="Line 96"/>
              <p:cNvSpPr>
                <a:spLocks noChangeShapeType="1"/>
              </p:cNvSpPr>
              <p:nvPr/>
            </p:nvSpPr>
            <p:spPr bwMode="auto">
              <a:xfrm flipV="1">
                <a:off x="2385" y="3456"/>
                <a:ext cx="207" cy="61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8447" name="Group 97"/>
              <p:cNvGrpSpPr>
                <a:grpSpLocks/>
              </p:cNvGrpSpPr>
              <p:nvPr/>
            </p:nvGrpSpPr>
            <p:grpSpPr bwMode="auto">
              <a:xfrm>
                <a:off x="1882" y="3874"/>
                <a:ext cx="330" cy="398"/>
                <a:chOff x="1728" y="2880"/>
                <a:chExt cx="384" cy="384"/>
              </a:xfrm>
            </p:grpSpPr>
            <p:sp>
              <p:nvSpPr>
                <p:cNvPr id="17425" name="Rectangle 98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450" name="Text Box 99"/>
                <p:cNvSpPr txBox="1">
                  <a:spLocks noChangeArrowheads="1"/>
                </p:cNvSpPr>
                <p:nvPr/>
              </p:nvSpPr>
              <p:spPr bwMode="auto">
                <a:xfrm>
                  <a:off x="1792" y="2967"/>
                  <a:ext cx="272" cy="24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</a:p>
              </p:txBody>
            </p:sp>
          </p:grpSp>
          <p:sp>
            <p:nvSpPr>
              <p:cNvPr id="17424" name="Line 100"/>
              <p:cNvSpPr>
                <a:spLocks noChangeShapeType="1"/>
              </p:cNvSpPr>
              <p:nvPr/>
            </p:nvSpPr>
            <p:spPr bwMode="auto">
              <a:xfrm>
                <a:off x="1672" y="3440"/>
                <a:ext cx="192" cy="62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17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17656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idx="1"/>
          </p:nvPr>
        </p:nvSpPr>
        <p:spPr>
          <a:xfrm>
            <a:off x="165100" y="1556792"/>
            <a:ext cx="8826500" cy="5148808"/>
          </a:xfrm>
        </p:spPr>
        <p:txBody>
          <a:bodyPr>
            <a:normAutofit/>
          </a:bodyPr>
          <a:lstStyle/>
          <a:p>
            <a:pPr algn="l" rtl="0" eaLnBrk="1" hangingPunct="1">
              <a:lnSpc>
                <a:spcPct val="90000"/>
              </a:lnSpc>
              <a:defRPr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node points to not only successor but the predecessor</a:t>
            </a: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</a:t>
            </a:r>
            <a:r>
              <a:rPr lang="en-US" sz="2700" dirty="0" err="1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nullPtr</a:t>
            </a:r>
            <a:r>
              <a:rPr lang="en-US" sz="27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: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first and last nodes in the list</a:t>
            </a: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Advantage: given a node, it is easy to visit its predecessor. Convenient to traverse lists </a:t>
            </a:r>
            <a:r>
              <a:rPr lang="en-US" sz="27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backwards</a:t>
            </a: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we create an extra node at the end of the list to represent the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endmarker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known as a </a:t>
            </a:r>
            <a:r>
              <a:rPr lang="en-US" sz="27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node.</a:t>
            </a:r>
          </a:p>
          <a:p>
            <a:pPr algn="l" rtl="0" eaLnBrk="1" hangingPunct="1">
              <a:lnSpc>
                <a:spcPct val="90000"/>
              </a:lnSpc>
              <a:defRPr/>
            </a:pPr>
            <a:endParaRPr lang="en-US" sz="2700" b="1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95" name="Rectangle 27"/>
          <p:cNvSpPr>
            <a:spLocks noChangeArrowheads="1"/>
          </p:cNvSpPr>
          <p:nvPr/>
        </p:nvSpPr>
        <p:spPr bwMode="auto">
          <a:xfrm>
            <a:off x="76200" y="348332"/>
            <a:ext cx="8991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ar-SA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List ADT: </a:t>
            </a:r>
            <a:r>
              <a:rPr lang="en-US" altLang="ar-SA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Doubly Linked Lists</a:t>
            </a:r>
          </a:p>
          <a:p>
            <a:pPr algn="ctr" rtl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ar-SA" b="1" dirty="0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09575" y="4437117"/>
            <a:ext cx="8201025" cy="1800195"/>
            <a:chOff x="409575" y="4437117"/>
            <a:chExt cx="8201025" cy="1800195"/>
          </a:xfrm>
        </p:grpSpPr>
        <p:grpSp>
          <p:nvGrpSpPr>
            <p:cNvPr id="33797" name="Group 116"/>
            <p:cNvGrpSpPr>
              <a:grpSpLocks/>
            </p:cNvGrpSpPr>
            <p:nvPr/>
          </p:nvGrpSpPr>
          <p:grpSpPr bwMode="auto">
            <a:xfrm>
              <a:off x="409575" y="4437117"/>
              <a:ext cx="8201025" cy="1795585"/>
              <a:chOff x="402" y="2896"/>
              <a:chExt cx="5166" cy="1131"/>
            </a:xfrm>
          </p:grpSpPr>
          <p:grpSp>
            <p:nvGrpSpPr>
              <p:cNvPr id="33807" name="Group 111"/>
              <p:cNvGrpSpPr>
                <a:grpSpLocks/>
              </p:cNvGrpSpPr>
              <p:nvPr/>
            </p:nvGrpSpPr>
            <p:grpSpPr bwMode="auto">
              <a:xfrm>
                <a:off x="402" y="2896"/>
                <a:ext cx="5166" cy="464"/>
                <a:chOff x="272" y="2976"/>
                <a:chExt cx="5166" cy="464"/>
              </a:xfrm>
            </p:grpSpPr>
            <p:grpSp>
              <p:nvGrpSpPr>
                <p:cNvPr id="33812" name="Group 59"/>
                <p:cNvGrpSpPr>
                  <a:grpSpLocks/>
                </p:cNvGrpSpPr>
                <p:nvPr/>
              </p:nvGrpSpPr>
              <p:grpSpPr bwMode="auto">
                <a:xfrm>
                  <a:off x="5376" y="3040"/>
                  <a:ext cx="62" cy="240"/>
                  <a:chOff x="5384" y="1784"/>
                  <a:chExt cx="88" cy="240"/>
                </a:xfrm>
              </p:grpSpPr>
              <p:sp>
                <p:nvSpPr>
                  <p:cNvPr id="33857" name="Line 60"/>
                  <p:cNvSpPr>
                    <a:spLocks noChangeShapeType="1"/>
                  </p:cNvSpPr>
                  <p:nvPr/>
                </p:nvSpPr>
                <p:spPr bwMode="auto">
                  <a:xfrm>
                    <a:off x="5384" y="1784"/>
                    <a:ext cx="0" cy="24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ar-SA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3858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5424" y="1816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ar-SA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3859" name="Line 62"/>
                  <p:cNvSpPr>
                    <a:spLocks noChangeShapeType="1"/>
                  </p:cNvSpPr>
                  <p:nvPr/>
                </p:nvSpPr>
                <p:spPr bwMode="auto">
                  <a:xfrm>
                    <a:off x="5472" y="1840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ar-SA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3813" name="Group 74"/>
                <p:cNvGrpSpPr>
                  <a:grpSpLocks/>
                </p:cNvGrpSpPr>
                <p:nvPr/>
              </p:nvGrpSpPr>
              <p:grpSpPr bwMode="auto">
                <a:xfrm>
                  <a:off x="336" y="2976"/>
                  <a:ext cx="1194" cy="464"/>
                  <a:chOff x="336" y="2976"/>
                  <a:chExt cx="1194" cy="464"/>
                </a:xfrm>
              </p:grpSpPr>
              <p:sp>
                <p:nvSpPr>
                  <p:cNvPr id="33850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1053" y="2976"/>
                    <a:ext cx="238" cy="464"/>
                  </a:xfrm>
                  <a:prstGeom prst="rect">
                    <a:avLst/>
                  </a:prstGeom>
                  <a:solidFill>
                    <a:schemeClr val="accent1"/>
                  </a:solidFill>
                  <a:ln w="285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Ø"/>
                      <a:defRPr sz="32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SzPct val="5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ar-SA" altLang="ar-SA" sz="1800">
                      <a:latin typeface="Times New Roman" panose="02020603050405020304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33851" name="Line 3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72" y="3168"/>
                    <a:ext cx="35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 type="oval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ar-SA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3852" name="Group 32"/>
                  <p:cNvGrpSpPr>
                    <a:grpSpLocks/>
                  </p:cNvGrpSpPr>
                  <p:nvPr/>
                </p:nvGrpSpPr>
                <p:grpSpPr bwMode="auto">
                  <a:xfrm>
                    <a:off x="795" y="2976"/>
                    <a:ext cx="287" cy="464"/>
                    <a:chOff x="1698" y="2880"/>
                    <a:chExt cx="461" cy="384"/>
                  </a:xfrm>
                </p:grpSpPr>
                <p:sp>
                  <p:nvSpPr>
                    <p:cNvPr id="33855" name="Rectangle 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28" y="2880"/>
                      <a:ext cx="384" cy="384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2857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Char char="Ø"/>
                        <a:defRPr sz="32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ar-SA" altLang="ar-SA" sz="1800">
                        <a:latin typeface="Times New Roman" panose="02020603050405020304" pitchFamily="18" charset="0"/>
                        <a:cs typeface="Times New Roman" pitchFamily="18" charset="0"/>
                      </a:endParaRPr>
                    </a:p>
                  </p:txBody>
                </p:sp>
                <p:sp>
                  <p:nvSpPr>
                    <p:cNvPr id="33856" name="Text Box 3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698" y="2967"/>
                      <a:ext cx="461" cy="20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Char char="Ø"/>
                        <a:defRPr sz="32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algn="ctr" rtl="0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ar-SA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altLang="ar-SA" sz="2000" baseline="-2500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altLang="ar-SA" sz="200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p:txBody>
                </p:sp>
              </p:grpSp>
              <p:sp>
                <p:nvSpPr>
                  <p:cNvPr id="33853" name="Rectangle 63"/>
                  <p:cNvSpPr>
                    <a:spLocks noChangeArrowheads="1"/>
                  </p:cNvSpPr>
                  <p:nvPr/>
                </p:nvSpPr>
                <p:spPr bwMode="auto">
                  <a:xfrm>
                    <a:off x="574" y="2976"/>
                    <a:ext cx="238" cy="464"/>
                  </a:xfrm>
                  <a:prstGeom prst="rect">
                    <a:avLst/>
                  </a:prstGeom>
                  <a:solidFill>
                    <a:schemeClr val="accent1"/>
                  </a:solidFill>
                  <a:ln w="285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Ø"/>
                      <a:defRPr sz="32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SzPct val="5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ar-SA" altLang="ar-SA" sz="1800">
                      <a:latin typeface="Times New Roman" panose="02020603050405020304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33854" name="Line 64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36" y="3264"/>
                    <a:ext cx="35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 type="oval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ar-SA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3814" name="Group 75"/>
                <p:cNvGrpSpPr>
                  <a:grpSpLocks/>
                </p:cNvGrpSpPr>
                <p:nvPr/>
              </p:nvGrpSpPr>
              <p:grpSpPr bwMode="auto">
                <a:xfrm>
                  <a:off x="1294" y="2976"/>
                  <a:ext cx="1194" cy="464"/>
                  <a:chOff x="336" y="2976"/>
                  <a:chExt cx="1194" cy="464"/>
                </a:xfrm>
              </p:grpSpPr>
              <p:sp>
                <p:nvSpPr>
                  <p:cNvPr id="33843" name="Rectangle 76"/>
                  <p:cNvSpPr>
                    <a:spLocks noChangeArrowheads="1"/>
                  </p:cNvSpPr>
                  <p:nvPr/>
                </p:nvSpPr>
                <p:spPr bwMode="auto">
                  <a:xfrm>
                    <a:off x="1053" y="2976"/>
                    <a:ext cx="238" cy="464"/>
                  </a:xfrm>
                  <a:prstGeom prst="rect">
                    <a:avLst/>
                  </a:prstGeom>
                  <a:solidFill>
                    <a:schemeClr val="accent1"/>
                  </a:solidFill>
                  <a:ln w="285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Ø"/>
                      <a:defRPr sz="32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SzPct val="5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ar-SA" altLang="ar-SA" sz="1800">
                      <a:latin typeface="Times New Roman" panose="02020603050405020304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33844" name="Line 7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72" y="3168"/>
                    <a:ext cx="35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 type="oval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ar-SA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3845" name="Group 78"/>
                  <p:cNvGrpSpPr>
                    <a:grpSpLocks/>
                  </p:cNvGrpSpPr>
                  <p:nvPr/>
                </p:nvGrpSpPr>
                <p:grpSpPr bwMode="auto">
                  <a:xfrm>
                    <a:off x="795" y="2976"/>
                    <a:ext cx="287" cy="464"/>
                    <a:chOff x="1698" y="2880"/>
                    <a:chExt cx="461" cy="384"/>
                  </a:xfrm>
                </p:grpSpPr>
                <p:sp>
                  <p:nvSpPr>
                    <p:cNvPr id="33848" name="Rectangle 7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28" y="2880"/>
                      <a:ext cx="384" cy="384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2857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Char char="Ø"/>
                        <a:defRPr sz="32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ar-SA" altLang="ar-SA" sz="1800">
                        <a:latin typeface="Times New Roman" panose="02020603050405020304" pitchFamily="18" charset="0"/>
                        <a:cs typeface="Times New Roman" pitchFamily="18" charset="0"/>
                      </a:endParaRPr>
                    </a:p>
                  </p:txBody>
                </p:sp>
                <p:sp>
                  <p:nvSpPr>
                    <p:cNvPr id="33849" name="Text Box 8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698" y="2967"/>
                      <a:ext cx="461" cy="20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Char char="Ø"/>
                        <a:defRPr sz="32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algn="ctr" rtl="0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ar-SA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altLang="ar-SA" sz="2000" baseline="-2500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altLang="ar-SA" sz="200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p:txBody>
                </p:sp>
              </p:grpSp>
              <p:sp>
                <p:nvSpPr>
                  <p:cNvPr id="33846" name="Rectangle 81"/>
                  <p:cNvSpPr>
                    <a:spLocks noChangeArrowheads="1"/>
                  </p:cNvSpPr>
                  <p:nvPr/>
                </p:nvSpPr>
                <p:spPr bwMode="auto">
                  <a:xfrm>
                    <a:off x="574" y="2976"/>
                    <a:ext cx="238" cy="464"/>
                  </a:xfrm>
                  <a:prstGeom prst="rect">
                    <a:avLst/>
                  </a:prstGeom>
                  <a:solidFill>
                    <a:schemeClr val="accent1"/>
                  </a:solidFill>
                  <a:ln w="285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Ø"/>
                      <a:defRPr sz="32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SzPct val="5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ar-SA" altLang="ar-SA" sz="1800">
                      <a:latin typeface="Times New Roman" panose="02020603050405020304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33847" name="Line 82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36" y="3264"/>
                    <a:ext cx="35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 type="oval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ar-SA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3815" name="Group 83"/>
                <p:cNvGrpSpPr>
                  <a:grpSpLocks/>
                </p:cNvGrpSpPr>
                <p:nvPr/>
              </p:nvGrpSpPr>
              <p:grpSpPr bwMode="auto">
                <a:xfrm>
                  <a:off x="2254" y="2976"/>
                  <a:ext cx="1194" cy="464"/>
                  <a:chOff x="336" y="2976"/>
                  <a:chExt cx="1194" cy="464"/>
                </a:xfrm>
              </p:grpSpPr>
              <p:sp>
                <p:nvSpPr>
                  <p:cNvPr id="33836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1053" y="2976"/>
                    <a:ext cx="238" cy="464"/>
                  </a:xfrm>
                  <a:prstGeom prst="rect">
                    <a:avLst/>
                  </a:prstGeom>
                  <a:solidFill>
                    <a:schemeClr val="accent1"/>
                  </a:solidFill>
                  <a:ln w="285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Ø"/>
                      <a:defRPr sz="32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SzPct val="5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ar-SA" altLang="ar-SA" sz="1800">
                      <a:latin typeface="Times New Roman" panose="02020603050405020304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33837" name="Line 8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72" y="3168"/>
                    <a:ext cx="35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 type="oval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ar-SA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3838" name="Group 86"/>
                  <p:cNvGrpSpPr>
                    <a:grpSpLocks/>
                  </p:cNvGrpSpPr>
                  <p:nvPr/>
                </p:nvGrpSpPr>
                <p:grpSpPr bwMode="auto">
                  <a:xfrm>
                    <a:off x="795" y="2976"/>
                    <a:ext cx="287" cy="464"/>
                    <a:chOff x="1698" y="2880"/>
                    <a:chExt cx="461" cy="384"/>
                  </a:xfrm>
                </p:grpSpPr>
                <p:sp>
                  <p:nvSpPr>
                    <p:cNvPr id="33841" name="Rectangle 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28" y="2880"/>
                      <a:ext cx="384" cy="384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2857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Char char="Ø"/>
                        <a:defRPr sz="32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ar-SA" altLang="ar-SA" sz="1800">
                        <a:latin typeface="Times New Roman" panose="02020603050405020304" pitchFamily="18" charset="0"/>
                        <a:cs typeface="Times New Roman" pitchFamily="18" charset="0"/>
                      </a:endParaRPr>
                    </a:p>
                  </p:txBody>
                </p:sp>
                <p:sp>
                  <p:nvSpPr>
                    <p:cNvPr id="33842" name="Text Box 8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698" y="2967"/>
                      <a:ext cx="461" cy="20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Char char="Ø"/>
                        <a:defRPr sz="32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algn="ctr" rtl="0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ar-SA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altLang="ar-SA" sz="2000" baseline="-250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altLang="ar-SA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p:txBody>
                </p:sp>
              </p:grpSp>
              <p:sp>
                <p:nvSpPr>
                  <p:cNvPr id="33839" name="Rectangle 89"/>
                  <p:cNvSpPr>
                    <a:spLocks noChangeArrowheads="1"/>
                  </p:cNvSpPr>
                  <p:nvPr/>
                </p:nvSpPr>
                <p:spPr bwMode="auto">
                  <a:xfrm>
                    <a:off x="574" y="2976"/>
                    <a:ext cx="238" cy="464"/>
                  </a:xfrm>
                  <a:prstGeom prst="rect">
                    <a:avLst/>
                  </a:prstGeom>
                  <a:solidFill>
                    <a:schemeClr val="accent1"/>
                  </a:solidFill>
                  <a:ln w="285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Ø"/>
                      <a:defRPr sz="32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SzPct val="5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ar-SA" altLang="ar-SA" sz="1800">
                      <a:latin typeface="Times New Roman" panose="02020603050405020304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33840" name="Line 90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36" y="3264"/>
                    <a:ext cx="35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 type="oval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ar-SA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3816" name="Group 91"/>
                <p:cNvGrpSpPr>
                  <a:grpSpLocks/>
                </p:cNvGrpSpPr>
                <p:nvPr/>
              </p:nvGrpSpPr>
              <p:grpSpPr bwMode="auto">
                <a:xfrm>
                  <a:off x="3214" y="2976"/>
                  <a:ext cx="1194" cy="464"/>
                  <a:chOff x="336" y="2976"/>
                  <a:chExt cx="1194" cy="464"/>
                </a:xfrm>
              </p:grpSpPr>
              <p:sp>
                <p:nvSpPr>
                  <p:cNvPr id="33829" name="Rectangle 92"/>
                  <p:cNvSpPr>
                    <a:spLocks noChangeArrowheads="1"/>
                  </p:cNvSpPr>
                  <p:nvPr/>
                </p:nvSpPr>
                <p:spPr bwMode="auto">
                  <a:xfrm>
                    <a:off x="1053" y="2976"/>
                    <a:ext cx="238" cy="464"/>
                  </a:xfrm>
                  <a:prstGeom prst="rect">
                    <a:avLst/>
                  </a:prstGeom>
                  <a:solidFill>
                    <a:schemeClr val="accent1"/>
                  </a:solidFill>
                  <a:ln w="285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Ø"/>
                      <a:defRPr sz="32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SzPct val="5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ar-SA" altLang="ar-SA" sz="1800">
                      <a:latin typeface="Times New Roman" panose="02020603050405020304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33830" name="Line 9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72" y="3168"/>
                    <a:ext cx="35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 type="oval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ar-SA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3831" name="Group 94"/>
                  <p:cNvGrpSpPr>
                    <a:grpSpLocks/>
                  </p:cNvGrpSpPr>
                  <p:nvPr/>
                </p:nvGrpSpPr>
                <p:grpSpPr bwMode="auto">
                  <a:xfrm>
                    <a:off x="795" y="2976"/>
                    <a:ext cx="287" cy="464"/>
                    <a:chOff x="1698" y="2880"/>
                    <a:chExt cx="461" cy="384"/>
                  </a:xfrm>
                </p:grpSpPr>
                <p:sp>
                  <p:nvSpPr>
                    <p:cNvPr id="33834" name="Rectangle 9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28" y="2880"/>
                      <a:ext cx="384" cy="384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2857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Char char="Ø"/>
                        <a:defRPr sz="32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ar-SA" altLang="ar-SA" sz="1800">
                        <a:latin typeface="Times New Roman" panose="02020603050405020304" pitchFamily="18" charset="0"/>
                        <a:cs typeface="Times New Roman" pitchFamily="18" charset="0"/>
                      </a:endParaRPr>
                    </a:p>
                  </p:txBody>
                </p:sp>
                <p:sp>
                  <p:nvSpPr>
                    <p:cNvPr id="33835" name="Text Box 9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698" y="2967"/>
                      <a:ext cx="461" cy="20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Char char="Ø"/>
                        <a:defRPr sz="32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algn="ctr" rtl="0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ar-SA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altLang="ar-SA" sz="2000" baseline="-2500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altLang="ar-SA" sz="200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p:txBody>
                </p:sp>
              </p:grpSp>
              <p:sp>
                <p:nvSpPr>
                  <p:cNvPr id="33832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574" y="2976"/>
                    <a:ext cx="238" cy="464"/>
                  </a:xfrm>
                  <a:prstGeom prst="rect">
                    <a:avLst/>
                  </a:prstGeom>
                  <a:solidFill>
                    <a:schemeClr val="accent1"/>
                  </a:solidFill>
                  <a:ln w="285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Ø"/>
                      <a:defRPr sz="32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SzPct val="5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ar-SA" altLang="ar-SA" sz="1800">
                      <a:latin typeface="Times New Roman" panose="02020603050405020304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33833" name="Line 9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36" y="3264"/>
                    <a:ext cx="35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 type="oval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ar-SA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3817" name="Group 99"/>
                <p:cNvGrpSpPr>
                  <a:grpSpLocks/>
                </p:cNvGrpSpPr>
                <p:nvPr/>
              </p:nvGrpSpPr>
              <p:grpSpPr bwMode="auto">
                <a:xfrm>
                  <a:off x="4176" y="2976"/>
                  <a:ext cx="1194" cy="464"/>
                  <a:chOff x="336" y="2976"/>
                  <a:chExt cx="1194" cy="464"/>
                </a:xfrm>
              </p:grpSpPr>
              <p:sp>
                <p:nvSpPr>
                  <p:cNvPr id="33822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1053" y="2976"/>
                    <a:ext cx="238" cy="464"/>
                  </a:xfrm>
                  <a:prstGeom prst="rect">
                    <a:avLst/>
                  </a:prstGeom>
                  <a:solidFill>
                    <a:schemeClr val="accent1"/>
                  </a:solidFill>
                  <a:ln w="285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Ø"/>
                      <a:defRPr sz="32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SzPct val="5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ar-SA" altLang="ar-SA" sz="1800">
                      <a:latin typeface="Times New Roman" panose="02020603050405020304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33823" name="Line 10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72" y="3168"/>
                    <a:ext cx="35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 type="oval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ar-SA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3824" name="Group 102"/>
                  <p:cNvGrpSpPr>
                    <a:grpSpLocks/>
                  </p:cNvGrpSpPr>
                  <p:nvPr/>
                </p:nvGrpSpPr>
                <p:grpSpPr bwMode="auto">
                  <a:xfrm>
                    <a:off x="795" y="2976"/>
                    <a:ext cx="287" cy="464"/>
                    <a:chOff x="1698" y="2880"/>
                    <a:chExt cx="461" cy="384"/>
                  </a:xfrm>
                </p:grpSpPr>
                <p:sp>
                  <p:nvSpPr>
                    <p:cNvPr id="33827" name="Rectangle 10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28" y="2880"/>
                      <a:ext cx="384" cy="384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2857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Char char="Ø"/>
                        <a:defRPr sz="32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ar-SA" altLang="ar-SA" sz="1800">
                        <a:latin typeface="Times New Roman" panose="02020603050405020304" pitchFamily="18" charset="0"/>
                        <a:cs typeface="Times New Roman" pitchFamily="18" charset="0"/>
                      </a:endParaRPr>
                    </a:p>
                  </p:txBody>
                </p:sp>
                <p:sp>
                  <p:nvSpPr>
                    <p:cNvPr id="33828" name="Text Box 10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698" y="2967"/>
                      <a:ext cx="461" cy="20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Char char="Ø"/>
                        <a:defRPr sz="32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itchFamily="2" charset="2"/>
                        <a:buChar char="l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algn="ctr" rtl="0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ar-SA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altLang="ar-SA" sz="2000" baseline="-2500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en-US" altLang="ar-SA" sz="200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p:txBody>
                </p:sp>
              </p:grpSp>
              <p:sp>
                <p:nvSpPr>
                  <p:cNvPr id="33825" name="Rectangle 105"/>
                  <p:cNvSpPr>
                    <a:spLocks noChangeArrowheads="1"/>
                  </p:cNvSpPr>
                  <p:nvPr/>
                </p:nvSpPr>
                <p:spPr bwMode="auto">
                  <a:xfrm>
                    <a:off x="574" y="2976"/>
                    <a:ext cx="238" cy="464"/>
                  </a:xfrm>
                  <a:prstGeom prst="rect">
                    <a:avLst/>
                  </a:prstGeom>
                  <a:solidFill>
                    <a:schemeClr val="accent1"/>
                  </a:solidFill>
                  <a:ln w="285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Ø"/>
                      <a:defRPr sz="32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SzPct val="5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ar-SA" altLang="ar-SA" sz="1800">
                      <a:latin typeface="Times New Roman" panose="02020603050405020304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33826" name="Line 10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36" y="3264"/>
                    <a:ext cx="35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 type="oval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ar-SA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3818" name="Group 107"/>
                <p:cNvGrpSpPr>
                  <a:grpSpLocks/>
                </p:cNvGrpSpPr>
                <p:nvPr/>
              </p:nvGrpSpPr>
              <p:grpSpPr bwMode="auto">
                <a:xfrm flipH="1" flipV="1">
                  <a:off x="272" y="3136"/>
                  <a:ext cx="62" cy="240"/>
                  <a:chOff x="5384" y="1784"/>
                  <a:chExt cx="88" cy="240"/>
                </a:xfrm>
              </p:grpSpPr>
              <p:sp>
                <p:nvSpPr>
                  <p:cNvPr id="33819" name="Line 108"/>
                  <p:cNvSpPr>
                    <a:spLocks noChangeShapeType="1"/>
                  </p:cNvSpPr>
                  <p:nvPr/>
                </p:nvSpPr>
                <p:spPr bwMode="auto">
                  <a:xfrm>
                    <a:off x="5384" y="1784"/>
                    <a:ext cx="0" cy="24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ar-SA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3820" name="Line 109"/>
                  <p:cNvSpPr>
                    <a:spLocks noChangeShapeType="1"/>
                  </p:cNvSpPr>
                  <p:nvPr/>
                </p:nvSpPr>
                <p:spPr bwMode="auto">
                  <a:xfrm>
                    <a:off x="5424" y="1816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ar-SA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3821" name="Line 110"/>
                  <p:cNvSpPr>
                    <a:spLocks noChangeShapeType="1"/>
                  </p:cNvSpPr>
                  <p:nvPr/>
                </p:nvSpPr>
                <p:spPr bwMode="auto">
                  <a:xfrm>
                    <a:off x="5472" y="1840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ar-SA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33811" name="Text Box 115"/>
              <p:cNvSpPr txBox="1">
                <a:spLocks noChangeArrowheads="1"/>
              </p:cNvSpPr>
              <p:nvPr/>
            </p:nvSpPr>
            <p:spPr bwMode="auto">
              <a:xfrm>
                <a:off x="836" y="3775"/>
                <a:ext cx="45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ar-SA" sz="2000" dirty="0">
                    <a:latin typeface="Times New Roman" panose="02020603050405020304" pitchFamily="18" charset="0"/>
                    <a:cs typeface="Times New Roman" pitchFamily="18" charset="0"/>
                  </a:rPr>
                  <a:t>Head</a:t>
                </a:r>
              </a:p>
            </p:txBody>
          </p:sp>
        </p:grpSp>
        <p:grpSp>
          <p:nvGrpSpPr>
            <p:cNvPr id="33798" name="Group 120"/>
            <p:cNvGrpSpPr>
              <a:grpSpLocks/>
            </p:cNvGrpSpPr>
            <p:nvPr/>
          </p:nvGrpSpPr>
          <p:grpSpPr bwMode="auto">
            <a:xfrm>
              <a:off x="2590800" y="5189636"/>
              <a:ext cx="2057400" cy="990666"/>
              <a:chOff x="1776" y="3456"/>
              <a:chExt cx="1296" cy="624"/>
            </a:xfrm>
          </p:grpSpPr>
          <p:sp>
            <p:nvSpPr>
              <p:cNvPr id="33805" name="Text Box 117"/>
              <p:cNvSpPr txBox="1">
                <a:spLocks noChangeArrowheads="1"/>
              </p:cNvSpPr>
              <p:nvPr/>
            </p:nvSpPr>
            <p:spPr bwMode="auto">
              <a:xfrm>
                <a:off x="1776" y="3830"/>
                <a:ext cx="12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l" rtl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ar-SA" sz="2000">
                    <a:latin typeface="Times New Roman" panose="02020603050405020304" pitchFamily="18" charset="0"/>
                    <a:cs typeface="Times New Roman" pitchFamily="18" charset="0"/>
                  </a:rPr>
                  <a:t>Previous pointer</a:t>
                </a:r>
              </a:p>
            </p:txBody>
          </p:sp>
          <p:sp>
            <p:nvSpPr>
              <p:cNvPr id="33806" name="Line 119"/>
              <p:cNvSpPr>
                <a:spLocks noChangeShapeType="1"/>
              </p:cNvSpPr>
              <p:nvPr/>
            </p:nvSpPr>
            <p:spPr bwMode="auto">
              <a:xfrm flipV="1">
                <a:off x="2400" y="3456"/>
                <a:ext cx="384" cy="38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3799" name="Group 122"/>
            <p:cNvGrpSpPr>
              <a:grpSpLocks/>
            </p:cNvGrpSpPr>
            <p:nvPr/>
          </p:nvGrpSpPr>
          <p:grpSpPr bwMode="auto">
            <a:xfrm>
              <a:off x="4800600" y="5189636"/>
              <a:ext cx="1905000" cy="944626"/>
              <a:chOff x="3168" y="3456"/>
              <a:chExt cx="1200" cy="595"/>
            </a:xfrm>
          </p:grpSpPr>
          <p:sp>
            <p:nvSpPr>
              <p:cNvPr id="33803" name="Text Box 118"/>
              <p:cNvSpPr txBox="1">
                <a:spLocks noChangeArrowheads="1"/>
              </p:cNvSpPr>
              <p:nvPr/>
            </p:nvSpPr>
            <p:spPr bwMode="auto">
              <a:xfrm>
                <a:off x="3264" y="3801"/>
                <a:ext cx="110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l" rtl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ar-SA" sz="2000">
                    <a:latin typeface="Times New Roman" panose="02020603050405020304" pitchFamily="18" charset="0"/>
                    <a:cs typeface="Times New Roman" pitchFamily="18" charset="0"/>
                  </a:rPr>
                  <a:t>Next pointer</a:t>
                </a:r>
              </a:p>
            </p:txBody>
          </p:sp>
          <p:sp>
            <p:nvSpPr>
              <p:cNvPr id="33804" name="Line 121"/>
              <p:cNvSpPr>
                <a:spLocks noChangeShapeType="1"/>
              </p:cNvSpPr>
              <p:nvPr/>
            </p:nvSpPr>
            <p:spPr bwMode="auto">
              <a:xfrm flipH="1" flipV="1">
                <a:off x="3168" y="3456"/>
                <a:ext cx="528" cy="33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3802" name="Text Box 115"/>
            <p:cNvSpPr txBox="1">
              <a:spLocks noChangeArrowheads="1"/>
            </p:cNvSpPr>
            <p:nvPr/>
          </p:nvSpPr>
          <p:spPr bwMode="auto">
            <a:xfrm>
              <a:off x="7330626" y="5837175"/>
              <a:ext cx="578749" cy="40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ar-SA" sz="2000" dirty="0">
                  <a:latin typeface="Times New Roman" panose="02020603050405020304" pitchFamily="18" charset="0"/>
                  <a:cs typeface="Times New Roman" pitchFamily="18" charset="0"/>
                </a:rPr>
                <a:t>Tail</a:t>
              </a:r>
            </a:p>
          </p:txBody>
        </p:sp>
        <p:sp>
          <p:nvSpPr>
            <p:cNvPr id="68" name="Line 119"/>
            <p:cNvSpPr>
              <a:spLocks noChangeShapeType="1"/>
            </p:cNvSpPr>
            <p:nvPr/>
          </p:nvSpPr>
          <p:spPr bwMode="auto">
            <a:xfrm flipV="1">
              <a:off x="1417638" y="5189635"/>
              <a:ext cx="0" cy="65104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S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Line 119"/>
            <p:cNvSpPr>
              <a:spLocks noChangeShapeType="1"/>
            </p:cNvSpPr>
            <p:nvPr/>
          </p:nvSpPr>
          <p:spPr bwMode="auto">
            <a:xfrm flipV="1">
              <a:off x="7596336" y="5190367"/>
              <a:ext cx="0" cy="65104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S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18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79701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1556792"/>
            <a:ext cx="8839200" cy="5148808"/>
          </a:xfrm>
        </p:spPr>
        <p:txBody>
          <a:bodyPr>
            <a:normAutofit/>
          </a:bodyPr>
          <a:lstStyle/>
          <a:p>
            <a:pPr algn="l" rtl="0" eaLnBrk="1" hangingPunct="1"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node points to the first node of the linked list.</a:t>
            </a:r>
          </a:p>
          <a:p>
            <a:pPr algn="l" rtl="0" eaLnBrk="1" hangingPunct="1"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be done with or without a header. If the header is present, the last cell points to it.</a:t>
            </a:r>
          </a:p>
          <a:p>
            <a:pPr algn="l" rtl="0" eaLnBrk="1" hangingPunct="1"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know when we have finished traversing the list? (Tip: check if the pointer of the current node is equal to the head.)</a:t>
            </a:r>
          </a:p>
        </p:txBody>
      </p:sp>
      <p:sp>
        <p:nvSpPr>
          <p:cNvPr id="56323" name="Rectangle 23"/>
          <p:cNvSpPr>
            <a:spLocks noChangeArrowheads="1"/>
          </p:cNvSpPr>
          <p:nvPr/>
        </p:nvSpPr>
        <p:spPr bwMode="auto">
          <a:xfrm>
            <a:off x="0" y="420340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ar-SA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List ADT: </a:t>
            </a:r>
            <a:r>
              <a:rPr lang="en-US" altLang="ar-SA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Circular Linked Lists</a:t>
            </a:r>
          </a:p>
        </p:txBody>
      </p:sp>
      <p:grpSp>
        <p:nvGrpSpPr>
          <p:cNvPr id="56324" name="Group 110"/>
          <p:cNvGrpSpPr>
            <a:grpSpLocks/>
          </p:cNvGrpSpPr>
          <p:nvPr/>
        </p:nvGrpSpPr>
        <p:grpSpPr bwMode="auto">
          <a:xfrm>
            <a:off x="1118584" y="4077072"/>
            <a:ext cx="7485864" cy="981844"/>
            <a:chOff x="531" y="2475"/>
            <a:chExt cx="4749" cy="693"/>
          </a:xfrm>
        </p:grpSpPr>
        <p:grpSp>
          <p:nvGrpSpPr>
            <p:cNvPr id="56363" name="Group 25"/>
            <p:cNvGrpSpPr>
              <a:grpSpLocks/>
            </p:cNvGrpSpPr>
            <p:nvPr/>
          </p:nvGrpSpPr>
          <p:grpSpPr bwMode="auto">
            <a:xfrm>
              <a:off x="531" y="2704"/>
              <a:ext cx="1018" cy="464"/>
              <a:chOff x="1290" y="1684"/>
              <a:chExt cx="1152" cy="384"/>
            </a:xfrm>
          </p:grpSpPr>
          <p:sp>
            <p:nvSpPr>
              <p:cNvPr id="56391" name="Rectangle 26"/>
              <p:cNvSpPr>
                <a:spLocks noChangeArrowheads="1"/>
              </p:cNvSpPr>
              <p:nvPr/>
            </p:nvSpPr>
            <p:spPr bwMode="auto">
              <a:xfrm>
                <a:off x="1674" y="1684"/>
                <a:ext cx="384" cy="38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392" name="Line 27"/>
              <p:cNvSpPr>
                <a:spLocks noChangeShapeType="1"/>
              </p:cNvSpPr>
              <p:nvPr/>
            </p:nvSpPr>
            <p:spPr bwMode="auto">
              <a:xfrm flipV="1">
                <a:off x="1866" y="1876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6393" name="Group 28"/>
              <p:cNvGrpSpPr>
                <a:grpSpLocks/>
              </p:cNvGrpSpPr>
              <p:nvPr/>
            </p:nvGrpSpPr>
            <p:grpSpPr bwMode="auto">
              <a:xfrm>
                <a:off x="1290" y="1684"/>
                <a:ext cx="384" cy="384"/>
                <a:chOff x="1728" y="2880"/>
                <a:chExt cx="384" cy="384"/>
              </a:xfrm>
            </p:grpSpPr>
            <p:sp>
              <p:nvSpPr>
                <p:cNvPr id="56394" name="Rectangle 29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395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1764" y="2967"/>
                  <a:ext cx="325" cy="2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56364" name="Group 31"/>
            <p:cNvGrpSpPr>
              <a:grpSpLocks/>
            </p:cNvGrpSpPr>
            <p:nvPr/>
          </p:nvGrpSpPr>
          <p:grpSpPr bwMode="auto">
            <a:xfrm>
              <a:off x="1549" y="2704"/>
              <a:ext cx="1017" cy="464"/>
              <a:chOff x="1290" y="1684"/>
              <a:chExt cx="1152" cy="384"/>
            </a:xfrm>
          </p:grpSpPr>
          <p:sp>
            <p:nvSpPr>
              <p:cNvPr id="56386" name="Rectangle 32"/>
              <p:cNvSpPr>
                <a:spLocks noChangeArrowheads="1"/>
              </p:cNvSpPr>
              <p:nvPr/>
            </p:nvSpPr>
            <p:spPr bwMode="auto">
              <a:xfrm>
                <a:off x="1674" y="1684"/>
                <a:ext cx="384" cy="38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387" name="Line 33"/>
              <p:cNvSpPr>
                <a:spLocks noChangeShapeType="1"/>
              </p:cNvSpPr>
              <p:nvPr/>
            </p:nvSpPr>
            <p:spPr bwMode="auto">
              <a:xfrm flipV="1">
                <a:off x="1866" y="1876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6388" name="Group 34"/>
              <p:cNvGrpSpPr>
                <a:grpSpLocks/>
              </p:cNvGrpSpPr>
              <p:nvPr/>
            </p:nvGrpSpPr>
            <p:grpSpPr bwMode="auto">
              <a:xfrm>
                <a:off x="1290" y="1684"/>
                <a:ext cx="384" cy="384"/>
                <a:chOff x="1728" y="2880"/>
                <a:chExt cx="384" cy="384"/>
              </a:xfrm>
            </p:grpSpPr>
            <p:sp>
              <p:nvSpPr>
                <p:cNvPr id="56389" name="Rectangle 35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390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1764" y="2967"/>
                  <a:ext cx="325" cy="2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56365" name="Group 37"/>
            <p:cNvGrpSpPr>
              <a:grpSpLocks/>
            </p:cNvGrpSpPr>
            <p:nvPr/>
          </p:nvGrpSpPr>
          <p:grpSpPr bwMode="auto">
            <a:xfrm>
              <a:off x="2566" y="2704"/>
              <a:ext cx="1018" cy="464"/>
              <a:chOff x="1290" y="1684"/>
              <a:chExt cx="1152" cy="384"/>
            </a:xfrm>
          </p:grpSpPr>
          <p:sp>
            <p:nvSpPr>
              <p:cNvPr id="56381" name="Rectangle 38"/>
              <p:cNvSpPr>
                <a:spLocks noChangeArrowheads="1"/>
              </p:cNvSpPr>
              <p:nvPr/>
            </p:nvSpPr>
            <p:spPr bwMode="auto">
              <a:xfrm>
                <a:off x="1674" y="1684"/>
                <a:ext cx="384" cy="38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382" name="Line 39"/>
              <p:cNvSpPr>
                <a:spLocks noChangeShapeType="1"/>
              </p:cNvSpPr>
              <p:nvPr/>
            </p:nvSpPr>
            <p:spPr bwMode="auto">
              <a:xfrm flipV="1">
                <a:off x="1866" y="1876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6383" name="Group 40"/>
              <p:cNvGrpSpPr>
                <a:grpSpLocks/>
              </p:cNvGrpSpPr>
              <p:nvPr/>
            </p:nvGrpSpPr>
            <p:grpSpPr bwMode="auto">
              <a:xfrm>
                <a:off x="1290" y="1684"/>
                <a:ext cx="384" cy="384"/>
                <a:chOff x="1728" y="2880"/>
                <a:chExt cx="384" cy="384"/>
              </a:xfrm>
            </p:grpSpPr>
            <p:sp>
              <p:nvSpPr>
                <p:cNvPr id="56384" name="Rectangle 41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385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1763" y="2967"/>
                  <a:ext cx="325" cy="2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56366" name="Group 43"/>
            <p:cNvGrpSpPr>
              <a:grpSpLocks/>
            </p:cNvGrpSpPr>
            <p:nvPr/>
          </p:nvGrpSpPr>
          <p:grpSpPr bwMode="auto">
            <a:xfrm>
              <a:off x="3584" y="2704"/>
              <a:ext cx="1017" cy="464"/>
              <a:chOff x="1290" y="1684"/>
              <a:chExt cx="1152" cy="384"/>
            </a:xfrm>
          </p:grpSpPr>
          <p:sp>
            <p:nvSpPr>
              <p:cNvPr id="56376" name="Rectangle 44"/>
              <p:cNvSpPr>
                <a:spLocks noChangeArrowheads="1"/>
              </p:cNvSpPr>
              <p:nvPr/>
            </p:nvSpPr>
            <p:spPr bwMode="auto">
              <a:xfrm>
                <a:off x="1674" y="1684"/>
                <a:ext cx="384" cy="38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377" name="Line 45"/>
              <p:cNvSpPr>
                <a:spLocks noChangeShapeType="1"/>
              </p:cNvSpPr>
              <p:nvPr/>
            </p:nvSpPr>
            <p:spPr bwMode="auto">
              <a:xfrm flipV="1">
                <a:off x="1866" y="1876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6378" name="Group 46"/>
              <p:cNvGrpSpPr>
                <a:grpSpLocks/>
              </p:cNvGrpSpPr>
              <p:nvPr/>
            </p:nvGrpSpPr>
            <p:grpSpPr bwMode="auto">
              <a:xfrm>
                <a:off x="1290" y="1684"/>
                <a:ext cx="384" cy="384"/>
                <a:chOff x="1728" y="2880"/>
                <a:chExt cx="384" cy="384"/>
              </a:xfrm>
            </p:grpSpPr>
            <p:sp>
              <p:nvSpPr>
                <p:cNvPr id="56379" name="Rectangle 47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380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1764" y="2967"/>
                  <a:ext cx="325" cy="2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56367" name="Group 63"/>
            <p:cNvGrpSpPr>
              <a:grpSpLocks/>
            </p:cNvGrpSpPr>
            <p:nvPr/>
          </p:nvGrpSpPr>
          <p:grpSpPr bwMode="auto">
            <a:xfrm>
              <a:off x="4601" y="2704"/>
              <a:ext cx="679" cy="464"/>
              <a:chOff x="4454" y="3040"/>
              <a:chExt cx="679" cy="464"/>
            </a:xfrm>
          </p:grpSpPr>
          <p:sp>
            <p:nvSpPr>
              <p:cNvPr id="56372" name="Rectangle 50"/>
              <p:cNvSpPr>
                <a:spLocks noChangeArrowheads="1"/>
              </p:cNvSpPr>
              <p:nvPr/>
            </p:nvSpPr>
            <p:spPr bwMode="auto">
              <a:xfrm>
                <a:off x="4793" y="3040"/>
                <a:ext cx="340" cy="46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6373" name="Group 52"/>
              <p:cNvGrpSpPr>
                <a:grpSpLocks/>
              </p:cNvGrpSpPr>
              <p:nvPr/>
            </p:nvGrpSpPr>
            <p:grpSpPr bwMode="auto">
              <a:xfrm>
                <a:off x="4454" y="3040"/>
                <a:ext cx="339" cy="464"/>
                <a:chOff x="1728" y="2880"/>
                <a:chExt cx="384" cy="384"/>
              </a:xfrm>
            </p:grpSpPr>
            <p:sp>
              <p:nvSpPr>
                <p:cNvPr id="56374" name="Rectangle 53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375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1764" y="2967"/>
                  <a:ext cx="325" cy="2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56368" name="Group 104"/>
            <p:cNvGrpSpPr>
              <a:grpSpLocks/>
            </p:cNvGrpSpPr>
            <p:nvPr/>
          </p:nvGrpSpPr>
          <p:grpSpPr bwMode="auto">
            <a:xfrm>
              <a:off x="723" y="2475"/>
              <a:ext cx="4383" cy="453"/>
              <a:chOff x="723" y="2467"/>
              <a:chExt cx="4383" cy="453"/>
            </a:xfrm>
          </p:grpSpPr>
          <p:sp>
            <p:nvSpPr>
              <p:cNvPr id="56369" name="Line 60"/>
              <p:cNvSpPr>
                <a:spLocks noChangeShapeType="1"/>
              </p:cNvSpPr>
              <p:nvPr/>
            </p:nvSpPr>
            <p:spPr bwMode="auto">
              <a:xfrm flipV="1">
                <a:off x="5094" y="2480"/>
                <a:ext cx="2" cy="44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oval" w="med" len="med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370" name="Line 61"/>
              <p:cNvSpPr>
                <a:spLocks noChangeShapeType="1"/>
              </p:cNvSpPr>
              <p:nvPr/>
            </p:nvSpPr>
            <p:spPr bwMode="auto">
              <a:xfrm flipH="1">
                <a:off x="723" y="2475"/>
                <a:ext cx="4383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371" name="Line 62"/>
              <p:cNvSpPr>
                <a:spLocks noChangeShapeType="1"/>
              </p:cNvSpPr>
              <p:nvPr/>
            </p:nvSpPr>
            <p:spPr bwMode="auto">
              <a:xfrm>
                <a:off x="723" y="2467"/>
                <a:ext cx="0" cy="23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6325" name="Group 111"/>
          <p:cNvGrpSpPr>
            <a:grpSpLocks/>
          </p:cNvGrpSpPr>
          <p:nvPr/>
        </p:nvGrpSpPr>
        <p:grpSpPr bwMode="auto">
          <a:xfrm>
            <a:off x="289843" y="5359775"/>
            <a:ext cx="8564314" cy="1487844"/>
            <a:chOff x="116" y="3309"/>
            <a:chExt cx="5520" cy="1012"/>
          </a:xfrm>
        </p:grpSpPr>
        <p:grpSp>
          <p:nvGrpSpPr>
            <p:cNvPr id="56326" name="Group 67"/>
            <p:cNvGrpSpPr>
              <a:grpSpLocks/>
            </p:cNvGrpSpPr>
            <p:nvPr/>
          </p:nvGrpSpPr>
          <p:grpSpPr bwMode="auto">
            <a:xfrm>
              <a:off x="887" y="3550"/>
              <a:ext cx="1018" cy="464"/>
              <a:chOff x="1290" y="1684"/>
              <a:chExt cx="1152" cy="384"/>
            </a:xfrm>
          </p:grpSpPr>
          <p:sp>
            <p:nvSpPr>
              <p:cNvPr id="56358" name="Rectangle 68"/>
              <p:cNvSpPr>
                <a:spLocks noChangeArrowheads="1"/>
              </p:cNvSpPr>
              <p:nvPr/>
            </p:nvSpPr>
            <p:spPr bwMode="auto">
              <a:xfrm>
                <a:off x="1674" y="1684"/>
                <a:ext cx="384" cy="38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359" name="Line 69"/>
              <p:cNvSpPr>
                <a:spLocks noChangeShapeType="1"/>
              </p:cNvSpPr>
              <p:nvPr/>
            </p:nvSpPr>
            <p:spPr bwMode="auto">
              <a:xfrm flipV="1">
                <a:off x="1866" y="1876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6360" name="Group 70"/>
              <p:cNvGrpSpPr>
                <a:grpSpLocks/>
              </p:cNvGrpSpPr>
              <p:nvPr/>
            </p:nvGrpSpPr>
            <p:grpSpPr bwMode="auto">
              <a:xfrm>
                <a:off x="1290" y="1684"/>
                <a:ext cx="384" cy="384"/>
                <a:chOff x="1728" y="2880"/>
                <a:chExt cx="384" cy="384"/>
              </a:xfrm>
            </p:grpSpPr>
            <p:sp>
              <p:nvSpPr>
                <p:cNvPr id="56361" name="Rectangle 71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362" name="Text Box 72"/>
                <p:cNvSpPr txBox="1">
                  <a:spLocks noChangeArrowheads="1"/>
                </p:cNvSpPr>
                <p:nvPr/>
              </p:nvSpPr>
              <p:spPr bwMode="auto">
                <a:xfrm>
                  <a:off x="1764" y="2967"/>
                  <a:ext cx="325" cy="2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56327" name="Group 73"/>
            <p:cNvGrpSpPr>
              <a:grpSpLocks/>
            </p:cNvGrpSpPr>
            <p:nvPr/>
          </p:nvGrpSpPr>
          <p:grpSpPr bwMode="auto">
            <a:xfrm>
              <a:off x="1905" y="3550"/>
              <a:ext cx="1017" cy="464"/>
              <a:chOff x="1290" y="1684"/>
              <a:chExt cx="1152" cy="384"/>
            </a:xfrm>
          </p:grpSpPr>
          <p:sp>
            <p:nvSpPr>
              <p:cNvPr id="56353" name="Rectangle 74"/>
              <p:cNvSpPr>
                <a:spLocks noChangeArrowheads="1"/>
              </p:cNvSpPr>
              <p:nvPr/>
            </p:nvSpPr>
            <p:spPr bwMode="auto">
              <a:xfrm>
                <a:off x="1674" y="1684"/>
                <a:ext cx="384" cy="38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354" name="Line 75"/>
              <p:cNvSpPr>
                <a:spLocks noChangeShapeType="1"/>
              </p:cNvSpPr>
              <p:nvPr/>
            </p:nvSpPr>
            <p:spPr bwMode="auto">
              <a:xfrm flipV="1">
                <a:off x="1866" y="1876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6355" name="Group 76"/>
              <p:cNvGrpSpPr>
                <a:grpSpLocks/>
              </p:cNvGrpSpPr>
              <p:nvPr/>
            </p:nvGrpSpPr>
            <p:grpSpPr bwMode="auto">
              <a:xfrm>
                <a:off x="1290" y="1684"/>
                <a:ext cx="384" cy="384"/>
                <a:chOff x="1728" y="2880"/>
                <a:chExt cx="384" cy="384"/>
              </a:xfrm>
            </p:grpSpPr>
            <p:sp>
              <p:nvSpPr>
                <p:cNvPr id="56356" name="Rectangle 77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357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1764" y="2967"/>
                  <a:ext cx="325" cy="2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56328" name="Group 79"/>
            <p:cNvGrpSpPr>
              <a:grpSpLocks/>
            </p:cNvGrpSpPr>
            <p:nvPr/>
          </p:nvGrpSpPr>
          <p:grpSpPr bwMode="auto">
            <a:xfrm>
              <a:off x="2922" y="3550"/>
              <a:ext cx="1018" cy="464"/>
              <a:chOff x="1290" y="1684"/>
              <a:chExt cx="1152" cy="384"/>
            </a:xfrm>
          </p:grpSpPr>
          <p:sp>
            <p:nvSpPr>
              <p:cNvPr id="56348" name="Rectangle 80"/>
              <p:cNvSpPr>
                <a:spLocks noChangeArrowheads="1"/>
              </p:cNvSpPr>
              <p:nvPr/>
            </p:nvSpPr>
            <p:spPr bwMode="auto">
              <a:xfrm>
                <a:off x="1674" y="1684"/>
                <a:ext cx="384" cy="38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349" name="Line 81"/>
              <p:cNvSpPr>
                <a:spLocks noChangeShapeType="1"/>
              </p:cNvSpPr>
              <p:nvPr/>
            </p:nvSpPr>
            <p:spPr bwMode="auto">
              <a:xfrm flipV="1">
                <a:off x="1866" y="1876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6350" name="Group 82"/>
              <p:cNvGrpSpPr>
                <a:grpSpLocks/>
              </p:cNvGrpSpPr>
              <p:nvPr/>
            </p:nvGrpSpPr>
            <p:grpSpPr bwMode="auto">
              <a:xfrm>
                <a:off x="1290" y="1684"/>
                <a:ext cx="384" cy="384"/>
                <a:chOff x="1728" y="2880"/>
                <a:chExt cx="384" cy="384"/>
              </a:xfrm>
            </p:grpSpPr>
            <p:sp>
              <p:nvSpPr>
                <p:cNvPr id="56351" name="Rectangle 83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352" name="Text Box 84"/>
                <p:cNvSpPr txBox="1">
                  <a:spLocks noChangeArrowheads="1"/>
                </p:cNvSpPr>
                <p:nvPr/>
              </p:nvSpPr>
              <p:spPr bwMode="auto">
                <a:xfrm>
                  <a:off x="1763" y="2967"/>
                  <a:ext cx="325" cy="2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56329" name="Group 85"/>
            <p:cNvGrpSpPr>
              <a:grpSpLocks/>
            </p:cNvGrpSpPr>
            <p:nvPr/>
          </p:nvGrpSpPr>
          <p:grpSpPr bwMode="auto">
            <a:xfrm>
              <a:off x="3940" y="3550"/>
              <a:ext cx="1017" cy="464"/>
              <a:chOff x="1290" y="1684"/>
              <a:chExt cx="1152" cy="384"/>
            </a:xfrm>
          </p:grpSpPr>
          <p:sp>
            <p:nvSpPr>
              <p:cNvPr id="56343" name="Rectangle 86"/>
              <p:cNvSpPr>
                <a:spLocks noChangeArrowheads="1"/>
              </p:cNvSpPr>
              <p:nvPr/>
            </p:nvSpPr>
            <p:spPr bwMode="auto">
              <a:xfrm>
                <a:off x="1674" y="1684"/>
                <a:ext cx="384" cy="38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344" name="Line 87"/>
              <p:cNvSpPr>
                <a:spLocks noChangeShapeType="1"/>
              </p:cNvSpPr>
              <p:nvPr/>
            </p:nvSpPr>
            <p:spPr bwMode="auto">
              <a:xfrm flipV="1">
                <a:off x="1866" y="1876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6345" name="Group 88"/>
              <p:cNvGrpSpPr>
                <a:grpSpLocks/>
              </p:cNvGrpSpPr>
              <p:nvPr/>
            </p:nvGrpSpPr>
            <p:grpSpPr bwMode="auto">
              <a:xfrm>
                <a:off x="1290" y="1684"/>
                <a:ext cx="384" cy="384"/>
                <a:chOff x="1728" y="2880"/>
                <a:chExt cx="384" cy="384"/>
              </a:xfrm>
            </p:grpSpPr>
            <p:sp>
              <p:nvSpPr>
                <p:cNvPr id="56346" name="Rectangle 89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347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1764" y="2967"/>
                  <a:ext cx="325" cy="2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56330" name="Group 91"/>
            <p:cNvGrpSpPr>
              <a:grpSpLocks/>
            </p:cNvGrpSpPr>
            <p:nvPr/>
          </p:nvGrpSpPr>
          <p:grpSpPr bwMode="auto">
            <a:xfrm>
              <a:off x="4957" y="3550"/>
              <a:ext cx="679" cy="464"/>
              <a:chOff x="4454" y="3040"/>
              <a:chExt cx="679" cy="464"/>
            </a:xfrm>
          </p:grpSpPr>
          <p:sp>
            <p:nvSpPr>
              <p:cNvPr id="56339" name="Rectangle 92"/>
              <p:cNvSpPr>
                <a:spLocks noChangeArrowheads="1"/>
              </p:cNvSpPr>
              <p:nvPr/>
            </p:nvSpPr>
            <p:spPr bwMode="auto">
              <a:xfrm>
                <a:off x="4793" y="3040"/>
                <a:ext cx="340" cy="46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6340" name="Group 93"/>
              <p:cNvGrpSpPr>
                <a:grpSpLocks/>
              </p:cNvGrpSpPr>
              <p:nvPr/>
            </p:nvGrpSpPr>
            <p:grpSpPr bwMode="auto">
              <a:xfrm>
                <a:off x="4454" y="3040"/>
                <a:ext cx="339" cy="464"/>
                <a:chOff x="1728" y="2880"/>
                <a:chExt cx="384" cy="384"/>
              </a:xfrm>
            </p:grpSpPr>
            <p:sp>
              <p:nvSpPr>
                <p:cNvPr id="56341" name="Rectangle 94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342" name="Text Box 95"/>
                <p:cNvSpPr txBox="1">
                  <a:spLocks noChangeArrowheads="1"/>
                </p:cNvSpPr>
                <p:nvPr/>
              </p:nvSpPr>
              <p:spPr bwMode="auto">
                <a:xfrm>
                  <a:off x="1764" y="2967"/>
                  <a:ext cx="325" cy="2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56331" name="Group 100"/>
            <p:cNvGrpSpPr>
              <a:grpSpLocks/>
            </p:cNvGrpSpPr>
            <p:nvPr/>
          </p:nvGrpSpPr>
          <p:grpSpPr bwMode="auto">
            <a:xfrm>
              <a:off x="116" y="3549"/>
              <a:ext cx="769" cy="772"/>
              <a:chOff x="917" y="2098"/>
              <a:chExt cx="811" cy="647"/>
            </a:xfrm>
          </p:grpSpPr>
          <p:sp>
            <p:nvSpPr>
              <p:cNvPr id="56336" name="Rectangle 101"/>
              <p:cNvSpPr>
                <a:spLocks noChangeArrowheads="1"/>
              </p:cNvSpPr>
              <p:nvPr/>
            </p:nvSpPr>
            <p:spPr bwMode="auto">
              <a:xfrm>
                <a:off x="960" y="2098"/>
                <a:ext cx="384" cy="38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337" name="Line 102"/>
              <p:cNvSpPr>
                <a:spLocks noChangeShapeType="1"/>
              </p:cNvSpPr>
              <p:nvPr/>
            </p:nvSpPr>
            <p:spPr bwMode="auto">
              <a:xfrm flipV="1">
                <a:off x="1152" y="2294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338" name="Text Box 103"/>
              <p:cNvSpPr txBox="1">
                <a:spLocks noChangeArrowheads="1"/>
              </p:cNvSpPr>
              <p:nvPr/>
            </p:nvSpPr>
            <p:spPr bwMode="auto">
              <a:xfrm>
                <a:off x="917" y="2534"/>
                <a:ext cx="483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rtl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ar-SA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Head</a:t>
                </a:r>
              </a:p>
            </p:txBody>
          </p:sp>
        </p:grpSp>
        <p:grpSp>
          <p:nvGrpSpPr>
            <p:cNvPr id="56332" name="Group 105"/>
            <p:cNvGrpSpPr>
              <a:grpSpLocks/>
            </p:cNvGrpSpPr>
            <p:nvPr/>
          </p:nvGrpSpPr>
          <p:grpSpPr bwMode="auto">
            <a:xfrm>
              <a:off x="1056" y="3309"/>
              <a:ext cx="4388" cy="454"/>
              <a:chOff x="1341" y="2466"/>
              <a:chExt cx="3765" cy="454"/>
            </a:xfrm>
          </p:grpSpPr>
          <p:sp>
            <p:nvSpPr>
              <p:cNvPr id="56333" name="Line 106"/>
              <p:cNvSpPr>
                <a:spLocks noChangeShapeType="1"/>
              </p:cNvSpPr>
              <p:nvPr/>
            </p:nvSpPr>
            <p:spPr bwMode="auto">
              <a:xfrm flipV="1">
                <a:off x="5094" y="2480"/>
                <a:ext cx="2" cy="44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oval" w="med" len="med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334" name="Line 107"/>
              <p:cNvSpPr>
                <a:spLocks noChangeShapeType="1"/>
              </p:cNvSpPr>
              <p:nvPr/>
            </p:nvSpPr>
            <p:spPr bwMode="auto">
              <a:xfrm flipH="1">
                <a:off x="1341" y="2475"/>
                <a:ext cx="3765" cy="1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335" name="Line 108"/>
              <p:cNvSpPr>
                <a:spLocks noChangeShapeType="1"/>
              </p:cNvSpPr>
              <p:nvPr/>
            </p:nvSpPr>
            <p:spPr bwMode="auto">
              <a:xfrm>
                <a:off x="1341" y="2466"/>
                <a:ext cx="0" cy="23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19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6096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1628800"/>
            <a:ext cx="8839200" cy="5076800"/>
          </a:xfrm>
        </p:spPr>
        <p:txBody>
          <a:bodyPr/>
          <a:lstStyle/>
          <a:p>
            <a:pPr algn="l" rtl="0"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double linked list, the first node’s previous pointer points to the last node.</a:t>
            </a:r>
          </a:p>
          <a:p>
            <a:pPr algn="l" rtl="0"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the last node’s next pointer points to the first node.</a:t>
            </a:r>
          </a:p>
          <a:p>
            <a:pPr lvl="1" algn="l" rtl="0" eaLnBrk="1" hangingPunct="1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7348" name="Group 195"/>
          <p:cNvGrpSpPr>
            <a:grpSpLocks/>
          </p:cNvGrpSpPr>
          <p:nvPr/>
        </p:nvGrpSpPr>
        <p:grpSpPr bwMode="auto">
          <a:xfrm>
            <a:off x="1089025" y="4149725"/>
            <a:ext cx="7234238" cy="1489075"/>
            <a:chOff x="686" y="2475"/>
            <a:chExt cx="4557" cy="938"/>
          </a:xfrm>
        </p:grpSpPr>
        <p:grpSp>
          <p:nvGrpSpPr>
            <p:cNvPr id="57349" name="Group 185"/>
            <p:cNvGrpSpPr>
              <a:grpSpLocks/>
            </p:cNvGrpSpPr>
            <p:nvPr/>
          </p:nvGrpSpPr>
          <p:grpSpPr bwMode="auto">
            <a:xfrm>
              <a:off x="686" y="2704"/>
              <a:ext cx="956" cy="464"/>
              <a:chOff x="686" y="2704"/>
              <a:chExt cx="956" cy="464"/>
            </a:xfrm>
          </p:grpSpPr>
          <p:sp>
            <p:nvSpPr>
              <p:cNvPr id="57390" name="Rectangle 137"/>
              <p:cNvSpPr>
                <a:spLocks noChangeArrowheads="1"/>
              </p:cNvSpPr>
              <p:nvPr/>
            </p:nvSpPr>
            <p:spPr bwMode="auto">
              <a:xfrm>
                <a:off x="1165" y="2704"/>
                <a:ext cx="238" cy="46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91" name="Line 138"/>
              <p:cNvSpPr>
                <a:spLocks noChangeShapeType="1"/>
              </p:cNvSpPr>
              <p:nvPr/>
            </p:nvSpPr>
            <p:spPr bwMode="auto">
              <a:xfrm flipV="1">
                <a:off x="1284" y="2896"/>
                <a:ext cx="35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7392" name="Group 139"/>
              <p:cNvGrpSpPr>
                <a:grpSpLocks/>
              </p:cNvGrpSpPr>
              <p:nvPr/>
            </p:nvGrpSpPr>
            <p:grpSpPr bwMode="auto">
              <a:xfrm>
                <a:off x="907" y="2704"/>
                <a:ext cx="287" cy="464"/>
                <a:chOff x="1698" y="2880"/>
                <a:chExt cx="461" cy="384"/>
              </a:xfrm>
            </p:grpSpPr>
            <p:sp>
              <p:nvSpPr>
                <p:cNvPr id="57394" name="Rectangle 140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395" name="Text Box 141"/>
                <p:cNvSpPr txBox="1">
                  <a:spLocks noChangeArrowheads="1"/>
                </p:cNvSpPr>
                <p:nvPr/>
              </p:nvSpPr>
              <p:spPr bwMode="auto">
                <a:xfrm>
                  <a:off x="1698" y="2967"/>
                  <a:ext cx="461" cy="2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7393" name="Rectangle 142"/>
              <p:cNvSpPr>
                <a:spLocks noChangeArrowheads="1"/>
              </p:cNvSpPr>
              <p:nvPr/>
            </p:nvSpPr>
            <p:spPr bwMode="auto">
              <a:xfrm>
                <a:off x="686" y="2704"/>
                <a:ext cx="238" cy="46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7350" name="Group 144"/>
            <p:cNvGrpSpPr>
              <a:grpSpLocks/>
            </p:cNvGrpSpPr>
            <p:nvPr/>
          </p:nvGrpSpPr>
          <p:grpSpPr bwMode="auto">
            <a:xfrm>
              <a:off x="1406" y="2704"/>
              <a:ext cx="1194" cy="464"/>
              <a:chOff x="336" y="2976"/>
              <a:chExt cx="1194" cy="464"/>
            </a:xfrm>
          </p:grpSpPr>
          <p:sp>
            <p:nvSpPr>
              <p:cNvPr id="57383" name="Rectangle 145"/>
              <p:cNvSpPr>
                <a:spLocks noChangeArrowheads="1"/>
              </p:cNvSpPr>
              <p:nvPr/>
            </p:nvSpPr>
            <p:spPr bwMode="auto">
              <a:xfrm>
                <a:off x="1053" y="2976"/>
                <a:ext cx="238" cy="46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84" name="Line 146"/>
              <p:cNvSpPr>
                <a:spLocks noChangeShapeType="1"/>
              </p:cNvSpPr>
              <p:nvPr/>
            </p:nvSpPr>
            <p:spPr bwMode="auto">
              <a:xfrm flipV="1">
                <a:off x="1172" y="3168"/>
                <a:ext cx="35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7385" name="Group 147"/>
              <p:cNvGrpSpPr>
                <a:grpSpLocks/>
              </p:cNvGrpSpPr>
              <p:nvPr/>
            </p:nvGrpSpPr>
            <p:grpSpPr bwMode="auto">
              <a:xfrm>
                <a:off x="795" y="2976"/>
                <a:ext cx="287" cy="464"/>
                <a:chOff x="1698" y="2880"/>
                <a:chExt cx="461" cy="384"/>
              </a:xfrm>
            </p:grpSpPr>
            <p:sp>
              <p:nvSpPr>
                <p:cNvPr id="57388" name="Rectangle 148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389" name="Text Box 149"/>
                <p:cNvSpPr txBox="1">
                  <a:spLocks noChangeArrowheads="1"/>
                </p:cNvSpPr>
                <p:nvPr/>
              </p:nvSpPr>
              <p:spPr bwMode="auto">
                <a:xfrm>
                  <a:off x="1698" y="2967"/>
                  <a:ext cx="461" cy="2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7386" name="Rectangle 150"/>
              <p:cNvSpPr>
                <a:spLocks noChangeArrowheads="1"/>
              </p:cNvSpPr>
              <p:nvPr/>
            </p:nvSpPr>
            <p:spPr bwMode="auto">
              <a:xfrm>
                <a:off x="574" y="2976"/>
                <a:ext cx="238" cy="46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87" name="Line 151"/>
              <p:cNvSpPr>
                <a:spLocks noChangeShapeType="1"/>
              </p:cNvSpPr>
              <p:nvPr/>
            </p:nvSpPr>
            <p:spPr bwMode="auto">
              <a:xfrm flipH="1" flipV="1">
                <a:off x="336" y="3264"/>
                <a:ext cx="35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7351" name="Group 152"/>
            <p:cNvGrpSpPr>
              <a:grpSpLocks/>
            </p:cNvGrpSpPr>
            <p:nvPr/>
          </p:nvGrpSpPr>
          <p:grpSpPr bwMode="auto">
            <a:xfrm>
              <a:off x="2366" y="2704"/>
              <a:ext cx="1194" cy="464"/>
              <a:chOff x="336" y="2976"/>
              <a:chExt cx="1194" cy="464"/>
            </a:xfrm>
          </p:grpSpPr>
          <p:sp>
            <p:nvSpPr>
              <p:cNvPr id="57376" name="Rectangle 153"/>
              <p:cNvSpPr>
                <a:spLocks noChangeArrowheads="1"/>
              </p:cNvSpPr>
              <p:nvPr/>
            </p:nvSpPr>
            <p:spPr bwMode="auto">
              <a:xfrm>
                <a:off x="1053" y="2976"/>
                <a:ext cx="238" cy="46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77" name="Line 154"/>
              <p:cNvSpPr>
                <a:spLocks noChangeShapeType="1"/>
              </p:cNvSpPr>
              <p:nvPr/>
            </p:nvSpPr>
            <p:spPr bwMode="auto">
              <a:xfrm flipV="1">
                <a:off x="1172" y="3168"/>
                <a:ext cx="35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7378" name="Group 155"/>
              <p:cNvGrpSpPr>
                <a:grpSpLocks/>
              </p:cNvGrpSpPr>
              <p:nvPr/>
            </p:nvGrpSpPr>
            <p:grpSpPr bwMode="auto">
              <a:xfrm>
                <a:off x="795" y="2976"/>
                <a:ext cx="287" cy="464"/>
                <a:chOff x="1698" y="2880"/>
                <a:chExt cx="461" cy="384"/>
              </a:xfrm>
            </p:grpSpPr>
            <p:sp>
              <p:nvSpPr>
                <p:cNvPr id="57381" name="Rectangle 156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382" name="Text Box 157"/>
                <p:cNvSpPr txBox="1">
                  <a:spLocks noChangeArrowheads="1"/>
                </p:cNvSpPr>
                <p:nvPr/>
              </p:nvSpPr>
              <p:spPr bwMode="auto">
                <a:xfrm>
                  <a:off x="1698" y="2967"/>
                  <a:ext cx="461" cy="2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7379" name="Rectangle 158"/>
              <p:cNvSpPr>
                <a:spLocks noChangeArrowheads="1"/>
              </p:cNvSpPr>
              <p:nvPr/>
            </p:nvSpPr>
            <p:spPr bwMode="auto">
              <a:xfrm>
                <a:off x="574" y="2976"/>
                <a:ext cx="238" cy="46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80" name="Line 159"/>
              <p:cNvSpPr>
                <a:spLocks noChangeShapeType="1"/>
              </p:cNvSpPr>
              <p:nvPr/>
            </p:nvSpPr>
            <p:spPr bwMode="auto">
              <a:xfrm flipH="1" flipV="1">
                <a:off x="336" y="3264"/>
                <a:ext cx="35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7352" name="Group 160"/>
            <p:cNvGrpSpPr>
              <a:grpSpLocks/>
            </p:cNvGrpSpPr>
            <p:nvPr/>
          </p:nvGrpSpPr>
          <p:grpSpPr bwMode="auto">
            <a:xfrm>
              <a:off x="3326" y="2704"/>
              <a:ext cx="1194" cy="464"/>
              <a:chOff x="336" y="2976"/>
              <a:chExt cx="1194" cy="464"/>
            </a:xfrm>
          </p:grpSpPr>
          <p:sp>
            <p:nvSpPr>
              <p:cNvPr id="57369" name="Rectangle 161"/>
              <p:cNvSpPr>
                <a:spLocks noChangeArrowheads="1"/>
              </p:cNvSpPr>
              <p:nvPr/>
            </p:nvSpPr>
            <p:spPr bwMode="auto">
              <a:xfrm>
                <a:off x="1053" y="2976"/>
                <a:ext cx="238" cy="46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70" name="Line 162"/>
              <p:cNvSpPr>
                <a:spLocks noChangeShapeType="1"/>
              </p:cNvSpPr>
              <p:nvPr/>
            </p:nvSpPr>
            <p:spPr bwMode="auto">
              <a:xfrm flipV="1">
                <a:off x="1172" y="3168"/>
                <a:ext cx="35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7371" name="Group 163"/>
              <p:cNvGrpSpPr>
                <a:grpSpLocks/>
              </p:cNvGrpSpPr>
              <p:nvPr/>
            </p:nvGrpSpPr>
            <p:grpSpPr bwMode="auto">
              <a:xfrm>
                <a:off x="795" y="2976"/>
                <a:ext cx="287" cy="464"/>
                <a:chOff x="1698" y="2880"/>
                <a:chExt cx="461" cy="384"/>
              </a:xfrm>
            </p:grpSpPr>
            <p:sp>
              <p:nvSpPr>
                <p:cNvPr id="57374" name="Rectangle 164"/>
                <p:cNvSpPr>
                  <a:spLocks noChangeArrowheads="1"/>
                </p:cNvSpPr>
                <p:nvPr/>
              </p:nvSpPr>
              <p:spPr bwMode="auto">
                <a:xfrm>
                  <a:off x="1728" y="2880"/>
                  <a:ext cx="384" cy="3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375" name="Text Box 165"/>
                <p:cNvSpPr txBox="1">
                  <a:spLocks noChangeArrowheads="1"/>
                </p:cNvSpPr>
                <p:nvPr/>
              </p:nvSpPr>
              <p:spPr bwMode="auto">
                <a:xfrm>
                  <a:off x="1698" y="2967"/>
                  <a:ext cx="461" cy="2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ctr" rtl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ar-SA" sz="2000" baseline="-25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  <a:endParaRPr lang="en-US" altLang="ar-SA" sz="20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7372" name="Rectangle 166"/>
              <p:cNvSpPr>
                <a:spLocks noChangeArrowheads="1"/>
              </p:cNvSpPr>
              <p:nvPr/>
            </p:nvSpPr>
            <p:spPr bwMode="auto">
              <a:xfrm>
                <a:off x="574" y="2976"/>
                <a:ext cx="238" cy="46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Ø"/>
                  <a:defRPr sz="32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ar-SA" altLang="ar-SA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73" name="Line 167"/>
              <p:cNvSpPr>
                <a:spLocks noChangeShapeType="1"/>
              </p:cNvSpPr>
              <p:nvPr/>
            </p:nvSpPr>
            <p:spPr bwMode="auto">
              <a:xfrm flipH="1" flipV="1">
                <a:off x="336" y="3264"/>
                <a:ext cx="35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7353" name="Group 186"/>
            <p:cNvGrpSpPr>
              <a:grpSpLocks/>
            </p:cNvGrpSpPr>
            <p:nvPr/>
          </p:nvGrpSpPr>
          <p:grpSpPr bwMode="auto">
            <a:xfrm>
              <a:off x="4288" y="2704"/>
              <a:ext cx="955" cy="464"/>
              <a:chOff x="4288" y="2704"/>
              <a:chExt cx="955" cy="464"/>
            </a:xfrm>
          </p:grpSpPr>
          <p:grpSp>
            <p:nvGrpSpPr>
              <p:cNvPr id="57362" name="Group 184"/>
              <p:cNvGrpSpPr>
                <a:grpSpLocks/>
              </p:cNvGrpSpPr>
              <p:nvPr/>
            </p:nvGrpSpPr>
            <p:grpSpPr bwMode="auto">
              <a:xfrm>
                <a:off x="4526" y="2704"/>
                <a:ext cx="717" cy="464"/>
                <a:chOff x="4526" y="2704"/>
                <a:chExt cx="717" cy="464"/>
              </a:xfrm>
            </p:grpSpPr>
            <p:sp>
              <p:nvSpPr>
                <p:cNvPr id="57364" name="Rectangle 169"/>
                <p:cNvSpPr>
                  <a:spLocks noChangeArrowheads="1"/>
                </p:cNvSpPr>
                <p:nvPr/>
              </p:nvSpPr>
              <p:spPr bwMode="auto">
                <a:xfrm>
                  <a:off x="5005" y="2704"/>
                  <a:ext cx="238" cy="464"/>
                </a:xfrm>
                <a:prstGeom prst="rect">
                  <a:avLst/>
                </a:prstGeom>
                <a:solidFill>
                  <a:schemeClr val="accent1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57365" name="Group 171"/>
                <p:cNvGrpSpPr>
                  <a:grpSpLocks/>
                </p:cNvGrpSpPr>
                <p:nvPr/>
              </p:nvGrpSpPr>
              <p:grpSpPr bwMode="auto">
                <a:xfrm>
                  <a:off x="4747" y="2704"/>
                  <a:ext cx="287" cy="464"/>
                  <a:chOff x="1698" y="2880"/>
                  <a:chExt cx="461" cy="384"/>
                </a:xfrm>
              </p:grpSpPr>
              <p:sp>
                <p:nvSpPr>
                  <p:cNvPr id="57367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1728" y="2880"/>
                    <a:ext cx="384" cy="384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285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Ø"/>
                      <a:defRPr sz="32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SzPct val="5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ar-SA" altLang="ar-SA" sz="18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7368" name="Text Box 17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98" y="2967"/>
                    <a:ext cx="461" cy="20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Ø"/>
                      <a:defRPr sz="32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SzPct val="50000"/>
                      <a:buFont typeface="Wingding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9pPr>
                  </a:lstStyle>
                  <a:p>
                    <a:pPr algn="ctr" rtl="0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ar-SA" sz="200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</a:t>
                    </a:r>
                    <a:r>
                      <a:rPr lang="en-US" altLang="ar-SA" sz="2000" baseline="-2500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</a:t>
                    </a:r>
                    <a:endParaRPr lang="en-US" altLang="ar-SA" sz="20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7366" name="Rectangle 174"/>
                <p:cNvSpPr>
                  <a:spLocks noChangeArrowheads="1"/>
                </p:cNvSpPr>
                <p:nvPr/>
              </p:nvSpPr>
              <p:spPr bwMode="auto">
                <a:xfrm>
                  <a:off x="4526" y="2704"/>
                  <a:ext cx="238" cy="464"/>
                </a:xfrm>
                <a:prstGeom prst="rect">
                  <a:avLst/>
                </a:prstGeom>
                <a:solidFill>
                  <a:schemeClr val="accent1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Ø"/>
                    <a:defRPr sz="32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ar-SA" altLang="ar-SA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7363" name="Line 175"/>
              <p:cNvSpPr>
                <a:spLocks noChangeShapeType="1"/>
              </p:cNvSpPr>
              <p:nvPr/>
            </p:nvSpPr>
            <p:spPr bwMode="auto">
              <a:xfrm flipH="1" flipV="1">
                <a:off x="4288" y="2992"/>
                <a:ext cx="35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7354" name="Group 187"/>
            <p:cNvGrpSpPr>
              <a:grpSpLocks/>
            </p:cNvGrpSpPr>
            <p:nvPr/>
          </p:nvGrpSpPr>
          <p:grpSpPr bwMode="auto">
            <a:xfrm>
              <a:off x="753" y="2475"/>
              <a:ext cx="4383" cy="453"/>
              <a:chOff x="723" y="2467"/>
              <a:chExt cx="4383" cy="453"/>
            </a:xfrm>
          </p:grpSpPr>
          <p:sp>
            <p:nvSpPr>
              <p:cNvPr id="57359" name="Line 188"/>
              <p:cNvSpPr>
                <a:spLocks noChangeShapeType="1"/>
              </p:cNvSpPr>
              <p:nvPr/>
            </p:nvSpPr>
            <p:spPr bwMode="auto">
              <a:xfrm flipV="1">
                <a:off x="5094" y="2480"/>
                <a:ext cx="2" cy="44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oval" w="med" len="med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60" name="Line 189"/>
              <p:cNvSpPr>
                <a:spLocks noChangeShapeType="1"/>
              </p:cNvSpPr>
              <p:nvPr/>
            </p:nvSpPr>
            <p:spPr bwMode="auto">
              <a:xfrm flipH="1">
                <a:off x="723" y="2475"/>
                <a:ext cx="4383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61" name="Line 190"/>
              <p:cNvSpPr>
                <a:spLocks noChangeShapeType="1"/>
              </p:cNvSpPr>
              <p:nvPr/>
            </p:nvSpPr>
            <p:spPr bwMode="auto">
              <a:xfrm>
                <a:off x="723" y="2467"/>
                <a:ext cx="0" cy="23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7355" name="Group 191"/>
            <p:cNvGrpSpPr>
              <a:grpSpLocks/>
            </p:cNvGrpSpPr>
            <p:nvPr/>
          </p:nvGrpSpPr>
          <p:grpSpPr bwMode="auto">
            <a:xfrm flipH="1" flipV="1">
              <a:off x="763" y="2960"/>
              <a:ext cx="4383" cy="453"/>
              <a:chOff x="723" y="2467"/>
              <a:chExt cx="4383" cy="453"/>
            </a:xfrm>
          </p:grpSpPr>
          <p:sp>
            <p:nvSpPr>
              <p:cNvPr id="57356" name="Line 192"/>
              <p:cNvSpPr>
                <a:spLocks noChangeShapeType="1"/>
              </p:cNvSpPr>
              <p:nvPr/>
            </p:nvSpPr>
            <p:spPr bwMode="auto">
              <a:xfrm flipV="1">
                <a:off x="5094" y="2480"/>
                <a:ext cx="2" cy="44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oval" w="med" len="med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57" name="Line 193"/>
              <p:cNvSpPr>
                <a:spLocks noChangeShapeType="1"/>
              </p:cNvSpPr>
              <p:nvPr/>
            </p:nvSpPr>
            <p:spPr bwMode="auto">
              <a:xfrm flipH="1">
                <a:off x="723" y="2475"/>
                <a:ext cx="4383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58" name="Line 194"/>
              <p:cNvSpPr>
                <a:spLocks noChangeShapeType="1"/>
              </p:cNvSpPr>
              <p:nvPr/>
            </p:nvSpPr>
            <p:spPr bwMode="auto">
              <a:xfrm>
                <a:off x="723" y="2467"/>
                <a:ext cx="0" cy="23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S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52" name="Rectangle 23"/>
          <p:cNvSpPr>
            <a:spLocks noChangeArrowheads="1"/>
          </p:cNvSpPr>
          <p:nvPr/>
        </p:nvSpPr>
        <p:spPr bwMode="auto">
          <a:xfrm>
            <a:off x="0" y="420340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ar-SA" sz="28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List ADT: </a:t>
            </a:r>
            <a:r>
              <a:rPr lang="en-US" altLang="ar-SA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Circular Doubly Linked Lists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20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3019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fr-FR" altLang="fr-F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Stack ADT</a:t>
            </a:r>
            <a:endParaRPr lang="fr-FR" altLang="fr-F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725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556792"/>
            <a:ext cx="8839200" cy="5148808"/>
          </a:xfrm>
        </p:spPr>
        <p:txBody>
          <a:bodyPr>
            <a:normAutofit/>
          </a:bodyPr>
          <a:lstStyle/>
          <a:p>
            <a:pPr algn="l" rtl="0" eaLnBrk="1" hangingPunct="1"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stack is a list with the restriction that insertions and deletions can only be performed in only one position</a:t>
            </a:r>
          </a:p>
          <a:p>
            <a:pPr lvl="1" algn="l" rtl="0" eaLnBrk="1" hangingPunct="1"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position is called the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list</a:t>
            </a:r>
          </a:p>
          <a:p>
            <a:pPr lvl="1" algn="l" rtl="0" eaLnBrk="1" hangingPunct="1"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other end is called the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bottom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list</a:t>
            </a:r>
          </a:p>
          <a:p>
            <a:pPr algn="l" rtl="0" eaLnBrk="1" hangingPunct="1"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 operations:</a:t>
            </a:r>
          </a:p>
          <a:p>
            <a:pPr lvl="1" algn="l" rtl="0" eaLnBrk="1" hangingPunct="1">
              <a:defRPr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Equivalent to an insert</a:t>
            </a:r>
          </a:p>
          <a:p>
            <a:pPr lvl="1" algn="l" rtl="0" eaLnBrk="1" hangingPunct="1">
              <a:defRPr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Deletes the most recently inserted element</a:t>
            </a:r>
          </a:p>
          <a:p>
            <a:pPr lvl="1" algn="l" rtl="0" eaLnBrk="1" hangingPunct="1">
              <a:defRPr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Examines the most recently inserted element</a:t>
            </a:r>
          </a:p>
        </p:txBody>
      </p:sp>
      <p:graphicFrame>
        <p:nvGraphicFramePr>
          <p:cNvPr id="58371" name="Object 12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71802921"/>
              </p:ext>
            </p:extLst>
          </p:nvPr>
        </p:nvGraphicFramePr>
        <p:xfrm>
          <a:off x="1187450" y="5040313"/>
          <a:ext cx="2017713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صورة نقطية" r:id="rId3" imgW="2266667" imgH="1961905" progId="Paint.Picture">
                  <p:embed/>
                </p:oleObj>
              </mc:Choice>
              <mc:Fallback>
                <p:oleObj name="صورة نقطية" r:id="rId3" imgW="2266667" imgH="196190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040313"/>
                        <a:ext cx="2017713" cy="174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3" name="Object 21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362157514"/>
              </p:ext>
            </p:extLst>
          </p:nvPr>
        </p:nvGraphicFramePr>
        <p:xfrm>
          <a:off x="3727450" y="5373688"/>
          <a:ext cx="465772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صورة نقطية" r:id="rId5" imgW="4476190" imgH="942857" progId="Paint.Picture">
                  <p:embed/>
                </p:oleObj>
              </mc:Choice>
              <mc:Fallback>
                <p:oleObj name="صورة نقطية" r:id="rId5" imgW="4476190" imgH="942857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7450" y="5373688"/>
                        <a:ext cx="4657725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1175" name="Rectangle 7"/>
          <p:cNvSpPr>
            <a:spLocks noChangeArrowheads="1"/>
          </p:cNvSpPr>
          <p:nvPr/>
        </p:nvSpPr>
        <p:spPr bwMode="auto">
          <a:xfrm>
            <a:off x="228600" y="420340"/>
            <a:ext cx="8610600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 rtl="0">
              <a:defRPr/>
            </a:pPr>
            <a:r>
              <a:rPr lang="en-US" sz="4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Stack ADT: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Model</a:t>
            </a:r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(-Lists, Stacks, and Queues-)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6DB842-C13A-458E-8DE3-24D06605D1FD}" type="slidenum">
              <a:rPr lang="ar-SA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2282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556792"/>
            <a:ext cx="8839200" cy="5148808"/>
          </a:xfrm>
        </p:spPr>
        <p:txBody>
          <a:bodyPr/>
          <a:lstStyle/>
          <a:p>
            <a:pPr algn="l" rtl="0" eaLnBrk="1" hangingPunct="1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Stacks are less flexible, but are more efficient and easy to implement</a:t>
            </a:r>
            <a:endParaRPr lang="en-US" sz="2800" i="1" dirty="0">
              <a:solidFill>
                <a:schemeClr val="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Stacks are known as 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LIFO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(Last In First Out) lists. The last element inserted will be the first to be retrieved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85800" y="3687415"/>
            <a:ext cx="7957690" cy="2586782"/>
            <a:chOff x="685800" y="3687415"/>
            <a:chExt cx="7957690" cy="2586782"/>
          </a:xfrm>
        </p:grpSpPr>
        <p:sp>
          <p:nvSpPr>
            <p:cNvPr id="59396" name="Text Box 7"/>
            <p:cNvSpPr txBox="1">
              <a:spLocks noChangeArrowheads="1"/>
            </p:cNvSpPr>
            <p:nvPr/>
          </p:nvSpPr>
          <p:spPr bwMode="auto">
            <a:xfrm>
              <a:off x="685800" y="5433119"/>
              <a:ext cx="946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TW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          </a:t>
              </a:r>
            </a:p>
          </p:txBody>
        </p:sp>
        <p:sp>
          <p:nvSpPr>
            <p:cNvPr id="59397" name="Rectangle 8"/>
            <p:cNvSpPr>
              <a:spLocks noChangeArrowheads="1"/>
            </p:cNvSpPr>
            <p:nvPr/>
          </p:nvSpPr>
          <p:spPr bwMode="auto">
            <a:xfrm>
              <a:off x="989013" y="4328219"/>
              <a:ext cx="457200" cy="1905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ar-SA" altLang="ar-SA"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398" name="Rectangle 9"/>
            <p:cNvSpPr>
              <a:spLocks noChangeArrowheads="1"/>
            </p:cNvSpPr>
            <p:nvPr/>
          </p:nvSpPr>
          <p:spPr bwMode="auto">
            <a:xfrm>
              <a:off x="2378075" y="4325044"/>
              <a:ext cx="457200" cy="1905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TW" altLang="zh-TW" sz="2400">
                <a:latin typeface="Times New Roman" pitchFamily="18" charset="0"/>
                <a:ea typeface="PMingLiU" pitchFamily="18" charset="-120"/>
                <a:cs typeface="Times New Roman" panose="02020603050405020304" pitchFamily="18" charset="0"/>
              </a:endParaRPr>
            </a:p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TW" altLang="zh-TW" sz="2400">
                <a:latin typeface="Times New Roman" pitchFamily="18" charset="0"/>
                <a:ea typeface="PMingLiU" pitchFamily="18" charset="-120"/>
                <a:cs typeface="Times New Roman" panose="02020603050405020304" pitchFamily="18" charset="0"/>
              </a:endParaRPr>
            </a:p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TW" altLang="zh-TW" sz="2400">
                <a:latin typeface="Times New Roman" pitchFamily="18" charset="0"/>
                <a:ea typeface="PMingLiU" pitchFamily="18" charset="-120"/>
                <a:cs typeface="Times New Roman" panose="02020603050405020304" pitchFamily="18" charset="0"/>
              </a:endParaRPr>
            </a:p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B</a:t>
              </a:r>
            </a:p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9399" name="Rectangle 10"/>
            <p:cNvSpPr>
              <a:spLocks noChangeArrowheads="1"/>
            </p:cNvSpPr>
            <p:nvPr/>
          </p:nvSpPr>
          <p:spPr bwMode="auto">
            <a:xfrm>
              <a:off x="4892675" y="4325044"/>
              <a:ext cx="457200" cy="1905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TW" altLang="zh-TW" sz="240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endParaRPr>
            </a:p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D</a:t>
              </a:r>
            </a:p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C</a:t>
              </a:r>
            </a:p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B</a:t>
              </a:r>
            </a:p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9400" name="Rectangle 11"/>
            <p:cNvSpPr>
              <a:spLocks noChangeArrowheads="1"/>
            </p:cNvSpPr>
            <p:nvPr/>
          </p:nvSpPr>
          <p:spPr bwMode="auto">
            <a:xfrm>
              <a:off x="3673475" y="4325044"/>
              <a:ext cx="533400" cy="1905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TW" altLang="zh-TW" sz="240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endParaRPr>
            </a:p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TW" altLang="zh-TW" sz="240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endParaRPr>
            </a:p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C</a:t>
              </a:r>
            </a:p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B</a:t>
              </a:r>
            </a:p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9401" name="Rectangle 12"/>
            <p:cNvSpPr>
              <a:spLocks noChangeArrowheads="1"/>
            </p:cNvSpPr>
            <p:nvPr/>
          </p:nvSpPr>
          <p:spPr bwMode="auto">
            <a:xfrm>
              <a:off x="7407275" y="4325044"/>
              <a:ext cx="457200" cy="1905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TW" altLang="zh-TW" sz="240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endParaRPr>
            </a:p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D</a:t>
              </a:r>
            </a:p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C</a:t>
              </a:r>
            </a:p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B</a:t>
              </a:r>
            </a:p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9402" name="Rectangle 13"/>
            <p:cNvSpPr>
              <a:spLocks noChangeArrowheads="1"/>
            </p:cNvSpPr>
            <p:nvPr/>
          </p:nvSpPr>
          <p:spPr bwMode="auto">
            <a:xfrm>
              <a:off x="6188075" y="4325044"/>
              <a:ext cx="457200" cy="1905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E</a:t>
              </a:r>
            </a:p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D</a:t>
              </a:r>
            </a:p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C</a:t>
              </a:r>
            </a:p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B</a:t>
              </a:r>
            </a:p>
            <a:p>
              <a:pPr algn="ctr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9403" name="Line 14"/>
            <p:cNvSpPr>
              <a:spLocks noChangeShapeType="1"/>
            </p:cNvSpPr>
            <p:nvPr/>
          </p:nvSpPr>
          <p:spPr bwMode="auto">
            <a:xfrm flipH="1">
              <a:off x="1446213" y="6001444"/>
              <a:ext cx="22860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404" name="Text Box 15"/>
            <p:cNvSpPr txBox="1">
              <a:spLocks noChangeArrowheads="1"/>
            </p:cNvSpPr>
            <p:nvPr/>
          </p:nvSpPr>
          <p:spPr bwMode="auto">
            <a:xfrm>
              <a:off x="1662113" y="5771257"/>
              <a:ext cx="5774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59405" name="Line 16"/>
            <p:cNvSpPr>
              <a:spLocks noChangeShapeType="1"/>
            </p:cNvSpPr>
            <p:nvPr/>
          </p:nvSpPr>
          <p:spPr bwMode="auto">
            <a:xfrm>
              <a:off x="1006475" y="4325044"/>
              <a:ext cx="457200" cy="158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406" name="Line 17"/>
            <p:cNvSpPr>
              <a:spLocks noChangeShapeType="1"/>
            </p:cNvSpPr>
            <p:nvPr/>
          </p:nvSpPr>
          <p:spPr bwMode="auto">
            <a:xfrm>
              <a:off x="2378075" y="4325044"/>
              <a:ext cx="457200" cy="158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407" name="Line 18"/>
            <p:cNvSpPr>
              <a:spLocks noChangeShapeType="1"/>
            </p:cNvSpPr>
            <p:nvPr/>
          </p:nvSpPr>
          <p:spPr bwMode="auto">
            <a:xfrm>
              <a:off x="3673475" y="4325044"/>
              <a:ext cx="533400" cy="158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408" name="Line 19"/>
            <p:cNvSpPr>
              <a:spLocks noChangeShapeType="1"/>
            </p:cNvSpPr>
            <p:nvPr/>
          </p:nvSpPr>
          <p:spPr bwMode="auto">
            <a:xfrm>
              <a:off x="4892675" y="4325044"/>
              <a:ext cx="457200" cy="158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409" name="Line 20"/>
            <p:cNvSpPr>
              <a:spLocks noChangeShapeType="1"/>
            </p:cNvSpPr>
            <p:nvPr/>
          </p:nvSpPr>
          <p:spPr bwMode="auto">
            <a:xfrm>
              <a:off x="6188075" y="4325044"/>
              <a:ext cx="457200" cy="158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410" name="Line 21"/>
            <p:cNvSpPr>
              <a:spLocks noChangeShapeType="1"/>
            </p:cNvSpPr>
            <p:nvPr/>
          </p:nvSpPr>
          <p:spPr bwMode="auto">
            <a:xfrm>
              <a:off x="7407275" y="4325044"/>
              <a:ext cx="457200" cy="158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411" name="Line 22"/>
            <p:cNvSpPr>
              <a:spLocks noChangeShapeType="1"/>
            </p:cNvSpPr>
            <p:nvPr/>
          </p:nvSpPr>
          <p:spPr bwMode="auto">
            <a:xfrm flipH="1">
              <a:off x="2835275" y="5696644"/>
              <a:ext cx="22860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412" name="Line 23"/>
            <p:cNvSpPr>
              <a:spLocks noChangeShapeType="1"/>
            </p:cNvSpPr>
            <p:nvPr/>
          </p:nvSpPr>
          <p:spPr bwMode="auto">
            <a:xfrm flipH="1">
              <a:off x="4206875" y="5239444"/>
              <a:ext cx="22860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413" name="Line 24"/>
            <p:cNvSpPr>
              <a:spLocks noChangeShapeType="1"/>
            </p:cNvSpPr>
            <p:nvPr/>
          </p:nvSpPr>
          <p:spPr bwMode="auto">
            <a:xfrm flipH="1">
              <a:off x="5349875" y="4858444"/>
              <a:ext cx="22860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414" name="Line 25"/>
            <p:cNvSpPr>
              <a:spLocks noChangeShapeType="1"/>
            </p:cNvSpPr>
            <p:nvPr/>
          </p:nvSpPr>
          <p:spPr bwMode="auto">
            <a:xfrm flipH="1">
              <a:off x="6645275" y="4477444"/>
              <a:ext cx="22860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415" name="Line 26"/>
            <p:cNvSpPr>
              <a:spLocks noChangeShapeType="1"/>
            </p:cNvSpPr>
            <p:nvPr/>
          </p:nvSpPr>
          <p:spPr bwMode="auto">
            <a:xfrm flipH="1">
              <a:off x="7864475" y="4858444"/>
              <a:ext cx="22860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416" name="Text Box 27"/>
            <p:cNvSpPr txBox="1">
              <a:spLocks noChangeArrowheads="1"/>
            </p:cNvSpPr>
            <p:nvPr/>
          </p:nvSpPr>
          <p:spPr bwMode="auto">
            <a:xfrm>
              <a:off x="3048000" y="5431532"/>
              <a:ext cx="5774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59417" name="Text Box 28"/>
            <p:cNvSpPr txBox="1">
              <a:spLocks noChangeArrowheads="1"/>
            </p:cNvSpPr>
            <p:nvPr/>
          </p:nvSpPr>
          <p:spPr bwMode="auto">
            <a:xfrm>
              <a:off x="4381500" y="4974332"/>
              <a:ext cx="5774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59418" name="Text Box 29"/>
            <p:cNvSpPr txBox="1">
              <a:spLocks noChangeArrowheads="1"/>
            </p:cNvSpPr>
            <p:nvPr/>
          </p:nvSpPr>
          <p:spPr bwMode="auto">
            <a:xfrm>
              <a:off x="5524500" y="4593332"/>
              <a:ext cx="5774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59419" name="Text Box 30"/>
            <p:cNvSpPr txBox="1">
              <a:spLocks noChangeArrowheads="1"/>
            </p:cNvSpPr>
            <p:nvPr/>
          </p:nvSpPr>
          <p:spPr bwMode="auto">
            <a:xfrm>
              <a:off x="6858000" y="4212332"/>
              <a:ext cx="5774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59420" name="Text Box 31"/>
            <p:cNvSpPr txBox="1">
              <a:spLocks noChangeArrowheads="1"/>
            </p:cNvSpPr>
            <p:nvPr/>
          </p:nvSpPr>
          <p:spPr bwMode="auto">
            <a:xfrm>
              <a:off x="1066800" y="5812532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ar-SA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9421" name="Text Box 32"/>
            <p:cNvSpPr txBox="1">
              <a:spLocks noChangeArrowheads="1"/>
            </p:cNvSpPr>
            <p:nvPr/>
          </p:nvSpPr>
          <p:spPr bwMode="auto">
            <a:xfrm>
              <a:off x="838200" y="3687415"/>
              <a:ext cx="78418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 dirty="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Push</a:t>
              </a:r>
            </a:p>
          </p:txBody>
        </p:sp>
        <p:sp>
          <p:nvSpPr>
            <p:cNvPr id="59422" name="Text Box 33"/>
            <p:cNvSpPr txBox="1">
              <a:spLocks noChangeArrowheads="1"/>
            </p:cNvSpPr>
            <p:nvPr/>
          </p:nvSpPr>
          <p:spPr bwMode="auto">
            <a:xfrm>
              <a:off x="2227263" y="3717032"/>
              <a:ext cx="78418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Push</a:t>
              </a:r>
            </a:p>
          </p:txBody>
        </p:sp>
        <p:sp>
          <p:nvSpPr>
            <p:cNvPr id="59423" name="Text Box 34"/>
            <p:cNvSpPr txBox="1">
              <a:spLocks noChangeArrowheads="1"/>
            </p:cNvSpPr>
            <p:nvPr/>
          </p:nvSpPr>
          <p:spPr bwMode="auto">
            <a:xfrm>
              <a:off x="3522663" y="3717032"/>
              <a:ext cx="78418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 dirty="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Push</a:t>
              </a:r>
            </a:p>
          </p:txBody>
        </p:sp>
        <p:sp>
          <p:nvSpPr>
            <p:cNvPr id="59424" name="Text Box 35"/>
            <p:cNvSpPr txBox="1">
              <a:spLocks noChangeArrowheads="1"/>
            </p:cNvSpPr>
            <p:nvPr/>
          </p:nvSpPr>
          <p:spPr bwMode="auto">
            <a:xfrm>
              <a:off x="4741863" y="3717032"/>
              <a:ext cx="78418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Push</a:t>
              </a:r>
            </a:p>
          </p:txBody>
        </p:sp>
        <p:sp>
          <p:nvSpPr>
            <p:cNvPr id="59425" name="Text Box 36"/>
            <p:cNvSpPr txBox="1">
              <a:spLocks noChangeArrowheads="1"/>
            </p:cNvSpPr>
            <p:nvPr/>
          </p:nvSpPr>
          <p:spPr bwMode="auto">
            <a:xfrm>
              <a:off x="6037263" y="3717032"/>
              <a:ext cx="78418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Push</a:t>
              </a:r>
            </a:p>
          </p:txBody>
        </p:sp>
        <p:sp>
          <p:nvSpPr>
            <p:cNvPr id="59426" name="Text Box 37"/>
            <p:cNvSpPr txBox="1">
              <a:spLocks noChangeArrowheads="1"/>
            </p:cNvSpPr>
            <p:nvPr/>
          </p:nvSpPr>
          <p:spPr bwMode="auto">
            <a:xfrm>
              <a:off x="7256463" y="3717032"/>
              <a:ext cx="6639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 dirty="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Pop</a:t>
              </a:r>
            </a:p>
          </p:txBody>
        </p:sp>
        <p:sp>
          <p:nvSpPr>
            <p:cNvPr id="59427" name="Text Box 38"/>
            <p:cNvSpPr txBox="1">
              <a:spLocks noChangeArrowheads="1"/>
            </p:cNvSpPr>
            <p:nvPr/>
          </p:nvSpPr>
          <p:spPr bwMode="auto">
            <a:xfrm>
              <a:off x="8066088" y="4580632"/>
              <a:ext cx="5774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>
                  <a:latin typeface="Times New Roman" panose="02020603050405020304" pitchFamily="18" charset="0"/>
                  <a:ea typeface="PMingLiU" pitchFamily="18" charset="-120"/>
                  <a:cs typeface="Times New Roman" panose="02020603050405020304" pitchFamily="18" charset="0"/>
                </a:rPr>
                <a:t>top</a:t>
              </a:r>
            </a:p>
          </p:txBody>
        </p:sp>
      </p:grpSp>
      <p:sp>
        <p:nvSpPr>
          <p:cNvPr id="36" name="Rectangle 7"/>
          <p:cNvSpPr>
            <a:spLocks noChangeArrowheads="1"/>
          </p:cNvSpPr>
          <p:nvPr/>
        </p:nvSpPr>
        <p:spPr bwMode="auto">
          <a:xfrm>
            <a:off x="228600" y="420340"/>
            <a:ext cx="8610600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>
              <a:defRPr/>
            </a:pPr>
            <a:r>
              <a:rPr lang="en-US" sz="4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Stack ADT: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Model</a:t>
            </a:r>
            <a:endParaRPr lang="en-US" sz="44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23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5757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556792"/>
            <a:ext cx="8839200" cy="5148808"/>
          </a:xfrm>
        </p:spPr>
        <p:txBody>
          <a:bodyPr>
            <a:normAutofit/>
          </a:bodyPr>
          <a:lstStyle/>
          <a:p>
            <a:pPr algn="l" rtl="0" eaLnBrk="1" hangingPunct="1">
              <a:buFont typeface="Wingdings" pitchFamily="2" charset="2"/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en-US" sz="2400" dirty="0" err="1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createStack</a:t>
            </a:r>
            <a:endParaRPr lang="en-US" sz="2400" dirty="0">
              <a:latin typeface="Consolas" panose="020B0609020204030204" pitchFamily="49" charset="0"/>
              <a:ea typeface="Arial Unicode MS" pitchFamily="34" charset="-128"/>
              <a:cs typeface="Consolas" panose="020B0609020204030204" pitchFamily="49" charset="0"/>
            </a:endParaRPr>
          </a:p>
          <a:p>
            <a:pPr lvl="1" algn="l" rtl="0" eaLnBrk="1" hangingPunct="1"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empty stack</a:t>
            </a:r>
          </a:p>
          <a:p>
            <a:pPr algn="l" rtl="0" eaLnBrk="1" hangingPunct="1">
              <a:buFont typeface="Wingdings" pitchFamily="2" charset="2"/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sz="2400" dirty="0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push</a:t>
            </a:r>
          </a:p>
          <a:p>
            <a:pPr lvl="1" algn="l" rtl="0" eaLnBrk="1" hangingPunct="1"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an element to the top of the stack</a:t>
            </a:r>
          </a:p>
          <a:p>
            <a:pPr algn="l" rtl="0" eaLnBrk="1" hangingPunct="1">
              <a:buFont typeface="Wingdings" pitchFamily="2" charset="2"/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en-US" sz="2400" dirty="0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pop</a:t>
            </a:r>
          </a:p>
          <a:p>
            <a:pPr lvl="1" algn="l" rtl="0" eaLnBrk="1" hangingPunct="1"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the element at the top of the stack</a:t>
            </a:r>
          </a:p>
          <a:p>
            <a:pPr algn="l" rtl="0" eaLnBrk="1" hangingPunct="1">
              <a:buFont typeface="Wingdings" pitchFamily="2" charset="2"/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</a:t>
            </a:r>
            <a:r>
              <a:rPr lang="en-US" sz="2400" dirty="0" err="1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isEmpty</a:t>
            </a:r>
            <a:endParaRPr lang="en-US" sz="2400" dirty="0">
              <a:latin typeface="Consolas" panose="020B0609020204030204" pitchFamily="49" charset="0"/>
              <a:ea typeface="Arial Unicode MS" pitchFamily="34" charset="-128"/>
              <a:cs typeface="Consolas" panose="020B0609020204030204" pitchFamily="49" charset="0"/>
            </a:endParaRPr>
          </a:p>
          <a:p>
            <a:pPr lvl="1" algn="l" rtl="0" eaLnBrk="1" hangingPunct="1"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whether a stack is empty</a:t>
            </a:r>
          </a:p>
          <a:p>
            <a:pPr algn="l" rtl="0" eaLnBrk="1" hangingPunct="1">
              <a:buFont typeface="Wingdings" pitchFamily="2" charset="2"/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 </a:t>
            </a:r>
            <a:r>
              <a:rPr lang="en-US" sz="2400" dirty="0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top</a:t>
            </a:r>
          </a:p>
          <a:p>
            <a:pPr lvl="1" algn="l" rtl="0" eaLnBrk="1" hangingPunct="1"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Returning the value of the top element</a:t>
            </a:r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228600" y="420340"/>
            <a:ext cx="8610600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>
              <a:defRPr/>
            </a:pPr>
            <a:r>
              <a:rPr lang="en-US" sz="4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Stack ADT: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sz="44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24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01922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556792"/>
            <a:ext cx="8991600" cy="5148808"/>
          </a:xfrm>
        </p:spPr>
        <p:txBody>
          <a:bodyPr/>
          <a:lstStyle/>
          <a:p>
            <a:pPr algn="l" rtl="0" eaLnBrk="1" hangingPunct="1"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list implementation could be used to implement a stack</a:t>
            </a:r>
          </a:p>
          <a:p>
            <a:pPr lvl="1" algn="l" rtl="0" eaLnBrk="1" hangingPunct="1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 (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size of stack is given initially)</a:t>
            </a:r>
          </a:p>
          <a:p>
            <a:pPr lvl="1" algn="l" rtl="0" eaLnBrk="1" hangingPunct="1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lists (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never become full)</a:t>
            </a:r>
          </a:p>
        </p:txBody>
      </p:sp>
      <p:sp>
        <p:nvSpPr>
          <p:cNvPr id="394245" name="Rectangle 5"/>
          <p:cNvSpPr>
            <a:spLocks noChangeArrowheads="1"/>
          </p:cNvSpPr>
          <p:nvPr/>
        </p:nvSpPr>
        <p:spPr bwMode="auto">
          <a:xfrm>
            <a:off x="0" y="476672"/>
            <a:ext cx="9144000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>
              <a:defRPr/>
            </a:pPr>
            <a:r>
              <a:rPr lang="en-US" sz="36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Stack ADT: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en-US" sz="4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25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27310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1" name="Rectangle 3"/>
          <p:cNvSpPr>
            <a:spLocks noGrp="1" noChangeArrowheads="1"/>
          </p:cNvSpPr>
          <p:nvPr>
            <p:ph idx="1"/>
          </p:nvPr>
        </p:nvSpPr>
        <p:spPr>
          <a:xfrm>
            <a:off x="101600" y="1556792"/>
            <a:ext cx="9042400" cy="5148808"/>
          </a:xfrm>
        </p:spPr>
        <p:txBody>
          <a:bodyPr>
            <a:normAutofit/>
          </a:bodyPr>
          <a:lstStyle/>
          <a:p>
            <a:pPr algn="l" rtl="0"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related to computer science:</a:t>
            </a:r>
          </a:p>
          <a:p>
            <a:pPr lvl="1" algn="l" rtl="0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0110" lvl="1" indent="-514350" algn="l" rtl="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execution stack (keeping track of function calls)</a:t>
            </a:r>
          </a:p>
          <a:p>
            <a:pPr marL="880110" lvl="1" indent="-514350" algn="l" rtl="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Parenthesis balancing</a:t>
            </a:r>
          </a:p>
          <a:p>
            <a:pPr marL="880110" lvl="1" indent="-514350" algn="l" rtl="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postfix expressions</a:t>
            </a:r>
          </a:p>
          <a:p>
            <a:pPr marL="880110" lvl="1" indent="-514350" algn="l" rtl="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Infix to postfix conversion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491" name="Rectangle 4"/>
          <p:cNvSpPr>
            <a:spLocks noChangeArrowheads="1"/>
          </p:cNvSpPr>
          <p:nvPr/>
        </p:nvSpPr>
        <p:spPr bwMode="auto">
          <a:xfrm>
            <a:off x="0" y="404664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buNone/>
              <a:defRPr/>
            </a:pPr>
            <a:r>
              <a:rPr lang="en-US" sz="4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Stack ADT: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26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120507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1" name="Rectangle 3"/>
          <p:cNvSpPr>
            <a:spLocks noGrp="1" noChangeArrowheads="1"/>
          </p:cNvSpPr>
          <p:nvPr>
            <p:ph idx="1"/>
          </p:nvPr>
        </p:nvSpPr>
        <p:spPr>
          <a:xfrm>
            <a:off x="101600" y="1556792"/>
            <a:ext cx="9042400" cy="5148808"/>
          </a:xfrm>
        </p:spPr>
        <p:txBody>
          <a:bodyPr>
            <a:normAutofit/>
          </a:bodyPr>
          <a:lstStyle/>
          <a:p>
            <a:pPr algn="l" rtl="0" eaLnBrk="1" hangingPunct="1">
              <a:defRPr/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Balancing Symbols</a:t>
            </a:r>
            <a:endParaRPr lang="ar-SA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check that every right parentheses, bracket, comment starter and brace must correspond to its left counterpart, e.g. 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[( )]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legal, but 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[( ] 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illegal</a:t>
            </a:r>
          </a:p>
        </p:txBody>
      </p:sp>
      <p:sp>
        <p:nvSpPr>
          <p:cNvPr id="63491" name="Rectangle 4"/>
          <p:cNvSpPr>
            <a:spLocks noChangeArrowheads="1"/>
          </p:cNvSpPr>
          <p:nvPr/>
        </p:nvSpPr>
        <p:spPr bwMode="auto">
          <a:xfrm>
            <a:off x="0" y="404664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buNone/>
              <a:defRPr/>
            </a:pPr>
            <a:r>
              <a:rPr lang="en-US" sz="4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Stack ADT: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1</a:t>
            </a:r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27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799137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1" name="Rectangle 3"/>
          <p:cNvSpPr>
            <a:spLocks noGrp="1" noChangeArrowheads="1"/>
          </p:cNvSpPr>
          <p:nvPr>
            <p:ph idx="1"/>
          </p:nvPr>
        </p:nvSpPr>
        <p:spPr>
          <a:xfrm>
            <a:off x="101600" y="1556792"/>
            <a:ext cx="9042400" cy="5148808"/>
          </a:xfrm>
        </p:spPr>
        <p:txBody>
          <a:bodyPr>
            <a:normAutofit/>
          </a:bodyPr>
          <a:lstStyle/>
          <a:p>
            <a:pPr algn="l" rtl="0"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(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Balancing Symbols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l" rtl="0" eaLnBrk="1" hangingPunct="1">
              <a:buFont typeface="Wingdings" pitchFamily="2" charset="2"/>
              <a:buNone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Make an empty stack.</a:t>
            </a:r>
          </a:p>
          <a:p>
            <a:pPr lvl="1" algn="l" rtl="0" eaLnBrk="1" hangingPunct="1">
              <a:buFont typeface="Wingdings" pitchFamily="2" charset="2"/>
              <a:buNone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 Read characters until end of file:</a:t>
            </a:r>
          </a:p>
          <a:p>
            <a:pPr lvl="2" algn="l" rtl="0" eaLnBrk="1" hangingPunct="1">
              <a:buFontTx/>
              <a:buNone/>
              <a:defRPr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If the character is an opening symbol, push it onto the stack.</a:t>
            </a:r>
          </a:p>
          <a:p>
            <a:pPr lvl="2" algn="l" rtl="0" eaLnBrk="1" hangingPunct="1">
              <a:buFontTx/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 If it is a closing symbol, then if the stack is empty, report an error.</a:t>
            </a:r>
          </a:p>
          <a:p>
            <a:pPr lvl="2" algn="l" rtl="0" eaLnBrk="1" hangingPunct="1">
              <a:buFontTx/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 Otherwise, pop the stack. If the symbol popped is not the   </a:t>
            </a:r>
          </a:p>
          <a:p>
            <a:pPr lvl="2" algn="l" rtl="0" eaLnBrk="1" hangingPunct="1">
              <a:buFontTx/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corresponding opening symbol, then report an error.</a:t>
            </a:r>
          </a:p>
          <a:p>
            <a:pPr lvl="1" algn="l" rtl="0" eaLnBrk="1" hangingPunct="1">
              <a:buFont typeface="Wingdings" pitchFamily="2" charset="2"/>
              <a:buNone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 At end of file, if the stack is not empty, report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an error.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491" name="Rectangle 4"/>
          <p:cNvSpPr>
            <a:spLocks noChangeArrowheads="1"/>
          </p:cNvSpPr>
          <p:nvPr/>
        </p:nvSpPr>
        <p:spPr bwMode="auto">
          <a:xfrm>
            <a:off x="0" y="404664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buNone/>
              <a:defRPr/>
            </a:pPr>
            <a:r>
              <a:rPr lang="en-US" sz="4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Stack ADT: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1</a:t>
            </a:r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28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421129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557338"/>
            <a:ext cx="8839200" cy="5148262"/>
          </a:xfrm>
        </p:spPr>
        <p:txBody>
          <a:bodyPr>
            <a:normAutofit fontScale="85000" lnSpcReduction="20000"/>
          </a:bodyPr>
          <a:lstStyle/>
          <a:p>
            <a:pPr algn="l" rtl="0" eaLnBrk="1" hangingPunct="1">
              <a:lnSpc>
                <a:spcPct val="80000"/>
              </a:lnSpc>
              <a:defRPr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 Check the balance for the following sentence:</a:t>
            </a:r>
          </a:p>
          <a:p>
            <a:pPr algn="ctr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A * ( B + C ) * D + E [ I ]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800" b="1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		Stack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empty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empty 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empty 	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			(	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		</a:t>
            </a:r>
            <a:r>
              <a:rPr lang="en-US" sz="1700" dirty="0">
                <a:effectLst/>
                <a:latin typeface="Consolas" panose="020B0609020204030204" pitchFamily="49" charset="0"/>
                <a:ea typeface="'??"/>
                <a:cs typeface="Consolas" panose="020B0609020204030204" pitchFamily="49" charset="0"/>
              </a:rPr>
              <a:t>	(</a:t>
            </a: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			(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empty</a:t>
            </a:r>
          </a:p>
          <a:p>
            <a:pPr algn="l" rtl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empty </a:t>
            </a:r>
          </a:p>
          <a:p>
            <a:pPr algn="l" rtl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empty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empty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empty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			[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empty	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17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Since stack is empty, then the expression is balanced.</a:t>
            </a:r>
            <a:endParaRPr lang="en-US" sz="17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516" name="Line 8"/>
          <p:cNvSpPr>
            <a:spLocks noChangeShapeType="1"/>
          </p:cNvSpPr>
          <p:nvPr/>
        </p:nvSpPr>
        <p:spPr bwMode="auto">
          <a:xfrm>
            <a:off x="179512" y="2492896"/>
            <a:ext cx="2664296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ar-SA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04664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buNone/>
              <a:defRPr/>
            </a:pPr>
            <a:r>
              <a:rPr lang="en-US" sz="4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Stack ADT: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Application1</a:t>
            </a:r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4788024" y="6389020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CS 2321: D.S.A (-Lists, Stacks, and Queues-)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D5C614-A236-4E95-9105-E600B4ECC222}" type="slidenum">
              <a:rPr lang="ar-SA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949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557338"/>
            <a:ext cx="8839200" cy="5148262"/>
          </a:xfrm>
        </p:spPr>
        <p:txBody>
          <a:bodyPr>
            <a:normAutofit fontScale="85000" lnSpcReduction="20000"/>
          </a:bodyPr>
          <a:lstStyle/>
          <a:p>
            <a:pPr algn="l" rtl="0" eaLnBrk="1" hangingPunct="1">
              <a:lnSpc>
                <a:spcPct val="80000"/>
              </a:lnSpc>
              <a:defRPr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Check the balance for the following sentence:</a:t>
            </a:r>
          </a:p>
          <a:p>
            <a:pPr algn="ctr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A * ( B + C * D + E [ I ])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800" b="1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		Stack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empty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empty 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empty 	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			(	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		</a:t>
            </a:r>
            <a:r>
              <a:rPr lang="en-US" sz="1700" dirty="0">
                <a:effectLst/>
                <a:latin typeface="Consolas" panose="020B0609020204030204" pitchFamily="49" charset="0"/>
                <a:ea typeface="'??"/>
                <a:cs typeface="Consolas" panose="020B0609020204030204" pitchFamily="49" charset="0"/>
              </a:rPr>
              <a:t>	(</a:t>
            </a: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			(</a:t>
            </a:r>
          </a:p>
          <a:p>
            <a:pPr algn="l" rtl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( </a:t>
            </a:r>
          </a:p>
          <a:p>
            <a:pPr algn="l" rtl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(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(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(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[   ( </a:t>
            </a:r>
            <a:endParaRPr lang="en-US" sz="17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		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 (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			empty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17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Since stack is empty, then the expression is balanced.</a:t>
            </a:r>
            <a:endParaRPr lang="en-US" sz="17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516" name="Line 8"/>
          <p:cNvSpPr>
            <a:spLocks noChangeShapeType="1"/>
          </p:cNvSpPr>
          <p:nvPr/>
        </p:nvSpPr>
        <p:spPr bwMode="auto">
          <a:xfrm>
            <a:off x="179512" y="2492896"/>
            <a:ext cx="2664296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ar-SA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04664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buNone/>
              <a:defRPr/>
            </a:pPr>
            <a:r>
              <a:rPr lang="en-US" sz="4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Stack ADT: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Application1</a:t>
            </a:r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4550433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CS 2321: D.S.A (-Lists, Stacks, and Queues-)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D5C614-A236-4E95-9105-E600B4ECC222}" type="slidenum">
              <a:rPr lang="ar-SA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43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557338"/>
            <a:ext cx="8839200" cy="5148262"/>
          </a:xfrm>
        </p:spPr>
        <p:txBody>
          <a:bodyPr>
            <a:normAutofit fontScale="85000" lnSpcReduction="20000"/>
          </a:bodyPr>
          <a:lstStyle/>
          <a:p>
            <a:pPr algn="l" rtl="0" eaLnBrk="1" hangingPunct="1">
              <a:lnSpc>
                <a:spcPct val="80000"/>
              </a:lnSpc>
              <a:defRPr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3: Check the balance for the following sentence:</a:t>
            </a:r>
          </a:p>
          <a:p>
            <a:pPr algn="ctr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A * ( B + C * D + E [ I ]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800" b="1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		Stack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empty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empty 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empty 	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			(	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		</a:t>
            </a:r>
            <a:r>
              <a:rPr lang="en-US" sz="1700" dirty="0">
                <a:effectLst/>
                <a:latin typeface="Consolas" panose="020B0609020204030204" pitchFamily="49" charset="0"/>
                <a:ea typeface="'??"/>
                <a:cs typeface="Consolas" panose="020B0609020204030204" pitchFamily="49" charset="0"/>
              </a:rPr>
              <a:t>	(</a:t>
            </a: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			(</a:t>
            </a:r>
          </a:p>
          <a:p>
            <a:pPr algn="l" rtl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( </a:t>
            </a:r>
          </a:p>
          <a:p>
            <a:pPr algn="l" rtl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(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(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(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[   ( </a:t>
            </a:r>
            <a:endParaRPr lang="en-US" sz="17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		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 (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17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Since stack is not empty,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an error.</a:t>
            </a:r>
            <a:endParaRPr lang="en-US" sz="17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516" name="Line 8"/>
          <p:cNvSpPr>
            <a:spLocks noChangeShapeType="1"/>
          </p:cNvSpPr>
          <p:nvPr/>
        </p:nvSpPr>
        <p:spPr bwMode="auto">
          <a:xfrm>
            <a:off x="179512" y="2492896"/>
            <a:ext cx="2664296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ar-SA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04664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buNone/>
              <a:defRPr/>
            </a:pPr>
            <a:r>
              <a:rPr lang="en-US" sz="4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Stack ADT: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1</a:t>
            </a:r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(-Lists, Stacks, and Queues-)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D5C614-A236-4E95-9105-E600B4ECC222}" type="slidenum">
              <a:rPr lang="ar-SA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4286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557338"/>
            <a:ext cx="8839200" cy="5148262"/>
          </a:xfrm>
        </p:spPr>
        <p:txBody>
          <a:bodyPr>
            <a:normAutofit fontScale="85000" lnSpcReduction="20000"/>
          </a:bodyPr>
          <a:lstStyle/>
          <a:p>
            <a:pPr algn="l" rtl="0" eaLnBrk="1" hangingPunct="1">
              <a:lnSpc>
                <a:spcPct val="80000"/>
              </a:lnSpc>
              <a:defRPr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4: Check the balance for the following sentence:</a:t>
            </a:r>
          </a:p>
          <a:p>
            <a:pPr algn="ctr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A * ( B + C * D + E [ I )]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800" b="1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		Stack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empty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empty 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empty 	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			(	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		</a:t>
            </a:r>
            <a:r>
              <a:rPr lang="en-US" sz="1700" dirty="0">
                <a:effectLst/>
                <a:latin typeface="Consolas" panose="020B0609020204030204" pitchFamily="49" charset="0"/>
                <a:ea typeface="'??"/>
                <a:cs typeface="Consolas" panose="020B0609020204030204" pitchFamily="49" charset="0"/>
              </a:rPr>
              <a:t>	(</a:t>
            </a: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			(</a:t>
            </a:r>
          </a:p>
          <a:p>
            <a:pPr algn="l" rtl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( </a:t>
            </a:r>
          </a:p>
          <a:p>
            <a:pPr algn="l" rtl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(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(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(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[   ( </a:t>
            </a:r>
            <a:endParaRPr lang="en-US" sz="17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		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7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 (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1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algn="l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17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>
              <a:lnSpc>
                <a:spcPct val="80000"/>
              </a:lnSpc>
              <a:buNone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)’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‘[‘ have </a:t>
            </a: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different types,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an error.</a:t>
            </a:r>
            <a:endParaRPr lang="en-US" sz="17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516" name="Line 8"/>
          <p:cNvSpPr>
            <a:spLocks noChangeShapeType="1"/>
          </p:cNvSpPr>
          <p:nvPr/>
        </p:nvSpPr>
        <p:spPr bwMode="auto">
          <a:xfrm>
            <a:off x="179512" y="2492896"/>
            <a:ext cx="2664296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ar-SA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04664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buNone/>
              <a:defRPr/>
            </a:pPr>
            <a:r>
              <a:rPr lang="en-US" sz="4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Stack ADT: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1</a:t>
            </a:r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4914900" y="6362127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en-US"/>
              <a:t>CS 2321: D.S.A (-Lists, Stacks, and Queues-)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D5C614-A236-4E95-9105-E600B4ECC222}" type="slidenum">
              <a:rPr lang="ar-SA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9974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557338"/>
            <a:ext cx="8839200" cy="792162"/>
          </a:xfrm>
        </p:spPr>
        <p:txBody>
          <a:bodyPr>
            <a:normAutofit/>
          </a:bodyPr>
          <a:lstStyle/>
          <a:p>
            <a:pPr algn="l" rtl="0" eaLnBrk="1" hangingPunct="1">
              <a:lnSpc>
                <a:spcPct val="80000"/>
              </a:lnSpc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Check the balance for the following</a:t>
            </a:r>
          </a:p>
          <a:p>
            <a:pPr algn="ctr" rtl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 * ( B + E [ I ) + C ] * D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04664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buNone/>
              <a:defRPr/>
            </a:pPr>
            <a:r>
              <a:rPr lang="en-US" sz="4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Stack ADT: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1</a:t>
            </a:r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395536" y="2420888"/>
            <a:ext cx="3240360" cy="408657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r" rtl="1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r" rtl="1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r" rtl="1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r" rtl="1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r" rtl="1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r" rtl="1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r" rtl="1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r" rtl="1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r" rtl="1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		Stack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empty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empty 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empty 	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			(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B			(	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+		</a:t>
            </a:r>
            <a:r>
              <a:rPr lang="en-US" sz="2000" dirty="0">
                <a:latin typeface="Consolas" panose="020B0609020204030204" pitchFamily="49" charset="0"/>
                <a:ea typeface="'??"/>
                <a:cs typeface="Consolas" panose="020B0609020204030204" pitchFamily="49" charset="0"/>
              </a:rPr>
              <a:t>	(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E			(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[			[ ( </a:t>
            </a:r>
          </a:p>
          <a:p>
            <a:pPr algn="l" rtl="0">
              <a:lnSpc>
                <a:spcPct val="80000"/>
              </a:lnSpc>
              <a:buFontTx/>
              <a:buNone/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			[ (  </a:t>
            </a:r>
          </a:p>
          <a:p>
            <a:pPr algn="l" rtl="0">
              <a:lnSpc>
                <a:spcPct val="80000"/>
              </a:lnSpc>
              <a:buFontTx/>
              <a:buNone/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)			(</a:t>
            </a:r>
          </a:p>
        </p:txBody>
      </p:sp>
      <p:sp>
        <p:nvSpPr>
          <p:cNvPr id="2" name="Rectangle 1"/>
          <p:cNvSpPr/>
          <p:nvPr/>
        </p:nvSpPr>
        <p:spPr>
          <a:xfrm>
            <a:off x="3779912" y="5013176"/>
            <a:ext cx="4968552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80000"/>
              </a:lnSpc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symbol popped ‘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 is not correspond to the input opening symbol ‘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 then report an error</a:t>
            </a:r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395536" y="2996952"/>
            <a:ext cx="2808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ar-S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(-Lists, Stacks, and Queues-)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D5C614-A236-4E95-9105-E600B4ECC222}" type="slidenum">
              <a:rPr lang="ar-SA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80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556792"/>
            <a:ext cx="8839200" cy="5148808"/>
          </a:xfrm>
        </p:spPr>
        <p:txBody>
          <a:bodyPr>
            <a:normAutofit/>
          </a:bodyPr>
          <a:lstStyle/>
          <a:p>
            <a:pPr algn="l" rtl="0" eaLnBrk="1" hangingPunct="1">
              <a:defRPr/>
            </a:pP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Postfix Expressions</a:t>
            </a:r>
            <a:endParaRPr lang="ar-SA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infix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</a:p>
          <a:p>
            <a:pPr algn="ctr" rtl="0" eaLnBrk="1" hangingPunct="1">
              <a:buFont typeface="Wingdings" pitchFamily="2" charset="2"/>
              <a:buNone/>
              <a:defRPr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4.99 * 1.06 + 5.99 + 6.99 * 1.06</a:t>
            </a:r>
          </a:p>
          <a:p>
            <a:pPr lvl="1" algn="l" rtl="0" eaLnBrk="1" hangingPunct="1">
              <a:buFont typeface="Wingdings" pitchFamily="2" charset="2"/>
              <a:buNone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know the precedence rules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 rtl="0" eaLnBrk="1" hangingPunct="1">
              <a:defRPr/>
            </a:pPr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defRPr/>
            </a:pP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Postfix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</a:p>
          <a:p>
            <a:pPr lvl="1" algn="ctr" rtl="0" eaLnBrk="1" hangingPunct="1">
              <a:buFont typeface="Wingdings" pitchFamily="2" charset="2"/>
              <a:buNone/>
              <a:defRPr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4.99 1.06 * 5.99  + 6.99 1.06 * + 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404664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buNone/>
              <a:defRPr/>
            </a:pPr>
            <a:r>
              <a:rPr lang="en-US" sz="4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Stack ADT: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2</a:t>
            </a:r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34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1091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556792"/>
            <a:ext cx="8839200" cy="5148808"/>
          </a:xfrm>
        </p:spPr>
        <p:txBody>
          <a:bodyPr>
            <a:normAutofit/>
          </a:bodyPr>
          <a:lstStyle/>
          <a:p>
            <a:pPr algn="l" rtl="0" eaLnBrk="1" hangingPunct="1"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(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Postfix Expressions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S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stack to evaluate postfix expressions</a:t>
            </a:r>
          </a:p>
          <a:p>
            <a:pPr marL="365760" lvl="1" indent="0" algn="l" rtl="0" eaLnBrk="1" hangingPunct="1"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When a number is seen, it is pushed onto the stack.</a:t>
            </a:r>
          </a:p>
          <a:p>
            <a:pPr marL="982663" lvl="1" indent="-623888" algn="l" rtl="0" eaLnBrk="1" hangingPunct="1"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When an operator is seen, the operator is applied to the two numbers that are popped from the stack. </a:t>
            </a:r>
          </a:p>
          <a:p>
            <a:pPr marL="982663" lvl="1" indent="-623888" algn="l" rtl="0" eaLnBrk="1" hangingPunct="1"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The result is pushed onto the stack.</a:t>
            </a:r>
          </a:p>
          <a:p>
            <a:pPr algn="l" rtl="0" eaLnBrk="1" hangingPunct="1"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 to evaluate a postfix expression is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404664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buNone/>
              <a:defRPr/>
            </a:pPr>
            <a:r>
              <a:rPr lang="en-US" sz="4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Stack ADT: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2</a:t>
            </a:r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35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713654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1556792"/>
            <a:ext cx="8991600" cy="4996408"/>
          </a:xfrm>
        </p:spPr>
        <p:txBody>
          <a:bodyPr/>
          <a:lstStyle/>
          <a:p>
            <a:pPr algn="l" rtl="0" eaLnBrk="1" hangingPunct="1"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Example: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stack to evaluate postfix expressions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</a:p>
          <a:p>
            <a:pPr algn="ctr" rtl="0" eaLnBrk="1" hangingPunct="1">
              <a:buFont typeface="Wingdings" pitchFamily="2" charset="2"/>
              <a:buNone/>
              <a:defRPr/>
            </a:pPr>
            <a:r>
              <a:rPr lang="en-US" sz="260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6 5 2 3 + 8 * + 3 + *</a:t>
            </a:r>
          </a:p>
        </p:txBody>
      </p:sp>
      <p:sp>
        <p:nvSpPr>
          <p:cNvPr id="67596" name="Line 63"/>
          <p:cNvSpPr>
            <a:spLocks noChangeShapeType="1"/>
          </p:cNvSpPr>
          <p:nvPr/>
        </p:nvSpPr>
        <p:spPr bwMode="auto">
          <a:xfrm>
            <a:off x="2801888" y="3062188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ar-SA"/>
          </a:p>
        </p:txBody>
      </p:sp>
      <p:sp>
        <p:nvSpPr>
          <p:cNvPr id="67597" name="Line 64"/>
          <p:cNvSpPr>
            <a:spLocks noChangeShapeType="1"/>
          </p:cNvSpPr>
          <p:nvPr/>
        </p:nvSpPr>
        <p:spPr bwMode="auto">
          <a:xfrm>
            <a:off x="5466184" y="306896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ar-SA"/>
          </a:p>
        </p:txBody>
      </p:sp>
      <p:sp>
        <p:nvSpPr>
          <p:cNvPr id="67598" name="Line 65"/>
          <p:cNvSpPr>
            <a:spLocks noChangeShapeType="1"/>
          </p:cNvSpPr>
          <p:nvPr/>
        </p:nvSpPr>
        <p:spPr bwMode="auto">
          <a:xfrm>
            <a:off x="2815715" y="4635356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ar-SA"/>
          </a:p>
        </p:txBody>
      </p:sp>
      <p:sp>
        <p:nvSpPr>
          <p:cNvPr id="67599" name="Line 66"/>
          <p:cNvSpPr>
            <a:spLocks noChangeShapeType="1"/>
          </p:cNvSpPr>
          <p:nvPr/>
        </p:nvSpPr>
        <p:spPr bwMode="auto">
          <a:xfrm>
            <a:off x="5480011" y="4635356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ar-SA"/>
          </a:p>
        </p:txBody>
      </p:sp>
      <p:sp>
        <p:nvSpPr>
          <p:cNvPr id="67600" name="Line 67"/>
          <p:cNvSpPr>
            <a:spLocks noChangeShapeType="1"/>
          </p:cNvSpPr>
          <p:nvPr/>
        </p:nvSpPr>
        <p:spPr bwMode="auto">
          <a:xfrm>
            <a:off x="2921124" y="6165304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ar-SA"/>
          </a:p>
        </p:txBody>
      </p:sp>
      <p:grpSp>
        <p:nvGrpSpPr>
          <p:cNvPr id="67601" name="Group 71"/>
          <p:cNvGrpSpPr>
            <a:grpSpLocks/>
          </p:cNvGrpSpPr>
          <p:nvPr/>
        </p:nvGrpSpPr>
        <p:grpSpPr bwMode="auto">
          <a:xfrm>
            <a:off x="1835696" y="3696072"/>
            <a:ext cx="5400600" cy="381000"/>
            <a:chOff x="864" y="1920"/>
            <a:chExt cx="3936" cy="240"/>
          </a:xfrm>
        </p:grpSpPr>
        <p:sp>
          <p:nvSpPr>
            <p:cNvPr id="67606" name="Line 68"/>
            <p:cNvSpPr>
              <a:spLocks noChangeShapeType="1"/>
            </p:cNvSpPr>
            <p:nvPr/>
          </p:nvSpPr>
          <p:spPr bwMode="auto">
            <a:xfrm>
              <a:off x="4800" y="1920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67607" name="Line 69"/>
            <p:cNvSpPr>
              <a:spLocks noChangeShapeType="1"/>
            </p:cNvSpPr>
            <p:nvPr/>
          </p:nvSpPr>
          <p:spPr bwMode="auto">
            <a:xfrm flipH="1">
              <a:off x="864" y="2016"/>
              <a:ext cx="39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67608" name="Line 70"/>
            <p:cNvSpPr>
              <a:spLocks noChangeShapeType="1"/>
            </p:cNvSpPr>
            <p:nvPr/>
          </p:nvSpPr>
          <p:spPr bwMode="auto">
            <a:xfrm>
              <a:off x="864" y="2016"/>
              <a:ext cx="0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67602" name="Group 72"/>
          <p:cNvGrpSpPr>
            <a:grpSpLocks/>
          </p:cNvGrpSpPr>
          <p:nvPr/>
        </p:nvGrpSpPr>
        <p:grpSpPr bwMode="auto">
          <a:xfrm>
            <a:off x="1953344" y="5229200"/>
            <a:ext cx="5282973" cy="381000"/>
            <a:chOff x="864" y="1920"/>
            <a:chExt cx="3936" cy="240"/>
          </a:xfrm>
        </p:grpSpPr>
        <p:sp>
          <p:nvSpPr>
            <p:cNvPr id="67603" name="Line 73"/>
            <p:cNvSpPr>
              <a:spLocks noChangeShapeType="1"/>
            </p:cNvSpPr>
            <p:nvPr/>
          </p:nvSpPr>
          <p:spPr bwMode="auto">
            <a:xfrm>
              <a:off x="4800" y="1920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67604" name="Line 74"/>
            <p:cNvSpPr>
              <a:spLocks noChangeShapeType="1"/>
            </p:cNvSpPr>
            <p:nvPr/>
          </p:nvSpPr>
          <p:spPr bwMode="auto">
            <a:xfrm flipH="1">
              <a:off x="864" y="2016"/>
              <a:ext cx="39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SA"/>
            </a:p>
          </p:txBody>
        </p:sp>
        <p:sp>
          <p:nvSpPr>
            <p:cNvPr id="67605" name="Line 75"/>
            <p:cNvSpPr>
              <a:spLocks noChangeShapeType="1"/>
            </p:cNvSpPr>
            <p:nvPr/>
          </p:nvSpPr>
          <p:spPr bwMode="auto">
            <a:xfrm>
              <a:off x="864" y="2016"/>
              <a:ext cx="0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0" y="404664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buNone/>
              <a:defRPr/>
            </a:pPr>
            <a:r>
              <a:rPr lang="en-US" sz="4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Stack ADT: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2</a:t>
            </a:r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483545"/>
            <a:ext cx="1895000" cy="115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0243" y="2449637"/>
            <a:ext cx="1947861" cy="119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226" y="2483545"/>
            <a:ext cx="2016182" cy="123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057590"/>
            <a:ext cx="1895000" cy="1153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8356" y="4043337"/>
            <a:ext cx="1933575" cy="118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941" y="4041512"/>
            <a:ext cx="1938306" cy="118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786" y="5592173"/>
            <a:ext cx="1938338" cy="118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024" y="5589240"/>
            <a:ext cx="1971675" cy="1206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5374332" y="6356351"/>
            <a:ext cx="3086100" cy="365125"/>
          </a:xfrm>
        </p:spPr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36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01905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7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7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7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7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7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6" grpId="0" animBg="1"/>
      <p:bldP spid="67597" grpId="0" animBg="1"/>
      <p:bldP spid="67598" grpId="0" animBg="1"/>
      <p:bldP spid="67599" grpId="0" animBg="1"/>
      <p:bldP spid="6760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557338"/>
            <a:ext cx="8839200" cy="5148262"/>
          </a:xfrm>
        </p:spPr>
        <p:txBody>
          <a:bodyPr>
            <a:normAutofit fontScale="85000" lnSpcReduction="20000"/>
          </a:bodyPr>
          <a:lstStyle/>
          <a:p>
            <a:pPr algn="l" rtl="0" eaLnBrk="1" hangingPunct="1">
              <a:lnSpc>
                <a:spcPct val="90000"/>
              </a:lnSpc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Using the stack to evaluate postfix expressions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</a:p>
          <a:p>
            <a:pPr algn="ctr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6 5 2 3 + 8 * + 3 + *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sz="2000" b="1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		Stack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empty</a:t>
            </a:r>
          </a:p>
          <a:p>
            <a:pPr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6			6	</a:t>
            </a:r>
          </a:p>
          <a:p>
            <a:pPr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			6 5</a:t>
            </a:r>
          </a:p>
          <a:p>
            <a:pPr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			6 5 2</a:t>
            </a:r>
          </a:p>
          <a:p>
            <a:pPr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		</a:t>
            </a:r>
            <a:r>
              <a:rPr lang="en-US" sz="2000" dirty="0">
                <a:effectLst/>
                <a:latin typeface="Consolas" panose="020B0609020204030204" pitchFamily="49" charset="0"/>
                <a:ea typeface="'??"/>
                <a:cs typeface="Consolas" panose="020B0609020204030204" pitchFamily="49" charset="0"/>
              </a:rPr>
              <a:t>	6 5 2 3</a:t>
            </a:r>
            <a:endParaRPr lang="en-US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			6 5 5</a:t>
            </a:r>
          </a:p>
          <a:p>
            <a:pPr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8			6 5 5 8</a:t>
            </a:r>
          </a:p>
          <a:p>
            <a:pPr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*			6 5 40</a:t>
            </a:r>
          </a:p>
          <a:p>
            <a:pPr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ar-SA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ar-SA" sz="2000" dirty="0"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-US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45</a:t>
            </a:r>
          </a:p>
          <a:p>
            <a:pPr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ar-SA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6 45 3</a:t>
            </a:r>
          </a:p>
          <a:p>
            <a:pPr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ar-SA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6 48</a:t>
            </a:r>
          </a:p>
          <a:p>
            <a:pPr algn="l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*			288</a:t>
            </a:r>
          </a:p>
        </p:txBody>
      </p:sp>
      <p:sp>
        <p:nvSpPr>
          <p:cNvPr id="68612" name="Line 4"/>
          <p:cNvSpPr>
            <a:spLocks noChangeShapeType="1"/>
          </p:cNvSpPr>
          <p:nvPr/>
        </p:nvSpPr>
        <p:spPr bwMode="auto">
          <a:xfrm>
            <a:off x="203200" y="2852936"/>
            <a:ext cx="292864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ar-SA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3276600" y="5562600"/>
            <a:ext cx="2743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rtl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ar-SA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expression value</a:t>
            </a:r>
          </a:p>
        </p:txBody>
      </p:sp>
      <p:sp>
        <p:nvSpPr>
          <p:cNvPr id="68614" name="Rectangle 6"/>
          <p:cNvSpPr>
            <a:spLocks noChangeArrowheads="1"/>
          </p:cNvSpPr>
          <p:nvPr/>
        </p:nvSpPr>
        <p:spPr bwMode="auto">
          <a:xfrm>
            <a:off x="1381770" y="6044079"/>
            <a:ext cx="571500" cy="381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ar-SA" altLang="ar-SA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15" name="Line 7"/>
          <p:cNvSpPr>
            <a:spLocks noChangeShapeType="1"/>
          </p:cNvSpPr>
          <p:nvPr/>
        </p:nvSpPr>
        <p:spPr bwMode="auto">
          <a:xfrm flipH="1">
            <a:off x="1953270" y="5943600"/>
            <a:ext cx="2390130" cy="13223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ar-SA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404664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buNone/>
              <a:defRPr/>
            </a:pPr>
            <a:r>
              <a:rPr lang="en-US" sz="4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Stack ADT: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2</a:t>
            </a:r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(-Lists, Stacks, and Queues-)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D5C614-A236-4E95-9105-E600B4ECC222}" type="slidenum">
              <a:rPr lang="ar-SA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8791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557338"/>
            <a:ext cx="8763000" cy="5148262"/>
          </a:xfrm>
        </p:spPr>
        <p:txBody>
          <a:bodyPr/>
          <a:lstStyle/>
          <a:p>
            <a:pPr algn="l" rtl="0" eaLnBrk="1" hangingPunct="1">
              <a:defRPr/>
            </a:pPr>
            <a:r>
              <a:rPr lang="en-US" sz="3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Infix to Postfix Conversion</a:t>
            </a:r>
          </a:p>
          <a:p>
            <a:pPr algn="l" rtl="0"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Expression:</a:t>
            </a:r>
          </a:p>
          <a:p>
            <a:pPr lvl="1" algn="l" rtl="0"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Operands: numbers</a:t>
            </a:r>
          </a:p>
          <a:p>
            <a:pPr lvl="1" algn="l" rtl="0"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</a:p>
          <a:p>
            <a:pPr lvl="1" algn="l" rtl="0"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Parenthesis: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 )</a:t>
            </a:r>
          </a:p>
          <a:p>
            <a:pPr algn="l" rtl="0"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Precedence:</a:t>
            </a:r>
          </a:p>
          <a:p>
            <a:pPr lvl="1" algn="l" rtl="0"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and '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have the highest precedence</a:t>
            </a:r>
          </a:p>
          <a:p>
            <a:pPr lvl="1" algn="l" rtl="0"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and '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'have lower precedence than '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and '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  <a:p>
            <a:pPr lvl="1" algn="l" rtl="0"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and '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have lower precedence than '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and  '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404664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buNone/>
              <a:defRPr/>
            </a:pPr>
            <a:r>
              <a:rPr lang="en-US" sz="4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Stack ADT: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3</a:t>
            </a:r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(-Lists, Stacks, and Queues-)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D5C614-A236-4E95-9105-E600B4ECC222}" type="slidenum">
              <a:rPr lang="ar-SA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2345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7" name="Rectangle 3"/>
          <p:cNvSpPr>
            <a:spLocks noChangeArrowheads="1"/>
          </p:cNvSpPr>
          <p:nvPr/>
        </p:nvSpPr>
        <p:spPr bwMode="auto">
          <a:xfrm>
            <a:off x="165100" y="1412776"/>
            <a:ext cx="8763000" cy="5301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 algn="l" rtl="0">
              <a:spcBef>
                <a:spcPct val="20000"/>
              </a:spcBef>
              <a:buClr>
                <a:schemeClr val="tx2"/>
              </a:buClr>
              <a:buSzPct val="50000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(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Infix to Postfix Conversion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 rtl="0">
              <a:spcBef>
                <a:spcPct val="20000"/>
              </a:spcBef>
              <a:buClr>
                <a:schemeClr val="tx2"/>
              </a:buClr>
              <a:buSzPct val="50000"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Initialize a stack to empty.</a:t>
            </a:r>
          </a:p>
          <a:p>
            <a:pPr marL="742950" lvl="1" indent="-285750" algn="l" rtl="0">
              <a:spcBef>
                <a:spcPct val="20000"/>
              </a:spcBef>
              <a:buClr>
                <a:schemeClr val="tx2"/>
              </a:buClr>
              <a:buSzPct val="50000"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Read a symbol</a:t>
            </a:r>
          </a:p>
          <a:p>
            <a:pPr marL="742950" lvl="1" indent="-285750" algn="l" rtl="0">
              <a:spcBef>
                <a:spcPct val="20000"/>
              </a:spcBef>
              <a:buClr>
                <a:schemeClr val="tx2"/>
              </a:buClr>
              <a:buSzPct val="50000"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(2.1) If it is an operand, place onto the output.</a:t>
            </a:r>
          </a:p>
          <a:p>
            <a:pPr marL="742950" lvl="1" indent="-285750" algn="l" rtl="0">
              <a:spcBef>
                <a:spcPct val="20000"/>
              </a:spcBef>
              <a:buClr>
                <a:schemeClr val="tx2"/>
              </a:buClr>
              <a:buSzPct val="50000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(2.2) If it is an operator</a:t>
            </a:r>
          </a:p>
          <a:p>
            <a:pPr marL="1143000" lvl="2" indent="-228600" algn="l" rtl="0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(a) If it is a right parenthesis, then pop the stack, write symbols, until a left parenthesis is encountered.</a:t>
            </a:r>
          </a:p>
          <a:p>
            <a:pPr marL="1143000" lvl="2" indent="-228600" algn="l" rtl="0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sz="1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90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Remark: The '(' is popped, but not written as output.</a:t>
            </a:r>
          </a:p>
          <a:p>
            <a:pPr marL="1143000" lvl="2" indent="-228600" algn="l" rtl="0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(b) If it is any other symbol, such as  '+', '*', '(', pop entries from the stack until an entry of lower priority is found, or '(' is found. When the popping is done, push the operator onto the stack.</a:t>
            </a:r>
          </a:p>
          <a:p>
            <a:pPr marL="1143000" lvl="2" indent="-228600" algn="l" rtl="0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90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Remark: If '(' is found, don’t pop it.</a:t>
            </a:r>
          </a:p>
          <a:p>
            <a:pPr marL="742950" lvl="1" indent="-285750" algn="l" rtl="0">
              <a:spcBef>
                <a:spcPct val="20000"/>
              </a:spcBef>
              <a:buClr>
                <a:schemeClr val="tx2"/>
              </a:buClr>
              <a:buSzPct val="50000"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Go to step (2).</a:t>
            </a:r>
          </a:p>
          <a:p>
            <a:pPr marL="742950" lvl="1" indent="-285750" algn="l" rtl="0">
              <a:spcBef>
                <a:spcPct val="20000"/>
              </a:spcBef>
              <a:buClr>
                <a:schemeClr val="tx2"/>
              </a:buClr>
              <a:buSzPct val="50000"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If read the end of input, pop the stack until it is empty, </a:t>
            </a:r>
          </a:p>
          <a:p>
            <a:pPr marL="742950" lvl="1" indent="-285750" algn="l" rtl="0">
              <a:spcBef>
                <a:spcPct val="20000"/>
              </a:spcBef>
              <a:buClr>
                <a:schemeClr val="tx2"/>
              </a:buClr>
              <a:buSzPct val="50000"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writing symbols onto the output.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404664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buNone/>
              <a:defRPr/>
            </a:pPr>
            <a:r>
              <a:rPr lang="en-US" sz="4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Stack ADT: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3</a:t>
            </a:r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39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831663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84313"/>
            <a:ext cx="8839200" cy="5221287"/>
          </a:xfrm>
        </p:spPr>
        <p:txBody>
          <a:bodyPr>
            <a:normAutofit fontScale="92500" lnSpcReduction="10000"/>
          </a:bodyPr>
          <a:lstStyle/>
          <a:p>
            <a:pPr algn="l" rtl="0" eaLnBrk="1" hangingPunct="1">
              <a:defRPr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Convert the following infix expression into postfix</a:t>
            </a:r>
          </a:p>
          <a:p>
            <a:pPr algn="ctr" rtl="0" eaLnBrk="1" hangingPunct="1">
              <a:buFont typeface="Wingdings" pitchFamily="2" charset="2"/>
              <a:buNone/>
              <a:defRPr/>
            </a:pPr>
            <a:r>
              <a:rPr lang="en-US" sz="2500" dirty="0">
                <a:latin typeface="Consolas" panose="020B0609020204030204" pitchFamily="49" charset="0"/>
                <a:cs typeface="Consolas" panose="020B0609020204030204" pitchFamily="49" charset="0"/>
              </a:rPr>
              <a:t>A * B + C * D</a:t>
            </a:r>
          </a:p>
          <a:p>
            <a:pPr algn="l" rtl="0" eaLnBrk="1" hangingPunct="1">
              <a:buFont typeface="Wingdings" pitchFamily="2" charset="2"/>
              <a:buNone/>
              <a:defRPr/>
            </a:pPr>
            <a:endParaRPr lang="en-US" sz="800" b="1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buFont typeface="Wingdings" pitchFamily="2" charset="2"/>
              <a:buNone/>
              <a:defRPr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		Stack</a:t>
            </a:r>
            <a:r>
              <a:rPr lang="en-US" sz="2800" b="1" dirty="0">
                <a:latin typeface="Times New Roman" panose="02020603050405020304" pitchFamily="18" charset="0"/>
                <a:ea typeface="'??"/>
                <a:cs typeface="Times New Roman" panose="02020603050405020304" pitchFamily="18" charset="0"/>
              </a:rPr>
              <a:t>	 		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buFont typeface="Wingdings" pitchFamily="2" charset="2"/>
              <a:buNone/>
              <a:defRPr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buFont typeface="Wingdings" pitchFamily="2" charset="2"/>
              <a:buNone/>
              <a:defRPr/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empty</a:t>
            </a:r>
          </a:p>
          <a:p>
            <a:pPr algn="l" rtl="0" eaLnBrk="1" hangingPunct="1">
              <a:buFont typeface="Wingdings" pitchFamily="2" charset="2"/>
              <a:buNone/>
              <a:defRPr/>
            </a:pP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empty			</a:t>
            </a: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  <a:p>
            <a:pPr algn="l" rtl="0" eaLnBrk="1" hangingPunct="1">
              <a:buFont typeface="Wingdings" pitchFamily="2" charset="2"/>
              <a:buNone/>
              <a:defRPr/>
            </a:pP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*			*				A	</a:t>
            </a:r>
          </a:p>
          <a:p>
            <a:pPr algn="l" rtl="0" eaLnBrk="1" hangingPunct="1">
              <a:buFont typeface="Wingdings" pitchFamily="2" charset="2"/>
              <a:buNone/>
              <a:defRPr/>
            </a:pP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			*				A B	</a:t>
            </a:r>
          </a:p>
          <a:p>
            <a:pPr algn="l" rtl="0" eaLnBrk="1" hangingPunct="1">
              <a:buFont typeface="Wingdings" pitchFamily="2" charset="2"/>
              <a:buNone/>
              <a:defRPr/>
            </a:pP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		</a:t>
            </a:r>
            <a:r>
              <a:rPr lang="en-US" sz="2400" dirty="0">
                <a:effectLst/>
                <a:latin typeface="Consolas" panose="020B0609020204030204" pitchFamily="49" charset="0"/>
                <a:ea typeface="'??"/>
                <a:cs typeface="Consolas" panose="020B0609020204030204" pitchFamily="49" charset="0"/>
              </a:rPr>
              <a:t>	+			</a:t>
            </a: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A B *	</a:t>
            </a:r>
          </a:p>
          <a:p>
            <a:pPr algn="l" rtl="0" eaLnBrk="1" hangingPunct="1">
              <a:buFont typeface="Wingdings" pitchFamily="2" charset="2"/>
              <a:buNone/>
              <a:defRPr/>
            </a:pP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			+				A B * C</a:t>
            </a:r>
          </a:p>
          <a:p>
            <a:pPr algn="l" rtl="0" eaLnBrk="1" hangingPunct="1">
              <a:buFont typeface="Wingdings" pitchFamily="2" charset="2"/>
              <a:buNone/>
              <a:defRPr/>
            </a:pP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*			+ </a:t>
            </a:r>
            <a:r>
              <a:rPr lang="en-US" sz="2400" dirty="0">
                <a:effectLst/>
                <a:latin typeface="Consolas" panose="020B0609020204030204" pitchFamily="49" charset="0"/>
                <a:ea typeface="'??"/>
                <a:cs typeface="Consolas" panose="020B0609020204030204" pitchFamily="49" charset="0"/>
              </a:rPr>
              <a:t>*			</a:t>
            </a: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A B * C</a:t>
            </a:r>
          </a:p>
          <a:p>
            <a:pPr algn="l" rtl="0" eaLnBrk="1" hangingPunct="1">
              <a:buFont typeface="Wingdings" pitchFamily="2" charset="2"/>
              <a:buNone/>
              <a:defRPr/>
            </a:pP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			+ *				A B * C D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l" rtl="0" eaLnBrk="1" hangingPunct="1">
              <a:buFont typeface="Wingdings" pitchFamily="2" charset="2"/>
              <a:buNone/>
              <a:defRPr/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pop stack			</a:t>
            </a:r>
            <a:r>
              <a:rPr lang="en-US" sz="2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 B * C D * +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71684" name="Line 6"/>
          <p:cNvSpPr>
            <a:spLocks noChangeShapeType="1"/>
          </p:cNvSpPr>
          <p:nvPr/>
        </p:nvSpPr>
        <p:spPr bwMode="auto">
          <a:xfrm>
            <a:off x="228600" y="2924944"/>
            <a:ext cx="7391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ar-SA"/>
          </a:p>
        </p:txBody>
      </p:sp>
      <p:sp>
        <p:nvSpPr>
          <p:cNvPr id="71685" name="Text Box 7"/>
          <p:cNvSpPr txBox="1">
            <a:spLocks noChangeArrowheads="1"/>
          </p:cNvSpPr>
          <p:nvPr/>
        </p:nvSpPr>
        <p:spPr bwMode="auto">
          <a:xfrm>
            <a:off x="6961312" y="5002311"/>
            <a:ext cx="2182688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rtl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ar-SA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postfix form</a:t>
            </a:r>
          </a:p>
        </p:txBody>
      </p:sp>
      <p:sp>
        <p:nvSpPr>
          <p:cNvPr id="71686" name="Rectangle 8"/>
          <p:cNvSpPr>
            <a:spLocks noChangeArrowheads="1"/>
          </p:cNvSpPr>
          <p:nvPr/>
        </p:nvSpPr>
        <p:spPr bwMode="auto">
          <a:xfrm>
            <a:off x="3924300" y="6021288"/>
            <a:ext cx="2663924" cy="381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ar-SA" altLang="ar-SA" sz="1800"/>
          </a:p>
        </p:txBody>
      </p:sp>
      <p:sp>
        <p:nvSpPr>
          <p:cNvPr id="71687" name="Line 9"/>
          <p:cNvSpPr>
            <a:spLocks noChangeShapeType="1"/>
          </p:cNvSpPr>
          <p:nvPr/>
        </p:nvSpPr>
        <p:spPr bwMode="auto">
          <a:xfrm flipH="1">
            <a:off x="6588224" y="5394176"/>
            <a:ext cx="1260376" cy="77112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ar-SA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404664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buNone/>
              <a:defRPr/>
            </a:pPr>
            <a:r>
              <a:rPr lang="en-US" sz="4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Stack ADT: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3</a:t>
            </a:r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(-Lists, Stacks, and Queues-)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D5C614-A236-4E95-9105-E600B4ECC222}" type="slidenum">
              <a:rPr lang="ar-SA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967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84313"/>
            <a:ext cx="8839200" cy="720725"/>
          </a:xfrm>
        </p:spPr>
        <p:txBody>
          <a:bodyPr>
            <a:normAutofit/>
          </a:bodyPr>
          <a:lstStyle/>
          <a:p>
            <a:pPr algn="l" rtl="0" eaLnBrk="1" hangingPunct="1">
              <a:lnSpc>
                <a:spcPct val="90000"/>
              </a:lnSpc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Convert the following infix expression into postfix</a:t>
            </a:r>
          </a:p>
          <a:p>
            <a:pPr algn="ctr" rtl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A + B * C + ( D * E + F ) * G</a:t>
            </a:r>
            <a:endParaRPr lang="en-US" sz="16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2708" name="Line 4"/>
          <p:cNvSpPr>
            <a:spLocks noChangeShapeType="1"/>
          </p:cNvSpPr>
          <p:nvPr/>
        </p:nvSpPr>
        <p:spPr bwMode="auto">
          <a:xfrm>
            <a:off x="341312" y="2492896"/>
            <a:ext cx="644433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ar-SA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932040" y="5157667"/>
            <a:ext cx="4240088" cy="1583701"/>
            <a:chOff x="4932040" y="5157667"/>
            <a:chExt cx="4240088" cy="1583701"/>
          </a:xfrm>
        </p:grpSpPr>
        <p:sp>
          <p:nvSpPr>
            <p:cNvPr id="72709" name="Text Box 5"/>
            <p:cNvSpPr txBox="1">
              <a:spLocks noChangeArrowheads="1"/>
            </p:cNvSpPr>
            <p:nvPr/>
          </p:nvSpPr>
          <p:spPr bwMode="auto">
            <a:xfrm>
              <a:off x="7114728" y="5157667"/>
              <a:ext cx="20574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postfix form</a:t>
              </a:r>
            </a:p>
          </p:txBody>
        </p:sp>
        <p:sp>
          <p:nvSpPr>
            <p:cNvPr id="72710" name="Rectangle 6"/>
            <p:cNvSpPr>
              <a:spLocks noChangeArrowheads="1"/>
            </p:cNvSpPr>
            <p:nvPr/>
          </p:nvSpPr>
          <p:spPr bwMode="auto">
            <a:xfrm>
              <a:off x="4932040" y="6436568"/>
              <a:ext cx="2799928" cy="3048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ar-SA" altLang="ar-SA"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711" name="Line 7"/>
            <p:cNvSpPr>
              <a:spLocks noChangeShapeType="1"/>
            </p:cNvSpPr>
            <p:nvPr/>
          </p:nvSpPr>
          <p:spPr bwMode="auto">
            <a:xfrm flipH="1">
              <a:off x="7515944" y="5482534"/>
              <a:ext cx="425996" cy="9540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S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404664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buNone/>
              <a:defRPr/>
            </a:pPr>
            <a:r>
              <a:rPr lang="en-US" sz="4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Stack ADT: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3</a:t>
            </a:r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341312" y="2212704"/>
            <a:ext cx="7543056" cy="4528664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320040" indent="-320040" algn="r" rtl="1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r" rtl="1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r" rtl="1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r" rtl="1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r" rtl="1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r" rtl="1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r" rtl="1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r" rtl="1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r" rtl="1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		Stack</a:t>
            </a:r>
            <a:r>
              <a:rPr lang="en-US" sz="2000" b="1" dirty="0">
                <a:latin typeface="Times New Roman" panose="02020603050405020304" pitchFamily="18" charset="0"/>
                <a:ea typeface="'??"/>
                <a:cs typeface="Times New Roman" panose="02020603050405020304" pitchFamily="18" charset="0"/>
              </a:rPr>
              <a:t>	 		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empty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empty			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+			+			A	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B			+			A B	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		</a:t>
            </a:r>
            <a:r>
              <a:rPr lang="en-US" sz="1600" dirty="0">
                <a:latin typeface="Consolas" panose="020B0609020204030204" pitchFamily="49" charset="0"/>
                <a:ea typeface="'??"/>
                <a:cs typeface="Consolas" panose="020B0609020204030204" pitchFamily="49" charset="0"/>
              </a:rPr>
              <a:t>	+ *			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B	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			+ *			A B C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+			+ </a:t>
            </a:r>
            <a:r>
              <a:rPr lang="en-US" sz="1600" dirty="0">
                <a:latin typeface="Consolas" panose="020B0609020204030204" pitchFamily="49" charset="0"/>
                <a:ea typeface="'??"/>
                <a:cs typeface="Consolas" panose="020B0609020204030204" pitchFamily="49" charset="0"/>
              </a:rPr>
              <a:t>			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B C * +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			+ (			A B C * +	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D			+ (			A B C * + D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			+ ( *			A B C * + D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E			+ ( *			A B C * + D E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+			+ ( +			A B C * + D E *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			+ ( +			A B C * + D E * F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			+			A B C * + D E * F +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			+ *			A B C * + D E * F +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G			+ *			A B C * + D E * F + G</a:t>
            </a:r>
          </a:p>
          <a:p>
            <a:pPr algn="l" rtl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pop stack			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B C * + D E * F + G * +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(-Lists, Stacks, and Queues-)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D5C614-A236-4E95-9105-E600B4ECC222}" type="slidenum">
              <a:rPr lang="ar-SA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86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8" grpId="0" animBg="1"/>
      <p:bldP spid="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fr-FR" altLang="fr-F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Queue ADT</a:t>
            </a:r>
            <a:endParaRPr lang="fr-FR" altLang="fr-F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7930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7800" y="1484784"/>
            <a:ext cx="8813800" cy="5220816"/>
          </a:xfrm>
        </p:spPr>
        <p:txBody>
          <a:bodyPr/>
          <a:lstStyle/>
          <a:p>
            <a:pPr algn="l" rtl="0" eaLnBrk="1" hangingPunct="1"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a stack, a</a:t>
            </a:r>
            <a:r>
              <a:rPr lang="en-US" sz="2600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sz="2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also a list. However, with a queue, insertion is done at one end, while deletion is performed at the other end.</a:t>
            </a:r>
          </a:p>
          <a:p>
            <a:pPr algn="l" rtl="0" eaLnBrk="1" hangingPunct="1"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the elements of queues follows a </a:t>
            </a:r>
            <a:r>
              <a:rPr lang="en-US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In, First Out (FIFO)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order.</a:t>
            </a:r>
          </a:p>
          <a:p>
            <a:pPr algn="l" rtl="0" eaLnBrk="1" hangingPunct="1"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check-out lines in a store, a queue has a </a:t>
            </a:r>
            <a:r>
              <a:rPr lang="en-US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r>
              <a:rPr lang="en-US" sz="2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 </a:t>
            </a:r>
            <a:r>
              <a:rPr lang="en-US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 rtl="0" eaLnBrk="1" hangingPunct="1"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operations:</a:t>
            </a:r>
          </a:p>
          <a:p>
            <a:pPr lvl="1" algn="l" rtl="0" eaLnBrk="1" hangingPunct="1">
              <a:defRPr/>
            </a:pP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insert an element at the rear of the list</a:t>
            </a:r>
          </a:p>
          <a:p>
            <a:pPr lvl="1" algn="l" rtl="0" eaLnBrk="1" hangingPunct="1">
              <a:defRPr/>
            </a:pP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delete the element at the front of the list</a:t>
            </a:r>
          </a:p>
        </p:txBody>
      </p:sp>
      <p:sp>
        <p:nvSpPr>
          <p:cNvPr id="73731" name="Rectangle 4"/>
          <p:cNvSpPr>
            <a:spLocks noChangeArrowheads="1"/>
          </p:cNvSpPr>
          <p:nvPr/>
        </p:nvSpPr>
        <p:spPr bwMode="auto">
          <a:xfrm>
            <a:off x="0" y="420340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4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Queue ADT: </a:t>
            </a:r>
            <a:r>
              <a:rPr lang="en-US" alt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grpSp>
        <p:nvGrpSpPr>
          <p:cNvPr id="73732" name="Group 9"/>
          <p:cNvGrpSpPr>
            <a:grpSpLocks/>
          </p:cNvGrpSpPr>
          <p:nvPr/>
        </p:nvGrpSpPr>
        <p:grpSpPr bwMode="auto">
          <a:xfrm>
            <a:off x="1416050" y="5589239"/>
            <a:ext cx="6127750" cy="1263038"/>
            <a:chOff x="768" y="3264"/>
            <a:chExt cx="3860" cy="917"/>
          </a:xfrm>
        </p:grpSpPr>
        <p:sp>
          <p:nvSpPr>
            <p:cNvPr id="73733" name="Rectangle 10"/>
            <p:cNvSpPr>
              <a:spLocks noChangeArrowheads="1"/>
            </p:cNvSpPr>
            <p:nvPr/>
          </p:nvSpPr>
          <p:spPr bwMode="auto">
            <a:xfrm>
              <a:off x="1536" y="3264"/>
              <a:ext cx="384" cy="38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ar-SA" altLang="ar-SA"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734" name="Freeform 11"/>
            <p:cNvSpPr>
              <a:spLocks/>
            </p:cNvSpPr>
            <p:nvPr/>
          </p:nvSpPr>
          <p:spPr bwMode="auto">
            <a:xfrm>
              <a:off x="1056" y="3456"/>
              <a:ext cx="480" cy="288"/>
            </a:xfrm>
            <a:custGeom>
              <a:avLst/>
              <a:gdLst>
                <a:gd name="T0" fmla="*/ 1 w 816"/>
                <a:gd name="T1" fmla="*/ 0 h 288"/>
                <a:gd name="T2" fmla="*/ 1 w 816"/>
                <a:gd name="T3" fmla="*/ 48 h 288"/>
                <a:gd name="T4" fmla="*/ 0 w 816"/>
                <a:gd name="T5" fmla="*/ 288 h 288"/>
                <a:gd name="T6" fmla="*/ 0 60000 65536"/>
                <a:gd name="T7" fmla="*/ 0 60000 65536"/>
                <a:gd name="T8" fmla="*/ 0 60000 65536"/>
                <a:gd name="T9" fmla="*/ 0 w 816"/>
                <a:gd name="T10" fmla="*/ 0 h 288"/>
                <a:gd name="T11" fmla="*/ 816 w 816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16" h="288">
                  <a:moveTo>
                    <a:pt x="816" y="0"/>
                  </a:moveTo>
                  <a:cubicBezTo>
                    <a:pt x="620" y="0"/>
                    <a:pt x="424" y="0"/>
                    <a:pt x="288" y="48"/>
                  </a:cubicBezTo>
                  <a:cubicBezTo>
                    <a:pt x="152" y="96"/>
                    <a:pt x="56" y="216"/>
                    <a:pt x="0" y="288"/>
                  </a:cubicBezTo>
                </a:path>
              </a:pathLst>
            </a:custGeom>
            <a:noFill/>
            <a:ln w="317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S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735" name="Freeform 12"/>
            <p:cNvSpPr>
              <a:spLocks/>
            </p:cNvSpPr>
            <p:nvPr/>
          </p:nvSpPr>
          <p:spPr bwMode="auto">
            <a:xfrm>
              <a:off x="3868" y="3456"/>
              <a:ext cx="452" cy="288"/>
            </a:xfrm>
            <a:custGeom>
              <a:avLst/>
              <a:gdLst>
                <a:gd name="T0" fmla="*/ 1 w 864"/>
                <a:gd name="T1" fmla="*/ 288 h 288"/>
                <a:gd name="T2" fmla="*/ 1 w 864"/>
                <a:gd name="T3" fmla="*/ 96 h 288"/>
                <a:gd name="T4" fmla="*/ 0 w 864"/>
                <a:gd name="T5" fmla="*/ 0 h 288"/>
                <a:gd name="T6" fmla="*/ 0 60000 65536"/>
                <a:gd name="T7" fmla="*/ 0 60000 65536"/>
                <a:gd name="T8" fmla="*/ 0 60000 65536"/>
                <a:gd name="T9" fmla="*/ 0 w 864"/>
                <a:gd name="T10" fmla="*/ 0 h 288"/>
                <a:gd name="T11" fmla="*/ 864 w 86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288">
                  <a:moveTo>
                    <a:pt x="864" y="288"/>
                  </a:moveTo>
                  <a:cubicBezTo>
                    <a:pt x="816" y="216"/>
                    <a:pt x="768" y="144"/>
                    <a:pt x="624" y="96"/>
                  </a:cubicBezTo>
                  <a:cubicBezTo>
                    <a:pt x="480" y="48"/>
                    <a:pt x="136" y="8"/>
                    <a:pt x="0" y="0"/>
                  </a:cubicBezTo>
                </a:path>
              </a:pathLst>
            </a:custGeom>
            <a:noFill/>
            <a:ln w="317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S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736" name="Rectangle 13"/>
            <p:cNvSpPr>
              <a:spLocks noChangeArrowheads="1"/>
            </p:cNvSpPr>
            <p:nvPr/>
          </p:nvSpPr>
          <p:spPr bwMode="auto">
            <a:xfrm>
              <a:off x="1920" y="3264"/>
              <a:ext cx="384" cy="38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ar-SA" altLang="ar-SA"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737" name="Rectangle 14"/>
            <p:cNvSpPr>
              <a:spLocks noChangeArrowheads="1"/>
            </p:cNvSpPr>
            <p:nvPr/>
          </p:nvSpPr>
          <p:spPr bwMode="auto">
            <a:xfrm>
              <a:off x="2304" y="3264"/>
              <a:ext cx="384" cy="38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ar-SA" altLang="ar-SA"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738" name="Rectangle 15"/>
            <p:cNvSpPr>
              <a:spLocks noChangeArrowheads="1"/>
            </p:cNvSpPr>
            <p:nvPr/>
          </p:nvSpPr>
          <p:spPr bwMode="auto">
            <a:xfrm>
              <a:off x="2688" y="3264"/>
              <a:ext cx="384" cy="38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ar-SA" altLang="ar-SA"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739" name="Rectangle 16"/>
            <p:cNvSpPr>
              <a:spLocks noChangeArrowheads="1"/>
            </p:cNvSpPr>
            <p:nvPr/>
          </p:nvSpPr>
          <p:spPr bwMode="auto">
            <a:xfrm>
              <a:off x="3072" y="3264"/>
              <a:ext cx="384" cy="38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ar-SA" altLang="ar-SA"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740" name="Rectangle 17"/>
            <p:cNvSpPr>
              <a:spLocks noChangeArrowheads="1"/>
            </p:cNvSpPr>
            <p:nvPr/>
          </p:nvSpPr>
          <p:spPr bwMode="auto">
            <a:xfrm>
              <a:off x="3456" y="3264"/>
              <a:ext cx="384" cy="38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ar-SA" altLang="ar-SA"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741" name="Text Box 18"/>
            <p:cNvSpPr txBox="1">
              <a:spLocks noChangeArrowheads="1"/>
            </p:cNvSpPr>
            <p:nvPr/>
          </p:nvSpPr>
          <p:spPr bwMode="auto">
            <a:xfrm>
              <a:off x="3764" y="3712"/>
              <a:ext cx="864" cy="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ar-SA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Insert </a:t>
              </a:r>
              <a:br>
                <a:rPr lang="en-US" altLang="ar-SA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ar-SA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</a:t>
              </a:r>
              <a:r>
                <a:rPr lang="en-US" altLang="ar-SA" sz="18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enqueue</a:t>
              </a:r>
              <a:r>
                <a:rPr lang="en-US" altLang="ar-SA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3742" name="Text Box 19"/>
            <p:cNvSpPr txBox="1">
              <a:spLocks noChangeArrowheads="1"/>
            </p:cNvSpPr>
            <p:nvPr/>
          </p:nvSpPr>
          <p:spPr bwMode="auto">
            <a:xfrm>
              <a:off x="768" y="3696"/>
              <a:ext cx="816" cy="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l" rtl="0"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ar-SA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Remove</a:t>
              </a:r>
              <a:br>
                <a:rPr lang="en-US" altLang="ar-SA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ar-SA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ar-SA" sz="18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dequeue</a:t>
              </a:r>
              <a:r>
                <a:rPr lang="en-US" altLang="ar-SA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3743" name="Text Box 20"/>
            <p:cNvSpPr txBox="1">
              <a:spLocks noChangeArrowheads="1"/>
            </p:cNvSpPr>
            <p:nvPr/>
          </p:nvSpPr>
          <p:spPr bwMode="auto">
            <a:xfrm>
              <a:off x="3456" y="3878"/>
              <a:ext cx="432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rtl="0"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ar-SA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rear</a:t>
              </a:r>
            </a:p>
          </p:txBody>
        </p:sp>
        <p:sp>
          <p:nvSpPr>
            <p:cNvPr id="73744" name="Text Box 21"/>
            <p:cNvSpPr txBox="1">
              <a:spLocks noChangeArrowheads="1"/>
            </p:cNvSpPr>
            <p:nvPr/>
          </p:nvSpPr>
          <p:spPr bwMode="auto">
            <a:xfrm>
              <a:off x="1488" y="3878"/>
              <a:ext cx="624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Ø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rtl="0"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ar-SA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</a:t>
              </a:r>
            </a:p>
          </p:txBody>
        </p:sp>
        <p:sp>
          <p:nvSpPr>
            <p:cNvPr id="73745" name="Line 22"/>
            <p:cNvSpPr>
              <a:spLocks noChangeShapeType="1"/>
            </p:cNvSpPr>
            <p:nvPr/>
          </p:nvSpPr>
          <p:spPr bwMode="auto">
            <a:xfrm flipV="1">
              <a:off x="1728" y="3648"/>
              <a:ext cx="0" cy="28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S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746" name="Line 23"/>
            <p:cNvSpPr>
              <a:spLocks noChangeShapeType="1"/>
            </p:cNvSpPr>
            <p:nvPr/>
          </p:nvSpPr>
          <p:spPr bwMode="auto">
            <a:xfrm flipV="1">
              <a:off x="3676" y="3648"/>
              <a:ext cx="0" cy="28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S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(-Lists, Stacks, and Queues-)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3E8FCA-FB07-4A33-B1EB-D60148EAA78C}" type="slidenum">
              <a:rPr lang="ar-SA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5784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484784"/>
            <a:ext cx="8839200" cy="5220816"/>
          </a:xfrm>
        </p:spPr>
        <p:txBody>
          <a:bodyPr>
            <a:normAutofit/>
          </a:bodyPr>
          <a:lstStyle/>
          <a:p>
            <a:pPr algn="l" rtl="0" eaLnBrk="1" hangingPunct="1">
              <a:defRPr/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Implementation of Queues</a:t>
            </a: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 rtl="0"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 item is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enqueued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make the rear index move forward.</a:t>
            </a:r>
          </a:p>
          <a:p>
            <a:pPr lvl="1" algn="l" rtl="0"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 item is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dequeued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front index moves by one element towards the back of the queue (thus removing the front item, so no copying to neighboring elements is needed).</a:t>
            </a:r>
          </a:p>
          <a:p>
            <a:pPr lvl="1" algn="l" rtl="0"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b="1" dirty="0">
                <a:solidFill>
                  <a:schemeClr val="hlink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here is that the rear index cannot move beyond the last element in the array.</a:t>
            </a:r>
          </a:p>
        </p:txBody>
      </p:sp>
      <p:sp>
        <p:nvSpPr>
          <p:cNvPr id="74755" name="Text Box 4"/>
          <p:cNvSpPr txBox="1">
            <a:spLocks noChangeArrowheads="1"/>
          </p:cNvSpPr>
          <p:nvPr/>
        </p:nvSpPr>
        <p:spPr bwMode="auto">
          <a:xfrm>
            <a:off x="990600" y="4268788"/>
            <a:ext cx="7829387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XXXXOOOOO   (rear) </a:t>
            </a:r>
          </a:p>
          <a:p>
            <a:pPr algn="l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OXXX</a:t>
            </a:r>
            <a:r>
              <a:rPr lang="en-US" altLang="ar-SA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ar-S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OOOO   (after 1 </a:t>
            </a:r>
            <a:r>
              <a:rPr lang="en-US" altLang="ar-S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dequeue</a:t>
            </a:r>
            <a:r>
              <a:rPr lang="en-US" altLang="ar-S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1 </a:t>
            </a:r>
            <a:r>
              <a:rPr lang="en-US" altLang="ar-S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US" altLang="ar-S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OOXXX</a:t>
            </a:r>
            <a:r>
              <a:rPr lang="en-US" altLang="ar-SA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</a:t>
            </a:r>
            <a:r>
              <a:rPr lang="en-US" altLang="ar-S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   (after another </a:t>
            </a:r>
            <a:r>
              <a:rPr lang="en-US" altLang="ar-S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dequeue</a:t>
            </a:r>
            <a:r>
              <a:rPr lang="en-US" altLang="ar-S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2 </a:t>
            </a:r>
            <a:r>
              <a:rPr lang="en-US" altLang="ar-S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enqueues</a:t>
            </a:r>
            <a:r>
              <a:rPr lang="en-US" altLang="ar-S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OOOOXXX</a:t>
            </a:r>
            <a:r>
              <a:rPr lang="en-US" altLang="ar-SA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</a:t>
            </a:r>
            <a:r>
              <a:rPr lang="en-US" altLang="ar-S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(after 2 more </a:t>
            </a:r>
            <a:r>
              <a:rPr lang="en-US" altLang="ar-S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dequeues</a:t>
            </a:r>
            <a:r>
              <a:rPr lang="en-US" altLang="ar-S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2 </a:t>
            </a:r>
            <a:r>
              <a:rPr lang="en-US" altLang="ar-S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enqueues</a:t>
            </a:r>
            <a:r>
              <a:rPr lang="en-US" altLang="ar-S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4756" name="Text Box 6"/>
          <p:cNvSpPr txBox="1">
            <a:spLocks noChangeArrowheads="1"/>
          </p:cNvSpPr>
          <p:nvPr/>
        </p:nvSpPr>
        <p:spPr bwMode="auto">
          <a:xfrm>
            <a:off x="76200" y="4221163"/>
            <a:ext cx="996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400">
                <a:latin typeface="Times New Roman" panose="02020603050405020304" pitchFamily="18" charset="0"/>
                <a:cs typeface="Times New Roman" panose="02020603050405020304" pitchFamily="18" charset="0"/>
              </a:rPr>
              <a:t>(front)</a:t>
            </a:r>
          </a:p>
        </p:txBody>
      </p:sp>
      <p:sp>
        <p:nvSpPr>
          <p:cNvPr id="74757" name="Rectangle 8"/>
          <p:cNvSpPr>
            <a:spLocks noChangeArrowheads="1"/>
          </p:cNvSpPr>
          <p:nvPr/>
        </p:nvSpPr>
        <p:spPr bwMode="auto">
          <a:xfrm>
            <a:off x="0" y="420340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3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Queue ADT: </a:t>
            </a:r>
            <a:r>
              <a:rPr lang="en-US" altLang="ar-SA" sz="3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Implementation</a:t>
            </a:r>
          </a:p>
        </p:txBody>
      </p:sp>
      <p:sp>
        <p:nvSpPr>
          <p:cNvPr id="74758" name="Rectangle 10"/>
          <p:cNvSpPr>
            <a:spLocks noChangeArrowheads="1"/>
          </p:cNvSpPr>
          <p:nvPr/>
        </p:nvSpPr>
        <p:spPr bwMode="auto">
          <a:xfrm>
            <a:off x="1054100" y="4343400"/>
            <a:ext cx="20574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ar-SA" altLang="ar-SA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59" name="Rectangle 11"/>
          <p:cNvSpPr>
            <a:spLocks noChangeArrowheads="1"/>
          </p:cNvSpPr>
          <p:nvPr/>
        </p:nvSpPr>
        <p:spPr bwMode="auto">
          <a:xfrm>
            <a:off x="1054100" y="4711700"/>
            <a:ext cx="20574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ar-SA" altLang="ar-SA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60" name="Rectangle 12"/>
          <p:cNvSpPr>
            <a:spLocks noChangeArrowheads="1"/>
          </p:cNvSpPr>
          <p:nvPr/>
        </p:nvSpPr>
        <p:spPr bwMode="auto">
          <a:xfrm>
            <a:off x="1041400" y="5080000"/>
            <a:ext cx="20574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ar-SA" altLang="ar-SA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61" name="Rectangle 13"/>
          <p:cNvSpPr>
            <a:spLocks noChangeArrowheads="1"/>
          </p:cNvSpPr>
          <p:nvPr/>
        </p:nvSpPr>
        <p:spPr bwMode="auto">
          <a:xfrm>
            <a:off x="1041400" y="5448300"/>
            <a:ext cx="20574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ar-SA" altLang="ar-SA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44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305264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484784"/>
            <a:ext cx="8839200" cy="5220816"/>
          </a:xfrm>
        </p:spPr>
        <p:txBody>
          <a:bodyPr>
            <a:normAutofit/>
          </a:bodyPr>
          <a:lstStyle/>
          <a:p>
            <a:pPr algn="l" rtl="0" eaLnBrk="1" hangingPunct="1">
              <a:defRPr/>
            </a:pP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using Circular Array</a:t>
            </a:r>
            <a:endParaRPr lang="ar-SA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 element moves past the end of a circular array, it wraps around to the beginning, e.g.</a:t>
            </a:r>
          </a:p>
          <a:p>
            <a:pPr algn="l" rtl="0" eaLnBrk="1" hangingPunct="1"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 rtl="0" eaLnBrk="1" hangingPunct="1"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OOOOO7963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OOOO7963 (after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(4)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0" y="420340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ar-SA" sz="3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Queue ADT: </a:t>
            </a:r>
            <a:r>
              <a:rPr lang="en-US" altLang="ar-SA" sz="3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Implementation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45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642198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0" y="420340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ar-SA" sz="3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Queue ADT: </a:t>
            </a:r>
            <a:r>
              <a:rPr lang="en-US" altLang="ar-SA" sz="3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Implementation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28799"/>
            <a:ext cx="2952328" cy="5144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420888"/>
            <a:ext cx="3024336" cy="2454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3353" y="5091547"/>
            <a:ext cx="2893023" cy="110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46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584752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484784"/>
            <a:ext cx="8839200" cy="3024336"/>
          </a:xfrm>
        </p:spPr>
        <p:txBody>
          <a:bodyPr>
            <a:noAutofit/>
          </a:bodyPr>
          <a:lstStyle/>
          <a:p>
            <a:pPr algn="l" rtl="0" eaLnBrk="1" hangingPunct="1"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queue</a:t>
            </a:r>
          </a:p>
          <a:p>
            <a:pPr lvl="1" algn="l" rtl="0" eaLnBrk="1" hangingPunct="1"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rear = front - 1</a:t>
            </a:r>
          </a:p>
          <a:p>
            <a:pPr algn="l" rtl="0" eaLnBrk="1" hangingPunct="1"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queue</a:t>
            </a:r>
          </a:p>
          <a:p>
            <a:pPr lvl="1" algn="l" rtl="0" eaLnBrk="1" hangingPunct="1"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 to say explicitly whether the queue is empty or not</a:t>
            </a:r>
          </a:p>
          <a:p>
            <a:pPr lvl="1" algn="l" rtl="0" eaLnBrk="1" hangingPunct="1"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the array of size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 and only allow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elements to be stored</a:t>
            </a:r>
          </a:p>
          <a:p>
            <a:pPr lvl="1" algn="l" rtl="0" eaLnBrk="1" hangingPunct="1"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counter of the number of elements in the queue</a:t>
            </a: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0" y="420340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ar-SA" sz="3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Queue ADT: </a:t>
            </a:r>
            <a:r>
              <a:rPr lang="en-US" altLang="ar-SA" sz="3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Implementation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2321: D.S.A (-Lists, Stacks, and Queues-)</a:t>
            </a:r>
            <a:endParaRPr lang="ar-SA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C972D-C661-4BB2-A328-37778239E9AC}" type="slidenum">
              <a:rPr lang="ar-SA" smtClean="0"/>
              <a:t>47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847977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84313"/>
            <a:ext cx="8839200" cy="5221287"/>
          </a:xfrm>
        </p:spPr>
        <p:txBody>
          <a:bodyPr/>
          <a:lstStyle/>
          <a:p>
            <a:pPr algn="l" rtl="0" eaLnBrk="1" hangingPunct="1"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life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 rtl="0" eaLnBrk="1" hangingPunct="1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waiting lines. Like customers standing in a check-out line in a store, the first customer in is the first customer served.</a:t>
            </a:r>
          </a:p>
          <a:p>
            <a:pPr algn="l" rtl="0" eaLnBrk="1" hangingPunct="1">
              <a:defRPr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hangingPunct="1"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applications related to computer science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 rtl="0" eaLnBrk="1" hangingPunct="1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jobs</a:t>
            </a:r>
          </a:p>
          <a:p>
            <a:pPr lvl="1" algn="l" rtl="0" eaLnBrk="1" hangingPunct="1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</a:t>
            </a:r>
          </a:p>
          <a:p>
            <a:pPr lvl="1" algn="l" rtl="0" eaLnBrk="1" hangingPunct="1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851" name="Rectangle 3"/>
          <p:cNvSpPr>
            <a:spLocks noChangeArrowheads="1"/>
          </p:cNvSpPr>
          <p:nvPr/>
        </p:nvSpPr>
        <p:spPr bwMode="auto">
          <a:xfrm>
            <a:off x="0" y="404664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40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Queue ADT: </a:t>
            </a:r>
            <a:r>
              <a:rPr lang="en-US" alt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2321: D.S.A (-Lists, Stacks, and Queues-)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D5C614-A236-4E95-9105-E600B4ECC222}" type="slidenum">
              <a:rPr lang="ar-SA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65485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13185</TotalTime>
  <Words>4512</Words>
  <Application>Microsoft Office PowerPoint</Application>
  <PresentationFormat>On-screen Show (4:3)</PresentationFormat>
  <Paragraphs>685</Paragraphs>
  <Slides>48</Slides>
  <Notes>42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8" baseType="lpstr">
      <vt:lpstr>Arial</vt:lpstr>
      <vt:lpstr>Calibri</vt:lpstr>
      <vt:lpstr>Calibri Light</vt:lpstr>
      <vt:lpstr>Cambria Math</vt:lpstr>
      <vt:lpstr>Consolas</vt:lpstr>
      <vt:lpstr>Monotype Sorts</vt:lpstr>
      <vt:lpstr>Times New Roman</vt:lpstr>
      <vt:lpstr>Wingdings</vt:lpstr>
      <vt:lpstr>Thème Office</vt:lpstr>
      <vt:lpstr>صورة نقطية</vt:lpstr>
      <vt:lpstr>Lists, Stacks, and Queues</vt:lpstr>
      <vt:lpstr>Outlines</vt:lpstr>
      <vt:lpstr>Objectives</vt:lpstr>
      <vt:lpstr>1. Abstract Data Types (ADTs)</vt:lpstr>
      <vt:lpstr>Abstract Data Types (ADTs)</vt:lpstr>
      <vt:lpstr>2. The List ADT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The Stack ADT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The Queue ADT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Naghamish</dc:creator>
  <cp:lastModifiedBy>Mahmoud Hassaballah</cp:lastModifiedBy>
  <cp:revision>358</cp:revision>
  <cp:lastPrinted>2015-10-18T09:15:21Z</cp:lastPrinted>
  <dcterms:created xsi:type="dcterms:W3CDTF">2015-10-01T22:32:30Z</dcterms:created>
  <dcterms:modified xsi:type="dcterms:W3CDTF">2023-01-03T13:44:58Z</dcterms:modified>
</cp:coreProperties>
</file>