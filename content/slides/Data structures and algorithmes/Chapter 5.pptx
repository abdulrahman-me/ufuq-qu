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34"/>
  </p:notesMasterIdLst>
  <p:sldIdLst>
    <p:sldId id="379" r:id="rId2"/>
    <p:sldId id="380" r:id="rId3"/>
    <p:sldId id="381" r:id="rId4"/>
    <p:sldId id="382" r:id="rId5"/>
    <p:sldId id="383" r:id="rId6"/>
    <p:sldId id="409" r:id="rId7"/>
    <p:sldId id="384" r:id="rId8"/>
    <p:sldId id="385" r:id="rId9"/>
    <p:sldId id="410" r:id="rId10"/>
    <p:sldId id="386" r:id="rId11"/>
    <p:sldId id="387" r:id="rId12"/>
    <p:sldId id="388" r:id="rId13"/>
    <p:sldId id="417" r:id="rId14"/>
    <p:sldId id="389" r:id="rId15"/>
    <p:sldId id="390" r:id="rId16"/>
    <p:sldId id="391" r:id="rId17"/>
    <p:sldId id="392" r:id="rId18"/>
    <p:sldId id="393" r:id="rId19"/>
    <p:sldId id="394" r:id="rId20"/>
    <p:sldId id="395" r:id="rId21"/>
    <p:sldId id="396" r:id="rId22"/>
    <p:sldId id="403" r:id="rId23"/>
    <p:sldId id="404" r:id="rId24"/>
    <p:sldId id="418" r:id="rId25"/>
    <p:sldId id="405" r:id="rId26"/>
    <p:sldId id="406" r:id="rId27"/>
    <p:sldId id="411" r:id="rId28"/>
    <p:sldId id="412" r:id="rId29"/>
    <p:sldId id="413" r:id="rId30"/>
    <p:sldId id="414" r:id="rId31"/>
    <p:sldId id="415" r:id="rId32"/>
    <p:sldId id="416" r:id="rId33"/>
  </p:sldIdLst>
  <p:sldSz cx="9144000" cy="6858000" type="screen4x3"/>
  <p:notesSz cx="6781800" cy="9918700"/>
  <p:defaultTextStyle>
    <a:defPPr>
      <a:defRPr lang="en-US"/>
    </a:defPPr>
    <a:lvl1pPr algn="l" rtl="0" eaLnBrk="0" fontAlgn="base" hangingPunct="0">
      <a:spcBef>
        <a:spcPct val="20000"/>
      </a:spcBef>
      <a:spcAft>
        <a:spcPct val="0"/>
      </a:spcAft>
      <a:buClr>
        <a:schemeClr val="tx2"/>
      </a:buClr>
      <a:buSzPct val="75000"/>
      <a:buFont typeface="Monotype Sorts" charset="2"/>
      <a:buChar char="l"/>
      <a:defRPr sz="2000" b="1"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5000"/>
      <a:buFont typeface="Monotype Sorts" charset="2"/>
      <a:buChar char="l"/>
      <a:defRPr sz="2000" b="1"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5000"/>
      <a:buFont typeface="Monotype Sorts" charset="2"/>
      <a:buChar char="l"/>
      <a:defRPr sz="2000" b="1"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5000"/>
      <a:buFont typeface="Monotype Sorts" charset="2"/>
      <a:buChar char="l"/>
      <a:defRPr sz="2000" b="1"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5000"/>
      <a:buFont typeface="Monotype Sorts" charset="2"/>
      <a:buChar char="l"/>
      <a:defRPr sz="2000" b="1" kern="1200">
        <a:solidFill>
          <a:schemeClr val="tx1"/>
        </a:solidFill>
        <a:latin typeface="Arial" charset="0"/>
        <a:ea typeface="+mn-ea"/>
        <a:cs typeface="+mn-cs"/>
      </a:defRPr>
    </a:lvl5pPr>
    <a:lvl6pPr marL="2286000" algn="l" defTabSz="914400" rtl="0" eaLnBrk="1" latinLnBrk="0" hangingPunct="1">
      <a:defRPr sz="2000" b="1" kern="1200">
        <a:solidFill>
          <a:schemeClr val="tx1"/>
        </a:solidFill>
        <a:latin typeface="Arial" charset="0"/>
        <a:ea typeface="+mn-ea"/>
        <a:cs typeface="+mn-cs"/>
      </a:defRPr>
    </a:lvl6pPr>
    <a:lvl7pPr marL="2743200" algn="l" defTabSz="914400" rtl="0" eaLnBrk="1" latinLnBrk="0" hangingPunct="1">
      <a:defRPr sz="2000" b="1" kern="1200">
        <a:solidFill>
          <a:schemeClr val="tx1"/>
        </a:solidFill>
        <a:latin typeface="Arial" charset="0"/>
        <a:ea typeface="+mn-ea"/>
        <a:cs typeface="+mn-cs"/>
      </a:defRPr>
    </a:lvl7pPr>
    <a:lvl8pPr marL="3200400" algn="l" defTabSz="914400" rtl="0" eaLnBrk="1" latinLnBrk="0" hangingPunct="1">
      <a:defRPr sz="2000" b="1" kern="1200">
        <a:solidFill>
          <a:schemeClr val="tx1"/>
        </a:solidFill>
        <a:latin typeface="Arial" charset="0"/>
        <a:ea typeface="+mn-ea"/>
        <a:cs typeface="+mn-cs"/>
      </a:defRPr>
    </a:lvl8pPr>
    <a:lvl9pPr marL="3657600" algn="l" defTabSz="914400" rtl="0" eaLnBrk="1" latinLnBrk="0" hangingPunct="1">
      <a:defRPr sz="20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FF00"/>
    <a:srgbClr val="00CC00"/>
    <a:srgbClr val="070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5" autoAdjust="0"/>
    <p:restoredTop sz="86552" autoAdjust="0"/>
  </p:normalViewPr>
  <p:slideViewPr>
    <p:cSldViewPr showGuides="1">
      <p:cViewPr varScale="1">
        <p:scale>
          <a:sx n="50" d="100"/>
          <a:sy n="50" d="100"/>
        </p:scale>
        <p:origin x="1672"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bwMode="auto">
          <a:xfrm>
            <a:off x="0" y="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b="0">
                <a:latin typeface="Arial" charset="0"/>
              </a:defRPr>
            </a:lvl1pPr>
          </a:lstStyle>
          <a:p>
            <a:pPr>
              <a:defRPr/>
            </a:pPr>
            <a:endParaRPr lang="en-US"/>
          </a:p>
        </p:txBody>
      </p:sp>
      <p:sp>
        <p:nvSpPr>
          <p:cNvPr id="103427" name="Rectangle 3"/>
          <p:cNvSpPr>
            <a:spLocks noGrp="1" noChangeArrowheads="1"/>
          </p:cNvSpPr>
          <p:nvPr>
            <p:ph type="dt" idx="1"/>
          </p:nvPr>
        </p:nvSpPr>
        <p:spPr bwMode="auto">
          <a:xfrm>
            <a:off x="3841750" y="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b="0">
                <a:latin typeface="Arial"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911225" y="744538"/>
            <a:ext cx="4959350" cy="37195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 xmlns:ma14="http://schemas.microsoft.com/office/mac/drawingml/2011/main" val="1"/>
            </a:ext>
          </a:extLst>
        </p:spPr>
      </p:sp>
      <p:sp>
        <p:nvSpPr>
          <p:cNvPr id="103429" name="Rectangle 5"/>
          <p:cNvSpPr>
            <a:spLocks noGrp="1" noChangeArrowheads="1"/>
          </p:cNvSpPr>
          <p:nvPr>
            <p:ph type="body" sz="quarter" idx="3"/>
          </p:nvPr>
        </p:nvSpPr>
        <p:spPr bwMode="auto">
          <a:xfrm>
            <a:off x="677863" y="4711700"/>
            <a:ext cx="5426075" cy="446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430" name="Rectangle 6"/>
          <p:cNvSpPr>
            <a:spLocks noGrp="1" noChangeArrowheads="1"/>
          </p:cNvSpPr>
          <p:nvPr>
            <p:ph type="ftr" sz="quarter" idx="4"/>
          </p:nvPr>
        </p:nvSpPr>
        <p:spPr bwMode="auto">
          <a:xfrm>
            <a:off x="0" y="9421813"/>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b="0">
                <a:latin typeface="Arial" charset="0"/>
              </a:defRPr>
            </a:lvl1pPr>
          </a:lstStyle>
          <a:p>
            <a:pPr>
              <a:defRPr/>
            </a:pPr>
            <a:endParaRPr lang="en-US"/>
          </a:p>
        </p:txBody>
      </p:sp>
      <p:sp>
        <p:nvSpPr>
          <p:cNvPr id="103431" name="Rectangle 7"/>
          <p:cNvSpPr>
            <a:spLocks noGrp="1" noChangeArrowheads="1"/>
          </p:cNvSpPr>
          <p:nvPr>
            <p:ph type="sldNum" sz="quarter" idx="5"/>
          </p:nvPr>
        </p:nvSpPr>
        <p:spPr bwMode="auto">
          <a:xfrm>
            <a:off x="3841750" y="9421813"/>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b="0"/>
            </a:lvl1pPr>
          </a:lstStyle>
          <a:p>
            <a:fld id="{FE07A9EC-2007-4C4E-8AFC-033248564AC0}" type="slidenum">
              <a:rPr lang="en-US" altLang="en-US"/>
              <a:pPr/>
              <a:t>‹#›</a:t>
            </a:fld>
            <a:endParaRPr lang="en-US" altLang="en-US"/>
          </a:p>
        </p:txBody>
      </p:sp>
    </p:spTree>
    <p:extLst>
      <p:ext uri="{BB962C8B-B14F-4D97-AF65-F5344CB8AC3E}">
        <p14:creationId xmlns:p14="http://schemas.microsoft.com/office/powerpoint/2010/main" val="1006651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6" name="Espace réservé du numéro de diapositive 5"/>
          <p:cNvSpPr>
            <a:spLocks noGrp="1"/>
          </p:cNvSpPr>
          <p:nvPr>
            <p:ph type="sldNum" sz="quarter" idx="12"/>
          </p:nvPr>
        </p:nvSpPr>
        <p:spPr/>
        <p:txBody>
          <a:bodyPr/>
          <a:lstStyle>
            <a:lvl1pPr>
              <a:defRPr/>
            </a:lvl1pPr>
          </a:lstStyle>
          <a:p>
            <a:fld id="{C3D5A6AB-D585-4B4F-815D-BB201205F380}" type="slidenum">
              <a:rPr lang="zh-TW" altLang="en-US"/>
              <a:pPr/>
              <a:t>‹#›</a:t>
            </a:fld>
            <a:endParaRPr lang="en-US" altLang="zh-TW"/>
          </a:p>
        </p:txBody>
      </p:sp>
    </p:spTree>
    <p:extLst>
      <p:ext uri="{BB962C8B-B14F-4D97-AF65-F5344CB8AC3E}">
        <p14:creationId xmlns:p14="http://schemas.microsoft.com/office/powerpoint/2010/main" val="1810352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6" name="Espace réservé du numéro de diapositive 5"/>
          <p:cNvSpPr>
            <a:spLocks noGrp="1"/>
          </p:cNvSpPr>
          <p:nvPr>
            <p:ph type="sldNum" sz="quarter" idx="12"/>
          </p:nvPr>
        </p:nvSpPr>
        <p:spPr/>
        <p:txBody>
          <a:bodyPr/>
          <a:lstStyle>
            <a:lvl1pPr>
              <a:defRPr/>
            </a:lvl1pPr>
          </a:lstStyle>
          <a:p>
            <a:fld id="{A66CAF78-D92A-C346-9A61-F4F2DF4405A5}" type="slidenum">
              <a:rPr lang="zh-TW" altLang="en-US"/>
              <a:pPr/>
              <a:t>‹#›</a:t>
            </a:fld>
            <a:endParaRPr lang="en-US" altLang="zh-TW"/>
          </a:p>
        </p:txBody>
      </p:sp>
    </p:spTree>
    <p:extLst>
      <p:ext uri="{BB962C8B-B14F-4D97-AF65-F5344CB8AC3E}">
        <p14:creationId xmlns:p14="http://schemas.microsoft.com/office/powerpoint/2010/main" val="1047787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6" name="Espace réservé du numéro de diapositive 5"/>
          <p:cNvSpPr>
            <a:spLocks noGrp="1"/>
          </p:cNvSpPr>
          <p:nvPr>
            <p:ph type="sldNum" sz="quarter" idx="12"/>
          </p:nvPr>
        </p:nvSpPr>
        <p:spPr/>
        <p:txBody>
          <a:bodyPr/>
          <a:lstStyle>
            <a:lvl1pPr>
              <a:defRPr/>
            </a:lvl1pPr>
          </a:lstStyle>
          <a:p>
            <a:fld id="{1C0BF727-A124-0549-ADAC-D578636B850F}" type="slidenum">
              <a:rPr lang="zh-TW" altLang="en-US"/>
              <a:pPr/>
              <a:t>‹#›</a:t>
            </a:fld>
            <a:endParaRPr lang="en-US" altLang="zh-TW"/>
          </a:p>
        </p:txBody>
      </p:sp>
    </p:spTree>
    <p:extLst>
      <p:ext uri="{BB962C8B-B14F-4D97-AF65-F5344CB8AC3E}">
        <p14:creationId xmlns:p14="http://schemas.microsoft.com/office/powerpoint/2010/main" val="79159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7" name="Espace réservé du numéro de diapositive 5"/>
          <p:cNvSpPr>
            <a:spLocks noGrp="1"/>
          </p:cNvSpPr>
          <p:nvPr>
            <p:ph type="sldNum" sz="quarter" idx="12"/>
          </p:nvPr>
        </p:nvSpPr>
        <p:spPr/>
        <p:txBody>
          <a:bodyPr/>
          <a:lstStyle>
            <a:lvl1pPr>
              <a:defRPr/>
            </a:lvl1pPr>
          </a:lstStyle>
          <a:p>
            <a:fld id="{12C1D79C-5F51-A946-B88F-575B0D15C750}" type="slidenum">
              <a:rPr lang="zh-TW" altLang="en-US"/>
              <a:pPr/>
              <a:t>‹#›</a:t>
            </a:fld>
            <a:endParaRPr lang="en-US" altLang="zh-TW"/>
          </a:p>
        </p:txBody>
      </p:sp>
    </p:spTree>
    <p:extLst>
      <p:ext uri="{BB962C8B-B14F-4D97-AF65-F5344CB8AC3E}">
        <p14:creationId xmlns:p14="http://schemas.microsoft.com/office/powerpoint/2010/main" val="73615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p:cNvSpPr>
            <a:spLocks noGrp="1"/>
          </p:cNvSpPr>
          <p:nvPr>
            <p:ph type="dt" sz="half" idx="10"/>
          </p:nvPr>
        </p:nvSpPr>
        <p:spPr/>
        <p:txBody>
          <a:bodyPr/>
          <a:lstStyle>
            <a:lvl1pPr>
              <a:defRPr/>
            </a:lvl1pPr>
          </a:lstStyle>
          <a:p>
            <a:pPr>
              <a:defRPr/>
            </a:pPr>
            <a:endParaRPr lang="en-US" altLang="zh-TW"/>
          </a:p>
        </p:txBody>
      </p:sp>
      <p:sp>
        <p:nvSpPr>
          <p:cNvPr id="8"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9" name="Espace réservé du numéro de diapositive 5"/>
          <p:cNvSpPr>
            <a:spLocks noGrp="1"/>
          </p:cNvSpPr>
          <p:nvPr>
            <p:ph type="sldNum" sz="quarter" idx="12"/>
          </p:nvPr>
        </p:nvSpPr>
        <p:spPr/>
        <p:txBody>
          <a:bodyPr/>
          <a:lstStyle>
            <a:lvl1pPr>
              <a:defRPr/>
            </a:lvl1pPr>
          </a:lstStyle>
          <a:p>
            <a:fld id="{5802A865-50FB-F94B-8231-97A80A9B6A0A}" type="slidenum">
              <a:rPr lang="zh-TW" altLang="en-US"/>
              <a:pPr/>
              <a:t>‹#›</a:t>
            </a:fld>
            <a:endParaRPr lang="en-US" altLang="zh-TW"/>
          </a:p>
        </p:txBody>
      </p:sp>
    </p:spTree>
    <p:extLst>
      <p:ext uri="{BB962C8B-B14F-4D97-AF65-F5344CB8AC3E}">
        <p14:creationId xmlns:p14="http://schemas.microsoft.com/office/powerpoint/2010/main" val="949207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p:cNvSpPr>
            <a:spLocks noGrp="1"/>
          </p:cNvSpPr>
          <p:nvPr>
            <p:ph type="dt" sz="half" idx="10"/>
          </p:nvPr>
        </p:nvSpPr>
        <p:spPr/>
        <p:txBody>
          <a:bodyPr/>
          <a:lstStyle>
            <a:lvl1pPr>
              <a:defRPr/>
            </a:lvl1pPr>
          </a:lstStyle>
          <a:p>
            <a:pPr>
              <a:defRPr/>
            </a:pPr>
            <a:endParaRPr lang="en-US" altLang="zh-TW"/>
          </a:p>
        </p:txBody>
      </p:sp>
      <p:sp>
        <p:nvSpPr>
          <p:cNvPr id="4"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5" name="Espace réservé du numéro de diapositive 5"/>
          <p:cNvSpPr>
            <a:spLocks noGrp="1"/>
          </p:cNvSpPr>
          <p:nvPr>
            <p:ph type="sldNum" sz="quarter" idx="12"/>
          </p:nvPr>
        </p:nvSpPr>
        <p:spPr/>
        <p:txBody>
          <a:bodyPr/>
          <a:lstStyle>
            <a:lvl1pPr>
              <a:defRPr/>
            </a:lvl1pPr>
          </a:lstStyle>
          <a:p>
            <a:fld id="{90344A9F-9381-4D47-8E23-1A36963E07EA}" type="slidenum">
              <a:rPr lang="zh-TW" altLang="en-US"/>
              <a:pPr/>
              <a:t>‹#›</a:t>
            </a:fld>
            <a:endParaRPr lang="en-US" altLang="zh-TW"/>
          </a:p>
        </p:txBody>
      </p:sp>
    </p:spTree>
    <p:extLst>
      <p:ext uri="{BB962C8B-B14F-4D97-AF65-F5344CB8AC3E}">
        <p14:creationId xmlns:p14="http://schemas.microsoft.com/office/powerpoint/2010/main" val="1815989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endParaRPr lang="en-US" altLang="zh-TW"/>
          </a:p>
        </p:txBody>
      </p:sp>
      <p:sp>
        <p:nvSpPr>
          <p:cNvPr id="3"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4" name="Espace réservé du numéro de diapositive 5"/>
          <p:cNvSpPr>
            <a:spLocks noGrp="1"/>
          </p:cNvSpPr>
          <p:nvPr>
            <p:ph type="sldNum" sz="quarter" idx="12"/>
          </p:nvPr>
        </p:nvSpPr>
        <p:spPr/>
        <p:txBody>
          <a:bodyPr/>
          <a:lstStyle>
            <a:lvl1pPr>
              <a:defRPr/>
            </a:lvl1pPr>
          </a:lstStyle>
          <a:p>
            <a:fld id="{5B178DA9-7302-B64E-AF05-C56984F4DD24}" type="slidenum">
              <a:rPr lang="zh-TW" altLang="en-US"/>
              <a:pPr/>
              <a:t>‹#›</a:t>
            </a:fld>
            <a:endParaRPr lang="en-US" altLang="zh-TW"/>
          </a:p>
        </p:txBody>
      </p:sp>
    </p:spTree>
    <p:extLst>
      <p:ext uri="{BB962C8B-B14F-4D97-AF65-F5344CB8AC3E}">
        <p14:creationId xmlns:p14="http://schemas.microsoft.com/office/powerpoint/2010/main" val="1301515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7" name="Espace réservé du numéro de diapositive 5"/>
          <p:cNvSpPr>
            <a:spLocks noGrp="1"/>
          </p:cNvSpPr>
          <p:nvPr>
            <p:ph type="sldNum" sz="quarter" idx="12"/>
          </p:nvPr>
        </p:nvSpPr>
        <p:spPr/>
        <p:txBody>
          <a:bodyPr/>
          <a:lstStyle>
            <a:lvl1pPr>
              <a:defRPr/>
            </a:lvl1pPr>
          </a:lstStyle>
          <a:p>
            <a:fld id="{9D78175D-527A-7942-BA3C-24BFA3C2A1E5}" type="slidenum">
              <a:rPr lang="zh-TW" altLang="en-US"/>
              <a:pPr/>
              <a:t>‹#›</a:t>
            </a:fld>
            <a:endParaRPr lang="en-US" altLang="zh-TW"/>
          </a:p>
        </p:txBody>
      </p:sp>
    </p:spTree>
    <p:extLst>
      <p:ext uri="{BB962C8B-B14F-4D97-AF65-F5344CB8AC3E}">
        <p14:creationId xmlns:p14="http://schemas.microsoft.com/office/powerpoint/2010/main" val="297991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7" name="Espace réservé du numéro de diapositive 5"/>
          <p:cNvSpPr>
            <a:spLocks noGrp="1"/>
          </p:cNvSpPr>
          <p:nvPr>
            <p:ph type="sldNum" sz="quarter" idx="12"/>
          </p:nvPr>
        </p:nvSpPr>
        <p:spPr/>
        <p:txBody>
          <a:bodyPr/>
          <a:lstStyle>
            <a:lvl1pPr>
              <a:defRPr/>
            </a:lvl1pPr>
          </a:lstStyle>
          <a:p>
            <a:fld id="{8380E922-BC3A-1E43-BDCC-4E5715938643}" type="slidenum">
              <a:rPr lang="zh-TW" altLang="en-US"/>
              <a:pPr/>
              <a:t>‹#›</a:t>
            </a:fld>
            <a:endParaRPr lang="en-US" altLang="zh-TW"/>
          </a:p>
        </p:txBody>
      </p:sp>
    </p:spTree>
    <p:extLst>
      <p:ext uri="{BB962C8B-B14F-4D97-AF65-F5344CB8AC3E}">
        <p14:creationId xmlns:p14="http://schemas.microsoft.com/office/powerpoint/2010/main" val="41710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6" name="Espace réservé du numéro de diapositive 5"/>
          <p:cNvSpPr>
            <a:spLocks noGrp="1"/>
          </p:cNvSpPr>
          <p:nvPr>
            <p:ph type="sldNum" sz="quarter" idx="12"/>
          </p:nvPr>
        </p:nvSpPr>
        <p:spPr/>
        <p:txBody>
          <a:bodyPr/>
          <a:lstStyle>
            <a:lvl1pPr>
              <a:defRPr/>
            </a:lvl1pPr>
          </a:lstStyle>
          <a:p>
            <a:fld id="{5404A87A-1416-D54C-9DE8-12BDBB0BEBA2}" type="slidenum">
              <a:rPr lang="zh-TW" altLang="en-US"/>
              <a:pPr/>
              <a:t>‹#›</a:t>
            </a:fld>
            <a:endParaRPr lang="en-US" altLang="zh-TW"/>
          </a:p>
        </p:txBody>
      </p:sp>
    </p:spTree>
    <p:extLst>
      <p:ext uri="{BB962C8B-B14F-4D97-AF65-F5344CB8AC3E}">
        <p14:creationId xmlns:p14="http://schemas.microsoft.com/office/powerpoint/2010/main" val="942910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en-US" altLang="zh-TW"/>
              <a:t>CS 2321: D.S.A (-Priority Queues-)</a:t>
            </a:r>
          </a:p>
        </p:txBody>
      </p:sp>
      <p:sp>
        <p:nvSpPr>
          <p:cNvPr id="6" name="Espace réservé du numéro de diapositive 5"/>
          <p:cNvSpPr>
            <a:spLocks noGrp="1"/>
          </p:cNvSpPr>
          <p:nvPr>
            <p:ph type="sldNum" sz="quarter" idx="12"/>
          </p:nvPr>
        </p:nvSpPr>
        <p:spPr/>
        <p:txBody>
          <a:bodyPr/>
          <a:lstStyle>
            <a:lvl1pPr>
              <a:defRPr/>
            </a:lvl1pPr>
          </a:lstStyle>
          <a:p>
            <a:fld id="{475D6A17-B742-8E40-8DAC-02CFD88B1F9F}" type="slidenum">
              <a:rPr lang="zh-TW" altLang="en-US"/>
              <a:pPr/>
              <a:t>‹#›</a:t>
            </a:fld>
            <a:endParaRPr lang="en-US" altLang="zh-TW"/>
          </a:p>
        </p:txBody>
      </p:sp>
    </p:spTree>
    <p:extLst>
      <p:ext uri="{BB962C8B-B14F-4D97-AF65-F5344CB8AC3E}">
        <p14:creationId xmlns:p14="http://schemas.microsoft.com/office/powerpoint/2010/main" val="121102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fr-FR" altLang="en-US"/>
              <a:t>Modifiez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fr-FR" altLang="en-US"/>
              <a:t>Modifiez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buFont typeface="Monotype Sorts" pitchFamily="2" charset="2"/>
              <a:buChar char="l"/>
              <a:defRPr sz="1200">
                <a:solidFill>
                  <a:schemeClr val="tx1">
                    <a:tint val="75000"/>
                  </a:schemeClr>
                </a:solidFill>
                <a:latin typeface="Arial" charset="0"/>
              </a:defRPr>
            </a:lvl1pPr>
          </a:lstStyle>
          <a:p>
            <a:pPr>
              <a:defRPr/>
            </a:pPr>
            <a:endParaRPr lang="en-US" altLang="zh-TW"/>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buFont typeface="Monotype Sorts" pitchFamily="2" charset="2"/>
              <a:buChar char="l"/>
              <a:defRPr sz="1200">
                <a:solidFill>
                  <a:schemeClr val="tx1">
                    <a:tint val="75000"/>
                  </a:schemeClr>
                </a:solidFill>
                <a:latin typeface="Arial" charset="0"/>
              </a:defRPr>
            </a:lvl1pPr>
          </a:lstStyle>
          <a:p>
            <a:pPr>
              <a:defRPr/>
            </a:pPr>
            <a:r>
              <a:rPr lang="en-US" altLang="zh-TW"/>
              <a:t>CS 2321: D.S.A (-Priority Queues-)</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PMingLiU" charset="-120"/>
              </a:defRPr>
            </a:lvl1pPr>
          </a:lstStyle>
          <a:p>
            <a:fld id="{B04B28A1-D54A-BF40-BADD-B063942D4108}" type="slidenum">
              <a:rPr lang="zh-TW" altLang="en-US"/>
              <a:pPr/>
              <a:t>‹#›</a:t>
            </a:fld>
            <a:endParaRPr lang="en-US" altLang="zh-TW"/>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bg1">
            <a:lumMod val="75000"/>
          </a:schemeClr>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58813" y="3762375"/>
            <a:ext cx="7772400" cy="1143000"/>
          </a:xfrm>
        </p:spPr>
        <p:txBody>
          <a:bodyPr/>
          <a:lstStyle/>
          <a:p>
            <a:pPr eaLnBrk="1" hangingPunct="1"/>
            <a:r>
              <a:rPr lang="en-US" altLang="en-US" sz="6600" b="1" dirty="0"/>
              <a:t>Priority Queues (Heaps)</a:t>
            </a:r>
          </a:p>
        </p:txBody>
      </p:sp>
      <p:sp>
        <p:nvSpPr>
          <p:cNvPr id="2" name="Rectangle 1"/>
          <p:cNvSpPr/>
          <p:nvPr/>
        </p:nvSpPr>
        <p:spPr>
          <a:xfrm>
            <a:off x="1449069" y="1752600"/>
            <a:ext cx="6191887" cy="1975926"/>
          </a:xfrm>
          <a:prstGeom prst="rect">
            <a:avLst/>
          </a:prstGeom>
        </p:spPr>
        <p:txBody>
          <a:bodyPr wrap="none">
            <a:spAutoFit/>
          </a:bodyPr>
          <a:lstStyle/>
          <a:p>
            <a:pPr algn="ctr" eaLnBrk="1" hangingPunct="1">
              <a:buFont typeface="Monotype Sorts" pitchFamily="2" charset="2"/>
              <a:buNone/>
              <a:defRPr/>
            </a:pPr>
            <a:r>
              <a:rPr lang="en-US" sz="3600" dirty="0">
                <a:solidFill>
                  <a:schemeClr val="accent2"/>
                </a:solidFill>
                <a:latin typeface="+mj-lt"/>
                <a:ea typeface="+mj-ea"/>
                <a:cs typeface="+mj-cs"/>
              </a:rPr>
              <a:t>CS 2321</a:t>
            </a:r>
          </a:p>
          <a:p>
            <a:pPr algn="ctr" eaLnBrk="1" hangingPunct="1">
              <a:buFont typeface="Monotype Sorts" pitchFamily="2" charset="2"/>
              <a:buNone/>
              <a:defRPr/>
            </a:pPr>
            <a:r>
              <a:rPr lang="en-US" altLang="zh-TW" sz="3600">
                <a:solidFill>
                  <a:schemeClr val="accent2"/>
                </a:solidFill>
                <a:latin typeface="+mj-lt"/>
                <a:ea typeface="+mj-ea"/>
                <a:cs typeface="+mj-cs"/>
              </a:rPr>
              <a:t>Data Structures </a:t>
            </a:r>
            <a:r>
              <a:rPr lang="en-US" altLang="zh-TW" sz="3600" dirty="0">
                <a:solidFill>
                  <a:schemeClr val="accent2"/>
                </a:solidFill>
                <a:latin typeface="+mj-lt"/>
                <a:ea typeface="+mj-ea"/>
                <a:cs typeface="+mj-cs"/>
              </a:rPr>
              <a:t>and Algorithms</a:t>
            </a:r>
          </a:p>
          <a:p>
            <a:pPr algn="ctr" eaLnBrk="1" hangingPunct="1">
              <a:buFont typeface="Monotype Sorts" pitchFamily="2" charset="2"/>
              <a:buNone/>
              <a:defRPr/>
            </a:pPr>
            <a:endParaRPr lang="en-US" sz="3600" dirty="0">
              <a:solidFill>
                <a:schemeClr val="accent2"/>
              </a:solidFill>
              <a:latin typeface="+mj-lt"/>
              <a:ea typeface="+mj-ea"/>
              <a:cs typeface="+mj-cs"/>
            </a:endParaRPr>
          </a:p>
        </p:txBody>
      </p:sp>
      <p:pic>
        <p:nvPicPr>
          <p:cNvPr id="2052" name="Image 8" descr="C:\Users\mahdi\Desktop\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275" y="76200"/>
            <a:ext cx="18938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space réservé du pied de page 4"/>
          <p:cNvSpPr>
            <a:spLocks noGrp="1"/>
          </p:cNvSpPr>
          <p:nvPr>
            <p:ph type="ftr" sz="quarter" idx="11"/>
          </p:nvPr>
        </p:nvSpPr>
        <p:spPr/>
        <p:txBody>
          <a:bodyPr/>
          <a:lstStyle/>
          <a:p>
            <a:pPr>
              <a:defRPr/>
            </a:pPr>
            <a:r>
              <a:rPr lang="en-US" altLang="zh-TW"/>
              <a:t>CS 2321: D.S.A (-Priority Queues-)</a:t>
            </a:r>
          </a:p>
        </p:txBody>
      </p:sp>
      <p:sp>
        <p:nvSpPr>
          <p:cNvPr id="2054" name="Rectangle 2"/>
          <p:cNvSpPr txBox="1">
            <a:spLocks noChangeArrowheads="1"/>
          </p:cNvSpPr>
          <p:nvPr/>
        </p:nvSpPr>
        <p:spPr bwMode="auto">
          <a:xfrm>
            <a:off x="228600" y="5395912"/>
            <a:ext cx="33686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eaLnBrk="1" hangingPunct="1">
              <a:spcBef>
                <a:spcPct val="0"/>
              </a:spcBef>
              <a:buFont typeface="Monotype Sorts" charset="2"/>
              <a:buNone/>
            </a:pPr>
            <a:r>
              <a:rPr lang="en-US" altLang="en-US" sz="2400" dirty="0">
                <a:latin typeface="Calibri" charset="0"/>
              </a:rPr>
              <a:t>Dr. Mahdi </a:t>
            </a:r>
            <a:r>
              <a:rPr lang="en-US" altLang="en-US" sz="2400" dirty="0" err="1">
                <a:latin typeface="Calibri" charset="0"/>
              </a:rPr>
              <a:t>Khemakhem</a:t>
            </a:r>
            <a:endParaRPr lang="en-US" altLang="en-US" sz="2400" dirty="0">
              <a:latin typeface="Calibri" charset="0"/>
            </a:endParaRP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3D78D7E5-C53A-A040-B518-A384991D20CF}" type="slidenum">
              <a:rPr lang="zh-TW" altLang="en-US" sz="1200">
                <a:solidFill>
                  <a:srgbClr val="898989"/>
                </a:solidFill>
              </a:rPr>
              <a:pPr/>
              <a:t>1</a:t>
            </a:fld>
            <a:endParaRPr lang="en-US" altLang="zh-TW"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Titre 1"/>
          <p:cNvSpPr>
            <a:spLocks noGrp="1"/>
          </p:cNvSpPr>
          <p:nvPr>
            <p:ph type="title"/>
          </p:nvPr>
        </p:nvSpPr>
        <p:spPr>
          <a:xfrm>
            <a:off x="152400" y="860425"/>
            <a:ext cx="8229600" cy="1143000"/>
          </a:xfrm>
        </p:spPr>
        <p:txBody>
          <a:bodyPr/>
          <a:lstStyle/>
          <a:p>
            <a:pPr algn="l" eaLnBrk="1" hangingPunct="1"/>
            <a:r>
              <a:rPr lang="en-US" altLang="en-US" b="1" dirty="0"/>
              <a:t>Outlines</a:t>
            </a:r>
          </a:p>
        </p:txBody>
      </p:sp>
      <p:sp>
        <p:nvSpPr>
          <p:cNvPr id="3075" name="Espace réservé du contenu 2"/>
          <p:cNvSpPr>
            <a:spLocks noGrp="1"/>
          </p:cNvSpPr>
          <p:nvPr>
            <p:ph idx="1"/>
          </p:nvPr>
        </p:nvSpPr>
        <p:spPr>
          <a:xfrm>
            <a:off x="457200" y="2717800"/>
            <a:ext cx="8382000" cy="2209800"/>
          </a:xfrm>
        </p:spPr>
        <p:txBody>
          <a:bodyPr/>
          <a:lstStyle/>
          <a:p>
            <a:pPr marL="514350" indent="-514350" eaLnBrk="1" hangingPunct="1">
              <a:buFont typeface="Calibri" charset="0"/>
              <a:buAutoNum type="arabicPeriod"/>
            </a:pPr>
            <a:r>
              <a:rPr lang="en-US" altLang="en-US" sz="3600" b="1" dirty="0"/>
              <a:t>Priority Queues Model</a:t>
            </a:r>
          </a:p>
          <a:p>
            <a:pPr marL="514350" indent="-514350" eaLnBrk="1" hangingPunct="1">
              <a:buFont typeface="Calibri" charset="0"/>
              <a:buAutoNum type="arabicPeriod"/>
            </a:pPr>
            <a:r>
              <a:rPr lang="en-US" altLang="en-US" sz="3600" b="1" dirty="0"/>
              <a:t>Implementation of Priority Queues</a:t>
            </a:r>
          </a:p>
          <a:p>
            <a:pPr marL="514350" indent="-514350" eaLnBrk="1" hangingPunct="1">
              <a:buFont typeface="Calibri" charset="0"/>
              <a:buAutoNum type="arabicPeriod"/>
            </a:pPr>
            <a:r>
              <a:rPr lang="fr-FR" altLang="en-US" sz="3600" b="1" dirty="0" err="1"/>
              <a:t>Binary</a:t>
            </a:r>
            <a:r>
              <a:rPr lang="fr-FR" altLang="en-US" sz="3600" b="1" dirty="0"/>
              <a:t> </a:t>
            </a:r>
            <a:r>
              <a:rPr lang="fr-FR" altLang="en-US" sz="3600" b="1" dirty="0" err="1"/>
              <a:t>Heap</a:t>
            </a:r>
            <a:endParaRPr lang="en-US" altLang="en-US" sz="3600" b="1" dirty="0"/>
          </a:p>
        </p:txBody>
      </p:sp>
      <p:sp>
        <p:nvSpPr>
          <p:cNvPr id="4" name="Espace réservé du pied de page 3"/>
          <p:cNvSpPr>
            <a:spLocks noGrp="1"/>
          </p:cNvSpPr>
          <p:nvPr>
            <p:ph type="ftr" sz="quarter" idx="11"/>
          </p:nvPr>
        </p:nvSpPr>
        <p:spPr/>
        <p:txBody>
          <a:bodyPr/>
          <a:lstStyle/>
          <a:p>
            <a:pPr>
              <a:defRPr/>
            </a:pPr>
            <a:r>
              <a:rPr lang="nl-NL" altLang="zh-TW"/>
              <a:t>CS 2321: D.S.A (-Priority Queues-)</a:t>
            </a:r>
            <a:endParaRPr lang="en-US" altLang="zh-TW" dirty="0"/>
          </a:p>
        </p:txBody>
      </p:sp>
      <p:sp>
        <p:nvSpPr>
          <p:cNvPr id="2" name="Espace réservé du numéro de diapositive 1"/>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1713B899-6105-9F46-900E-9C002552E289}" type="slidenum">
              <a:rPr lang="zh-TW" altLang="en-US" sz="1200">
                <a:solidFill>
                  <a:srgbClr val="898989"/>
                </a:solidFill>
              </a:rPr>
              <a:pPr/>
              <a:t>2</a:t>
            </a:fld>
            <a:endParaRPr lang="en-US" altLang="zh-TW"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chemeClr val="bg1">
            <a:lumMod val="75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r>
              <a:rPr lang="fr-FR" altLang="en-US" sz="4000" b="1"/>
              <a:t>1. </a:t>
            </a:r>
            <a:r>
              <a:rPr lang="en-US" altLang="en-US" sz="4000" b="1"/>
              <a:t>Priority Queues Model</a:t>
            </a:r>
          </a:p>
        </p:txBody>
      </p:sp>
      <p:sp>
        <p:nvSpPr>
          <p:cNvPr id="4099" name="Rectangle 1"/>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r>
              <a:rPr lang="fr-FR" altLang="en-US">
                <a:solidFill>
                  <a:srgbClr val="FF0000"/>
                </a:solidFill>
              </a:rPr>
              <a:t>Reading: Text Book (Weiss) 6.1  </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endParaRPr lang="en-US" altLang="zh-TW" dirty="0"/>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2D5F4946-7328-9249-8189-2F67FD99682A}" type="slidenum">
              <a:rPr lang="zh-TW" altLang="en-US" sz="1200">
                <a:solidFill>
                  <a:srgbClr val="898989"/>
                </a:solidFill>
              </a:rPr>
              <a:pPr/>
              <a:t>3</a:t>
            </a:fld>
            <a:endParaRPr lang="en-US" altLang="zh-TW"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42900" y="-25400"/>
            <a:ext cx="8229600" cy="1143000"/>
          </a:xfrm>
        </p:spPr>
        <p:txBody>
          <a:bodyPr/>
          <a:lstStyle/>
          <a:p>
            <a:r>
              <a:rPr lang="th-TH" altLang="en-US" sz="4000" b="1" dirty="0">
                <a:solidFill>
                  <a:srgbClr val="000099"/>
                </a:solidFill>
              </a:rPr>
              <a:t>Priority Queue (Heap)</a:t>
            </a:r>
          </a:p>
        </p:txBody>
      </p:sp>
      <p:sp>
        <p:nvSpPr>
          <p:cNvPr id="4101" name="Rectangle 3"/>
          <p:cNvSpPr>
            <a:spLocks noGrp="1" noChangeArrowheads="1"/>
          </p:cNvSpPr>
          <p:nvPr>
            <p:ph type="body" idx="1"/>
          </p:nvPr>
        </p:nvSpPr>
        <p:spPr>
          <a:xfrm>
            <a:off x="381000" y="1219200"/>
            <a:ext cx="8534400" cy="4495800"/>
          </a:xfrm>
        </p:spPr>
        <p:txBody>
          <a:bodyPr/>
          <a:lstStyle/>
          <a:p>
            <a:r>
              <a:rPr lang="th-TH" altLang="en-US" dirty="0"/>
              <a:t>A kind of queue</a:t>
            </a:r>
          </a:p>
          <a:p>
            <a:r>
              <a:rPr lang="th-TH" altLang="en-US" dirty="0"/>
              <a:t>Dequeue gets element with the highest priority</a:t>
            </a:r>
          </a:p>
          <a:p>
            <a:r>
              <a:rPr lang="th-TH" altLang="en-US" dirty="0"/>
              <a:t>Priority is based on a comparable value (key) of each object </a:t>
            </a:r>
            <a:r>
              <a:rPr lang="th-TH" altLang="en-US" sz="2400" dirty="0"/>
              <a:t>(smaller value higher priority, or higher value higher priority)</a:t>
            </a:r>
            <a:endParaRPr lang="th-TH" altLang="en-US" dirty="0"/>
          </a:p>
          <a:p>
            <a:r>
              <a:rPr lang="th-TH" altLang="en-US" sz="2800" dirty="0"/>
              <a:t>Example Applications: </a:t>
            </a:r>
          </a:p>
          <a:p>
            <a:pPr lvl="1"/>
            <a:r>
              <a:rPr lang="th-TH" altLang="en-US" sz="2400" dirty="0"/>
              <a:t>printer -&gt; print (dequeue) the shortest document first</a:t>
            </a:r>
          </a:p>
          <a:p>
            <a:pPr lvl="1"/>
            <a:r>
              <a:rPr lang="th-TH" altLang="en-US" sz="2400" dirty="0"/>
              <a:t>operating system -&gt; run (dequeue) the shortest job first</a:t>
            </a:r>
          </a:p>
          <a:p>
            <a:pPr lvl="1"/>
            <a:r>
              <a:rPr lang="th-TH" altLang="en-US" sz="2400" dirty="0"/>
              <a:t>normal queue -&gt; dequeue the first enqueued element first</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8F06D749-9CE5-8342-AB6D-8EBB7CF73A97}" type="slidenum">
              <a:rPr lang="zh-TW" altLang="en-US" sz="1200">
                <a:solidFill>
                  <a:srgbClr val="898989"/>
                </a:solidFill>
              </a:rPr>
              <a:pPr/>
              <a:t>4</a:t>
            </a:fld>
            <a:endParaRPr lang="en-US" altLang="zh-TW"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th-TH" altLang="en-US" sz="4000" b="1">
                <a:solidFill>
                  <a:srgbClr val="000099"/>
                </a:solidFill>
              </a:rPr>
              <a:t>Priority Queue (Heap) Operations</a:t>
            </a:r>
          </a:p>
        </p:txBody>
      </p:sp>
      <p:sp>
        <p:nvSpPr>
          <p:cNvPr id="5125" name="Rectangle 3"/>
          <p:cNvSpPr>
            <a:spLocks noGrp="1" noChangeArrowheads="1"/>
          </p:cNvSpPr>
          <p:nvPr>
            <p:ph type="body" idx="1"/>
          </p:nvPr>
        </p:nvSpPr>
        <p:spPr>
          <a:xfrm>
            <a:off x="703263" y="3048000"/>
            <a:ext cx="7772400" cy="2590800"/>
          </a:xfrm>
        </p:spPr>
        <p:txBody>
          <a:bodyPr/>
          <a:lstStyle/>
          <a:p>
            <a:r>
              <a:rPr lang="th-TH" altLang="en-US"/>
              <a:t>insert (enqueue)</a:t>
            </a:r>
          </a:p>
          <a:p>
            <a:r>
              <a:rPr lang="th-TH" altLang="en-US"/>
              <a:t>deleteMin (dequeue) </a:t>
            </a:r>
          </a:p>
          <a:p>
            <a:pPr lvl="1"/>
            <a:r>
              <a:rPr lang="th-TH" altLang="en-US"/>
              <a:t>smaller value higher priority</a:t>
            </a:r>
          </a:p>
          <a:p>
            <a:pPr lvl="1"/>
            <a:r>
              <a:rPr lang="en-US" altLang="en-US"/>
              <a:t>F</a:t>
            </a:r>
            <a:r>
              <a:rPr lang="th-TH" altLang="en-US"/>
              <a:t>ind</a:t>
            </a:r>
            <a:r>
              <a:rPr lang="en-US" altLang="en-US"/>
              <a:t> / save </a:t>
            </a:r>
            <a:r>
              <a:rPr lang="th-TH" altLang="en-US"/>
              <a:t>the minimum element, </a:t>
            </a:r>
            <a:r>
              <a:rPr lang="en-US" altLang="en-US"/>
              <a:t>delete it from structure and </a:t>
            </a:r>
            <a:r>
              <a:rPr lang="th-TH" altLang="en-US"/>
              <a:t>return</a:t>
            </a:r>
            <a:r>
              <a:rPr lang="en-US" altLang="en-US"/>
              <a:t> it</a:t>
            </a:r>
            <a:endParaRPr lang="th-TH" altLang="en-US"/>
          </a:p>
        </p:txBody>
      </p:sp>
      <p:sp>
        <p:nvSpPr>
          <p:cNvPr id="5127" name="Rectangle 6"/>
          <p:cNvSpPr>
            <a:spLocks noChangeArrowheads="1"/>
          </p:cNvSpPr>
          <p:nvPr/>
        </p:nvSpPr>
        <p:spPr bwMode="auto">
          <a:xfrm>
            <a:off x="3236913" y="1905000"/>
            <a:ext cx="2392362" cy="106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None/>
              <a:defRPr/>
            </a:pPr>
            <a:r>
              <a:rPr lang="en-US" dirty="0">
                <a:latin typeface="+mj-lt"/>
              </a:rPr>
              <a:t>Priority Queue</a:t>
            </a:r>
            <a:endParaRPr lang="en-US" sz="2800" dirty="0">
              <a:latin typeface="+mj-lt"/>
            </a:endParaRPr>
          </a:p>
        </p:txBody>
      </p:sp>
      <p:sp>
        <p:nvSpPr>
          <p:cNvPr id="5128" name="Line 7"/>
          <p:cNvSpPr>
            <a:spLocks noChangeShapeType="1"/>
          </p:cNvSpPr>
          <p:nvPr/>
        </p:nvSpPr>
        <p:spPr bwMode="auto">
          <a:xfrm flipH="1">
            <a:off x="5629275" y="2438400"/>
            <a:ext cx="11255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5129" name="Line 8"/>
          <p:cNvSpPr>
            <a:spLocks noChangeShapeType="1"/>
          </p:cNvSpPr>
          <p:nvPr/>
        </p:nvSpPr>
        <p:spPr bwMode="auto">
          <a:xfrm flipH="1">
            <a:off x="1970088" y="2438400"/>
            <a:ext cx="1195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5130" name="Text Box 9"/>
          <p:cNvSpPr txBox="1">
            <a:spLocks noChangeArrowheads="1"/>
          </p:cNvSpPr>
          <p:nvPr/>
        </p:nvSpPr>
        <p:spPr bwMode="auto">
          <a:xfrm>
            <a:off x="5840413" y="1981200"/>
            <a:ext cx="1125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spcBef>
                <a:spcPct val="50000"/>
              </a:spcBef>
              <a:buFont typeface="Monotype Sorts" pitchFamily="2" charset="2"/>
              <a:buChar char="l"/>
              <a:defRPr/>
            </a:pPr>
            <a:r>
              <a:rPr lang="en-US" sz="2000">
                <a:latin typeface="+mj-lt"/>
              </a:rPr>
              <a:t>insert</a:t>
            </a:r>
            <a:endParaRPr lang="en-US" sz="2800">
              <a:latin typeface="+mj-lt"/>
            </a:endParaRPr>
          </a:p>
        </p:txBody>
      </p:sp>
      <p:sp>
        <p:nvSpPr>
          <p:cNvPr id="5131" name="Text Box 10"/>
          <p:cNvSpPr txBox="1">
            <a:spLocks noChangeArrowheads="1"/>
          </p:cNvSpPr>
          <p:nvPr/>
        </p:nvSpPr>
        <p:spPr bwMode="auto">
          <a:xfrm>
            <a:off x="1524000" y="2038350"/>
            <a:ext cx="2590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spcBef>
                <a:spcPct val="50000"/>
              </a:spcBef>
              <a:buFont typeface="Monotype Sorts" pitchFamily="2" charset="2"/>
              <a:buChar char="l"/>
              <a:defRPr/>
            </a:pPr>
            <a:r>
              <a:rPr lang="en-US" sz="2000" dirty="0" err="1">
                <a:latin typeface="+mj-lt"/>
              </a:rPr>
              <a:t>deleteMin</a:t>
            </a:r>
            <a:endParaRPr lang="en-US" sz="2800" dirty="0">
              <a:latin typeface="+mj-lt"/>
            </a:endParaRP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A659DA88-5BAC-FC48-BF64-46A302F57437}" type="slidenum">
              <a:rPr lang="zh-TW" altLang="en-US" sz="1200">
                <a:solidFill>
                  <a:srgbClr val="898989"/>
                </a:solidFill>
                <a:latin typeface="Calibri" charset="0"/>
              </a:rPr>
              <a:pPr/>
              <a:t>5</a:t>
            </a:fld>
            <a:endParaRPr lang="en-US" altLang="zh-TW" sz="1200">
              <a:solidFill>
                <a:srgbClr val="898989"/>
              </a:solidFill>
              <a:latin typeface="Calibri"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bg1">
            <a:lumMod val="75000"/>
          </a:schemeClr>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p:txBody>
          <a:bodyPr/>
          <a:lstStyle/>
          <a:p>
            <a:pPr eaLnBrk="1" hangingPunct="1"/>
            <a:r>
              <a:rPr lang="fr-FR" altLang="en-US" sz="4000" b="1"/>
              <a:t>2. </a:t>
            </a:r>
            <a:r>
              <a:rPr lang="en-US" altLang="en-US" sz="4000" b="1"/>
              <a:t>Implementation of Priority Queues</a:t>
            </a:r>
          </a:p>
        </p:txBody>
      </p:sp>
      <p:sp>
        <p:nvSpPr>
          <p:cNvPr id="7171" name="Rectangle 1"/>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r>
              <a:rPr lang="fr-FR" altLang="en-US">
                <a:solidFill>
                  <a:srgbClr val="FF0000"/>
                </a:solidFill>
              </a:rPr>
              <a:t>Reading: Text Book (Weiss) 6.2  </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endParaRPr lang="en-US" altLang="zh-TW" dirty="0"/>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7BB67E94-E0C4-094E-8CCF-09A4C52C3C94}" type="slidenum">
              <a:rPr lang="zh-TW" altLang="en-US" sz="1200">
                <a:solidFill>
                  <a:srgbClr val="898989"/>
                </a:solidFill>
              </a:rPr>
              <a:pPr/>
              <a:t>6</a:t>
            </a:fld>
            <a:endParaRPr lang="en-US" altLang="zh-TW"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8229600" cy="1143000"/>
          </a:xfrm>
        </p:spPr>
        <p:txBody>
          <a:bodyPr/>
          <a:lstStyle/>
          <a:p>
            <a:r>
              <a:rPr lang="th-TH" altLang="en-US" sz="4000" b="1" dirty="0">
                <a:solidFill>
                  <a:srgbClr val="000099"/>
                </a:solidFill>
              </a:rPr>
              <a:t>Implementation using Linked List</a:t>
            </a:r>
          </a:p>
        </p:txBody>
      </p:sp>
      <p:sp>
        <p:nvSpPr>
          <p:cNvPr id="6149" name="Rectangle 3"/>
          <p:cNvSpPr>
            <a:spLocks noGrp="1" noChangeArrowheads="1"/>
          </p:cNvSpPr>
          <p:nvPr>
            <p:ph type="body" idx="1"/>
          </p:nvPr>
        </p:nvSpPr>
        <p:spPr/>
        <p:txBody>
          <a:bodyPr/>
          <a:lstStyle/>
          <a:p>
            <a:r>
              <a:rPr lang="th-TH" altLang="en-US"/>
              <a:t>Unsorted linked list</a:t>
            </a:r>
          </a:p>
          <a:p>
            <a:pPr lvl="1"/>
            <a:r>
              <a:rPr lang="th-TH" altLang="en-US"/>
              <a:t>insert takes O(1) time</a:t>
            </a:r>
            <a:endParaRPr lang="th-TH" altLang="en-US" sz="2000"/>
          </a:p>
          <a:p>
            <a:pPr lvl="1"/>
            <a:r>
              <a:rPr lang="th-TH" altLang="en-US"/>
              <a:t>deleteMin takes O(N) time </a:t>
            </a:r>
          </a:p>
          <a:p>
            <a:r>
              <a:rPr lang="th-TH" altLang="en-US"/>
              <a:t>Sorted linked list</a:t>
            </a:r>
          </a:p>
          <a:p>
            <a:pPr lvl="1"/>
            <a:r>
              <a:rPr lang="th-TH" altLang="en-US"/>
              <a:t>insert takes O(N) time</a:t>
            </a:r>
          </a:p>
          <a:p>
            <a:pPr lvl="1"/>
            <a:r>
              <a:rPr lang="th-TH" altLang="en-US"/>
              <a:t>deleteMin takes O(1) time</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58D61E29-6BE4-864E-82E6-950420D1E883}" type="slidenum">
              <a:rPr lang="zh-TW" altLang="en-US" sz="1200">
                <a:solidFill>
                  <a:srgbClr val="898989"/>
                </a:solidFill>
                <a:latin typeface="Calibri" charset="0"/>
              </a:rPr>
              <a:pPr/>
              <a:t>7</a:t>
            </a:fld>
            <a:endParaRPr lang="en-US" altLang="zh-TW" sz="1200">
              <a:solidFill>
                <a:srgbClr val="898989"/>
              </a:solidFill>
              <a:latin typeface="Calibri"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5400" y="0"/>
            <a:ext cx="9144000" cy="1143000"/>
          </a:xfrm>
        </p:spPr>
        <p:txBody>
          <a:bodyPr/>
          <a:lstStyle/>
          <a:p>
            <a:r>
              <a:rPr lang="th-TH" altLang="en-US" sz="4000" b="1" dirty="0">
                <a:solidFill>
                  <a:srgbClr val="000099"/>
                </a:solidFill>
              </a:rPr>
              <a:t>Implementation using Binary Search Tree</a:t>
            </a:r>
          </a:p>
        </p:txBody>
      </p:sp>
      <p:sp>
        <p:nvSpPr>
          <p:cNvPr id="7173" name="Rectangle 3"/>
          <p:cNvSpPr>
            <a:spLocks noGrp="1" noChangeArrowheads="1"/>
          </p:cNvSpPr>
          <p:nvPr>
            <p:ph type="body" idx="1"/>
          </p:nvPr>
        </p:nvSpPr>
        <p:spPr>
          <a:xfrm>
            <a:off x="25400" y="1486694"/>
            <a:ext cx="9093200" cy="4525962"/>
          </a:xfrm>
        </p:spPr>
        <p:txBody>
          <a:bodyPr/>
          <a:lstStyle/>
          <a:p>
            <a:pPr algn="just"/>
            <a:r>
              <a:rPr lang="th-TH" altLang="en-US" dirty="0"/>
              <a:t>insert takes O(log N) time</a:t>
            </a:r>
            <a:r>
              <a:rPr lang="tr-TR" altLang="en-US" dirty="0"/>
              <a:t> </a:t>
            </a:r>
            <a:r>
              <a:rPr lang="tr-TR" altLang="en-US" u="sng" dirty="0"/>
              <a:t>on the average</a:t>
            </a:r>
            <a:endParaRPr lang="th-TH" altLang="en-US" u="sng" dirty="0"/>
          </a:p>
          <a:p>
            <a:pPr algn="just"/>
            <a:r>
              <a:rPr lang="th-TH" altLang="en-US" dirty="0"/>
              <a:t>deleteMin takes O(log N) time</a:t>
            </a:r>
            <a:r>
              <a:rPr lang="tr-TR" altLang="en-US" dirty="0"/>
              <a:t> </a:t>
            </a:r>
            <a:r>
              <a:rPr lang="tr-TR" altLang="en-US" u="sng" dirty="0"/>
              <a:t>on the average</a:t>
            </a:r>
            <a:endParaRPr lang="th-TH" altLang="en-US" u="sng" dirty="0"/>
          </a:p>
          <a:p>
            <a:pPr algn="just"/>
            <a:endParaRPr lang="th-TH" altLang="en-US" dirty="0"/>
          </a:p>
          <a:p>
            <a:pPr algn="just"/>
            <a:r>
              <a:rPr lang="th-TH" altLang="en-US" dirty="0"/>
              <a:t>support other operations that are not required by priority queue (for example, findMax)</a:t>
            </a:r>
            <a:endParaRPr lang="en-US" altLang="en-US" dirty="0"/>
          </a:p>
          <a:p>
            <a:pPr algn="just"/>
            <a:endParaRPr lang="th-TH" altLang="en-US" dirty="0"/>
          </a:p>
          <a:p>
            <a:pPr algn="just"/>
            <a:r>
              <a:rPr lang="th-TH" altLang="en-US" dirty="0"/>
              <a:t>deleteMin</a:t>
            </a:r>
            <a:r>
              <a:rPr lang="en-US" altLang="en-US" dirty="0"/>
              <a:t> operations</a:t>
            </a:r>
            <a:r>
              <a:rPr lang="th-TH" altLang="en-US" dirty="0"/>
              <a:t> make the tree unbalanced</a:t>
            </a:r>
          </a:p>
          <a:p>
            <a:pPr algn="just"/>
            <a:endParaRPr lang="th-TH" altLang="en-US" dirty="0"/>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7C944C97-BD1F-124E-A3CA-5BE591A04C5C}" type="slidenum">
              <a:rPr lang="zh-TW" altLang="en-US" sz="1200">
                <a:solidFill>
                  <a:srgbClr val="898989"/>
                </a:solidFill>
                <a:latin typeface="Calibri" charset="0"/>
              </a:rPr>
              <a:pPr/>
              <a:t>8</a:t>
            </a:fld>
            <a:endParaRPr lang="en-US" altLang="zh-TW" sz="1200" dirty="0">
              <a:solidFill>
                <a:srgbClr val="898989"/>
              </a:solidFill>
              <a:latin typeface="Calibri"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chemeClr val="bg1">
            <a:lumMod val="75000"/>
          </a:schemeClr>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marL="514350" indent="-514350" eaLnBrk="1" hangingPunct="1"/>
            <a:r>
              <a:rPr lang="fr-FR" altLang="en-US" sz="4000" b="1"/>
              <a:t>3. Binary Heap</a:t>
            </a:r>
            <a:endParaRPr lang="en-US" altLang="en-US" sz="4000" b="1"/>
          </a:p>
        </p:txBody>
      </p:sp>
      <p:sp>
        <p:nvSpPr>
          <p:cNvPr id="10243" name="Rectangle 1"/>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r>
              <a:rPr lang="fr-FR" altLang="en-US">
                <a:solidFill>
                  <a:srgbClr val="FF0000"/>
                </a:solidFill>
              </a:rPr>
              <a:t>Reading: Text Book (Weiss) 6.3  </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endParaRPr lang="en-US" altLang="zh-TW" dirty="0"/>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A34D7D0F-4549-984B-B20E-B01315F2CD77}" type="slidenum">
              <a:rPr lang="zh-TW" altLang="en-US" sz="1200">
                <a:solidFill>
                  <a:srgbClr val="898989"/>
                </a:solidFill>
              </a:rPr>
              <a:pPr/>
              <a:t>9</a:t>
            </a:fld>
            <a:endParaRPr lang="en-US" altLang="zh-TW"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762000" y="23812"/>
            <a:ext cx="7772400" cy="838200"/>
          </a:xfrm>
        </p:spPr>
        <p:txBody>
          <a:bodyPr/>
          <a:lstStyle/>
          <a:p>
            <a:r>
              <a:rPr lang="tr-TR" altLang="en-US" sz="4000" b="1" dirty="0">
                <a:solidFill>
                  <a:srgbClr val="000099"/>
                </a:solidFill>
              </a:rPr>
              <a:t>Binary Heap Implementation</a:t>
            </a:r>
            <a:endParaRPr lang="th-TH" altLang="en-US" sz="4000" b="1" dirty="0">
              <a:solidFill>
                <a:srgbClr val="000099"/>
              </a:solidFill>
            </a:endParaRPr>
          </a:p>
        </p:txBody>
      </p:sp>
      <p:sp>
        <p:nvSpPr>
          <p:cNvPr id="8197" name="Rectangle 3"/>
          <p:cNvSpPr>
            <a:spLocks noGrp="1" noChangeArrowheads="1"/>
          </p:cNvSpPr>
          <p:nvPr>
            <p:ph type="body" idx="1"/>
          </p:nvPr>
        </p:nvSpPr>
        <p:spPr>
          <a:xfrm>
            <a:off x="152400" y="838199"/>
            <a:ext cx="8991600" cy="2894014"/>
          </a:xfrm>
        </p:spPr>
        <p:txBody>
          <a:bodyPr/>
          <a:lstStyle/>
          <a:p>
            <a:pPr marL="0" indent="0">
              <a:buFont typeface="Arial" charset="0"/>
              <a:buNone/>
            </a:pPr>
            <a:r>
              <a:rPr lang="tr-TR" altLang="en-US" sz="3600" b="1" dirty="0"/>
              <a:t>Property 1: Structure Property</a:t>
            </a:r>
          </a:p>
          <a:p>
            <a:pPr algn="just">
              <a:buFont typeface="Wingdings" panose="05000000000000000000" pitchFamily="2" charset="2"/>
              <a:buChar char="Ø"/>
            </a:pPr>
            <a:r>
              <a:rPr lang="tr-TR" altLang="en-US" dirty="0"/>
              <a:t>Binary tree &amp; </a:t>
            </a:r>
            <a:r>
              <a:rPr lang="th-TH" altLang="en-US" dirty="0"/>
              <a:t>completely filled (bottom level is filled from left to right</a:t>
            </a:r>
            <a:r>
              <a:rPr lang="tr-TR" altLang="en-US" dirty="0"/>
              <a:t>) (complete binary tree)</a:t>
            </a:r>
            <a:endParaRPr lang="en-US" altLang="en-US" dirty="0"/>
          </a:p>
          <a:p>
            <a:pPr algn="just">
              <a:buFont typeface="Wingdings" panose="05000000000000000000" pitchFamily="2" charset="2"/>
              <a:buChar char="Ø"/>
            </a:pPr>
            <a:endParaRPr lang="th-TH" altLang="en-US" sz="800" dirty="0"/>
          </a:p>
          <a:p>
            <a:pPr algn="just">
              <a:buFont typeface="Wingdings" panose="05000000000000000000" pitchFamily="2" charset="2"/>
              <a:buChar char="Ø"/>
            </a:pPr>
            <a:r>
              <a:rPr lang="tr-TR" altLang="en-US" dirty="0"/>
              <a:t>if height is h, </a:t>
            </a:r>
            <a:r>
              <a:rPr lang="en-US" dirty="0"/>
              <a:t>a complete binary tree has </a:t>
            </a:r>
            <a:r>
              <a:rPr lang="th-TH" altLang="en-US" dirty="0"/>
              <a:t>between 2</a:t>
            </a:r>
            <a:r>
              <a:rPr lang="th-TH" altLang="en-US" baseline="30000" dirty="0"/>
              <a:t>h</a:t>
            </a:r>
            <a:r>
              <a:rPr lang="th-TH" altLang="en-US" dirty="0"/>
              <a:t> and 2</a:t>
            </a:r>
            <a:r>
              <a:rPr lang="th-TH" altLang="en-US" baseline="30000" dirty="0"/>
              <a:t>h+1</a:t>
            </a:r>
            <a:r>
              <a:rPr lang="th-TH" altLang="en-US" dirty="0"/>
              <a:t>-1</a:t>
            </a:r>
            <a:r>
              <a:rPr lang="en-US" altLang="en-US" dirty="0"/>
              <a:t> nodes</a:t>
            </a:r>
            <a:endParaRPr lang="th-TH" altLang="en-US" dirty="0"/>
          </a:p>
          <a:p>
            <a:pPr lvl="1"/>
            <a:endParaRPr lang="th-TH" altLang="en-US" dirty="0"/>
          </a:p>
        </p:txBody>
      </p:sp>
      <p:grpSp>
        <p:nvGrpSpPr>
          <p:cNvPr id="11268" name="Group 4"/>
          <p:cNvGrpSpPr>
            <a:grpSpLocks/>
          </p:cNvGrpSpPr>
          <p:nvPr/>
        </p:nvGrpSpPr>
        <p:grpSpPr bwMode="auto">
          <a:xfrm>
            <a:off x="4416425" y="3657600"/>
            <a:ext cx="3965575" cy="2590800"/>
            <a:chOff x="1632" y="912"/>
            <a:chExt cx="2705" cy="1632"/>
          </a:xfrm>
        </p:grpSpPr>
        <p:grpSp>
          <p:nvGrpSpPr>
            <p:cNvPr id="11271" name="Group 5"/>
            <p:cNvGrpSpPr>
              <a:grpSpLocks/>
            </p:cNvGrpSpPr>
            <p:nvPr/>
          </p:nvGrpSpPr>
          <p:grpSpPr bwMode="auto">
            <a:xfrm>
              <a:off x="3024" y="912"/>
              <a:ext cx="257" cy="250"/>
              <a:chOff x="2784" y="1344"/>
              <a:chExt cx="434" cy="433"/>
            </a:xfrm>
          </p:grpSpPr>
          <p:sp>
            <p:nvSpPr>
              <p:cNvPr id="8237" name="Oval 6"/>
              <p:cNvSpPr>
                <a:spLocks noChangeArrowheads="1"/>
              </p:cNvSpPr>
              <p:nvPr/>
            </p:nvSpPr>
            <p:spPr bwMode="auto">
              <a:xfrm>
                <a:off x="2779" y="1344"/>
                <a:ext cx="437"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38" name="Text Box 7"/>
              <p:cNvSpPr txBox="1">
                <a:spLocks noChangeArrowheads="1"/>
              </p:cNvSpPr>
              <p:nvPr/>
            </p:nvSpPr>
            <p:spPr bwMode="auto">
              <a:xfrm>
                <a:off x="2785" y="1344"/>
                <a:ext cx="433"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dirty="0">
                    <a:latin typeface="+mj-lt"/>
                  </a:rPr>
                  <a:t>A</a:t>
                </a:r>
                <a:endParaRPr lang="th-TH" sz="2800" dirty="0">
                  <a:latin typeface="+mj-lt"/>
                </a:endParaRPr>
              </a:p>
            </p:txBody>
          </p:sp>
        </p:grpSp>
        <p:grpSp>
          <p:nvGrpSpPr>
            <p:cNvPr id="11272" name="Group 8"/>
            <p:cNvGrpSpPr>
              <a:grpSpLocks/>
            </p:cNvGrpSpPr>
            <p:nvPr/>
          </p:nvGrpSpPr>
          <p:grpSpPr bwMode="auto">
            <a:xfrm>
              <a:off x="3760" y="1344"/>
              <a:ext cx="256" cy="250"/>
              <a:chOff x="2784" y="1343"/>
              <a:chExt cx="432" cy="434"/>
            </a:xfrm>
          </p:grpSpPr>
          <p:sp>
            <p:nvSpPr>
              <p:cNvPr id="8235" name="Oval 9"/>
              <p:cNvSpPr>
                <a:spLocks noChangeArrowheads="1"/>
              </p:cNvSpPr>
              <p:nvPr/>
            </p:nvSpPr>
            <p:spPr bwMode="auto">
              <a:xfrm>
                <a:off x="2784" y="1345"/>
                <a:ext cx="437"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36" name="Text Box 10"/>
              <p:cNvSpPr txBox="1">
                <a:spLocks noChangeArrowheads="1"/>
              </p:cNvSpPr>
              <p:nvPr/>
            </p:nvSpPr>
            <p:spPr bwMode="auto">
              <a:xfrm>
                <a:off x="2784" y="1343"/>
                <a:ext cx="43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C</a:t>
                </a:r>
                <a:endParaRPr lang="th-TH" sz="2800">
                  <a:latin typeface="+mj-lt"/>
                </a:endParaRPr>
              </a:p>
            </p:txBody>
          </p:sp>
        </p:grpSp>
        <p:grpSp>
          <p:nvGrpSpPr>
            <p:cNvPr id="11273" name="Group 11"/>
            <p:cNvGrpSpPr>
              <a:grpSpLocks/>
            </p:cNvGrpSpPr>
            <p:nvPr/>
          </p:nvGrpSpPr>
          <p:grpSpPr bwMode="auto">
            <a:xfrm>
              <a:off x="4080" y="1780"/>
              <a:ext cx="257" cy="250"/>
              <a:chOff x="2784" y="1343"/>
              <a:chExt cx="434" cy="433"/>
            </a:xfrm>
          </p:grpSpPr>
          <p:sp>
            <p:nvSpPr>
              <p:cNvPr id="8233" name="Oval 12"/>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34" name="Text Box 13"/>
              <p:cNvSpPr txBox="1">
                <a:spLocks noChangeArrowheads="1"/>
              </p:cNvSpPr>
              <p:nvPr/>
            </p:nvSpPr>
            <p:spPr bwMode="auto">
              <a:xfrm>
                <a:off x="2786"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G</a:t>
                </a:r>
                <a:endParaRPr lang="th-TH" sz="2800">
                  <a:latin typeface="+mj-lt"/>
                </a:endParaRPr>
              </a:p>
            </p:txBody>
          </p:sp>
        </p:grpSp>
        <p:sp>
          <p:nvSpPr>
            <p:cNvPr id="8203" name="Line 14"/>
            <p:cNvSpPr>
              <a:spLocks noChangeShapeType="1"/>
            </p:cNvSpPr>
            <p:nvPr/>
          </p:nvSpPr>
          <p:spPr bwMode="auto">
            <a:xfrm>
              <a:off x="3951" y="1563"/>
              <a:ext cx="257"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1275" name="Group 15"/>
            <p:cNvGrpSpPr>
              <a:grpSpLocks/>
            </p:cNvGrpSpPr>
            <p:nvPr/>
          </p:nvGrpSpPr>
          <p:grpSpPr bwMode="auto">
            <a:xfrm>
              <a:off x="3408" y="1758"/>
              <a:ext cx="257" cy="250"/>
              <a:chOff x="2784" y="1343"/>
              <a:chExt cx="434" cy="433"/>
            </a:xfrm>
          </p:grpSpPr>
          <p:sp>
            <p:nvSpPr>
              <p:cNvPr id="8231" name="Oval 16"/>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32" name="Text Box 17"/>
              <p:cNvSpPr txBox="1">
                <a:spLocks noChangeArrowheads="1"/>
              </p:cNvSpPr>
              <p:nvPr/>
            </p:nvSpPr>
            <p:spPr bwMode="auto">
              <a:xfrm>
                <a:off x="2784"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F</a:t>
                </a:r>
                <a:endParaRPr lang="th-TH" sz="2800">
                  <a:latin typeface="+mj-lt"/>
                </a:endParaRPr>
              </a:p>
            </p:txBody>
          </p:sp>
        </p:grpSp>
        <p:sp>
          <p:nvSpPr>
            <p:cNvPr id="8205" name="Line 18"/>
            <p:cNvSpPr>
              <a:spLocks noChangeShapeType="1"/>
            </p:cNvSpPr>
            <p:nvPr/>
          </p:nvSpPr>
          <p:spPr bwMode="auto">
            <a:xfrm flipV="1">
              <a:off x="3600" y="1566"/>
              <a:ext cx="195"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1277" name="Group 19"/>
            <p:cNvGrpSpPr>
              <a:grpSpLocks/>
            </p:cNvGrpSpPr>
            <p:nvPr/>
          </p:nvGrpSpPr>
          <p:grpSpPr bwMode="auto">
            <a:xfrm>
              <a:off x="2224" y="1333"/>
              <a:ext cx="256" cy="260"/>
              <a:chOff x="2784" y="1324"/>
              <a:chExt cx="432" cy="452"/>
            </a:xfrm>
          </p:grpSpPr>
          <p:sp>
            <p:nvSpPr>
              <p:cNvPr id="8229" name="Oval 20"/>
              <p:cNvSpPr>
                <a:spLocks noChangeArrowheads="1"/>
              </p:cNvSpPr>
              <p:nvPr/>
            </p:nvSpPr>
            <p:spPr bwMode="auto">
              <a:xfrm>
                <a:off x="2786"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30" name="Text Box 21"/>
              <p:cNvSpPr txBox="1">
                <a:spLocks noChangeArrowheads="1"/>
              </p:cNvSpPr>
              <p:nvPr/>
            </p:nvSpPr>
            <p:spPr bwMode="auto">
              <a:xfrm>
                <a:off x="2786" y="1324"/>
                <a:ext cx="428"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B</a:t>
                </a:r>
                <a:endParaRPr lang="th-TH" sz="2800">
                  <a:latin typeface="+mj-lt"/>
                </a:endParaRPr>
              </a:p>
            </p:txBody>
          </p:sp>
        </p:grpSp>
        <p:grpSp>
          <p:nvGrpSpPr>
            <p:cNvPr id="11278" name="Group 22"/>
            <p:cNvGrpSpPr>
              <a:grpSpLocks/>
            </p:cNvGrpSpPr>
            <p:nvPr/>
          </p:nvGrpSpPr>
          <p:grpSpPr bwMode="auto">
            <a:xfrm>
              <a:off x="2544" y="1780"/>
              <a:ext cx="257" cy="250"/>
              <a:chOff x="2784" y="1343"/>
              <a:chExt cx="434" cy="433"/>
            </a:xfrm>
          </p:grpSpPr>
          <p:sp>
            <p:nvSpPr>
              <p:cNvPr id="8227" name="Oval 23"/>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28" name="Text Box 24"/>
              <p:cNvSpPr txBox="1">
                <a:spLocks noChangeArrowheads="1"/>
              </p:cNvSpPr>
              <p:nvPr/>
            </p:nvSpPr>
            <p:spPr bwMode="auto">
              <a:xfrm>
                <a:off x="2784" y="1343"/>
                <a:ext cx="439"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E</a:t>
                </a:r>
                <a:endParaRPr lang="th-TH" sz="2800">
                  <a:latin typeface="+mj-lt"/>
                </a:endParaRPr>
              </a:p>
            </p:txBody>
          </p:sp>
        </p:grpSp>
        <p:grpSp>
          <p:nvGrpSpPr>
            <p:cNvPr id="11279" name="Group 25"/>
            <p:cNvGrpSpPr>
              <a:grpSpLocks/>
            </p:cNvGrpSpPr>
            <p:nvPr/>
          </p:nvGrpSpPr>
          <p:grpSpPr bwMode="auto">
            <a:xfrm>
              <a:off x="2352" y="2286"/>
              <a:ext cx="257" cy="250"/>
              <a:chOff x="2784" y="1344"/>
              <a:chExt cx="434" cy="433"/>
            </a:xfrm>
          </p:grpSpPr>
          <p:sp>
            <p:nvSpPr>
              <p:cNvPr id="8225" name="Oval 26"/>
              <p:cNvSpPr>
                <a:spLocks noChangeArrowheads="1"/>
              </p:cNvSpPr>
              <p:nvPr/>
            </p:nvSpPr>
            <p:spPr bwMode="auto">
              <a:xfrm>
                <a:off x="2784" y="1344"/>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26" name="Text Box 27"/>
              <p:cNvSpPr txBox="1">
                <a:spLocks noChangeArrowheads="1"/>
              </p:cNvSpPr>
              <p:nvPr/>
            </p:nvSpPr>
            <p:spPr bwMode="auto">
              <a:xfrm>
                <a:off x="2786"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J</a:t>
                </a:r>
                <a:endParaRPr lang="th-TH" sz="2800">
                  <a:latin typeface="+mj-lt"/>
                </a:endParaRPr>
              </a:p>
            </p:txBody>
          </p:sp>
        </p:grpSp>
        <p:sp>
          <p:nvSpPr>
            <p:cNvPr id="8209" name="Line 28"/>
            <p:cNvSpPr>
              <a:spLocks noChangeShapeType="1"/>
            </p:cNvSpPr>
            <p:nvPr/>
          </p:nvSpPr>
          <p:spPr bwMode="auto">
            <a:xfrm>
              <a:off x="2416" y="1563"/>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8210" name="Line 29"/>
            <p:cNvSpPr>
              <a:spLocks noChangeShapeType="1"/>
            </p:cNvSpPr>
            <p:nvPr/>
          </p:nvSpPr>
          <p:spPr bwMode="auto">
            <a:xfrm flipH="1">
              <a:off x="2496" y="2046"/>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1282" name="Group 30"/>
            <p:cNvGrpSpPr>
              <a:grpSpLocks/>
            </p:cNvGrpSpPr>
            <p:nvPr/>
          </p:nvGrpSpPr>
          <p:grpSpPr bwMode="auto">
            <a:xfrm>
              <a:off x="1872" y="1758"/>
              <a:ext cx="257" cy="250"/>
              <a:chOff x="2784" y="1343"/>
              <a:chExt cx="434" cy="433"/>
            </a:xfrm>
          </p:grpSpPr>
          <p:sp>
            <p:nvSpPr>
              <p:cNvPr id="8223" name="Oval 31"/>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24" name="Text Box 32"/>
              <p:cNvSpPr txBox="1">
                <a:spLocks noChangeArrowheads="1"/>
              </p:cNvSpPr>
              <p:nvPr/>
            </p:nvSpPr>
            <p:spPr bwMode="auto">
              <a:xfrm>
                <a:off x="2786"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D</a:t>
                </a:r>
                <a:endParaRPr lang="th-TH" sz="2800">
                  <a:latin typeface="+mj-lt"/>
                </a:endParaRPr>
              </a:p>
            </p:txBody>
          </p:sp>
        </p:grpSp>
        <p:sp>
          <p:nvSpPr>
            <p:cNvPr id="8212" name="Line 33"/>
            <p:cNvSpPr>
              <a:spLocks noChangeShapeType="1"/>
            </p:cNvSpPr>
            <p:nvPr/>
          </p:nvSpPr>
          <p:spPr bwMode="auto">
            <a:xfrm flipV="1">
              <a:off x="2064" y="156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1284" name="Group 34"/>
            <p:cNvGrpSpPr>
              <a:grpSpLocks/>
            </p:cNvGrpSpPr>
            <p:nvPr/>
          </p:nvGrpSpPr>
          <p:grpSpPr bwMode="auto">
            <a:xfrm>
              <a:off x="1632" y="2286"/>
              <a:ext cx="257" cy="258"/>
              <a:chOff x="2784" y="1344"/>
              <a:chExt cx="434" cy="447"/>
            </a:xfrm>
          </p:grpSpPr>
          <p:sp>
            <p:nvSpPr>
              <p:cNvPr id="8221" name="Oval 35"/>
              <p:cNvSpPr>
                <a:spLocks noChangeArrowheads="1"/>
              </p:cNvSpPr>
              <p:nvPr/>
            </p:nvSpPr>
            <p:spPr bwMode="auto">
              <a:xfrm>
                <a:off x="2784" y="1360"/>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22" name="Text Box 36"/>
              <p:cNvSpPr txBox="1">
                <a:spLocks noChangeArrowheads="1"/>
              </p:cNvSpPr>
              <p:nvPr/>
            </p:nvSpPr>
            <p:spPr bwMode="auto">
              <a:xfrm>
                <a:off x="2786"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H</a:t>
                </a:r>
                <a:endParaRPr lang="th-TH" sz="2800">
                  <a:latin typeface="+mj-lt"/>
                </a:endParaRPr>
              </a:p>
            </p:txBody>
          </p:sp>
        </p:grpSp>
        <p:grpSp>
          <p:nvGrpSpPr>
            <p:cNvPr id="11285" name="Group 37"/>
            <p:cNvGrpSpPr>
              <a:grpSpLocks/>
            </p:cNvGrpSpPr>
            <p:nvPr/>
          </p:nvGrpSpPr>
          <p:grpSpPr bwMode="auto">
            <a:xfrm>
              <a:off x="2016" y="2286"/>
              <a:ext cx="257" cy="250"/>
              <a:chOff x="2784" y="1344"/>
              <a:chExt cx="434" cy="433"/>
            </a:xfrm>
          </p:grpSpPr>
          <p:sp>
            <p:nvSpPr>
              <p:cNvPr id="8219" name="Oval 38"/>
              <p:cNvSpPr>
                <a:spLocks noChangeArrowheads="1"/>
              </p:cNvSpPr>
              <p:nvPr/>
            </p:nvSpPr>
            <p:spPr bwMode="auto">
              <a:xfrm>
                <a:off x="2788" y="1344"/>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8220" name="Text Box 39"/>
              <p:cNvSpPr txBox="1">
                <a:spLocks noChangeArrowheads="1"/>
              </p:cNvSpPr>
              <p:nvPr/>
            </p:nvSpPr>
            <p:spPr bwMode="auto">
              <a:xfrm>
                <a:off x="2788"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I</a:t>
                </a:r>
                <a:endParaRPr lang="th-TH" sz="2800">
                  <a:latin typeface="+mj-lt"/>
                </a:endParaRPr>
              </a:p>
            </p:txBody>
          </p:sp>
        </p:grpSp>
        <p:sp>
          <p:nvSpPr>
            <p:cNvPr id="8215" name="Line 40"/>
            <p:cNvSpPr>
              <a:spLocks noChangeShapeType="1"/>
            </p:cNvSpPr>
            <p:nvPr/>
          </p:nvSpPr>
          <p:spPr bwMode="auto">
            <a:xfrm flipH="1">
              <a:off x="1824" y="1998"/>
              <a:ext cx="129"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8216" name="Line 41"/>
            <p:cNvSpPr>
              <a:spLocks noChangeShapeType="1"/>
            </p:cNvSpPr>
            <p:nvPr/>
          </p:nvSpPr>
          <p:spPr bwMode="auto">
            <a:xfrm>
              <a:off x="2064" y="1998"/>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8217" name="Line 42"/>
            <p:cNvSpPr>
              <a:spLocks noChangeShapeType="1"/>
            </p:cNvSpPr>
            <p:nvPr/>
          </p:nvSpPr>
          <p:spPr bwMode="auto">
            <a:xfrm flipV="1">
              <a:off x="2400" y="1152"/>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8218" name="Line 43"/>
            <p:cNvSpPr>
              <a:spLocks noChangeShapeType="1"/>
            </p:cNvSpPr>
            <p:nvPr/>
          </p:nvSpPr>
          <p:spPr bwMode="auto">
            <a:xfrm>
              <a:off x="3216" y="1152"/>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F2AEA765-20CE-9947-BA0B-CAD6365E8DCA}" type="slidenum">
              <a:rPr lang="zh-TW" altLang="en-US" sz="1200">
                <a:solidFill>
                  <a:srgbClr val="898989"/>
                </a:solidFill>
                <a:latin typeface="Calibri" charset="0"/>
              </a:rPr>
              <a:pPr/>
              <a:t>10</a:t>
            </a:fld>
            <a:endParaRPr lang="en-US" altLang="zh-TW" sz="1200">
              <a:solidFill>
                <a:srgbClr val="898989"/>
              </a:solidFill>
              <a:latin typeface="Calibri"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1" y="61666"/>
            <a:ext cx="8534399" cy="966303"/>
          </a:xfrm>
        </p:spPr>
        <p:txBody>
          <a:bodyPr/>
          <a:lstStyle/>
          <a:p>
            <a:r>
              <a:rPr lang="th-TH" altLang="en-US" sz="4000" b="1" dirty="0">
                <a:solidFill>
                  <a:srgbClr val="000099"/>
                </a:solidFill>
              </a:rPr>
              <a:t>Array Implementation of Binary Heap</a:t>
            </a:r>
          </a:p>
        </p:txBody>
      </p:sp>
      <p:grpSp>
        <p:nvGrpSpPr>
          <p:cNvPr id="12291" name="Group 3"/>
          <p:cNvGrpSpPr>
            <a:grpSpLocks/>
          </p:cNvGrpSpPr>
          <p:nvPr/>
        </p:nvGrpSpPr>
        <p:grpSpPr bwMode="auto">
          <a:xfrm>
            <a:off x="844550" y="1600200"/>
            <a:ext cx="3965575" cy="2578100"/>
            <a:chOff x="1632" y="912"/>
            <a:chExt cx="2705" cy="1624"/>
          </a:xfrm>
        </p:grpSpPr>
        <p:grpSp>
          <p:nvGrpSpPr>
            <p:cNvPr id="12324" name="Group 4"/>
            <p:cNvGrpSpPr>
              <a:grpSpLocks/>
            </p:cNvGrpSpPr>
            <p:nvPr/>
          </p:nvGrpSpPr>
          <p:grpSpPr bwMode="auto">
            <a:xfrm>
              <a:off x="3024" y="912"/>
              <a:ext cx="257" cy="250"/>
              <a:chOff x="2784" y="1344"/>
              <a:chExt cx="434" cy="433"/>
            </a:xfrm>
          </p:grpSpPr>
          <p:sp>
            <p:nvSpPr>
              <p:cNvPr id="9290" name="Oval 5"/>
              <p:cNvSpPr>
                <a:spLocks noChangeArrowheads="1"/>
              </p:cNvSpPr>
              <p:nvPr/>
            </p:nvSpPr>
            <p:spPr bwMode="auto">
              <a:xfrm>
                <a:off x="2779" y="1344"/>
                <a:ext cx="437"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91" name="Text Box 6"/>
              <p:cNvSpPr txBox="1">
                <a:spLocks noChangeArrowheads="1"/>
              </p:cNvSpPr>
              <p:nvPr/>
            </p:nvSpPr>
            <p:spPr bwMode="auto">
              <a:xfrm>
                <a:off x="2785" y="1344"/>
                <a:ext cx="433"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A</a:t>
                </a:r>
                <a:endParaRPr lang="th-TH" sz="2800">
                  <a:latin typeface="+mj-lt"/>
                </a:endParaRPr>
              </a:p>
            </p:txBody>
          </p:sp>
        </p:grpSp>
        <p:grpSp>
          <p:nvGrpSpPr>
            <p:cNvPr id="12325" name="Group 7"/>
            <p:cNvGrpSpPr>
              <a:grpSpLocks/>
            </p:cNvGrpSpPr>
            <p:nvPr/>
          </p:nvGrpSpPr>
          <p:grpSpPr bwMode="auto">
            <a:xfrm>
              <a:off x="3760" y="1344"/>
              <a:ext cx="256" cy="250"/>
              <a:chOff x="2784" y="1343"/>
              <a:chExt cx="432" cy="434"/>
            </a:xfrm>
          </p:grpSpPr>
          <p:sp>
            <p:nvSpPr>
              <p:cNvPr id="9288" name="Oval 8"/>
              <p:cNvSpPr>
                <a:spLocks noChangeArrowheads="1"/>
              </p:cNvSpPr>
              <p:nvPr/>
            </p:nvSpPr>
            <p:spPr bwMode="auto">
              <a:xfrm>
                <a:off x="2784" y="1345"/>
                <a:ext cx="437"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89" name="Text Box 9"/>
              <p:cNvSpPr txBox="1">
                <a:spLocks noChangeArrowheads="1"/>
              </p:cNvSpPr>
              <p:nvPr/>
            </p:nvSpPr>
            <p:spPr bwMode="auto">
              <a:xfrm>
                <a:off x="2784" y="1343"/>
                <a:ext cx="43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C</a:t>
                </a:r>
                <a:endParaRPr lang="th-TH" sz="2800">
                  <a:latin typeface="+mj-lt"/>
                </a:endParaRPr>
              </a:p>
            </p:txBody>
          </p:sp>
        </p:grpSp>
        <p:grpSp>
          <p:nvGrpSpPr>
            <p:cNvPr id="12326" name="Group 10"/>
            <p:cNvGrpSpPr>
              <a:grpSpLocks/>
            </p:cNvGrpSpPr>
            <p:nvPr/>
          </p:nvGrpSpPr>
          <p:grpSpPr bwMode="auto">
            <a:xfrm>
              <a:off x="4080" y="1780"/>
              <a:ext cx="257" cy="250"/>
              <a:chOff x="2784" y="1343"/>
              <a:chExt cx="434" cy="433"/>
            </a:xfrm>
          </p:grpSpPr>
          <p:sp>
            <p:nvSpPr>
              <p:cNvPr id="9286" name="Oval 11"/>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87" name="Text Box 12"/>
              <p:cNvSpPr txBox="1">
                <a:spLocks noChangeArrowheads="1"/>
              </p:cNvSpPr>
              <p:nvPr/>
            </p:nvSpPr>
            <p:spPr bwMode="auto">
              <a:xfrm>
                <a:off x="2786"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G</a:t>
                </a:r>
                <a:endParaRPr lang="th-TH" sz="2800">
                  <a:latin typeface="+mj-lt"/>
                </a:endParaRPr>
              </a:p>
            </p:txBody>
          </p:sp>
        </p:grpSp>
        <p:sp>
          <p:nvSpPr>
            <p:cNvPr id="9256" name="Line 13"/>
            <p:cNvSpPr>
              <a:spLocks noChangeShapeType="1"/>
            </p:cNvSpPr>
            <p:nvPr/>
          </p:nvSpPr>
          <p:spPr bwMode="auto">
            <a:xfrm>
              <a:off x="3951" y="1563"/>
              <a:ext cx="257"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2328" name="Group 14"/>
            <p:cNvGrpSpPr>
              <a:grpSpLocks/>
            </p:cNvGrpSpPr>
            <p:nvPr/>
          </p:nvGrpSpPr>
          <p:grpSpPr bwMode="auto">
            <a:xfrm>
              <a:off x="3408" y="1758"/>
              <a:ext cx="257" cy="250"/>
              <a:chOff x="2784" y="1343"/>
              <a:chExt cx="434" cy="433"/>
            </a:xfrm>
          </p:grpSpPr>
          <p:sp>
            <p:nvSpPr>
              <p:cNvPr id="9284" name="Oval 15"/>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85" name="Text Box 16"/>
              <p:cNvSpPr txBox="1">
                <a:spLocks noChangeArrowheads="1"/>
              </p:cNvSpPr>
              <p:nvPr/>
            </p:nvSpPr>
            <p:spPr bwMode="auto">
              <a:xfrm>
                <a:off x="2784"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F</a:t>
                </a:r>
                <a:endParaRPr lang="th-TH" sz="2800">
                  <a:latin typeface="+mj-lt"/>
                </a:endParaRPr>
              </a:p>
            </p:txBody>
          </p:sp>
        </p:grpSp>
        <p:sp>
          <p:nvSpPr>
            <p:cNvPr id="9258" name="Line 17"/>
            <p:cNvSpPr>
              <a:spLocks noChangeShapeType="1"/>
            </p:cNvSpPr>
            <p:nvPr/>
          </p:nvSpPr>
          <p:spPr bwMode="auto">
            <a:xfrm flipV="1">
              <a:off x="3600" y="1566"/>
              <a:ext cx="195"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2330" name="Group 18"/>
            <p:cNvGrpSpPr>
              <a:grpSpLocks/>
            </p:cNvGrpSpPr>
            <p:nvPr/>
          </p:nvGrpSpPr>
          <p:grpSpPr bwMode="auto">
            <a:xfrm>
              <a:off x="2224" y="1344"/>
              <a:ext cx="256" cy="250"/>
              <a:chOff x="2784" y="1343"/>
              <a:chExt cx="432" cy="434"/>
            </a:xfrm>
          </p:grpSpPr>
          <p:sp>
            <p:nvSpPr>
              <p:cNvPr id="9282" name="Oval 19"/>
              <p:cNvSpPr>
                <a:spLocks noChangeArrowheads="1"/>
              </p:cNvSpPr>
              <p:nvPr/>
            </p:nvSpPr>
            <p:spPr bwMode="auto">
              <a:xfrm>
                <a:off x="2786"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83" name="Text Box 20"/>
              <p:cNvSpPr txBox="1">
                <a:spLocks noChangeArrowheads="1"/>
              </p:cNvSpPr>
              <p:nvPr/>
            </p:nvSpPr>
            <p:spPr bwMode="auto">
              <a:xfrm>
                <a:off x="2786" y="1343"/>
                <a:ext cx="42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B</a:t>
                </a:r>
                <a:endParaRPr lang="th-TH" sz="2800">
                  <a:latin typeface="+mj-lt"/>
                </a:endParaRPr>
              </a:p>
            </p:txBody>
          </p:sp>
        </p:grpSp>
        <p:grpSp>
          <p:nvGrpSpPr>
            <p:cNvPr id="12331" name="Group 21"/>
            <p:cNvGrpSpPr>
              <a:grpSpLocks/>
            </p:cNvGrpSpPr>
            <p:nvPr/>
          </p:nvGrpSpPr>
          <p:grpSpPr bwMode="auto">
            <a:xfrm>
              <a:off x="2544" y="1780"/>
              <a:ext cx="257" cy="250"/>
              <a:chOff x="2784" y="1343"/>
              <a:chExt cx="434" cy="433"/>
            </a:xfrm>
          </p:grpSpPr>
          <p:sp>
            <p:nvSpPr>
              <p:cNvPr id="9280" name="Oval 22"/>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81" name="Text Box 23"/>
              <p:cNvSpPr txBox="1">
                <a:spLocks noChangeArrowheads="1"/>
              </p:cNvSpPr>
              <p:nvPr/>
            </p:nvSpPr>
            <p:spPr bwMode="auto">
              <a:xfrm>
                <a:off x="2784" y="1343"/>
                <a:ext cx="439"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E</a:t>
                </a:r>
                <a:endParaRPr lang="th-TH" sz="2800">
                  <a:latin typeface="+mj-lt"/>
                </a:endParaRPr>
              </a:p>
            </p:txBody>
          </p:sp>
        </p:grpSp>
        <p:grpSp>
          <p:nvGrpSpPr>
            <p:cNvPr id="12332" name="Group 24"/>
            <p:cNvGrpSpPr>
              <a:grpSpLocks/>
            </p:cNvGrpSpPr>
            <p:nvPr/>
          </p:nvGrpSpPr>
          <p:grpSpPr bwMode="auto">
            <a:xfrm>
              <a:off x="2352" y="2286"/>
              <a:ext cx="257" cy="250"/>
              <a:chOff x="2784" y="1344"/>
              <a:chExt cx="434" cy="433"/>
            </a:xfrm>
          </p:grpSpPr>
          <p:sp>
            <p:nvSpPr>
              <p:cNvPr id="9278" name="Oval 25"/>
              <p:cNvSpPr>
                <a:spLocks noChangeArrowheads="1"/>
              </p:cNvSpPr>
              <p:nvPr/>
            </p:nvSpPr>
            <p:spPr bwMode="auto">
              <a:xfrm>
                <a:off x="2784" y="1344"/>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79" name="Text Box 26"/>
              <p:cNvSpPr txBox="1">
                <a:spLocks noChangeArrowheads="1"/>
              </p:cNvSpPr>
              <p:nvPr/>
            </p:nvSpPr>
            <p:spPr bwMode="auto">
              <a:xfrm>
                <a:off x="2786"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J</a:t>
                </a:r>
                <a:endParaRPr lang="th-TH" sz="2800">
                  <a:latin typeface="+mj-lt"/>
                </a:endParaRPr>
              </a:p>
            </p:txBody>
          </p:sp>
        </p:grpSp>
        <p:sp>
          <p:nvSpPr>
            <p:cNvPr id="9262" name="Line 27"/>
            <p:cNvSpPr>
              <a:spLocks noChangeShapeType="1"/>
            </p:cNvSpPr>
            <p:nvPr/>
          </p:nvSpPr>
          <p:spPr bwMode="auto">
            <a:xfrm>
              <a:off x="2416" y="1563"/>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9263" name="Line 28"/>
            <p:cNvSpPr>
              <a:spLocks noChangeShapeType="1"/>
            </p:cNvSpPr>
            <p:nvPr/>
          </p:nvSpPr>
          <p:spPr bwMode="auto">
            <a:xfrm flipH="1">
              <a:off x="2496" y="2046"/>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2335" name="Group 29"/>
            <p:cNvGrpSpPr>
              <a:grpSpLocks/>
            </p:cNvGrpSpPr>
            <p:nvPr/>
          </p:nvGrpSpPr>
          <p:grpSpPr bwMode="auto">
            <a:xfrm>
              <a:off x="1872" y="1758"/>
              <a:ext cx="257" cy="250"/>
              <a:chOff x="2784" y="1343"/>
              <a:chExt cx="434" cy="433"/>
            </a:xfrm>
          </p:grpSpPr>
          <p:sp>
            <p:nvSpPr>
              <p:cNvPr id="9276" name="Oval 30"/>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77" name="Text Box 31"/>
              <p:cNvSpPr txBox="1">
                <a:spLocks noChangeArrowheads="1"/>
              </p:cNvSpPr>
              <p:nvPr/>
            </p:nvSpPr>
            <p:spPr bwMode="auto">
              <a:xfrm>
                <a:off x="2786" y="1343"/>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D</a:t>
                </a:r>
                <a:endParaRPr lang="th-TH" sz="2800">
                  <a:latin typeface="+mj-lt"/>
                </a:endParaRPr>
              </a:p>
            </p:txBody>
          </p:sp>
        </p:grpSp>
        <p:sp>
          <p:nvSpPr>
            <p:cNvPr id="9265" name="Line 32"/>
            <p:cNvSpPr>
              <a:spLocks noChangeShapeType="1"/>
            </p:cNvSpPr>
            <p:nvPr/>
          </p:nvSpPr>
          <p:spPr bwMode="auto">
            <a:xfrm flipV="1">
              <a:off x="2064" y="156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2337" name="Group 33"/>
            <p:cNvGrpSpPr>
              <a:grpSpLocks/>
            </p:cNvGrpSpPr>
            <p:nvPr/>
          </p:nvGrpSpPr>
          <p:grpSpPr bwMode="auto">
            <a:xfrm>
              <a:off x="1632" y="2286"/>
              <a:ext cx="257" cy="250"/>
              <a:chOff x="2784" y="1344"/>
              <a:chExt cx="434" cy="433"/>
            </a:xfrm>
          </p:grpSpPr>
          <p:sp>
            <p:nvSpPr>
              <p:cNvPr id="9274" name="Oval 34"/>
              <p:cNvSpPr>
                <a:spLocks noChangeArrowheads="1"/>
              </p:cNvSpPr>
              <p:nvPr/>
            </p:nvSpPr>
            <p:spPr bwMode="auto">
              <a:xfrm>
                <a:off x="2784" y="1344"/>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75" name="Text Box 35"/>
              <p:cNvSpPr txBox="1">
                <a:spLocks noChangeArrowheads="1"/>
              </p:cNvSpPr>
              <p:nvPr/>
            </p:nvSpPr>
            <p:spPr bwMode="auto">
              <a:xfrm>
                <a:off x="2786"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H</a:t>
                </a:r>
                <a:endParaRPr lang="th-TH" sz="2800">
                  <a:latin typeface="+mj-lt"/>
                </a:endParaRPr>
              </a:p>
            </p:txBody>
          </p:sp>
        </p:grpSp>
        <p:grpSp>
          <p:nvGrpSpPr>
            <p:cNvPr id="12338" name="Group 36"/>
            <p:cNvGrpSpPr>
              <a:grpSpLocks/>
            </p:cNvGrpSpPr>
            <p:nvPr/>
          </p:nvGrpSpPr>
          <p:grpSpPr bwMode="auto">
            <a:xfrm>
              <a:off x="2016" y="2286"/>
              <a:ext cx="257" cy="250"/>
              <a:chOff x="2784" y="1344"/>
              <a:chExt cx="434" cy="433"/>
            </a:xfrm>
          </p:grpSpPr>
          <p:sp>
            <p:nvSpPr>
              <p:cNvPr id="9272" name="Oval 37"/>
              <p:cNvSpPr>
                <a:spLocks noChangeArrowheads="1"/>
              </p:cNvSpPr>
              <p:nvPr/>
            </p:nvSpPr>
            <p:spPr bwMode="auto">
              <a:xfrm>
                <a:off x="2788" y="1344"/>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9273" name="Text Box 38"/>
              <p:cNvSpPr txBox="1">
                <a:spLocks noChangeArrowheads="1"/>
              </p:cNvSpPr>
              <p:nvPr/>
            </p:nvSpPr>
            <p:spPr bwMode="auto">
              <a:xfrm>
                <a:off x="2788" y="1344"/>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r>
                  <a:rPr lang="th-TH" sz="2000">
                    <a:latin typeface="+mj-lt"/>
                  </a:rPr>
                  <a:t>I</a:t>
                </a:r>
                <a:endParaRPr lang="th-TH" sz="2800">
                  <a:latin typeface="+mj-lt"/>
                </a:endParaRPr>
              </a:p>
            </p:txBody>
          </p:sp>
        </p:grpSp>
        <p:sp>
          <p:nvSpPr>
            <p:cNvPr id="9268" name="Line 39"/>
            <p:cNvSpPr>
              <a:spLocks noChangeShapeType="1"/>
            </p:cNvSpPr>
            <p:nvPr/>
          </p:nvSpPr>
          <p:spPr bwMode="auto">
            <a:xfrm flipH="1">
              <a:off x="1824" y="1998"/>
              <a:ext cx="129"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9269" name="Line 40"/>
            <p:cNvSpPr>
              <a:spLocks noChangeShapeType="1"/>
            </p:cNvSpPr>
            <p:nvPr/>
          </p:nvSpPr>
          <p:spPr bwMode="auto">
            <a:xfrm>
              <a:off x="2064" y="1998"/>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9270" name="Line 41"/>
            <p:cNvSpPr>
              <a:spLocks noChangeShapeType="1"/>
            </p:cNvSpPr>
            <p:nvPr/>
          </p:nvSpPr>
          <p:spPr bwMode="auto">
            <a:xfrm flipV="1">
              <a:off x="2400" y="1152"/>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9271" name="Line 42"/>
            <p:cNvSpPr>
              <a:spLocks noChangeShapeType="1"/>
            </p:cNvSpPr>
            <p:nvPr/>
          </p:nvSpPr>
          <p:spPr bwMode="auto">
            <a:xfrm>
              <a:off x="3216" y="1152"/>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grpSp>
        <p:nvGrpSpPr>
          <p:cNvPr id="12292" name="Group 43"/>
          <p:cNvGrpSpPr>
            <a:grpSpLocks/>
          </p:cNvGrpSpPr>
          <p:nvPr/>
        </p:nvGrpSpPr>
        <p:grpSpPr bwMode="auto">
          <a:xfrm>
            <a:off x="1389063" y="5715000"/>
            <a:ext cx="6307137" cy="1066800"/>
            <a:chOff x="1440" y="2976"/>
            <a:chExt cx="3360" cy="570"/>
          </a:xfrm>
        </p:grpSpPr>
        <p:sp>
          <p:nvSpPr>
            <p:cNvPr id="9225" name="Rectangle 44"/>
            <p:cNvSpPr>
              <a:spLocks noChangeArrowheads="1"/>
            </p:cNvSpPr>
            <p:nvPr/>
          </p:nvSpPr>
          <p:spPr bwMode="auto">
            <a:xfrm>
              <a:off x="144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endParaRPr lang="th-TH" sz="2800">
                <a:latin typeface="+mj-lt"/>
              </a:endParaRPr>
            </a:p>
          </p:txBody>
        </p:sp>
        <p:sp>
          <p:nvSpPr>
            <p:cNvPr id="9226" name="Rectangle 45"/>
            <p:cNvSpPr>
              <a:spLocks noChangeArrowheads="1"/>
            </p:cNvSpPr>
            <p:nvPr/>
          </p:nvSpPr>
          <p:spPr bwMode="auto">
            <a:xfrm>
              <a:off x="168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A</a:t>
              </a:r>
            </a:p>
          </p:txBody>
        </p:sp>
        <p:sp>
          <p:nvSpPr>
            <p:cNvPr id="9227" name="Rectangle 46"/>
            <p:cNvSpPr>
              <a:spLocks noChangeArrowheads="1"/>
            </p:cNvSpPr>
            <p:nvPr/>
          </p:nvSpPr>
          <p:spPr bwMode="auto">
            <a:xfrm>
              <a:off x="1920" y="2976"/>
              <a:ext cx="23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B</a:t>
              </a:r>
              <a:endParaRPr lang="th-TH" sz="2800">
                <a:latin typeface="+mj-lt"/>
              </a:endParaRPr>
            </a:p>
          </p:txBody>
        </p:sp>
        <p:sp>
          <p:nvSpPr>
            <p:cNvPr id="9228" name="Rectangle 47"/>
            <p:cNvSpPr>
              <a:spLocks noChangeArrowheads="1"/>
            </p:cNvSpPr>
            <p:nvPr/>
          </p:nvSpPr>
          <p:spPr bwMode="auto">
            <a:xfrm>
              <a:off x="216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C</a:t>
              </a:r>
              <a:endParaRPr lang="th-TH" sz="2800">
                <a:latin typeface="+mj-lt"/>
              </a:endParaRPr>
            </a:p>
          </p:txBody>
        </p:sp>
        <p:sp>
          <p:nvSpPr>
            <p:cNvPr id="9229" name="Rectangle 48"/>
            <p:cNvSpPr>
              <a:spLocks noChangeArrowheads="1"/>
            </p:cNvSpPr>
            <p:nvPr/>
          </p:nvSpPr>
          <p:spPr bwMode="auto">
            <a:xfrm>
              <a:off x="240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D</a:t>
              </a:r>
              <a:endParaRPr lang="th-TH" sz="2800">
                <a:latin typeface="+mj-lt"/>
              </a:endParaRPr>
            </a:p>
          </p:txBody>
        </p:sp>
        <p:sp>
          <p:nvSpPr>
            <p:cNvPr id="9230" name="Rectangle 49"/>
            <p:cNvSpPr>
              <a:spLocks noChangeArrowheads="1"/>
            </p:cNvSpPr>
            <p:nvPr/>
          </p:nvSpPr>
          <p:spPr bwMode="auto">
            <a:xfrm>
              <a:off x="264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E</a:t>
              </a:r>
              <a:endParaRPr lang="th-TH" sz="2800">
                <a:latin typeface="+mj-lt"/>
              </a:endParaRPr>
            </a:p>
          </p:txBody>
        </p:sp>
        <p:sp>
          <p:nvSpPr>
            <p:cNvPr id="9231" name="Rectangle 50"/>
            <p:cNvSpPr>
              <a:spLocks noChangeArrowheads="1"/>
            </p:cNvSpPr>
            <p:nvPr/>
          </p:nvSpPr>
          <p:spPr bwMode="auto">
            <a:xfrm>
              <a:off x="288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F</a:t>
              </a:r>
              <a:endParaRPr lang="th-TH" sz="2800">
                <a:latin typeface="+mj-lt"/>
              </a:endParaRPr>
            </a:p>
          </p:txBody>
        </p:sp>
        <p:sp>
          <p:nvSpPr>
            <p:cNvPr id="9232" name="Rectangle 51"/>
            <p:cNvSpPr>
              <a:spLocks noChangeArrowheads="1"/>
            </p:cNvSpPr>
            <p:nvPr/>
          </p:nvSpPr>
          <p:spPr bwMode="auto">
            <a:xfrm>
              <a:off x="3120" y="2976"/>
              <a:ext cx="23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G</a:t>
              </a:r>
              <a:endParaRPr lang="th-TH" sz="2800">
                <a:latin typeface="+mj-lt"/>
              </a:endParaRPr>
            </a:p>
          </p:txBody>
        </p:sp>
        <p:sp>
          <p:nvSpPr>
            <p:cNvPr id="9233" name="Rectangle 52"/>
            <p:cNvSpPr>
              <a:spLocks noChangeArrowheads="1"/>
            </p:cNvSpPr>
            <p:nvPr/>
          </p:nvSpPr>
          <p:spPr bwMode="auto">
            <a:xfrm>
              <a:off x="336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H</a:t>
              </a:r>
              <a:endParaRPr lang="th-TH" sz="2800">
                <a:latin typeface="+mj-lt"/>
              </a:endParaRPr>
            </a:p>
          </p:txBody>
        </p:sp>
        <p:sp>
          <p:nvSpPr>
            <p:cNvPr id="9234" name="Rectangle 53"/>
            <p:cNvSpPr>
              <a:spLocks noChangeArrowheads="1"/>
            </p:cNvSpPr>
            <p:nvPr/>
          </p:nvSpPr>
          <p:spPr bwMode="auto">
            <a:xfrm>
              <a:off x="360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a:latin typeface="+mj-lt"/>
                </a:rPr>
                <a:t>I</a:t>
              </a:r>
              <a:endParaRPr lang="th-TH" sz="2800">
                <a:latin typeface="+mj-lt"/>
              </a:endParaRPr>
            </a:p>
          </p:txBody>
        </p:sp>
        <p:sp>
          <p:nvSpPr>
            <p:cNvPr id="9235" name="Rectangle 54"/>
            <p:cNvSpPr>
              <a:spLocks noChangeArrowheads="1"/>
            </p:cNvSpPr>
            <p:nvPr/>
          </p:nvSpPr>
          <p:spPr bwMode="auto">
            <a:xfrm>
              <a:off x="384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r>
                <a:rPr lang="th-TH" dirty="0">
                  <a:latin typeface="+mj-lt"/>
                </a:rPr>
                <a:t>J</a:t>
              </a:r>
            </a:p>
          </p:txBody>
        </p:sp>
        <p:sp>
          <p:nvSpPr>
            <p:cNvPr id="9236" name="Rectangle 55"/>
            <p:cNvSpPr>
              <a:spLocks noChangeArrowheads="1"/>
            </p:cNvSpPr>
            <p:nvPr/>
          </p:nvSpPr>
          <p:spPr bwMode="auto">
            <a:xfrm>
              <a:off x="4080" y="2976"/>
              <a:ext cx="23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endParaRPr lang="th-TH" sz="2800">
                <a:latin typeface="+mj-lt"/>
              </a:endParaRPr>
            </a:p>
          </p:txBody>
        </p:sp>
        <p:sp>
          <p:nvSpPr>
            <p:cNvPr id="9237" name="Rectangle 56"/>
            <p:cNvSpPr>
              <a:spLocks noChangeArrowheads="1"/>
            </p:cNvSpPr>
            <p:nvPr/>
          </p:nvSpPr>
          <p:spPr bwMode="auto">
            <a:xfrm>
              <a:off x="432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endParaRPr lang="th-TH" sz="2800">
                <a:latin typeface="+mj-lt"/>
              </a:endParaRPr>
            </a:p>
          </p:txBody>
        </p:sp>
        <p:sp>
          <p:nvSpPr>
            <p:cNvPr id="9238" name="Rectangle 57"/>
            <p:cNvSpPr>
              <a:spLocks noChangeArrowheads="1"/>
            </p:cNvSpPr>
            <p:nvPr/>
          </p:nvSpPr>
          <p:spPr bwMode="auto">
            <a:xfrm>
              <a:off x="4560" y="2976"/>
              <a:ext cx="240"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buFont typeface="Monotype Sorts" pitchFamily="2" charset="2"/>
                <a:buChar char="l"/>
                <a:defRPr/>
              </a:pPr>
              <a:endParaRPr lang="th-TH" sz="2800">
                <a:latin typeface="+mj-lt"/>
              </a:endParaRPr>
            </a:p>
          </p:txBody>
        </p:sp>
        <p:sp>
          <p:nvSpPr>
            <p:cNvPr id="9239" name="Text Box 58"/>
            <p:cNvSpPr txBox="1">
              <a:spLocks noChangeArrowheads="1"/>
            </p:cNvSpPr>
            <p:nvPr/>
          </p:nvSpPr>
          <p:spPr bwMode="auto">
            <a:xfrm>
              <a:off x="144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0</a:t>
              </a:r>
              <a:endParaRPr lang="th-TH" altLang="en-US" sz="2800">
                <a:latin typeface="Calibri" charset="0"/>
              </a:endParaRPr>
            </a:p>
          </p:txBody>
        </p:sp>
        <p:sp>
          <p:nvSpPr>
            <p:cNvPr id="9240" name="Text Box 59"/>
            <p:cNvSpPr txBox="1">
              <a:spLocks noChangeArrowheads="1"/>
            </p:cNvSpPr>
            <p:nvPr/>
          </p:nvSpPr>
          <p:spPr bwMode="auto">
            <a:xfrm>
              <a:off x="168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a:t>
              </a:r>
              <a:endParaRPr lang="th-TH" altLang="en-US" sz="2800">
                <a:latin typeface="Calibri" charset="0"/>
              </a:endParaRPr>
            </a:p>
          </p:txBody>
        </p:sp>
        <p:sp>
          <p:nvSpPr>
            <p:cNvPr id="9241" name="Text Box 60"/>
            <p:cNvSpPr txBox="1">
              <a:spLocks noChangeArrowheads="1"/>
            </p:cNvSpPr>
            <p:nvPr/>
          </p:nvSpPr>
          <p:spPr bwMode="auto">
            <a:xfrm>
              <a:off x="1920" y="3216"/>
              <a:ext cx="2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a:t>
              </a:r>
              <a:endParaRPr lang="th-TH" altLang="en-US" sz="2800">
                <a:latin typeface="Calibri" charset="0"/>
              </a:endParaRPr>
            </a:p>
          </p:txBody>
        </p:sp>
        <p:sp>
          <p:nvSpPr>
            <p:cNvPr id="9242" name="Text Box 61"/>
            <p:cNvSpPr txBox="1">
              <a:spLocks noChangeArrowheads="1"/>
            </p:cNvSpPr>
            <p:nvPr/>
          </p:nvSpPr>
          <p:spPr bwMode="auto">
            <a:xfrm>
              <a:off x="216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3</a:t>
              </a:r>
              <a:endParaRPr lang="th-TH" altLang="en-US" sz="2800">
                <a:latin typeface="Calibri" charset="0"/>
              </a:endParaRPr>
            </a:p>
          </p:txBody>
        </p:sp>
        <p:sp>
          <p:nvSpPr>
            <p:cNvPr id="9243" name="Text Box 62"/>
            <p:cNvSpPr txBox="1">
              <a:spLocks noChangeArrowheads="1"/>
            </p:cNvSpPr>
            <p:nvPr/>
          </p:nvSpPr>
          <p:spPr bwMode="auto">
            <a:xfrm>
              <a:off x="240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4</a:t>
              </a:r>
              <a:endParaRPr lang="th-TH" altLang="en-US" sz="2800">
                <a:latin typeface="Calibri" charset="0"/>
              </a:endParaRPr>
            </a:p>
          </p:txBody>
        </p:sp>
        <p:sp>
          <p:nvSpPr>
            <p:cNvPr id="9244" name="Text Box 63"/>
            <p:cNvSpPr txBox="1">
              <a:spLocks noChangeArrowheads="1"/>
            </p:cNvSpPr>
            <p:nvPr/>
          </p:nvSpPr>
          <p:spPr bwMode="auto">
            <a:xfrm>
              <a:off x="264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5</a:t>
              </a:r>
              <a:endParaRPr lang="th-TH" altLang="en-US" sz="2800">
                <a:latin typeface="Calibri" charset="0"/>
              </a:endParaRPr>
            </a:p>
          </p:txBody>
        </p:sp>
        <p:sp>
          <p:nvSpPr>
            <p:cNvPr id="9245" name="Text Box 64"/>
            <p:cNvSpPr txBox="1">
              <a:spLocks noChangeArrowheads="1"/>
            </p:cNvSpPr>
            <p:nvPr/>
          </p:nvSpPr>
          <p:spPr bwMode="auto">
            <a:xfrm>
              <a:off x="288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6</a:t>
              </a:r>
              <a:endParaRPr lang="th-TH" altLang="en-US" sz="2800">
                <a:latin typeface="Calibri" charset="0"/>
              </a:endParaRPr>
            </a:p>
          </p:txBody>
        </p:sp>
        <p:sp>
          <p:nvSpPr>
            <p:cNvPr id="9246" name="Text Box 65"/>
            <p:cNvSpPr txBox="1">
              <a:spLocks noChangeArrowheads="1"/>
            </p:cNvSpPr>
            <p:nvPr/>
          </p:nvSpPr>
          <p:spPr bwMode="auto">
            <a:xfrm>
              <a:off x="3120" y="3216"/>
              <a:ext cx="2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7</a:t>
              </a:r>
              <a:endParaRPr lang="th-TH" altLang="en-US" sz="2800">
                <a:latin typeface="Calibri" charset="0"/>
              </a:endParaRPr>
            </a:p>
          </p:txBody>
        </p:sp>
        <p:sp>
          <p:nvSpPr>
            <p:cNvPr id="9247" name="Text Box 66"/>
            <p:cNvSpPr txBox="1">
              <a:spLocks noChangeArrowheads="1"/>
            </p:cNvSpPr>
            <p:nvPr/>
          </p:nvSpPr>
          <p:spPr bwMode="auto">
            <a:xfrm>
              <a:off x="336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8</a:t>
              </a:r>
              <a:endParaRPr lang="th-TH" altLang="en-US" sz="2800">
                <a:latin typeface="Calibri" charset="0"/>
              </a:endParaRPr>
            </a:p>
          </p:txBody>
        </p:sp>
        <p:sp>
          <p:nvSpPr>
            <p:cNvPr id="9248" name="Text Box 67"/>
            <p:cNvSpPr txBox="1">
              <a:spLocks noChangeArrowheads="1"/>
            </p:cNvSpPr>
            <p:nvPr/>
          </p:nvSpPr>
          <p:spPr bwMode="auto">
            <a:xfrm>
              <a:off x="3600" y="32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9</a:t>
              </a:r>
              <a:endParaRPr lang="th-TH" altLang="en-US" sz="2800">
                <a:latin typeface="Calibri" charset="0"/>
              </a:endParaRPr>
            </a:p>
          </p:txBody>
        </p:sp>
        <p:sp>
          <p:nvSpPr>
            <p:cNvPr id="9249" name="Text Box 68"/>
            <p:cNvSpPr txBox="1">
              <a:spLocks noChangeArrowheads="1"/>
            </p:cNvSpPr>
            <p:nvPr/>
          </p:nvSpPr>
          <p:spPr bwMode="auto">
            <a:xfrm>
              <a:off x="3840" y="3216"/>
              <a:ext cx="24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10</a:t>
              </a:r>
              <a:endParaRPr lang="th-TH" altLang="en-US" sz="2800">
                <a:latin typeface="Calibri" charset="0"/>
              </a:endParaRPr>
            </a:p>
          </p:txBody>
        </p:sp>
        <p:sp>
          <p:nvSpPr>
            <p:cNvPr id="9250" name="Text Box 69"/>
            <p:cNvSpPr txBox="1">
              <a:spLocks noChangeArrowheads="1"/>
            </p:cNvSpPr>
            <p:nvPr/>
          </p:nvSpPr>
          <p:spPr bwMode="auto">
            <a:xfrm>
              <a:off x="4080" y="3216"/>
              <a:ext cx="2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11</a:t>
              </a:r>
              <a:endParaRPr lang="th-TH" altLang="en-US" sz="2800">
                <a:latin typeface="Calibri" charset="0"/>
              </a:endParaRPr>
            </a:p>
          </p:txBody>
        </p:sp>
        <p:sp>
          <p:nvSpPr>
            <p:cNvPr id="9251" name="Text Box 70"/>
            <p:cNvSpPr txBox="1">
              <a:spLocks noChangeArrowheads="1"/>
            </p:cNvSpPr>
            <p:nvPr/>
          </p:nvSpPr>
          <p:spPr bwMode="auto">
            <a:xfrm>
              <a:off x="4320" y="3216"/>
              <a:ext cx="24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12</a:t>
              </a:r>
              <a:endParaRPr lang="th-TH" altLang="en-US" sz="2800">
                <a:latin typeface="Calibri" charset="0"/>
              </a:endParaRPr>
            </a:p>
          </p:txBody>
        </p:sp>
        <p:sp>
          <p:nvSpPr>
            <p:cNvPr id="9252" name="Text Box 71"/>
            <p:cNvSpPr txBox="1">
              <a:spLocks noChangeArrowheads="1"/>
            </p:cNvSpPr>
            <p:nvPr/>
          </p:nvSpPr>
          <p:spPr bwMode="auto">
            <a:xfrm>
              <a:off x="4560" y="3216"/>
              <a:ext cx="24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13</a:t>
              </a:r>
              <a:endParaRPr lang="th-TH" altLang="en-US" sz="2800">
                <a:latin typeface="Calibri" charset="0"/>
              </a:endParaRPr>
            </a:p>
          </p:txBody>
        </p:sp>
      </p:grpSp>
      <p:sp>
        <p:nvSpPr>
          <p:cNvPr id="9223" name="Text Box 72"/>
          <p:cNvSpPr txBox="1">
            <a:spLocks noRot="1" noChangeAspect="1" noMove="1" noResize="1" noEditPoints="1" noAdjustHandles="1" noChangeArrowheads="1" noChangeShapeType="1" noTextEdit="1"/>
          </p:cNvSpPr>
          <p:nvPr/>
        </p:nvSpPr>
        <p:spPr bwMode="auto">
          <a:xfrm>
            <a:off x="5033963" y="1828800"/>
            <a:ext cx="3729037" cy="1938992"/>
          </a:xfrm>
          <a:prstGeom prst="rect">
            <a:avLst/>
          </a:prstGeom>
          <a:blipFill rotWithShape="1">
            <a:blip r:embed="rId2"/>
            <a:stretch>
              <a:fillRect l="-1471" t="-4088" b="-628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buFont typeface="Monotype Sorts" pitchFamily="2" charset="2"/>
              <a:buChar char="l"/>
              <a:defRPr/>
            </a:pPr>
            <a:r>
              <a:rPr lang="fr-FR">
                <a:noFill/>
              </a:rPr>
              <a:t> </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593EA639-8C42-A546-99DF-3CCCCEA8ADFA}" type="slidenum">
              <a:rPr lang="zh-TW" altLang="en-US" sz="1200">
                <a:solidFill>
                  <a:srgbClr val="898989"/>
                </a:solidFill>
                <a:latin typeface="Calibri" charset="0"/>
              </a:rPr>
              <a:pPr/>
              <a:t>11</a:t>
            </a:fld>
            <a:endParaRPr lang="en-US" altLang="zh-TW" sz="1200">
              <a:solidFill>
                <a:srgbClr val="898989"/>
              </a:solidFill>
              <a:latin typeface="Calibri"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33413" y="228600"/>
            <a:ext cx="7772400" cy="1143000"/>
          </a:xfrm>
        </p:spPr>
        <p:txBody>
          <a:bodyPr/>
          <a:lstStyle/>
          <a:p>
            <a:r>
              <a:rPr lang="tr-TR" altLang="en-US" sz="4000" b="1" dirty="0">
                <a:solidFill>
                  <a:srgbClr val="000099"/>
                </a:solidFill>
              </a:rPr>
              <a:t>Property 2: Heap Order Property</a:t>
            </a:r>
            <a:br>
              <a:rPr lang="tr-TR" altLang="en-US" sz="4000" b="1" dirty="0">
                <a:solidFill>
                  <a:srgbClr val="000099"/>
                </a:solidFill>
              </a:rPr>
            </a:br>
            <a:r>
              <a:rPr lang="th-TH" altLang="en-US" sz="3200" b="1" dirty="0">
                <a:solidFill>
                  <a:srgbClr val="000099"/>
                </a:solidFill>
              </a:rPr>
              <a:t>(for Minimum Heap)</a:t>
            </a:r>
            <a:endParaRPr lang="th-TH" altLang="en-US" sz="4000" b="1" dirty="0">
              <a:solidFill>
                <a:srgbClr val="000099"/>
              </a:solidFill>
            </a:endParaRPr>
          </a:p>
        </p:txBody>
      </p:sp>
      <p:sp>
        <p:nvSpPr>
          <p:cNvPr id="10245" name="Rectangle 3"/>
          <p:cNvSpPr>
            <a:spLocks noGrp="1" noChangeArrowheads="1"/>
          </p:cNvSpPr>
          <p:nvPr>
            <p:ph type="body" idx="1"/>
          </p:nvPr>
        </p:nvSpPr>
        <p:spPr>
          <a:xfrm>
            <a:off x="0" y="1371600"/>
            <a:ext cx="8839199" cy="1497340"/>
          </a:xfrm>
        </p:spPr>
        <p:txBody>
          <a:bodyPr/>
          <a:lstStyle/>
          <a:p>
            <a:r>
              <a:rPr lang="th-TH" altLang="en-US" sz="2800" dirty="0"/>
              <a:t>Any node is smaller than (or equal to) all of its children (any subtree is a heap) </a:t>
            </a:r>
          </a:p>
          <a:p>
            <a:r>
              <a:rPr lang="th-TH" altLang="en-US" sz="2800" dirty="0"/>
              <a:t>Smallest element is at the root (findMin take O(1) time)</a:t>
            </a:r>
          </a:p>
        </p:txBody>
      </p:sp>
      <p:grpSp>
        <p:nvGrpSpPr>
          <p:cNvPr id="13316" name="Group 4"/>
          <p:cNvGrpSpPr>
            <a:grpSpLocks/>
          </p:cNvGrpSpPr>
          <p:nvPr/>
        </p:nvGrpSpPr>
        <p:grpSpPr bwMode="auto">
          <a:xfrm>
            <a:off x="3720834" y="3352403"/>
            <a:ext cx="5042166" cy="2972197"/>
            <a:chOff x="1634" y="912"/>
            <a:chExt cx="2767" cy="1623"/>
          </a:xfrm>
        </p:grpSpPr>
        <p:grpSp>
          <p:nvGrpSpPr>
            <p:cNvPr id="13319" name="Group 5"/>
            <p:cNvGrpSpPr>
              <a:grpSpLocks/>
            </p:cNvGrpSpPr>
            <p:nvPr/>
          </p:nvGrpSpPr>
          <p:grpSpPr bwMode="auto">
            <a:xfrm>
              <a:off x="3020" y="912"/>
              <a:ext cx="354" cy="249"/>
              <a:chOff x="2784" y="1344"/>
              <a:chExt cx="599" cy="432"/>
            </a:xfrm>
          </p:grpSpPr>
          <p:sp>
            <p:nvSpPr>
              <p:cNvPr id="10285" name="Oval 6"/>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86" name="Text Box 7"/>
              <p:cNvSpPr txBox="1">
                <a:spLocks noChangeArrowheads="1"/>
              </p:cNvSpPr>
              <p:nvPr/>
            </p:nvSpPr>
            <p:spPr bwMode="auto">
              <a:xfrm>
                <a:off x="2786" y="1344"/>
                <a:ext cx="59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13</a:t>
                </a:r>
                <a:endParaRPr lang="th-TH" altLang="en-US" sz="2800" dirty="0">
                  <a:latin typeface="Calibri" charset="0"/>
                </a:endParaRPr>
              </a:p>
            </p:txBody>
          </p:sp>
        </p:grpSp>
        <p:grpSp>
          <p:nvGrpSpPr>
            <p:cNvPr id="13320" name="Group 8"/>
            <p:cNvGrpSpPr>
              <a:grpSpLocks/>
            </p:cNvGrpSpPr>
            <p:nvPr/>
          </p:nvGrpSpPr>
          <p:grpSpPr bwMode="auto">
            <a:xfrm>
              <a:off x="3760" y="1342"/>
              <a:ext cx="307" cy="250"/>
              <a:chOff x="2784" y="1341"/>
              <a:chExt cx="518" cy="433"/>
            </a:xfrm>
          </p:grpSpPr>
          <p:sp>
            <p:nvSpPr>
              <p:cNvPr id="10283" name="Oval 9"/>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84" name="Text Box 10"/>
              <p:cNvSpPr txBox="1">
                <a:spLocks noChangeArrowheads="1"/>
              </p:cNvSpPr>
              <p:nvPr/>
            </p:nvSpPr>
            <p:spPr bwMode="auto">
              <a:xfrm>
                <a:off x="2784" y="1341"/>
                <a:ext cx="51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16</a:t>
                </a:r>
                <a:endParaRPr lang="th-TH" altLang="en-US" sz="2800" dirty="0">
                  <a:latin typeface="Calibri" charset="0"/>
                </a:endParaRPr>
              </a:p>
            </p:txBody>
          </p:sp>
        </p:grpSp>
        <p:grpSp>
          <p:nvGrpSpPr>
            <p:cNvPr id="13321" name="Group 11"/>
            <p:cNvGrpSpPr>
              <a:grpSpLocks/>
            </p:cNvGrpSpPr>
            <p:nvPr/>
          </p:nvGrpSpPr>
          <p:grpSpPr bwMode="auto">
            <a:xfrm>
              <a:off x="4081" y="1780"/>
              <a:ext cx="320" cy="249"/>
              <a:chOff x="2784" y="1343"/>
              <a:chExt cx="540" cy="431"/>
            </a:xfrm>
          </p:grpSpPr>
          <p:sp>
            <p:nvSpPr>
              <p:cNvPr id="10281" name="Oval 12"/>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82" name="Text Box 13"/>
              <p:cNvSpPr txBox="1">
                <a:spLocks noChangeArrowheads="1"/>
              </p:cNvSpPr>
              <p:nvPr/>
            </p:nvSpPr>
            <p:spPr bwMode="auto">
              <a:xfrm>
                <a:off x="2784" y="1343"/>
                <a:ext cx="5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68</a:t>
                </a:r>
                <a:endParaRPr lang="th-TH" altLang="en-US" sz="2800" dirty="0">
                  <a:latin typeface="Calibri" charset="0"/>
                </a:endParaRPr>
              </a:p>
            </p:txBody>
          </p:sp>
        </p:grpSp>
        <p:sp>
          <p:nvSpPr>
            <p:cNvPr id="10251" name="Line 14"/>
            <p:cNvSpPr>
              <a:spLocks noChangeShapeType="1"/>
            </p:cNvSpPr>
            <p:nvPr/>
          </p:nvSpPr>
          <p:spPr bwMode="auto">
            <a:xfrm>
              <a:off x="3952" y="1563"/>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3323" name="Group 15"/>
            <p:cNvGrpSpPr>
              <a:grpSpLocks/>
            </p:cNvGrpSpPr>
            <p:nvPr/>
          </p:nvGrpSpPr>
          <p:grpSpPr bwMode="auto">
            <a:xfrm>
              <a:off x="3408" y="1758"/>
              <a:ext cx="319" cy="250"/>
              <a:chOff x="2786" y="1343"/>
              <a:chExt cx="539" cy="433"/>
            </a:xfrm>
          </p:grpSpPr>
          <p:sp>
            <p:nvSpPr>
              <p:cNvPr id="10279" name="Oval 16"/>
              <p:cNvSpPr>
                <a:spLocks noChangeArrowheads="1"/>
              </p:cNvSpPr>
              <p:nvPr/>
            </p:nvSpPr>
            <p:spPr bwMode="auto">
              <a:xfrm>
                <a:off x="2786" y="1345"/>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80" name="Text Box 17"/>
              <p:cNvSpPr txBox="1">
                <a:spLocks noChangeArrowheads="1"/>
              </p:cNvSpPr>
              <p:nvPr/>
            </p:nvSpPr>
            <p:spPr bwMode="auto">
              <a:xfrm>
                <a:off x="2786" y="1343"/>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19</a:t>
                </a:r>
                <a:endParaRPr lang="th-TH" altLang="en-US" sz="2800" dirty="0">
                  <a:latin typeface="Calibri" charset="0"/>
                </a:endParaRPr>
              </a:p>
            </p:txBody>
          </p:sp>
        </p:grpSp>
        <p:sp>
          <p:nvSpPr>
            <p:cNvPr id="10253" name="Line 18"/>
            <p:cNvSpPr>
              <a:spLocks noChangeShapeType="1"/>
            </p:cNvSpPr>
            <p:nvPr/>
          </p:nvSpPr>
          <p:spPr bwMode="auto">
            <a:xfrm flipV="1">
              <a:off x="3600" y="156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3325" name="Group 19"/>
            <p:cNvGrpSpPr>
              <a:grpSpLocks/>
            </p:cNvGrpSpPr>
            <p:nvPr/>
          </p:nvGrpSpPr>
          <p:grpSpPr bwMode="auto">
            <a:xfrm>
              <a:off x="2223" y="1342"/>
              <a:ext cx="316" cy="250"/>
              <a:chOff x="2786" y="1341"/>
              <a:chExt cx="534" cy="433"/>
            </a:xfrm>
          </p:grpSpPr>
          <p:sp>
            <p:nvSpPr>
              <p:cNvPr id="10277" name="Oval 20"/>
              <p:cNvSpPr>
                <a:spLocks noChangeArrowheads="1"/>
              </p:cNvSpPr>
              <p:nvPr/>
            </p:nvSpPr>
            <p:spPr bwMode="auto">
              <a:xfrm>
                <a:off x="2786" y="1344"/>
                <a:ext cx="428"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78" name="Text Box 21"/>
              <p:cNvSpPr txBox="1">
                <a:spLocks noChangeArrowheads="1"/>
              </p:cNvSpPr>
              <p:nvPr/>
            </p:nvSpPr>
            <p:spPr bwMode="auto">
              <a:xfrm>
                <a:off x="2786" y="1341"/>
                <a:ext cx="534"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21</a:t>
                </a:r>
                <a:endParaRPr lang="th-TH" altLang="en-US" sz="2800" dirty="0">
                  <a:latin typeface="Calibri" charset="0"/>
                </a:endParaRPr>
              </a:p>
            </p:txBody>
          </p:sp>
        </p:grpSp>
        <p:grpSp>
          <p:nvGrpSpPr>
            <p:cNvPr id="13326" name="Group 22"/>
            <p:cNvGrpSpPr>
              <a:grpSpLocks/>
            </p:cNvGrpSpPr>
            <p:nvPr/>
          </p:nvGrpSpPr>
          <p:grpSpPr bwMode="auto">
            <a:xfrm>
              <a:off x="2544" y="1777"/>
              <a:ext cx="350" cy="248"/>
              <a:chOff x="2784" y="1343"/>
              <a:chExt cx="591" cy="431"/>
            </a:xfrm>
          </p:grpSpPr>
          <p:sp>
            <p:nvSpPr>
              <p:cNvPr id="10275" name="Oval 23"/>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76" name="Text Box 24"/>
              <p:cNvSpPr txBox="1">
                <a:spLocks noChangeArrowheads="1"/>
              </p:cNvSpPr>
              <p:nvPr/>
            </p:nvSpPr>
            <p:spPr bwMode="auto">
              <a:xfrm>
                <a:off x="2784" y="1343"/>
                <a:ext cx="591"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31</a:t>
                </a:r>
                <a:endParaRPr lang="th-TH" altLang="en-US" sz="2800" dirty="0">
                  <a:latin typeface="Calibri" charset="0"/>
                </a:endParaRPr>
              </a:p>
            </p:txBody>
          </p:sp>
        </p:grpSp>
        <p:grpSp>
          <p:nvGrpSpPr>
            <p:cNvPr id="13327" name="Group 25"/>
            <p:cNvGrpSpPr>
              <a:grpSpLocks/>
            </p:cNvGrpSpPr>
            <p:nvPr/>
          </p:nvGrpSpPr>
          <p:grpSpPr bwMode="auto">
            <a:xfrm>
              <a:off x="2351" y="2286"/>
              <a:ext cx="321" cy="249"/>
              <a:chOff x="2782" y="1344"/>
              <a:chExt cx="542" cy="432"/>
            </a:xfrm>
          </p:grpSpPr>
          <p:sp>
            <p:nvSpPr>
              <p:cNvPr id="10273" name="Oval 26"/>
              <p:cNvSpPr>
                <a:spLocks noChangeArrowheads="1"/>
              </p:cNvSpPr>
              <p:nvPr/>
            </p:nvSpPr>
            <p:spPr bwMode="auto">
              <a:xfrm>
                <a:off x="2782" y="1344"/>
                <a:ext cx="434"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74" name="Text Box 27"/>
              <p:cNvSpPr txBox="1">
                <a:spLocks noChangeArrowheads="1"/>
              </p:cNvSpPr>
              <p:nvPr/>
            </p:nvSpPr>
            <p:spPr bwMode="auto">
              <a:xfrm>
                <a:off x="2785" y="1344"/>
                <a:ext cx="539"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32</a:t>
                </a:r>
                <a:endParaRPr lang="th-TH" altLang="en-US" sz="2800" dirty="0">
                  <a:latin typeface="Calibri" charset="0"/>
                </a:endParaRPr>
              </a:p>
            </p:txBody>
          </p:sp>
        </p:grpSp>
        <p:sp>
          <p:nvSpPr>
            <p:cNvPr id="10257" name="Line 28"/>
            <p:cNvSpPr>
              <a:spLocks noChangeShapeType="1"/>
            </p:cNvSpPr>
            <p:nvPr/>
          </p:nvSpPr>
          <p:spPr bwMode="auto">
            <a:xfrm>
              <a:off x="2416" y="1563"/>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10258" name="Line 29"/>
            <p:cNvSpPr>
              <a:spLocks noChangeShapeType="1"/>
            </p:cNvSpPr>
            <p:nvPr/>
          </p:nvSpPr>
          <p:spPr bwMode="auto">
            <a:xfrm flipH="1">
              <a:off x="2496" y="2046"/>
              <a:ext cx="128" cy="2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3330" name="Group 30"/>
            <p:cNvGrpSpPr>
              <a:grpSpLocks/>
            </p:cNvGrpSpPr>
            <p:nvPr/>
          </p:nvGrpSpPr>
          <p:grpSpPr bwMode="auto">
            <a:xfrm>
              <a:off x="1871" y="1758"/>
              <a:ext cx="289" cy="250"/>
              <a:chOff x="2782" y="1343"/>
              <a:chExt cx="488" cy="433"/>
            </a:xfrm>
          </p:grpSpPr>
          <p:sp>
            <p:nvSpPr>
              <p:cNvPr id="10271" name="Oval 31"/>
              <p:cNvSpPr>
                <a:spLocks noChangeArrowheads="1"/>
              </p:cNvSpPr>
              <p:nvPr/>
            </p:nvSpPr>
            <p:spPr bwMode="auto">
              <a:xfrm>
                <a:off x="2782" y="1345"/>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72" name="Text Box 32"/>
              <p:cNvSpPr txBox="1">
                <a:spLocks noChangeArrowheads="1"/>
              </p:cNvSpPr>
              <p:nvPr/>
            </p:nvSpPr>
            <p:spPr bwMode="auto">
              <a:xfrm>
                <a:off x="2782" y="1343"/>
                <a:ext cx="48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24</a:t>
                </a:r>
                <a:endParaRPr lang="th-TH" altLang="en-US" sz="2800" dirty="0">
                  <a:latin typeface="Calibri" charset="0"/>
                </a:endParaRPr>
              </a:p>
            </p:txBody>
          </p:sp>
        </p:grpSp>
        <p:sp>
          <p:nvSpPr>
            <p:cNvPr id="10260" name="Line 33"/>
            <p:cNvSpPr>
              <a:spLocks noChangeShapeType="1"/>
            </p:cNvSpPr>
            <p:nvPr/>
          </p:nvSpPr>
          <p:spPr bwMode="auto">
            <a:xfrm flipV="1">
              <a:off x="2064" y="156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nvGrpSpPr>
            <p:cNvPr id="13332" name="Group 34"/>
            <p:cNvGrpSpPr>
              <a:grpSpLocks/>
            </p:cNvGrpSpPr>
            <p:nvPr/>
          </p:nvGrpSpPr>
          <p:grpSpPr bwMode="auto">
            <a:xfrm>
              <a:off x="1634" y="2286"/>
              <a:ext cx="306" cy="249"/>
              <a:chOff x="2784" y="1344"/>
              <a:chExt cx="516" cy="432"/>
            </a:xfrm>
          </p:grpSpPr>
          <p:sp>
            <p:nvSpPr>
              <p:cNvPr id="10269" name="Oval 35"/>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70" name="Text Box 36"/>
              <p:cNvSpPr txBox="1">
                <a:spLocks noChangeArrowheads="1"/>
              </p:cNvSpPr>
              <p:nvPr/>
            </p:nvSpPr>
            <p:spPr bwMode="auto">
              <a:xfrm>
                <a:off x="2785" y="1344"/>
                <a:ext cx="515"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65</a:t>
                </a:r>
                <a:endParaRPr lang="th-TH" altLang="en-US" sz="2800" dirty="0">
                  <a:latin typeface="Calibri" charset="0"/>
                </a:endParaRPr>
              </a:p>
            </p:txBody>
          </p:sp>
        </p:grpSp>
        <p:grpSp>
          <p:nvGrpSpPr>
            <p:cNvPr id="13333" name="Group 37"/>
            <p:cNvGrpSpPr>
              <a:grpSpLocks/>
            </p:cNvGrpSpPr>
            <p:nvPr/>
          </p:nvGrpSpPr>
          <p:grpSpPr bwMode="auto">
            <a:xfrm>
              <a:off x="2014" y="2282"/>
              <a:ext cx="336" cy="248"/>
              <a:chOff x="2784" y="1344"/>
              <a:chExt cx="568" cy="432"/>
            </a:xfrm>
          </p:grpSpPr>
          <p:sp>
            <p:nvSpPr>
              <p:cNvPr id="10267" name="Oval 38"/>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a:latin typeface="+mj-lt"/>
                </a:endParaRPr>
              </a:p>
            </p:txBody>
          </p:sp>
          <p:sp>
            <p:nvSpPr>
              <p:cNvPr id="10268" name="Text Box 39"/>
              <p:cNvSpPr txBox="1">
                <a:spLocks noChangeArrowheads="1"/>
              </p:cNvSpPr>
              <p:nvPr/>
            </p:nvSpPr>
            <p:spPr bwMode="auto">
              <a:xfrm>
                <a:off x="2786" y="1344"/>
                <a:ext cx="56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buNone/>
                </a:pPr>
                <a:r>
                  <a:rPr lang="th-TH" altLang="en-US" sz="1600" dirty="0">
                    <a:latin typeface="Calibri" charset="0"/>
                  </a:rPr>
                  <a:t>26</a:t>
                </a:r>
                <a:endParaRPr lang="th-TH" altLang="en-US" sz="2800" dirty="0">
                  <a:latin typeface="Calibri" charset="0"/>
                </a:endParaRPr>
              </a:p>
            </p:txBody>
          </p:sp>
        </p:grpSp>
        <p:sp>
          <p:nvSpPr>
            <p:cNvPr id="10263" name="Line 40"/>
            <p:cNvSpPr>
              <a:spLocks noChangeShapeType="1"/>
            </p:cNvSpPr>
            <p:nvPr/>
          </p:nvSpPr>
          <p:spPr bwMode="auto">
            <a:xfrm flipH="1">
              <a:off x="1824" y="199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10264" name="Line 41"/>
            <p:cNvSpPr>
              <a:spLocks noChangeShapeType="1"/>
            </p:cNvSpPr>
            <p:nvPr/>
          </p:nvSpPr>
          <p:spPr bwMode="auto">
            <a:xfrm>
              <a:off x="2064" y="1998"/>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10265" name="Line 42"/>
            <p:cNvSpPr>
              <a:spLocks noChangeShapeType="1"/>
            </p:cNvSpPr>
            <p:nvPr/>
          </p:nvSpPr>
          <p:spPr bwMode="auto">
            <a:xfrm flipV="1">
              <a:off x="2400" y="1152"/>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sp>
          <p:nvSpPr>
            <p:cNvPr id="10266" name="Line 43"/>
            <p:cNvSpPr>
              <a:spLocks noChangeShapeType="1"/>
            </p:cNvSpPr>
            <p:nvPr/>
          </p:nvSpPr>
          <p:spPr bwMode="auto">
            <a:xfrm>
              <a:off x="3216" y="1152"/>
              <a:ext cx="62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a:latin typeface="+mj-lt"/>
              </a:endParaRPr>
            </a:p>
          </p:txBody>
        </p:sp>
      </p:gr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49262BC9-3E40-344C-9FB7-E3CCEB889F5A}" type="slidenum">
              <a:rPr lang="zh-TW" altLang="en-US" sz="1200">
                <a:solidFill>
                  <a:srgbClr val="898989"/>
                </a:solidFill>
                <a:latin typeface="Calibri" charset="0"/>
              </a:rPr>
              <a:pPr/>
              <a:t>12</a:t>
            </a:fld>
            <a:endParaRPr lang="en-US" altLang="zh-TW" sz="1200">
              <a:solidFill>
                <a:srgbClr val="898989"/>
              </a:solidFill>
              <a:latin typeface="Calibri" charset="0"/>
            </a:endParaRPr>
          </a:p>
        </p:txBody>
      </p:sp>
      <p:sp>
        <p:nvSpPr>
          <p:cNvPr id="5" name="TextBox 4">
            <a:extLst>
              <a:ext uri="{FF2B5EF4-FFF2-40B4-BE49-F238E27FC236}">
                <a16:creationId xmlns:a16="http://schemas.microsoft.com/office/drawing/2014/main" id="{A526C74F-7162-B6E3-15D4-BD307AE1B5EA}"/>
              </a:ext>
            </a:extLst>
          </p:cNvPr>
          <p:cNvSpPr txBox="1"/>
          <p:nvPr/>
        </p:nvSpPr>
        <p:spPr>
          <a:xfrm>
            <a:off x="47846" y="3447871"/>
            <a:ext cx="3914554" cy="1200329"/>
          </a:xfrm>
          <a:prstGeom prst="rect">
            <a:avLst/>
          </a:prstGeom>
          <a:noFill/>
        </p:spPr>
        <p:txBody>
          <a:bodyPr wrap="square">
            <a:spAutoFit/>
          </a:bodyPr>
          <a:lstStyle/>
          <a:p>
            <a:pPr algn="just">
              <a:buNone/>
            </a:pPr>
            <a:r>
              <a:rPr lang="en-US" sz="2400" b="0" i="0" u="none" strike="noStrike" baseline="0" dirty="0">
                <a:solidFill>
                  <a:srgbClr val="FF0000"/>
                </a:solidFill>
                <a:latin typeface="Berkeley-Book"/>
              </a:rPr>
              <a:t>By the heap-order property, the minimum element can always be found at the root</a:t>
            </a:r>
            <a:endParaRPr lang="en-001" sz="24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33413" y="228600"/>
            <a:ext cx="7772400" cy="1143000"/>
          </a:xfrm>
        </p:spPr>
        <p:txBody>
          <a:bodyPr/>
          <a:lstStyle/>
          <a:p>
            <a:r>
              <a:rPr lang="tr-TR" altLang="en-US" sz="4000" b="1">
                <a:solidFill>
                  <a:srgbClr val="000099"/>
                </a:solidFill>
              </a:rPr>
              <a:t>Property 2: Heap Order Property</a:t>
            </a:r>
            <a:br>
              <a:rPr lang="tr-TR" altLang="en-US" sz="4000" b="1">
                <a:solidFill>
                  <a:srgbClr val="000099"/>
                </a:solidFill>
              </a:rPr>
            </a:br>
            <a:r>
              <a:rPr lang="th-TH" altLang="en-US" sz="3200" b="1">
                <a:solidFill>
                  <a:srgbClr val="000099"/>
                </a:solidFill>
              </a:rPr>
              <a:t>(for Minimum Heap)</a:t>
            </a:r>
            <a:endParaRPr lang="th-TH" altLang="en-US" sz="4000" b="1">
              <a:solidFill>
                <a:srgbClr val="000099"/>
              </a:solidFill>
            </a:endParaRPr>
          </a:p>
        </p:txBody>
      </p:sp>
      <p:sp>
        <p:nvSpPr>
          <p:cNvPr id="10245" name="Rectangle 3"/>
          <p:cNvSpPr>
            <a:spLocks noGrp="1" noChangeArrowheads="1"/>
          </p:cNvSpPr>
          <p:nvPr>
            <p:ph type="body" idx="1"/>
          </p:nvPr>
        </p:nvSpPr>
        <p:spPr>
          <a:xfrm>
            <a:off x="633413" y="1371600"/>
            <a:ext cx="8129587" cy="914400"/>
          </a:xfrm>
        </p:spPr>
        <p:txBody>
          <a:bodyPr/>
          <a:lstStyle/>
          <a:p>
            <a:r>
              <a:rPr lang="th-TH" altLang="en-US" sz="2400" dirty="0"/>
              <a:t>Any node is smaller than (or equal to) all of its children (any subtree is a heap) </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49262BC9-3E40-344C-9FB7-E3CCEB889F5A}" type="slidenum">
              <a:rPr lang="zh-TW" altLang="en-US" sz="1200">
                <a:solidFill>
                  <a:srgbClr val="898989"/>
                </a:solidFill>
                <a:latin typeface="Calibri" charset="0"/>
              </a:rPr>
              <a:pPr/>
              <a:t>13</a:t>
            </a:fld>
            <a:endParaRPr lang="en-US" altLang="zh-TW" sz="1200">
              <a:solidFill>
                <a:srgbClr val="898989"/>
              </a:solidFill>
              <a:latin typeface="Calibri" charset="0"/>
            </a:endParaRPr>
          </a:p>
        </p:txBody>
      </p:sp>
      <p:pic>
        <p:nvPicPr>
          <p:cNvPr id="7" name="Picture 6">
            <a:extLst>
              <a:ext uri="{FF2B5EF4-FFF2-40B4-BE49-F238E27FC236}">
                <a16:creationId xmlns:a16="http://schemas.microsoft.com/office/drawing/2014/main" id="{A8AEE89F-025F-2468-6D1D-A1BDE02F0864}"/>
              </a:ext>
            </a:extLst>
          </p:cNvPr>
          <p:cNvPicPr>
            <a:picLocks noChangeAspect="1"/>
          </p:cNvPicPr>
          <p:nvPr/>
        </p:nvPicPr>
        <p:blipFill>
          <a:blip r:embed="rId2"/>
          <a:stretch>
            <a:fillRect/>
          </a:stretch>
        </p:blipFill>
        <p:spPr>
          <a:xfrm>
            <a:off x="0" y="2611073"/>
            <a:ext cx="9144000" cy="3464653"/>
          </a:xfrm>
          <a:prstGeom prst="rect">
            <a:avLst/>
          </a:prstGeom>
        </p:spPr>
      </p:pic>
    </p:spTree>
    <p:extLst>
      <p:ext uri="{BB962C8B-B14F-4D97-AF65-F5344CB8AC3E}">
        <p14:creationId xmlns:p14="http://schemas.microsoft.com/office/powerpoint/2010/main" val="508039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33413" y="304800"/>
            <a:ext cx="7772400" cy="1143000"/>
          </a:xfrm>
        </p:spPr>
        <p:txBody>
          <a:bodyPr/>
          <a:lstStyle/>
          <a:p>
            <a:r>
              <a:rPr lang="th-TH" altLang="en-US" sz="4000" b="1">
                <a:solidFill>
                  <a:srgbClr val="000099"/>
                </a:solidFill>
              </a:rPr>
              <a:t>Insert</a:t>
            </a:r>
          </a:p>
        </p:txBody>
      </p:sp>
      <p:grpSp>
        <p:nvGrpSpPr>
          <p:cNvPr id="14339" name="Group 138"/>
          <p:cNvGrpSpPr>
            <a:grpSpLocks/>
          </p:cNvGrpSpPr>
          <p:nvPr/>
        </p:nvGrpSpPr>
        <p:grpSpPr bwMode="auto">
          <a:xfrm>
            <a:off x="-71438" y="3044870"/>
            <a:ext cx="5010151" cy="2734302"/>
            <a:chOff x="384" y="1296"/>
            <a:chExt cx="2705" cy="1676"/>
          </a:xfrm>
        </p:grpSpPr>
        <p:grpSp>
          <p:nvGrpSpPr>
            <p:cNvPr id="14386" name="Group 5"/>
            <p:cNvGrpSpPr>
              <a:grpSpLocks/>
            </p:cNvGrpSpPr>
            <p:nvPr/>
          </p:nvGrpSpPr>
          <p:grpSpPr bwMode="auto">
            <a:xfrm>
              <a:off x="1776" y="1296"/>
              <a:ext cx="257" cy="249"/>
              <a:chOff x="2784" y="1344"/>
              <a:chExt cx="434" cy="432"/>
            </a:xfrm>
          </p:grpSpPr>
          <p:sp>
            <p:nvSpPr>
              <p:cNvPr id="11356" name="Oval 6"/>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57" name="Text Box 7"/>
              <p:cNvSpPr txBox="1">
                <a:spLocks noChangeArrowheads="1"/>
              </p:cNvSpPr>
              <p:nvPr/>
            </p:nvSpPr>
            <p:spPr bwMode="auto">
              <a:xfrm>
                <a:off x="2785" y="1346"/>
                <a:ext cx="43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dirty="0">
                    <a:latin typeface="Calibri" charset="0"/>
                  </a:rPr>
                  <a:t>13</a:t>
                </a:r>
                <a:endParaRPr lang="th-TH" altLang="en-US" sz="2400" dirty="0">
                  <a:latin typeface="Calibri" charset="0"/>
                </a:endParaRPr>
              </a:p>
            </p:txBody>
          </p:sp>
        </p:grpSp>
        <p:grpSp>
          <p:nvGrpSpPr>
            <p:cNvPr id="14387" name="Group 8"/>
            <p:cNvGrpSpPr>
              <a:grpSpLocks/>
            </p:cNvGrpSpPr>
            <p:nvPr/>
          </p:nvGrpSpPr>
          <p:grpSpPr bwMode="auto">
            <a:xfrm>
              <a:off x="2513" y="1728"/>
              <a:ext cx="255" cy="250"/>
              <a:chOff x="2784" y="1344"/>
              <a:chExt cx="430" cy="433"/>
            </a:xfrm>
          </p:grpSpPr>
          <p:sp>
            <p:nvSpPr>
              <p:cNvPr id="11354" name="Oval 9"/>
              <p:cNvSpPr>
                <a:spLocks noChangeArrowheads="1"/>
              </p:cNvSpPr>
              <p:nvPr/>
            </p:nvSpPr>
            <p:spPr bwMode="auto">
              <a:xfrm>
                <a:off x="2784" y="1344"/>
                <a:ext cx="430"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55" name="Text Box 10"/>
              <p:cNvSpPr txBox="1">
                <a:spLocks noChangeArrowheads="1"/>
              </p:cNvSpPr>
              <p:nvPr/>
            </p:nvSpPr>
            <p:spPr bwMode="auto">
              <a:xfrm>
                <a:off x="2784" y="1346"/>
                <a:ext cx="43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16</a:t>
                </a:r>
                <a:endParaRPr lang="th-TH" altLang="en-US" sz="2400">
                  <a:latin typeface="Calibri" charset="0"/>
                </a:endParaRPr>
              </a:p>
            </p:txBody>
          </p:sp>
        </p:grpSp>
        <p:grpSp>
          <p:nvGrpSpPr>
            <p:cNvPr id="14388" name="Group 11"/>
            <p:cNvGrpSpPr>
              <a:grpSpLocks/>
            </p:cNvGrpSpPr>
            <p:nvPr/>
          </p:nvGrpSpPr>
          <p:grpSpPr bwMode="auto">
            <a:xfrm>
              <a:off x="2832" y="2164"/>
              <a:ext cx="257" cy="250"/>
              <a:chOff x="2784" y="1344"/>
              <a:chExt cx="434" cy="433"/>
            </a:xfrm>
          </p:grpSpPr>
          <p:sp>
            <p:nvSpPr>
              <p:cNvPr id="11352" name="Oval 12"/>
              <p:cNvSpPr>
                <a:spLocks noChangeArrowheads="1"/>
              </p:cNvSpPr>
              <p:nvPr/>
            </p:nvSpPr>
            <p:spPr bwMode="auto">
              <a:xfrm>
                <a:off x="2784" y="1344"/>
                <a:ext cx="433"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53" name="Text Box 13"/>
              <p:cNvSpPr txBox="1">
                <a:spLocks noChangeArrowheads="1"/>
              </p:cNvSpPr>
              <p:nvPr/>
            </p:nvSpPr>
            <p:spPr bwMode="auto">
              <a:xfrm>
                <a:off x="2784" y="1346"/>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68</a:t>
                </a:r>
                <a:endParaRPr lang="th-TH" altLang="en-US" sz="2400">
                  <a:latin typeface="Calibri" charset="0"/>
                </a:endParaRPr>
              </a:p>
            </p:txBody>
          </p:sp>
        </p:grpSp>
        <p:sp>
          <p:nvSpPr>
            <p:cNvPr id="11318" name="Line 14"/>
            <p:cNvSpPr>
              <a:spLocks noChangeShapeType="1"/>
            </p:cNvSpPr>
            <p:nvPr/>
          </p:nvSpPr>
          <p:spPr bwMode="auto">
            <a:xfrm>
              <a:off x="2704" y="1947"/>
              <a:ext cx="255"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4390" name="Group 15"/>
            <p:cNvGrpSpPr>
              <a:grpSpLocks/>
            </p:cNvGrpSpPr>
            <p:nvPr/>
          </p:nvGrpSpPr>
          <p:grpSpPr bwMode="auto">
            <a:xfrm>
              <a:off x="2160" y="2143"/>
              <a:ext cx="257" cy="251"/>
              <a:chOff x="2784" y="1342"/>
              <a:chExt cx="434" cy="434"/>
            </a:xfrm>
          </p:grpSpPr>
          <p:sp>
            <p:nvSpPr>
              <p:cNvPr id="11350" name="Oval 16"/>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51" name="Text Box 17"/>
              <p:cNvSpPr txBox="1">
                <a:spLocks noChangeArrowheads="1"/>
              </p:cNvSpPr>
              <p:nvPr/>
            </p:nvSpPr>
            <p:spPr bwMode="auto">
              <a:xfrm>
                <a:off x="2784" y="1345"/>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19</a:t>
                </a:r>
                <a:endParaRPr lang="th-TH" altLang="en-US" sz="2400">
                  <a:latin typeface="Calibri" charset="0"/>
                </a:endParaRPr>
              </a:p>
            </p:txBody>
          </p:sp>
        </p:grpSp>
        <p:sp>
          <p:nvSpPr>
            <p:cNvPr id="11320" name="Line 18"/>
            <p:cNvSpPr>
              <a:spLocks noChangeShapeType="1"/>
            </p:cNvSpPr>
            <p:nvPr/>
          </p:nvSpPr>
          <p:spPr bwMode="auto">
            <a:xfrm flipV="1">
              <a:off x="2352" y="195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4392" name="Group 19"/>
            <p:cNvGrpSpPr>
              <a:grpSpLocks/>
            </p:cNvGrpSpPr>
            <p:nvPr/>
          </p:nvGrpSpPr>
          <p:grpSpPr bwMode="auto">
            <a:xfrm>
              <a:off x="977" y="1728"/>
              <a:ext cx="255" cy="250"/>
              <a:chOff x="2784" y="1344"/>
              <a:chExt cx="430" cy="433"/>
            </a:xfrm>
          </p:grpSpPr>
          <p:sp>
            <p:nvSpPr>
              <p:cNvPr id="11348" name="Oval 20"/>
              <p:cNvSpPr>
                <a:spLocks noChangeArrowheads="1"/>
              </p:cNvSpPr>
              <p:nvPr/>
            </p:nvSpPr>
            <p:spPr bwMode="auto">
              <a:xfrm>
                <a:off x="2784" y="1344"/>
                <a:ext cx="430"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49" name="Text Box 21"/>
              <p:cNvSpPr txBox="1">
                <a:spLocks noChangeArrowheads="1"/>
              </p:cNvSpPr>
              <p:nvPr/>
            </p:nvSpPr>
            <p:spPr bwMode="auto">
              <a:xfrm>
                <a:off x="2784" y="1346"/>
                <a:ext cx="43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21</a:t>
                </a:r>
                <a:endParaRPr lang="th-TH" altLang="en-US" sz="2400">
                  <a:latin typeface="Calibri" charset="0"/>
                </a:endParaRPr>
              </a:p>
            </p:txBody>
          </p:sp>
        </p:grpSp>
        <p:grpSp>
          <p:nvGrpSpPr>
            <p:cNvPr id="14393" name="Group 22"/>
            <p:cNvGrpSpPr>
              <a:grpSpLocks/>
            </p:cNvGrpSpPr>
            <p:nvPr/>
          </p:nvGrpSpPr>
          <p:grpSpPr bwMode="auto">
            <a:xfrm>
              <a:off x="1296" y="2164"/>
              <a:ext cx="257" cy="250"/>
              <a:chOff x="2784" y="1344"/>
              <a:chExt cx="434" cy="433"/>
            </a:xfrm>
          </p:grpSpPr>
          <p:sp>
            <p:nvSpPr>
              <p:cNvPr id="11346" name="Oval 23"/>
              <p:cNvSpPr>
                <a:spLocks noChangeArrowheads="1"/>
              </p:cNvSpPr>
              <p:nvPr/>
            </p:nvSpPr>
            <p:spPr bwMode="auto">
              <a:xfrm>
                <a:off x="2784" y="1344"/>
                <a:ext cx="433"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47" name="Text Box 24"/>
              <p:cNvSpPr txBox="1">
                <a:spLocks noChangeArrowheads="1"/>
              </p:cNvSpPr>
              <p:nvPr/>
            </p:nvSpPr>
            <p:spPr bwMode="auto">
              <a:xfrm>
                <a:off x="2784" y="1346"/>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31</a:t>
                </a:r>
                <a:endParaRPr lang="th-TH" altLang="en-US" sz="2400">
                  <a:latin typeface="Calibri" charset="0"/>
                </a:endParaRPr>
              </a:p>
            </p:txBody>
          </p:sp>
        </p:grpSp>
        <p:grpSp>
          <p:nvGrpSpPr>
            <p:cNvPr id="14394" name="Group 25"/>
            <p:cNvGrpSpPr>
              <a:grpSpLocks/>
            </p:cNvGrpSpPr>
            <p:nvPr/>
          </p:nvGrpSpPr>
          <p:grpSpPr bwMode="auto">
            <a:xfrm>
              <a:off x="1104" y="2670"/>
              <a:ext cx="257" cy="249"/>
              <a:chOff x="2784" y="1344"/>
              <a:chExt cx="434" cy="432"/>
            </a:xfrm>
          </p:grpSpPr>
          <p:sp>
            <p:nvSpPr>
              <p:cNvPr id="11344" name="Oval 26"/>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45" name="Text Box 27"/>
              <p:cNvSpPr txBox="1">
                <a:spLocks noChangeArrowheads="1"/>
              </p:cNvSpPr>
              <p:nvPr/>
            </p:nvSpPr>
            <p:spPr bwMode="auto">
              <a:xfrm>
                <a:off x="2785" y="1346"/>
                <a:ext cx="43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32</a:t>
                </a:r>
                <a:endParaRPr lang="th-TH" altLang="en-US" sz="2400">
                  <a:latin typeface="Calibri" charset="0"/>
                </a:endParaRPr>
              </a:p>
            </p:txBody>
          </p:sp>
        </p:grpSp>
        <p:sp>
          <p:nvSpPr>
            <p:cNvPr id="11324" name="Line 28"/>
            <p:cNvSpPr>
              <a:spLocks noChangeShapeType="1"/>
            </p:cNvSpPr>
            <p:nvPr/>
          </p:nvSpPr>
          <p:spPr bwMode="auto">
            <a:xfrm>
              <a:off x="1168" y="1947"/>
              <a:ext cx="255"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1325" name="Line 29"/>
            <p:cNvSpPr>
              <a:spLocks noChangeShapeType="1"/>
            </p:cNvSpPr>
            <p:nvPr/>
          </p:nvSpPr>
          <p:spPr bwMode="auto">
            <a:xfrm flipH="1">
              <a:off x="124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4397" name="Group 30"/>
            <p:cNvGrpSpPr>
              <a:grpSpLocks/>
            </p:cNvGrpSpPr>
            <p:nvPr/>
          </p:nvGrpSpPr>
          <p:grpSpPr bwMode="auto">
            <a:xfrm>
              <a:off x="624" y="2143"/>
              <a:ext cx="257" cy="251"/>
              <a:chOff x="2784" y="1342"/>
              <a:chExt cx="434" cy="434"/>
            </a:xfrm>
          </p:grpSpPr>
          <p:sp>
            <p:nvSpPr>
              <p:cNvPr id="11342" name="Oval 31"/>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43" name="Text Box 32"/>
              <p:cNvSpPr txBox="1">
                <a:spLocks noChangeArrowheads="1"/>
              </p:cNvSpPr>
              <p:nvPr/>
            </p:nvSpPr>
            <p:spPr bwMode="auto">
              <a:xfrm>
                <a:off x="2784" y="1345"/>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24</a:t>
                </a:r>
                <a:endParaRPr lang="th-TH" altLang="en-US" sz="2400">
                  <a:latin typeface="Calibri" charset="0"/>
                </a:endParaRPr>
              </a:p>
            </p:txBody>
          </p:sp>
        </p:grpSp>
        <p:sp>
          <p:nvSpPr>
            <p:cNvPr id="11327" name="Line 33"/>
            <p:cNvSpPr>
              <a:spLocks noChangeShapeType="1"/>
            </p:cNvSpPr>
            <p:nvPr/>
          </p:nvSpPr>
          <p:spPr bwMode="auto">
            <a:xfrm flipV="1">
              <a:off x="816" y="195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4399" name="Group 34"/>
            <p:cNvGrpSpPr>
              <a:grpSpLocks/>
            </p:cNvGrpSpPr>
            <p:nvPr/>
          </p:nvGrpSpPr>
          <p:grpSpPr bwMode="auto">
            <a:xfrm>
              <a:off x="384" y="2670"/>
              <a:ext cx="257" cy="249"/>
              <a:chOff x="2784" y="1344"/>
              <a:chExt cx="434" cy="432"/>
            </a:xfrm>
          </p:grpSpPr>
          <p:sp>
            <p:nvSpPr>
              <p:cNvPr id="11340" name="Oval 35"/>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41" name="Text Box 36"/>
              <p:cNvSpPr txBox="1">
                <a:spLocks noChangeArrowheads="1"/>
              </p:cNvSpPr>
              <p:nvPr/>
            </p:nvSpPr>
            <p:spPr bwMode="auto">
              <a:xfrm>
                <a:off x="2785" y="1346"/>
                <a:ext cx="43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65</a:t>
                </a:r>
                <a:endParaRPr lang="th-TH" altLang="en-US" sz="2400">
                  <a:latin typeface="Calibri" charset="0"/>
                </a:endParaRPr>
              </a:p>
            </p:txBody>
          </p:sp>
        </p:grpSp>
        <p:grpSp>
          <p:nvGrpSpPr>
            <p:cNvPr id="14400" name="Group 37"/>
            <p:cNvGrpSpPr>
              <a:grpSpLocks/>
            </p:cNvGrpSpPr>
            <p:nvPr/>
          </p:nvGrpSpPr>
          <p:grpSpPr bwMode="auto">
            <a:xfrm>
              <a:off x="768" y="2670"/>
              <a:ext cx="257" cy="249"/>
              <a:chOff x="2784" y="1344"/>
              <a:chExt cx="434" cy="432"/>
            </a:xfrm>
          </p:grpSpPr>
          <p:sp>
            <p:nvSpPr>
              <p:cNvPr id="11338" name="Oval 38"/>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39" name="Text Box 39"/>
              <p:cNvSpPr txBox="1">
                <a:spLocks noChangeArrowheads="1"/>
              </p:cNvSpPr>
              <p:nvPr/>
            </p:nvSpPr>
            <p:spPr bwMode="auto">
              <a:xfrm>
                <a:off x="2785" y="1346"/>
                <a:ext cx="43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26</a:t>
                </a:r>
                <a:endParaRPr lang="th-TH" altLang="en-US" sz="2400">
                  <a:latin typeface="Calibri" charset="0"/>
                </a:endParaRPr>
              </a:p>
            </p:txBody>
          </p:sp>
        </p:grpSp>
        <p:sp>
          <p:nvSpPr>
            <p:cNvPr id="11330" name="Line 40"/>
            <p:cNvSpPr>
              <a:spLocks noChangeShapeType="1"/>
            </p:cNvSpPr>
            <p:nvPr/>
          </p:nvSpPr>
          <p:spPr bwMode="auto">
            <a:xfrm flipH="1">
              <a:off x="576" y="2382"/>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1331" name="Line 41"/>
            <p:cNvSpPr>
              <a:spLocks noChangeShapeType="1"/>
            </p:cNvSpPr>
            <p:nvPr/>
          </p:nvSpPr>
          <p:spPr bwMode="auto">
            <a:xfrm>
              <a:off x="816" y="2382"/>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1332" name="Line 42"/>
            <p:cNvSpPr>
              <a:spLocks noChangeShapeType="1"/>
            </p:cNvSpPr>
            <p:nvPr/>
          </p:nvSpPr>
          <p:spPr bwMode="auto">
            <a:xfrm flipV="1">
              <a:off x="1152" y="1536"/>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1333" name="Line 43"/>
            <p:cNvSpPr>
              <a:spLocks noChangeShapeType="1"/>
            </p:cNvSpPr>
            <p:nvPr/>
          </p:nvSpPr>
          <p:spPr bwMode="auto">
            <a:xfrm>
              <a:off x="1968" y="1536"/>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4405" name="Group 84"/>
            <p:cNvGrpSpPr>
              <a:grpSpLocks/>
            </p:cNvGrpSpPr>
            <p:nvPr/>
          </p:nvGrpSpPr>
          <p:grpSpPr bwMode="auto">
            <a:xfrm>
              <a:off x="1536" y="2689"/>
              <a:ext cx="257" cy="283"/>
              <a:chOff x="2784" y="1346"/>
              <a:chExt cx="434" cy="491"/>
            </a:xfrm>
          </p:grpSpPr>
          <p:sp>
            <p:nvSpPr>
              <p:cNvPr id="11336" name="Oval 85"/>
              <p:cNvSpPr>
                <a:spLocks noChangeArrowheads="1"/>
              </p:cNvSpPr>
              <p:nvPr/>
            </p:nvSpPr>
            <p:spPr bwMode="auto">
              <a:xfrm>
                <a:off x="2784" y="1346"/>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1337" name="Text Box 86"/>
              <p:cNvSpPr txBox="1">
                <a:spLocks noChangeArrowheads="1"/>
              </p:cNvSpPr>
              <p:nvPr/>
            </p:nvSpPr>
            <p:spPr bwMode="auto">
              <a:xfrm>
                <a:off x="2785" y="1346"/>
                <a:ext cx="433"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a:latin typeface="+mj-lt"/>
                </a:endParaRPr>
              </a:p>
            </p:txBody>
          </p:sp>
        </p:grpSp>
        <p:sp>
          <p:nvSpPr>
            <p:cNvPr id="11335" name="Line 87"/>
            <p:cNvSpPr>
              <a:spLocks noChangeShapeType="1"/>
            </p:cNvSpPr>
            <p:nvPr/>
          </p:nvSpPr>
          <p:spPr bwMode="auto">
            <a:xfrm>
              <a:off x="1488" y="2448"/>
              <a:ext cx="96"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sp>
        <p:nvSpPr>
          <p:cNvPr id="11271" name="Rectangle 142"/>
          <p:cNvSpPr>
            <a:spLocks noGrp="1" noChangeArrowheads="1"/>
          </p:cNvSpPr>
          <p:nvPr>
            <p:ph type="body" idx="1"/>
          </p:nvPr>
        </p:nvSpPr>
        <p:spPr>
          <a:xfrm>
            <a:off x="633413" y="1295400"/>
            <a:ext cx="7880350" cy="1219200"/>
          </a:xfrm>
        </p:spPr>
        <p:txBody>
          <a:bodyPr/>
          <a:lstStyle/>
          <a:p>
            <a:r>
              <a:rPr lang="th-TH" altLang="en-US" sz="2800" dirty="0"/>
              <a:t>Create a hole in the next available location</a:t>
            </a:r>
          </a:p>
          <a:p>
            <a:r>
              <a:rPr lang="th-TH" altLang="en-US" sz="2800" dirty="0"/>
              <a:t>Move the hole up (swap with its parent) until data can be placed in the hole without violating the heap order property (called </a:t>
            </a:r>
            <a:r>
              <a:rPr lang="th-TH" altLang="en-US" sz="2800" b="1" i="1" dirty="0"/>
              <a:t>percolate up</a:t>
            </a:r>
            <a:r>
              <a:rPr lang="th-TH" altLang="en-US" sz="2800" dirty="0"/>
              <a:t>)</a:t>
            </a:r>
          </a:p>
        </p:txBody>
      </p:sp>
      <p:grpSp>
        <p:nvGrpSpPr>
          <p:cNvPr id="14341" name="Group 143"/>
          <p:cNvGrpSpPr>
            <a:grpSpLocks/>
          </p:cNvGrpSpPr>
          <p:nvPr/>
        </p:nvGrpSpPr>
        <p:grpSpPr bwMode="auto">
          <a:xfrm>
            <a:off x="4343400" y="3770313"/>
            <a:ext cx="4729163" cy="2681007"/>
            <a:chOff x="3216" y="1344"/>
            <a:chExt cx="2705" cy="1641"/>
          </a:xfrm>
        </p:grpSpPr>
        <p:grpSp>
          <p:nvGrpSpPr>
            <p:cNvPr id="14344" name="Group 144"/>
            <p:cNvGrpSpPr>
              <a:grpSpLocks/>
            </p:cNvGrpSpPr>
            <p:nvPr/>
          </p:nvGrpSpPr>
          <p:grpSpPr bwMode="auto">
            <a:xfrm>
              <a:off x="4608" y="1344"/>
              <a:ext cx="257" cy="248"/>
              <a:chOff x="2784" y="1344"/>
              <a:chExt cx="434" cy="430"/>
            </a:xfrm>
          </p:grpSpPr>
          <p:sp>
            <p:nvSpPr>
              <p:cNvPr id="11313" name="Oval 145"/>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14" name="Text Box 146"/>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4345" name="Group 147"/>
            <p:cNvGrpSpPr>
              <a:grpSpLocks/>
            </p:cNvGrpSpPr>
            <p:nvPr/>
          </p:nvGrpSpPr>
          <p:grpSpPr bwMode="auto">
            <a:xfrm>
              <a:off x="5348" y="1778"/>
              <a:ext cx="254" cy="249"/>
              <a:chOff x="2786" y="1345"/>
              <a:chExt cx="428" cy="431"/>
            </a:xfrm>
          </p:grpSpPr>
          <p:sp>
            <p:nvSpPr>
              <p:cNvPr id="11311" name="Oval 148"/>
              <p:cNvSpPr>
                <a:spLocks noChangeArrowheads="1"/>
              </p:cNvSpPr>
              <p:nvPr/>
            </p:nvSpPr>
            <p:spPr bwMode="auto">
              <a:xfrm>
                <a:off x="2786"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12" name="Text Box 149"/>
              <p:cNvSpPr txBox="1">
                <a:spLocks noChangeArrowheads="1"/>
              </p:cNvSpPr>
              <p:nvPr/>
            </p:nvSpPr>
            <p:spPr bwMode="auto">
              <a:xfrm>
                <a:off x="2786" y="1345"/>
                <a:ext cx="42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4346" name="Group 150"/>
            <p:cNvGrpSpPr>
              <a:grpSpLocks/>
            </p:cNvGrpSpPr>
            <p:nvPr/>
          </p:nvGrpSpPr>
          <p:grpSpPr bwMode="auto">
            <a:xfrm>
              <a:off x="5664" y="2212"/>
              <a:ext cx="257" cy="250"/>
              <a:chOff x="2784" y="1343"/>
              <a:chExt cx="434" cy="433"/>
            </a:xfrm>
          </p:grpSpPr>
          <p:sp>
            <p:nvSpPr>
              <p:cNvPr id="11309" name="Oval 15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10" name="Text Box 152"/>
              <p:cNvSpPr txBox="1">
                <a:spLocks noChangeArrowheads="1"/>
              </p:cNvSpPr>
              <p:nvPr/>
            </p:nvSpPr>
            <p:spPr bwMode="auto">
              <a:xfrm>
                <a:off x="2784" y="1343"/>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1276" name="Line 153"/>
            <p:cNvSpPr>
              <a:spLocks noChangeShapeType="1"/>
            </p:cNvSpPr>
            <p:nvPr/>
          </p:nvSpPr>
          <p:spPr bwMode="auto">
            <a:xfrm>
              <a:off x="5536" y="199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4348" name="Group 154"/>
            <p:cNvGrpSpPr>
              <a:grpSpLocks/>
            </p:cNvGrpSpPr>
            <p:nvPr/>
          </p:nvGrpSpPr>
          <p:grpSpPr bwMode="auto">
            <a:xfrm>
              <a:off x="4992" y="2192"/>
              <a:ext cx="257" cy="249"/>
              <a:chOff x="2784" y="1345"/>
              <a:chExt cx="434" cy="431"/>
            </a:xfrm>
          </p:grpSpPr>
          <p:sp>
            <p:nvSpPr>
              <p:cNvPr id="11307" name="Oval 155"/>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08" name="Text Box 156"/>
              <p:cNvSpPr txBox="1">
                <a:spLocks noChangeArrowheads="1"/>
              </p:cNvSpPr>
              <p:nvPr/>
            </p:nvSpPr>
            <p:spPr bwMode="auto">
              <a:xfrm>
                <a:off x="2784" y="1345"/>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1278" name="Line 157"/>
            <p:cNvSpPr>
              <a:spLocks noChangeShapeType="1"/>
            </p:cNvSpPr>
            <p:nvPr/>
          </p:nvSpPr>
          <p:spPr bwMode="auto">
            <a:xfrm flipV="1">
              <a:off x="5184" y="1998"/>
              <a:ext cx="193"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4350" name="Group 158"/>
            <p:cNvGrpSpPr>
              <a:grpSpLocks/>
            </p:cNvGrpSpPr>
            <p:nvPr/>
          </p:nvGrpSpPr>
          <p:grpSpPr bwMode="auto">
            <a:xfrm>
              <a:off x="3808" y="1778"/>
              <a:ext cx="256" cy="249"/>
              <a:chOff x="2784" y="1345"/>
              <a:chExt cx="432" cy="431"/>
            </a:xfrm>
          </p:grpSpPr>
          <p:sp>
            <p:nvSpPr>
              <p:cNvPr id="11305" name="Oval 159"/>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06" name="Text Box 160"/>
              <p:cNvSpPr txBox="1">
                <a:spLocks noChangeArrowheads="1"/>
              </p:cNvSpPr>
              <p:nvPr/>
            </p:nvSpPr>
            <p:spPr bwMode="auto">
              <a:xfrm>
                <a:off x="2784" y="1345"/>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4351" name="Group 161"/>
            <p:cNvGrpSpPr>
              <a:grpSpLocks/>
            </p:cNvGrpSpPr>
            <p:nvPr/>
          </p:nvGrpSpPr>
          <p:grpSpPr bwMode="auto">
            <a:xfrm>
              <a:off x="4127" y="2211"/>
              <a:ext cx="257" cy="253"/>
              <a:chOff x="2782" y="1339"/>
              <a:chExt cx="434" cy="437"/>
            </a:xfrm>
          </p:grpSpPr>
          <p:sp>
            <p:nvSpPr>
              <p:cNvPr id="11303" name="Oval 162"/>
              <p:cNvSpPr>
                <a:spLocks noChangeArrowheads="1"/>
              </p:cNvSpPr>
              <p:nvPr/>
            </p:nvSpPr>
            <p:spPr bwMode="auto">
              <a:xfrm>
                <a:off x="2782" y="1344"/>
                <a:ext cx="431"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04" name="Text Box 163"/>
              <p:cNvSpPr txBox="1">
                <a:spLocks noChangeArrowheads="1"/>
              </p:cNvSpPr>
              <p:nvPr/>
            </p:nvSpPr>
            <p:spPr bwMode="auto">
              <a:xfrm>
                <a:off x="2782" y="1339"/>
                <a:ext cx="4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dirty="0">
                  <a:latin typeface="+mj-lt"/>
                </a:endParaRPr>
              </a:p>
            </p:txBody>
          </p:sp>
        </p:grpSp>
        <p:grpSp>
          <p:nvGrpSpPr>
            <p:cNvPr id="14352" name="Group 164"/>
            <p:cNvGrpSpPr>
              <a:grpSpLocks/>
            </p:cNvGrpSpPr>
            <p:nvPr/>
          </p:nvGrpSpPr>
          <p:grpSpPr bwMode="auto">
            <a:xfrm>
              <a:off x="3936" y="2718"/>
              <a:ext cx="257" cy="248"/>
              <a:chOff x="2784" y="1344"/>
              <a:chExt cx="434" cy="430"/>
            </a:xfrm>
          </p:grpSpPr>
          <p:sp>
            <p:nvSpPr>
              <p:cNvPr id="11301" name="Oval 165"/>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02" name="Text Box 166"/>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1282" name="Line 167"/>
            <p:cNvSpPr>
              <a:spLocks noChangeShapeType="1"/>
            </p:cNvSpPr>
            <p:nvPr/>
          </p:nvSpPr>
          <p:spPr bwMode="auto">
            <a:xfrm>
              <a:off x="4000" y="1995"/>
              <a:ext cx="256" cy="2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83" name="Line 168"/>
            <p:cNvSpPr>
              <a:spLocks noChangeShapeType="1"/>
            </p:cNvSpPr>
            <p:nvPr/>
          </p:nvSpPr>
          <p:spPr bwMode="auto">
            <a:xfrm flipH="1">
              <a:off x="4080" y="2478"/>
              <a:ext cx="125"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4355" name="Group 169"/>
            <p:cNvGrpSpPr>
              <a:grpSpLocks/>
            </p:cNvGrpSpPr>
            <p:nvPr/>
          </p:nvGrpSpPr>
          <p:grpSpPr bwMode="auto">
            <a:xfrm>
              <a:off x="3456" y="2192"/>
              <a:ext cx="257" cy="249"/>
              <a:chOff x="2784" y="1345"/>
              <a:chExt cx="434" cy="431"/>
            </a:xfrm>
          </p:grpSpPr>
          <p:sp>
            <p:nvSpPr>
              <p:cNvPr id="11299" name="Oval 170"/>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300" name="Text Box 171"/>
              <p:cNvSpPr txBox="1">
                <a:spLocks noChangeArrowheads="1"/>
              </p:cNvSpPr>
              <p:nvPr/>
            </p:nvSpPr>
            <p:spPr bwMode="auto">
              <a:xfrm>
                <a:off x="2784" y="1345"/>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24</a:t>
                </a:r>
                <a:endParaRPr lang="th-TH" altLang="en-US">
                  <a:latin typeface="Calibri" charset="0"/>
                </a:endParaRPr>
              </a:p>
            </p:txBody>
          </p:sp>
        </p:grpSp>
        <p:sp>
          <p:nvSpPr>
            <p:cNvPr id="11285" name="Line 172"/>
            <p:cNvSpPr>
              <a:spLocks noChangeShapeType="1"/>
            </p:cNvSpPr>
            <p:nvPr/>
          </p:nvSpPr>
          <p:spPr bwMode="auto">
            <a:xfrm flipV="1">
              <a:off x="3648"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4357" name="Group 173"/>
            <p:cNvGrpSpPr>
              <a:grpSpLocks/>
            </p:cNvGrpSpPr>
            <p:nvPr/>
          </p:nvGrpSpPr>
          <p:grpSpPr bwMode="auto">
            <a:xfrm>
              <a:off x="3216" y="2718"/>
              <a:ext cx="257" cy="248"/>
              <a:chOff x="2784" y="1344"/>
              <a:chExt cx="434" cy="430"/>
            </a:xfrm>
          </p:grpSpPr>
          <p:sp>
            <p:nvSpPr>
              <p:cNvPr id="11297" name="Oval 174"/>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298" name="Text Box 175"/>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4358" name="Group 176"/>
            <p:cNvGrpSpPr>
              <a:grpSpLocks/>
            </p:cNvGrpSpPr>
            <p:nvPr/>
          </p:nvGrpSpPr>
          <p:grpSpPr bwMode="auto">
            <a:xfrm>
              <a:off x="3600" y="2718"/>
              <a:ext cx="257" cy="248"/>
              <a:chOff x="2784" y="1344"/>
              <a:chExt cx="434" cy="430"/>
            </a:xfrm>
          </p:grpSpPr>
          <p:sp>
            <p:nvSpPr>
              <p:cNvPr id="11295" name="Oval 177"/>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296" name="Text Box 178"/>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1288" name="Line 179"/>
            <p:cNvSpPr>
              <a:spLocks noChangeShapeType="1"/>
            </p:cNvSpPr>
            <p:nvPr/>
          </p:nvSpPr>
          <p:spPr bwMode="auto">
            <a:xfrm flipH="1">
              <a:off x="340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89" name="Line 180"/>
            <p:cNvSpPr>
              <a:spLocks noChangeShapeType="1"/>
            </p:cNvSpPr>
            <p:nvPr/>
          </p:nvSpPr>
          <p:spPr bwMode="auto">
            <a:xfrm>
              <a:off x="3648" y="2430"/>
              <a:ext cx="9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90" name="Line 181"/>
            <p:cNvSpPr>
              <a:spLocks noChangeShapeType="1"/>
            </p:cNvSpPr>
            <p:nvPr/>
          </p:nvSpPr>
          <p:spPr bwMode="auto">
            <a:xfrm flipV="1">
              <a:off x="3984" y="1584"/>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91" name="Line 182"/>
            <p:cNvSpPr>
              <a:spLocks noChangeShapeType="1"/>
            </p:cNvSpPr>
            <p:nvPr/>
          </p:nvSpPr>
          <p:spPr bwMode="auto">
            <a:xfrm>
              <a:off x="4800" y="1584"/>
              <a:ext cx="627"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92" name="Line 183"/>
            <p:cNvSpPr>
              <a:spLocks noChangeShapeType="1"/>
            </p:cNvSpPr>
            <p:nvPr/>
          </p:nvSpPr>
          <p:spPr bwMode="auto">
            <a:xfrm>
              <a:off x="4368" y="2496"/>
              <a:ext cx="94"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1293" name="Oval 184"/>
            <p:cNvSpPr>
              <a:spLocks noChangeArrowheads="1"/>
            </p:cNvSpPr>
            <p:nvPr/>
          </p:nvSpPr>
          <p:spPr bwMode="auto">
            <a:xfrm>
              <a:off x="4368" y="2736"/>
              <a:ext cx="256" cy="2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1294" name="Text Box 185"/>
            <p:cNvSpPr txBox="1">
              <a:spLocks noChangeArrowheads="1"/>
            </p:cNvSpPr>
            <p:nvPr/>
          </p:nvSpPr>
          <p:spPr bwMode="auto">
            <a:xfrm>
              <a:off x="4369" y="2736"/>
              <a:ext cx="25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84523D6C-E4F3-E642-B1B2-A0A7A4B01369}" type="slidenum">
              <a:rPr lang="zh-TW" altLang="en-US" sz="1200">
                <a:solidFill>
                  <a:srgbClr val="898989"/>
                </a:solidFill>
                <a:latin typeface="Calibri" charset="0"/>
              </a:rPr>
              <a:pPr/>
              <a:t>14</a:t>
            </a:fld>
            <a:endParaRPr lang="en-US" altLang="zh-TW" sz="1200">
              <a:solidFill>
                <a:srgbClr val="898989"/>
              </a:solidFill>
              <a:latin typeface="Calibri"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37019" y="419100"/>
            <a:ext cx="7772400" cy="1143000"/>
          </a:xfrm>
        </p:spPr>
        <p:txBody>
          <a:bodyPr/>
          <a:lstStyle/>
          <a:p>
            <a:r>
              <a:rPr lang="th-TH" altLang="en-US" sz="4000" b="1">
                <a:solidFill>
                  <a:srgbClr val="000099"/>
                </a:solidFill>
              </a:rPr>
              <a:t>Insert</a:t>
            </a:r>
          </a:p>
        </p:txBody>
      </p:sp>
      <p:grpSp>
        <p:nvGrpSpPr>
          <p:cNvPr id="15363" name="Group 3"/>
          <p:cNvGrpSpPr>
            <a:grpSpLocks/>
          </p:cNvGrpSpPr>
          <p:nvPr/>
        </p:nvGrpSpPr>
        <p:grpSpPr bwMode="auto">
          <a:xfrm>
            <a:off x="-41275" y="1447800"/>
            <a:ext cx="4765675" cy="2748559"/>
            <a:chOff x="384" y="1297"/>
            <a:chExt cx="2705" cy="1640"/>
          </a:xfrm>
        </p:grpSpPr>
        <p:grpSp>
          <p:nvGrpSpPr>
            <p:cNvPr id="15411" name="Group 4"/>
            <p:cNvGrpSpPr>
              <a:grpSpLocks/>
            </p:cNvGrpSpPr>
            <p:nvPr/>
          </p:nvGrpSpPr>
          <p:grpSpPr bwMode="auto">
            <a:xfrm>
              <a:off x="1776" y="1297"/>
              <a:ext cx="257" cy="249"/>
              <a:chOff x="2784" y="1344"/>
              <a:chExt cx="434" cy="432"/>
            </a:xfrm>
          </p:grpSpPr>
          <p:sp>
            <p:nvSpPr>
              <p:cNvPr id="12381" name="Oval 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82" name="Text Box 6"/>
              <p:cNvSpPr txBox="1">
                <a:spLocks noChangeArrowheads="1"/>
              </p:cNvSpPr>
              <p:nvPr/>
            </p:nvSpPr>
            <p:spPr bwMode="auto">
              <a:xfrm>
                <a:off x="2786" y="1344"/>
                <a:ext cx="43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5412" name="Group 7"/>
            <p:cNvGrpSpPr>
              <a:grpSpLocks/>
            </p:cNvGrpSpPr>
            <p:nvPr/>
          </p:nvGrpSpPr>
          <p:grpSpPr bwMode="auto">
            <a:xfrm>
              <a:off x="2513" y="1729"/>
              <a:ext cx="256" cy="252"/>
              <a:chOff x="2786" y="1343"/>
              <a:chExt cx="432" cy="436"/>
            </a:xfrm>
          </p:grpSpPr>
          <p:sp>
            <p:nvSpPr>
              <p:cNvPr id="12379" name="Oval 8"/>
              <p:cNvSpPr>
                <a:spLocks noChangeArrowheads="1"/>
              </p:cNvSpPr>
              <p:nvPr/>
            </p:nvSpPr>
            <p:spPr bwMode="auto">
              <a:xfrm>
                <a:off x="2786" y="1345"/>
                <a:ext cx="432"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80" name="Text Box 9"/>
              <p:cNvSpPr txBox="1">
                <a:spLocks noChangeArrowheads="1"/>
              </p:cNvSpPr>
              <p:nvPr/>
            </p:nvSpPr>
            <p:spPr bwMode="auto">
              <a:xfrm>
                <a:off x="2786" y="1343"/>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5413" name="Group 10"/>
            <p:cNvGrpSpPr>
              <a:grpSpLocks/>
            </p:cNvGrpSpPr>
            <p:nvPr/>
          </p:nvGrpSpPr>
          <p:grpSpPr bwMode="auto">
            <a:xfrm>
              <a:off x="2832" y="2164"/>
              <a:ext cx="257" cy="252"/>
              <a:chOff x="2784" y="1341"/>
              <a:chExt cx="434" cy="436"/>
            </a:xfrm>
          </p:grpSpPr>
          <p:sp>
            <p:nvSpPr>
              <p:cNvPr id="12377" name="Oval 11"/>
              <p:cNvSpPr>
                <a:spLocks noChangeArrowheads="1"/>
              </p:cNvSpPr>
              <p:nvPr/>
            </p:nvSpPr>
            <p:spPr bwMode="auto">
              <a:xfrm>
                <a:off x="2784" y="1344"/>
                <a:ext cx="432"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78" name="Text Box 12"/>
              <p:cNvSpPr txBox="1">
                <a:spLocks noChangeArrowheads="1"/>
              </p:cNvSpPr>
              <p:nvPr/>
            </p:nvSpPr>
            <p:spPr bwMode="auto">
              <a:xfrm>
                <a:off x="2784" y="1341"/>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2343" name="Line 13"/>
            <p:cNvSpPr>
              <a:spLocks noChangeShapeType="1"/>
            </p:cNvSpPr>
            <p:nvPr/>
          </p:nvSpPr>
          <p:spPr bwMode="auto">
            <a:xfrm>
              <a:off x="2704" y="1947"/>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415" name="Group 14"/>
            <p:cNvGrpSpPr>
              <a:grpSpLocks/>
            </p:cNvGrpSpPr>
            <p:nvPr/>
          </p:nvGrpSpPr>
          <p:grpSpPr bwMode="auto">
            <a:xfrm>
              <a:off x="2160" y="2144"/>
              <a:ext cx="257" cy="251"/>
              <a:chOff x="2784" y="1343"/>
              <a:chExt cx="434" cy="434"/>
            </a:xfrm>
          </p:grpSpPr>
          <p:sp>
            <p:nvSpPr>
              <p:cNvPr id="12375" name="Oval 15"/>
              <p:cNvSpPr>
                <a:spLocks noChangeArrowheads="1"/>
              </p:cNvSpPr>
              <p:nvPr/>
            </p:nvSpPr>
            <p:spPr bwMode="auto">
              <a:xfrm>
                <a:off x="2784" y="1344"/>
                <a:ext cx="432"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76" name="Text Box 16"/>
              <p:cNvSpPr txBox="1">
                <a:spLocks noChangeArrowheads="1"/>
              </p:cNvSpPr>
              <p:nvPr/>
            </p:nvSpPr>
            <p:spPr bwMode="auto">
              <a:xfrm>
                <a:off x="2784" y="1343"/>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2345" name="Line 17"/>
            <p:cNvSpPr>
              <a:spLocks noChangeShapeType="1"/>
            </p:cNvSpPr>
            <p:nvPr/>
          </p:nvSpPr>
          <p:spPr bwMode="auto">
            <a:xfrm flipV="1">
              <a:off x="2352" y="195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417" name="Group 18"/>
            <p:cNvGrpSpPr>
              <a:grpSpLocks/>
            </p:cNvGrpSpPr>
            <p:nvPr/>
          </p:nvGrpSpPr>
          <p:grpSpPr bwMode="auto">
            <a:xfrm>
              <a:off x="976" y="1729"/>
              <a:ext cx="256" cy="252"/>
              <a:chOff x="2784" y="1343"/>
              <a:chExt cx="432" cy="436"/>
            </a:xfrm>
          </p:grpSpPr>
          <p:sp>
            <p:nvSpPr>
              <p:cNvPr id="12373" name="Oval 19"/>
              <p:cNvSpPr>
                <a:spLocks noChangeArrowheads="1"/>
              </p:cNvSpPr>
              <p:nvPr/>
            </p:nvSpPr>
            <p:spPr bwMode="auto">
              <a:xfrm>
                <a:off x="2784" y="1345"/>
                <a:ext cx="432"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74" name="Text Box 20"/>
              <p:cNvSpPr txBox="1">
                <a:spLocks noChangeArrowheads="1"/>
              </p:cNvSpPr>
              <p:nvPr/>
            </p:nvSpPr>
            <p:spPr bwMode="auto">
              <a:xfrm>
                <a:off x="2784" y="1343"/>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5418" name="Group 21"/>
            <p:cNvGrpSpPr>
              <a:grpSpLocks/>
            </p:cNvGrpSpPr>
            <p:nvPr/>
          </p:nvGrpSpPr>
          <p:grpSpPr bwMode="auto">
            <a:xfrm>
              <a:off x="1296" y="2164"/>
              <a:ext cx="257" cy="252"/>
              <a:chOff x="2784" y="1341"/>
              <a:chExt cx="434" cy="436"/>
            </a:xfrm>
          </p:grpSpPr>
          <p:sp>
            <p:nvSpPr>
              <p:cNvPr id="12371" name="Oval 22"/>
              <p:cNvSpPr>
                <a:spLocks noChangeArrowheads="1"/>
              </p:cNvSpPr>
              <p:nvPr/>
            </p:nvSpPr>
            <p:spPr bwMode="auto">
              <a:xfrm>
                <a:off x="2784" y="1344"/>
                <a:ext cx="432"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72" name="Text Box 23"/>
              <p:cNvSpPr txBox="1">
                <a:spLocks noChangeArrowheads="1"/>
              </p:cNvSpPr>
              <p:nvPr/>
            </p:nvSpPr>
            <p:spPr bwMode="auto">
              <a:xfrm>
                <a:off x="2784" y="1341"/>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grpSp>
          <p:nvGrpSpPr>
            <p:cNvPr id="15419" name="Group 24"/>
            <p:cNvGrpSpPr>
              <a:grpSpLocks/>
            </p:cNvGrpSpPr>
            <p:nvPr/>
          </p:nvGrpSpPr>
          <p:grpSpPr bwMode="auto">
            <a:xfrm>
              <a:off x="1105" y="2672"/>
              <a:ext cx="256" cy="248"/>
              <a:chOff x="2784" y="1346"/>
              <a:chExt cx="432" cy="430"/>
            </a:xfrm>
          </p:grpSpPr>
          <p:sp>
            <p:nvSpPr>
              <p:cNvPr id="12369" name="Oval 25"/>
              <p:cNvSpPr>
                <a:spLocks noChangeArrowheads="1"/>
              </p:cNvSpPr>
              <p:nvPr/>
            </p:nvSpPr>
            <p:spPr bwMode="auto">
              <a:xfrm>
                <a:off x="2784" y="1346"/>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70" name="Text Box 26"/>
              <p:cNvSpPr txBox="1">
                <a:spLocks noChangeArrowheads="1"/>
              </p:cNvSpPr>
              <p:nvPr/>
            </p:nvSpPr>
            <p:spPr bwMode="auto">
              <a:xfrm>
                <a:off x="2785" y="1346"/>
                <a:ext cx="43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2349" name="Line 27"/>
            <p:cNvSpPr>
              <a:spLocks noChangeShapeType="1"/>
            </p:cNvSpPr>
            <p:nvPr/>
          </p:nvSpPr>
          <p:spPr bwMode="auto">
            <a:xfrm>
              <a:off x="1168" y="1947"/>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50" name="Line 28"/>
            <p:cNvSpPr>
              <a:spLocks noChangeShapeType="1"/>
            </p:cNvSpPr>
            <p:nvPr/>
          </p:nvSpPr>
          <p:spPr bwMode="auto">
            <a:xfrm flipH="1">
              <a:off x="124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422" name="Group 29"/>
            <p:cNvGrpSpPr>
              <a:grpSpLocks/>
            </p:cNvGrpSpPr>
            <p:nvPr/>
          </p:nvGrpSpPr>
          <p:grpSpPr bwMode="auto">
            <a:xfrm>
              <a:off x="620" y="2144"/>
              <a:ext cx="259" cy="251"/>
              <a:chOff x="2782" y="1343"/>
              <a:chExt cx="438" cy="434"/>
            </a:xfrm>
          </p:grpSpPr>
          <p:sp>
            <p:nvSpPr>
              <p:cNvPr id="12367" name="Oval 30"/>
              <p:cNvSpPr>
                <a:spLocks noChangeArrowheads="1"/>
              </p:cNvSpPr>
              <p:nvPr/>
            </p:nvSpPr>
            <p:spPr bwMode="auto">
              <a:xfrm>
                <a:off x="2782" y="1344"/>
                <a:ext cx="435"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68" name="Text Box 31"/>
              <p:cNvSpPr txBox="1">
                <a:spLocks noChangeArrowheads="1"/>
              </p:cNvSpPr>
              <p:nvPr/>
            </p:nvSpPr>
            <p:spPr bwMode="auto">
              <a:xfrm>
                <a:off x="2782" y="1343"/>
                <a:ext cx="43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24</a:t>
                </a:r>
                <a:endParaRPr lang="th-TH" altLang="en-US">
                  <a:latin typeface="Calibri" charset="0"/>
                </a:endParaRPr>
              </a:p>
            </p:txBody>
          </p:sp>
        </p:grpSp>
        <p:sp>
          <p:nvSpPr>
            <p:cNvPr id="12352" name="Line 32"/>
            <p:cNvSpPr>
              <a:spLocks noChangeShapeType="1"/>
            </p:cNvSpPr>
            <p:nvPr/>
          </p:nvSpPr>
          <p:spPr bwMode="auto">
            <a:xfrm flipV="1">
              <a:off x="816" y="1950"/>
              <a:ext cx="195"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424" name="Group 33"/>
            <p:cNvGrpSpPr>
              <a:grpSpLocks/>
            </p:cNvGrpSpPr>
            <p:nvPr/>
          </p:nvGrpSpPr>
          <p:grpSpPr bwMode="auto">
            <a:xfrm>
              <a:off x="384" y="2672"/>
              <a:ext cx="257" cy="248"/>
              <a:chOff x="2784" y="1346"/>
              <a:chExt cx="434" cy="430"/>
            </a:xfrm>
          </p:grpSpPr>
          <p:sp>
            <p:nvSpPr>
              <p:cNvPr id="12365" name="Oval 34"/>
              <p:cNvSpPr>
                <a:spLocks noChangeArrowheads="1"/>
              </p:cNvSpPr>
              <p:nvPr/>
            </p:nvSpPr>
            <p:spPr bwMode="auto">
              <a:xfrm>
                <a:off x="2784" y="1346"/>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66" name="Text Box 35"/>
              <p:cNvSpPr txBox="1">
                <a:spLocks noChangeArrowheads="1"/>
              </p:cNvSpPr>
              <p:nvPr/>
            </p:nvSpPr>
            <p:spPr bwMode="auto">
              <a:xfrm>
                <a:off x="2786" y="1346"/>
                <a:ext cx="43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5425" name="Group 36"/>
            <p:cNvGrpSpPr>
              <a:grpSpLocks/>
            </p:cNvGrpSpPr>
            <p:nvPr/>
          </p:nvGrpSpPr>
          <p:grpSpPr bwMode="auto">
            <a:xfrm>
              <a:off x="769" y="2672"/>
              <a:ext cx="256" cy="248"/>
              <a:chOff x="2784" y="1346"/>
              <a:chExt cx="432" cy="430"/>
            </a:xfrm>
          </p:grpSpPr>
          <p:sp>
            <p:nvSpPr>
              <p:cNvPr id="12363" name="Oval 37"/>
              <p:cNvSpPr>
                <a:spLocks noChangeArrowheads="1"/>
              </p:cNvSpPr>
              <p:nvPr/>
            </p:nvSpPr>
            <p:spPr bwMode="auto">
              <a:xfrm>
                <a:off x="2784" y="1346"/>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64" name="Text Box 38"/>
              <p:cNvSpPr txBox="1">
                <a:spLocks noChangeArrowheads="1"/>
              </p:cNvSpPr>
              <p:nvPr/>
            </p:nvSpPr>
            <p:spPr bwMode="auto">
              <a:xfrm>
                <a:off x="2785" y="1346"/>
                <a:ext cx="43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2355" name="Line 39"/>
            <p:cNvSpPr>
              <a:spLocks noChangeShapeType="1"/>
            </p:cNvSpPr>
            <p:nvPr/>
          </p:nvSpPr>
          <p:spPr bwMode="auto">
            <a:xfrm flipH="1">
              <a:off x="576" y="2382"/>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56" name="Line 40"/>
            <p:cNvSpPr>
              <a:spLocks noChangeShapeType="1"/>
            </p:cNvSpPr>
            <p:nvPr/>
          </p:nvSpPr>
          <p:spPr bwMode="auto">
            <a:xfrm>
              <a:off x="816" y="2382"/>
              <a:ext cx="96" cy="2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57" name="Line 41"/>
            <p:cNvSpPr>
              <a:spLocks noChangeShapeType="1"/>
            </p:cNvSpPr>
            <p:nvPr/>
          </p:nvSpPr>
          <p:spPr bwMode="auto">
            <a:xfrm flipV="1">
              <a:off x="1152" y="1536"/>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58" name="Line 42"/>
            <p:cNvSpPr>
              <a:spLocks noChangeShapeType="1"/>
            </p:cNvSpPr>
            <p:nvPr/>
          </p:nvSpPr>
          <p:spPr bwMode="auto">
            <a:xfrm>
              <a:off x="1968" y="1536"/>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430" name="Group 43"/>
            <p:cNvGrpSpPr>
              <a:grpSpLocks/>
            </p:cNvGrpSpPr>
            <p:nvPr/>
          </p:nvGrpSpPr>
          <p:grpSpPr bwMode="auto">
            <a:xfrm>
              <a:off x="1532" y="2689"/>
              <a:ext cx="259" cy="248"/>
              <a:chOff x="2782" y="1346"/>
              <a:chExt cx="438" cy="430"/>
            </a:xfrm>
          </p:grpSpPr>
          <p:sp>
            <p:nvSpPr>
              <p:cNvPr id="12361" name="Oval 44"/>
              <p:cNvSpPr>
                <a:spLocks noChangeArrowheads="1"/>
              </p:cNvSpPr>
              <p:nvPr/>
            </p:nvSpPr>
            <p:spPr bwMode="auto">
              <a:xfrm>
                <a:off x="2782" y="1346"/>
                <a:ext cx="435"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62" name="Text Box 45"/>
              <p:cNvSpPr txBox="1">
                <a:spLocks noChangeArrowheads="1"/>
              </p:cNvSpPr>
              <p:nvPr/>
            </p:nvSpPr>
            <p:spPr bwMode="auto">
              <a:xfrm>
                <a:off x="2785" y="1346"/>
                <a:ext cx="435"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a:latin typeface="+mj-lt"/>
                </a:endParaRPr>
              </a:p>
            </p:txBody>
          </p:sp>
        </p:grpSp>
        <p:sp>
          <p:nvSpPr>
            <p:cNvPr id="12360" name="Line 46"/>
            <p:cNvSpPr>
              <a:spLocks noChangeShapeType="1"/>
            </p:cNvSpPr>
            <p:nvPr/>
          </p:nvSpPr>
          <p:spPr bwMode="auto">
            <a:xfrm>
              <a:off x="1488" y="2448"/>
              <a:ext cx="96" cy="24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grpSp>
        <p:nvGrpSpPr>
          <p:cNvPr id="15364" name="Group 47"/>
          <p:cNvGrpSpPr>
            <a:grpSpLocks/>
          </p:cNvGrpSpPr>
          <p:nvPr/>
        </p:nvGrpSpPr>
        <p:grpSpPr bwMode="auto">
          <a:xfrm>
            <a:off x="4191000" y="2093913"/>
            <a:ext cx="4876800" cy="2681007"/>
            <a:chOff x="3216" y="1344"/>
            <a:chExt cx="2705" cy="1641"/>
          </a:xfrm>
        </p:grpSpPr>
        <p:grpSp>
          <p:nvGrpSpPr>
            <p:cNvPr id="15369" name="Group 48"/>
            <p:cNvGrpSpPr>
              <a:grpSpLocks/>
            </p:cNvGrpSpPr>
            <p:nvPr/>
          </p:nvGrpSpPr>
          <p:grpSpPr bwMode="auto">
            <a:xfrm>
              <a:off x="4607" y="1344"/>
              <a:ext cx="258" cy="248"/>
              <a:chOff x="2784" y="1344"/>
              <a:chExt cx="436" cy="430"/>
            </a:xfrm>
          </p:grpSpPr>
          <p:sp>
            <p:nvSpPr>
              <p:cNvPr id="12338" name="Oval 49"/>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39" name="Text Box 50"/>
              <p:cNvSpPr txBox="1">
                <a:spLocks noChangeArrowheads="1"/>
              </p:cNvSpPr>
              <p:nvPr/>
            </p:nvSpPr>
            <p:spPr bwMode="auto">
              <a:xfrm>
                <a:off x="2786" y="1344"/>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5370" name="Group 51"/>
            <p:cNvGrpSpPr>
              <a:grpSpLocks/>
            </p:cNvGrpSpPr>
            <p:nvPr/>
          </p:nvGrpSpPr>
          <p:grpSpPr bwMode="auto">
            <a:xfrm>
              <a:off x="5346" y="1778"/>
              <a:ext cx="254" cy="249"/>
              <a:chOff x="2784" y="1345"/>
              <a:chExt cx="428" cy="431"/>
            </a:xfrm>
          </p:grpSpPr>
          <p:sp>
            <p:nvSpPr>
              <p:cNvPr id="12336" name="Oval 52"/>
              <p:cNvSpPr>
                <a:spLocks noChangeArrowheads="1"/>
              </p:cNvSpPr>
              <p:nvPr/>
            </p:nvSpPr>
            <p:spPr bwMode="auto">
              <a:xfrm>
                <a:off x="2784"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37" name="Text Box 53"/>
              <p:cNvSpPr txBox="1">
                <a:spLocks noChangeArrowheads="1"/>
              </p:cNvSpPr>
              <p:nvPr/>
            </p:nvSpPr>
            <p:spPr bwMode="auto">
              <a:xfrm>
                <a:off x="2784" y="1345"/>
                <a:ext cx="42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5371" name="Group 54"/>
            <p:cNvGrpSpPr>
              <a:grpSpLocks/>
            </p:cNvGrpSpPr>
            <p:nvPr/>
          </p:nvGrpSpPr>
          <p:grpSpPr bwMode="auto">
            <a:xfrm>
              <a:off x="5664" y="2212"/>
              <a:ext cx="257" cy="250"/>
              <a:chOff x="2784" y="1343"/>
              <a:chExt cx="434" cy="433"/>
            </a:xfrm>
          </p:grpSpPr>
          <p:sp>
            <p:nvSpPr>
              <p:cNvPr id="12334" name="Oval 55"/>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35" name="Text Box 56"/>
              <p:cNvSpPr txBox="1">
                <a:spLocks noChangeArrowheads="1"/>
              </p:cNvSpPr>
              <p:nvPr/>
            </p:nvSpPr>
            <p:spPr bwMode="auto">
              <a:xfrm>
                <a:off x="2784" y="1343"/>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2301" name="Line 57"/>
            <p:cNvSpPr>
              <a:spLocks noChangeShapeType="1"/>
            </p:cNvSpPr>
            <p:nvPr/>
          </p:nvSpPr>
          <p:spPr bwMode="auto">
            <a:xfrm>
              <a:off x="5536" y="1995"/>
              <a:ext cx="254"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373" name="Group 58"/>
            <p:cNvGrpSpPr>
              <a:grpSpLocks/>
            </p:cNvGrpSpPr>
            <p:nvPr/>
          </p:nvGrpSpPr>
          <p:grpSpPr bwMode="auto">
            <a:xfrm>
              <a:off x="4992" y="2192"/>
              <a:ext cx="257" cy="249"/>
              <a:chOff x="2784" y="1345"/>
              <a:chExt cx="434" cy="431"/>
            </a:xfrm>
          </p:grpSpPr>
          <p:sp>
            <p:nvSpPr>
              <p:cNvPr id="12332" name="Oval 59"/>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33" name="Text Box 60"/>
              <p:cNvSpPr txBox="1">
                <a:spLocks noChangeArrowheads="1"/>
              </p:cNvSpPr>
              <p:nvPr/>
            </p:nvSpPr>
            <p:spPr bwMode="auto">
              <a:xfrm>
                <a:off x="2784" y="1345"/>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2303" name="Line 61"/>
            <p:cNvSpPr>
              <a:spLocks noChangeShapeType="1"/>
            </p:cNvSpPr>
            <p:nvPr/>
          </p:nvSpPr>
          <p:spPr bwMode="auto">
            <a:xfrm flipV="1">
              <a:off x="5184"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375" name="Group 62"/>
            <p:cNvGrpSpPr>
              <a:grpSpLocks/>
            </p:cNvGrpSpPr>
            <p:nvPr/>
          </p:nvGrpSpPr>
          <p:grpSpPr bwMode="auto">
            <a:xfrm>
              <a:off x="3808" y="1778"/>
              <a:ext cx="256" cy="249"/>
              <a:chOff x="2784" y="1345"/>
              <a:chExt cx="432" cy="431"/>
            </a:xfrm>
          </p:grpSpPr>
          <p:sp>
            <p:nvSpPr>
              <p:cNvPr id="12330" name="Oval 63"/>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31" name="Text Box 64"/>
              <p:cNvSpPr txBox="1">
                <a:spLocks noChangeArrowheads="1"/>
              </p:cNvSpPr>
              <p:nvPr/>
            </p:nvSpPr>
            <p:spPr bwMode="auto">
              <a:xfrm>
                <a:off x="2784" y="1345"/>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5376" name="Group 65"/>
            <p:cNvGrpSpPr>
              <a:grpSpLocks/>
            </p:cNvGrpSpPr>
            <p:nvPr/>
          </p:nvGrpSpPr>
          <p:grpSpPr bwMode="auto">
            <a:xfrm>
              <a:off x="4128" y="2214"/>
              <a:ext cx="257" cy="251"/>
              <a:chOff x="2784" y="1343"/>
              <a:chExt cx="434" cy="433"/>
            </a:xfrm>
          </p:grpSpPr>
          <p:sp>
            <p:nvSpPr>
              <p:cNvPr id="12328" name="Oval 66"/>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29" name="Text Box 67"/>
              <p:cNvSpPr txBox="1">
                <a:spLocks noChangeArrowheads="1"/>
              </p:cNvSpPr>
              <p:nvPr/>
            </p:nvSpPr>
            <p:spPr bwMode="auto">
              <a:xfrm>
                <a:off x="2784" y="1343"/>
                <a:ext cx="43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dirty="0">
                  <a:latin typeface="+mj-lt"/>
                </a:endParaRPr>
              </a:p>
            </p:txBody>
          </p:sp>
        </p:grpSp>
        <p:grpSp>
          <p:nvGrpSpPr>
            <p:cNvPr id="15377" name="Group 68"/>
            <p:cNvGrpSpPr>
              <a:grpSpLocks/>
            </p:cNvGrpSpPr>
            <p:nvPr/>
          </p:nvGrpSpPr>
          <p:grpSpPr bwMode="auto">
            <a:xfrm>
              <a:off x="3935" y="2718"/>
              <a:ext cx="258" cy="248"/>
              <a:chOff x="2784" y="1344"/>
              <a:chExt cx="436" cy="430"/>
            </a:xfrm>
          </p:grpSpPr>
          <p:sp>
            <p:nvSpPr>
              <p:cNvPr id="12326" name="Oval 69"/>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27" name="Text Box 70"/>
              <p:cNvSpPr txBox="1">
                <a:spLocks noChangeArrowheads="1"/>
              </p:cNvSpPr>
              <p:nvPr/>
            </p:nvSpPr>
            <p:spPr bwMode="auto">
              <a:xfrm>
                <a:off x="2786" y="1344"/>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2307" name="Line 71"/>
            <p:cNvSpPr>
              <a:spLocks noChangeShapeType="1"/>
            </p:cNvSpPr>
            <p:nvPr/>
          </p:nvSpPr>
          <p:spPr bwMode="auto">
            <a:xfrm>
              <a:off x="4000" y="1995"/>
              <a:ext cx="256" cy="2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08" name="Line 72"/>
            <p:cNvSpPr>
              <a:spLocks noChangeShapeType="1"/>
            </p:cNvSpPr>
            <p:nvPr/>
          </p:nvSpPr>
          <p:spPr bwMode="auto">
            <a:xfrm flipH="1">
              <a:off x="4080" y="2478"/>
              <a:ext cx="129"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380" name="Group 73"/>
            <p:cNvGrpSpPr>
              <a:grpSpLocks/>
            </p:cNvGrpSpPr>
            <p:nvPr/>
          </p:nvGrpSpPr>
          <p:grpSpPr bwMode="auto">
            <a:xfrm>
              <a:off x="3460" y="2192"/>
              <a:ext cx="255" cy="249"/>
              <a:chOff x="2786" y="1345"/>
              <a:chExt cx="430" cy="431"/>
            </a:xfrm>
          </p:grpSpPr>
          <p:sp>
            <p:nvSpPr>
              <p:cNvPr id="12324" name="Oval 74"/>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25" name="Text Box 75"/>
              <p:cNvSpPr txBox="1">
                <a:spLocks noChangeArrowheads="1"/>
              </p:cNvSpPr>
              <p:nvPr/>
            </p:nvSpPr>
            <p:spPr bwMode="auto">
              <a:xfrm>
                <a:off x="2786" y="1345"/>
                <a:ext cx="430"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24</a:t>
                </a:r>
                <a:endParaRPr lang="th-TH" altLang="en-US">
                  <a:latin typeface="Calibri" charset="0"/>
                </a:endParaRPr>
              </a:p>
            </p:txBody>
          </p:sp>
        </p:grpSp>
        <p:sp>
          <p:nvSpPr>
            <p:cNvPr id="12310" name="Line 76"/>
            <p:cNvSpPr>
              <a:spLocks noChangeShapeType="1"/>
            </p:cNvSpPr>
            <p:nvPr/>
          </p:nvSpPr>
          <p:spPr bwMode="auto">
            <a:xfrm flipV="1">
              <a:off x="3648"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5382" name="Group 77"/>
            <p:cNvGrpSpPr>
              <a:grpSpLocks/>
            </p:cNvGrpSpPr>
            <p:nvPr/>
          </p:nvGrpSpPr>
          <p:grpSpPr bwMode="auto">
            <a:xfrm>
              <a:off x="3216" y="2718"/>
              <a:ext cx="257" cy="248"/>
              <a:chOff x="2784" y="1344"/>
              <a:chExt cx="434" cy="430"/>
            </a:xfrm>
          </p:grpSpPr>
          <p:sp>
            <p:nvSpPr>
              <p:cNvPr id="12322" name="Oval 78"/>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23" name="Text Box 79"/>
              <p:cNvSpPr txBox="1">
                <a:spLocks noChangeArrowheads="1"/>
              </p:cNvSpPr>
              <p:nvPr/>
            </p:nvSpPr>
            <p:spPr bwMode="auto">
              <a:xfrm>
                <a:off x="2785" y="1344"/>
                <a:ext cx="43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5383" name="Group 80"/>
            <p:cNvGrpSpPr>
              <a:grpSpLocks/>
            </p:cNvGrpSpPr>
            <p:nvPr/>
          </p:nvGrpSpPr>
          <p:grpSpPr bwMode="auto">
            <a:xfrm>
              <a:off x="3600" y="2718"/>
              <a:ext cx="257" cy="248"/>
              <a:chOff x="2784" y="1344"/>
              <a:chExt cx="434" cy="430"/>
            </a:xfrm>
          </p:grpSpPr>
          <p:sp>
            <p:nvSpPr>
              <p:cNvPr id="12320" name="Oval 81"/>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21" name="Text Box 82"/>
              <p:cNvSpPr txBox="1">
                <a:spLocks noChangeArrowheads="1"/>
              </p:cNvSpPr>
              <p:nvPr/>
            </p:nvSpPr>
            <p:spPr bwMode="auto">
              <a:xfrm>
                <a:off x="2785" y="1344"/>
                <a:ext cx="43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2313" name="Line 83"/>
            <p:cNvSpPr>
              <a:spLocks noChangeShapeType="1"/>
            </p:cNvSpPr>
            <p:nvPr/>
          </p:nvSpPr>
          <p:spPr bwMode="auto">
            <a:xfrm flipH="1">
              <a:off x="340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14" name="Line 84"/>
            <p:cNvSpPr>
              <a:spLocks noChangeShapeType="1"/>
            </p:cNvSpPr>
            <p:nvPr/>
          </p:nvSpPr>
          <p:spPr bwMode="auto">
            <a:xfrm>
              <a:off x="3648" y="2430"/>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15" name="Line 85"/>
            <p:cNvSpPr>
              <a:spLocks noChangeShapeType="1"/>
            </p:cNvSpPr>
            <p:nvPr/>
          </p:nvSpPr>
          <p:spPr bwMode="auto">
            <a:xfrm flipV="1">
              <a:off x="3984" y="1584"/>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16" name="Line 86"/>
            <p:cNvSpPr>
              <a:spLocks noChangeShapeType="1"/>
            </p:cNvSpPr>
            <p:nvPr/>
          </p:nvSpPr>
          <p:spPr bwMode="auto">
            <a:xfrm>
              <a:off x="4800" y="158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17" name="Line 87"/>
            <p:cNvSpPr>
              <a:spLocks noChangeShapeType="1"/>
            </p:cNvSpPr>
            <p:nvPr/>
          </p:nvSpPr>
          <p:spPr bwMode="auto">
            <a:xfrm>
              <a:off x="4368" y="2496"/>
              <a:ext cx="96"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2318" name="Oval 88"/>
            <p:cNvSpPr>
              <a:spLocks noChangeArrowheads="1"/>
            </p:cNvSpPr>
            <p:nvPr/>
          </p:nvSpPr>
          <p:spPr bwMode="auto">
            <a:xfrm>
              <a:off x="4368" y="2736"/>
              <a:ext cx="256" cy="2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2319" name="Text Box 89"/>
            <p:cNvSpPr txBox="1">
              <a:spLocks noChangeArrowheads="1"/>
            </p:cNvSpPr>
            <p:nvPr/>
          </p:nvSpPr>
          <p:spPr bwMode="auto">
            <a:xfrm>
              <a:off x="4369" y="2736"/>
              <a:ext cx="25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sp>
        <p:nvSpPr>
          <p:cNvPr id="12295" name="Text Box 90"/>
          <p:cNvSpPr txBox="1">
            <a:spLocks noChangeArrowheads="1"/>
          </p:cNvSpPr>
          <p:nvPr/>
        </p:nvSpPr>
        <p:spPr bwMode="auto">
          <a:xfrm>
            <a:off x="703263" y="4848225"/>
            <a:ext cx="82121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spcBef>
                <a:spcPct val="50000"/>
              </a:spcBef>
              <a:buFont typeface="Monotype Sorts" pitchFamily="2" charset="2"/>
              <a:buChar char="l"/>
              <a:defRPr/>
            </a:pPr>
            <a:r>
              <a:rPr lang="en-US" sz="3200" dirty="0">
                <a:latin typeface="+mj-lt"/>
              </a:rPr>
              <a:t>Percolate Up -&gt; move the place to put </a:t>
            </a:r>
            <a:r>
              <a:rPr lang="en-US" sz="3200" i="1" dirty="0">
                <a:latin typeface="+mj-lt"/>
              </a:rPr>
              <a:t>14</a:t>
            </a:r>
            <a:r>
              <a:rPr lang="en-US" sz="3200" dirty="0">
                <a:latin typeface="+mj-lt"/>
              </a:rPr>
              <a:t> up</a:t>
            </a:r>
          </a:p>
          <a:p>
            <a:pPr>
              <a:spcBef>
                <a:spcPct val="50000"/>
              </a:spcBef>
              <a:buFont typeface="Monotype Sorts" pitchFamily="2" charset="2"/>
              <a:buChar char="l"/>
              <a:defRPr/>
            </a:pPr>
            <a:r>
              <a:rPr lang="en-US" sz="3200" dirty="0">
                <a:latin typeface="+mj-lt"/>
              </a:rPr>
              <a:t>(move its parent down) until its parent &lt;= 14</a:t>
            </a:r>
          </a:p>
        </p:txBody>
      </p:sp>
      <p:sp>
        <p:nvSpPr>
          <p:cNvPr id="12296" name="Text Box 91"/>
          <p:cNvSpPr txBox="1">
            <a:spLocks noChangeArrowheads="1"/>
          </p:cNvSpPr>
          <p:nvPr/>
        </p:nvSpPr>
        <p:spPr bwMode="auto">
          <a:xfrm>
            <a:off x="914400" y="990600"/>
            <a:ext cx="191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spcBef>
                <a:spcPct val="50000"/>
              </a:spcBef>
              <a:buFont typeface="Monotype Sorts" pitchFamily="2" charset="2"/>
              <a:buChar char="l"/>
              <a:defRPr/>
            </a:pPr>
            <a:r>
              <a:rPr lang="en-US" sz="2800" i="1" dirty="0">
                <a:latin typeface="+mj-lt"/>
              </a:rPr>
              <a:t>insert</a:t>
            </a:r>
            <a:r>
              <a:rPr lang="en-US" sz="2800" dirty="0">
                <a:latin typeface="+mj-lt"/>
              </a:rPr>
              <a:t> </a:t>
            </a:r>
            <a:r>
              <a:rPr lang="en-US" sz="2800" i="1" dirty="0">
                <a:latin typeface="+mj-lt"/>
              </a:rPr>
              <a:t>14</a:t>
            </a:r>
            <a:endParaRPr lang="en-US" sz="2800" dirty="0">
              <a:latin typeface="+mj-lt"/>
            </a:endParaRP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D30D7378-02BD-C344-883C-D2B0692A586F}" type="slidenum">
              <a:rPr lang="zh-TW" altLang="en-US" sz="1200">
                <a:solidFill>
                  <a:srgbClr val="898989"/>
                </a:solidFill>
                <a:latin typeface="Calibri" charset="0"/>
              </a:rPr>
              <a:pPr/>
              <a:t>15</a:t>
            </a:fld>
            <a:endParaRPr lang="en-US" altLang="zh-TW" sz="1200">
              <a:solidFill>
                <a:srgbClr val="898989"/>
              </a:solidFill>
              <a:latin typeface="Calibri"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33413" y="228600"/>
            <a:ext cx="7772400" cy="1143000"/>
          </a:xfrm>
        </p:spPr>
        <p:txBody>
          <a:bodyPr/>
          <a:lstStyle/>
          <a:p>
            <a:r>
              <a:rPr lang="th-TH" altLang="en-US" sz="4000" b="1">
                <a:solidFill>
                  <a:srgbClr val="000099"/>
                </a:solidFill>
              </a:rPr>
              <a:t>Insert</a:t>
            </a:r>
          </a:p>
        </p:txBody>
      </p:sp>
      <p:grpSp>
        <p:nvGrpSpPr>
          <p:cNvPr id="16387" name="Group 140"/>
          <p:cNvGrpSpPr>
            <a:grpSpLocks/>
          </p:cNvGrpSpPr>
          <p:nvPr/>
        </p:nvGrpSpPr>
        <p:grpSpPr bwMode="auto">
          <a:xfrm>
            <a:off x="418904" y="1600200"/>
            <a:ext cx="4827784" cy="2684509"/>
            <a:chOff x="383" y="1296"/>
            <a:chExt cx="2706" cy="1643"/>
          </a:xfrm>
        </p:grpSpPr>
        <p:grpSp>
          <p:nvGrpSpPr>
            <p:cNvPr id="16434" name="Group 44"/>
            <p:cNvGrpSpPr>
              <a:grpSpLocks/>
            </p:cNvGrpSpPr>
            <p:nvPr/>
          </p:nvGrpSpPr>
          <p:grpSpPr bwMode="auto">
            <a:xfrm>
              <a:off x="1774" y="1296"/>
              <a:ext cx="258" cy="249"/>
              <a:chOff x="2782" y="1344"/>
              <a:chExt cx="436" cy="432"/>
            </a:xfrm>
          </p:grpSpPr>
          <p:sp>
            <p:nvSpPr>
              <p:cNvPr id="13404" name="Oval 45"/>
              <p:cNvSpPr>
                <a:spLocks noChangeArrowheads="1"/>
              </p:cNvSpPr>
              <p:nvPr/>
            </p:nvSpPr>
            <p:spPr bwMode="auto">
              <a:xfrm>
                <a:off x="2782" y="1344"/>
                <a:ext cx="434"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405" name="Text Box 46"/>
              <p:cNvSpPr txBox="1">
                <a:spLocks noChangeArrowheads="1"/>
              </p:cNvSpPr>
              <p:nvPr/>
            </p:nvSpPr>
            <p:spPr bwMode="auto">
              <a:xfrm>
                <a:off x="2785" y="1344"/>
                <a:ext cx="43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6435" name="Group 47"/>
            <p:cNvGrpSpPr>
              <a:grpSpLocks/>
            </p:cNvGrpSpPr>
            <p:nvPr/>
          </p:nvGrpSpPr>
          <p:grpSpPr bwMode="auto">
            <a:xfrm>
              <a:off x="2516" y="1730"/>
              <a:ext cx="254" cy="249"/>
              <a:chOff x="2786" y="1345"/>
              <a:chExt cx="428" cy="431"/>
            </a:xfrm>
          </p:grpSpPr>
          <p:sp>
            <p:nvSpPr>
              <p:cNvPr id="13402" name="Oval 48"/>
              <p:cNvSpPr>
                <a:spLocks noChangeArrowheads="1"/>
              </p:cNvSpPr>
              <p:nvPr/>
            </p:nvSpPr>
            <p:spPr bwMode="auto">
              <a:xfrm>
                <a:off x="2786"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403" name="Text Box 49"/>
              <p:cNvSpPr txBox="1">
                <a:spLocks noChangeArrowheads="1"/>
              </p:cNvSpPr>
              <p:nvPr/>
            </p:nvSpPr>
            <p:spPr bwMode="auto">
              <a:xfrm>
                <a:off x="2786" y="1345"/>
                <a:ext cx="42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6436" name="Group 50"/>
            <p:cNvGrpSpPr>
              <a:grpSpLocks/>
            </p:cNvGrpSpPr>
            <p:nvPr/>
          </p:nvGrpSpPr>
          <p:grpSpPr bwMode="auto">
            <a:xfrm>
              <a:off x="2832" y="2163"/>
              <a:ext cx="257" cy="251"/>
              <a:chOff x="2784" y="1341"/>
              <a:chExt cx="434" cy="435"/>
            </a:xfrm>
          </p:grpSpPr>
          <p:sp>
            <p:nvSpPr>
              <p:cNvPr id="13400" name="Oval 51"/>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401" name="Text Box 52"/>
              <p:cNvSpPr txBox="1">
                <a:spLocks noChangeArrowheads="1"/>
              </p:cNvSpPr>
              <p:nvPr/>
            </p:nvSpPr>
            <p:spPr bwMode="auto">
              <a:xfrm>
                <a:off x="2784" y="1341"/>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3366" name="Line 53"/>
            <p:cNvSpPr>
              <a:spLocks noChangeShapeType="1"/>
            </p:cNvSpPr>
            <p:nvPr/>
          </p:nvSpPr>
          <p:spPr bwMode="auto">
            <a:xfrm>
              <a:off x="2704" y="1947"/>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38" name="Group 54"/>
            <p:cNvGrpSpPr>
              <a:grpSpLocks/>
            </p:cNvGrpSpPr>
            <p:nvPr/>
          </p:nvGrpSpPr>
          <p:grpSpPr bwMode="auto">
            <a:xfrm>
              <a:off x="2160" y="2142"/>
              <a:ext cx="257" cy="250"/>
              <a:chOff x="2784" y="1343"/>
              <a:chExt cx="434" cy="433"/>
            </a:xfrm>
          </p:grpSpPr>
          <p:sp>
            <p:nvSpPr>
              <p:cNvPr id="13398" name="Oval 55"/>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99" name="Text Box 56"/>
              <p:cNvSpPr txBox="1">
                <a:spLocks noChangeArrowheads="1"/>
              </p:cNvSpPr>
              <p:nvPr/>
            </p:nvSpPr>
            <p:spPr bwMode="auto">
              <a:xfrm>
                <a:off x="2784" y="1343"/>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3368" name="Line 57"/>
            <p:cNvSpPr>
              <a:spLocks noChangeShapeType="1"/>
            </p:cNvSpPr>
            <p:nvPr/>
          </p:nvSpPr>
          <p:spPr bwMode="auto">
            <a:xfrm flipV="1">
              <a:off x="2352" y="195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40" name="Group 58"/>
            <p:cNvGrpSpPr>
              <a:grpSpLocks/>
            </p:cNvGrpSpPr>
            <p:nvPr/>
          </p:nvGrpSpPr>
          <p:grpSpPr bwMode="auto">
            <a:xfrm>
              <a:off x="1296" y="2160"/>
              <a:ext cx="256" cy="250"/>
              <a:chOff x="2784" y="1343"/>
              <a:chExt cx="432" cy="433"/>
            </a:xfrm>
          </p:grpSpPr>
          <p:sp>
            <p:nvSpPr>
              <p:cNvPr id="13396" name="Oval 5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97" name="Text Box 60"/>
              <p:cNvSpPr txBox="1">
                <a:spLocks noChangeArrowheads="1"/>
              </p:cNvSpPr>
              <p:nvPr/>
            </p:nvSpPr>
            <p:spPr bwMode="auto">
              <a:xfrm>
                <a:off x="2784" y="1343"/>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6441" name="Group 61"/>
            <p:cNvGrpSpPr>
              <a:grpSpLocks/>
            </p:cNvGrpSpPr>
            <p:nvPr/>
          </p:nvGrpSpPr>
          <p:grpSpPr bwMode="auto">
            <a:xfrm>
              <a:off x="1538" y="2690"/>
              <a:ext cx="255" cy="249"/>
              <a:chOff x="2784" y="1345"/>
              <a:chExt cx="430" cy="431"/>
            </a:xfrm>
          </p:grpSpPr>
          <p:sp>
            <p:nvSpPr>
              <p:cNvPr id="13394" name="Oval 62"/>
              <p:cNvSpPr>
                <a:spLocks noChangeArrowheads="1"/>
              </p:cNvSpPr>
              <p:nvPr/>
            </p:nvSpPr>
            <p:spPr bwMode="auto">
              <a:xfrm>
                <a:off x="2784" y="1345"/>
                <a:ext cx="428"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95" name="Text Box 63"/>
              <p:cNvSpPr txBox="1">
                <a:spLocks noChangeArrowheads="1"/>
              </p:cNvSpPr>
              <p:nvPr/>
            </p:nvSpPr>
            <p:spPr bwMode="auto">
              <a:xfrm>
                <a:off x="2784" y="1345"/>
                <a:ext cx="430"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grpSp>
          <p:nvGrpSpPr>
            <p:cNvPr id="16442" name="Group 64"/>
            <p:cNvGrpSpPr>
              <a:grpSpLocks/>
            </p:cNvGrpSpPr>
            <p:nvPr/>
          </p:nvGrpSpPr>
          <p:grpSpPr bwMode="auto">
            <a:xfrm>
              <a:off x="1104" y="2670"/>
              <a:ext cx="257" cy="249"/>
              <a:chOff x="2784" y="1344"/>
              <a:chExt cx="434" cy="432"/>
            </a:xfrm>
          </p:grpSpPr>
          <p:sp>
            <p:nvSpPr>
              <p:cNvPr id="13392" name="Oval 65"/>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93" name="Text Box 66"/>
              <p:cNvSpPr txBox="1">
                <a:spLocks noChangeArrowheads="1"/>
              </p:cNvSpPr>
              <p:nvPr/>
            </p:nvSpPr>
            <p:spPr bwMode="auto">
              <a:xfrm>
                <a:off x="2785" y="1344"/>
                <a:ext cx="43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3372" name="Line 67"/>
            <p:cNvSpPr>
              <a:spLocks noChangeShapeType="1"/>
            </p:cNvSpPr>
            <p:nvPr/>
          </p:nvSpPr>
          <p:spPr bwMode="auto">
            <a:xfrm>
              <a:off x="1168" y="1947"/>
              <a:ext cx="256" cy="2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73" name="Line 68"/>
            <p:cNvSpPr>
              <a:spLocks noChangeShapeType="1"/>
            </p:cNvSpPr>
            <p:nvPr/>
          </p:nvSpPr>
          <p:spPr bwMode="auto">
            <a:xfrm flipH="1">
              <a:off x="124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45" name="Group 69"/>
            <p:cNvGrpSpPr>
              <a:grpSpLocks/>
            </p:cNvGrpSpPr>
            <p:nvPr/>
          </p:nvGrpSpPr>
          <p:grpSpPr bwMode="auto">
            <a:xfrm>
              <a:off x="624" y="2142"/>
              <a:ext cx="257" cy="250"/>
              <a:chOff x="2784" y="1343"/>
              <a:chExt cx="434" cy="433"/>
            </a:xfrm>
          </p:grpSpPr>
          <p:sp>
            <p:nvSpPr>
              <p:cNvPr id="13390" name="Oval 70"/>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91" name="Text Box 71"/>
              <p:cNvSpPr txBox="1">
                <a:spLocks noChangeArrowheads="1"/>
              </p:cNvSpPr>
              <p:nvPr/>
            </p:nvSpPr>
            <p:spPr bwMode="auto">
              <a:xfrm>
                <a:off x="2784" y="1343"/>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24</a:t>
                </a:r>
                <a:endParaRPr lang="th-TH" altLang="en-US">
                  <a:latin typeface="Calibri" charset="0"/>
                </a:endParaRPr>
              </a:p>
            </p:txBody>
          </p:sp>
        </p:grpSp>
        <p:sp>
          <p:nvSpPr>
            <p:cNvPr id="13375" name="Line 72"/>
            <p:cNvSpPr>
              <a:spLocks noChangeShapeType="1"/>
            </p:cNvSpPr>
            <p:nvPr/>
          </p:nvSpPr>
          <p:spPr bwMode="auto">
            <a:xfrm flipV="1">
              <a:off x="816" y="1950"/>
              <a:ext cx="19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47" name="Group 73"/>
            <p:cNvGrpSpPr>
              <a:grpSpLocks/>
            </p:cNvGrpSpPr>
            <p:nvPr/>
          </p:nvGrpSpPr>
          <p:grpSpPr bwMode="auto">
            <a:xfrm>
              <a:off x="383" y="2670"/>
              <a:ext cx="258" cy="249"/>
              <a:chOff x="2784" y="1344"/>
              <a:chExt cx="436" cy="432"/>
            </a:xfrm>
          </p:grpSpPr>
          <p:sp>
            <p:nvSpPr>
              <p:cNvPr id="13388" name="Oval 74"/>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89" name="Text Box 75"/>
              <p:cNvSpPr txBox="1">
                <a:spLocks noChangeArrowheads="1"/>
              </p:cNvSpPr>
              <p:nvPr/>
            </p:nvSpPr>
            <p:spPr bwMode="auto">
              <a:xfrm>
                <a:off x="2786" y="1344"/>
                <a:ext cx="43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6448" name="Group 76"/>
            <p:cNvGrpSpPr>
              <a:grpSpLocks/>
            </p:cNvGrpSpPr>
            <p:nvPr/>
          </p:nvGrpSpPr>
          <p:grpSpPr bwMode="auto">
            <a:xfrm>
              <a:off x="772" y="2670"/>
              <a:ext cx="255" cy="249"/>
              <a:chOff x="2786" y="1344"/>
              <a:chExt cx="430" cy="432"/>
            </a:xfrm>
          </p:grpSpPr>
          <p:sp>
            <p:nvSpPr>
              <p:cNvPr id="13386" name="Oval 77"/>
              <p:cNvSpPr>
                <a:spLocks noChangeArrowheads="1"/>
              </p:cNvSpPr>
              <p:nvPr/>
            </p:nvSpPr>
            <p:spPr bwMode="auto">
              <a:xfrm>
                <a:off x="2786" y="1344"/>
                <a:ext cx="430"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87" name="Text Box 78"/>
              <p:cNvSpPr txBox="1">
                <a:spLocks noChangeArrowheads="1"/>
              </p:cNvSpPr>
              <p:nvPr/>
            </p:nvSpPr>
            <p:spPr bwMode="auto">
              <a:xfrm>
                <a:off x="2786" y="1344"/>
                <a:ext cx="43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3378" name="Line 79"/>
            <p:cNvSpPr>
              <a:spLocks noChangeShapeType="1"/>
            </p:cNvSpPr>
            <p:nvPr/>
          </p:nvSpPr>
          <p:spPr bwMode="auto">
            <a:xfrm flipH="1">
              <a:off x="576" y="2382"/>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79" name="Line 80"/>
            <p:cNvSpPr>
              <a:spLocks noChangeShapeType="1"/>
            </p:cNvSpPr>
            <p:nvPr/>
          </p:nvSpPr>
          <p:spPr bwMode="auto">
            <a:xfrm>
              <a:off x="816" y="2382"/>
              <a:ext cx="93"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80" name="Line 81"/>
            <p:cNvSpPr>
              <a:spLocks noChangeShapeType="1"/>
            </p:cNvSpPr>
            <p:nvPr/>
          </p:nvSpPr>
          <p:spPr bwMode="auto">
            <a:xfrm flipV="1">
              <a:off x="1152" y="1536"/>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81" name="Line 82"/>
            <p:cNvSpPr>
              <a:spLocks noChangeShapeType="1"/>
            </p:cNvSpPr>
            <p:nvPr/>
          </p:nvSpPr>
          <p:spPr bwMode="auto">
            <a:xfrm>
              <a:off x="1968" y="1536"/>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53" name="Group 83"/>
            <p:cNvGrpSpPr>
              <a:grpSpLocks/>
            </p:cNvGrpSpPr>
            <p:nvPr/>
          </p:nvGrpSpPr>
          <p:grpSpPr bwMode="auto">
            <a:xfrm>
              <a:off x="958" y="1729"/>
              <a:ext cx="258" cy="248"/>
              <a:chOff x="2782" y="1346"/>
              <a:chExt cx="436" cy="430"/>
            </a:xfrm>
          </p:grpSpPr>
          <p:sp>
            <p:nvSpPr>
              <p:cNvPr id="13384" name="Oval 84"/>
              <p:cNvSpPr>
                <a:spLocks noChangeArrowheads="1"/>
              </p:cNvSpPr>
              <p:nvPr/>
            </p:nvSpPr>
            <p:spPr bwMode="auto">
              <a:xfrm>
                <a:off x="2782" y="1346"/>
                <a:ext cx="434"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85" name="Text Box 85"/>
              <p:cNvSpPr txBox="1">
                <a:spLocks noChangeArrowheads="1"/>
              </p:cNvSpPr>
              <p:nvPr/>
            </p:nvSpPr>
            <p:spPr bwMode="auto">
              <a:xfrm>
                <a:off x="2785" y="1346"/>
                <a:ext cx="433"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a:latin typeface="+mj-lt"/>
                </a:endParaRPr>
              </a:p>
            </p:txBody>
          </p:sp>
        </p:grpSp>
        <p:sp>
          <p:nvSpPr>
            <p:cNvPr id="13383" name="Line 86"/>
            <p:cNvSpPr>
              <a:spLocks noChangeShapeType="1"/>
            </p:cNvSpPr>
            <p:nvPr/>
          </p:nvSpPr>
          <p:spPr bwMode="auto">
            <a:xfrm>
              <a:off x="1488" y="2448"/>
              <a:ext cx="96"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grpSp>
        <p:nvGrpSpPr>
          <p:cNvPr id="16388" name="Group 141"/>
          <p:cNvGrpSpPr>
            <a:grpSpLocks/>
          </p:cNvGrpSpPr>
          <p:nvPr/>
        </p:nvGrpSpPr>
        <p:grpSpPr bwMode="auto">
          <a:xfrm>
            <a:off x="4079875" y="3092450"/>
            <a:ext cx="4911725" cy="2757395"/>
            <a:chOff x="3120" y="1344"/>
            <a:chExt cx="2705" cy="1641"/>
          </a:xfrm>
        </p:grpSpPr>
        <p:grpSp>
          <p:nvGrpSpPr>
            <p:cNvPr id="16391" name="Group 93"/>
            <p:cNvGrpSpPr>
              <a:grpSpLocks/>
            </p:cNvGrpSpPr>
            <p:nvPr/>
          </p:nvGrpSpPr>
          <p:grpSpPr bwMode="auto">
            <a:xfrm>
              <a:off x="4512" y="1344"/>
              <a:ext cx="257" cy="250"/>
              <a:chOff x="2784" y="1344"/>
              <a:chExt cx="434" cy="434"/>
            </a:xfrm>
          </p:grpSpPr>
          <p:sp>
            <p:nvSpPr>
              <p:cNvPr id="13361" name="Oval 94"/>
              <p:cNvSpPr>
                <a:spLocks noChangeArrowheads="1"/>
              </p:cNvSpPr>
              <p:nvPr/>
            </p:nvSpPr>
            <p:spPr bwMode="auto">
              <a:xfrm>
                <a:off x="2784" y="1344"/>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62" name="Text Box 95"/>
              <p:cNvSpPr txBox="1">
                <a:spLocks noChangeArrowheads="1"/>
              </p:cNvSpPr>
              <p:nvPr/>
            </p:nvSpPr>
            <p:spPr bwMode="auto">
              <a:xfrm>
                <a:off x="2785" y="1344"/>
                <a:ext cx="43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6392" name="Group 96"/>
            <p:cNvGrpSpPr>
              <a:grpSpLocks/>
            </p:cNvGrpSpPr>
            <p:nvPr/>
          </p:nvGrpSpPr>
          <p:grpSpPr bwMode="auto">
            <a:xfrm>
              <a:off x="5248" y="1776"/>
              <a:ext cx="256" cy="250"/>
              <a:chOff x="2784" y="1343"/>
              <a:chExt cx="432" cy="433"/>
            </a:xfrm>
          </p:grpSpPr>
          <p:sp>
            <p:nvSpPr>
              <p:cNvPr id="13359" name="Oval 9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60" name="Text Box 98"/>
              <p:cNvSpPr txBox="1">
                <a:spLocks noChangeArrowheads="1"/>
              </p:cNvSpPr>
              <p:nvPr/>
            </p:nvSpPr>
            <p:spPr bwMode="auto">
              <a:xfrm>
                <a:off x="2784" y="1343"/>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6393" name="Group 99"/>
            <p:cNvGrpSpPr>
              <a:grpSpLocks/>
            </p:cNvGrpSpPr>
            <p:nvPr/>
          </p:nvGrpSpPr>
          <p:grpSpPr bwMode="auto">
            <a:xfrm>
              <a:off x="5568" y="2212"/>
              <a:ext cx="257" cy="249"/>
              <a:chOff x="2784" y="1343"/>
              <a:chExt cx="434" cy="431"/>
            </a:xfrm>
          </p:grpSpPr>
          <p:sp>
            <p:nvSpPr>
              <p:cNvPr id="13357" name="Oval 100"/>
              <p:cNvSpPr>
                <a:spLocks noChangeArrowheads="1"/>
              </p:cNvSpPr>
              <p:nvPr/>
            </p:nvSpPr>
            <p:spPr bwMode="auto">
              <a:xfrm>
                <a:off x="2784" y="1345"/>
                <a:ext cx="433" cy="42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58" name="Text Box 101"/>
              <p:cNvSpPr txBox="1">
                <a:spLocks noChangeArrowheads="1"/>
              </p:cNvSpPr>
              <p:nvPr/>
            </p:nvSpPr>
            <p:spPr bwMode="auto">
              <a:xfrm>
                <a:off x="2784" y="1343"/>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3323" name="Line 102"/>
            <p:cNvSpPr>
              <a:spLocks noChangeShapeType="1"/>
            </p:cNvSpPr>
            <p:nvPr/>
          </p:nvSpPr>
          <p:spPr bwMode="auto">
            <a:xfrm>
              <a:off x="5440" y="1995"/>
              <a:ext cx="254"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395" name="Group 103"/>
            <p:cNvGrpSpPr>
              <a:grpSpLocks/>
            </p:cNvGrpSpPr>
            <p:nvPr/>
          </p:nvGrpSpPr>
          <p:grpSpPr bwMode="auto">
            <a:xfrm>
              <a:off x="4895" y="2188"/>
              <a:ext cx="257" cy="251"/>
              <a:chOff x="2782" y="1341"/>
              <a:chExt cx="434" cy="435"/>
            </a:xfrm>
          </p:grpSpPr>
          <p:sp>
            <p:nvSpPr>
              <p:cNvPr id="13355" name="Oval 104"/>
              <p:cNvSpPr>
                <a:spLocks noChangeArrowheads="1"/>
              </p:cNvSpPr>
              <p:nvPr/>
            </p:nvSpPr>
            <p:spPr bwMode="auto">
              <a:xfrm>
                <a:off x="2782" y="1344"/>
                <a:ext cx="434"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56" name="Text Box 105"/>
              <p:cNvSpPr txBox="1">
                <a:spLocks noChangeArrowheads="1"/>
              </p:cNvSpPr>
              <p:nvPr/>
            </p:nvSpPr>
            <p:spPr bwMode="auto">
              <a:xfrm>
                <a:off x="2782" y="1341"/>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3325" name="Line 106"/>
            <p:cNvSpPr>
              <a:spLocks noChangeShapeType="1"/>
            </p:cNvSpPr>
            <p:nvPr/>
          </p:nvSpPr>
          <p:spPr bwMode="auto">
            <a:xfrm flipV="1">
              <a:off x="5088"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397" name="Group 107"/>
            <p:cNvGrpSpPr>
              <a:grpSpLocks/>
            </p:cNvGrpSpPr>
            <p:nvPr/>
          </p:nvGrpSpPr>
          <p:grpSpPr bwMode="auto">
            <a:xfrm>
              <a:off x="4032" y="2210"/>
              <a:ext cx="256" cy="248"/>
              <a:chOff x="2784" y="1345"/>
              <a:chExt cx="432" cy="429"/>
            </a:xfrm>
          </p:grpSpPr>
          <p:sp>
            <p:nvSpPr>
              <p:cNvPr id="13353" name="Oval 108"/>
              <p:cNvSpPr>
                <a:spLocks noChangeArrowheads="1"/>
              </p:cNvSpPr>
              <p:nvPr/>
            </p:nvSpPr>
            <p:spPr bwMode="auto">
              <a:xfrm>
                <a:off x="2784" y="1345"/>
                <a:ext cx="432" cy="42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54" name="Text Box 109"/>
              <p:cNvSpPr txBox="1">
                <a:spLocks noChangeArrowheads="1"/>
              </p:cNvSpPr>
              <p:nvPr/>
            </p:nvSpPr>
            <p:spPr bwMode="auto">
              <a:xfrm>
                <a:off x="2784" y="1345"/>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6398" name="Group 110"/>
            <p:cNvGrpSpPr>
              <a:grpSpLocks/>
            </p:cNvGrpSpPr>
            <p:nvPr/>
          </p:nvGrpSpPr>
          <p:grpSpPr bwMode="auto">
            <a:xfrm>
              <a:off x="4272" y="2734"/>
              <a:ext cx="257" cy="251"/>
              <a:chOff x="2784" y="1341"/>
              <a:chExt cx="434" cy="435"/>
            </a:xfrm>
          </p:grpSpPr>
          <p:sp>
            <p:nvSpPr>
              <p:cNvPr id="13351" name="Oval 111"/>
              <p:cNvSpPr>
                <a:spLocks noChangeArrowheads="1"/>
              </p:cNvSpPr>
              <p:nvPr/>
            </p:nvSpPr>
            <p:spPr bwMode="auto">
              <a:xfrm>
                <a:off x="2784" y="1344"/>
                <a:ext cx="433"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52" name="Text Box 112"/>
              <p:cNvSpPr txBox="1">
                <a:spLocks noChangeArrowheads="1"/>
              </p:cNvSpPr>
              <p:nvPr/>
            </p:nvSpPr>
            <p:spPr bwMode="auto">
              <a:xfrm>
                <a:off x="2784" y="1341"/>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grpSp>
          <p:nvGrpSpPr>
            <p:cNvPr id="16399" name="Group 113"/>
            <p:cNvGrpSpPr>
              <a:grpSpLocks/>
            </p:cNvGrpSpPr>
            <p:nvPr/>
          </p:nvGrpSpPr>
          <p:grpSpPr bwMode="auto">
            <a:xfrm>
              <a:off x="3841" y="2716"/>
              <a:ext cx="257" cy="250"/>
              <a:chOff x="2786" y="1342"/>
              <a:chExt cx="434" cy="434"/>
            </a:xfrm>
          </p:grpSpPr>
          <p:sp>
            <p:nvSpPr>
              <p:cNvPr id="13349" name="Oval 114"/>
              <p:cNvSpPr>
                <a:spLocks noChangeArrowheads="1"/>
              </p:cNvSpPr>
              <p:nvPr/>
            </p:nvSpPr>
            <p:spPr bwMode="auto">
              <a:xfrm>
                <a:off x="2786" y="1342"/>
                <a:ext cx="434"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50" name="Text Box 115"/>
              <p:cNvSpPr txBox="1">
                <a:spLocks noChangeArrowheads="1"/>
              </p:cNvSpPr>
              <p:nvPr/>
            </p:nvSpPr>
            <p:spPr bwMode="auto">
              <a:xfrm>
                <a:off x="2786" y="1342"/>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3329" name="Line 116"/>
            <p:cNvSpPr>
              <a:spLocks noChangeShapeType="1"/>
            </p:cNvSpPr>
            <p:nvPr/>
          </p:nvSpPr>
          <p:spPr bwMode="auto">
            <a:xfrm>
              <a:off x="3904" y="1995"/>
              <a:ext cx="256" cy="2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30" name="Line 117"/>
            <p:cNvSpPr>
              <a:spLocks noChangeShapeType="1"/>
            </p:cNvSpPr>
            <p:nvPr/>
          </p:nvSpPr>
          <p:spPr bwMode="auto">
            <a:xfrm flipH="1">
              <a:off x="3984" y="2478"/>
              <a:ext cx="129"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02" name="Group 118"/>
            <p:cNvGrpSpPr>
              <a:grpSpLocks/>
            </p:cNvGrpSpPr>
            <p:nvPr/>
          </p:nvGrpSpPr>
          <p:grpSpPr bwMode="auto">
            <a:xfrm>
              <a:off x="3364" y="2188"/>
              <a:ext cx="255" cy="251"/>
              <a:chOff x="2786" y="1341"/>
              <a:chExt cx="430" cy="435"/>
            </a:xfrm>
          </p:grpSpPr>
          <p:sp>
            <p:nvSpPr>
              <p:cNvPr id="13347" name="Oval 119"/>
              <p:cNvSpPr>
                <a:spLocks noChangeArrowheads="1"/>
              </p:cNvSpPr>
              <p:nvPr/>
            </p:nvSpPr>
            <p:spPr bwMode="auto">
              <a:xfrm>
                <a:off x="2786" y="1344"/>
                <a:ext cx="430"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48" name="Text Box 120"/>
              <p:cNvSpPr txBox="1">
                <a:spLocks noChangeArrowheads="1"/>
              </p:cNvSpPr>
              <p:nvPr/>
            </p:nvSpPr>
            <p:spPr bwMode="auto">
              <a:xfrm>
                <a:off x="2786" y="1341"/>
                <a:ext cx="43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24</a:t>
                </a:r>
                <a:endParaRPr lang="th-TH" altLang="en-US">
                  <a:latin typeface="Calibri" charset="0"/>
                </a:endParaRPr>
              </a:p>
            </p:txBody>
          </p:sp>
        </p:grpSp>
        <p:sp>
          <p:nvSpPr>
            <p:cNvPr id="13332" name="Line 121"/>
            <p:cNvSpPr>
              <a:spLocks noChangeShapeType="1"/>
            </p:cNvSpPr>
            <p:nvPr/>
          </p:nvSpPr>
          <p:spPr bwMode="auto">
            <a:xfrm flipV="1">
              <a:off x="3552"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04" name="Group 122"/>
            <p:cNvGrpSpPr>
              <a:grpSpLocks/>
            </p:cNvGrpSpPr>
            <p:nvPr/>
          </p:nvGrpSpPr>
          <p:grpSpPr bwMode="auto">
            <a:xfrm>
              <a:off x="3120" y="2716"/>
              <a:ext cx="257" cy="250"/>
              <a:chOff x="2784" y="1342"/>
              <a:chExt cx="434" cy="434"/>
            </a:xfrm>
          </p:grpSpPr>
          <p:sp>
            <p:nvSpPr>
              <p:cNvPr id="13345" name="Oval 123"/>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46" name="Text Box 124"/>
              <p:cNvSpPr txBox="1">
                <a:spLocks noChangeArrowheads="1"/>
              </p:cNvSpPr>
              <p:nvPr/>
            </p:nvSpPr>
            <p:spPr bwMode="auto">
              <a:xfrm>
                <a:off x="2785" y="1342"/>
                <a:ext cx="43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6405" name="Group 125"/>
            <p:cNvGrpSpPr>
              <a:grpSpLocks/>
            </p:cNvGrpSpPr>
            <p:nvPr/>
          </p:nvGrpSpPr>
          <p:grpSpPr bwMode="auto">
            <a:xfrm>
              <a:off x="3504" y="2716"/>
              <a:ext cx="257" cy="250"/>
              <a:chOff x="2784" y="1342"/>
              <a:chExt cx="434" cy="434"/>
            </a:xfrm>
          </p:grpSpPr>
          <p:sp>
            <p:nvSpPr>
              <p:cNvPr id="13343" name="Oval 126"/>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44" name="Text Box 127"/>
              <p:cNvSpPr txBox="1">
                <a:spLocks noChangeArrowheads="1"/>
              </p:cNvSpPr>
              <p:nvPr/>
            </p:nvSpPr>
            <p:spPr bwMode="auto">
              <a:xfrm>
                <a:off x="2785" y="1342"/>
                <a:ext cx="43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3335" name="Line 128"/>
            <p:cNvSpPr>
              <a:spLocks noChangeShapeType="1"/>
            </p:cNvSpPr>
            <p:nvPr/>
          </p:nvSpPr>
          <p:spPr bwMode="auto">
            <a:xfrm flipH="1">
              <a:off x="3312"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36" name="Line 129"/>
            <p:cNvSpPr>
              <a:spLocks noChangeShapeType="1"/>
            </p:cNvSpPr>
            <p:nvPr/>
          </p:nvSpPr>
          <p:spPr bwMode="auto">
            <a:xfrm>
              <a:off x="3552" y="2430"/>
              <a:ext cx="96" cy="2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37" name="Line 130"/>
            <p:cNvSpPr>
              <a:spLocks noChangeShapeType="1"/>
            </p:cNvSpPr>
            <p:nvPr/>
          </p:nvSpPr>
          <p:spPr bwMode="auto">
            <a:xfrm flipV="1">
              <a:off x="3888" y="1584"/>
              <a:ext cx="67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38" name="Line 131"/>
            <p:cNvSpPr>
              <a:spLocks noChangeShapeType="1"/>
            </p:cNvSpPr>
            <p:nvPr/>
          </p:nvSpPr>
          <p:spPr bwMode="auto">
            <a:xfrm>
              <a:off x="4704" y="158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3339" name="Line 135"/>
            <p:cNvSpPr>
              <a:spLocks noChangeShapeType="1"/>
            </p:cNvSpPr>
            <p:nvPr/>
          </p:nvSpPr>
          <p:spPr bwMode="auto">
            <a:xfrm>
              <a:off x="4224" y="2496"/>
              <a:ext cx="96"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6411" name="Group 136"/>
            <p:cNvGrpSpPr>
              <a:grpSpLocks/>
            </p:cNvGrpSpPr>
            <p:nvPr/>
          </p:nvGrpSpPr>
          <p:grpSpPr bwMode="auto">
            <a:xfrm>
              <a:off x="3696" y="1776"/>
              <a:ext cx="256" cy="250"/>
              <a:chOff x="2784" y="1343"/>
              <a:chExt cx="432" cy="433"/>
            </a:xfrm>
          </p:grpSpPr>
          <p:sp>
            <p:nvSpPr>
              <p:cNvPr id="13341" name="Oval 13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3342" name="Text Box 138"/>
              <p:cNvSpPr txBox="1">
                <a:spLocks noChangeArrowheads="1"/>
              </p:cNvSpPr>
              <p:nvPr/>
            </p:nvSpPr>
            <p:spPr bwMode="auto">
              <a:xfrm>
                <a:off x="2784" y="1343"/>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14</a:t>
                </a:r>
                <a:endParaRPr lang="th-TH" altLang="en-US">
                  <a:latin typeface="Calibri" charset="0"/>
                </a:endParaRPr>
              </a:p>
            </p:txBody>
          </p:sp>
        </p:grpSp>
      </p:gr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218D2B3C-7A92-3C4A-8DE3-EDB0280A407E}" type="slidenum">
              <a:rPr lang="zh-TW" altLang="en-US" sz="1200">
                <a:solidFill>
                  <a:srgbClr val="898989"/>
                </a:solidFill>
                <a:latin typeface="Calibri" charset="0"/>
              </a:rPr>
              <a:pPr/>
              <a:t>16</a:t>
            </a:fld>
            <a:endParaRPr lang="en-US" altLang="zh-TW" sz="1200">
              <a:solidFill>
                <a:srgbClr val="898989"/>
              </a:solidFill>
              <a:latin typeface="Calibri"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33413" y="152400"/>
            <a:ext cx="7772400" cy="1143000"/>
          </a:xfrm>
        </p:spPr>
        <p:txBody>
          <a:bodyPr/>
          <a:lstStyle/>
          <a:p>
            <a:r>
              <a:rPr lang="th-TH" altLang="en-US" sz="4000" b="1" dirty="0">
                <a:solidFill>
                  <a:srgbClr val="000099"/>
                </a:solidFill>
              </a:rPr>
              <a:t>deleteMin</a:t>
            </a:r>
          </a:p>
        </p:txBody>
      </p:sp>
      <p:sp>
        <p:nvSpPr>
          <p:cNvPr id="14342" name="Rectangle 48"/>
          <p:cNvSpPr>
            <a:spLocks noGrp="1" noChangeArrowheads="1"/>
          </p:cNvSpPr>
          <p:nvPr>
            <p:ph type="body" idx="1"/>
          </p:nvPr>
        </p:nvSpPr>
        <p:spPr>
          <a:xfrm>
            <a:off x="633413" y="914400"/>
            <a:ext cx="7880350" cy="1219200"/>
          </a:xfrm>
        </p:spPr>
        <p:txBody>
          <a:bodyPr/>
          <a:lstStyle/>
          <a:p>
            <a:r>
              <a:rPr lang="th-TH" altLang="en-US" sz="2800" dirty="0"/>
              <a:t>Create a hole at the root</a:t>
            </a:r>
          </a:p>
          <a:p>
            <a:r>
              <a:rPr lang="th-TH" altLang="en-US" sz="2800" dirty="0"/>
              <a:t>Move the hole down (swap with the smaller one of its children) until the last element of the heap can be placed in the hole without violating the heap order property (called </a:t>
            </a:r>
            <a:r>
              <a:rPr lang="th-TH" altLang="en-US" sz="2800" b="1" i="1" dirty="0"/>
              <a:t>percolate down</a:t>
            </a:r>
            <a:r>
              <a:rPr lang="th-TH" altLang="en-US" sz="2800" dirty="0"/>
              <a:t>)</a:t>
            </a:r>
          </a:p>
        </p:txBody>
      </p:sp>
      <p:grpSp>
        <p:nvGrpSpPr>
          <p:cNvPr id="17412" name="Group 92"/>
          <p:cNvGrpSpPr>
            <a:grpSpLocks/>
          </p:cNvGrpSpPr>
          <p:nvPr/>
        </p:nvGrpSpPr>
        <p:grpSpPr bwMode="auto">
          <a:xfrm>
            <a:off x="-79740" y="3048000"/>
            <a:ext cx="4789670" cy="2684275"/>
            <a:chOff x="238" y="1104"/>
            <a:chExt cx="2706" cy="1643"/>
          </a:xfrm>
        </p:grpSpPr>
        <p:grpSp>
          <p:nvGrpSpPr>
            <p:cNvPr id="17458" name="Group 93"/>
            <p:cNvGrpSpPr>
              <a:grpSpLocks/>
            </p:cNvGrpSpPr>
            <p:nvPr/>
          </p:nvGrpSpPr>
          <p:grpSpPr bwMode="auto">
            <a:xfrm>
              <a:off x="1632" y="1104"/>
              <a:ext cx="257" cy="248"/>
              <a:chOff x="2784" y="1344"/>
              <a:chExt cx="434" cy="430"/>
            </a:xfrm>
          </p:grpSpPr>
          <p:sp>
            <p:nvSpPr>
              <p:cNvPr id="14427" name="Oval 94"/>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28" name="Text Box 95"/>
              <p:cNvSpPr txBox="1">
                <a:spLocks noChangeArrowheads="1"/>
              </p:cNvSpPr>
              <p:nvPr/>
            </p:nvSpPr>
            <p:spPr bwMode="auto">
              <a:xfrm>
                <a:off x="2785" y="1344"/>
                <a:ext cx="43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13</a:t>
                </a:r>
                <a:endParaRPr lang="th-TH" altLang="en-US">
                  <a:latin typeface="Calibri" charset="0"/>
                </a:endParaRPr>
              </a:p>
            </p:txBody>
          </p:sp>
        </p:grpSp>
        <p:grpSp>
          <p:nvGrpSpPr>
            <p:cNvPr id="17459" name="Group 96"/>
            <p:cNvGrpSpPr>
              <a:grpSpLocks/>
            </p:cNvGrpSpPr>
            <p:nvPr/>
          </p:nvGrpSpPr>
          <p:grpSpPr bwMode="auto">
            <a:xfrm>
              <a:off x="2370" y="1538"/>
              <a:ext cx="255" cy="249"/>
              <a:chOff x="2786" y="1345"/>
              <a:chExt cx="430" cy="431"/>
            </a:xfrm>
          </p:grpSpPr>
          <p:sp>
            <p:nvSpPr>
              <p:cNvPr id="14425" name="Oval 97"/>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26" name="Text Box 98"/>
              <p:cNvSpPr txBox="1">
                <a:spLocks noChangeArrowheads="1"/>
              </p:cNvSpPr>
              <p:nvPr/>
            </p:nvSpPr>
            <p:spPr bwMode="auto">
              <a:xfrm>
                <a:off x="2786" y="1345"/>
                <a:ext cx="430"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7460" name="Group 99"/>
            <p:cNvGrpSpPr>
              <a:grpSpLocks/>
            </p:cNvGrpSpPr>
            <p:nvPr/>
          </p:nvGrpSpPr>
          <p:grpSpPr bwMode="auto">
            <a:xfrm>
              <a:off x="2686" y="1972"/>
              <a:ext cx="258" cy="250"/>
              <a:chOff x="2782" y="1343"/>
              <a:chExt cx="436" cy="433"/>
            </a:xfrm>
          </p:grpSpPr>
          <p:sp>
            <p:nvSpPr>
              <p:cNvPr id="14423" name="Oval 100"/>
              <p:cNvSpPr>
                <a:spLocks noChangeArrowheads="1"/>
              </p:cNvSpPr>
              <p:nvPr/>
            </p:nvSpPr>
            <p:spPr bwMode="auto">
              <a:xfrm>
                <a:off x="2782" y="1344"/>
                <a:ext cx="435"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24" name="Text Box 101"/>
              <p:cNvSpPr txBox="1">
                <a:spLocks noChangeArrowheads="1"/>
              </p:cNvSpPr>
              <p:nvPr/>
            </p:nvSpPr>
            <p:spPr bwMode="auto">
              <a:xfrm>
                <a:off x="2782" y="1343"/>
                <a:ext cx="4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4389" name="Line 102"/>
            <p:cNvSpPr>
              <a:spLocks noChangeShapeType="1"/>
            </p:cNvSpPr>
            <p:nvPr/>
          </p:nvSpPr>
          <p:spPr bwMode="auto">
            <a:xfrm>
              <a:off x="2560" y="175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62" name="Group 103"/>
            <p:cNvGrpSpPr>
              <a:grpSpLocks/>
            </p:cNvGrpSpPr>
            <p:nvPr/>
          </p:nvGrpSpPr>
          <p:grpSpPr bwMode="auto">
            <a:xfrm>
              <a:off x="2015" y="1952"/>
              <a:ext cx="258" cy="249"/>
              <a:chOff x="2784" y="1345"/>
              <a:chExt cx="436" cy="431"/>
            </a:xfrm>
          </p:grpSpPr>
          <p:sp>
            <p:nvSpPr>
              <p:cNvPr id="14421" name="Oval 104"/>
              <p:cNvSpPr>
                <a:spLocks noChangeArrowheads="1"/>
              </p:cNvSpPr>
              <p:nvPr/>
            </p:nvSpPr>
            <p:spPr bwMode="auto">
              <a:xfrm>
                <a:off x="2784" y="1345"/>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22" name="Text Box 105"/>
              <p:cNvSpPr txBox="1">
                <a:spLocks noChangeArrowheads="1"/>
              </p:cNvSpPr>
              <p:nvPr/>
            </p:nvSpPr>
            <p:spPr bwMode="auto">
              <a:xfrm>
                <a:off x="2784" y="1345"/>
                <a:ext cx="4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4391" name="Line 106"/>
            <p:cNvSpPr>
              <a:spLocks noChangeShapeType="1"/>
            </p:cNvSpPr>
            <p:nvPr/>
          </p:nvSpPr>
          <p:spPr bwMode="auto">
            <a:xfrm flipV="1">
              <a:off x="2208" y="175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64" name="Group 107"/>
            <p:cNvGrpSpPr>
              <a:grpSpLocks/>
            </p:cNvGrpSpPr>
            <p:nvPr/>
          </p:nvGrpSpPr>
          <p:grpSpPr bwMode="auto">
            <a:xfrm>
              <a:off x="1153" y="1968"/>
              <a:ext cx="255" cy="250"/>
              <a:chOff x="2784" y="1343"/>
              <a:chExt cx="430" cy="433"/>
            </a:xfrm>
          </p:grpSpPr>
          <p:sp>
            <p:nvSpPr>
              <p:cNvPr id="14419" name="Oval 108"/>
              <p:cNvSpPr>
                <a:spLocks noChangeArrowheads="1"/>
              </p:cNvSpPr>
              <p:nvPr/>
            </p:nvSpPr>
            <p:spPr bwMode="auto">
              <a:xfrm>
                <a:off x="2784" y="1344"/>
                <a:ext cx="430"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20" name="Text Box 109"/>
              <p:cNvSpPr txBox="1">
                <a:spLocks noChangeArrowheads="1"/>
              </p:cNvSpPr>
              <p:nvPr/>
            </p:nvSpPr>
            <p:spPr bwMode="auto">
              <a:xfrm>
                <a:off x="2784" y="1343"/>
                <a:ext cx="430"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7465" name="Group 110"/>
            <p:cNvGrpSpPr>
              <a:grpSpLocks/>
            </p:cNvGrpSpPr>
            <p:nvPr/>
          </p:nvGrpSpPr>
          <p:grpSpPr bwMode="auto">
            <a:xfrm>
              <a:off x="1390" y="2498"/>
              <a:ext cx="258" cy="249"/>
              <a:chOff x="2782" y="1345"/>
              <a:chExt cx="436" cy="431"/>
            </a:xfrm>
          </p:grpSpPr>
          <p:sp>
            <p:nvSpPr>
              <p:cNvPr id="14417" name="Oval 111"/>
              <p:cNvSpPr>
                <a:spLocks noChangeArrowheads="1"/>
              </p:cNvSpPr>
              <p:nvPr/>
            </p:nvSpPr>
            <p:spPr bwMode="auto">
              <a:xfrm>
                <a:off x="2782" y="1345"/>
                <a:ext cx="435"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18" name="Text Box 112"/>
              <p:cNvSpPr txBox="1">
                <a:spLocks noChangeArrowheads="1"/>
              </p:cNvSpPr>
              <p:nvPr/>
            </p:nvSpPr>
            <p:spPr bwMode="auto">
              <a:xfrm>
                <a:off x="2782" y="1345"/>
                <a:ext cx="4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31</a:t>
                </a:r>
                <a:endParaRPr lang="th-TH" altLang="en-US">
                  <a:latin typeface="Calibri" charset="0"/>
                </a:endParaRPr>
              </a:p>
            </p:txBody>
          </p:sp>
        </p:grpSp>
        <p:grpSp>
          <p:nvGrpSpPr>
            <p:cNvPr id="17466" name="Group 113"/>
            <p:cNvGrpSpPr>
              <a:grpSpLocks/>
            </p:cNvGrpSpPr>
            <p:nvPr/>
          </p:nvGrpSpPr>
          <p:grpSpPr bwMode="auto">
            <a:xfrm>
              <a:off x="960" y="2478"/>
              <a:ext cx="257" cy="248"/>
              <a:chOff x="2784" y="1344"/>
              <a:chExt cx="434" cy="430"/>
            </a:xfrm>
          </p:grpSpPr>
          <p:sp>
            <p:nvSpPr>
              <p:cNvPr id="14415" name="Oval 114"/>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16" name="Text Box 115"/>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4395" name="Line 116"/>
            <p:cNvSpPr>
              <a:spLocks noChangeShapeType="1"/>
            </p:cNvSpPr>
            <p:nvPr/>
          </p:nvSpPr>
          <p:spPr bwMode="auto">
            <a:xfrm>
              <a:off x="1024" y="1755"/>
              <a:ext cx="257"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96" name="Line 117"/>
            <p:cNvSpPr>
              <a:spLocks noChangeShapeType="1"/>
            </p:cNvSpPr>
            <p:nvPr/>
          </p:nvSpPr>
          <p:spPr bwMode="auto">
            <a:xfrm flipH="1">
              <a:off x="1104" y="223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69" name="Group 118"/>
            <p:cNvGrpSpPr>
              <a:grpSpLocks/>
            </p:cNvGrpSpPr>
            <p:nvPr/>
          </p:nvGrpSpPr>
          <p:grpSpPr bwMode="auto">
            <a:xfrm>
              <a:off x="482" y="1952"/>
              <a:ext cx="256" cy="249"/>
              <a:chOff x="2786" y="1345"/>
              <a:chExt cx="432" cy="431"/>
            </a:xfrm>
          </p:grpSpPr>
          <p:sp>
            <p:nvSpPr>
              <p:cNvPr id="14413" name="Oval 119"/>
              <p:cNvSpPr>
                <a:spLocks noChangeArrowheads="1"/>
              </p:cNvSpPr>
              <p:nvPr/>
            </p:nvSpPr>
            <p:spPr bwMode="auto">
              <a:xfrm>
                <a:off x="2786" y="1345"/>
                <a:ext cx="430"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14" name="Text Box 120"/>
              <p:cNvSpPr txBox="1">
                <a:spLocks noChangeArrowheads="1"/>
              </p:cNvSpPr>
              <p:nvPr/>
            </p:nvSpPr>
            <p:spPr bwMode="auto">
              <a:xfrm>
                <a:off x="2786" y="1345"/>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4398" name="Line 121"/>
            <p:cNvSpPr>
              <a:spLocks noChangeShapeType="1"/>
            </p:cNvSpPr>
            <p:nvPr/>
          </p:nvSpPr>
          <p:spPr bwMode="auto">
            <a:xfrm flipV="1">
              <a:off x="672" y="175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71" name="Group 122"/>
            <p:cNvGrpSpPr>
              <a:grpSpLocks/>
            </p:cNvGrpSpPr>
            <p:nvPr/>
          </p:nvGrpSpPr>
          <p:grpSpPr bwMode="auto">
            <a:xfrm>
              <a:off x="238" y="2478"/>
              <a:ext cx="259" cy="248"/>
              <a:chOff x="2784" y="1344"/>
              <a:chExt cx="438" cy="430"/>
            </a:xfrm>
          </p:grpSpPr>
          <p:sp>
            <p:nvSpPr>
              <p:cNvPr id="14411" name="Oval 123"/>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12" name="Text Box 124"/>
              <p:cNvSpPr txBox="1">
                <a:spLocks noChangeArrowheads="1"/>
              </p:cNvSpPr>
              <p:nvPr/>
            </p:nvSpPr>
            <p:spPr bwMode="auto">
              <a:xfrm>
                <a:off x="2786" y="1344"/>
                <a:ext cx="4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7472" name="Group 125"/>
            <p:cNvGrpSpPr>
              <a:grpSpLocks/>
            </p:cNvGrpSpPr>
            <p:nvPr/>
          </p:nvGrpSpPr>
          <p:grpSpPr bwMode="auto">
            <a:xfrm>
              <a:off x="624" y="2478"/>
              <a:ext cx="257" cy="248"/>
              <a:chOff x="2784" y="1344"/>
              <a:chExt cx="434" cy="430"/>
            </a:xfrm>
          </p:grpSpPr>
          <p:sp>
            <p:nvSpPr>
              <p:cNvPr id="14409" name="Oval 126"/>
              <p:cNvSpPr>
                <a:spLocks noChangeArrowheads="1"/>
              </p:cNvSpPr>
              <p:nvPr/>
            </p:nvSpPr>
            <p:spPr bwMode="auto">
              <a:xfrm>
                <a:off x="2784" y="1344"/>
                <a:ext cx="433"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10" name="Text Box 127"/>
              <p:cNvSpPr txBox="1">
                <a:spLocks noChangeArrowheads="1"/>
              </p:cNvSpPr>
              <p:nvPr/>
            </p:nvSpPr>
            <p:spPr bwMode="auto">
              <a:xfrm>
                <a:off x="2785" y="1344"/>
                <a:ext cx="43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4401" name="Line 128"/>
            <p:cNvSpPr>
              <a:spLocks noChangeShapeType="1"/>
            </p:cNvSpPr>
            <p:nvPr/>
          </p:nvSpPr>
          <p:spPr bwMode="auto">
            <a:xfrm flipH="1">
              <a:off x="432" y="219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402" name="Line 129"/>
            <p:cNvSpPr>
              <a:spLocks noChangeShapeType="1"/>
            </p:cNvSpPr>
            <p:nvPr/>
          </p:nvSpPr>
          <p:spPr bwMode="auto">
            <a:xfrm>
              <a:off x="672" y="2190"/>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403" name="Line 130"/>
            <p:cNvSpPr>
              <a:spLocks noChangeShapeType="1"/>
            </p:cNvSpPr>
            <p:nvPr/>
          </p:nvSpPr>
          <p:spPr bwMode="auto">
            <a:xfrm flipV="1">
              <a:off x="1008" y="1344"/>
              <a:ext cx="67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404" name="Line 131"/>
            <p:cNvSpPr>
              <a:spLocks noChangeShapeType="1"/>
            </p:cNvSpPr>
            <p:nvPr/>
          </p:nvSpPr>
          <p:spPr bwMode="auto">
            <a:xfrm>
              <a:off x="1824" y="134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405" name="Line 132"/>
            <p:cNvSpPr>
              <a:spLocks noChangeShapeType="1"/>
            </p:cNvSpPr>
            <p:nvPr/>
          </p:nvSpPr>
          <p:spPr bwMode="auto">
            <a:xfrm>
              <a:off x="1344" y="2256"/>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78" name="Group 133"/>
            <p:cNvGrpSpPr>
              <a:grpSpLocks/>
            </p:cNvGrpSpPr>
            <p:nvPr/>
          </p:nvGrpSpPr>
          <p:grpSpPr bwMode="auto">
            <a:xfrm>
              <a:off x="815" y="1538"/>
              <a:ext cx="257" cy="249"/>
              <a:chOff x="2784" y="1345"/>
              <a:chExt cx="434" cy="431"/>
            </a:xfrm>
          </p:grpSpPr>
          <p:sp>
            <p:nvSpPr>
              <p:cNvPr id="14407" name="Oval 134"/>
              <p:cNvSpPr>
                <a:spLocks noChangeArrowheads="1"/>
              </p:cNvSpPr>
              <p:nvPr/>
            </p:nvSpPr>
            <p:spPr bwMode="auto">
              <a:xfrm>
                <a:off x="2784" y="1345"/>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408" name="Text Box 135"/>
              <p:cNvSpPr txBox="1">
                <a:spLocks noChangeArrowheads="1"/>
              </p:cNvSpPr>
              <p:nvPr/>
            </p:nvSpPr>
            <p:spPr bwMode="auto">
              <a:xfrm>
                <a:off x="2784" y="1345"/>
                <a:ext cx="43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14</a:t>
                </a:r>
                <a:endParaRPr lang="th-TH" altLang="en-US">
                  <a:latin typeface="Calibri" charset="0"/>
                </a:endParaRPr>
              </a:p>
            </p:txBody>
          </p:sp>
        </p:grpSp>
      </p:grpSp>
      <p:grpSp>
        <p:nvGrpSpPr>
          <p:cNvPr id="17413" name="Group 136"/>
          <p:cNvGrpSpPr>
            <a:grpSpLocks/>
          </p:cNvGrpSpPr>
          <p:nvPr/>
        </p:nvGrpSpPr>
        <p:grpSpPr bwMode="auto">
          <a:xfrm>
            <a:off x="4194419" y="3827198"/>
            <a:ext cx="4949582" cy="2649802"/>
            <a:chOff x="3121" y="1153"/>
            <a:chExt cx="2704" cy="1621"/>
          </a:xfrm>
        </p:grpSpPr>
        <p:grpSp>
          <p:nvGrpSpPr>
            <p:cNvPr id="17417" name="Group 137"/>
            <p:cNvGrpSpPr>
              <a:grpSpLocks/>
            </p:cNvGrpSpPr>
            <p:nvPr/>
          </p:nvGrpSpPr>
          <p:grpSpPr bwMode="auto">
            <a:xfrm>
              <a:off x="4513" y="1153"/>
              <a:ext cx="256" cy="250"/>
              <a:chOff x="2784" y="1344"/>
              <a:chExt cx="432" cy="433"/>
            </a:xfrm>
          </p:grpSpPr>
          <p:sp>
            <p:nvSpPr>
              <p:cNvPr id="14384" name="Oval 138"/>
              <p:cNvSpPr>
                <a:spLocks noChangeArrowheads="1"/>
              </p:cNvSpPr>
              <p:nvPr/>
            </p:nvSpPr>
            <p:spPr bwMode="auto">
              <a:xfrm>
                <a:off x="2784" y="1344"/>
                <a:ext cx="432"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85" name="Text Box 139"/>
              <p:cNvSpPr txBox="1">
                <a:spLocks noChangeArrowheads="1"/>
              </p:cNvSpPr>
              <p:nvPr/>
            </p:nvSpPr>
            <p:spPr bwMode="auto">
              <a:xfrm>
                <a:off x="2785" y="1344"/>
                <a:ext cx="431"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a:latin typeface="+mj-lt"/>
                </a:endParaRPr>
              </a:p>
            </p:txBody>
          </p:sp>
        </p:grpSp>
        <p:grpSp>
          <p:nvGrpSpPr>
            <p:cNvPr id="17418" name="Group 140"/>
            <p:cNvGrpSpPr>
              <a:grpSpLocks/>
            </p:cNvGrpSpPr>
            <p:nvPr/>
          </p:nvGrpSpPr>
          <p:grpSpPr bwMode="auto">
            <a:xfrm>
              <a:off x="5248" y="1584"/>
              <a:ext cx="256" cy="250"/>
              <a:chOff x="2784" y="1343"/>
              <a:chExt cx="432" cy="433"/>
            </a:xfrm>
          </p:grpSpPr>
          <p:sp>
            <p:nvSpPr>
              <p:cNvPr id="14382" name="Oval 141"/>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83" name="Text Box 142"/>
              <p:cNvSpPr txBox="1">
                <a:spLocks noChangeArrowheads="1"/>
              </p:cNvSpPr>
              <p:nvPr/>
            </p:nvSpPr>
            <p:spPr bwMode="auto">
              <a:xfrm>
                <a:off x="2784" y="1343"/>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7419" name="Group 143"/>
            <p:cNvGrpSpPr>
              <a:grpSpLocks/>
            </p:cNvGrpSpPr>
            <p:nvPr/>
          </p:nvGrpSpPr>
          <p:grpSpPr bwMode="auto">
            <a:xfrm>
              <a:off x="5568" y="2020"/>
              <a:ext cx="257" cy="250"/>
              <a:chOff x="2784" y="1343"/>
              <a:chExt cx="434" cy="433"/>
            </a:xfrm>
          </p:grpSpPr>
          <p:sp>
            <p:nvSpPr>
              <p:cNvPr id="14380" name="Oval 144"/>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81" name="Text Box 145"/>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4348" name="Line 146"/>
            <p:cNvSpPr>
              <a:spLocks noChangeShapeType="1"/>
            </p:cNvSpPr>
            <p:nvPr/>
          </p:nvSpPr>
          <p:spPr bwMode="auto">
            <a:xfrm>
              <a:off x="5440" y="1803"/>
              <a:ext cx="256" cy="2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21" name="Group 147"/>
            <p:cNvGrpSpPr>
              <a:grpSpLocks/>
            </p:cNvGrpSpPr>
            <p:nvPr/>
          </p:nvGrpSpPr>
          <p:grpSpPr bwMode="auto">
            <a:xfrm>
              <a:off x="4896" y="1998"/>
              <a:ext cx="257" cy="250"/>
              <a:chOff x="2784" y="1343"/>
              <a:chExt cx="434" cy="433"/>
            </a:xfrm>
          </p:grpSpPr>
          <p:sp>
            <p:nvSpPr>
              <p:cNvPr id="14378" name="Oval 148"/>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79" name="Text Box 149"/>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4350" name="Line 150"/>
            <p:cNvSpPr>
              <a:spLocks noChangeShapeType="1"/>
            </p:cNvSpPr>
            <p:nvPr/>
          </p:nvSpPr>
          <p:spPr bwMode="auto">
            <a:xfrm flipV="1">
              <a:off x="5088" y="1806"/>
              <a:ext cx="193"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23" name="Group 151"/>
            <p:cNvGrpSpPr>
              <a:grpSpLocks/>
            </p:cNvGrpSpPr>
            <p:nvPr/>
          </p:nvGrpSpPr>
          <p:grpSpPr bwMode="auto">
            <a:xfrm>
              <a:off x="4033" y="2018"/>
              <a:ext cx="256" cy="249"/>
              <a:chOff x="2786" y="1345"/>
              <a:chExt cx="432" cy="431"/>
            </a:xfrm>
          </p:grpSpPr>
          <p:sp>
            <p:nvSpPr>
              <p:cNvPr id="14376" name="Oval 152"/>
              <p:cNvSpPr>
                <a:spLocks noChangeArrowheads="1"/>
              </p:cNvSpPr>
              <p:nvPr/>
            </p:nvSpPr>
            <p:spPr bwMode="auto">
              <a:xfrm>
                <a:off x="2786"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77" name="Text Box 153"/>
              <p:cNvSpPr txBox="1">
                <a:spLocks noChangeArrowheads="1"/>
              </p:cNvSpPr>
              <p:nvPr/>
            </p:nvSpPr>
            <p:spPr bwMode="auto">
              <a:xfrm>
                <a:off x="2786" y="1345"/>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7424" name="Group 154"/>
            <p:cNvGrpSpPr>
              <a:grpSpLocks/>
            </p:cNvGrpSpPr>
            <p:nvPr/>
          </p:nvGrpSpPr>
          <p:grpSpPr bwMode="auto">
            <a:xfrm>
              <a:off x="3839" y="2526"/>
              <a:ext cx="258" cy="248"/>
              <a:chOff x="2784" y="1344"/>
              <a:chExt cx="436" cy="430"/>
            </a:xfrm>
          </p:grpSpPr>
          <p:sp>
            <p:nvSpPr>
              <p:cNvPr id="14374" name="Oval 155"/>
              <p:cNvSpPr>
                <a:spLocks noChangeArrowheads="1"/>
              </p:cNvSpPr>
              <p:nvPr/>
            </p:nvSpPr>
            <p:spPr bwMode="auto">
              <a:xfrm>
                <a:off x="2784" y="1344"/>
                <a:ext cx="436"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75" name="Text Box 156"/>
              <p:cNvSpPr txBox="1">
                <a:spLocks noChangeArrowheads="1"/>
              </p:cNvSpPr>
              <p:nvPr/>
            </p:nvSpPr>
            <p:spPr bwMode="auto">
              <a:xfrm>
                <a:off x="2785" y="1344"/>
                <a:ext cx="43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4353" name="Line 157"/>
            <p:cNvSpPr>
              <a:spLocks noChangeShapeType="1"/>
            </p:cNvSpPr>
            <p:nvPr/>
          </p:nvSpPr>
          <p:spPr bwMode="auto">
            <a:xfrm>
              <a:off x="3904" y="1803"/>
              <a:ext cx="256" cy="2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54" name="Line 158"/>
            <p:cNvSpPr>
              <a:spLocks noChangeShapeType="1"/>
            </p:cNvSpPr>
            <p:nvPr/>
          </p:nvSpPr>
          <p:spPr bwMode="auto">
            <a:xfrm flipH="1">
              <a:off x="3984" y="2286"/>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27" name="Group 159"/>
            <p:cNvGrpSpPr>
              <a:grpSpLocks/>
            </p:cNvGrpSpPr>
            <p:nvPr/>
          </p:nvGrpSpPr>
          <p:grpSpPr bwMode="auto">
            <a:xfrm>
              <a:off x="3360" y="1998"/>
              <a:ext cx="257" cy="250"/>
              <a:chOff x="2784" y="1343"/>
              <a:chExt cx="434" cy="433"/>
            </a:xfrm>
          </p:grpSpPr>
          <p:sp>
            <p:nvSpPr>
              <p:cNvPr id="14372" name="Oval 160"/>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73" name="Text Box 161"/>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4356" name="Line 162"/>
            <p:cNvSpPr>
              <a:spLocks noChangeShapeType="1"/>
            </p:cNvSpPr>
            <p:nvPr/>
          </p:nvSpPr>
          <p:spPr bwMode="auto">
            <a:xfrm flipV="1">
              <a:off x="3552" y="1806"/>
              <a:ext cx="193"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29" name="Group 163"/>
            <p:cNvGrpSpPr>
              <a:grpSpLocks/>
            </p:cNvGrpSpPr>
            <p:nvPr/>
          </p:nvGrpSpPr>
          <p:grpSpPr bwMode="auto">
            <a:xfrm>
              <a:off x="3121" y="2526"/>
              <a:ext cx="256" cy="248"/>
              <a:chOff x="2784" y="1344"/>
              <a:chExt cx="432" cy="430"/>
            </a:xfrm>
          </p:grpSpPr>
          <p:sp>
            <p:nvSpPr>
              <p:cNvPr id="14370" name="Oval 164"/>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71" name="Text Box 165"/>
              <p:cNvSpPr txBox="1">
                <a:spLocks noChangeArrowheads="1"/>
              </p:cNvSpPr>
              <p:nvPr/>
            </p:nvSpPr>
            <p:spPr bwMode="auto">
              <a:xfrm>
                <a:off x="2785" y="1344"/>
                <a:ext cx="431"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7430" name="Group 166"/>
            <p:cNvGrpSpPr>
              <a:grpSpLocks/>
            </p:cNvGrpSpPr>
            <p:nvPr/>
          </p:nvGrpSpPr>
          <p:grpSpPr bwMode="auto">
            <a:xfrm>
              <a:off x="3504" y="2526"/>
              <a:ext cx="257" cy="248"/>
              <a:chOff x="2784" y="1344"/>
              <a:chExt cx="434" cy="430"/>
            </a:xfrm>
          </p:grpSpPr>
          <p:sp>
            <p:nvSpPr>
              <p:cNvPr id="14368" name="Oval 167"/>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69" name="Text Box 168"/>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4359" name="Line 169"/>
            <p:cNvSpPr>
              <a:spLocks noChangeShapeType="1"/>
            </p:cNvSpPr>
            <p:nvPr/>
          </p:nvSpPr>
          <p:spPr bwMode="auto">
            <a:xfrm flipH="1">
              <a:off x="3312" y="2238"/>
              <a:ext cx="128"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60" name="Line 170"/>
            <p:cNvSpPr>
              <a:spLocks noChangeShapeType="1"/>
            </p:cNvSpPr>
            <p:nvPr/>
          </p:nvSpPr>
          <p:spPr bwMode="auto">
            <a:xfrm>
              <a:off x="3552" y="2238"/>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61" name="Line 171"/>
            <p:cNvSpPr>
              <a:spLocks noChangeShapeType="1"/>
            </p:cNvSpPr>
            <p:nvPr/>
          </p:nvSpPr>
          <p:spPr bwMode="auto">
            <a:xfrm flipV="1">
              <a:off x="3888" y="1392"/>
              <a:ext cx="67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62" name="Line 172"/>
            <p:cNvSpPr>
              <a:spLocks noChangeShapeType="1"/>
            </p:cNvSpPr>
            <p:nvPr/>
          </p:nvSpPr>
          <p:spPr bwMode="auto">
            <a:xfrm>
              <a:off x="4704" y="1392"/>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4363" name="Line 173"/>
            <p:cNvSpPr>
              <a:spLocks noChangeShapeType="1"/>
            </p:cNvSpPr>
            <p:nvPr/>
          </p:nvSpPr>
          <p:spPr bwMode="auto">
            <a:xfrm>
              <a:off x="4224" y="230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7436" name="Group 174"/>
            <p:cNvGrpSpPr>
              <a:grpSpLocks/>
            </p:cNvGrpSpPr>
            <p:nvPr/>
          </p:nvGrpSpPr>
          <p:grpSpPr bwMode="auto">
            <a:xfrm>
              <a:off x="3696" y="1584"/>
              <a:ext cx="256" cy="250"/>
              <a:chOff x="2784" y="1343"/>
              <a:chExt cx="432" cy="433"/>
            </a:xfrm>
          </p:grpSpPr>
          <p:sp>
            <p:nvSpPr>
              <p:cNvPr id="14366" name="Oval 175"/>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4367" name="Text Box 176"/>
              <p:cNvSpPr txBox="1">
                <a:spLocks noChangeArrowheads="1"/>
              </p:cNvSpPr>
              <p:nvPr/>
            </p:nvSpPr>
            <p:spPr bwMode="auto">
              <a:xfrm>
                <a:off x="2784" y="1343"/>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14</a:t>
                </a:r>
                <a:endParaRPr lang="th-TH" altLang="en-US">
                  <a:latin typeface="Calibri" charset="0"/>
                </a:endParaRPr>
              </a:p>
            </p:txBody>
          </p:sp>
        </p:grpSp>
        <p:sp>
          <p:nvSpPr>
            <p:cNvPr id="14365" name="Text Box 177"/>
            <p:cNvSpPr txBox="1">
              <a:spLocks noChangeArrowheads="1"/>
            </p:cNvSpPr>
            <p:nvPr/>
          </p:nvSpPr>
          <p:spPr bwMode="auto">
            <a:xfrm>
              <a:off x="4224" y="2544"/>
              <a:ext cx="28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spcBef>
                  <a:spcPct val="50000"/>
                </a:spcBef>
              </a:pPr>
              <a:r>
                <a:rPr lang="th-TH" altLang="en-US" sz="1200">
                  <a:latin typeface="Calibri" charset="0"/>
                </a:rPr>
                <a:t>31</a:t>
              </a:r>
              <a:endParaRPr lang="th-TH" altLang="en-US">
                <a:latin typeface="Calibri" charset="0"/>
              </a:endParaRPr>
            </a:p>
          </p:txBody>
        </p:sp>
      </p:gr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298F7A82-2799-4D46-B270-410DF5E97C52}" type="slidenum">
              <a:rPr lang="zh-TW" altLang="en-US" sz="1200">
                <a:solidFill>
                  <a:srgbClr val="898989"/>
                </a:solidFill>
                <a:latin typeface="Calibri" charset="0"/>
              </a:rPr>
              <a:pPr/>
              <a:t>17</a:t>
            </a:fld>
            <a:endParaRPr lang="en-US" altLang="zh-TW" sz="1200">
              <a:solidFill>
                <a:srgbClr val="898989"/>
              </a:solidFill>
              <a:latin typeface="Calibri" charset="0"/>
            </a:endParaRPr>
          </a:p>
        </p:txBody>
      </p:sp>
      <p:sp>
        <p:nvSpPr>
          <p:cNvPr id="4" name="Ellipse 3"/>
          <p:cNvSpPr/>
          <p:nvPr/>
        </p:nvSpPr>
        <p:spPr>
          <a:xfrm>
            <a:off x="6213475" y="6070600"/>
            <a:ext cx="496888" cy="449263"/>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Monotype Sorts" pitchFamily="2" charset="2"/>
              <a:buChar char="l"/>
              <a:defRPr/>
            </a:pPr>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03263" y="228600"/>
            <a:ext cx="7772400" cy="1143000"/>
          </a:xfrm>
        </p:spPr>
        <p:txBody>
          <a:bodyPr/>
          <a:lstStyle/>
          <a:p>
            <a:r>
              <a:rPr lang="th-TH" altLang="en-US" sz="4000" b="1">
                <a:solidFill>
                  <a:srgbClr val="000099"/>
                </a:solidFill>
              </a:rPr>
              <a:t>deleteMin</a:t>
            </a:r>
          </a:p>
        </p:txBody>
      </p:sp>
      <p:grpSp>
        <p:nvGrpSpPr>
          <p:cNvPr id="18435" name="Group 47"/>
          <p:cNvGrpSpPr>
            <a:grpSpLocks/>
          </p:cNvGrpSpPr>
          <p:nvPr/>
        </p:nvGrpSpPr>
        <p:grpSpPr bwMode="auto">
          <a:xfrm>
            <a:off x="-88653" y="1101772"/>
            <a:ext cx="4962278" cy="2680861"/>
            <a:chOff x="241" y="1105"/>
            <a:chExt cx="2704" cy="1640"/>
          </a:xfrm>
        </p:grpSpPr>
        <p:grpSp>
          <p:nvGrpSpPr>
            <p:cNvPr id="18482" name="Group 4"/>
            <p:cNvGrpSpPr>
              <a:grpSpLocks/>
            </p:cNvGrpSpPr>
            <p:nvPr/>
          </p:nvGrpSpPr>
          <p:grpSpPr bwMode="auto">
            <a:xfrm>
              <a:off x="1633" y="1105"/>
              <a:ext cx="256" cy="250"/>
              <a:chOff x="2784" y="1344"/>
              <a:chExt cx="432" cy="433"/>
            </a:xfrm>
          </p:grpSpPr>
          <p:sp>
            <p:nvSpPr>
              <p:cNvPr id="15451" name="Oval 5"/>
              <p:cNvSpPr>
                <a:spLocks noChangeArrowheads="1"/>
              </p:cNvSpPr>
              <p:nvPr/>
            </p:nvSpPr>
            <p:spPr bwMode="auto">
              <a:xfrm>
                <a:off x="2784" y="1344"/>
                <a:ext cx="432" cy="4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52" name="Text Box 6"/>
              <p:cNvSpPr txBox="1">
                <a:spLocks noChangeArrowheads="1"/>
              </p:cNvSpPr>
              <p:nvPr/>
            </p:nvSpPr>
            <p:spPr bwMode="auto">
              <a:xfrm>
                <a:off x="2785" y="1344"/>
                <a:ext cx="43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13</a:t>
                </a:r>
                <a:endParaRPr lang="th-TH" altLang="en-US" sz="2400">
                  <a:latin typeface="Calibri" charset="0"/>
                </a:endParaRPr>
              </a:p>
            </p:txBody>
          </p:sp>
        </p:grpSp>
        <p:grpSp>
          <p:nvGrpSpPr>
            <p:cNvPr id="18483" name="Group 7"/>
            <p:cNvGrpSpPr>
              <a:grpSpLocks/>
            </p:cNvGrpSpPr>
            <p:nvPr/>
          </p:nvGrpSpPr>
          <p:grpSpPr bwMode="auto">
            <a:xfrm>
              <a:off x="2368" y="1536"/>
              <a:ext cx="256" cy="250"/>
              <a:chOff x="2784" y="1343"/>
              <a:chExt cx="432" cy="433"/>
            </a:xfrm>
          </p:grpSpPr>
          <p:sp>
            <p:nvSpPr>
              <p:cNvPr id="15449" name="Oval 8"/>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50" name="Text Box 9"/>
              <p:cNvSpPr txBox="1">
                <a:spLocks noChangeArrowheads="1"/>
              </p:cNvSpPr>
              <p:nvPr/>
            </p:nvSpPr>
            <p:spPr bwMode="auto">
              <a:xfrm>
                <a:off x="2784" y="1343"/>
                <a:ext cx="43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16</a:t>
                </a:r>
                <a:endParaRPr lang="th-TH" altLang="en-US" sz="2400">
                  <a:latin typeface="Calibri" charset="0"/>
                </a:endParaRPr>
              </a:p>
            </p:txBody>
          </p:sp>
        </p:grpSp>
        <p:grpSp>
          <p:nvGrpSpPr>
            <p:cNvPr id="18484" name="Group 10"/>
            <p:cNvGrpSpPr>
              <a:grpSpLocks/>
            </p:cNvGrpSpPr>
            <p:nvPr/>
          </p:nvGrpSpPr>
          <p:grpSpPr bwMode="auto">
            <a:xfrm>
              <a:off x="2688" y="1972"/>
              <a:ext cx="257" cy="250"/>
              <a:chOff x="2784" y="1343"/>
              <a:chExt cx="434" cy="433"/>
            </a:xfrm>
          </p:grpSpPr>
          <p:sp>
            <p:nvSpPr>
              <p:cNvPr id="15447" name="Oval 11"/>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48" name="Text Box 12"/>
              <p:cNvSpPr txBox="1">
                <a:spLocks noChangeArrowheads="1"/>
              </p:cNvSpPr>
              <p:nvPr/>
            </p:nvSpPr>
            <p:spPr bwMode="auto">
              <a:xfrm>
                <a:off x="2784" y="1343"/>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68</a:t>
                </a:r>
                <a:endParaRPr lang="th-TH" altLang="en-US" sz="2400">
                  <a:latin typeface="Calibri" charset="0"/>
                </a:endParaRPr>
              </a:p>
            </p:txBody>
          </p:sp>
        </p:grpSp>
        <p:sp>
          <p:nvSpPr>
            <p:cNvPr id="15413" name="Line 13"/>
            <p:cNvSpPr>
              <a:spLocks noChangeShapeType="1"/>
            </p:cNvSpPr>
            <p:nvPr/>
          </p:nvSpPr>
          <p:spPr bwMode="auto">
            <a:xfrm>
              <a:off x="2560" y="1755"/>
              <a:ext cx="256" cy="2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8486" name="Group 14"/>
            <p:cNvGrpSpPr>
              <a:grpSpLocks/>
            </p:cNvGrpSpPr>
            <p:nvPr/>
          </p:nvGrpSpPr>
          <p:grpSpPr bwMode="auto">
            <a:xfrm>
              <a:off x="2016" y="1950"/>
              <a:ext cx="257" cy="250"/>
              <a:chOff x="2784" y="1343"/>
              <a:chExt cx="434" cy="433"/>
            </a:xfrm>
          </p:grpSpPr>
          <p:sp>
            <p:nvSpPr>
              <p:cNvPr id="15445" name="Oval 1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46" name="Text Box 16"/>
              <p:cNvSpPr txBox="1">
                <a:spLocks noChangeArrowheads="1"/>
              </p:cNvSpPr>
              <p:nvPr/>
            </p:nvSpPr>
            <p:spPr bwMode="auto">
              <a:xfrm>
                <a:off x="2784" y="1343"/>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19</a:t>
                </a:r>
                <a:endParaRPr lang="th-TH" altLang="en-US" sz="2400">
                  <a:latin typeface="Calibri" charset="0"/>
                </a:endParaRPr>
              </a:p>
            </p:txBody>
          </p:sp>
        </p:grpSp>
        <p:sp>
          <p:nvSpPr>
            <p:cNvPr id="15415" name="Line 17"/>
            <p:cNvSpPr>
              <a:spLocks noChangeShapeType="1"/>
            </p:cNvSpPr>
            <p:nvPr/>
          </p:nvSpPr>
          <p:spPr bwMode="auto">
            <a:xfrm flipV="1">
              <a:off x="2208" y="175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8488" name="Group 18"/>
            <p:cNvGrpSpPr>
              <a:grpSpLocks/>
            </p:cNvGrpSpPr>
            <p:nvPr/>
          </p:nvGrpSpPr>
          <p:grpSpPr bwMode="auto">
            <a:xfrm>
              <a:off x="1152" y="1970"/>
              <a:ext cx="256" cy="249"/>
              <a:chOff x="2784" y="1345"/>
              <a:chExt cx="432" cy="431"/>
            </a:xfrm>
          </p:grpSpPr>
          <p:sp>
            <p:nvSpPr>
              <p:cNvPr id="15443" name="Oval 19"/>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44" name="Text Box 20"/>
              <p:cNvSpPr txBox="1">
                <a:spLocks noChangeArrowheads="1"/>
              </p:cNvSpPr>
              <p:nvPr/>
            </p:nvSpPr>
            <p:spPr bwMode="auto">
              <a:xfrm>
                <a:off x="2784" y="1345"/>
                <a:ext cx="43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21</a:t>
                </a:r>
                <a:endParaRPr lang="th-TH" altLang="en-US" sz="2400">
                  <a:latin typeface="Calibri" charset="0"/>
                </a:endParaRPr>
              </a:p>
            </p:txBody>
          </p:sp>
        </p:grpSp>
        <p:grpSp>
          <p:nvGrpSpPr>
            <p:cNvPr id="18489" name="Group 21"/>
            <p:cNvGrpSpPr>
              <a:grpSpLocks/>
            </p:cNvGrpSpPr>
            <p:nvPr/>
          </p:nvGrpSpPr>
          <p:grpSpPr bwMode="auto">
            <a:xfrm>
              <a:off x="1392" y="2494"/>
              <a:ext cx="257" cy="251"/>
              <a:chOff x="2784" y="1341"/>
              <a:chExt cx="434" cy="435"/>
            </a:xfrm>
          </p:grpSpPr>
          <p:sp>
            <p:nvSpPr>
              <p:cNvPr id="15441" name="Oval 2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42" name="Text Box 23"/>
              <p:cNvSpPr txBox="1">
                <a:spLocks noChangeArrowheads="1"/>
              </p:cNvSpPr>
              <p:nvPr/>
            </p:nvSpPr>
            <p:spPr bwMode="auto">
              <a:xfrm>
                <a:off x="2784" y="1341"/>
                <a:ext cx="4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31</a:t>
                </a:r>
                <a:endParaRPr lang="th-TH" altLang="en-US" sz="2400">
                  <a:latin typeface="Calibri" charset="0"/>
                </a:endParaRPr>
              </a:p>
            </p:txBody>
          </p:sp>
        </p:grpSp>
        <p:grpSp>
          <p:nvGrpSpPr>
            <p:cNvPr id="18490" name="Group 24"/>
            <p:cNvGrpSpPr>
              <a:grpSpLocks/>
            </p:cNvGrpSpPr>
            <p:nvPr/>
          </p:nvGrpSpPr>
          <p:grpSpPr bwMode="auto">
            <a:xfrm>
              <a:off x="961" y="2478"/>
              <a:ext cx="256" cy="248"/>
              <a:chOff x="2784" y="1344"/>
              <a:chExt cx="432" cy="430"/>
            </a:xfrm>
          </p:grpSpPr>
          <p:sp>
            <p:nvSpPr>
              <p:cNvPr id="15439" name="Oval 25"/>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40" name="Text Box 26"/>
              <p:cNvSpPr txBox="1">
                <a:spLocks noChangeArrowheads="1"/>
              </p:cNvSpPr>
              <p:nvPr/>
            </p:nvSpPr>
            <p:spPr bwMode="auto">
              <a:xfrm>
                <a:off x="2785" y="1344"/>
                <a:ext cx="43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32</a:t>
                </a:r>
                <a:endParaRPr lang="th-TH" altLang="en-US" sz="2400">
                  <a:latin typeface="Calibri" charset="0"/>
                </a:endParaRPr>
              </a:p>
            </p:txBody>
          </p:sp>
        </p:grpSp>
        <p:sp>
          <p:nvSpPr>
            <p:cNvPr id="15419" name="Line 27"/>
            <p:cNvSpPr>
              <a:spLocks noChangeShapeType="1"/>
            </p:cNvSpPr>
            <p:nvPr/>
          </p:nvSpPr>
          <p:spPr bwMode="auto">
            <a:xfrm>
              <a:off x="1024" y="1755"/>
              <a:ext cx="256" cy="2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5420" name="Line 28"/>
            <p:cNvSpPr>
              <a:spLocks noChangeShapeType="1"/>
            </p:cNvSpPr>
            <p:nvPr/>
          </p:nvSpPr>
          <p:spPr bwMode="auto">
            <a:xfrm flipH="1">
              <a:off x="1104" y="223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8493" name="Group 29"/>
            <p:cNvGrpSpPr>
              <a:grpSpLocks/>
            </p:cNvGrpSpPr>
            <p:nvPr/>
          </p:nvGrpSpPr>
          <p:grpSpPr bwMode="auto">
            <a:xfrm>
              <a:off x="476" y="1950"/>
              <a:ext cx="259" cy="250"/>
              <a:chOff x="2782" y="1343"/>
              <a:chExt cx="438" cy="433"/>
            </a:xfrm>
          </p:grpSpPr>
          <p:sp>
            <p:nvSpPr>
              <p:cNvPr id="15437" name="Oval 30"/>
              <p:cNvSpPr>
                <a:spLocks noChangeArrowheads="1"/>
              </p:cNvSpPr>
              <p:nvPr/>
            </p:nvSpPr>
            <p:spPr bwMode="auto">
              <a:xfrm>
                <a:off x="2782" y="1344"/>
                <a:ext cx="435"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38" name="Text Box 31"/>
              <p:cNvSpPr txBox="1">
                <a:spLocks noChangeArrowheads="1"/>
              </p:cNvSpPr>
              <p:nvPr/>
            </p:nvSpPr>
            <p:spPr bwMode="auto">
              <a:xfrm>
                <a:off x="2782" y="1343"/>
                <a:ext cx="43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19</a:t>
                </a:r>
                <a:endParaRPr lang="th-TH" altLang="en-US" sz="2400">
                  <a:latin typeface="Calibri" charset="0"/>
                </a:endParaRPr>
              </a:p>
            </p:txBody>
          </p:sp>
        </p:grpSp>
        <p:sp>
          <p:nvSpPr>
            <p:cNvPr id="15422" name="Line 32"/>
            <p:cNvSpPr>
              <a:spLocks noChangeShapeType="1"/>
            </p:cNvSpPr>
            <p:nvPr/>
          </p:nvSpPr>
          <p:spPr bwMode="auto">
            <a:xfrm flipV="1">
              <a:off x="672" y="175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8495" name="Group 33"/>
            <p:cNvGrpSpPr>
              <a:grpSpLocks/>
            </p:cNvGrpSpPr>
            <p:nvPr/>
          </p:nvGrpSpPr>
          <p:grpSpPr bwMode="auto">
            <a:xfrm>
              <a:off x="241" y="2478"/>
              <a:ext cx="256" cy="248"/>
              <a:chOff x="2784" y="1344"/>
              <a:chExt cx="432" cy="430"/>
            </a:xfrm>
          </p:grpSpPr>
          <p:sp>
            <p:nvSpPr>
              <p:cNvPr id="15435" name="Oval 34"/>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36" name="Text Box 35"/>
              <p:cNvSpPr txBox="1">
                <a:spLocks noChangeArrowheads="1"/>
              </p:cNvSpPr>
              <p:nvPr/>
            </p:nvSpPr>
            <p:spPr bwMode="auto">
              <a:xfrm>
                <a:off x="2785" y="1344"/>
                <a:ext cx="43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65</a:t>
                </a:r>
                <a:endParaRPr lang="th-TH" altLang="en-US" sz="2400">
                  <a:latin typeface="Calibri" charset="0"/>
                </a:endParaRPr>
              </a:p>
            </p:txBody>
          </p:sp>
        </p:grpSp>
        <p:grpSp>
          <p:nvGrpSpPr>
            <p:cNvPr id="18496" name="Group 36"/>
            <p:cNvGrpSpPr>
              <a:grpSpLocks/>
            </p:cNvGrpSpPr>
            <p:nvPr/>
          </p:nvGrpSpPr>
          <p:grpSpPr bwMode="auto">
            <a:xfrm>
              <a:off x="624" y="2478"/>
              <a:ext cx="257" cy="248"/>
              <a:chOff x="2784" y="1344"/>
              <a:chExt cx="434" cy="430"/>
            </a:xfrm>
          </p:grpSpPr>
          <p:sp>
            <p:nvSpPr>
              <p:cNvPr id="15433" name="Oval 37"/>
              <p:cNvSpPr>
                <a:spLocks noChangeArrowheads="1"/>
              </p:cNvSpPr>
              <p:nvPr/>
            </p:nvSpPr>
            <p:spPr bwMode="auto">
              <a:xfrm>
                <a:off x="2784" y="1344"/>
                <a:ext cx="432" cy="43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34" name="Text Box 38"/>
              <p:cNvSpPr txBox="1">
                <a:spLocks noChangeArrowheads="1"/>
              </p:cNvSpPr>
              <p:nvPr/>
            </p:nvSpPr>
            <p:spPr bwMode="auto">
              <a:xfrm>
                <a:off x="2786" y="1344"/>
                <a:ext cx="43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26</a:t>
                </a:r>
                <a:endParaRPr lang="th-TH" altLang="en-US" sz="2400">
                  <a:latin typeface="Calibri" charset="0"/>
                </a:endParaRPr>
              </a:p>
            </p:txBody>
          </p:sp>
        </p:grpSp>
        <p:sp>
          <p:nvSpPr>
            <p:cNvPr id="15425" name="Line 39"/>
            <p:cNvSpPr>
              <a:spLocks noChangeShapeType="1"/>
            </p:cNvSpPr>
            <p:nvPr/>
          </p:nvSpPr>
          <p:spPr bwMode="auto">
            <a:xfrm flipH="1">
              <a:off x="432" y="2190"/>
              <a:ext cx="128"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5426" name="Line 40"/>
            <p:cNvSpPr>
              <a:spLocks noChangeShapeType="1"/>
            </p:cNvSpPr>
            <p:nvPr/>
          </p:nvSpPr>
          <p:spPr bwMode="auto">
            <a:xfrm>
              <a:off x="672" y="2190"/>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5427" name="Line 41"/>
            <p:cNvSpPr>
              <a:spLocks noChangeShapeType="1"/>
            </p:cNvSpPr>
            <p:nvPr/>
          </p:nvSpPr>
          <p:spPr bwMode="auto">
            <a:xfrm flipV="1">
              <a:off x="1008" y="1344"/>
              <a:ext cx="67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5428" name="Line 42"/>
            <p:cNvSpPr>
              <a:spLocks noChangeShapeType="1"/>
            </p:cNvSpPr>
            <p:nvPr/>
          </p:nvSpPr>
          <p:spPr bwMode="auto">
            <a:xfrm>
              <a:off x="1824" y="134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sp>
          <p:nvSpPr>
            <p:cNvPr id="15429" name="Line 43"/>
            <p:cNvSpPr>
              <a:spLocks noChangeShapeType="1"/>
            </p:cNvSpPr>
            <p:nvPr/>
          </p:nvSpPr>
          <p:spPr bwMode="auto">
            <a:xfrm>
              <a:off x="1344" y="2256"/>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800">
                <a:latin typeface="+mj-lt"/>
              </a:endParaRPr>
            </a:p>
          </p:txBody>
        </p:sp>
        <p:grpSp>
          <p:nvGrpSpPr>
            <p:cNvPr id="18502" name="Group 44"/>
            <p:cNvGrpSpPr>
              <a:grpSpLocks/>
            </p:cNvGrpSpPr>
            <p:nvPr/>
          </p:nvGrpSpPr>
          <p:grpSpPr bwMode="auto">
            <a:xfrm>
              <a:off x="816" y="1536"/>
              <a:ext cx="256" cy="250"/>
              <a:chOff x="2784" y="1343"/>
              <a:chExt cx="432" cy="433"/>
            </a:xfrm>
          </p:grpSpPr>
          <p:sp>
            <p:nvSpPr>
              <p:cNvPr id="15431" name="Oval 45"/>
              <p:cNvSpPr>
                <a:spLocks noChangeArrowheads="1"/>
              </p:cNvSpPr>
              <p:nvPr/>
            </p:nvSpPr>
            <p:spPr bwMode="auto">
              <a:xfrm>
                <a:off x="2784" y="1345"/>
                <a:ext cx="432"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800">
                  <a:latin typeface="+mj-lt"/>
                </a:endParaRPr>
              </a:p>
            </p:txBody>
          </p:sp>
          <p:sp>
            <p:nvSpPr>
              <p:cNvPr id="15432" name="Text Box 46"/>
              <p:cNvSpPr txBox="1">
                <a:spLocks noChangeArrowheads="1"/>
              </p:cNvSpPr>
              <p:nvPr/>
            </p:nvSpPr>
            <p:spPr bwMode="auto">
              <a:xfrm>
                <a:off x="2784" y="1343"/>
                <a:ext cx="43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Calibri" charset="0"/>
                  </a:rPr>
                  <a:t>14</a:t>
                </a:r>
                <a:endParaRPr lang="th-TH" altLang="en-US" sz="2400">
                  <a:latin typeface="Calibri" charset="0"/>
                </a:endParaRPr>
              </a:p>
            </p:txBody>
          </p:sp>
        </p:grpSp>
      </p:grpSp>
      <p:grpSp>
        <p:nvGrpSpPr>
          <p:cNvPr id="18436" name="Group 94"/>
          <p:cNvGrpSpPr>
            <a:grpSpLocks/>
          </p:cNvGrpSpPr>
          <p:nvPr/>
        </p:nvGrpSpPr>
        <p:grpSpPr bwMode="auto">
          <a:xfrm>
            <a:off x="4267200" y="1749425"/>
            <a:ext cx="4875213" cy="2730633"/>
            <a:chOff x="3120" y="1151"/>
            <a:chExt cx="2705" cy="1624"/>
          </a:xfrm>
        </p:grpSpPr>
        <p:grpSp>
          <p:nvGrpSpPr>
            <p:cNvPr id="18441" name="Group 49"/>
            <p:cNvGrpSpPr>
              <a:grpSpLocks/>
            </p:cNvGrpSpPr>
            <p:nvPr/>
          </p:nvGrpSpPr>
          <p:grpSpPr bwMode="auto">
            <a:xfrm>
              <a:off x="4510" y="1151"/>
              <a:ext cx="258" cy="248"/>
              <a:chOff x="2782" y="1344"/>
              <a:chExt cx="436" cy="431"/>
            </a:xfrm>
          </p:grpSpPr>
          <p:sp>
            <p:nvSpPr>
              <p:cNvPr id="15408" name="Oval 50"/>
              <p:cNvSpPr>
                <a:spLocks noChangeArrowheads="1"/>
              </p:cNvSpPr>
              <p:nvPr/>
            </p:nvSpPr>
            <p:spPr bwMode="auto">
              <a:xfrm>
                <a:off x="2782" y="1344"/>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409" name="Text Box 51"/>
              <p:cNvSpPr txBox="1">
                <a:spLocks noChangeArrowheads="1"/>
              </p:cNvSpPr>
              <p:nvPr/>
            </p:nvSpPr>
            <p:spPr bwMode="auto">
              <a:xfrm>
                <a:off x="2785" y="1344"/>
                <a:ext cx="433"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spcBef>
                    <a:spcPct val="50000"/>
                  </a:spcBef>
                  <a:buFont typeface="Monotype Sorts" pitchFamily="2" charset="2"/>
                  <a:buChar char="l"/>
                  <a:defRPr/>
                </a:pPr>
                <a:endParaRPr lang="th-TH" sz="2000">
                  <a:latin typeface="+mj-lt"/>
                </a:endParaRPr>
              </a:p>
            </p:txBody>
          </p:sp>
        </p:grpSp>
        <p:grpSp>
          <p:nvGrpSpPr>
            <p:cNvPr id="18442" name="Group 52"/>
            <p:cNvGrpSpPr>
              <a:grpSpLocks/>
            </p:cNvGrpSpPr>
            <p:nvPr/>
          </p:nvGrpSpPr>
          <p:grpSpPr bwMode="auto">
            <a:xfrm>
              <a:off x="5247" y="1586"/>
              <a:ext cx="257" cy="249"/>
              <a:chOff x="2784" y="1345"/>
              <a:chExt cx="434" cy="431"/>
            </a:xfrm>
          </p:grpSpPr>
          <p:sp>
            <p:nvSpPr>
              <p:cNvPr id="15406" name="Oval 53"/>
              <p:cNvSpPr>
                <a:spLocks noChangeArrowheads="1"/>
              </p:cNvSpPr>
              <p:nvPr/>
            </p:nvSpPr>
            <p:spPr bwMode="auto">
              <a:xfrm>
                <a:off x="2784" y="1345"/>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407" name="Text Box 54"/>
              <p:cNvSpPr txBox="1">
                <a:spLocks noChangeArrowheads="1"/>
              </p:cNvSpPr>
              <p:nvPr/>
            </p:nvSpPr>
            <p:spPr bwMode="auto">
              <a:xfrm>
                <a:off x="2784" y="1345"/>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16</a:t>
                </a:r>
                <a:endParaRPr lang="th-TH" altLang="en-US">
                  <a:latin typeface="Calibri" charset="0"/>
                </a:endParaRPr>
              </a:p>
            </p:txBody>
          </p:sp>
        </p:grpSp>
        <p:grpSp>
          <p:nvGrpSpPr>
            <p:cNvPr id="18443" name="Group 55"/>
            <p:cNvGrpSpPr>
              <a:grpSpLocks/>
            </p:cNvGrpSpPr>
            <p:nvPr/>
          </p:nvGrpSpPr>
          <p:grpSpPr bwMode="auto">
            <a:xfrm>
              <a:off x="5568" y="2020"/>
              <a:ext cx="257" cy="251"/>
              <a:chOff x="2784" y="1341"/>
              <a:chExt cx="434" cy="434"/>
            </a:xfrm>
          </p:grpSpPr>
          <p:sp>
            <p:nvSpPr>
              <p:cNvPr id="15404" name="Oval 56"/>
              <p:cNvSpPr>
                <a:spLocks noChangeArrowheads="1"/>
              </p:cNvSpPr>
              <p:nvPr/>
            </p:nvSpPr>
            <p:spPr bwMode="auto">
              <a:xfrm>
                <a:off x="2784" y="1344"/>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405" name="Text Box 57"/>
              <p:cNvSpPr txBox="1">
                <a:spLocks noChangeArrowheads="1"/>
              </p:cNvSpPr>
              <p:nvPr/>
            </p:nvSpPr>
            <p:spPr bwMode="auto">
              <a:xfrm>
                <a:off x="2784" y="1341"/>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68</a:t>
                </a:r>
                <a:endParaRPr lang="th-TH" altLang="en-US">
                  <a:latin typeface="Calibri" charset="0"/>
                </a:endParaRPr>
              </a:p>
            </p:txBody>
          </p:sp>
        </p:grpSp>
        <p:sp>
          <p:nvSpPr>
            <p:cNvPr id="15372" name="Line 58"/>
            <p:cNvSpPr>
              <a:spLocks noChangeShapeType="1"/>
            </p:cNvSpPr>
            <p:nvPr/>
          </p:nvSpPr>
          <p:spPr bwMode="auto">
            <a:xfrm>
              <a:off x="5440" y="1803"/>
              <a:ext cx="256" cy="2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8445" name="Group 59"/>
            <p:cNvGrpSpPr>
              <a:grpSpLocks/>
            </p:cNvGrpSpPr>
            <p:nvPr/>
          </p:nvGrpSpPr>
          <p:grpSpPr bwMode="auto">
            <a:xfrm>
              <a:off x="4896" y="2000"/>
              <a:ext cx="257" cy="250"/>
              <a:chOff x="2784" y="1343"/>
              <a:chExt cx="434" cy="432"/>
            </a:xfrm>
          </p:grpSpPr>
          <p:sp>
            <p:nvSpPr>
              <p:cNvPr id="15402" name="Oval 60"/>
              <p:cNvSpPr>
                <a:spLocks noChangeArrowheads="1"/>
              </p:cNvSpPr>
              <p:nvPr/>
            </p:nvSpPr>
            <p:spPr bwMode="auto">
              <a:xfrm>
                <a:off x="2784" y="1344"/>
                <a:ext cx="433"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403" name="Text Box 61"/>
              <p:cNvSpPr txBox="1">
                <a:spLocks noChangeArrowheads="1"/>
              </p:cNvSpPr>
              <p:nvPr/>
            </p:nvSpPr>
            <p:spPr bwMode="auto">
              <a:xfrm>
                <a:off x="2784" y="1343"/>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5374" name="Line 62"/>
            <p:cNvSpPr>
              <a:spLocks noChangeShapeType="1"/>
            </p:cNvSpPr>
            <p:nvPr/>
          </p:nvSpPr>
          <p:spPr bwMode="auto">
            <a:xfrm flipV="1">
              <a:off x="5088" y="180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8447" name="Group 63"/>
            <p:cNvGrpSpPr>
              <a:grpSpLocks/>
            </p:cNvGrpSpPr>
            <p:nvPr/>
          </p:nvGrpSpPr>
          <p:grpSpPr bwMode="auto">
            <a:xfrm>
              <a:off x="4030" y="2018"/>
              <a:ext cx="257" cy="250"/>
              <a:chOff x="2782" y="1343"/>
              <a:chExt cx="434" cy="432"/>
            </a:xfrm>
          </p:grpSpPr>
          <p:sp>
            <p:nvSpPr>
              <p:cNvPr id="15400" name="Oval 64"/>
              <p:cNvSpPr>
                <a:spLocks noChangeArrowheads="1"/>
              </p:cNvSpPr>
              <p:nvPr/>
            </p:nvSpPr>
            <p:spPr bwMode="auto">
              <a:xfrm>
                <a:off x="2782" y="1344"/>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401" name="Text Box 65"/>
              <p:cNvSpPr txBox="1">
                <a:spLocks noChangeArrowheads="1"/>
              </p:cNvSpPr>
              <p:nvPr/>
            </p:nvSpPr>
            <p:spPr bwMode="auto">
              <a:xfrm>
                <a:off x="2782" y="1343"/>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21</a:t>
                </a:r>
                <a:endParaRPr lang="th-TH" altLang="en-US">
                  <a:latin typeface="Calibri" charset="0"/>
                </a:endParaRPr>
              </a:p>
            </p:txBody>
          </p:sp>
        </p:grpSp>
        <p:grpSp>
          <p:nvGrpSpPr>
            <p:cNvPr id="18448" name="Group 69"/>
            <p:cNvGrpSpPr>
              <a:grpSpLocks/>
            </p:cNvGrpSpPr>
            <p:nvPr/>
          </p:nvGrpSpPr>
          <p:grpSpPr bwMode="auto">
            <a:xfrm>
              <a:off x="3838" y="2525"/>
              <a:ext cx="258" cy="250"/>
              <a:chOff x="2782" y="1342"/>
              <a:chExt cx="436" cy="434"/>
            </a:xfrm>
          </p:grpSpPr>
          <p:sp>
            <p:nvSpPr>
              <p:cNvPr id="15398" name="Oval 70"/>
              <p:cNvSpPr>
                <a:spLocks noChangeArrowheads="1"/>
              </p:cNvSpPr>
              <p:nvPr/>
            </p:nvSpPr>
            <p:spPr bwMode="auto">
              <a:xfrm>
                <a:off x="2782" y="1342"/>
                <a:ext cx="434"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399" name="Text Box 71"/>
              <p:cNvSpPr txBox="1">
                <a:spLocks noChangeArrowheads="1"/>
              </p:cNvSpPr>
              <p:nvPr/>
            </p:nvSpPr>
            <p:spPr bwMode="auto">
              <a:xfrm>
                <a:off x="2785" y="1342"/>
                <a:ext cx="43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32</a:t>
                </a:r>
                <a:endParaRPr lang="th-TH" altLang="en-US">
                  <a:latin typeface="Calibri" charset="0"/>
                </a:endParaRPr>
              </a:p>
            </p:txBody>
          </p:sp>
        </p:grpSp>
        <p:sp>
          <p:nvSpPr>
            <p:cNvPr id="15377" name="Line 72"/>
            <p:cNvSpPr>
              <a:spLocks noChangeShapeType="1"/>
            </p:cNvSpPr>
            <p:nvPr/>
          </p:nvSpPr>
          <p:spPr bwMode="auto">
            <a:xfrm>
              <a:off x="3904" y="1803"/>
              <a:ext cx="256" cy="2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5378" name="Line 73"/>
            <p:cNvSpPr>
              <a:spLocks noChangeShapeType="1"/>
            </p:cNvSpPr>
            <p:nvPr/>
          </p:nvSpPr>
          <p:spPr bwMode="auto">
            <a:xfrm flipH="1">
              <a:off x="3984" y="2286"/>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8451" name="Group 74"/>
            <p:cNvGrpSpPr>
              <a:grpSpLocks/>
            </p:cNvGrpSpPr>
            <p:nvPr/>
          </p:nvGrpSpPr>
          <p:grpSpPr bwMode="auto">
            <a:xfrm>
              <a:off x="3359" y="2000"/>
              <a:ext cx="257" cy="250"/>
              <a:chOff x="2782" y="1343"/>
              <a:chExt cx="434" cy="432"/>
            </a:xfrm>
          </p:grpSpPr>
          <p:sp>
            <p:nvSpPr>
              <p:cNvPr id="15396" name="Oval 75"/>
              <p:cNvSpPr>
                <a:spLocks noChangeArrowheads="1"/>
              </p:cNvSpPr>
              <p:nvPr/>
            </p:nvSpPr>
            <p:spPr bwMode="auto">
              <a:xfrm>
                <a:off x="2782" y="1344"/>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397" name="Text Box 76"/>
              <p:cNvSpPr txBox="1">
                <a:spLocks noChangeArrowheads="1"/>
              </p:cNvSpPr>
              <p:nvPr/>
            </p:nvSpPr>
            <p:spPr bwMode="auto">
              <a:xfrm>
                <a:off x="2782" y="1343"/>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19</a:t>
                </a:r>
                <a:endParaRPr lang="th-TH" altLang="en-US">
                  <a:latin typeface="Calibri" charset="0"/>
                </a:endParaRPr>
              </a:p>
            </p:txBody>
          </p:sp>
        </p:grpSp>
        <p:sp>
          <p:nvSpPr>
            <p:cNvPr id="15380" name="Line 77"/>
            <p:cNvSpPr>
              <a:spLocks noChangeShapeType="1"/>
            </p:cNvSpPr>
            <p:nvPr/>
          </p:nvSpPr>
          <p:spPr bwMode="auto">
            <a:xfrm flipV="1">
              <a:off x="3552" y="180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8453" name="Group 78"/>
            <p:cNvGrpSpPr>
              <a:grpSpLocks/>
            </p:cNvGrpSpPr>
            <p:nvPr/>
          </p:nvGrpSpPr>
          <p:grpSpPr bwMode="auto">
            <a:xfrm>
              <a:off x="3120" y="2525"/>
              <a:ext cx="257" cy="250"/>
              <a:chOff x="2784" y="1342"/>
              <a:chExt cx="434" cy="434"/>
            </a:xfrm>
          </p:grpSpPr>
          <p:sp>
            <p:nvSpPr>
              <p:cNvPr id="15394" name="Oval 79"/>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395" name="Text Box 80"/>
              <p:cNvSpPr txBox="1">
                <a:spLocks noChangeArrowheads="1"/>
              </p:cNvSpPr>
              <p:nvPr/>
            </p:nvSpPr>
            <p:spPr bwMode="auto">
              <a:xfrm>
                <a:off x="2785" y="1342"/>
                <a:ext cx="43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65</a:t>
                </a:r>
                <a:endParaRPr lang="th-TH" altLang="en-US">
                  <a:latin typeface="Calibri" charset="0"/>
                </a:endParaRPr>
              </a:p>
            </p:txBody>
          </p:sp>
        </p:grpSp>
        <p:grpSp>
          <p:nvGrpSpPr>
            <p:cNvPr id="18454" name="Group 81"/>
            <p:cNvGrpSpPr>
              <a:grpSpLocks/>
            </p:cNvGrpSpPr>
            <p:nvPr/>
          </p:nvGrpSpPr>
          <p:grpSpPr bwMode="auto">
            <a:xfrm>
              <a:off x="3503" y="2525"/>
              <a:ext cx="258" cy="250"/>
              <a:chOff x="2784" y="1342"/>
              <a:chExt cx="436" cy="434"/>
            </a:xfrm>
          </p:grpSpPr>
          <p:sp>
            <p:nvSpPr>
              <p:cNvPr id="15392" name="Oval 82"/>
              <p:cNvSpPr>
                <a:spLocks noChangeArrowheads="1"/>
              </p:cNvSpPr>
              <p:nvPr/>
            </p:nvSpPr>
            <p:spPr bwMode="auto">
              <a:xfrm>
                <a:off x="2784" y="1342"/>
                <a:ext cx="433" cy="4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393" name="Text Box 83"/>
              <p:cNvSpPr txBox="1">
                <a:spLocks noChangeArrowheads="1"/>
              </p:cNvSpPr>
              <p:nvPr/>
            </p:nvSpPr>
            <p:spPr bwMode="auto">
              <a:xfrm>
                <a:off x="2786" y="1342"/>
                <a:ext cx="4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26</a:t>
                </a:r>
                <a:endParaRPr lang="th-TH" altLang="en-US">
                  <a:latin typeface="Calibri" charset="0"/>
                </a:endParaRPr>
              </a:p>
            </p:txBody>
          </p:sp>
        </p:grpSp>
        <p:sp>
          <p:nvSpPr>
            <p:cNvPr id="15383" name="Line 84"/>
            <p:cNvSpPr>
              <a:spLocks noChangeShapeType="1"/>
            </p:cNvSpPr>
            <p:nvPr/>
          </p:nvSpPr>
          <p:spPr bwMode="auto">
            <a:xfrm flipH="1">
              <a:off x="3312" y="223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5384" name="Line 85"/>
            <p:cNvSpPr>
              <a:spLocks noChangeShapeType="1"/>
            </p:cNvSpPr>
            <p:nvPr/>
          </p:nvSpPr>
          <p:spPr bwMode="auto">
            <a:xfrm>
              <a:off x="3552" y="2238"/>
              <a:ext cx="96" cy="2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5385" name="Line 86"/>
            <p:cNvSpPr>
              <a:spLocks noChangeShapeType="1"/>
            </p:cNvSpPr>
            <p:nvPr/>
          </p:nvSpPr>
          <p:spPr bwMode="auto">
            <a:xfrm flipV="1">
              <a:off x="3888" y="1392"/>
              <a:ext cx="672" cy="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5386" name="Line 87"/>
            <p:cNvSpPr>
              <a:spLocks noChangeShapeType="1"/>
            </p:cNvSpPr>
            <p:nvPr/>
          </p:nvSpPr>
          <p:spPr bwMode="auto">
            <a:xfrm>
              <a:off x="4704" y="1392"/>
              <a:ext cx="625" cy="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sp>
          <p:nvSpPr>
            <p:cNvPr id="15387" name="Line 88"/>
            <p:cNvSpPr>
              <a:spLocks noChangeShapeType="1"/>
            </p:cNvSpPr>
            <p:nvPr/>
          </p:nvSpPr>
          <p:spPr bwMode="auto">
            <a:xfrm>
              <a:off x="4224" y="230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buFont typeface="Monotype Sorts" pitchFamily="2" charset="2"/>
                <a:buChar char="l"/>
                <a:defRPr/>
              </a:pPr>
              <a:endParaRPr lang="fr-FR" sz="1600">
                <a:latin typeface="+mj-lt"/>
              </a:endParaRPr>
            </a:p>
          </p:txBody>
        </p:sp>
        <p:grpSp>
          <p:nvGrpSpPr>
            <p:cNvPr id="18460" name="Group 89"/>
            <p:cNvGrpSpPr>
              <a:grpSpLocks/>
            </p:cNvGrpSpPr>
            <p:nvPr/>
          </p:nvGrpSpPr>
          <p:grpSpPr bwMode="auto">
            <a:xfrm>
              <a:off x="3695" y="1586"/>
              <a:ext cx="257" cy="249"/>
              <a:chOff x="2784" y="1345"/>
              <a:chExt cx="434" cy="431"/>
            </a:xfrm>
          </p:grpSpPr>
          <p:sp>
            <p:nvSpPr>
              <p:cNvPr id="15390" name="Oval 90"/>
              <p:cNvSpPr>
                <a:spLocks noChangeArrowheads="1"/>
              </p:cNvSpPr>
              <p:nvPr/>
            </p:nvSpPr>
            <p:spPr bwMode="auto">
              <a:xfrm>
                <a:off x="2784" y="1345"/>
                <a:ext cx="434" cy="43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buFont typeface="Monotype Sorts" pitchFamily="2" charset="2"/>
                  <a:buChar char="l"/>
                  <a:defRPr/>
                </a:pPr>
                <a:endParaRPr lang="tr-TR" sz="1600">
                  <a:latin typeface="+mj-lt"/>
                </a:endParaRPr>
              </a:p>
            </p:txBody>
          </p:sp>
          <p:sp>
            <p:nvSpPr>
              <p:cNvPr id="15391" name="Text Box 91"/>
              <p:cNvSpPr txBox="1">
                <a:spLocks noChangeArrowheads="1"/>
              </p:cNvSpPr>
              <p:nvPr/>
            </p:nvSpPr>
            <p:spPr bwMode="auto">
              <a:xfrm>
                <a:off x="2784" y="1345"/>
                <a:ext cx="4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Calibri" charset="0"/>
                  </a:rPr>
                  <a:t>14</a:t>
                </a:r>
                <a:endParaRPr lang="th-TH" altLang="en-US">
                  <a:latin typeface="Calibri" charset="0"/>
                </a:endParaRPr>
              </a:p>
            </p:txBody>
          </p:sp>
        </p:grpSp>
        <p:sp>
          <p:nvSpPr>
            <p:cNvPr id="15389" name="Text Box 92"/>
            <p:cNvSpPr txBox="1">
              <a:spLocks noChangeArrowheads="1"/>
            </p:cNvSpPr>
            <p:nvPr/>
          </p:nvSpPr>
          <p:spPr bwMode="auto">
            <a:xfrm>
              <a:off x="4224" y="2544"/>
              <a:ext cx="2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spcBef>
                  <a:spcPct val="50000"/>
                </a:spcBef>
              </a:pPr>
              <a:r>
                <a:rPr lang="th-TH" altLang="en-US" sz="1200">
                  <a:latin typeface="Calibri" charset="0"/>
                </a:rPr>
                <a:t>31</a:t>
              </a:r>
              <a:endParaRPr lang="th-TH" altLang="en-US">
                <a:latin typeface="Calibri" charset="0"/>
              </a:endParaRPr>
            </a:p>
          </p:txBody>
        </p:sp>
      </p:grpSp>
      <p:sp>
        <p:nvSpPr>
          <p:cNvPr id="15367" name="Text Box 93"/>
          <p:cNvSpPr txBox="1">
            <a:spLocks noChangeArrowheads="1"/>
          </p:cNvSpPr>
          <p:nvPr/>
        </p:nvSpPr>
        <p:spPr bwMode="auto">
          <a:xfrm>
            <a:off x="563563" y="4572000"/>
            <a:ext cx="83470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spcBef>
                <a:spcPct val="50000"/>
              </a:spcBef>
              <a:buFont typeface="Monotype Sorts" pitchFamily="2" charset="2"/>
              <a:buChar char="l"/>
              <a:defRPr/>
            </a:pPr>
            <a:r>
              <a:rPr lang="en-US" sz="3200" dirty="0">
                <a:latin typeface="+mj-lt"/>
              </a:rPr>
              <a:t>Percolate Down -&gt; move the place to put </a:t>
            </a:r>
            <a:r>
              <a:rPr lang="en-US" sz="3200" i="1" dirty="0">
                <a:latin typeface="+mj-lt"/>
              </a:rPr>
              <a:t>31</a:t>
            </a:r>
            <a:r>
              <a:rPr lang="en-US" sz="3200" dirty="0">
                <a:latin typeface="+mj-lt"/>
              </a:rPr>
              <a:t> down (move its smaller child up) until its children &gt;= 31</a:t>
            </a:r>
          </a:p>
          <a:p>
            <a:pPr>
              <a:spcBef>
                <a:spcPct val="50000"/>
              </a:spcBef>
              <a:buFont typeface="Monotype Sorts" pitchFamily="2" charset="2"/>
              <a:buChar char="l"/>
              <a:defRPr/>
            </a:pPr>
            <a:endParaRPr lang="en-US" sz="3200" dirty="0">
              <a:latin typeface="+mj-lt"/>
            </a:endParaRP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FF5915B3-B8A5-FD43-9AE4-12B48F3E800D}" type="slidenum">
              <a:rPr lang="zh-TW" altLang="en-US" sz="1200">
                <a:solidFill>
                  <a:srgbClr val="898989"/>
                </a:solidFill>
                <a:latin typeface="Calibri" charset="0"/>
              </a:rPr>
              <a:pPr/>
              <a:t>18</a:t>
            </a:fld>
            <a:endParaRPr lang="en-US" altLang="zh-TW" sz="1200">
              <a:solidFill>
                <a:srgbClr val="898989"/>
              </a:solidFill>
              <a:latin typeface="Calibri" charset="0"/>
            </a:endParaRPr>
          </a:p>
        </p:txBody>
      </p:sp>
      <p:sp>
        <p:nvSpPr>
          <p:cNvPr id="92" name="Ellipse 91"/>
          <p:cNvSpPr/>
          <p:nvPr/>
        </p:nvSpPr>
        <p:spPr>
          <a:xfrm>
            <a:off x="6248400" y="4016375"/>
            <a:ext cx="496888" cy="449263"/>
          </a:xfrm>
          <a:prstGeom prst="ellipse">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Monotype Sorts" pitchFamily="2" charset="2"/>
              <a:buChar char="l"/>
              <a:defRPr/>
            </a:pPr>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03263" y="228600"/>
            <a:ext cx="7772400" cy="1143000"/>
          </a:xfrm>
        </p:spPr>
        <p:txBody>
          <a:bodyPr/>
          <a:lstStyle/>
          <a:p>
            <a:r>
              <a:rPr lang="th-TH" altLang="en-US" sz="4000" b="1">
                <a:solidFill>
                  <a:srgbClr val="000099"/>
                </a:solidFill>
              </a:rPr>
              <a:t>deleteMin</a:t>
            </a:r>
            <a:endParaRPr lang="th-TH" altLang="en-US" sz="4000">
              <a:latin typeface="Times New Roman" charset="0"/>
            </a:endParaRPr>
          </a:p>
        </p:txBody>
      </p:sp>
      <p:grpSp>
        <p:nvGrpSpPr>
          <p:cNvPr id="19459" name="Group 135"/>
          <p:cNvGrpSpPr>
            <a:grpSpLocks/>
          </p:cNvGrpSpPr>
          <p:nvPr/>
        </p:nvGrpSpPr>
        <p:grpSpPr bwMode="auto">
          <a:xfrm>
            <a:off x="3556000" y="3074895"/>
            <a:ext cx="4978400" cy="2727633"/>
            <a:chOff x="3216" y="1344"/>
            <a:chExt cx="2705" cy="1623"/>
          </a:xfrm>
        </p:grpSpPr>
        <p:grpSp>
          <p:nvGrpSpPr>
            <p:cNvPr id="19506" name="Group 48"/>
            <p:cNvGrpSpPr>
              <a:grpSpLocks/>
            </p:cNvGrpSpPr>
            <p:nvPr/>
          </p:nvGrpSpPr>
          <p:grpSpPr bwMode="auto">
            <a:xfrm>
              <a:off x="3456" y="2160"/>
              <a:ext cx="257" cy="275"/>
              <a:chOff x="2784" y="1344"/>
              <a:chExt cx="434" cy="477"/>
            </a:xfrm>
          </p:grpSpPr>
          <p:sp>
            <p:nvSpPr>
              <p:cNvPr id="19545" name="Oval 4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46" name="Text Box 50"/>
              <p:cNvSpPr txBox="1">
                <a:spLocks noChangeArrowheads="1"/>
              </p:cNvSpPr>
              <p:nvPr/>
            </p:nvSpPr>
            <p:spPr bwMode="auto">
              <a:xfrm>
                <a:off x="2786" y="1344"/>
                <a:ext cx="432"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endParaRPr lang="th-TH" altLang="en-US" sz="2400">
                  <a:latin typeface="Times New Roman" charset="0"/>
                </a:endParaRPr>
              </a:p>
            </p:txBody>
          </p:sp>
        </p:grpSp>
        <p:grpSp>
          <p:nvGrpSpPr>
            <p:cNvPr id="19507" name="Group 51"/>
            <p:cNvGrpSpPr>
              <a:grpSpLocks/>
            </p:cNvGrpSpPr>
            <p:nvPr/>
          </p:nvGrpSpPr>
          <p:grpSpPr bwMode="auto">
            <a:xfrm>
              <a:off x="5344" y="1776"/>
              <a:ext cx="256" cy="250"/>
              <a:chOff x="2784" y="1343"/>
              <a:chExt cx="432" cy="433"/>
            </a:xfrm>
          </p:grpSpPr>
          <p:sp>
            <p:nvSpPr>
              <p:cNvPr id="19543" name="Oval 5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44" name="Text Box 53"/>
              <p:cNvSpPr txBox="1">
                <a:spLocks noChangeArrowheads="1"/>
              </p:cNvSpPr>
              <p:nvPr/>
            </p:nvSpPr>
            <p:spPr bwMode="auto">
              <a:xfrm>
                <a:off x="2784" y="1343"/>
                <a:ext cx="43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16</a:t>
                </a:r>
                <a:endParaRPr lang="th-TH" altLang="en-US" sz="2400">
                  <a:latin typeface="Times New Roman" charset="0"/>
                </a:endParaRPr>
              </a:p>
            </p:txBody>
          </p:sp>
        </p:grpSp>
        <p:grpSp>
          <p:nvGrpSpPr>
            <p:cNvPr id="19508" name="Group 54"/>
            <p:cNvGrpSpPr>
              <a:grpSpLocks/>
            </p:cNvGrpSpPr>
            <p:nvPr/>
          </p:nvGrpSpPr>
          <p:grpSpPr bwMode="auto">
            <a:xfrm>
              <a:off x="5664" y="2212"/>
              <a:ext cx="257" cy="250"/>
              <a:chOff x="2784" y="1343"/>
              <a:chExt cx="434" cy="433"/>
            </a:xfrm>
          </p:grpSpPr>
          <p:sp>
            <p:nvSpPr>
              <p:cNvPr id="19541" name="Oval 5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42" name="Text Box 56"/>
              <p:cNvSpPr txBox="1">
                <a:spLocks noChangeArrowheads="1"/>
              </p:cNvSpPr>
              <p:nvPr/>
            </p:nvSpPr>
            <p:spPr bwMode="auto">
              <a:xfrm>
                <a:off x="2784" y="1343"/>
                <a:ext cx="434"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68</a:t>
                </a:r>
                <a:endParaRPr lang="th-TH" altLang="en-US" sz="2400">
                  <a:latin typeface="Times New Roman" charset="0"/>
                </a:endParaRPr>
              </a:p>
            </p:txBody>
          </p:sp>
        </p:grpSp>
        <p:sp>
          <p:nvSpPr>
            <p:cNvPr id="19509" name="Line 57"/>
            <p:cNvSpPr>
              <a:spLocks noChangeShapeType="1"/>
            </p:cNvSpPr>
            <p:nvPr/>
          </p:nvSpPr>
          <p:spPr bwMode="auto">
            <a:xfrm>
              <a:off x="5536" y="199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9510" name="Group 58"/>
            <p:cNvGrpSpPr>
              <a:grpSpLocks/>
            </p:cNvGrpSpPr>
            <p:nvPr/>
          </p:nvGrpSpPr>
          <p:grpSpPr bwMode="auto">
            <a:xfrm>
              <a:off x="4992" y="2190"/>
              <a:ext cx="257" cy="250"/>
              <a:chOff x="2784" y="1343"/>
              <a:chExt cx="434" cy="433"/>
            </a:xfrm>
          </p:grpSpPr>
          <p:sp>
            <p:nvSpPr>
              <p:cNvPr id="19539" name="Oval 5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40" name="Text Box 60"/>
              <p:cNvSpPr txBox="1">
                <a:spLocks noChangeArrowheads="1"/>
              </p:cNvSpPr>
              <p:nvPr/>
            </p:nvSpPr>
            <p:spPr bwMode="auto">
              <a:xfrm>
                <a:off x="2784" y="1343"/>
                <a:ext cx="434"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19</a:t>
                </a:r>
                <a:endParaRPr lang="th-TH" altLang="en-US" sz="2400">
                  <a:latin typeface="Times New Roman" charset="0"/>
                </a:endParaRPr>
              </a:p>
            </p:txBody>
          </p:sp>
        </p:grpSp>
        <p:sp>
          <p:nvSpPr>
            <p:cNvPr id="19511" name="Line 61"/>
            <p:cNvSpPr>
              <a:spLocks noChangeShapeType="1"/>
            </p:cNvSpPr>
            <p:nvPr/>
          </p:nvSpPr>
          <p:spPr bwMode="auto">
            <a:xfrm flipV="1">
              <a:off x="5184"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9512" name="Group 62"/>
            <p:cNvGrpSpPr>
              <a:grpSpLocks/>
            </p:cNvGrpSpPr>
            <p:nvPr/>
          </p:nvGrpSpPr>
          <p:grpSpPr bwMode="auto">
            <a:xfrm>
              <a:off x="4128" y="2208"/>
              <a:ext cx="256" cy="250"/>
              <a:chOff x="2784" y="1343"/>
              <a:chExt cx="432" cy="433"/>
            </a:xfrm>
          </p:grpSpPr>
          <p:sp>
            <p:nvSpPr>
              <p:cNvPr id="19537" name="Oval 63"/>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38" name="Text Box 64"/>
              <p:cNvSpPr txBox="1">
                <a:spLocks noChangeArrowheads="1"/>
              </p:cNvSpPr>
              <p:nvPr/>
            </p:nvSpPr>
            <p:spPr bwMode="auto">
              <a:xfrm>
                <a:off x="2784" y="1343"/>
                <a:ext cx="43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21</a:t>
                </a:r>
                <a:endParaRPr lang="th-TH" altLang="en-US" sz="2400">
                  <a:latin typeface="Times New Roman" charset="0"/>
                </a:endParaRPr>
              </a:p>
            </p:txBody>
          </p:sp>
        </p:grpSp>
        <p:grpSp>
          <p:nvGrpSpPr>
            <p:cNvPr id="19513" name="Group 68"/>
            <p:cNvGrpSpPr>
              <a:grpSpLocks/>
            </p:cNvGrpSpPr>
            <p:nvPr/>
          </p:nvGrpSpPr>
          <p:grpSpPr bwMode="auto">
            <a:xfrm>
              <a:off x="3936" y="2718"/>
              <a:ext cx="257" cy="249"/>
              <a:chOff x="2784" y="1344"/>
              <a:chExt cx="434" cy="432"/>
            </a:xfrm>
          </p:grpSpPr>
          <p:sp>
            <p:nvSpPr>
              <p:cNvPr id="19535" name="Oval 6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36" name="Text Box 70"/>
              <p:cNvSpPr txBox="1">
                <a:spLocks noChangeArrowheads="1"/>
              </p:cNvSpPr>
              <p:nvPr/>
            </p:nvSpPr>
            <p:spPr bwMode="auto">
              <a:xfrm>
                <a:off x="2786" y="1344"/>
                <a:ext cx="43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32</a:t>
                </a:r>
                <a:endParaRPr lang="th-TH" altLang="en-US" sz="2400">
                  <a:latin typeface="Times New Roman" charset="0"/>
                </a:endParaRPr>
              </a:p>
            </p:txBody>
          </p:sp>
        </p:grpSp>
        <p:sp>
          <p:nvSpPr>
            <p:cNvPr id="19514" name="Line 71"/>
            <p:cNvSpPr>
              <a:spLocks noChangeShapeType="1"/>
            </p:cNvSpPr>
            <p:nvPr/>
          </p:nvSpPr>
          <p:spPr bwMode="auto">
            <a:xfrm>
              <a:off x="4000" y="199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515" name="Line 72"/>
            <p:cNvSpPr>
              <a:spLocks noChangeShapeType="1"/>
            </p:cNvSpPr>
            <p:nvPr/>
          </p:nvSpPr>
          <p:spPr bwMode="auto">
            <a:xfrm flipH="1">
              <a:off x="4080" y="247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9516" name="Group 73"/>
            <p:cNvGrpSpPr>
              <a:grpSpLocks/>
            </p:cNvGrpSpPr>
            <p:nvPr/>
          </p:nvGrpSpPr>
          <p:grpSpPr bwMode="auto">
            <a:xfrm>
              <a:off x="3792" y="1776"/>
              <a:ext cx="257" cy="250"/>
              <a:chOff x="2784" y="1343"/>
              <a:chExt cx="434" cy="433"/>
            </a:xfrm>
          </p:grpSpPr>
          <p:sp>
            <p:nvSpPr>
              <p:cNvPr id="19533" name="Oval 74"/>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34" name="Text Box 75"/>
              <p:cNvSpPr txBox="1">
                <a:spLocks noChangeArrowheads="1"/>
              </p:cNvSpPr>
              <p:nvPr/>
            </p:nvSpPr>
            <p:spPr bwMode="auto">
              <a:xfrm>
                <a:off x="2784" y="1343"/>
                <a:ext cx="434"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19</a:t>
                </a:r>
                <a:endParaRPr lang="th-TH" altLang="en-US" sz="2400">
                  <a:latin typeface="Times New Roman" charset="0"/>
                </a:endParaRPr>
              </a:p>
            </p:txBody>
          </p:sp>
        </p:grpSp>
        <p:sp>
          <p:nvSpPr>
            <p:cNvPr id="19517" name="Line 76"/>
            <p:cNvSpPr>
              <a:spLocks noChangeShapeType="1"/>
            </p:cNvSpPr>
            <p:nvPr/>
          </p:nvSpPr>
          <p:spPr bwMode="auto">
            <a:xfrm flipV="1">
              <a:off x="3648" y="1998"/>
              <a:ext cx="19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9518" name="Group 77"/>
            <p:cNvGrpSpPr>
              <a:grpSpLocks/>
            </p:cNvGrpSpPr>
            <p:nvPr/>
          </p:nvGrpSpPr>
          <p:grpSpPr bwMode="auto">
            <a:xfrm>
              <a:off x="3216" y="2718"/>
              <a:ext cx="257" cy="249"/>
              <a:chOff x="2784" y="1344"/>
              <a:chExt cx="434" cy="432"/>
            </a:xfrm>
          </p:grpSpPr>
          <p:sp>
            <p:nvSpPr>
              <p:cNvPr id="19531" name="Oval 78"/>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32" name="Text Box 79"/>
              <p:cNvSpPr txBox="1">
                <a:spLocks noChangeArrowheads="1"/>
              </p:cNvSpPr>
              <p:nvPr/>
            </p:nvSpPr>
            <p:spPr bwMode="auto">
              <a:xfrm>
                <a:off x="2786" y="1344"/>
                <a:ext cx="43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65</a:t>
                </a:r>
                <a:endParaRPr lang="th-TH" altLang="en-US" sz="2400">
                  <a:latin typeface="Times New Roman" charset="0"/>
                </a:endParaRPr>
              </a:p>
            </p:txBody>
          </p:sp>
        </p:grpSp>
        <p:grpSp>
          <p:nvGrpSpPr>
            <p:cNvPr id="19519" name="Group 80"/>
            <p:cNvGrpSpPr>
              <a:grpSpLocks/>
            </p:cNvGrpSpPr>
            <p:nvPr/>
          </p:nvGrpSpPr>
          <p:grpSpPr bwMode="auto">
            <a:xfrm>
              <a:off x="3600" y="2718"/>
              <a:ext cx="257" cy="249"/>
              <a:chOff x="2784" y="1344"/>
              <a:chExt cx="434" cy="432"/>
            </a:xfrm>
          </p:grpSpPr>
          <p:sp>
            <p:nvSpPr>
              <p:cNvPr id="19529" name="Oval 8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30" name="Text Box 82"/>
              <p:cNvSpPr txBox="1">
                <a:spLocks noChangeArrowheads="1"/>
              </p:cNvSpPr>
              <p:nvPr/>
            </p:nvSpPr>
            <p:spPr bwMode="auto">
              <a:xfrm>
                <a:off x="2786" y="1344"/>
                <a:ext cx="43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26</a:t>
                </a:r>
                <a:endParaRPr lang="th-TH" altLang="en-US" sz="2400">
                  <a:latin typeface="Times New Roman" charset="0"/>
                </a:endParaRPr>
              </a:p>
            </p:txBody>
          </p:sp>
        </p:grpSp>
        <p:sp>
          <p:nvSpPr>
            <p:cNvPr id="19520" name="Line 83"/>
            <p:cNvSpPr>
              <a:spLocks noChangeShapeType="1"/>
            </p:cNvSpPr>
            <p:nvPr/>
          </p:nvSpPr>
          <p:spPr bwMode="auto">
            <a:xfrm flipH="1">
              <a:off x="340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521" name="Line 84"/>
            <p:cNvSpPr>
              <a:spLocks noChangeShapeType="1"/>
            </p:cNvSpPr>
            <p:nvPr/>
          </p:nvSpPr>
          <p:spPr bwMode="auto">
            <a:xfrm>
              <a:off x="3648" y="2430"/>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522" name="Line 85"/>
            <p:cNvSpPr>
              <a:spLocks noChangeShapeType="1"/>
            </p:cNvSpPr>
            <p:nvPr/>
          </p:nvSpPr>
          <p:spPr bwMode="auto">
            <a:xfrm flipV="1">
              <a:off x="3984" y="1584"/>
              <a:ext cx="67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523" name="Line 86"/>
            <p:cNvSpPr>
              <a:spLocks noChangeShapeType="1"/>
            </p:cNvSpPr>
            <p:nvPr/>
          </p:nvSpPr>
          <p:spPr bwMode="auto">
            <a:xfrm>
              <a:off x="4800" y="158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524" name="Line 87"/>
            <p:cNvSpPr>
              <a:spLocks noChangeShapeType="1"/>
            </p:cNvSpPr>
            <p:nvPr/>
          </p:nvSpPr>
          <p:spPr bwMode="auto">
            <a:xfrm>
              <a:off x="4320" y="2496"/>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9525" name="Group 88"/>
            <p:cNvGrpSpPr>
              <a:grpSpLocks/>
            </p:cNvGrpSpPr>
            <p:nvPr/>
          </p:nvGrpSpPr>
          <p:grpSpPr bwMode="auto">
            <a:xfrm>
              <a:off x="4608" y="1344"/>
              <a:ext cx="256" cy="250"/>
              <a:chOff x="2784" y="1343"/>
              <a:chExt cx="432" cy="433"/>
            </a:xfrm>
          </p:grpSpPr>
          <p:sp>
            <p:nvSpPr>
              <p:cNvPr id="19527" name="Oval 8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800"/>
              </a:p>
            </p:txBody>
          </p:sp>
          <p:sp>
            <p:nvSpPr>
              <p:cNvPr id="19528" name="Text Box 90"/>
              <p:cNvSpPr txBox="1">
                <a:spLocks noChangeArrowheads="1"/>
              </p:cNvSpPr>
              <p:nvPr/>
            </p:nvSpPr>
            <p:spPr bwMode="auto">
              <a:xfrm>
                <a:off x="2784" y="1343"/>
                <a:ext cx="43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400">
                    <a:latin typeface="Times New Roman" charset="0"/>
                  </a:rPr>
                  <a:t>14</a:t>
                </a:r>
                <a:endParaRPr lang="th-TH" altLang="en-US" sz="2400">
                  <a:latin typeface="Times New Roman" charset="0"/>
                </a:endParaRPr>
              </a:p>
            </p:txBody>
          </p:sp>
        </p:grpSp>
        <p:sp>
          <p:nvSpPr>
            <p:cNvPr id="19526" name="Text Box 91"/>
            <p:cNvSpPr txBox="1">
              <a:spLocks noChangeArrowheads="1"/>
            </p:cNvSpPr>
            <p:nvPr/>
          </p:nvSpPr>
          <p:spPr bwMode="auto">
            <a:xfrm>
              <a:off x="4320" y="2736"/>
              <a:ext cx="28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spcBef>
                  <a:spcPct val="50000"/>
                </a:spcBef>
              </a:pPr>
              <a:r>
                <a:rPr lang="th-TH" altLang="en-US" sz="1400" dirty="0">
                  <a:latin typeface="Times New Roman" charset="0"/>
                </a:rPr>
                <a:t>31</a:t>
              </a:r>
              <a:endParaRPr lang="th-TH" altLang="en-US" sz="2400" dirty="0">
                <a:latin typeface="Angsana New" charset="0"/>
              </a:endParaRPr>
            </a:p>
          </p:txBody>
        </p:sp>
      </p:grpSp>
      <p:grpSp>
        <p:nvGrpSpPr>
          <p:cNvPr id="19460" name="Group 93"/>
          <p:cNvGrpSpPr>
            <a:grpSpLocks/>
          </p:cNvGrpSpPr>
          <p:nvPr/>
        </p:nvGrpSpPr>
        <p:grpSpPr bwMode="auto">
          <a:xfrm>
            <a:off x="0" y="973138"/>
            <a:ext cx="4776788" cy="2653071"/>
            <a:chOff x="384" y="1200"/>
            <a:chExt cx="2705" cy="1623"/>
          </a:xfrm>
        </p:grpSpPr>
        <p:grpSp>
          <p:nvGrpSpPr>
            <p:cNvPr id="19465" name="Group 94"/>
            <p:cNvGrpSpPr>
              <a:grpSpLocks/>
            </p:cNvGrpSpPr>
            <p:nvPr/>
          </p:nvGrpSpPr>
          <p:grpSpPr bwMode="auto">
            <a:xfrm>
              <a:off x="960" y="1635"/>
              <a:ext cx="257" cy="250"/>
              <a:chOff x="2784" y="1344"/>
              <a:chExt cx="434" cy="432"/>
            </a:xfrm>
          </p:grpSpPr>
          <p:sp>
            <p:nvSpPr>
              <p:cNvPr id="19504" name="Oval 9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505" name="Text Box 96"/>
              <p:cNvSpPr txBox="1">
                <a:spLocks noChangeArrowheads="1"/>
              </p:cNvSpPr>
              <p:nvPr/>
            </p:nvSpPr>
            <p:spPr bwMode="auto">
              <a:xfrm>
                <a:off x="2786" y="1344"/>
                <a:ext cx="432"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endParaRPr lang="th-TH" altLang="en-US">
                  <a:latin typeface="Times New Roman" charset="0"/>
                </a:endParaRPr>
              </a:p>
            </p:txBody>
          </p:sp>
        </p:grpSp>
        <p:grpSp>
          <p:nvGrpSpPr>
            <p:cNvPr id="19466" name="Group 97"/>
            <p:cNvGrpSpPr>
              <a:grpSpLocks/>
            </p:cNvGrpSpPr>
            <p:nvPr/>
          </p:nvGrpSpPr>
          <p:grpSpPr bwMode="auto">
            <a:xfrm>
              <a:off x="2512" y="1632"/>
              <a:ext cx="256" cy="250"/>
              <a:chOff x="2784" y="1343"/>
              <a:chExt cx="432" cy="433"/>
            </a:xfrm>
          </p:grpSpPr>
          <p:sp>
            <p:nvSpPr>
              <p:cNvPr id="19502" name="Oval 98"/>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503" name="Text Box 99"/>
              <p:cNvSpPr txBox="1">
                <a:spLocks noChangeArrowheads="1"/>
              </p:cNvSpPr>
              <p:nvPr/>
            </p:nvSpPr>
            <p:spPr bwMode="auto">
              <a:xfrm>
                <a:off x="2784" y="1343"/>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16</a:t>
                </a:r>
                <a:endParaRPr lang="th-TH" altLang="en-US">
                  <a:latin typeface="Times New Roman" charset="0"/>
                </a:endParaRPr>
              </a:p>
            </p:txBody>
          </p:sp>
        </p:grpSp>
        <p:grpSp>
          <p:nvGrpSpPr>
            <p:cNvPr id="19467" name="Group 100"/>
            <p:cNvGrpSpPr>
              <a:grpSpLocks/>
            </p:cNvGrpSpPr>
            <p:nvPr/>
          </p:nvGrpSpPr>
          <p:grpSpPr bwMode="auto">
            <a:xfrm>
              <a:off x="2832" y="2068"/>
              <a:ext cx="257" cy="250"/>
              <a:chOff x="2784" y="1343"/>
              <a:chExt cx="434" cy="433"/>
            </a:xfrm>
          </p:grpSpPr>
          <p:sp>
            <p:nvSpPr>
              <p:cNvPr id="19500" name="Oval 10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501" name="Text Box 102"/>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68</a:t>
                </a:r>
                <a:endParaRPr lang="th-TH" altLang="en-US">
                  <a:latin typeface="Times New Roman" charset="0"/>
                </a:endParaRPr>
              </a:p>
            </p:txBody>
          </p:sp>
        </p:grpSp>
        <p:sp>
          <p:nvSpPr>
            <p:cNvPr id="19468" name="Line 103"/>
            <p:cNvSpPr>
              <a:spLocks noChangeShapeType="1"/>
            </p:cNvSpPr>
            <p:nvPr/>
          </p:nvSpPr>
          <p:spPr bwMode="auto">
            <a:xfrm>
              <a:off x="2704" y="1851"/>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19469" name="Group 104"/>
            <p:cNvGrpSpPr>
              <a:grpSpLocks/>
            </p:cNvGrpSpPr>
            <p:nvPr/>
          </p:nvGrpSpPr>
          <p:grpSpPr bwMode="auto">
            <a:xfrm>
              <a:off x="2160" y="2046"/>
              <a:ext cx="257" cy="250"/>
              <a:chOff x="2784" y="1343"/>
              <a:chExt cx="434" cy="433"/>
            </a:xfrm>
          </p:grpSpPr>
          <p:sp>
            <p:nvSpPr>
              <p:cNvPr id="19498" name="Oval 10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99" name="Text Box 106"/>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19470" name="Line 107"/>
            <p:cNvSpPr>
              <a:spLocks noChangeShapeType="1"/>
            </p:cNvSpPr>
            <p:nvPr/>
          </p:nvSpPr>
          <p:spPr bwMode="auto">
            <a:xfrm flipV="1">
              <a:off x="2352" y="185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19471" name="Group 108"/>
            <p:cNvGrpSpPr>
              <a:grpSpLocks/>
            </p:cNvGrpSpPr>
            <p:nvPr/>
          </p:nvGrpSpPr>
          <p:grpSpPr bwMode="auto">
            <a:xfrm>
              <a:off x="1296" y="2064"/>
              <a:ext cx="256" cy="250"/>
              <a:chOff x="2784" y="1343"/>
              <a:chExt cx="432" cy="433"/>
            </a:xfrm>
          </p:grpSpPr>
          <p:sp>
            <p:nvSpPr>
              <p:cNvPr id="19496" name="Oval 10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97" name="Text Box 110"/>
              <p:cNvSpPr txBox="1">
                <a:spLocks noChangeArrowheads="1"/>
              </p:cNvSpPr>
              <p:nvPr/>
            </p:nvSpPr>
            <p:spPr bwMode="auto">
              <a:xfrm>
                <a:off x="2784" y="1343"/>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21</a:t>
                </a:r>
                <a:endParaRPr lang="th-TH" altLang="en-US">
                  <a:latin typeface="Times New Roman" charset="0"/>
                </a:endParaRPr>
              </a:p>
            </p:txBody>
          </p:sp>
        </p:grpSp>
        <p:grpSp>
          <p:nvGrpSpPr>
            <p:cNvPr id="19472" name="Group 111"/>
            <p:cNvGrpSpPr>
              <a:grpSpLocks/>
            </p:cNvGrpSpPr>
            <p:nvPr/>
          </p:nvGrpSpPr>
          <p:grpSpPr bwMode="auto">
            <a:xfrm>
              <a:off x="1104" y="2574"/>
              <a:ext cx="257" cy="249"/>
              <a:chOff x="2784" y="1344"/>
              <a:chExt cx="434" cy="432"/>
            </a:xfrm>
          </p:grpSpPr>
          <p:sp>
            <p:nvSpPr>
              <p:cNvPr id="19494" name="Oval 11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95" name="Text Box 113"/>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32</a:t>
                </a:r>
                <a:endParaRPr lang="th-TH" altLang="en-US">
                  <a:latin typeface="Times New Roman" charset="0"/>
                </a:endParaRPr>
              </a:p>
            </p:txBody>
          </p:sp>
        </p:grpSp>
        <p:sp>
          <p:nvSpPr>
            <p:cNvPr id="19473" name="Line 114"/>
            <p:cNvSpPr>
              <a:spLocks noChangeShapeType="1"/>
            </p:cNvSpPr>
            <p:nvPr/>
          </p:nvSpPr>
          <p:spPr bwMode="auto">
            <a:xfrm>
              <a:off x="1168" y="1851"/>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19474" name="Line 115"/>
            <p:cNvSpPr>
              <a:spLocks noChangeShapeType="1"/>
            </p:cNvSpPr>
            <p:nvPr/>
          </p:nvSpPr>
          <p:spPr bwMode="auto">
            <a:xfrm flipH="1">
              <a:off x="1248" y="2334"/>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19475" name="Group 116"/>
            <p:cNvGrpSpPr>
              <a:grpSpLocks/>
            </p:cNvGrpSpPr>
            <p:nvPr/>
          </p:nvGrpSpPr>
          <p:grpSpPr bwMode="auto">
            <a:xfrm>
              <a:off x="624" y="2046"/>
              <a:ext cx="257" cy="250"/>
              <a:chOff x="2784" y="1343"/>
              <a:chExt cx="434" cy="433"/>
            </a:xfrm>
          </p:grpSpPr>
          <p:sp>
            <p:nvSpPr>
              <p:cNvPr id="19492" name="Oval 11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93" name="Text Box 118"/>
              <p:cNvSpPr txBox="1">
                <a:spLocks noChangeArrowheads="1"/>
              </p:cNvSpPr>
              <p:nvPr/>
            </p:nvSpPr>
            <p:spPr bwMode="auto">
              <a:xfrm>
                <a:off x="2784" y="1343"/>
                <a:ext cx="43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19476" name="Line 119"/>
            <p:cNvSpPr>
              <a:spLocks noChangeShapeType="1"/>
            </p:cNvSpPr>
            <p:nvPr/>
          </p:nvSpPr>
          <p:spPr bwMode="auto">
            <a:xfrm flipV="1">
              <a:off x="816" y="185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19477" name="Group 120"/>
            <p:cNvGrpSpPr>
              <a:grpSpLocks/>
            </p:cNvGrpSpPr>
            <p:nvPr/>
          </p:nvGrpSpPr>
          <p:grpSpPr bwMode="auto">
            <a:xfrm>
              <a:off x="384" y="2574"/>
              <a:ext cx="257" cy="249"/>
              <a:chOff x="2784" y="1344"/>
              <a:chExt cx="434" cy="432"/>
            </a:xfrm>
          </p:grpSpPr>
          <p:sp>
            <p:nvSpPr>
              <p:cNvPr id="19490" name="Oval 12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91" name="Text Box 122"/>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65</a:t>
                </a:r>
                <a:endParaRPr lang="th-TH" altLang="en-US">
                  <a:latin typeface="Times New Roman" charset="0"/>
                </a:endParaRPr>
              </a:p>
            </p:txBody>
          </p:sp>
        </p:grpSp>
        <p:grpSp>
          <p:nvGrpSpPr>
            <p:cNvPr id="19478" name="Group 123"/>
            <p:cNvGrpSpPr>
              <a:grpSpLocks/>
            </p:cNvGrpSpPr>
            <p:nvPr/>
          </p:nvGrpSpPr>
          <p:grpSpPr bwMode="auto">
            <a:xfrm>
              <a:off x="768" y="2574"/>
              <a:ext cx="257" cy="249"/>
              <a:chOff x="2784" y="1344"/>
              <a:chExt cx="434" cy="432"/>
            </a:xfrm>
          </p:grpSpPr>
          <p:sp>
            <p:nvSpPr>
              <p:cNvPr id="19488" name="Oval 124"/>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89" name="Text Box 125"/>
              <p:cNvSpPr txBox="1">
                <a:spLocks noChangeArrowheads="1"/>
              </p:cNvSpPr>
              <p:nvPr/>
            </p:nvSpPr>
            <p:spPr bwMode="auto">
              <a:xfrm>
                <a:off x="2786" y="1344"/>
                <a:ext cx="43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26</a:t>
                </a:r>
                <a:endParaRPr lang="th-TH" altLang="en-US">
                  <a:latin typeface="Times New Roman" charset="0"/>
                </a:endParaRPr>
              </a:p>
            </p:txBody>
          </p:sp>
        </p:grpSp>
        <p:sp>
          <p:nvSpPr>
            <p:cNvPr id="19479" name="Line 126"/>
            <p:cNvSpPr>
              <a:spLocks noChangeShapeType="1"/>
            </p:cNvSpPr>
            <p:nvPr/>
          </p:nvSpPr>
          <p:spPr bwMode="auto">
            <a:xfrm flipH="1">
              <a:off x="576" y="2286"/>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19480" name="Line 127"/>
            <p:cNvSpPr>
              <a:spLocks noChangeShapeType="1"/>
            </p:cNvSpPr>
            <p:nvPr/>
          </p:nvSpPr>
          <p:spPr bwMode="auto">
            <a:xfrm>
              <a:off x="816" y="2286"/>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19481" name="Line 128"/>
            <p:cNvSpPr>
              <a:spLocks noChangeShapeType="1"/>
            </p:cNvSpPr>
            <p:nvPr/>
          </p:nvSpPr>
          <p:spPr bwMode="auto">
            <a:xfrm flipV="1">
              <a:off x="1152" y="1440"/>
              <a:ext cx="67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19482" name="Line 129"/>
            <p:cNvSpPr>
              <a:spLocks noChangeShapeType="1"/>
            </p:cNvSpPr>
            <p:nvPr/>
          </p:nvSpPr>
          <p:spPr bwMode="auto">
            <a:xfrm>
              <a:off x="1968" y="1440"/>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19483" name="Line 130"/>
            <p:cNvSpPr>
              <a:spLocks noChangeShapeType="1"/>
            </p:cNvSpPr>
            <p:nvPr/>
          </p:nvSpPr>
          <p:spPr bwMode="auto">
            <a:xfrm>
              <a:off x="1488" y="2352"/>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19484" name="Group 131"/>
            <p:cNvGrpSpPr>
              <a:grpSpLocks/>
            </p:cNvGrpSpPr>
            <p:nvPr/>
          </p:nvGrpSpPr>
          <p:grpSpPr bwMode="auto">
            <a:xfrm>
              <a:off x="1776" y="1200"/>
              <a:ext cx="256" cy="250"/>
              <a:chOff x="2784" y="1343"/>
              <a:chExt cx="432" cy="433"/>
            </a:xfrm>
          </p:grpSpPr>
          <p:sp>
            <p:nvSpPr>
              <p:cNvPr id="19486" name="Oval 13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19487" name="Text Box 133"/>
              <p:cNvSpPr txBox="1">
                <a:spLocks noChangeArrowheads="1"/>
              </p:cNvSpPr>
              <p:nvPr/>
            </p:nvSpPr>
            <p:spPr bwMode="auto">
              <a:xfrm>
                <a:off x="2784" y="1343"/>
                <a:ext cx="43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14</a:t>
                </a:r>
                <a:endParaRPr lang="th-TH" altLang="en-US">
                  <a:latin typeface="Times New Roman" charset="0"/>
                </a:endParaRPr>
              </a:p>
            </p:txBody>
          </p:sp>
        </p:grpSp>
        <p:sp>
          <p:nvSpPr>
            <p:cNvPr id="19485" name="Text Box 134"/>
            <p:cNvSpPr txBox="1">
              <a:spLocks noChangeArrowheads="1"/>
            </p:cNvSpPr>
            <p:nvPr/>
          </p:nvSpPr>
          <p:spPr bwMode="auto">
            <a:xfrm>
              <a:off x="1488" y="2592"/>
              <a:ext cx="28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spcBef>
                  <a:spcPct val="50000"/>
                </a:spcBef>
              </a:pPr>
              <a:r>
                <a:rPr lang="th-TH" altLang="en-US" sz="1200">
                  <a:latin typeface="Times New Roman" charset="0"/>
                </a:rPr>
                <a:t>31</a:t>
              </a:r>
              <a:endParaRPr lang="th-TH" altLang="en-US">
                <a:latin typeface="Angsana New" charset="0"/>
              </a:endParaRPr>
            </a:p>
          </p:txBody>
        </p:sp>
      </p:gr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3F82CB53-AE8C-804B-982C-91807C094EB2}" type="slidenum">
              <a:rPr lang="zh-TW" altLang="en-US" sz="1200">
                <a:solidFill>
                  <a:srgbClr val="898989"/>
                </a:solidFill>
              </a:rPr>
              <a:pPr/>
              <a:t>19</a:t>
            </a:fld>
            <a:endParaRPr lang="en-US" altLang="zh-TW" sz="1200">
              <a:solidFill>
                <a:srgbClr val="898989"/>
              </a:solidFill>
            </a:endParaRPr>
          </a:p>
        </p:txBody>
      </p:sp>
      <p:sp>
        <p:nvSpPr>
          <p:cNvPr id="89" name="Ellipse 88"/>
          <p:cNvSpPr/>
          <p:nvPr/>
        </p:nvSpPr>
        <p:spPr>
          <a:xfrm>
            <a:off x="1949450" y="3233738"/>
            <a:ext cx="496888" cy="449262"/>
          </a:xfrm>
          <a:prstGeom prst="ellipse">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Monotype Sorts" pitchFamily="2" charset="2"/>
              <a:buChar char="l"/>
              <a:defRPr/>
            </a:pPr>
            <a:endParaRPr lang="fr-FR"/>
          </a:p>
        </p:txBody>
      </p:sp>
      <p:sp>
        <p:nvSpPr>
          <p:cNvPr id="90" name="Ellipse 89"/>
          <p:cNvSpPr/>
          <p:nvPr/>
        </p:nvSpPr>
        <p:spPr>
          <a:xfrm>
            <a:off x="5588000" y="5356225"/>
            <a:ext cx="496888" cy="449263"/>
          </a:xfrm>
          <a:prstGeom prst="ellipse">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Monotype Sorts" pitchFamily="2" charset="2"/>
              <a:buChar char="l"/>
              <a:defRPr/>
            </a:pPr>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03263" y="228600"/>
            <a:ext cx="7772400" cy="1143000"/>
          </a:xfrm>
        </p:spPr>
        <p:txBody>
          <a:bodyPr/>
          <a:lstStyle/>
          <a:p>
            <a:r>
              <a:rPr lang="th-TH" altLang="en-US" sz="4000" b="1">
                <a:solidFill>
                  <a:srgbClr val="000099"/>
                </a:solidFill>
              </a:rPr>
              <a:t>deleteMin</a:t>
            </a:r>
            <a:endParaRPr lang="th-TH" altLang="en-US" sz="4000">
              <a:latin typeface="Times New Roman" charset="0"/>
            </a:endParaRPr>
          </a:p>
        </p:txBody>
      </p:sp>
      <p:grpSp>
        <p:nvGrpSpPr>
          <p:cNvPr id="20483" name="Group 94"/>
          <p:cNvGrpSpPr>
            <a:grpSpLocks/>
          </p:cNvGrpSpPr>
          <p:nvPr/>
        </p:nvGrpSpPr>
        <p:grpSpPr bwMode="auto">
          <a:xfrm>
            <a:off x="-30163" y="1022151"/>
            <a:ext cx="4791076" cy="2931471"/>
            <a:chOff x="336" y="1296"/>
            <a:chExt cx="2705" cy="1641"/>
          </a:xfrm>
        </p:grpSpPr>
        <p:grpSp>
          <p:nvGrpSpPr>
            <p:cNvPr id="20527" name="Group 46"/>
            <p:cNvGrpSpPr>
              <a:grpSpLocks/>
            </p:cNvGrpSpPr>
            <p:nvPr/>
          </p:nvGrpSpPr>
          <p:grpSpPr bwMode="auto">
            <a:xfrm>
              <a:off x="720" y="2688"/>
              <a:ext cx="257" cy="249"/>
              <a:chOff x="2784" y="1344"/>
              <a:chExt cx="434" cy="432"/>
            </a:xfrm>
          </p:grpSpPr>
          <p:sp>
            <p:nvSpPr>
              <p:cNvPr id="20566" name="Oval 4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67" name="Text Box 48"/>
              <p:cNvSpPr txBox="1">
                <a:spLocks noChangeArrowheads="1"/>
              </p:cNvSpPr>
              <p:nvPr/>
            </p:nvSpPr>
            <p:spPr bwMode="auto">
              <a:xfrm>
                <a:off x="2786" y="1344"/>
                <a:ext cx="43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endParaRPr lang="th-TH" altLang="en-US">
                  <a:latin typeface="Times New Roman" charset="0"/>
                </a:endParaRPr>
              </a:p>
            </p:txBody>
          </p:sp>
        </p:grpSp>
        <p:grpSp>
          <p:nvGrpSpPr>
            <p:cNvPr id="20528" name="Group 49"/>
            <p:cNvGrpSpPr>
              <a:grpSpLocks/>
            </p:cNvGrpSpPr>
            <p:nvPr/>
          </p:nvGrpSpPr>
          <p:grpSpPr bwMode="auto">
            <a:xfrm>
              <a:off x="2464" y="1728"/>
              <a:ext cx="256" cy="250"/>
              <a:chOff x="2784" y="1343"/>
              <a:chExt cx="432" cy="433"/>
            </a:xfrm>
          </p:grpSpPr>
          <p:sp>
            <p:nvSpPr>
              <p:cNvPr id="20564" name="Oval 50"/>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65" name="Text Box 51"/>
              <p:cNvSpPr txBox="1">
                <a:spLocks noChangeArrowheads="1"/>
              </p:cNvSpPr>
              <p:nvPr/>
            </p:nvSpPr>
            <p:spPr bwMode="auto">
              <a:xfrm>
                <a:off x="2784" y="1343"/>
                <a:ext cx="4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16</a:t>
                </a:r>
                <a:endParaRPr lang="th-TH" altLang="en-US">
                  <a:latin typeface="Times New Roman" charset="0"/>
                </a:endParaRPr>
              </a:p>
            </p:txBody>
          </p:sp>
        </p:grpSp>
        <p:grpSp>
          <p:nvGrpSpPr>
            <p:cNvPr id="20529" name="Group 52"/>
            <p:cNvGrpSpPr>
              <a:grpSpLocks/>
            </p:cNvGrpSpPr>
            <p:nvPr/>
          </p:nvGrpSpPr>
          <p:grpSpPr bwMode="auto">
            <a:xfrm>
              <a:off x="2784" y="2164"/>
              <a:ext cx="257" cy="250"/>
              <a:chOff x="2784" y="1343"/>
              <a:chExt cx="434" cy="433"/>
            </a:xfrm>
          </p:grpSpPr>
          <p:sp>
            <p:nvSpPr>
              <p:cNvPr id="20562" name="Oval 53"/>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63" name="Text Box 54"/>
              <p:cNvSpPr txBox="1">
                <a:spLocks noChangeArrowheads="1"/>
              </p:cNvSpPr>
              <p:nvPr/>
            </p:nvSpPr>
            <p:spPr bwMode="auto">
              <a:xfrm>
                <a:off x="2784" y="1343"/>
                <a:ext cx="43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68</a:t>
                </a:r>
                <a:endParaRPr lang="th-TH" altLang="en-US">
                  <a:latin typeface="Times New Roman" charset="0"/>
                </a:endParaRPr>
              </a:p>
            </p:txBody>
          </p:sp>
        </p:grpSp>
        <p:sp>
          <p:nvSpPr>
            <p:cNvPr id="20530" name="Line 55"/>
            <p:cNvSpPr>
              <a:spLocks noChangeShapeType="1"/>
            </p:cNvSpPr>
            <p:nvPr/>
          </p:nvSpPr>
          <p:spPr bwMode="auto">
            <a:xfrm>
              <a:off x="2656" y="1947"/>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31" name="Group 56"/>
            <p:cNvGrpSpPr>
              <a:grpSpLocks/>
            </p:cNvGrpSpPr>
            <p:nvPr/>
          </p:nvGrpSpPr>
          <p:grpSpPr bwMode="auto">
            <a:xfrm>
              <a:off x="2112" y="2142"/>
              <a:ext cx="257" cy="250"/>
              <a:chOff x="2784" y="1343"/>
              <a:chExt cx="434" cy="433"/>
            </a:xfrm>
          </p:grpSpPr>
          <p:sp>
            <p:nvSpPr>
              <p:cNvPr id="20560" name="Oval 5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61" name="Text Box 58"/>
              <p:cNvSpPr txBox="1">
                <a:spLocks noChangeArrowheads="1"/>
              </p:cNvSpPr>
              <p:nvPr/>
            </p:nvSpPr>
            <p:spPr bwMode="auto">
              <a:xfrm>
                <a:off x="2784" y="1343"/>
                <a:ext cx="43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20532" name="Line 59"/>
            <p:cNvSpPr>
              <a:spLocks noChangeShapeType="1"/>
            </p:cNvSpPr>
            <p:nvPr/>
          </p:nvSpPr>
          <p:spPr bwMode="auto">
            <a:xfrm flipV="1">
              <a:off x="2304" y="195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33" name="Group 60"/>
            <p:cNvGrpSpPr>
              <a:grpSpLocks/>
            </p:cNvGrpSpPr>
            <p:nvPr/>
          </p:nvGrpSpPr>
          <p:grpSpPr bwMode="auto">
            <a:xfrm>
              <a:off x="1248" y="2160"/>
              <a:ext cx="256" cy="250"/>
              <a:chOff x="2784" y="1343"/>
              <a:chExt cx="432" cy="433"/>
            </a:xfrm>
          </p:grpSpPr>
          <p:sp>
            <p:nvSpPr>
              <p:cNvPr id="20558" name="Oval 6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59" name="Text Box 62"/>
              <p:cNvSpPr txBox="1">
                <a:spLocks noChangeArrowheads="1"/>
              </p:cNvSpPr>
              <p:nvPr/>
            </p:nvSpPr>
            <p:spPr bwMode="auto">
              <a:xfrm>
                <a:off x="2784" y="1343"/>
                <a:ext cx="4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21</a:t>
                </a:r>
                <a:endParaRPr lang="th-TH" altLang="en-US">
                  <a:latin typeface="Times New Roman" charset="0"/>
                </a:endParaRPr>
              </a:p>
            </p:txBody>
          </p:sp>
        </p:grpSp>
        <p:grpSp>
          <p:nvGrpSpPr>
            <p:cNvPr id="20534" name="Group 63"/>
            <p:cNvGrpSpPr>
              <a:grpSpLocks/>
            </p:cNvGrpSpPr>
            <p:nvPr/>
          </p:nvGrpSpPr>
          <p:grpSpPr bwMode="auto">
            <a:xfrm>
              <a:off x="1056" y="2670"/>
              <a:ext cx="257" cy="249"/>
              <a:chOff x="2784" y="1344"/>
              <a:chExt cx="434" cy="432"/>
            </a:xfrm>
          </p:grpSpPr>
          <p:sp>
            <p:nvSpPr>
              <p:cNvPr id="20556" name="Oval 64"/>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57" name="Text Box 65"/>
              <p:cNvSpPr txBox="1">
                <a:spLocks noChangeArrowheads="1"/>
              </p:cNvSpPr>
              <p:nvPr/>
            </p:nvSpPr>
            <p:spPr bwMode="auto">
              <a:xfrm>
                <a:off x="2786" y="1344"/>
                <a:ext cx="4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32</a:t>
                </a:r>
                <a:endParaRPr lang="th-TH" altLang="en-US">
                  <a:latin typeface="Times New Roman" charset="0"/>
                </a:endParaRPr>
              </a:p>
            </p:txBody>
          </p:sp>
        </p:grpSp>
        <p:sp>
          <p:nvSpPr>
            <p:cNvPr id="20535" name="Line 66"/>
            <p:cNvSpPr>
              <a:spLocks noChangeShapeType="1"/>
            </p:cNvSpPr>
            <p:nvPr/>
          </p:nvSpPr>
          <p:spPr bwMode="auto">
            <a:xfrm>
              <a:off x="1120" y="1947"/>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36" name="Line 67"/>
            <p:cNvSpPr>
              <a:spLocks noChangeShapeType="1"/>
            </p:cNvSpPr>
            <p:nvPr/>
          </p:nvSpPr>
          <p:spPr bwMode="auto">
            <a:xfrm flipH="1">
              <a:off x="1200"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37" name="Group 68"/>
            <p:cNvGrpSpPr>
              <a:grpSpLocks/>
            </p:cNvGrpSpPr>
            <p:nvPr/>
          </p:nvGrpSpPr>
          <p:grpSpPr bwMode="auto">
            <a:xfrm>
              <a:off x="912" y="1728"/>
              <a:ext cx="257" cy="250"/>
              <a:chOff x="2784" y="1343"/>
              <a:chExt cx="434" cy="433"/>
            </a:xfrm>
          </p:grpSpPr>
          <p:sp>
            <p:nvSpPr>
              <p:cNvPr id="20554" name="Oval 6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55" name="Text Box 70"/>
              <p:cNvSpPr txBox="1">
                <a:spLocks noChangeArrowheads="1"/>
              </p:cNvSpPr>
              <p:nvPr/>
            </p:nvSpPr>
            <p:spPr bwMode="auto">
              <a:xfrm>
                <a:off x="2784" y="1343"/>
                <a:ext cx="43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20538" name="Line 71"/>
            <p:cNvSpPr>
              <a:spLocks noChangeShapeType="1"/>
            </p:cNvSpPr>
            <p:nvPr/>
          </p:nvSpPr>
          <p:spPr bwMode="auto">
            <a:xfrm flipV="1">
              <a:off x="768" y="1950"/>
              <a:ext cx="19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39" name="Group 72"/>
            <p:cNvGrpSpPr>
              <a:grpSpLocks/>
            </p:cNvGrpSpPr>
            <p:nvPr/>
          </p:nvGrpSpPr>
          <p:grpSpPr bwMode="auto">
            <a:xfrm>
              <a:off x="336" y="2670"/>
              <a:ext cx="257" cy="249"/>
              <a:chOff x="2784" y="1344"/>
              <a:chExt cx="434" cy="432"/>
            </a:xfrm>
          </p:grpSpPr>
          <p:sp>
            <p:nvSpPr>
              <p:cNvPr id="20552" name="Oval 73"/>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53" name="Text Box 74"/>
              <p:cNvSpPr txBox="1">
                <a:spLocks noChangeArrowheads="1"/>
              </p:cNvSpPr>
              <p:nvPr/>
            </p:nvSpPr>
            <p:spPr bwMode="auto">
              <a:xfrm>
                <a:off x="2786" y="1344"/>
                <a:ext cx="4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65</a:t>
                </a:r>
                <a:endParaRPr lang="th-TH" altLang="en-US">
                  <a:latin typeface="Times New Roman" charset="0"/>
                </a:endParaRPr>
              </a:p>
            </p:txBody>
          </p:sp>
        </p:grpSp>
        <p:sp>
          <p:nvSpPr>
            <p:cNvPr id="20540" name="Line 78"/>
            <p:cNvSpPr>
              <a:spLocks noChangeShapeType="1"/>
            </p:cNvSpPr>
            <p:nvPr/>
          </p:nvSpPr>
          <p:spPr bwMode="auto">
            <a:xfrm flipH="1">
              <a:off x="528" y="2382"/>
              <a:ext cx="128" cy="24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41" name="Line 79"/>
            <p:cNvSpPr>
              <a:spLocks noChangeShapeType="1"/>
            </p:cNvSpPr>
            <p:nvPr/>
          </p:nvSpPr>
          <p:spPr bwMode="auto">
            <a:xfrm>
              <a:off x="768" y="2382"/>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42" name="Line 80"/>
            <p:cNvSpPr>
              <a:spLocks noChangeShapeType="1"/>
            </p:cNvSpPr>
            <p:nvPr/>
          </p:nvSpPr>
          <p:spPr bwMode="auto">
            <a:xfrm flipV="1">
              <a:off x="1104" y="1536"/>
              <a:ext cx="67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43" name="Line 81"/>
            <p:cNvSpPr>
              <a:spLocks noChangeShapeType="1"/>
            </p:cNvSpPr>
            <p:nvPr/>
          </p:nvSpPr>
          <p:spPr bwMode="auto">
            <a:xfrm>
              <a:off x="1920" y="1536"/>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44" name="Line 82"/>
            <p:cNvSpPr>
              <a:spLocks noChangeShapeType="1"/>
            </p:cNvSpPr>
            <p:nvPr/>
          </p:nvSpPr>
          <p:spPr bwMode="auto">
            <a:xfrm>
              <a:off x="1440" y="2448"/>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45" name="Group 83"/>
            <p:cNvGrpSpPr>
              <a:grpSpLocks/>
            </p:cNvGrpSpPr>
            <p:nvPr/>
          </p:nvGrpSpPr>
          <p:grpSpPr bwMode="auto">
            <a:xfrm>
              <a:off x="1728" y="1296"/>
              <a:ext cx="256" cy="250"/>
              <a:chOff x="2784" y="1343"/>
              <a:chExt cx="432" cy="433"/>
            </a:xfrm>
          </p:grpSpPr>
          <p:sp>
            <p:nvSpPr>
              <p:cNvPr id="20550" name="Oval 84"/>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51" name="Text Box 85"/>
              <p:cNvSpPr txBox="1">
                <a:spLocks noChangeArrowheads="1"/>
              </p:cNvSpPr>
              <p:nvPr/>
            </p:nvSpPr>
            <p:spPr bwMode="auto">
              <a:xfrm>
                <a:off x="2784" y="1343"/>
                <a:ext cx="4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14</a:t>
                </a:r>
                <a:endParaRPr lang="th-TH" altLang="en-US">
                  <a:latin typeface="Times New Roman" charset="0"/>
                </a:endParaRPr>
              </a:p>
            </p:txBody>
          </p:sp>
        </p:grpSp>
        <p:sp>
          <p:nvSpPr>
            <p:cNvPr id="20546" name="Text Box 86"/>
            <p:cNvSpPr txBox="1">
              <a:spLocks noChangeArrowheads="1"/>
            </p:cNvSpPr>
            <p:nvPr/>
          </p:nvSpPr>
          <p:spPr bwMode="auto">
            <a:xfrm>
              <a:off x="1440" y="2688"/>
              <a:ext cx="2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spcBef>
                  <a:spcPct val="50000"/>
                </a:spcBef>
              </a:pPr>
              <a:r>
                <a:rPr lang="th-TH" altLang="en-US" sz="1200">
                  <a:latin typeface="Times New Roman" charset="0"/>
                </a:rPr>
                <a:t>31</a:t>
              </a:r>
              <a:endParaRPr lang="th-TH" altLang="en-US">
                <a:latin typeface="Angsana New" charset="0"/>
              </a:endParaRPr>
            </a:p>
          </p:txBody>
        </p:sp>
        <p:grpSp>
          <p:nvGrpSpPr>
            <p:cNvPr id="20547" name="Group 87"/>
            <p:cNvGrpSpPr>
              <a:grpSpLocks/>
            </p:cNvGrpSpPr>
            <p:nvPr/>
          </p:nvGrpSpPr>
          <p:grpSpPr bwMode="auto">
            <a:xfrm>
              <a:off x="576" y="2160"/>
              <a:ext cx="257" cy="250"/>
              <a:chOff x="2784" y="1343"/>
              <a:chExt cx="434" cy="433"/>
            </a:xfrm>
          </p:grpSpPr>
          <p:sp>
            <p:nvSpPr>
              <p:cNvPr id="20548" name="Oval 88"/>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49" name="Text Box 89"/>
              <p:cNvSpPr txBox="1">
                <a:spLocks noChangeArrowheads="1"/>
              </p:cNvSpPr>
              <p:nvPr/>
            </p:nvSpPr>
            <p:spPr bwMode="auto">
              <a:xfrm>
                <a:off x="2784" y="1343"/>
                <a:ext cx="43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26</a:t>
                </a:r>
                <a:endParaRPr lang="th-TH" altLang="en-US">
                  <a:latin typeface="Times New Roman" charset="0"/>
                </a:endParaRPr>
              </a:p>
            </p:txBody>
          </p:sp>
        </p:grpSp>
      </p:grpSp>
      <p:grpSp>
        <p:nvGrpSpPr>
          <p:cNvPr id="20484" name="Group 93"/>
          <p:cNvGrpSpPr>
            <a:grpSpLocks/>
          </p:cNvGrpSpPr>
          <p:nvPr/>
        </p:nvGrpSpPr>
        <p:grpSpPr bwMode="auto">
          <a:xfrm>
            <a:off x="3113088" y="3402013"/>
            <a:ext cx="4887912" cy="2605088"/>
            <a:chOff x="3216" y="1340"/>
            <a:chExt cx="2705" cy="1641"/>
          </a:xfrm>
        </p:grpSpPr>
        <p:grpSp>
          <p:nvGrpSpPr>
            <p:cNvPr id="20488" name="Group 7"/>
            <p:cNvGrpSpPr>
              <a:grpSpLocks/>
            </p:cNvGrpSpPr>
            <p:nvPr/>
          </p:nvGrpSpPr>
          <p:grpSpPr bwMode="auto">
            <a:xfrm>
              <a:off x="5344" y="1772"/>
              <a:ext cx="256" cy="249"/>
              <a:chOff x="2784" y="1343"/>
              <a:chExt cx="432" cy="433"/>
            </a:xfrm>
          </p:grpSpPr>
          <p:sp>
            <p:nvSpPr>
              <p:cNvPr id="20525" name="Oval 8"/>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26" name="Text Box 9"/>
              <p:cNvSpPr txBox="1">
                <a:spLocks noChangeArrowheads="1"/>
              </p:cNvSpPr>
              <p:nvPr/>
            </p:nvSpPr>
            <p:spPr bwMode="auto">
              <a:xfrm>
                <a:off x="2784" y="1343"/>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16</a:t>
                </a:r>
                <a:endParaRPr lang="th-TH" altLang="en-US">
                  <a:latin typeface="Times New Roman" charset="0"/>
                </a:endParaRPr>
              </a:p>
            </p:txBody>
          </p:sp>
        </p:grpSp>
        <p:grpSp>
          <p:nvGrpSpPr>
            <p:cNvPr id="20489" name="Group 10"/>
            <p:cNvGrpSpPr>
              <a:grpSpLocks/>
            </p:cNvGrpSpPr>
            <p:nvPr/>
          </p:nvGrpSpPr>
          <p:grpSpPr bwMode="auto">
            <a:xfrm>
              <a:off x="5664" y="2208"/>
              <a:ext cx="257" cy="249"/>
              <a:chOff x="2784" y="1343"/>
              <a:chExt cx="434" cy="433"/>
            </a:xfrm>
          </p:grpSpPr>
          <p:sp>
            <p:nvSpPr>
              <p:cNvPr id="20523" name="Oval 1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24" name="Text Box 12"/>
              <p:cNvSpPr txBox="1">
                <a:spLocks noChangeArrowheads="1"/>
              </p:cNvSpPr>
              <p:nvPr/>
            </p:nvSpPr>
            <p:spPr bwMode="auto">
              <a:xfrm>
                <a:off x="2784" y="1343"/>
                <a:ext cx="43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68</a:t>
                </a:r>
                <a:endParaRPr lang="th-TH" altLang="en-US">
                  <a:latin typeface="Times New Roman" charset="0"/>
                </a:endParaRPr>
              </a:p>
            </p:txBody>
          </p:sp>
        </p:grpSp>
        <p:sp>
          <p:nvSpPr>
            <p:cNvPr id="20490" name="Line 13"/>
            <p:cNvSpPr>
              <a:spLocks noChangeShapeType="1"/>
            </p:cNvSpPr>
            <p:nvPr/>
          </p:nvSpPr>
          <p:spPr bwMode="auto">
            <a:xfrm>
              <a:off x="5536" y="199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491" name="Group 14"/>
            <p:cNvGrpSpPr>
              <a:grpSpLocks/>
            </p:cNvGrpSpPr>
            <p:nvPr/>
          </p:nvGrpSpPr>
          <p:grpSpPr bwMode="auto">
            <a:xfrm>
              <a:off x="4992" y="2186"/>
              <a:ext cx="257" cy="249"/>
              <a:chOff x="2784" y="1343"/>
              <a:chExt cx="434" cy="433"/>
            </a:xfrm>
          </p:grpSpPr>
          <p:sp>
            <p:nvSpPr>
              <p:cNvPr id="20521" name="Oval 15"/>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22" name="Text Box 16"/>
              <p:cNvSpPr txBox="1">
                <a:spLocks noChangeArrowheads="1"/>
              </p:cNvSpPr>
              <p:nvPr/>
            </p:nvSpPr>
            <p:spPr bwMode="auto">
              <a:xfrm>
                <a:off x="2784" y="1343"/>
                <a:ext cx="43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20492" name="Line 17"/>
            <p:cNvSpPr>
              <a:spLocks noChangeShapeType="1"/>
            </p:cNvSpPr>
            <p:nvPr/>
          </p:nvSpPr>
          <p:spPr bwMode="auto">
            <a:xfrm flipV="1">
              <a:off x="5184" y="199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493" name="Group 18"/>
            <p:cNvGrpSpPr>
              <a:grpSpLocks/>
            </p:cNvGrpSpPr>
            <p:nvPr/>
          </p:nvGrpSpPr>
          <p:grpSpPr bwMode="auto">
            <a:xfrm>
              <a:off x="4128" y="2204"/>
              <a:ext cx="256" cy="249"/>
              <a:chOff x="2784" y="1343"/>
              <a:chExt cx="432" cy="433"/>
            </a:xfrm>
          </p:grpSpPr>
          <p:sp>
            <p:nvSpPr>
              <p:cNvPr id="20519" name="Oval 19"/>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20" name="Text Box 20"/>
              <p:cNvSpPr txBox="1">
                <a:spLocks noChangeArrowheads="1"/>
              </p:cNvSpPr>
              <p:nvPr/>
            </p:nvSpPr>
            <p:spPr bwMode="auto">
              <a:xfrm>
                <a:off x="2784" y="1343"/>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21</a:t>
                </a:r>
                <a:endParaRPr lang="th-TH" altLang="en-US">
                  <a:latin typeface="Times New Roman" charset="0"/>
                </a:endParaRPr>
              </a:p>
            </p:txBody>
          </p:sp>
        </p:grpSp>
        <p:grpSp>
          <p:nvGrpSpPr>
            <p:cNvPr id="20494" name="Group 21"/>
            <p:cNvGrpSpPr>
              <a:grpSpLocks/>
            </p:cNvGrpSpPr>
            <p:nvPr/>
          </p:nvGrpSpPr>
          <p:grpSpPr bwMode="auto">
            <a:xfrm>
              <a:off x="3936" y="2715"/>
              <a:ext cx="257" cy="248"/>
              <a:chOff x="2784" y="1344"/>
              <a:chExt cx="434" cy="432"/>
            </a:xfrm>
          </p:grpSpPr>
          <p:sp>
            <p:nvSpPr>
              <p:cNvPr id="20517" name="Oval 2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18" name="Text Box 23"/>
              <p:cNvSpPr txBox="1">
                <a:spLocks noChangeArrowheads="1"/>
              </p:cNvSpPr>
              <p:nvPr/>
            </p:nvSpPr>
            <p:spPr bwMode="auto">
              <a:xfrm>
                <a:off x="2786" y="1344"/>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32</a:t>
                </a:r>
                <a:endParaRPr lang="th-TH" altLang="en-US">
                  <a:latin typeface="Times New Roman" charset="0"/>
                </a:endParaRPr>
              </a:p>
            </p:txBody>
          </p:sp>
        </p:grpSp>
        <p:sp>
          <p:nvSpPr>
            <p:cNvPr id="20495" name="Line 24"/>
            <p:cNvSpPr>
              <a:spLocks noChangeShapeType="1"/>
            </p:cNvSpPr>
            <p:nvPr/>
          </p:nvSpPr>
          <p:spPr bwMode="auto">
            <a:xfrm>
              <a:off x="4000" y="1995"/>
              <a:ext cx="256"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496" name="Line 25"/>
            <p:cNvSpPr>
              <a:spLocks noChangeShapeType="1"/>
            </p:cNvSpPr>
            <p:nvPr/>
          </p:nvSpPr>
          <p:spPr bwMode="auto">
            <a:xfrm flipH="1">
              <a:off x="4080" y="2478"/>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497" name="Group 26"/>
            <p:cNvGrpSpPr>
              <a:grpSpLocks/>
            </p:cNvGrpSpPr>
            <p:nvPr/>
          </p:nvGrpSpPr>
          <p:grpSpPr bwMode="auto">
            <a:xfrm>
              <a:off x="3792" y="1772"/>
              <a:ext cx="257" cy="249"/>
              <a:chOff x="2784" y="1343"/>
              <a:chExt cx="434" cy="433"/>
            </a:xfrm>
          </p:grpSpPr>
          <p:sp>
            <p:nvSpPr>
              <p:cNvPr id="20515" name="Oval 27"/>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16" name="Text Box 28"/>
              <p:cNvSpPr txBox="1">
                <a:spLocks noChangeArrowheads="1"/>
              </p:cNvSpPr>
              <p:nvPr/>
            </p:nvSpPr>
            <p:spPr bwMode="auto">
              <a:xfrm>
                <a:off x="2784" y="1343"/>
                <a:ext cx="43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19</a:t>
                </a:r>
                <a:endParaRPr lang="th-TH" altLang="en-US">
                  <a:latin typeface="Times New Roman" charset="0"/>
                </a:endParaRPr>
              </a:p>
            </p:txBody>
          </p:sp>
        </p:grpSp>
        <p:sp>
          <p:nvSpPr>
            <p:cNvPr id="20498" name="Line 29"/>
            <p:cNvSpPr>
              <a:spLocks noChangeShapeType="1"/>
            </p:cNvSpPr>
            <p:nvPr/>
          </p:nvSpPr>
          <p:spPr bwMode="auto">
            <a:xfrm flipV="1">
              <a:off x="3648" y="1998"/>
              <a:ext cx="19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499" name="Group 30"/>
            <p:cNvGrpSpPr>
              <a:grpSpLocks/>
            </p:cNvGrpSpPr>
            <p:nvPr/>
          </p:nvGrpSpPr>
          <p:grpSpPr bwMode="auto">
            <a:xfrm>
              <a:off x="3216" y="2715"/>
              <a:ext cx="257" cy="248"/>
              <a:chOff x="2784" y="1344"/>
              <a:chExt cx="434" cy="432"/>
            </a:xfrm>
          </p:grpSpPr>
          <p:sp>
            <p:nvSpPr>
              <p:cNvPr id="20513" name="Oval 31"/>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14" name="Text Box 32"/>
              <p:cNvSpPr txBox="1">
                <a:spLocks noChangeArrowheads="1"/>
              </p:cNvSpPr>
              <p:nvPr/>
            </p:nvSpPr>
            <p:spPr bwMode="auto">
              <a:xfrm>
                <a:off x="2786" y="1344"/>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65</a:t>
                </a:r>
                <a:endParaRPr lang="th-TH" altLang="en-US">
                  <a:latin typeface="Times New Roman" charset="0"/>
                </a:endParaRPr>
              </a:p>
            </p:txBody>
          </p:sp>
        </p:grpSp>
        <p:grpSp>
          <p:nvGrpSpPr>
            <p:cNvPr id="20500" name="Group 33"/>
            <p:cNvGrpSpPr>
              <a:grpSpLocks/>
            </p:cNvGrpSpPr>
            <p:nvPr/>
          </p:nvGrpSpPr>
          <p:grpSpPr bwMode="auto">
            <a:xfrm>
              <a:off x="3456" y="2157"/>
              <a:ext cx="257" cy="248"/>
              <a:chOff x="2784" y="1344"/>
              <a:chExt cx="434" cy="432"/>
            </a:xfrm>
          </p:grpSpPr>
          <p:sp>
            <p:nvSpPr>
              <p:cNvPr id="20511" name="Oval 34"/>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12" name="Text Box 35"/>
              <p:cNvSpPr txBox="1">
                <a:spLocks noChangeArrowheads="1"/>
              </p:cNvSpPr>
              <p:nvPr/>
            </p:nvSpPr>
            <p:spPr bwMode="auto">
              <a:xfrm>
                <a:off x="2786" y="1344"/>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26</a:t>
                </a:r>
                <a:endParaRPr lang="th-TH" altLang="en-US">
                  <a:latin typeface="Times New Roman" charset="0"/>
                </a:endParaRPr>
              </a:p>
            </p:txBody>
          </p:sp>
        </p:grpSp>
        <p:sp>
          <p:nvSpPr>
            <p:cNvPr id="20501" name="Line 36"/>
            <p:cNvSpPr>
              <a:spLocks noChangeShapeType="1"/>
            </p:cNvSpPr>
            <p:nvPr/>
          </p:nvSpPr>
          <p:spPr bwMode="auto">
            <a:xfrm flipH="1">
              <a:off x="3408" y="2430"/>
              <a:ext cx="128" cy="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02" name="Line 37"/>
            <p:cNvSpPr>
              <a:spLocks noChangeShapeType="1"/>
            </p:cNvSpPr>
            <p:nvPr/>
          </p:nvSpPr>
          <p:spPr bwMode="auto">
            <a:xfrm>
              <a:off x="3648" y="2430"/>
              <a:ext cx="96"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03" name="Line 38"/>
            <p:cNvSpPr>
              <a:spLocks noChangeShapeType="1"/>
            </p:cNvSpPr>
            <p:nvPr/>
          </p:nvSpPr>
          <p:spPr bwMode="auto">
            <a:xfrm flipV="1">
              <a:off x="3984" y="1584"/>
              <a:ext cx="672" cy="1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600"/>
            </a:p>
          </p:txBody>
        </p:sp>
        <p:sp>
          <p:nvSpPr>
            <p:cNvPr id="20504" name="Line 39"/>
            <p:cNvSpPr>
              <a:spLocks noChangeShapeType="1"/>
            </p:cNvSpPr>
            <p:nvPr/>
          </p:nvSpPr>
          <p:spPr bwMode="auto">
            <a:xfrm>
              <a:off x="4800" y="1584"/>
              <a:ext cx="62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p>
          </p:txBody>
        </p:sp>
        <p:grpSp>
          <p:nvGrpSpPr>
            <p:cNvPr id="20505" name="Group 41"/>
            <p:cNvGrpSpPr>
              <a:grpSpLocks/>
            </p:cNvGrpSpPr>
            <p:nvPr/>
          </p:nvGrpSpPr>
          <p:grpSpPr bwMode="auto">
            <a:xfrm>
              <a:off x="4608" y="1340"/>
              <a:ext cx="256" cy="249"/>
              <a:chOff x="2784" y="1343"/>
              <a:chExt cx="432" cy="433"/>
            </a:xfrm>
          </p:grpSpPr>
          <p:sp>
            <p:nvSpPr>
              <p:cNvPr id="20509" name="Oval 42"/>
              <p:cNvSpPr>
                <a:spLocks noChangeArrowheads="1"/>
              </p:cNvSpPr>
              <p:nvPr/>
            </p:nvSpPr>
            <p:spPr bwMode="auto">
              <a:xfrm>
                <a:off x="2784" y="1344"/>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10" name="Text Box 43"/>
              <p:cNvSpPr txBox="1">
                <a:spLocks noChangeArrowheads="1"/>
              </p:cNvSpPr>
              <p:nvPr/>
            </p:nvSpPr>
            <p:spPr bwMode="auto">
              <a:xfrm>
                <a:off x="2784" y="1343"/>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a:latin typeface="Times New Roman" charset="0"/>
                  </a:rPr>
                  <a:t>14</a:t>
                </a:r>
                <a:endParaRPr lang="th-TH" altLang="en-US">
                  <a:latin typeface="Times New Roman" charset="0"/>
                </a:endParaRPr>
              </a:p>
            </p:txBody>
          </p:sp>
        </p:grpSp>
        <p:grpSp>
          <p:nvGrpSpPr>
            <p:cNvPr id="20506" name="Group 90"/>
            <p:cNvGrpSpPr>
              <a:grpSpLocks/>
            </p:cNvGrpSpPr>
            <p:nvPr/>
          </p:nvGrpSpPr>
          <p:grpSpPr bwMode="auto">
            <a:xfrm>
              <a:off x="3648" y="2733"/>
              <a:ext cx="257" cy="248"/>
              <a:chOff x="2784" y="1344"/>
              <a:chExt cx="434" cy="432"/>
            </a:xfrm>
          </p:grpSpPr>
          <p:sp>
            <p:nvSpPr>
              <p:cNvPr id="20507" name="Oval 91"/>
              <p:cNvSpPr>
                <a:spLocks noChangeArrowheads="1"/>
              </p:cNvSpPr>
              <p:nvPr/>
            </p:nvSpPr>
            <p:spPr bwMode="auto">
              <a:xfrm>
                <a:off x="2784" y="1344"/>
                <a:ext cx="432" cy="432"/>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endParaRPr lang="tr-TR" altLang="en-US" sz="1600"/>
              </a:p>
            </p:txBody>
          </p:sp>
          <p:sp>
            <p:nvSpPr>
              <p:cNvPr id="20508" name="Text Box 92"/>
              <p:cNvSpPr txBox="1">
                <a:spLocks noChangeArrowheads="1"/>
              </p:cNvSpPr>
              <p:nvPr/>
            </p:nvSpPr>
            <p:spPr bwMode="auto">
              <a:xfrm>
                <a:off x="2786" y="1344"/>
                <a:ext cx="4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lgn="ctr">
                  <a:spcBef>
                    <a:spcPct val="50000"/>
                  </a:spcBef>
                </a:pPr>
                <a:r>
                  <a:rPr lang="th-TH" altLang="en-US" sz="1200" dirty="0">
                    <a:latin typeface="Times New Roman" charset="0"/>
                  </a:rPr>
                  <a:t>31</a:t>
                </a:r>
                <a:endParaRPr lang="th-TH" altLang="en-US" dirty="0">
                  <a:latin typeface="Times New Roman" charset="0"/>
                </a:endParaRPr>
              </a:p>
            </p:txBody>
          </p:sp>
        </p:grpSp>
      </p:gr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9323E2D1-52C9-2947-96D0-C42EA3E827C8}" type="slidenum">
              <a:rPr lang="zh-TW" altLang="en-US" sz="1200">
                <a:solidFill>
                  <a:srgbClr val="898989"/>
                </a:solidFill>
              </a:rPr>
              <a:pPr/>
              <a:t>20</a:t>
            </a:fld>
            <a:endParaRPr lang="en-US" altLang="zh-TW" sz="1200">
              <a:solidFill>
                <a:srgbClr val="898989"/>
              </a:solidFill>
            </a:endParaRPr>
          </a:p>
        </p:txBody>
      </p:sp>
      <p:sp>
        <p:nvSpPr>
          <p:cNvPr id="87" name="Ellipse 86"/>
          <p:cNvSpPr/>
          <p:nvPr/>
        </p:nvSpPr>
        <p:spPr>
          <a:xfrm>
            <a:off x="1946275" y="3508375"/>
            <a:ext cx="496888" cy="449263"/>
          </a:xfrm>
          <a:prstGeom prst="ellipse">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Monotype Sorts" pitchFamily="2" charset="2"/>
              <a:buChar char="l"/>
              <a:defRPr/>
            </a:pPr>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03263" y="304800"/>
            <a:ext cx="7772400" cy="1143000"/>
          </a:xfrm>
        </p:spPr>
        <p:txBody>
          <a:bodyPr/>
          <a:lstStyle/>
          <a:p>
            <a:r>
              <a:rPr lang="en-US" altLang="en-US" sz="4000" b="1">
                <a:solidFill>
                  <a:srgbClr val="000099"/>
                </a:solidFill>
              </a:rPr>
              <a:t>Running Time</a:t>
            </a:r>
          </a:p>
        </p:txBody>
      </p:sp>
      <p:sp>
        <p:nvSpPr>
          <p:cNvPr id="18437" name="Rectangle 3"/>
          <p:cNvSpPr>
            <a:spLocks noGrp="1" noChangeArrowheads="1"/>
          </p:cNvSpPr>
          <p:nvPr>
            <p:ph type="body" idx="1"/>
          </p:nvPr>
        </p:nvSpPr>
        <p:spPr>
          <a:xfrm>
            <a:off x="563563" y="1295400"/>
            <a:ext cx="8161337" cy="4114800"/>
          </a:xfrm>
        </p:spPr>
        <p:txBody>
          <a:bodyPr/>
          <a:lstStyle/>
          <a:p>
            <a:pPr>
              <a:defRPr/>
            </a:pPr>
            <a:r>
              <a:rPr lang="en-US" i="1" dirty="0">
                <a:latin typeface="+mj-lt"/>
              </a:rPr>
              <a:t>insert</a:t>
            </a:r>
            <a:r>
              <a:rPr lang="en-US" dirty="0">
                <a:latin typeface="+mj-lt"/>
              </a:rPr>
              <a:t> </a:t>
            </a:r>
          </a:p>
          <a:p>
            <a:pPr lvl="1">
              <a:defRPr/>
            </a:pPr>
            <a:r>
              <a:rPr lang="en-US" dirty="0">
                <a:latin typeface="+mj-lt"/>
              </a:rPr>
              <a:t>worst case: takes O(log N) time.</a:t>
            </a:r>
          </a:p>
          <a:p>
            <a:pPr>
              <a:defRPr/>
            </a:pPr>
            <a:r>
              <a:rPr lang="en-US" dirty="0" err="1">
                <a:latin typeface="+mj-lt"/>
              </a:rPr>
              <a:t>deleteMin</a:t>
            </a:r>
            <a:r>
              <a:rPr lang="en-US" dirty="0">
                <a:latin typeface="+mj-lt"/>
              </a:rPr>
              <a:t> </a:t>
            </a:r>
          </a:p>
          <a:p>
            <a:pPr lvl="1">
              <a:defRPr/>
            </a:pPr>
            <a:r>
              <a:rPr lang="en-US" dirty="0">
                <a:latin typeface="+mj-lt"/>
              </a:rPr>
              <a:t>worst case: takes O(log N) time.</a:t>
            </a:r>
          </a:p>
          <a:p>
            <a:pPr lvl="1">
              <a:defRPr/>
            </a:pPr>
            <a:endParaRPr lang="en-US" dirty="0">
              <a:latin typeface="+mj-lt"/>
            </a:endParaRP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50B6D901-6300-4C42-9A39-D835E88ABF9C}" type="slidenum">
              <a:rPr lang="zh-TW" altLang="en-US" sz="1200">
                <a:solidFill>
                  <a:srgbClr val="898989"/>
                </a:solidFill>
                <a:latin typeface="Calibri" charset="0"/>
              </a:rPr>
              <a:pPr/>
              <a:t>21</a:t>
            </a:fld>
            <a:endParaRPr lang="en-US" altLang="zh-TW" sz="1200">
              <a:solidFill>
                <a:srgbClr val="898989"/>
              </a:solidFill>
              <a:latin typeface="Calibri"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tr-TR" altLang="en-US" sz="4800" b="1">
                <a:solidFill>
                  <a:srgbClr val="000099"/>
                </a:solidFill>
              </a:rPr>
              <a:t>Building a Heap</a:t>
            </a:r>
          </a:p>
        </p:txBody>
      </p:sp>
      <p:sp>
        <p:nvSpPr>
          <p:cNvPr id="25603" name="Content Placeholder 2"/>
          <p:cNvSpPr>
            <a:spLocks noGrp="1"/>
          </p:cNvSpPr>
          <p:nvPr>
            <p:ph idx="1"/>
          </p:nvPr>
        </p:nvSpPr>
        <p:spPr>
          <a:xfrm>
            <a:off x="152400" y="1752600"/>
            <a:ext cx="8763000" cy="4419600"/>
          </a:xfrm>
        </p:spPr>
        <p:txBody>
          <a:bodyPr/>
          <a:lstStyle/>
          <a:p>
            <a:pPr>
              <a:defRPr/>
            </a:pPr>
            <a:r>
              <a:rPr lang="tr-TR" dirty="0">
                <a:latin typeface="+mj-lt"/>
                <a:cs typeface="Times New Roman" pitchFamily="18" charset="0"/>
              </a:rPr>
              <a:t>Sometimes it is required to construct it from an initial collection of items </a:t>
            </a:r>
            <a:r>
              <a:rPr lang="tr-TR" i="1" dirty="0">
                <a:solidFill>
                  <a:srgbClr val="FF0000"/>
                </a:solidFill>
                <a:latin typeface="+mj-lt"/>
                <a:cs typeface="Times New Roman" pitchFamily="18" charset="0"/>
              </a:rPr>
              <a:t>O(NlogN) </a:t>
            </a:r>
            <a:r>
              <a:rPr lang="tr-TR" dirty="0">
                <a:latin typeface="+mj-lt"/>
                <a:cs typeface="Times New Roman" pitchFamily="18" charset="0"/>
              </a:rPr>
              <a:t>in the </a:t>
            </a:r>
            <a:r>
              <a:rPr lang="tr-TR" dirty="0">
                <a:solidFill>
                  <a:srgbClr val="FF0000"/>
                </a:solidFill>
                <a:latin typeface="+mj-lt"/>
                <a:cs typeface="Times New Roman" pitchFamily="18" charset="0"/>
              </a:rPr>
              <a:t>worst case</a:t>
            </a:r>
            <a:r>
              <a:rPr lang="tr-TR" dirty="0">
                <a:latin typeface="+mj-lt"/>
                <a:cs typeface="Times New Roman" pitchFamily="18" charset="0"/>
              </a:rPr>
              <a:t>.</a:t>
            </a:r>
          </a:p>
          <a:p>
            <a:pPr>
              <a:defRPr/>
            </a:pPr>
            <a:endParaRPr lang="tr-TR" b="1" dirty="0">
              <a:solidFill>
                <a:srgbClr val="000099"/>
              </a:solidFill>
              <a:latin typeface="+mj-lt"/>
              <a:ea typeface="+mj-ea"/>
              <a:cs typeface="+mj-cs"/>
            </a:endParaRPr>
          </a:p>
          <a:p>
            <a:pPr>
              <a:defRPr/>
            </a:pPr>
            <a:r>
              <a:rPr lang="tr-TR" dirty="0">
                <a:latin typeface="+mj-lt"/>
                <a:cs typeface="Times New Roman" pitchFamily="18" charset="0"/>
              </a:rPr>
              <a:t>But </a:t>
            </a:r>
            <a:r>
              <a:rPr lang="tr-TR" dirty="0">
                <a:solidFill>
                  <a:srgbClr val="FF0000"/>
                </a:solidFill>
                <a:latin typeface="+mj-lt"/>
                <a:cs typeface="Times New Roman" pitchFamily="18" charset="0"/>
              </a:rPr>
              <a:t>insertions</a:t>
            </a:r>
            <a:r>
              <a:rPr lang="tr-TR" dirty="0">
                <a:latin typeface="+mj-lt"/>
                <a:cs typeface="Times New Roman" pitchFamily="18" charset="0"/>
              </a:rPr>
              <a:t> take </a:t>
            </a:r>
            <a:r>
              <a:rPr lang="tr-TR" i="1" dirty="0">
                <a:solidFill>
                  <a:srgbClr val="FF0000"/>
                </a:solidFill>
                <a:latin typeface="+mj-lt"/>
                <a:cs typeface="Times New Roman" pitchFamily="18" charset="0"/>
              </a:rPr>
              <a:t>O(1)</a:t>
            </a:r>
            <a:r>
              <a:rPr lang="tr-TR" dirty="0">
                <a:solidFill>
                  <a:srgbClr val="FF0000"/>
                </a:solidFill>
                <a:latin typeface="+mj-lt"/>
                <a:cs typeface="Times New Roman" pitchFamily="18" charset="0"/>
              </a:rPr>
              <a:t> </a:t>
            </a:r>
            <a:r>
              <a:rPr lang="tr-TR" dirty="0">
                <a:latin typeface="+mj-lt"/>
                <a:cs typeface="Times New Roman" pitchFamily="18" charset="0"/>
              </a:rPr>
              <a:t>on the average.</a:t>
            </a:r>
          </a:p>
          <a:p>
            <a:pPr>
              <a:defRPr/>
            </a:pPr>
            <a:endParaRPr lang="tr-TR" dirty="0">
              <a:latin typeface="+mj-lt"/>
              <a:cs typeface="Times New Roman" pitchFamily="18" charset="0"/>
            </a:endParaRPr>
          </a:p>
          <a:p>
            <a:pPr>
              <a:defRPr/>
            </a:pPr>
            <a:r>
              <a:rPr lang="tr-TR" sz="3000" dirty="0">
                <a:latin typeface="+mj-lt"/>
                <a:cs typeface="Times New Roman" pitchFamily="18" charset="0"/>
              </a:rPr>
              <a:t>Hence the question: is it possible to do any better?</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92B14FF9-8682-2F46-9F4E-925D4D11A1DE}" type="slidenum">
              <a:rPr lang="zh-TW" altLang="en-US" sz="1200">
                <a:solidFill>
                  <a:srgbClr val="898989"/>
                </a:solidFill>
                <a:latin typeface="Calibri" charset="0"/>
              </a:rPr>
              <a:pPr/>
              <a:t>22</a:t>
            </a:fld>
            <a:endParaRPr lang="en-US" altLang="zh-TW" sz="1200">
              <a:solidFill>
                <a:srgbClr val="898989"/>
              </a:solidFill>
              <a:latin typeface="Calibri"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tr-TR" altLang="en-US" b="1">
                <a:solidFill>
                  <a:srgbClr val="000099"/>
                </a:solidFill>
                <a:ea typeface="Courier New" charset="0"/>
                <a:cs typeface="Courier New" charset="0"/>
              </a:rPr>
              <a:t>buildHeap</a:t>
            </a:r>
            <a:r>
              <a:rPr lang="tr-TR" altLang="en-US" b="1">
                <a:solidFill>
                  <a:srgbClr val="000099"/>
                </a:solidFill>
                <a:ea typeface="Times New Roman" charset="0"/>
                <a:cs typeface="Times New Roman" charset="0"/>
              </a:rPr>
              <a:t> Algorithm</a:t>
            </a:r>
          </a:p>
        </p:txBody>
      </p:sp>
      <p:sp>
        <p:nvSpPr>
          <p:cNvPr id="26627" name="Content Placeholder 2"/>
          <p:cNvSpPr>
            <a:spLocks noGrp="1"/>
          </p:cNvSpPr>
          <p:nvPr>
            <p:ph idx="1"/>
          </p:nvPr>
        </p:nvSpPr>
        <p:spPr>
          <a:xfrm>
            <a:off x="685800" y="1600200"/>
            <a:ext cx="7772400" cy="4114800"/>
          </a:xfrm>
        </p:spPr>
        <p:txBody>
          <a:bodyPr/>
          <a:lstStyle/>
          <a:p>
            <a:pPr>
              <a:defRPr/>
            </a:pPr>
            <a:r>
              <a:rPr lang="tr-TR" dirty="0">
                <a:latin typeface="+mj-lt"/>
                <a:cs typeface="Times New Roman" pitchFamily="18" charset="0"/>
              </a:rPr>
              <a:t>General Algorithm</a:t>
            </a:r>
          </a:p>
          <a:p>
            <a:pPr>
              <a:defRPr/>
            </a:pPr>
            <a:r>
              <a:rPr lang="tr-TR" dirty="0">
                <a:latin typeface="+mj-lt"/>
                <a:cs typeface="Times New Roman" pitchFamily="18" charset="0"/>
              </a:rPr>
              <a:t>Place the N items into the tree in any order, maintaining the structure property.</a:t>
            </a:r>
          </a:p>
          <a:p>
            <a:pPr>
              <a:defRPr/>
            </a:pPr>
            <a:r>
              <a:rPr lang="tr-TR" dirty="0">
                <a:latin typeface="+mj-lt"/>
                <a:cs typeface="Times New Roman" pitchFamily="18" charset="0"/>
              </a:rPr>
              <a:t>Call buildHeap</a:t>
            </a:r>
          </a:p>
          <a:p>
            <a:pPr>
              <a:buFontTx/>
              <a:buNone/>
              <a:defRPr/>
            </a:pPr>
            <a:endParaRPr lang="tr-TR" dirty="0">
              <a:latin typeface="+mj-lt"/>
              <a:cs typeface="Times New Roman" pitchFamily="18" charset="0"/>
            </a:endParaRPr>
          </a:p>
        </p:txBody>
      </p:sp>
      <p:sp>
        <p:nvSpPr>
          <p:cNvPr id="26629" name="TextBox 5"/>
          <p:cNvSpPr txBox="1">
            <a:spLocks noChangeArrowheads="1"/>
          </p:cNvSpPr>
          <p:nvPr/>
        </p:nvSpPr>
        <p:spPr bwMode="auto">
          <a:xfrm>
            <a:off x="1687513" y="3886200"/>
            <a:ext cx="5557837"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buFont typeface="Monotype Sorts" pitchFamily="2" charset="2"/>
              <a:buNone/>
              <a:defRPr/>
            </a:pPr>
            <a:r>
              <a:rPr lang="tr-TR" sz="1800" dirty="0">
                <a:latin typeface="+mj-lt"/>
                <a:cs typeface="Courier New" pitchFamily="49" charset="0"/>
              </a:rPr>
              <a:t>void buildHeap( PriorityQueue H, int N )</a:t>
            </a:r>
          </a:p>
          <a:p>
            <a:pPr>
              <a:buFont typeface="Monotype Sorts" pitchFamily="2" charset="2"/>
              <a:buNone/>
              <a:defRPr/>
            </a:pPr>
            <a:r>
              <a:rPr lang="tr-TR" sz="1800" dirty="0">
                <a:latin typeface="+mj-lt"/>
                <a:cs typeface="Courier New" pitchFamily="49" charset="0"/>
              </a:rPr>
              <a:t>{</a:t>
            </a:r>
          </a:p>
          <a:p>
            <a:pPr>
              <a:buFont typeface="Monotype Sorts" pitchFamily="2" charset="2"/>
              <a:buNone/>
              <a:defRPr/>
            </a:pPr>
            <a:r>
              <a:rPr lang="tr-TR" sz="1800" dirty="0">
                <a:latin typeface="+mj-lt"/>
                <a:cs typeface="Courier New" pitchFamily="49" charset="0"/>
              </a:rPr>
              <a:t>   int i;</a:t>
            </a:r>
          </a:p>
          <a:p>
            <a:pPr>
              <a:buFont typeface="Monotype Sorts" pitchFamily="2" charset="2"/>
              <a:buNone/>
              <a:defRPr/>
            </a:pPr>
            <a:endParaRPr lang="tr-TR" sz="1800" dirty="0">
              <a:latin typeface="+mj-lt"/>
              <a:cs typeface="Courier New" pitchFamily="49" charset="0"/>
            </a:endParaRPr>
          </a:p>
          <a:p>
            <a:pPr>
              <a:buFont typeface="Monotype Sorts" pitchFamily="2" charset="2"/>
              <a:buNone/>
              <a:defRPr/>
            </a:pPr>
            <a:r>
              <a:rPr lang="tr-TR" sz="1800" dirty="0">
                <a:latin typeface="+mj-lt"/>
                <a:cs typeface="Courier New" pitchFamily="49" charset="0"/>
              </a:rPr>
              <a:t>   </a:t>
            </a:r>
            <a:r>
              <a:rPr lang="nn-NO" sz="1800" dirty="0">
                <a:latin typeface="+mj-lt"/>
                <a:cs typeface="Courier New" pitchFamily="49" charset="0"/>
              </a:rPr>
              <a:t>for( i = N / 2; i &gt; 0; i-- )</a:t>
            </a:r>
          </a:p>
          <a:p>
            <a:pPr>
              <a:buFont typeface="Monotype Sorts" pitchFamily="2" charset="2"/>
              <a:buNone/>
              <a:defRPr/>
            </a:pPr>
            <a:r>
              <a:rPr lang="tr-TR" sz="1800" dirty="0">
                <a:latin typeface="+mj-lt"/>
                <a:cs typeface="Courier New" pitchFamily="49" charset="0"/>
              </a:rPr>
              <a:t>      percolateDown( H, i );</a:t>
            </a:r>
          </a:p>
          <a:p>
            <a:pPr>
              <a:buFont typeface="Monotype Sorts" pitchFamily="2" charset="2"/>
              <a:buNone/>
              <a:defRPr/>
            </a:pPr>
            <a:r>
              <a:rPr lang="tr-TR" sz="1800" dirty="0">
                <a:latin typeface="+mj-lt"/>
                <a:cs typeface="Courier New" pitchFamily="49" charset="0"/>
              </a:rPr>
              <a:t>}</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39CEDF7F-48A2-BE44-92AE-6A206639807A}" type="slidenum">
              <a:rPr lang="zh-TW" altLang="en-US" sz="1200">
                <a:solidFill>
                  <a:srgbClr val="898989"/>
                </a:solidFill>
                <a:latin typeface="Calibri" charset="0"/>
              </a:rPr>
              <a:pPr/>
              <a:t>23</a:t>
            </a:fld>
            <a:endParaRPr lang="en-US" altLang="zh-TW" sz="1200">
              <a:solidFill>
                <a:srgbClr val="898989"/>
              </a:solidFill>
              <a:latin typeface="Calibri"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2E049AA-DBB0-C255-E641-720C9C49551A}"/>
              </a:ext>
            </a:extLst>
          </p:cNvPr>
          <p:cNvSpPr>
            <a:spLocks noGrp="1"/>
          </p:cNvSpPr>
          <p:nvPr>
            <p:ph type="ftr" sz="quarter" idx="11"/>
          </p:nvPr>
        </p:nvSpPr>
        <p:spPr/>
        <p:txBody>
          <a:bodyPr/>
          <a:lstStyle/>
          <a:p>
            <a:pPr>
              <a:defRPr/>
            </a:pPr>
            <a:r>
              <a:rPr lang="en-US" altLang="zh-TW"/>
              <a:t>CS 2321: D.S.A (-Priority Queues-)</a:t>
            </a:r>
          </a:p>
        </p:txBody>
      </p:sp>
      <p:sp>
        <p:nvSpPr>
          <p:cNvPr id="5" name="Slide Number Placeholder 4">
            <a:extLst>
              <a:ext uri="{FF2B5EF4-FFF2-40B4-BE49-F238E27FC236}">
                <a16:creationId xmlns:a16="http://schemas.microsoft.com/office/drawing/2014/main" id="{E478E749-D463-F92C-CB06-81727F13DACA}"/>
              </a:ext>
            </a:extLst>
          </p:cNvPr>
          <p:cNvSpPr>
            <a:spLocks noGrp="1"/>
          </p:cNvSpPr>
          <p:nvPr>
            <p:ph type="sldNum" sz="quarter" idx="12"/>
          </p:nvPr>
        </p:nvSpPr>
        <p:spPr/>
        <p:txBody>
          <a:bodyPr/>
          <a:lstStyle/>
          <a:p>
            <a:fld id="{A66CAF78-D92A-C346-9A61-F4F2DF4405A5}" type="slidenum">
              <a:rPr lang="zh-TW" altLang="en-US" smtClean="0"/>
              <a:pPr/>
              <a:t>24</a:t>
            </a:fld>
            <a:endParaRPr lang="en-US" altLang="zh-TW"/>
          </a:p>
        </p:txBody>
      </p:sp>
      <p:pic>
        <p:nvPicPr>
          <p:cNvPr id="7" name="Picture 6">
            <a:extLst>
              <a:ext uri="{FF2B5EF4-FFF2-40B4-BE49-F238E27FC236}">
                <a16:creationId xmlns:a16="http://schemas.microsoft.com/office/drawing/2014/main" id="{B580C89F-AD0F-AAC5-079E-5296579E91BE}"/>
              </a:ext>
            </a:extLst>
          </p:cNvPr>
          <p:cNvPicPr>
            <a:picLocks noChangeAspect="1"/>
          </p:cNvPicPr>
          <p:nvPr/>
        </p:nvPicPr>
        <p:blipFill>
          <a:blip r:embed="rId2"/>
          <a:stretch>
            <a:fillRect/>
          </a:stretch>
        </p:blipFill>
        <p:spPr>
          <a:xfrm>
            <a:off x="-76200" y="609600"/>
            <a:ext cx="9082521" cy="5562600"/>
          </a:xfrm>
          <a:prstGeom prst="rect">
            <a:avLst/>
          </a:prstGeom>
        </p:spPr>
      </p:pic>
    </p:spTree>
    <p:extLst>
      <p:ext uri="{BB962C8B-B14F-4D97-AF65-F5344CB8AC3E}">
        <p14:creationId xmlns:p14="http://schemas.microsoft.com/office/powerpoint/2010/main" val="53512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85800" y="76200"/>
            <a:ext cx="7772400" cy="533400"/>
          </a:xfrm>
        </p:spPr>
        <p:txBody>
          <a:bodyPr/>
          <a:lstStyle/>
          <a:p>
            <a:r>
              <a:rPr lang="tr-TR" altLang="en-US" sz="2400" b="1">
                <a:solidFill>
                  <a:srgbClr val="000099"/>
                </a:solidFill>
                <a:ea typeface="Courier New" charset="0"/>
                <a:cs typeface="Courier New" charset="0"/>
              </a:rPr>
              <a:t>buildHeap</a:t>
            </a:r>
            <a:r>
              <a:rPr lang="tr-TR" altLang="en-US" sz="2400" b="1">
                <a:solidFill>
                  <a:srgbClr val="000099"/>
                </a:solidFill>
                <a:ea typeface="Times New Roman" charset="0"/>
                <a:cs typeface="Times New Roman" charset="0"/>
              </a:rPr>
              <a:t> Example - I</a:t>
            </a:r>
          </a:p>
        </p:txBody>
      </p:sp>
      <p:pic>
        <p:nvPicPr>
          <p:cNvPr id="30723" name="Picture 2" descr="C:\Users\cem\AppData\Local\Temp\Temp1_37948-0321411242_ppt.zip\weiss_ppt_files\ch06\ch06gif\fig06_15.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3" y="533400"/>
            <a:ext cx="8637587"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descr="C:\Users\cem\AppData\Local\Temp\Temp1_37948-0321411242_ppt.zip\weiss_ppt_files\ch06\ch06gif\fig06_16.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3429000"/>
            <a:ext cx="8637588"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TextBox 7"/>
          <p:cNvSpPr txBox="1">
            <a:spLocks noChangeArrowheads="1"/>
          </p:cNvSpPr>
          <p:nvPr/>
        </p:nvSpPr>
        <p:spPr bwMode="auto">
          <a:xfrm>
            <a:off x="1757363" y="1219200"/>
            <a:ext cx="126682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initial</a:t>
            </a:r>
          </a:p>
          <a:p>
            <a:pPr algn="ctr">
              <a:buFont typeface="Monotype Sorts" pitchFamily="2" charset="2"/>
              <a:buChar char="l"/>
              <a:defRPr/>
            </a:pPr>
            <a:r>
              <a:rPr lang="tr-TR" sz="1400">
                <a:solidFill>
                  <a:srgbClr val="FF0000"/>
                </a:solidFill>
                <a:latin typeface="+mj-lt"/>
                <a:cs typeface="Courier New" pitchFamily="49" charset="0"/>
              </a:rPr>
              <a:t>heap</a:t>
            </a:r>
          </a:p>
        </p:txBody>
      </p:sp>
      <p:sp>
        <p:nvSpPr>
          <p:cNvPr id="27655" name="TextBox 8"/>
          <p:cNvSpPr txBox="1">
            <a:spLocks noChangeArrowheads="1"/>
          </p:cNvSpPr>
          <p:nvPr/>
        </p:nvSpPr>
        <p:spPr bwMode="auto">
          <a:xfrm>
            <a:off x="5697538" y="1143000"/>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dirty="0">
                <a:solidFill>
                  <a:srgbClr val="FF0000"/>
                </a:solidFill>
                <a:latin typeface="+mj-lt"/>
                <a:cs typeface="Courier New" pitchFamily="49" charset="0"/>
              </a:rPr>
              <a:t>after</a:t>
            </a:r>
          </a:p>
          <a:p>
            <a:pPr algn="ctr">
              <a:buFont typeface="Monotype Sorts" pitchFamily="2" charset="2"/>
              <a:buChar char="l"/>
              <a:defRPr/>
            </a:pPr>
            <a:r>
              <a:rPr lang="tr-TR" sz="1400" dirty="0">
                <a:solidFill>
                  <a:srgbClr val="FF0000"/>
                </a:solidFill>
                <a:latin typeface="+mj-lt"/>
                <a:cs typeface="Courier New" pitchFamily="49" charset="0"/>
              </a:rPr>
              <a:t>percolateDown(7)</a:t>
            </a:r>
          </a:p>
        </p:txBody>
      </p:sp>
      <p:sp>
        <p:nvSpPr>
          <p:cNvPr id="27656" name="TextBox 9"/>
          <p:cNvSpPr txBox="1">
            <a:spLocks noChangeArrowheads="1"/>
          </p:cNvSpPr>
          <p:nvPr/>
        </p:nvSpPr>
        <p:spPr bwMode="auto">
          <a:xfrm>
            <a:off x="1335088" y="4038600"/>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percolateDown(6)</a:t>
            </a:r>
          </a:p>
        </p:txBody>
      </p:sp>
      <p:sp>
        <p:nvSpPr>
          <p:cNvPr id="27657" name="TextBox 10"/>
          <p:cNvSpPr txBox="1">
            <a:spLocks noChangeArrowheads="1"/>
          </p:cNvSpPr>
          <p:nvPr/>
        </p:nvSpPr>
        <p:spPr bwMode="auto">
          <a:xfrm>
            <a:off x="5627688" y="4038600"/>
            <a:ext cx="21097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percolateDown(5)</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91C4160E-6766-1349-A8C9-4A5AE4AEC85E}" type="slidenum">
              <a:rPr lang="zh-TW" altLang="en-US" sz="1200">
                <a:solidFill>
                  <a:srgbClr val="898989"/>
                </a:solidFill>
                <a:latin typeface="Calibri" charset="0"/>
              </a:rPr>
              <a:pPr/>
              <a:t>25</a:t>
            </a:fld>
            <a:endParaRPr lang="en-US" altLang="zh-TW" sz="1200">
              <a:solidFill>
                <a:srgbClr val="898989"/>
              </a:solidFill>
              <a:latin typeface="Calibri"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C:\Users\cem\AppData\Local\Temp\Temp1_37948-0321411242_ppt.zip\weiss_ppt_files\ch06\ch06gif\fig06_17.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3" y="666750"/>
            <a:ext cx="8637587"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4" descr="C:\Users\cem\AppData\Local\Temp\Temp1_37948-0321411242_ppt.zip\weiss_ppt_files\ch06\ch06gif\fig06_18.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3" y="3505200"/>
            <a:ext cx="8637587"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a:spLocks/>
          </p:cNvSpPr>
          <p:nvPr/>
        </p:nvSpPr>
        <p:spPr>
          <a:xfrm>
            <a:off x="685800" y="76200"/>
            <a:ext cx="7772400" cy="457200"/>
          </a:xfrm>
          <a:prstGeom prst="rect">
            <a:avLst/>
          </a:prstGeom>
        </p:spPr>
        <p:txBody>
          <a:bodyPr/>
          <a:lstStyle/>
          <a:p>
            <a:pPr algn="ctr">
              <a:buFont typeface="Monotype Sorts" pitchFamily="2" charset="2"/>
              <a:buNone/>
              <a:defRPr/>
            </a:pPr>
            <a:r>
              <a:rPr lang="tr-TR" kern="0" dirty="0">
                <a:solidFill>
                  <a:srgbClr val="000099"/>
                </a:solidFill>
                <a:latin typeface="+mj-lt"/>
                <a:ea typeface="+mj-ea"/>
                <a:cs typeface="Courier New" pitchFamily="49" charset="0"/>
              </a:rPr>
              <a:t>buildHeap</a:t>
            </a:r>
            <a:r>
              <a:rPr lang="tr-TR" kern="0" dirty="0">
                <a:solidFill>
                  <a:srgbClr val="000099"/>
                </a:solidFill>
                <a:latin typeface="+mj-lt"/>
                <a:ea typeface="+mj-ea"/>
                <a:cs typeface="Times New Roman" pitchFamily="18" charset="0"/>
              </a:rPr>
              <a:t> Example - II</a:t>
            </a:r>
          </a:p>
        </p:txBody>
      </p:sp>
      <p:sp>
        <p:nvSpPr>
          <p:cNvPr id="28678" name="TextBox 6"/>
          <p:cNvSpPr txBox="1">
            <a:spLocks noChangeArrowheads="1"/>
          </p:cNvSpPr>
          <p:nvPr/>
        </p:nvSpPr>
        <p:spPr bwMode="auto">
          <a:xfrm>
            <a:off x="1335088" y="1381125"/>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percolateDown(4)</a:t>
            </a:r>
          </a:p>
        </p:txBody>
      </p:sp>
      <p:sp>
        <p:nvSpPr>
          <p:cNvPr id="28679" name="TextBox 7"/>
          <p:cNvSpPr txBox="1">
            <a:spLocks noChangeArrowheads="1"/>
          </p:cNvSpPr>
          <p:nvPr/>
        </p:nvSpPr>
        <p:spPr bwMode="auto">
          <a:xfrm>
            <a:off x="5697538" y="1371600"/>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percolateDown(3)</a:t>
            </a:r>
          </a:p>
        </p:txBody>
      </p:sp>
      <p:sp>
        <p:nvSpPr>
          <p:cNvPr id="28680" name="TextBox 8"/>
          <p:cNvSpPr txBox="1">
            <a:spLocks noChangeArrowheads="1"/>
          </p:cNvSpPr>
          <p:nvPr/>
        </p:nvSpPr>
        <p:spPr bwMode="auto">
          <a:xfrm>
            <a:off x="1335088" y="4200525"/>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percolateDown(2)</a:t>
            </a:r>
          </a:p>
        </p:txBody>
      </p:sp>
      <p:sp>
        <p:nvSpPr>
          <p:cNvPr id="28681" name="TextBox 9"/>
          <p:cNvSpPr txBox="1">
            <a:spLocks noChangeArrowheads="1"/>
          </p:cNvSpPr>
          <p:nvPr/>
        </p:nvSpPr>
        <p:spPr bwMode="auto">
          <a:xfrm>
            <a:off x="5697538" y="4200525"/>
            <a:ext cx="21113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Char char="l"/>
              <a:defRPr/>
            </a:pPr>
            <a:r>
              <a:rPr lang="tr-TR" sz="1400">
                <a:solidFill>
                  <a:srgbClr val="FF0000"/>
                </a:solidFill>
                <a:latin typeface="+mj-lt"/>
                <a:cs typeface="Courier New" pitchFamily="49" charset="0"/>
              </a:rPr>
              <a:t>after</a:t>
            </a:r>
          </a:p>
          <a:p>
            <a:pPr algn="ctr">
              <a:buFont typeface="Monotype Sorts" pitchFamily="2" charset="2"/>
              <a:buChar char="l"/>
              <a:defRPr/>
            </a:pPr>
            <a:r>
              <a:rPr lang="tr-TR" sz="1400">
                <a:solidFill>
                  <a:srgbClr val="FF0000"/>
                </a:solidFill>
                <a:latin typeface="+mj-lt"/>
                <a:cs typeface="Courier New" pitchFamily="49" charset="0"/>
              </a:rPr>
              <a:t>percolateDown(1)</a:t>
            </a:r>
          </a:p>
        </p:txBody>
      </p:sp>
      <p:sp>
        <p:nvSpPr>
          <p:cNvPr id="2" name="Espace réservé du pied de page 1"/>
          <p:cNvSpPr>
            <a:spLocks noGrp="1"/>
          </p:cNvSpPr>
          <p:nvPr>
            <p:ph type="ftr" sz="quarter" idx="11"/>
          </p:nvPr>
        </p:nvSpPr>
        <p:spPr/>
        <p:txBody>
          <a:bodyPr/>
          <a:lstStyle/>
          <a:p>
            <a:pPr>
              <a:defRPr/>
            </a:pPr>
            <a:r>
              <a:rPr lang="en-US" altLang="zh-TW">
                <a:latin typeface="+mj-lt"/>
              </a:rPr>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F847E086-7BE2-A14E-80E1-211EBA7742C5}" type="slidenum">
              <a:rPr lang="zh-TW" altLang="en-US" sz="1200">
                <a:solidFill>
                  <a:srgbClr val="898989"/>
                </a:solidFill>
                <a:latin typeface="Calibri" charset="0"/>
              </a:rPr>
              <a:pPr/>
              <a:t>26</a:t>
            </a:fld>
            <a:endParaRPr lang="en-US" altLang="zh-TW" sz="1200">
              <a:solidFill>
                <a:srgbClr val="898989"/>
              </a:solidFill>
              <a:latin typeface="Calibri"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tr-TR" altLang="en-US" sz="3600" b="1">
                <a:solidFill>
                  <a:srgbClr val="000099"/>
                </a:solidFill>
              </a:rPr>
              <a:t>Implementation in C - HeapStruct</a:t>
            </a:r>
          </a:p>
        </p:txBody>
      </p:sp>
      <p:sp>
        <p:nvSpPr>
          <p:cNvPr id="22531" name="TextBox 6"/>
          <p:cNvSpPr txBox="1">
            <a:spLocks noChangeArrowheads="1"/>
          </p:cNvSpPr>
          <p:nvPr/>
        </p:nvSpPr>
        <p:spPr bwMode="auto">
          <a:xfrm>
            <a:off x="701675" y="1600200"/>
            <a:ext cx="6754813"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800">
                <a:latin typeface="Courier New" charset="0"/>
                <a:ea typeface="Courier New" charset="0"/>
                <a:cs typeface="Courier New" charset="0"/>
              </a:rPr>
              <a:t>#define MinPQSize (10)</a:t>
            </a:r>
          </a:p>
          <a:p>
            <a:pPr>
              <a:buFont typeface="Monotype Sorts" charset="2"/>
              <a:buNone/>
            </a:pPr>
            <a:r>
              <a:rPr lang="tr-TR" altLang="en-US" sz="1800">
                <a:latin typeface="Courier New" charset="0"/>
                <a:ea typeface="Courier New" charset="0"/>
                <a:cs typeface="Courier New" charset="0"/>
              </a:rPr>
              <a:t>#define MinData (-32767)</a:t>
            </a:r>
          </a:p>
          <a:p>
            <a:pPr>
              <a:buFont typeface="Monotype Sorts" charset="2"/>
              <a:buNone/>
            </a:pPr>
            <a:r>
              <a:rPr lang="tr-TR" altLang="en-US" sz="1800">
                <a:latin typeface="Courier New" charset="0"/>
                <a:ea typeface="Courier New" charset="0"/>
                <a:cs typeface="Courier New" charset="0"/>
              </a:rPr>
              <a:t>typedef int ElementType;</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struct HeapStruct</a:t>
            </a:r>
          </a:p>
          <a:p>
            <a:pPr>
              <a:buFont typeface="Monotype Sorts" charset="2"/>
              <a:buNone/>
            </a:pPr>
            <a:r>
              <a:rPr lang="tr-TR" altLang="en-US" sz="1800">
                <a:latin typeface="Courier New" charset="0"/>
                <a:ea typeface="Courier New" charset="0"/>
                <a:cs typeface="Courier New" charset="0"/>
              </a:rPr>
              <a:t>{</a:t>
            </a:r>
          </a:p>
          <a:p>
            <a:pPr>
              <a:buFont typeface="Monotype Sorts" charset="2"/>
              <a:buNone/>
            </a:pPr>
            <a:r>
              <a:rPr lang="tr-TR" altLang="en-US" sz="1800">
                <a:latin typeface="Courier New" charset="0"/>
                <a:ea typeface="Courier New" charset="0"/>
                <a:cs typeface="Courier New" charset="0"/>
              </a:rPr>
              <a:t>  int Capacity;</a:t>
            </a:r>
          </a:p>
          <a:p>
            <a:pPr>
              <a:buFont typeface="Monotype Sorts" charset="2"/>
              <a:buNone/>
            </a:pPr>
            <a:r>
              <a:rPr lang="tr-TR" altLang="en-US" sz="1800">
                <a:latin typeface="Courier New" charset="0"/>
                <a:ea typeface="Courier New" charset="0"/>
                <a:cs typeface="Courier New" charset="0"/>
              </a:rPr>
              <a:t>  int Size;</a:t>
            </a:r>
          </a:p>
          <a:p>
            <a:pPr>
              <a:buFont typeface="Monotype Sorts" charset="2"/>
              <a:buNone/>
            </a:pPr>
            <a:r>
              <a:rPr lang="tr-TR" altLang="en-US" sz="1800">
                <a:latin typeface="Courier New" charset="0"/>
                <a:ea typeface="Courier New" charset="0"/>
                <a:cs typeface="Courier New" charset="0"/>
              </a:rPr>
              <a:t>  ElementType *Elements;</a:t>
            </a:r>
          </a:p>
          <a:p>
            <a:pPr>
              <a:buFont typeface="Monotype Sorts" charset="2"/>
              <a:buNone/>
            </a:pPr>
            <a:r>
              <a:rPr lang="tr-TR" altLang="en-US" sz="1800">
                <a:latin typeface="Courier New" charset="0"/>
                <a:ea typeface="Courier New" charset="0"/>
                <a:cs typeface="Courier New" charset="0"/>
              </a:rPr>
              <a:t>};</a:t>
            </a:r>
          </a:p>
          <a:p>
            <a:pPr>
              <a:buFont typeface="Monotype Sorts" charset="2"/>
              <a:buNone/>
            </a:pPr>
            <a:r>
              <a:rPr lang="tr-TR" altLang="en-US" sz="1800">
                <a:latin typeface="Courier New" charset="0"/>
                <a:ea typeface="Courier New" charset="0"/>
                <a:cs typeface="Courier New" charset="0"/>
              </a:rPr>
              <a:t>typedef struct HeapStruct *PriorityQueue;</a:t>
            </a:r>
          </a:p>
          <a:p>
            <a:pPr>
              <a:buFont typeface="Monotype Sorts" charset="2"/>
              <a:buNone/>
            </a:pPr>
            <a:endParaRPr lang="tr-TR" altLang="en-US" sz="1800">
              <a:latin typeface="Courier New" charset="0"/>
              <a:ea typeface="Courier New" charset="0"/>
              <a:cs typeface="Courier New" charset="0"/>
            </a:endParaRP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022E5689-72B4-E74E-B87D-5A237C544F2D}" type="slidenum">
              <a:rPr lang="zh-TW" altLang="en-US" sz="1200">
                <a:solidFill>
                  <a:srgbClr val="898989"/>
                </a:solidFill>
              </a:rPr>
              <a:pPr/>
              <a:t>27</a:t>
            </a:fld>
            <a:endParaRPr lang="en-US" altLang="zh-TW" sz="1200">
              <a:solidFill>
                <a:srgbClr val="898989"/>
              </a:solidFill>
            </a:endParaRPr>
          </a:p>
        </p:txBody>
      </p:sp>
    </p:spTree>
    <p:extLst>
      <p:ext uri="{BB962C8B-B14F-4D97-AF65-F5344CB8AC3E}">
        <p14:creationId xmlns:p14="http://schemas.microsoft.com/office/powerpoint/2010/main" val="1671349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85800" y="76200"/>
            <a:ext cx="7772400" cy="609600"/>
          </a:xfrm>
        </p:spPr>
        <p:txBody>
          <a:bodyPr/>
          <a:lstStyle/>
          <a:p>
            <a:r>
              <a:rPr lang="tr-TR" altLang="en-US" sz="3200" b="1">
                <a:solidFill>
                  <a:srgbClr val="000099"/>
                </a:solidFill>
              </a:rPr>
              <a:t>Implementation in C - Initialize</a:t>
            </a:r>
          </a:p>
        </p:txBody>
      </p:sp>
      <p:sp>
        <p:nvSpPr>
          <p:cNvPr id="23555" name="TextBox 4"/>
          <p:cNvSpPr txBox="1">
            <a:spLocks noChangeArrowheads="1"/>
          </p:cNvSpPr>
          <p:nvPr/>
        </p:nvSpPr>
        <p:spPr bwMode="auto">
          <a:xfrm>
            <a:off x="420688" y="838200"/>
            <a:ext cx="8372475" cy="565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600">
                <a:latin typeface="Courier New" charset="0"/>
                <a:ea typeface="Courier New" charset="0"/>
                <a:cs typeface="Courier New" charset="0"/>
              </a:rPr>
              <a:t>PriorityQueue Initialize( int MaxElements )</a:t>
            </a:r>
          </a:p>
          <a:p>
            <a:pPr>
              <a:buFont typeface="Monotype Sorts" charset="2"/>
              <a:buNone/>
            </a:pPr>
            <a:r>
              <a:rPr lang="tr-TR" altLang="en-US" sz="1600">
                <a:latin typeface="Courier New" charset="0"/>
                <a:ea typeface="Courier New" charset="0"/>
                <a:cs typeface="Courier New" charset="0"/>
              </a:rPr>
              <a:t>{</a:t>
            </a:r>
          </a:p>
          <a:p>
            <a:pPr>
              <a:buFont typeface="Monotype Sorts" charset="2"/>
              <a:buNone/>
            </a:pPr>
            <a:r>
              <a:rPr lang="tr-TR" altLang="en-US" sz="1600">
                <a:latin typeface="Courier New" charset="0"/>
                <a:ea typeface="Courier New" charset="0"/>
                <a:cs typeface="Courier New" charset="0"/>
              </a:rPr>
              <a:t>    PriorityQueue H;</a:t>
            </a:r>
          </a:p>
          <a:p>
            <a:pPr>
              <a:buFont typeface="Monotype Sorts" charset="2"/>
              <a:buNone/>
            </a:pPr>
            <a:endParaRPr lang="tr-TR" altLang="en-US" sz="1600">
              <a:latin typeface="Courier New" charset="0"/>
              <a:ea typeface="Courier New" charset="0"/>
              <a:cs typeface="Courier New" charset="0"/>
            </a:endParaRPr>
          </a:p>
          <a:p>
            <a:pPr>
              <a:buFont typeface="Monotype Sorts" charset="2"/>
              <a:buNone/>
            </a:pPr>
            <a:r>
              <a:rPr lang="tr-TR" altLang="en-US" sz="1600">
                <a:latin typeface="Courier New" charset="0"/>
                <a:ea typeface="Courier New" charset="0"/>
                <a:cs typeface="Courier New" charset="0"/>
              </a:rPr>
              <a:t>    if( MaxElements &lt; MinPQSize )</a:t>
            </a:r>
          </a:p>
          <a:p>
            <a:pPr>
              <a:buFont typeface="Monotype Sorts" charset="2"/>
              <a:buNone/>
            </a:pP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Error( "Priority queue size is too small" );</a:t>
            </a: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H = malloc( sizeof( struct HeapStruct ) );</a:t>
            </a:r>
          </a:p>
          <a:p>
            <a:pPr>
              <a:buFont typeface="Monotype Sorts" charset="2"/>
              <a:buNone/>
            </a:pPr>
            <a:r>
              <a:rPr lang="tr-TR" altLang="en-US" sz="1600">
                <a:latin typeface="Courier New" charset="0"/>
                <a:ea typeface="Courier New" charset="0"/>
                <a:cs typeface="Courier New" charset="0"/>
              </a:rPr>
              <a:t>    if( H ==NULL ) </a:t>
            </a:r>
            <a:r>
              <a:rPr lang="en-US" altLang="en-US" sz="1600">
                <a:latin typeface="Courier New" charset="0"/>
                <a:ea typeface="Courier New" charset="0"/>
                <a:cs typeface="Courier New" charset="0"/>
              </a:rPr>
              <a:t>FatalError( "Out of space!!!" );</a:t>
            </a:r>
          </a:p>
          <a:p>
            <a:pPr>
              <a:buFont typeface="Monotype Sorts" charset="2"/>
              <a:buNone/>
            </a:pPr>
            <a:endParaRPr lang="tr-TR" altLang="en-US" sz="1600">
              <a:latin typeface="Courier New" charset="0"/>
              <a:ea typeface="Courier New" charset="0"/>
              <a:cs typeface="Courier New" charset="0"/>
            </a:endParaRP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 Allocate the array plus one extra for sentinel */</a:t>
            </a:r>
          </a:p>
          <a:p>
            <a:pPr>
              <a:buFont typeface="Monotype Sorts" charset="2"/>
              <a:buNone/>
            </a:pPr>
            <a:r>
              <a:rPr lang="tr-TR" altLang="en-US" sz="1600">
                <a:latin typeface="Courier New" charset="0"/>
                <a:ea typeface="Courier New" charset="0"/>
                <a:cs typeface="Courier New" charset="0"/>
              </a:rPr>
              <a:t>    H-&gt;Elements = malloc((MaxElements + 1)*sizeof(ElementType));</a:t>
            </a: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if( H-&gt;Elements == NULL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FatalError( "Out of space!!!" );</a:t>
            </a:r>
          </a:p>
          <a:p>
            <a:pPr>
              <a:buFont typeface="Monotype Sorts" charset="2"/>
              <a:buNone/>
            </a:pPr>
            <a:endParaRPr lang="tr-TR" altLang="en-US" sz="1600">
              <a:latin typeface="Courier New" charset="0"/>
              <a:ea typeface="Courier New" charset="0"/>
              <a:cs typeface="Courier New" charset="0"/>
            </a:endParaRPr>
          </a:p>
          <a:p>
            <a:pPr>
              <a:buFont typeface="Monotype Sorts" charset="2"/>
              <a:buNone/>
            </a:pPr>
            <a:r>
              <a:rPr lang="tr-TR" altLang="en-US" sz="1600">
                <a:latin typeface="Courier New" charset="0"/>
                <a:ea typeface="Courier New" charset="0"/>
                <a:cs typeface="Courier New" charset="0"/>
              </a:rPr>
              <a:t>    H-&gt;Capacity = MaxElements;</a:t>
            </a:r>
          </a:p>
          <a:p>
            <a:pPr>
              <a:buFont typeface="Monotype Sorts" charset="2"/>
              <a:buNone/>
            </a:pPr>
            <a:r>
              <a:rPr lang="tr-TR" altLang="en-US" sz="1600">
                <a:latin typeface="Courier New" charset="0"/>
                <a:ea typeface="Courier New" charset="0"/>
                <a:cs typeface="Courier New" charset="0"/>
              </a:rPr>
              <a:t>    H-&gt;Size = 0;</a:t>
            </a:r>
          </a:p>
          <a:p>
            <a:pPr>
              <a:buFont typeface="Monotype Sorts" charset="2"/>
              <a:buNone/>
            </a:pPr>
            <a:r>
              <a:rPr lang="pt-BR"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pt-BR" altLang="en-US" sz="1600">
                <a:latin typeface="Courier New" charset="0"/>
                <a:ea typeface="Courier New" charset="0"/>
                <a:cs typeface="Courier New" charset="0"/>
              </a:rPr>
              <a:t>H-&gt;Elements[ 0 ] = MinData;</a:t>
            </a:r>
            <a:endParaRPr lang="tr-TR" altLang="en-US" sz="1600">
              <a:latin typeface="Courier New" charset="0"/>
              <a:ea typeface="Courier New" charset="0"/>
              <a:cs typeface="Courier New" charset="0"/>
            </a:endParaRPr>
          </a:p>
          <a:p>
            <a:pPr>
              <a:buFont typeface="Monotype Sorts" charset="2"/>
              <a:buNone/>
            </a:pPr>
            <a:endParaRPr lang="pt-BR" altLang="en-US" sz="1600">
              <a:latin typeface="Courier New" charset="0"/>
              <a:ea typeface="Courier New" charset="0"/>
              <a:cs typeface="Courier New" charset="0"/>
            </a:endParaRPr>
          </a:p>
          <a:p>
            <a:pPr>
              <a:buFont typeface="Monotype Sorts" charset="2"/>
              <a:buNone/>
            </a:pPr>
            <a:r>
              <a:rPr lang="tr-TR" altLang="en-US" sz="1600">
                <a:latin typeface="Courier New" charset="0"/>
                <a:ea typeface="Courier New" charset="0"/>
                <a:cs typeface="Courier New" charset="0"/>
              </a:rPr>
              <a:t>    return H;</a:t>
            </a:r>
          </a:p>
          <a:p>
            <a:pPr>
              <a:buFont typeface="Monotype Sorts" charset="2"/>
              <a:buNone/>
            </a:pPr>
            <a:r>
              <a:rPr lang="tr-TR" altLang="en-US" sz="1600">
                <a:latin typeface="Courier New" charset="0"/>
                <a:ea typeface="Courier New" charset="0"/>
                <a:cs typeface="Courier New" charset="0"/>
              </a:rPr>
              <a:t>}</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E1EB2F40-63E9-3647-9C0F-3062F9A2D59A}" type="slidenum">
              <a:rPr lang="zh-TW" altLang="en-US" sz="1200">
                <a:solidFill>
                  <a:srgbClr val="898989"/>
                </a:solidFill>
              </a:rPr>
              <a:pPr/>
              <a:t>28</a:t>
            </a:fld>
            <a:endParaRPr lang="en-US" altLang="zh-TW" sz="1200">
              <a:solidFill>
                <a:srgbClr val="898989"/>
              </a:solidFill>
            </a:endParaRPr>
          </a:p>
        </p:txBody>
      </p:sp>
    </p:spTree>
    <p:extLst>
      <p:ext uri="{BB962C8B-B14F-4D97-AF65-F5344CB8AC3E}">
        <p14:creationId xmlns:p14="http://schemas.microsoft.com/office/powerpoint/2010/main" val="1465176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3"/>
          <p:cNvSpPr txBox="1">
            <a:spLocks noChangeArrowheads="1"/>
          </p:cNvSpPr>
          <p:nvPr/>
        </p:nvSpPr>
        <p:spPr bwMode="auto">
          <a:xfrm>
            <a:off x="1125538" y="1757363"/>
            <a:ext cx="7034212"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800">
                <a:latin typeface="Courier New" charset="0"/>
                <a:ea typeface="Courier New" charset="0"/>
                <a:cs typeface="Courier New" charset="0"/>
              </a:rPr>
              <a:t> int IsEmpty( PriorityQueue H )</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r>
              <a:rPr lang="tr-TR" altLang="en-US" sz="1800">
                <a:latin typeface="Courier New" charset="0"/>
                <a:ea typeface="Courier New" charset="0"/>
                <a:cs typeface="Courier New" charset="0"/>
              </a:rPr>
              <a:t>     return H-&gt;Size == 0;</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int IsFull( PriorityQueue H )</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r>
              <a:rPr lang="en-US" altLang="en-US" sz="1800">
                <a:latin typeface="Courier New" charset="0"/>
                <a:ea typeface="Courier New" charset="0"/>
                <a:cs typeface="Courier New" charset="0"/>
              </a:rPr>
              <a:t>     return H-&gt;Size == H-&gt;Capacity;</a:t>
            </a:r>
          </a:p>
          <a:p>
            <a:pPr>
              <a:buFont typeface="Monotype Sorts" charset="2"/>
              <a:buNone/>
            </a:pPr>
            <a:r>
              <a:rPr lang="tr-TR" altLang="en-US" sz="1800">
                <a:latin typeface="Courier New" charset="0"/>
                <a:ea typeface="Courier New" charset="0"/>
                <a:cs typeface="Courier New" charset="0"/>
              </a:rPr>
              <a:t> }</a:t>
            </a:r>
          </a:p>
        </p:txBody>
      </p:sp>
      <p:sp>
        <p:nvSpPr>
          <p:cNvPr id="21508" name="Title 1"/>
          <p:cNvSpPr txBox="1">
            <a:spLocks/>
          </p:cNvSpPr>
          <p:nvPr/>
        </p:nvSpPr>
        <p:spPr bwMode="auto">
          <a:xfrm>
            <a:off x="685800" y="762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None/>
              <a:defRPr/>
            </a:pPr>
            <a:r>
              <a:rPr lang="tr-TR" sz="3200" dirty="0">
                <a:solidFill>
                  <a:srgbClr val="000099"/>
                </a:solidFill>
                <a:latin typeface="+mj-lt"/>
                <a:ea typeface="+mj-ea"/>
                <a:cs typeface="+mj-cs"/>
              </a:rPr>
              <a:t>Implementation in C – IsEmpty,  IsFull</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80C74807-4655-9C41-94E5-E6EEF383F8A7}" type="slidenum">
              <a:rPr lang="zh-TW" altLang="en-US" sz="1200">
                <a:solidFill>
                  <a:srgbClr val="898989"/>
                </a:solidFill>
              </a:rPr>
              <a:pPr/>
              <a:t>29</a:t>
            </a:fld>
            <a:endParaRPr lang="en-US" altLang="zh-TW" sz="1200">
              <a:solidFill>
                <a:srgbClr val="898989"/>
              </a:solidFill>
            </a:endParaRPr>
          </a:p>
        </p:txBody>
      </p:sp>
    </p:spTree>
    <p:extLst>
      <p:ext uri="{BB962C8B-B14F-4D97-AF65-F5344CB8AC3E}">
        <p14:creationId xmlns:p14="http://schemas.microsoft.com/office/powerpoint/2010/main" val="3460498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txBox="1">
            <a:spLocks/>
          </p:cNvSpPr>
          <p:nvPr/>
        </p:nvSpPr>
        <p:spPr bwMode="auto">
          <a:xfrm>
            <a:off x="685800" y="762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None/>
              <a:defRPr/>
            </a:pPr>
            <a:r>
              <a:rPr lang="tr-TR" sz="3200" dirty="0">
                <a:solidFill>
                  <a:srgbClr val="000099"/>
                </a:solidFill>
                <a:latin typeface="+mj-lt"/>
                <a:ea typeface="+mj-ea"/>
                <a:cs typeface="+mj-cs"/>
              </a:rPr>
              <a:t>Implementation in C – Insert</a:t>
            </a:r>
          </a:p>
        </p:txBody>
      </p:sp>
      <p:sp>
        <p:nvSpPr>
          <p:cNvPr id="25603" name="TextBox 4"/>
          <p:cNvSpPr txBox="1">
            <a:spLocks noChangeArrowheads="1"/>
          </p:cNvSpPr>
          <p:nvPr/>
        </p:nvSpPr>
        <p:spPr bwMode="auto">
          <a:xfrm>
            <a:off x="0" y="762000"/>
            <a:ext cx="92202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800">
                <a:latin typeface="Courier New" charset="0"/>
                <a:ea typeface="Courier New" charset="0"/>
                <a:cs typeface="Courier New" charset="0"/>
              </a:rPr>
              <a:t>        /* H-&gt;Element[ 0 ] is a sentinel */</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void Insert( ElementType X, PriorityQueue H )</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r>
              <a:rPr lang="tr-TR" altLang="en-US" sz="1800">
                <a:latin typeface="Courier New" charset="0"/>
                <a:ea typeface="Courier New" charset="0"/>
                <a:cs typeface="Courier New" charset="0"/>
              </a:rPr>
              <a:t>            int i;</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if( IsFull( H ) )</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r>
              <a:rPr lang="en-US" altLang="en-US" sz="1800">
                <a:latin typeface="Courier New" charset="0"/>
                <a:ea typeface="Courier New" charset="0"/>
                <a:cs typeface="Courier New" charset="0"/>
              </a:rPr>
              <a:t>                Error( "Priority queue is full" );</a:t>
            </a:r>
          </a:p>
          <a:p>
            <a:pPr>
              <a:buFont typeface="Monotype Sorts" charset="2"/>
              <a:buNone/>
            </a:pPr>
            <a:r>
              <a:rPr lang="tr-TR" altLang="en-US" sz="1800">
                <a:latin typeface="Courier New" charset="0"/>
                <a:ea typeface="Courier New" charset="0"/>
                <a:cs typeface="Courier New" charset="0"/>
              </a:rPr>
              <a:t>                return;</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for( i = ++H-&gt;Size; H-&gt;Elements[ i / 2 ] &gt; X; i /= 2 )</a:t>
            </a:r>
          </a:p>
          <a:p>
            <a:pPr>
              <a:buFont typeface="Monotype Sorts" charset="2"/>
              <a:buNone/>
            </a:pPr>
            <a:r>
              <a:rPr lang="pt-BR" altLang="en-US" sz="1800">
                <a:latin typeface="Courier New" charset="0"/>
                <a:ea typeface="Courier New" charset="0"/>
                <a:cs typeface="Courier New" charset="0"/>
              </a:rPr>
              <a:t>                H-&gt;Elements[ i ] = H-&gt;Elements[ i / 2 ];</a:t>
            </a:r>
            <a:endParaRPr lang="tr-TR" altLang="en-US" sz="1800">
              <a:latin typeface="Courier New" charset="0"/>
              <a:ea typeface="Courier New" charset="0"/>
              <a:cs typeface="Courier New" charset="0"/>
            </a:endParaRPr>
          </a:p>
          <a:p>
            <a:pPr>
              <a:buFont typeface="Monotype Sorts" charset="2"/>
              <a:buNone/>
            </a:pPr>
            <a:endParaRPr lang="pt-B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H-&gt;Elements[ i ] = X;</a:t>
            </a:r>
          </a:p>
          <a:p>
            <a:pPr>
              <a:buFont typeface="Monotype Sorts" charset="2"/>
              <a:buNone/>
            </a:pPr>
            <a:r>
              <a:rPr lang="tr-TR" altLang="en-US" sz="1800">
                <a:latin typeface="Courier New" charset="0"/>
                <a:ea typeface="Courier New" charset="0"/>
                <a:cs typeface="Courier New" charset="0"/>
              </a:rPr>
              <a:t>        }</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BDC51AB3-6890-7A46-99FB-01274CE01CA8}" type="slidenum">
              <a:rPr lang="zh-TW" altLang="en-US" sz="1200">
                <a:solidFill>
                  <a:srgbClr val="898989"/>
                </a:solidFill>
              </a:rPr>
              <a:pPr/>
              <a:t>30</a:t>
            </a:fld>
            <a:endParaRPr lang="en-US" altLang="zh-TW" sz="1200">
              <a:solidFill>
                <a:srgbClr val="898989"/>
              </a:solidFill>
            </a:endParaRPr>
          </a:p>
        </p:txBody>
      </p:sp>
    </p:spTree>
    <p:extLst>
      <p:ext uri="{BB962C8B-B14F-4D97-AF65-F5344CB8AC3E}">
        <p14:creationId xmlns:p14="http://schemas.microsoft.com/office/powerpoint/2010/main" val="296554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le 1"/>
          <p:cNvSpPr txBox="1">
            <a:spLocks/>
          </p:cNvSpPr>
          <p:nvPr/>
        </p:nvSpPr>
        <p:spPr bwMode="auto">
          <a:xfrm>
            <a:off x="686020" y="76200"/>
            <a:ext cx="777196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marL="228600" lvl="8" algn="ctr">
              <a:defRPr/>
            </a:pPr>
            <a:r>
              <a:rPr lang="tr-TR" sz="3200" dirty="0">
                <a:solidFill>
                  <a:srgbClr val="000099"/>
                </a:solidFill>
                <a:latin typeface="+mj-lt"/>
                <a:ea typeface="+mj-ea"/>
                <a:cs typeface="+mj-cs"/>
              </a:rPr>
              <a:t>Implementation in C – DeleteMin</a:t>
            </a:r>
          </a:p>
        </p:txBody>
      </p:sp>
      <p:sp>
        <p:nvSpPr>
          <p:cNvPr id="26627" name="TextBox 5"/>
          <p:cNvSpPr txBox="1">
            <a:spLocks noChangeArrowheads="1"/>
          </p:cNvSpPr>
          <p:nvPr/>
        </p:nvSpPr>
        <p:spPr bwMode="auto">
          <a:xfrm>
            <a:off x="1066800" y="838200"/>
            <a:ext cx="6613525"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800">
                <a:latin typeface="Courier New" charset="0"/>
                <a:ea typeface="Courier New" charset="0"/>
                <a:cs typeface="Courier New" charset="0"/>
              </a:rPr>
              <a:t>ElementType DeleteMin( PriorityQueue H )</a:t>
            </a:r>
          </a:p>
          <a:p>
            <a:pPr>
              <a:buFont typeface="Monotype Sorts" charset="2"/>
              <a:buNone/>
            </a:pPr>
            <a:r>
              <a:rPr lang="tr-TR" altLang="en-US" sz="1800">
                <a:latin typeface="Courier New" charset="0"/>
                <a:ea typeface="Courier New" charset="0"/>
                <a:cs typeface="Courier New" charset="0"/>
              </a:rPr>
              <a:t>{</a:t>
            </a:r>
          </a:p>
          <a:p>
            <a:pPr>
              <a:buFont typeface="Monotype Sorts" charset="2"/>
              <a:buNone/>
            </a:pPr>
            <a:r>
              <a:rPr lang="tr-TR" altLang="en-US" sz="1800">
                <a:latin typeface="Courier New" charset="0"/>
                <a:ea typeface="Courier New" charset="0"/>
                <a:cs typeface="Courier New" charset="0"/>
              </a:rPr>
              <a:t>   ElementType MinElement;</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if( IsEmpty( H ) )</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r>
              <a:rPr lang="tr-TR" altLang="en-US" sz="1800">
                <a:latin typeface="Courier New" charset="0"/>
                <a:ea typeface="Courier New" charset="0"/>
                <a:cs typeface="Courier New" charset="0"/>
              </a:rPr>
              <a:t>      Error( "Priority queue is empty" );</a:t>
            </a:r>
          </a:p>
          <a:p>
            <a:pPr>
              <a:buFont typeface="Monotype Sorts" charset="2"/>
              <a:buNone/>
            </a:pPr>
            <a:r>
              <a:rPr lang="en-US" altLang="en-US" sz="1800">
                <a:latin typeface="Courier New" charset="0"/>
                <a:ea typeface="Courier New" charset="0"/>
                <a:cs typeface="Courier New" charset="0"/>
              </a:rPr>
              <a:t>  </a:t>
            </a:r>
            <a:r>
              <a:rPr lang="tr-TR" altLang="en-US" sz="1800">
                <a:latin typeface="Courier New" charset="0"/>
                <a:ea typeface="Courier New" charset="0"/>
                <a:cs typeface="Courier New" charset="0"/>
              </a:rPr>
              <a:t> </a:t>
            </a:r>
            <a:r>
              <a:rPr lang="en-US" altLang="en-US" sz="1800">
                <a:latin typeface="Courier New" charset="0"/>
                <a:ea typeface="Courier New" charset="0"/>
                <a:cs typeface="Courier New" charset="0"/>
              </a:rPr>
              <a:t>   return H-&gt;Elements[0];</a:t>
            </a:r>
          </a:p>
          <a:p>
            <a:pPr>
              <a:buFont typeface="Monotype Sorts" charset="2"/>
              <a:buNone/>
            </a:pPr>
            <a:r>
              <a:rPr lang="tr-TR" altLang="en-US" sz="1800">
                <a:latin typeface="Courier New" charset="0"/>
                <a:ea typeface="Courier New" charset="0"/>
                <a:cs typeface="Courier New" charset="0"/>
              </a:rPr>
              <a:t>   }</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MinElement = H-&gt;Elements[ 1 ];</a:t>
            </a:r>
          </a:p>
          <a:p>
            <a:pPr>
              <a:buFont typeface="Monotype Sorts" charset="2"/>
              <a:buNone/>
            </a:pPr>
            <a:r>
              <a:rPr lang="tr-TR" altLang="en-US" sz="1800">
                <a:latin typeface="Courier New" charset="0"/>
                <a:ea typeface="Courier New" charset="0"/>
                <a:cs typeface="Courier New" charset="0"/>
              </a:rPr>
              <a:t>   H-&gt;Elements[ 1 ] = H-&gt;Elements[ H-&gt;Size-- ];</a:t>
            </a:r>
          </a:p>
          <a:p>
            <a:pPr>
              <a:buFont typeface="Monotype Sorts" charset="2"/>
              <a:buNone/>
            </a:pPr>
            <a:r>
              <a:rPr lang="tr-TR" altLang="en-US" sz="1800">
                <a:latin typeface="Courier New" charset="0"/>
                <a:ea typeface="Courier New" charset="0"/>
                <a:cs typeface="Courier New" charset="0"/>
              </a:rPr>
              <a:t>   percolateDown( H, 1 );</a:t>
            </a:r>
          </a:p>
          <a:p>
            <a:pPr>
              <a:buFont typeface="Monotype Sorts" charset="2"/>
              <a:buNone/>
            </a:pPr>
            <a:endParaRPr lang="tr-TR" altLang="en-US" sz="1800">
              <a:latin typeface="Courier New" charset="0"/>
              <a:ea typeface="Courier New" charset="0"/>
              <a:cs typeface="Courier New" charset="0"/>
            </a:endParaRPr>
          </a:p>
          <a:p>
            <a:pPr>
              <a:buFont typeface="Monotype Sorts" charset="2"/>
              <a:buNone/>
            </a:pPr>
            <a:r>
              <a:rPr lang="tr-TR" altLang="en-US" sz="1800">
                <a:latin typeface="Courier New" charset="0"/>
                <a:ea typeface="Courier New" charset="0"/>
                <a:cs typeface="Courier New" charset="0"/>
              </a:rPr>
              <a:t>   return MinElement;</a:t>
            </a:r>
          </a:p>
          <a:p>
            <a:pPr>
              <a:buFont typeface="Monotype Sorts" charset="2"/>
              <a:buNone/>
            </a:pPr>
            <a:r>
              <a:rPr lang="tr-TR" altLang="en-US" sz="1800">
                <a:latin typeface="Courier New" charset="0"/>
                <a:ea typeface="Courier New" charset="0"/>
                <a:cs typeface="Courier New" charset="0"/>
              </a:rPr>
              <a:t>}</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3197DC45-235F-BA43-AEAF-FB2FE610B928}" type="slidenum">
              <a:rPr lang="zh-TW" altLang="en-US" sz="1200">
                <a:solidFill>
                  <a:srgbClr val="898989"/>
                </a:solidFill>
              </a:rPr>
              <a:pPr/>
              <a:t>31</a:t>
            </a:fld>
            <a:endParaRPr lang="en-US" altLang="zh-TW" sz="1200">
              <a:solidFill>
                <a:srgbClr val="898989"/>
              </a:solidFill>
            </a:endParaRPr>
          </a:p>
        </p:txBody>
      </p:sp>
    </p:spTree>
    <p:extLst>
      <p:ext uri="{BB962C8B-B14F-4D97-AF65-F5344CB8AC3E}">
        <p14:creationId xmlns:p14="http://schemas.microsoft.com/office/powerpoint/2010/main" val="741697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1"/>
          <p:cNvSpPr txBox="1">
            <a:spLocks/>
          </p:cNvSpPr>
          <p:nvPr/>
        </p:nvSpPr>
        <p:spPr bwMode="auto">
          <a:xfrm>
            <a:off x="685800" y="762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ngsana New" pitchFamily="18" charset="-34"/>
              </a:defRPr>
            </a:lvl1pPr>
            <a:lvl2pPr marL="742950" indent="-285750">
              <a:defRPr sz="2400">
                <a:solidFill>
                  <a:schemeClr val="tx1"/>
                </a:solidFill>
                <a:latin typeface="Angsana New" pitchFamily="18" charset="-34"/>
              </a:defRPr>
            </a:lvl2pPr>
            <a:lvl3pPr marL="1143000" indent="-228600">
              <a:defRPr sz="2400">
                <a:solidFill>
                  <a:schemeClr val="tx1"/>
                </a:solidFill>
                <a:latin typeface="Angsana New" pitchFamily="18" charset="-34"/>
              </a:defRPr>
            </a:lvl3pPr>
            <a:lvl4pPr marL="1600200" indent="-228600">
              <a:defRPr sz="2400">
                <a:solidFill>
                  <a:schemeClr val="tx1"/>
                </a:solidFill>
                <a:latin typeface="Angsana New" pitchFamily="18" charset="-34"/>
              </a:defRPr>
            </a:lvl4pPr>
            <a:lvl5pPr marL="2057400" indent="-228600">
              <a:defRPr sz="2400">
                <a:solidFill>
                  <a:schemeClr val="tx1"/>
                </a:solidFill>
                <a:latin typeface="Angsana New" pitchFamily="18" charset="-34"/>
              </a:defRPr>
            </a:lvl5pPr>
            <a:lvl6pPr marL="2514600" indent="-228600" eaLnBrk="0" fontAlgn="base" hangingPunct="0">
              <a:spcBef>
                <a:spcPct val="0"/>
              </a:spcBef>
              <a:spcAft>
                <a:spcPct val="0"/>
              </a:spcAft>
              <a:defRPr sz="2400">
                <a:solidFill>
                  <a:schemeClr val="tx1"/>
                </a:solidFill>
                <a:latin typeface="Angsana New" pitchFamily="18" charset="-34"/>
              </a:defRPr>
            </a:lvl6pPr>
            <a:lvl7pPr marL="2971800" indent="-228600" eaLnBrk="0" fontAlgn="base" hangingPunct="0">
              <a:spcBef>
                <a:spcPct val="0"/>
              </a:spcBef>
              <a:spcAft>
                <a:spcPct val="0"/>
              </a:spcAft>
              <a:defRPr sz="2400">
                <a:solidFill>
                  <a:schemeClr val="tx1"/>
                </a:solidFill>
                <a:latin typeface="Angsana New" pitchFamily="18" charset="-34"/>
              </a:defRPr>
            </a:lvl7pPr>
            <a:lvl8pPr marL="3429000" indent="-228600" eaLnBrk="0" fontAlgn="base" hangingPunct="0">
              <a:spcBef>
                <a:spcPct val="0"/>
              </a:spcBef>
              <a:spcAft>
                <a:spcPct val="0"/>
              </a:spcAft>
              <a:defRPr sz="2400">
                <a:solidFill>
                  <a:schemeClr val="tx1"/>
                </a:solidFill>
                <a:latin typeface="Angsana New" pitchFamily="18" charset="-34"/>
              </a:defRPr>
            </a:lvl8pPr>
            <a:lvl9pPr marL="3886200" indent="-228600" eaLnBrk="0" fontAlgn="base" hangingPunct="0">
              <a:spcBef>
                <a:spcPct val="0"/>
              </a:spcBef>
              <a:spcAft>
                <a:spcPct val="0"/>
              </a:spcAft>
              <a:defRPr sz="2400">
                <a:solidFill>
                  <a:schemeClr val="tx1"/>
                </a:solidFill>
                <a:latin typeface="Angsana New" pitchFamily="18" charset="-34"/>
              </a:defRPr>
            </a:lvl9pPr>
          </a:lstStyle>
          <a:p>
            <a:pPr algn="ctr">
              <a:buFont typeface="Monotype Sorts" pitchFamily="2" charset="2"/>
              <a:buNone/>
              <a:defRPr/>
            </a:pPr>
            <a:r>
              <a:rPr lang="tr-TR" sz="3200" dirty="0">
                <a:solidFill>
                  <a:srgbClr val="000099"/>
                </a:solidFill>
                <a:latin typeface="+mj-lt"/>
                <a:ea typeface="+mj-ea"/>
                <a:cs typeface="+mj-cs"/>
              </a:rPr>
              <a:t>Implementation in C – percolateDown</a:t>
            </a:r>
          </a:p>
        </p:txBody>
      </p:sp>
      <p:sp>
        <p:nvSpPr>
          <p:cNvPr id="27651" name="TextBox 4"/>
          <p:cNvSpPr txBox="1">
            <a:spLocks noChangeArrowheads="1"/>
          </p:cNvSpPr>
          <p:nvPr/>
        </p:nvSpPr>
        <p:spPr bwMode="auto">
          <a:xfrm>
            <a:off x="139700" y="749300"/>
            <a:ext cx="9766300" cy="565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pPr>
              <a:buFont typeface="Monotype Sorts" charset="2"/>
              <a:buNone/>
            </a:pPr>
            <a:r>
              <a:rPr lang="tr-TR" altLang="en-US" sz="1600">
                <a:latin typeface="Courier New" charset="0"/>
                <a:ea typeface="Courier New" charset="0"/>
                <a:cs typeface="Courier New" charset="0"/>
              </a:rPr>
              <a:t>void percolateDown( PriorityQueue H, int hole )</a:t>
            </a:r>
          </a:p>
          <a:p>
            <a:pPr>
              <a:buFont typeface="Monotype Sorts" charset="2"/>
              <a:buNone/>
            </a:pPr>
            <a:r>
              <a:rPr lang="tr-TR" altLang="en-US" sz="1600">
                <a:latin typeface="Courier New" charset="0"/>
                <a:ea typeface="Courier New" charset="0"/>
                <a:cs typeface="Courier New" charset="0"/>
              </a:rPr>
              <a:t>{</a:t>
            </a:r>
          </a:p>
          <a:p>
            <a:pPr>
              <a:buFont typeface="Monotype Sorts" charset="2"/>
              <a:buNone/>
            </a:pPr>
            <a:r>
              <a:rPr lang="tr-TR" altLang="en-US" sz="1600">
                <a:latin typeface="Courier New" charset="0"/>
                <a:ea typeface="Courier New" charset="0"/>
                <a:cs typeface="Courier New" charset="0"/>
              </a:rPr>
              <a:t>  int child;</a:t>
            </a:r>
          </a:p>
          <a:p>
            <a:pPr>
              <a:buFont typeface="Monotype Sorts" charset="2"/>
              <a:buNone/>
            </a:pPr>
            <a:r>
              <a:rPr lang="tr-TR" altLang="en-US" sz="1600">
                <a:latin typeface="Courier New" charset="0"/>
                <a:ea typeface="Courier New" charset="0"/>
                <a:cs typeface="Courier New" charset="0"/>
              </a:rPr>
              <a:t>  ElementType tmp = H-&gt;Elements[ hole ];</a:t>
            </a:r>
          </a:p>
          <a:p>
            <a:pPr>
              <a:buFont typeface="Monotype Sorts" charset="2"/>
              <a:buNone/>
            </a:pPr>
            <a:endParaRPr lang="tr-TR" altLang="en-US" sz="1600">
              <a:latin typeface="Courier New" charset="0"/>
              <a:ea typeface="Courier New" charset="0"/>
              <a:cs typeface="Courier New" charset="0"/>
            </a:endParaRPr>
          </a:p>
          <a:p>
            <a:pPr>
              <a:buFont typeface="Monotype Sorts" charset="2"/>
              <a:buNone/>
            </a:pPr>
            <a:r>
              <a:rPr lang="tr-TR" altLang="en-US" sz="1600">
                <a:latin typeface="Courier New" charset="0"/>
                <a:ea typeface="Courier New" charset="0"/>
                <a:cs typeface="Courier New" charset="0"/>
              </a:rPr>
              <a:t>  for( ; hole * 2 &lt;= H-&gt;Size; hole = child )</a:t>
            </a:r>
          </a:p>
          <a:p>
            <a:pPr>
              <a:buFont typeface="Monotype Sorts" charset="2"/>
              <a:buNone/>
            </a:pPr>
            <a:r>
              <a:rPr lang="tr-TR" altLang="en-US" sz="1600">
                <a:latin typeface="Courier New" charset="0"/>
                <a:ea typeface="Courier New" charset="0"/>
                <a:cs typeface="Courier New" charset="0"/>
              </a:rPr>
              <a:t>  {</a:t>
            </a:r>
          </a:p>
          <a:p>
            <a:pPr>
              <a:buFont typeface="Monotype Sorts" charset="2"/>
              <a:buNone/>
            </a:pPr>
            <a:r>
              <a:rPr lang="tr-TR" altLang="en-US" sz="1600">
                <a:latin typeface="Courier New" charset="0"/>
                <a:ea typeface="Courier New" charset="0"/>
                <a:cs typeface="Courier New" charset="0"/>
              </a:rPr>
              <a:t>    /* Find smaller child */</a:t>
            </a:r>
          </a:p>
          <a:p>
            <a:pPr>
              <a:buFont typeface="Monotype Sorts" charset="2"/>
              <a:buNone/>
            </a:pPr>
            <a:r>
              <a:rPr lang="tr-TR" altLang="en-US" sz="1600">
                <a:latin typeface="Courier New" charset="0"/>
                <a:ea typeface="Courier New" charset="0"/>
                <a:cs typeface="Courier New" charset="0"/>
              </a:rPr>
              <a:t>    child = hole * 2;</a:t>
            </a: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if</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a:t>
            </a:r>
            <a:r>
              <a:rPr lang="tr-TR" altLang="en-US" sz="1600">
                <a:latin typeface="Courier New" charset="0"/>
                <a:ea typeface="Courier New" charset="0"/>
                <a:cs typeface="Courier New" charset="0"/>
              </a:rPr>
              <a:t>c</a:t>
            </a:r>
            <a:r>
              <a:rPr lang="en-US" altLang="en-US" sz="1600">
                <a:latin typeface="Courier New" charset="0"/>
                <a:ea typeface="Courier New" charset="0"/>
                <a:cs typeface="Courier New" charset="0"/>
              </a:rPr>
              <a:t>hild</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 H-&gt;Size &amp;&amp; H-&gt;Elements[</a:t>
            </a:r>
            <a:r>
              <a:rPr lang="tr-TR" altLang="en-US" sz="1600">
                <a:latin typeface="Courier New" charset="0"/>
                <a:ea typeface="Courier New" charset="0"/>
                <a:cs typeface="Courier New" charset="0"/>
              </a:rPr>
              <a:t>c</a:t>
            </a:r>
            <a:r>
              <a:rPr lang="en-US" altLang="en-US" sz="1600">
                <a:latin typeface="Courier New" charset="0"/>
                <a:ea typeface="Courier New" charset="0"/>
                <a:cs typeface="Courier New" charset="0"/>
              </a:rPr>
              <a:t>hild+1]</a:t>
            </a:r>
            <a:r>
              <a:rPr lang="tr-TR" altLang="en-US" sz="1600">
                <a:latin typeface="Courier New" charset="0"/>
                <a:ea typeface="Courier New" charset="0"/>
                <a:cs typeface="Courier New" charset="0"/>
              </a:rPr>
              <a:t>&lt;H-&gt;Elements[child])</a:t>
            </a:r>
          </a:p>
          <a:p>
            <a:pPr>
              <a:buFont typeface="Monotype Sorts" charset="2"/>
              <a:buNone/>
            </a:pPr>
            <a:r>
              <a:rPr lang="tr-TR" altLang="en-US" sz="1600">
                <a:latin typeface="Courier New" charset="0"/>
                <a:ea typeface="Courier New" charset="0"/>
                <a:cs typeface="Courier New" charset="0"/>
              </a:rPr>
              <a:t>      child++;</a:t>
            </a:r>
          </a:p>
          <a:p>
            <a:pPr>
              <a:buFont typeface="Monotype Sorts" charset="2"/>
              <a:buNone/>
            </a:pPr>
            <a:r>
              <a:rPr lang="tr-TR" altLang="en-US" sz="1600">
                <a:latin typeface="Courier New" charset="0"/>
                <a:ea typeface="Courier New" charset="0"/>
                <a:cs typeface="Courier New" charset="0"/>
              </a:rPr>
              <a:t>    /* Percolate one level */</a:t>
            </a: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 if( </a:t>
            </a:r>
            <a:r>
              <a:rPr lang="tr-TR" altLang="en-US" sz="1600">
                <a:latin typeface="Courier New" charset="0"/>
                <a:ea typeface="Courier New" charset="0"/>
                <a:cs typeface="Courier New" charset="0"/>
              </a:rPr>
              <a:t>tmp</a:t>
            </a:r>
            <a:r>
              <a:rPr lang="en-US" altLang="en-US" sz="1600">
                <a:latin typeface="Courier New" charset="0"/>
                <a:ea typeface="Courier New" charset="0"/>
                <a:cs typeface="Courier New" charset="0"/>
              </a:rPr>
              <a:t> &gt; H-&gt;Elements[</a:t>
            </a:r>
            <a:r>
              <a:rPr lang="tr-TR" altLang="en-US" sz="1600">
                <a:latin typeface="Courier New" charset="0"/>
                <a:ea typeface="Courier New" charset="0"/>
                <a:cs typeface="Courier New" charset="0"/>
              </a:rPr>
              <a:t>c</a:t>
            </a:r>
            <a:r>
              <a:rPr lang="en-US" altLang="en-US" sz="1600">
                <a:latin typeface="Courier New" charset="0"/>
                <a:ea typeface="Courier New" charset="0"/>
                <a:cs typeface="Courier New" charset="0"/>
              </a:rPr>
              <a:t>hild] )</a:t>
            </a:r>
          </a:p>
          <a:p>
            <a:pPr>
              <a:buFont typeface="Monotype Sorts" charset="2"/>
              <a:buNone/>
            </a:pPr>
            <a:r>
              <a:rPr lang="en-US" altLang="en-US" sz="1600">
                <a:latin typeface="Courier New" charset="0"/>
                <a:ea typeface="Courier New" charset="0"/>
                <a:cs typeface="Courier New" charset="0"/>
              </a:rPr>
              <a:t>  </a:t>
            </a:r>
            <a:r>
              <a:rPr lang="tr-TR" altLang="en-US" sz="1600">
                <a:latin typeface="Courier New" charset="0"/>
                <a:ea typeface="Courier New" charset="0"/>
                <a:cs typeface="Courier New" charset="0"/>
              </a:rPr>
              <a:t> </a:t>
            </a:r>
            <a:r>
              <a:rPr lang="en-US" altLang="en-US" sz="1600">
                <a:latin typeface="Courier New" charset="0"/>
                <a:ea typeface="Courier New" charset="0"/>
                <a:cs typeface="Courier New" charset="0"/>
              </a:rPr>
              <a:t>   H-&gt;Elements[ </a:t>
            </a:r>
            <a:r>
              <a:rPr lang="tr-TR" altLang="en-US" sz="1600">
                <a:latin typeface="Courier New" charset="0"/>
                <a:ea typeface="Courier New" charset="0"/>
                <a:cs typeface="Courier New" charset="0"/>
              </a:rPr>
              <a:t>hole</a:t>
            </a:r>
            <a:r>
              <a:rPr lang="en-US" altLang="en-US" sz="1600">
                <a:latin typeface="Courier New" charset="0"/>
                <a:ea typeface="Courier New" charset="0"/>
                <a:cs typeface="Courier New" charset="0"/>
              </a:rPr>
              <a:t> ] = H-&gt;Elements[ </a:t>
            </a:r>
            <a:r>
              <a:rPr lang="tr-TR" altLang="en-US" sz="1600">
                <a:latin typeface="Courier New" charset="0"/>
                <a:ea typeface="Courier New" charset="0"/>
                <a:cs typeface="Courier New" charset="0"/>
              </a:rPr>
              <a:t>c</a:t>
            </a:r>
            <a:r>
              <a:rPr lang="en-US" altLang="en-US" sz="1600">
                <a:latin typeface="Courier New" charset="0"/>
                <a:ea typeface="Courier New" charset="0"/>
                <a:cs typeface="Courier New" charset="0"/>
              </a:rPr>
              <a:t>hild ];</a:t>
            </a:r>
          </a:p>
          <a:p>
            <a:pPr>
              <a:buFont typeface="Monotype Sorts" charset="2"/>
              <a:buNone/>
            </a:pPr>
            <a:r>
              <a:rPr lang="tr-TR" altLang="en-US" sz="1600">
                <a:latin typeface="Courier New" charset="0"/>
                <a:ea typeface="Courier New" charset="0"/>
                <a:cs typeface="Courier New" charset="0"/>
              </a:rPr>
              <a:t>    else</a:t>
            </a:r>
          </a:p>
          <a:p>
            <a:pPr>
              <a:buFont typeface="Monotype Sorts" charset="2"/>
              <a:buNone/>
            </a:pPr>
            <a:r>
              <a:rPr lang="tr-TR" altLang="en-US" sz="1600">
                <a:latin typeface="Courier New" charset="0"/>
                <a:ea typeface="Courier New" charset="0"/>
                <a:cs typeface="Courier New" charset="0"/>
              </a:rPr>
              <a:t>      break;</a:t>
            </a:r>
          </a:p>
          <a:p>
            <a:pPr>
              <a:buFont typeface="Monotype Sorts" charset="2"/>
              <a:buNone/>
            </a:pPr>
            <a:r>
              <a:rPr lang="tr-TR" altLang="en-US" sz="1600">
                <a:latin typeface="Courier New" charset="0"/>
                <a:ea typeface="Courier New" charset="0"/>
                <a:cs typeface="Courier New" charset="0"/>
              </a:rPr>
              <a:t>  }</a:t>
            </a:r>
          </a:p>
          <a:p>
            <a:pPr>
              <a:buFont typeface="Monotype Sorts" charset="2"/>
              <a:buNone/>
            </a:pPr>
            <a:r>
              <a:rPr lang="tr-TR" altLang="en-US" sz="1600">
                <a:latin typeface="Courier New" charset="0"/>
                <a:ea typeface="Courier New" charset="0"/>
                <a:cs typeface="Courier New" charset="0"/>
              </a:rPr>
              <a:t>  H-&gt;Elements[ hole ] = tmp;</a:t>
            </a:r>
          </a:p>
          <a:p>
            <a:pPr>
              <a:buFont typeface="Monotype Sorts" charset="2"/>
              <a:buNone/>
            </a:pPr>
            <a:r>
              <a:rPr lang="tr-TR" altLang="en-US" sz="1600">
                <a:latin typeface="Courier New" charset="0"/>
                <a:ea typeface="Courier New" charset="0"/>
                <a:cs typeface="Courier New" charset="0"/>
              </a:rPr>
              <a:t>}</a:t>
            </a:r>
          </a:p>
        </p:txBody>
      </p:sp>
      <p:sp>
        <p:nvSpPr>
          <p:cNvPr id="2" name="Espace réservé du pied de page 1"/>
          <p:cNvSpPr>
            <a:spLocks noGrp="1"/>
          </p:cNvSpPr>
          <p:nvPr>
            <p:ph type="ftr" sz="quarter" idx="11"/>
          </p:nvPr>
        </p:nvSpPr>
        <p:spPr/>
        <p:txBody>
          <a:bodyPr/>
          <a:lstStyle/>
          <a:p>
            <a:pPr>
              <a:defRPr/>
            </a:pPr>
            <a:r>
              <a:rPr lang="en-US" altLang="zh-TW"/>
              <a:t>CS 2321: D.S.A (-Priority Queues-)</a:t>
            </a:r>
          </a:p>
        </p:txBody>
      </p:sp>
      <p:sp>
        <p:nvSpPr>
          <p:cNvPr id="3" name="Espace réservé du numéro de diapositive 2"/>
          <p:cNvSpPr>
            <a:spLocks noGrp="1"/>
          </p:cNvSpPr>
          <p:nvPr>
            <p:ph type="sldNum" sz="quarter" idx="12"/>
          </p:nvPr>
        </p:nvSpPr>
        <p:spPr/>
        <p:txBody>
          <a:bodyP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6pPr>
            <a:lvl7pPr marL="29718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7pPr>
            <a:lvl8pPr marL="34290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8pPr>
            <a:lvl9pPr marL="3886200" indent="-228600" eaLnBrk="0" fontAlgn="base" hangingPunct="0">
              <a:spcBef>
                <a:spcPct val="20000"/>
              </a:spcBef>
              <a:spcAft>
                <a:spcPct val="0"/>
              </a:spcAft>
              <a:buClr>
                <a:schemeClr val="tx2"/>
              </a:buClr>
              <a:buSzPct val="75000"/>
              <a:buFont typeface="Monotype Sorts" charset="2"/>
              <a:buChar char="l"/>
              <a:defRPr sz="2000" b="1">
                <a:solidFill>
                  <a:schemeClr val="tx1"/>
                </a:solidFill>
                <a:latin typeface="Arial" charset="0"/>
              </a:defRPr>
            </a:lvl9pPr>
          </a:lstStyle>
          <a:p>
            <a:fld id="{5AD84804-5EDF-4F4B-8C1E-304F0BA88F7E}" type="slidenum">
              <a:rPr lang="zh-TW" altLang="en-US" sz="1200">
                <a:solidFill>
                  <a:srgbClr val="898989"/>
                </a:solidFill>
              </a:rPr>
              <a:pPr/>
              <a:t>32</a:t>
            </a:fld>
            <a:endParaRPr lang="en-US" altLang="zh-TW" sz="1200">
              <a:solidFill>
                <a:srgbClr val="898989"/>
              </a:solidFill>
            </a:endParaRPr>
          </a:p>
        </p:txBody>
      </p:sp>
    </p:spTree>
    <p:extLst>
      <p:ext uri="{BB962C8B-B14F-4D97-AF65-F5344CB8AC3E}">
        <p14:creationId xmlns:p14="http://schemas.microsoft.com/office/powerpoint/2010/main" val="245720083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7202</TotalTime>
  <Words>1894</Words>
  <Application>Microsoft Office PowerPoint</Application>
  <PresentationFormat>On-screen Show (4:3)</PresentationFormat>
  <Paragraphs>472</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Angsana New</vt:lpstr>
      <vt:lpstr>Arial</vt:lpstr>
      <vt:lpstr>Berkeley-Book</vt:lpstr>
      <vt:lpstr>Calibri</vt:lpstr>
      <vt:lpstr>Courier New</vt:lpstr>
      <vt:lpstr>Monotype Sorts</vt:lpstr>
      <vt:lpstr>Times New Roman</vt:lpstr>
      <vt:lpstr>Wingdings</vt:lpstr>
      <vt:lpstr>Thème Office</vt:lpstr>
      <vt:lpstr>Priority Queues (Heaps)</vt:lpstr>
      <vt:lpstr>Outlines</vt:lpstr>
      <vt:lpstr>1. Priority Queues Model</vt:lpstr>
      <vt:lpstr>Priority Queue (Heap)</vt:lpstr>
      <vt:lpstr>Priority Queue (Heap) Operations</vt:lpstr>
      <vt:lpstr>2. Implementation of Priority Queues</vt:lpstr>
      <vt:lpstr>Implementation using Linked List</vt:lpstr>
      <vt:lpstr>Implementation using Binary Search Tree</vt:lpstr>
      <vt:lpstr>3. Binary Heap</vt:lpstr>
      <vt:lpstr>Binary Heap Implementation</vt:lpstr>
      <vt:lpstr>Array Implementation of Binary Heap</vt:lpstr>
      <vt:lpstr>Property 2: Heap Order Property (for Minimum Heap)</vt:lpstr>
      <vt:lpstr>Property 2: Heap Order Property (for Minimum Heap)</vt:lpstr>
      <vt:lpstr>Insert</vt:lpstr>
      <vt:lpstr>Insert</vt:lpstr>
      <vt:lpstr>Insert</vt:lpstr>
      <vt:lpstr>deleteMin</vt:lpstr>
      <vt:lpstr>deleteMin</vt:lpstr>
      <vt:lpstr>deleteMin</vt:lpstr>
      <vt:lpstr>deleteMin</vt:lpstr>
      <vt:lpstr>Running Time</vt:lpstr>
      <vt:lpstr>Building a Heap</vt:lpstr>
      <vt:lpstr>buildHeap Algorithm</vt:lpstr>
      <vt:lpstr>PowerPoint Presentation</vt:lpstr>
      <vt:lpstr>buildHeap Example - I</vt:lpstr>
      <vt:lpstr>PowerPoint Presentation</vt:lpstr>
      <vt:lpstr>Implementation in C - HeapStruct</vt:lpstr>
      <vt:lpstr>Implementation in C - Initialize</vt:lpstr>
      <vt:lpstr>PowerPoint Presentation</vt:lpstr>
      <vt:lpstr>PowerPoint Presentation</vt:lpstr>
      <vt:lpstr>PowerPoint Presentation</vt:lpstr>
      <vt:lpstr>PowerPoint Presentation</vt:lpstr>
    </vt:vector>
  </TitlesOfParts>
  <Company>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search tree</dc:title>
  <dc:creator>taicl</dc:creator>
  <cp:lastModifiedBy>Mahmoud Hassaballah</cp:lastModifiedBy>
  <cp:revision>400</cp:revision>
  <cp:lastPrinted>2016-12-03T17:56:15Z</cp:lastPrinted>
  <dcterms:created xsi:type="dcterms:W3CDTF">2005-09-13T14:58:53Z</dcterms:created>
  <dcterms:modified xsi:type="dcterms:W3CDTF">2023-01-30T06:47:12Z</dcterms:modified>
</cp:coreProperties>
</file>