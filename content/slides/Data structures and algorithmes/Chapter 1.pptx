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1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3" r:id="rId1"/>
  </p:sldMasterIdLst>
  <p:notesMasterIdLst>
    <p:notesMasterId r:id="rId36"/>
  </p:notesMasterIdLst>
  <p:sldIdLst>
    <p:sldId id="426" r:id="rId2"/>
    <p:sldId id="427" r:id="rId3"/>
    <p:sldId id="428" r:id="rId4"/>
    <p:sldId id="399" r:id="rId5"/>
    <p:sldId id="422" r:id="rId6"/>
    <p:sldId id="395" r:id="rId7"/>
    <p:sldId id="429" r:id="rId8"/>
    <p:sldId id="376" r:id="rId9"/>
    <p:sldId id="377" r:id="rId10"/>
    <p:sldId id="378" r:id="rId11"/>
    <p:sldId id="379" r:id="rId12"/>
    <p:sldId id="380" r:id="rId13"/>
    <p:sldId id="430" r:id="rId14"/>
    <p:sldId id="432" r:id="rId15"/>
    <p:sldId id="382" r:id="rId16"/>
    <p:sldId id="403" r:id="rId17"/>
    <p:sldId id="387" r:id="rId18"/>
    <p:sldId id="402" r:id="rId19"/>
    <p:sldId id="389" r:id="rId20"/>
    <p:sldId id="390" r:id="rId21"/>
    <p:sldId id="398" r:id="rId22"/>
    <p:sldId id="412" r:id="rId23"/>
    <p:sldId id="404" r:id="rId24"/>
    <p:sldId id="431" r:id="rId25"/>
    <p:sldId id="414" r:id="rId26"/>
    <p:sldId id="415" r:id="rId27"/>
    <p:sldId id="416" r:id="rId28"/>
    <p:sldId id="417" r:id="rId29"/>
    <p:sldId id="419" r:id="rId30"/>
    <p:sldId id="420" r:id="rId31"/>
    <p:sldId id="421" r:id="rId32"/>
    <p:sldId id="423" r:id="rId33"/>
    <p:sldId id="424" r:id="rId34"/>
    <p:sldId id="425" r:id="rId35"/>
  </p:sldIdLst>
  <p:sldSz cx="9144000" cy="6858000" type="screen4x3"/>
  <p:notesSz cx="6858000" cy="9144000"/>
  <p:defaultTextStyle>
    <a:defPPr>
      <a:defRPr lang="ar-SA"/>
    </a:defPPr>
    <a:lvl1pPr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r" defTabSz="914400" rtl="1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r" defTabSz="914400" rtl="1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r" defTabSz="914400" rtl="1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r" defTabSz="914400" rtl="1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336699"/>
    <a:srgbClr val="66FFFF"/>
    <a:srgbClr val="00FF00"/>
    <a:srgbClr val="009900"/>
    <a:srgbClr val="CC0066"/>
    <a:srgbClr val="990033"/>
    <a:srgbClr val="000000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94" autoAdjust="0"/>
    <p:restoredTop sz="94667" autoAdjust="0"/>
  </p:normalViewPr>
  <p:slideViewPr>
    <p:cSldViewPr>
      <p:cViewPr varScale="1">
        <p:scale>
          <a:sx n="63" d="100"/>
          <a:sy n="63" d="100"/>
        </p:scale>
        <p:origin x="1392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6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2-12T19:36:29.686"/>
    </inkml:context>
    <inkml:brush xml:id="br0">
      <inkml:brushProperty name="width" value="0.1" units="cm"/>
      <inkml:brushProperty name="height" value="0.1" units="cm"/>
      <inkml:brushProperty name="color" value="#0000FF"/>
      <inkml:brushProperty name="ignorePressure" value="1"/>
    </inkml:brush>
  </inkml:definitions>
  <inkml:trace contextRef="#ctx0" brushRef="#br0">1 0,'9107'9108,"-9090"-9091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588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6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88620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fld id="{1D0EE1E9-F69F-45E0-A77C-D9C5AD91FE34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4335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037690D7-EAF1-4DDA-9A12-C617EF27452E}" type="slidenum">
              <a:rPr lang="ar-SA" altLang="ar-SA" smtClean="0"/>
              <a:pPr eaLnBrk="1" hangingPunct="1"/>
              <a:t>4</a:t>
            </a:fld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467279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B4D9ED0E-19A8-4033-9AF7-DD25C16E716D}" type="slidenum">
              <a:rPr lang="ar-SA" altLang="ar-SA" smtClean="0"/>
              <a:pPr eaLnBrk="1" hangingPunct="1"/>
              <a:t>5</a:t>
            </a:fld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2139517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194441EF-FC18-44A1-B3DD-9B5414EAE19B}" type="slidenum">
              <a:rPr lang="ar-SA" altLang="ar-SA" smtClean="0"/>
              <a:pPr eaLnBrk="1" hangingPunct="1"/>
              <a:t>6</a:t>
            </a:fld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9998909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BB107E9-315D-4241-957D-E0CE9AE76303}" type="slidenum">
              <a:rPr lang="ar-SA" altLang="ar-SA" smtClean="0"/>
              <a:pPr eaLnBrk="1" hangingPunct="1"/>
              <a:t>8</a:t>
            </a:fld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11078437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8D36D57B-752A-49F0-BCD9-2724FBC885AC}" type="slidenum">
              <a:rPr lang="ar-SA" altLang="ar-SA" smtClean="0"/>
              <a:pPr eaLnBrk="1" hangingPunct="1"/>
              <a:t>9</a:t>
            </a:fld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5097531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9024F523-9984-4952-BA5C-6FE678D33F32}" type="slidenum">
              <a:rPr lang="ar-SA" altLang="ar-SA" smtClean="0"/>
              <a:pPr eaLnBrk="1" hangingPunct="1"/>
              <a:t>10</a:t>
            </a:fld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11093443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EDBCB6F9-7653-4100-8C80-D3CF018BA9D3}" type="slidenum">
              <a:rPr lang="ar-SA" altLang="ar-SA" smtClean="0"/>
              <a:pPr eaLnBrk="1" hangingPunct="1"/>
              <a:t>11</a:t>
            </a:fld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2973327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4C6A373F-F19E-488B-B628-6519DA66ED2C}" type="slidenum">
              <a:rPr lang="ar-SA" altLang="ar-SA" smtClean="0"/>
              <a:pPr eaLnBrk="1" hangingPunct="1"/>
              <a:t>12</a:t>
            </a:fld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13304775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ABBDCBE9-1A68-4B2C-BA52-3F47401F91F4}" type="slidenum">
              <a:rPr lang="ar-SA" altLang="ar-SA" smtClean="0"/>
              <a:pPr eaLnBrk="1" hangingPunct="1"/>
              <a:t>15</a:t>
            </a:fld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18530069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4310DBE0-F764-428D-8139-BB2023040F49}" type="slidenum">
              <a:rPr lang="ar-SA" altLang="ar-SA" smtClean="0"/>
              <a:pPr eaLnBrk="1" hangingPunct="1"/>
              <a:t>17</a:t>
            </a:fld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356964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4310DBE0-F764-428D-8139-BB2023040F49}" type="slidenum">
              <a:rPr lang="ar-SA" altLang="ar-SA" smtClean="0"/>
              <a:pPr eaLnBrk="1" hangingPunct="1"/>
              <a:t>18</a:t>
            </a:fld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8019110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4D513E33-BB3F-43A3-A583-66EC73077B4D}" type="slidenum">
              <a:rPr lang="ar-SA" altLang="ar-SA" smtClean="0"/>
              <a:pPr eaLnBrk="1" hangingPunct="1"/>
              <a:t>19</a:t>
            </a:fld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17142828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EAE1DA83-C323-4137-B7F4-07FF6E94939A}" type="slidenum">
              <a:rPr lang="ar-SA" altLang="ar-SA" smtClean="0"/>
              <a:pPr eaLnBrk="1" hangingPunct="1"/>
              <a:t>20</a:t>
            </a:fld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13115543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C8BCC791-A42A-44A2-A593-80B59F4298B1}" type="slidenum">
              <a:rPr lang="ar-SA" altLang="ar-SA" smtClean="0"/>
              <a:pPr eaLnBrk="1" hangingPunct="1"/>
              <a:t>21</a:t>
            </a:fld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17363814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BB917091-1B63-491D-905F-436B6673D1D8}" type="slidenum">
              <a:rPr lang="ar-SA" altLang="ar-SA" smtClean="0"/>
              <a:pPr eaLnBrk="1" hangingPunct="1"/>
              <a:t>22</a:t>
            </a:fld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12075493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EAE1DA83-C323-4137-B7F4-07FF6E94939A}" type="slidenum">
              <a:rPr lang="ar-SA" altLang="ar-SA" smtClean="0"/>
              <a:pPr eaLnBrk="1" hangingPunct="1"/>
              <a:t>23</a:t>
            </a:fld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15620159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E06CB2A4-3278-4C28-BB6F-EEF8B8E876C6}" type="slidenum">
              <a:rPr lang="ar-SA" altLang="ar-SA"/>
              <a:pPr eaLnBrk="1" hangingPunct="1"/>
              <a:t>25</a:t>
            </a:fld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16918511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57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1A249F3C-28A9-411A-8F62-FC9B93B87DD5}" type="slidenum">
              <a:rPr lang="ar-SA" altLang="ar-SA"/>
              <a:pPr eaLnBrk="1" hangingPunct="1"/>
              <a:t>26</a:t>
            </a:fld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1118795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42583751-A9D5-4954-9B51-FE608EFEE5F2}" type="slidenum">
              <a:rPr lang="ar-SA" altLang="ar-SA"/>
              <a:pPr eaLnBrk="1" hangingPunct="1"/>
              <a:t>27</a:t>
            </a:fld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13115906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36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1136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12799F0A-1021-4E68-A219-D0509C730C64}" type="slidenum">
              <a:rPr lang="ar-SA" altLang="ar-SA"/>
              <a:pPr eaLnBrk="1" hangingPunct="1"/>
              <a:t>28</a:t>
            </a:fld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21310950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57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1157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E5801CAE-8E4D-4E76-82A4-F7330BA441ED}" type="slidenum">
              <a:rPr lang="ar-SA" altLang="ar-SA"/>
              <a:pPr eaLnBrk="1" hangingPunct="1"/>
              <a:t>29</a:t>
            </a:fld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1549483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57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1157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E5801CAE-8E4D-4E76-82A4-F7330BA441ED}" type="slidenum">
              <a:rPr lang="ar-SA" altLang="ar-SA"/>
              <a:pPr eaLnBrk="1" hangingPunct="1"/>
              <a:t>30</a:t>
            </a:fld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14671080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8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1228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2C3810B9-DB28-4BA9-8779-9097F5111BEE}" type="slidenum">
              <a:rPr lang="ar-SA" altLang="ar-SA"/>
              <a:pPr eaLnBrk="1" hangingPunct="1"/>
              <a:t>31</a:t>
            </a:fld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277593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(-Introduction-)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42117F-2C73-4D66-97C1-4AE4EF459FFA}" type="slidenum">
              <a:rPr lang="ar-SA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463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(-Introduction-)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42117F-2C73-4D66-97C1-4AE4EF459FFA}" type="slidenum">
              <a:rPr lang="ar-SA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193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(-Introduction-)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42117F-2C73-4D66-97C1-4AE4EF459FFA}" type="slidenum">
              <a:rPr lang="ar-SA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103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(-Introduction-)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42117F-2C73-4D66-97C1-4AE4EF459FFA}" type="slidenum">
              <a:rPr lang="ar-SA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372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(-Introduction-)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42117F-2C73-4D66-97C1-4AE4EF459FFA}" type="slidenum">
              <a:rPr lang="ar-SA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444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(-Introduction-)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42117F-2C73-4D66-97C1-4AE4EF459FFA}" type="slidenum">
              <a:rPr lang="ar-SA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041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(-Introduction-)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42117F-2C73-4D66-97C1-4AE4EF459FFA}" type="slidenum">
              <a:rPr lang="ar-SA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052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(-Introduction-)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42117F-2C73-4D66-97C1-4AE4EF459FFA}" type="slidenum">
              <a:rPr lang="ar-SA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515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(-Introduction-)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42117F-2C73-4D66-97C1-4AE4EF459FFA}" type="slidenum">
              <a:rPr lang="ar-SA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44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(-Introduction-)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42117F-2C73-4D66-97C1-4AE4EF459FFA}" type="slidenum">
              <a:rPr lang="ar-SA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30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(-Introduction-)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42117F-2C73-4D66-97C1-4AE4EF459FFA}" type="slidenum">
              <a:rPr lang="ar-SA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5293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7813"/>
            <a:ext cx="8229600" cy="5848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3" name="Rectangle 6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 2321: D.S.A (-Introduction-)</a:t>
            </a:r>
          </a:p>
        </p:txBody>
      </p:sp>
      <p:sp>
        <p:nvSpPr>
          <p:cNvPr id="5" name="Rectangle 7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F2C678-B954-41BD-8868-293083CBF35E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2666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5" name="Rectangle 6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 2321: D.S.A (-Introduction-)</a:t>
            </a:r>
          </a:p>
        </p:txBody>
      </p:sp>
      <p:sp>
        <p:nvSpPr>
          <p:cNvPr id="7" name="Rectangle 7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E361D5-47DD-4A8D-8C7C-0A1A10566005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5798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6" name="Rectangle 6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 2321: D.S.A (-Introduction-)</a:t>
            </a:r>
          </a:p>
        </p:txBody>
      </p:sp>
      <p:sp>
        <p:nvSpPr>
          <p:cNvPr id="8" name="Rectangle 7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B49171-20A2-4B2E-91E4-8AB0C3DA6430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217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CS 2321: D.S.A (-Introduction-)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942117F-2C73-4D66-97C1-4AE4EF459FFA}" type="slidenum">
              <a:rPr lang="ar-SA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91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  <p:sldLayoutId id="2147483805" r:id="rId12"/>
    <p:sldLayoutId id="2147483806" r:id="rId13"/>
    <p:sldLayoutId id="2147483807" r:id="rId14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0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5.bin"/><Relationship Id="rId12" Type="http://schemas.openxmlformats.org/officeDocument/2006/relationships/image" Target="../media/image8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.png"/><Relationship Id="rId11" Type="http://schemas.openxmlformats.org/officeDocument/2006/relationships/oleObject" Target="../embeddings/oleObject7.bin"/><Relationship Id="rId10" Type="http://schemas.openxmlformats.org/officeDocument/2006/relationships/image" Target="../media/image7.wmf"/><Relationship Id="rId4" Type="http://schemas.openxmlformats.org/officeDocument/2006/relationships/image" Target="../media/image5.wmf"/><Relationship Id="rId9" Type="http://schemas.openxmlformats.org/officeDocument/2006/relationships/oleObject" Target="../embeddings/oleObject6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13" Type="http://schemas.openxmlformats.org/officeDocument/2006/relationships/oleObject" Target="../embeddings/oleObject13.bin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3.wmf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5.wmf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.w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5" Type="http://schemas.openxmlformats.org/officeDocument/2006/relationships/oleObject" Target="../embeddings/oleObject14.bin"/><Relationship Id="rId10" Type="http://schemas.openxmlformats.org/officeDocument/2006/relationships/image" Target="../media/image12.wmf"/><Relationship Id="rId4" Type="http://schemas.openxmlformats.org/officeDocument/2006/relationships/image" Target="../media/image9.wmf"/><Relationship Id="rId9" Type="http://schemas.openxmlformats.org/officeDocument/2006/relationships/oleObject" Target="../embeddings/oleObject11.bin"/><Relationship Id="rId14" Type="http://schemas.openxmlformats.org/officeDocument/2006/relationships/image" Target="../media/image14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oleObject" Target="../embeddings/oleObject17.bin"/><Relationship Id="rId7" Type="http://schemas.openxmlformats.org/officeDocument/2006/relationships/customXml" Target="../ink/ink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21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4.png"/><Relationship Id="rId4" Type="http://schemas.openxmlformats.org/officeDocument/2006/relationships/image" Target="../media/image23.w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58813" y="3505200"/>
            <a:ext cx="7772400" cy="1143000"/>
          </a:xfrm>
        </p:spPr>
        <p:txBody>
          <a:bodyPr/>
          <a:lstStyle/>
          <a:p>
            <a:r>
              <a:rPr lang="en-US" sz="6600" b="1" dirty="0"/>
              <a:t>Introduction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1396971" y="1752600"/>
            <a:ext cx="6296083" cy="19759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sz="36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CS 2321</a:t>
            </a:r>
          </a:p>
          <a:p>
            <a:pPr algn="ctr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altLang="zh-TW" sz="3600" b="1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Data Structures </a:t>
            </a:r>
            <a:r>
              <a:rPr lang="en-US" altLang="zh-TW" sz="36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and Algorithms</a:t>
            </a:r>
          </a:p>
          <a:p>
            <a:pPr algn="ctr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lang="en-US" sz="3600" b="1" dirty="0">
              <a:solidFill>
                <a:schemeClr val="accent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076" name="Image 8" descr="C:\Users\mahdi\Desktop\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7275" y="76200"/>
            <a:ext cx="1893888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Rectangle 2"/>
          <p:cNvSpPr txBox="1">
            <a:spLocks noChangeArrowheads="1"/>
          </p:cNvSpPr>
          <p:nvPr/>
        </p:nvSpPr>
        <p:spPr bwMode="auto">
          <a:xfrm>
            <a:off x="838200" y="5086350"/>
            <a:ext cx="8077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0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sz="2400" dirty="0">
                <a:latin typeface="Calibri" pitchFamily="34" charset="0"/>
              </a:rPr>
              <a:t>  Dr. Mahmoud </a:t>
            </a:r>
            <a:r>
              <a:rPr lang="en-US" sz="2400" dirty="0" err="1">
                <a:latin typeface="Calibri" pitchFamily="34" charset="0"/>
              </a:rPr>
              <a:t>Hassaballah</a:t>
            </a:r>
            <a:endParaRPr lang="en-US" sz="24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3034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b="1" dirty="0"/>
              <a:t>Outlines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676400"/>
            <a:ext cx="8382000" cy="4800600"/>
          </a:xfrm>
        </p:spPr>
        <p:txBody>
          <a:bodyPr rtlCol="0">
            <a:normAutofit fontScale="92500" lnSpcReduction="20000"/>
          </a:bodyPr>
          <a:lstStyle/>
          <a:p>
            <a:pPr marL="742950" indent="-742950">
              <a:buFont typeface="+mj-lt"/>
              <a:buAutoNum type="arabicPeriod"/>
              <a:defRPr/>
            </a:pPr>
            <a:r>
              <a:rPr lang="en-US" sz="4000" b="1" dirty="0"/>
              <a:t>Introduction</a:t>
            </a:r>
          </a:p>
          <a:p>
            <a:pPr marL="742950" indent="-742950">
              <a:buFont typeface="+mj-lt"/>
              <a:buAutoNum type="arabicPeriod"/>
              <a:defRPr/>
            </a:pPr>
            <a:r>
              <a:rPr lang="en-US" sz="4000" b="1" dirty="0"/>
              <a:t>Mathematics Review</a:t>
            </a:r>
          </a:p>
          <a:p>
            <a:pPr marL="0" indent="0">
              <a:buNone/>
              <a:defRPr/>
            </a:pPr>
            <a:r>
              <a:rPr lang="en-US" sz="4000" b="1" dirty="0"/>
              <a:t>		</a:t>
            </a:r>
            <a:r>
              <a:rPr lang="en-US" sz="3800" dirty="0"/>
              <a:t>Exponents</a:t>
            </a:r>
          </a:p>
          <a:p>
            <a:pPr marL="0" indent="0">
              <a:buNone/>
              <a:defRPr/>
            </a:pPr>
            <a:r>
              <a:rPr lang="en-US" sz="3800" dirty="0"/>
              <a:t>		Logarithms</a:t>
            </a:r>
          </a:p>
          <a:p>
            <a:pPr marL="0" indent="0">
              <a:buNone/>
              <a:defRPr/>
            </a:pPr>
            <a:r>
              <a:rPr lang="en-US" sz="3800" dirty="0"/>
              <a:t>		Series</a:t>
            </a:r>
          </a:p>
          <a:p>
            <a:pPr marL="0" indent="0">
              <a:buNone/>
              <a:defRPr/>
            </a:pPr>
            <a:r>
              <a:rPr lang="en-US" sz="3800" dirty="0"/>
              <a:t>		Modular Arithmetic</a:t>
            </a:r>
          </a:p>
          <a:p>
            <a:pPr marL="742950" indent="-742950">
              <a:buFont typeface="+mj-lt"/>
              <a:buAutoNum type="arabicPeriod" startAt="3"/>
              <a:defRPr/>
            </a:pPr>
            <a:r>
              <a:rPr lang="en-US" sz="4000" b="1" dirty="0"/>
              <a:t>Recursion</a:t>
            </a:r>
          </a:p>
          <a:p>
            <a:pPr marL="742950" indent="-742950">
              <a:buFont typeface="+mj-lt"/>
              <a:buAutoNum type="arabicPeriod" startAt="3"/>
              <a:defRPr/>
            </a:pPr>
            <a:r>
              <a:rPr lang="en-US" sz="4000" b="1" dirty="0"/>
              <a:t>Pointers and Arrays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fr-FR" sz="2000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 altLang="zh-TW"/>
              <a:t>CS 2321: D.S.A (-Introduction-)</a:t>
            </a:r>
            <a:endParaRPr lang="en-US" altLang="zh-TW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2E691E-9316-4117-B0E1-285115080C4C}" type="slidenum">
              <a:rPr lang="zh-TW" altLang="en-US"/>
              <a:pPr>
                <a:defRPr/>
              </a:pPr>
              <a:t>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75499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fr-FR" sz="4000" b="1" dirty="0"/>
              <a:t>1. Introduction</a:t>
            </a:r>
            <a:endParaRPr lang="en-US" sz="4000" b="1" dirty="0"/>
          </a:p>
        </p:txBody>
      </p:sp>
      <p:sp>
        <p:nvSpPr>
          <p:cNvPr id="5123" name="Rectangle 1"/>
          <p:cNvSpPr>
            <a:spLocks noChangeArrowheads="1"/>
          </p:cNvSpPr>
          <p:nvPr/>
        </p:nvSpPr>
        <p:spPr bwMode="auto">
          <a:xfrm>
            <a:off x="1103506" y="4343400"/>
            <a:ext cx="376853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l"/>
            </a:pPr>
            <a:r>
              <a:rPr lang="fr-FR" b="1" dirty="0">
                <a:solidFill>
                  <a:srgbClr val="FF0000"/>
                </a:solidFill>
              </a:rPr>
              <a:t>Reading: </a:t>
            </a:r>
            <a:r>
              <a:rPr lang="fr-FR" b="1" dirty="0" err="1">
                <a:solidFill>
                  <a:srgbClr val="FF0000"/>
                </a:solidFill>
              </a:rPr>
              <a:t>Textbook</a:t>
            </a:r>
            <a:r>
              <a:rPr lang="fr-FR" b="1" dirty="0">
                <a:solidFill>
                  <a:srgbClr val="FF0000"/>
                </a:solidFill>
              </a:rPr>
              <a:t> (Weiss) 1.1  </a:t>
            </a:r>
          </a:p>
        </p:txBody>
      </p:sp>
    </p:spTree>
    <p:extLst>
      <p:ext uri="{BB962C8B-B14F-4D97-AF65-F5344CB8AC3E}">
        <p14:creationId xmlns:p14="http://schemas.microsoft.com/office/powerpoint/2010/main" val="2009744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560388"/>
          </a:xfrm>
        </p:spPr>
        <p:txBody>
          <a:bodyPr>
            <a:noAutofit/>
          </a:bodyPr>
          <a:lstStyle/>
          <a:p>
            <a:pPr rtl="0" eaLnBrk="1" hangingPunct="1"/>
            <a:r>
              <a:rPr lang="en-US" altLang="ar-SA" sz="4800" b="1" dirty="0">
                <a:solidFill>
                  <a:srgbClr val="000099"/>
                </a:solidFill>
              </a:rPr>
              <a:t>Objectives</a:t>
            </a:r>
          </a:p>
        </p:txBody>
      </p:sp>
      <p:sp>
        <p:nvSpPr>
          <p:cNvPr id="248836" name="Rectangle 4"/>
          <p:cNvSpPr>
            <a:spLocks noChangeArrowheads="1"/>
          </p:cNvSpPr>
          <p:nvPr/>
        </p:nvSpPr>
        <p:spPr bwMode="auto">
          <a:xfrm>
            <a:off x="152400" y="914400"/>
            <a:ext cx="88392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l" rtl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sz="3200" b="1" dirty="0">
                <a:latin typeface="+mj-lt"/>
              </a:rPr>
              <a:t>We will:</a:t>
            </a:r>
          </a:p>
          <a:p>
            <a:pPr marL="342900" indent="-342900" algn="l" rtl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endParaRPr lang="en-US" dirty="0">
              <a:effectLst>
                <a:outerShdw blurRad="38100" dist="38100" dir="2700000" algn="tl">
                  <a:srgbClr val="000000"/>
                </a:outerShdw>
              </a:effectLst>
              <a:latin typeface="+mj-lt"/>
            </a:endParaRPr>
          </a:p>
          <a:p>
            <a:pPr marL="457200" indent="-457200" algn="l" rtl="0">
              <a:spcBef>
                <a:spcPct val="20000"/>
              </a:spcBef>
              <a:buClr>
                <a:schemeClr val="hlink"/>
              </a:buClr>
              <a:buSzPct val="80000"/>
              <a:buFont typeface="Arial" pitchFamily="34" charset="0"/>
              <a:buChar char="•"/>
              <a:defRPr/>
            </a:pPr>
            <a:r>
              <a:rPr lang="en-US" sz="3200" dirty="0">
                <a:latin typeface="+mj-lt"/>
              </a:rPr>
              <a:t>See that how a program performs for reasonably large input is just as important as its performance on moderate amount of input.</a:t>
            </a:r>
          </a:p>
          <a:p>
            <a:pPr marL="342900" indent="-342900" algn="l" rtl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/>
            </a:pPr>
            <a:endParaRPr lang="en-US" dirty="0">
              <a:latin typeface="+mj-lt"/>
            </a:endParaRPr>
          </a:p>
          <a:p>
            <a:pPr marL="457200" indent="-457200" algn="l" rtl="0">
              <a:spcBef>
                <a:spcPct val="20000"/>
              </a:spcBef>
              <a:buClr>
                <a:schemeClr val="hlink"/>
              </a:buClr>
              <a:buSzPct val="80000"/>
              <a:buFont typeface="Arial" pitchFamily="34" charset="0"/>
              <a:buChar char="•"/>
              <a:defRPr/>
            </a:pPr>
            <a:r>
              <a:rPr lang="en-US" sz="3200" dirty="0">
                <a:latin typeface="+mj-lt"/>
              </a:rPr>
              <a:t>Summarize the basic mathematical background needed for the rest of the course.</a:t>
            </a:r>
          </a:p>
          <a:p>
            <a:pPr marL="342900" indent="-342900" algn="l" rtl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/>
            </a:pPr>
            <a:endParaRPr lang="en-US" dirty="0">
              <a:latin typeface="+mj-lt"/>
            </a:endParaRPr>
          </a:p>
          <a:p>
            <a:pPr marL="457200" indent="-457200" algn="l" rtl="0">
              <a:spcBef>
                <a:spcPct val="20000"/>
              </a:spcBef>
              <a:buClr>
                <a:schemeClr val="hlink"/>
              </a:buClr>
              <a:buSzPct val="80000"/>
              <a:buFont typeface="Arial" pitchFamily="34" charset="0"/>
              <a:buChar char="•"/>
              <a:defRPr/>
            </a:pPr>
            <a:r>
              <a:rPr lang="en-US" sz="3200" dirty="0">
                <a:latin typeface="+mj-lt"/>
              </a:rPr>
              <a:t>Briefly review recursion, </a:t>
            </a:r>
            <a:r>
              <a:rPr lang="en-US" sz="3200" b="1" u="sng" dirty="0">
                <a:solidFill>
                  <a:srgbClr val="FF0000"/>
                </a:solidFill>
                <a:latin typeface="+mj-lt"/>
              </a:rPr>
              <a:t>pointers</a:t>
            </a:r>
            <a:r>
              <a:rPr lang="en-US" sz="3200" dirty="0">
                <a:latin typeface="+mj-lt"/>
              </a:rPr>
              <a:t> and arrays.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(-Introduction-)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E361D5-47DD-4A8D-8C7C-0A1A10566005}" type="slidenum">
              <a:rPr lang="ar-SA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560388"/>
          </a:xfrm>
        </p:spPr>
        <p:txBody>
          <a:bodyPr>
            <a:noAutofit/>
          </a:bodyPr>
          <a:lstStyle/>
          <a:p>
            <a:pPr rtl="0" eaLnBrk="1" hangingPunct="1"/>
            <a:r>
              <a:rPr lang="en-US" altLang="ar-SA" sz="4800" b="1" dirty="0">
                <a:solidFill>
                  <a:srgbClr val="000099"/>
                </a:solidFill>
              </a:rPr>
              <a:t>Introduction</a:t>
            </a:r>
          </a:p>
        </p:txBody>
      </p:sp>
      <p:sp>
        <p:nvSpPr>
          <p:cNvPr id="2385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1905000"/>
            <a:ext cx="8991600" cy="1981200"/>
          </a:xfrm>
        </p:spPr>
        <p:txBody>
          <a:bodyPr/>
          <a:lstStyle/>
          <a:p>
            <a:pPr marL="0" indent="0" algn="l" rtl="0" eaLnBrk="1" hangingPunct="1">
              <a:buNone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Solution 1:</a:t>
            </a:r>
          </a:p>
          <a:p>
            <a:pPr marL="285750" lvl="1" algn="l" rtl="0" eaLnBrk="1" hangingPunct="1">
              <a:buFont typeface="Wingdings" pitchFamily="2" charset="2"/>
              <a:buNone/>
              <a:defRPr/>
            </a:pPr>
            <a:r>
              <a:rPr lang="en-US" sz="2000" dirty="0">
                <a:latin typeface="+mj-lt"/>
              </a:rPr>
              <a:t>    (1) read N numbers into an array, </a:t>
            </a:r>
          </a:p>
          <a:p>
            <a:pPr marL="285750" lvl="1" algn="l" rtl="0" eaLnBrk="1" hangingPunct="1">
              <a:buFont typeface="Wingdings" pitchFamily="2" charset="2"/>
              <a:buNone/>
              <a:defRPr/>
            </a:pPr>
            <a:r>
              <a:rPr lang="en-US" sz="2000" dirty="0">
                <a:latin typeface="+mj-lt"/>
              </a:rPr>
              <a:t>	(2) sort the array in decreasing order by some simple algorithm  (e.g., bubble sort), </a:t>
            </a:r>
          </a:p>
          <a:p>
            <a:pPr marL="285750" lvl="1" algn="l" rtl="0" eaLnBrk="1" hangingPunct="1">
              <a:buFont typeface="Wingdings" pitchFamily="2" charset="2"/>
              <a:buNone/>
              <a:defRPr/>
            </a:pPr>
            <a:r>
              <a:rPr lang="en-US" sz="2000" dirty="0">
                <a:latin typeface="+mj-lt"/>
              </a:rPr>
              <a:t>	(3) return the element in position k.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8598" name="Rectangle 6"/>
              <p:cNvSpPr>
                <a:spLocks noChangeArrowheads="1"/>
              </p:cNvSpPr>
              <p:nvPr/>
            </p:nvSpPr>
            <p:spPr bwMode="auto">
              <a:xfrm>
                <a:off x="152400" y="914400"/>
                <a:ext cx="8839200" cy="838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just" rtl="0">
                  <a:spcBef>
                    <a:spcPct val="20000"/>
                  </a:spcBef>
                  <a:buClr>
                    <a:schemeClr val="hlink"/>
                  </a:buClr>
                  <a:buSzPct val="80000"/>
                  <a:defRPr/>
                </a:pPr>
                <a:r>
                  <a:rPr lang="en-US" sz="2400" b="1" dirty="0">
                    <a:solidFill>
                      <a:srgbClr val="FF0000"/>
                    </a:solidFill>
                    <a:latin typeface="+mj-lt"/>
                  </a:rPr>
                  <a:t>Selection Problem:</a:t>
                </a:r>
                <a:r>
                  <a:rPr lang="en-US" sz="2400" b="1" dirty="0">
                    <a:latin typeface="+mj-lt"/>
                  </a:rPr>
                  <a:t> Given a group of N numbers, determine the </a:t>
                </a:r>
                <a:r>
                  <a:rPr lang="en-US" sz="2400" b="1" dirty="0" err="1">
                    <a:latin typeface="+mj-lt"/>
                  </a:rPr>
                  <a:t>k</a:t>
                </a:r>
                <a:r>
                  <a:rPr lang="en-US" sz="2400" b="1" baseline="30000" dirty="0" err="1">
                    <a:latin typeface="+mj-lt"/>
                  </a:rPr>
                  <a:t>th</a:t>
                </a:r>
                <a:r>
                  <a:rPr lang="en-US" sz="2400" b="1" dirty="0">
                    <a:latin typeface="+mj-lt"/>
                  </a:rPr>
                  <a:t> largest number, where </a:t>
                </a:r>
                <a14:m>
                  <m:oMath xmlns:m="http://schemas.openxmlformats.org/officeDocument/2006/math">
                    <m:r>
                      <a:rPr lang="fr-CA" sz="2400" b="1" i="1" smtClean="0">
                        <a:latin typeface="Cambria Math" charset="0"/>
                      </a:rPr>
                      <m:t>𝑵</m:t>
                    </m:r>
                    <m:r>
                      <a:rPr lang="fr-CA" sz="2400" b="1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≥</m:t>
                    </m:r>
                    <m:r>
                      <a:rPr lang="fr-CA" sz="2400" b="1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𝒌</m:t>
                    </m:r>
                  </m:oMath>
                </a14:m>
                <a:r>
                  <a:rPr lang="en-US" sz="2400" b="1" dirty="0">
                    <a:latin typeface="+mj-lt"/>
                  </a:rPr>
                  <a:t>.</a:t>
                </a:r>
              </a:p>
            </p:txBody>
          </p:sp>
        </mc:Choice>
        <mc:Fallback xmlns="">
          <p:sp>
            <p:nvSpPr>
              <p:cNvPr id="238598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" y="914400"/>
                <a:ext cx="8839200" cy="838200"/>
              </a:xfrm>
              <a:prstGeom prst="rect">
                <a:avLst/>
              </a:prstGeom>
              <a:blipFill>
                <a:blip r:embed="rId3"/>
                <a:stretch>
                  <a:fillRect l="-1034" t="-5797" r="-345" b="-1449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001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8599" name="Rectangle 7"/>
          <p:cNvSpPr>
            <a:spLocks noChangeArrowheads="1"/>
          </p:cNvSpPr>
          <p:nvPr/>
        </p:nvSpPr>
        <p:spPr bwMode="auto">
          <a:xfrm>
            <a:off x="152400" y="3886200"/>
            <a:ext cx="89916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l" rtl="0">
              <a:spcBef>
                <a:spcPct val="20000"/>
              </a:spcBef>
              <a:buClr>
                <a:schemeClr val="hlink"/>
              </a:buClr>
              <a:buSzPct val="80000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Solution 2:</a:t>
            </a:r>
          </a:p>
          <a:p>
            <a:pPr marL="452438" lvl="1" indent="-187325" algn="l" rtl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None/>
              <a:tabLst>
                <a:tab pos="452438" algn="l"/>
              </a:tabLst>
              <a:defRPr/>
            </a:pPr>
            <a:r>
              <a:rPr lang="en-US" sz="2000" dirty="0">
                <a:latin typeface="+mj-lt"/>
              </a:rPr>
              <a:t> (1) read the first </a:t>
            </a:r>
            <a:r>
              <a:rPr lang="en-US" sz="2000" b="1" dirty="0">
                <a:latin typeface="+mj-lt"/>
              </a:rPr>
              <a:t>k </a:t>
            </a:r>
            <a:r>
              <a:rPr lang="en-US" sz="2000" dirty="0">
                <a:latin typeface="+mj-lt"/>
              </a:rPr>
              <a:t>elements into an array and sort them in decreasing order, </a:t>
            </a:r>
          </a:p>
          <a:p>
            <a:pPr marL="452438" lvl="1" indent="-187325" algn="l" rtl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None/>
              <a:tabLst>
                <a:tab pos="452438" algn="l"/>
              </a:tabLst>
              <a:defRPr/>
            </a:pPr>
            <a:r>
              <a:rPr lang="en-US" sz="2000" dirty="0">
                <a:latin typeface="+mj-lt"/>
              </a:rPr>
              <a:t> (2) each remaining element is read one by one,</a:t>
            </a:r>
          </a:p>
          <a:p>
            <a:pPr marL="452438" lvl="2" indent="-187325" algn="l" rtl="0">
              <a:spcBef>
                <a:spcPct val="20000"/>
              </a:spcBef>
              <a:buClr>
                <a:schemeClr val="accent2"/>
              </a:buClr>
              <a:tabLst>
                <a:tab pos="452438" algn="l"/>
              </a:tabLst>
              <a:defRPr/>
            </a:pPr>
            <a:r>
              <a:rPr lang="en-US" dirty="0">
                <a:latin typeface="+mj-lt"/>
              </a:rPr>
              <a:t>	  (2.1) If it is smaller than the k</a:t>
            </a:r>
            <a:r>
              <a:rPr lang="en-US" baseline="30000" dirty="0">
                <a:latin typeface="+mj-lt"/>
              </a:rPr>
              <a:t>th</a:t>
            </a:r>
            <a:r>
              <a:rPr lang="en-US" dirty="0">
                <a:latin typeface="+mj-lt"/>
              </a:rPr>
              <a:t> element in the array, it is ignored;</a:t>
            </a:r>
          </a:p>
          <a:p>
            <a:pPr marL="452438" lvl="2" indent="-187325" algn="l" rtl="0">
              <a:spcBef>
                <a:spcPct val="20000"/>
              </a:spcBef>
              <a:buClr>
                <a:schemeClr val="accent2"/>
              </a:buClr>
              <a:tabLst>
                <a:tab pos="452438" algn="l"/>
              </a:tabLst>
              <a:defRPr/>
            </a:pPr>
            <a:r>
              <a:rPr lang="en-US" dirty="0">
                <a:latin typeface="+mj-lt"/>
              </a:rPr>
              <a:t>	  (2.2) Otherwise, it is placed in its correct spot in the array, bumping one element out of the array.</a:t>
            </a:r>
          </a:p>
          <a:p>
            <a:pPr marL="452438" lvl="1" indent="-187325" algn="l" rtl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None/>
              <a:tabLst>
                <a:tab pos="452438" algn="l"/>
              </a:tabLst>
              <a:defRPr/>
            </a:pPr>
            <a:r>
              <a:rPr lang="en-US" sz="2000" dirty="0">
                <a:latin typeface="+mj-lt"/>
              </a:rPr>
              <a:t>(3) the element in the k</a:t>
            </a:r>
            <a:r>
              <a:rPr lang="en-US" sz="2000" baseline="30000" dirty="0">
                <a:latin typeface="+mj-lt"/>
              </a:rPr>
              <a:t>th</a:t>
            </a:r>
            <a:r>
              <a:rPr lang="en-US" sz="2000" dirty="0">
                <a:latin typeface="+mj-lt"/>
              </a:rPr>
              <a:t> position is returned as the answer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>
          <a:xfrm>
            <a:off x="3124200" y="6492875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CS 2321: D.S.A (-Introduction-)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E361D5-47DD-4A8D-8C7C-0A1A10566005}" type="slidenum">
              <a:rPr lang="ar-SA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692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8595" grpId="0" build="p"/>
      <p:bldP spid="23859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1066800"/>
            <a:ext cx="8991600" cy="1524000"/>
          </a:xfrm>
        </p:spPr>
        <p:txBody>
          <a:bodyPr/>
          <a:lstStyle/>
          <a:p>
            <a:pPr>
              <a:defRPr/>
            </a:pPr>
            <a:r>
              <a:rPr lang="en-US" sz="3000" dirty="0">
                <a:latin typeface="+mj-lt"/>
              </a:rPr>
              <a:t>The natural questions, then, are: Which algorithm is better? And, more important, Is either algorithm good enough?</a:t>
            </a:r>
          </a:p>
        </p:txBody>
      </p:sp>
      <p:sp>
        <p:nvSpPr>
          <p:cNvPr id="239620" name="Rectangle 4"/>
          <p:cNvSpPr>
            <a:spLocks noChangeArrowheads="1"/>
          </p:cNvSpPr>
          <p:nvPr/>
        </p:nvSpPr>
        <p:spPr bwMode="auto">
          <a:xfrm>
            <a:off x="0" y="2895600"/>
            <a:ext cx="914400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457200" indent="-457200" algn="l" rtl="0">
              <a:spcBef>
                <a:spcPct val="20000"/>
              </a:spcBef>
              <a:buClr>
                <a:schemeClr val="hlink"/>
              </a:buClr>
              <a:buSzPct val="80000"/>
              <a:buFont typeface="Arial" pitchFamily="34" charset="0"/>
              <a:buChar char="•"/>
              <a:defRPr/>
            </a:pPr>
            <a:r>
              <a:rPr lang="en-US" sz="3000" dirty="0">
                <a:latin typeface="+mj-lt"/>
              </a:rPr>
              <a:t>A simulation using a random file of 30 million elements and k = 15,000,000 will show that neither algorithm finishes in a reasonable amount of time; each requires several days of computer processing to terminate.</a:t>
            </a:r>
          </a:p>
          <a:p>
            <a:pPr marL="342900" indent="-342900" algn="l" rtl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/>
            </a:pPr>
            <a:endParaRPr lang="en-US" sz="1000" dirty="0">
              <a:latin typeface="+mj-lt"/>
            </a:endParaRPr>
          </a:p>
          <a:p>
            <a:pPr marL="457200" indent="-457200" algn="l" rtl="0">
              <a:spcBef>
                <a:spcPct val="20000"/>
              </a:spcBef>
              <a:buClr>
                <a:schemeClr val="hlink"/>
              </a:buClr>
              <a:buSzPct val="80000"/>
              <a:buFont typeface="Arial" pitchFamily="34" charset="0"/>
              <a:buChar char="•"/>
              <a:defRPr/>
            </a:pPr>
            <a:r>
              <a:rPr lang="en-US" sz="3000" dirty="0">
                <a:latin typeface="+mj-lt"/>
              </a:rPr>
              <a:t>An alternative method, discussed in Chapter 2, gives a solution in about a second.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457200" y="76200"/>
            <a:ext cx="8229600" cy="5603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ar-SA" sz="4800" b="1" dirty="0">
                <a:solidFill>
                  <a:srgbClr val="000099"/>
                </a:solidFill>
              </a:rPr>
              <a:t>Introduction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(-Introduction-)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E361D5-47DD-4A8D-8C7C-0A1A10566005}" type="slidenum">
              <a:rPr lang="ar-SA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6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24000" y="2133600"/>
            <a:ext cx="5638800" cy="1470025"/>
          </a:xfrm>
        </p:spPr>
        <p:txBody>
          <a:bodyPr/>
          <a:lstStyle/>
          <a:p>
            <a:r>
              <a:rPr lang="fr-FR" sz="4000" b="1" dirty="0"/>
              <a:t>2. </a:t>
            </a:r>
            <a:r>
              <a:rPr lang="fr-FR" sz="4000" b="1" dirty="0" err="1"/>
              <a:t>Mathematical</a:t>
            </a:r>
            <a:r>
              <a:rPr lang="fr-FR" sz="4000" b="1" dirty="0"/>
              <a:t> </a:t>
            </a:r>
            <a:r>
              <a:rPr lang="fr-FR" sz="4000" b="1" dirty="0" err="1"/>
              <a:t>Review</a:t>
            </a:r>
            <a:endParaRPr lang="en-US" sz="4000" b="1" dirty="0"/>
          </a:p>
        </p:txBody>
      </p:sp>
      <p:sp>
        <p:nvSpPr>
          <p:cNvPr id="5123" name="Rectangle 1"/>
          <p:cNvSpPr>
            <a:spLocks noChangeArrowheads="1"/>
          </p:cNvSpPr>
          <p:nvPr/>
        </p:nvSpPr>
        <p:spPr bwMode="auto">
          <a:xfrm>
            <a:off x="1167626" y="4343400"/>
            <a:ext cx="37044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l"/>
            </a:pPr>
            <a:r>
              <a:rPr lang="fr-FR" b="1" dirty="0">
                <a:solidFill>
                  <a:srgbClr val="FF0000"/>
                </a:solidFill>
              </a:rPr>
              <a:t>Reading: </a:t>
            </a:r>
            <a:r>
              <a:rPr lang="fr-FR" b="1" dirty="0" err="1">
                <a:solidFill>
                  <a:srgbClr val="FF0000"/>
                </a:solidFill>
              </a:rPr>
              <a:t>Textbook</a:t>
            </a:r>
            <a:r>
              <a:rPr lang="fr-FR" b="1" dirty="0">
                <a:solidFill>
                  <a:srgbClr val="FF0000"/>
                </a:solidFill>
              </a:rPr>
              <a:t> (Weiss) 1.2 </a:t>
            </a:r>
          </a:p>
        </p:txBody>
      </p:sp>
    </p:spTree>
    <p:extLst>
      <p:ext uri="{BB962C8B-B14F-4D97-AF65-F5344CB8AC3E}">
        <p14:creationId xmlns:p14="http://schemas.microsoft.com/office/powerpoint/2010/main" val="628578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76200"/>
            <a:ext cx="8458200" cy="560388"/>
          </a:xfrm>
        </p:spPr>
        <p:txBody>
          <a:bodyPr>
            <a:normAutofit fontScale="90000"/>
          </a:bodyPr>
          <a:lstStyle/>
          <a:p>
            <a:pPr rtl="0" eaLnBrk="1" hangingPunct="1"/>
            <a:r>
              <a:rPr lang="en-US" altLang="ar-SA" sz="5300" b="1" dirty="0">
                <a:solidFill>
                  <a:srgbClr val="000099"/>
                </a:solidFill>
              </a:rPr>
              <a:t>Exponents</a:t>
            </a:r>
          </a:p>
        </p:txBody>
      </p:sp>
      <p:sp>
        <p:nvSpPr>
          <p:cNvPr id="1863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1066800"/>
            <a:ext cx="8839200" cy="1371600"/>
          </a:xfrm>
        </p:spPr>
        <p:txBody>
          <a:bodyPr>
            <a:normAutofit lnSpcReduction="10000"/>
          </a:bodyPr>
          <a:lstStyle/>
          <a:p>
            <a:pPr marL="4763" indent="-4763" algn="just" rtl="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dirty="0">
                <a:latin typeface="+mj-lt"/>
              </a:rPr>
              <a:t>In this section we list some of the basic formulas we need to be able to derive and reviews basic proof techniques.</a:t>
            </a:r>
          </a:p>
        </p:txBody>
      </p:sp>
      <p:graphicFrame>
        <p:nvGraphicFramePr>
          <p:cNvPr id="186372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66307542"/>
              </p:ext>
            </p:extLst>
          </p:nvPr>
        </p:nvGraphicFramePr>
        <p:xfrm>
          <a:off x="2725738" y="2895600"/>
          <a:ext cx="3979862" cy="358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Équation" r:id="rId3" imgW="1523880" imgH="1371600" progId="Equation.3">
                  <p:embed/>
                </p:oleObj>
              </mc:Choice>
              <mc:Fallback>
                <p:oleObj name="Équation" r:id="rId3" imgW="1523880" imgH="1371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5738" y="2895600"/>
                        <a:ext cx="3979862" cy="358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(-Introduction-)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E361D5-47DD-4A8D-8C7C-0A1A10566005}" type="slidenum">
              <a:rPr lang="ar-SA" smtClean="0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86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914400"/>
            <a:ext cx="8839200" cy="2971800"/>
          </a:xfrm>
        </p:spPr>
        <p:txBody>
          <a:bodyPr>
            <a:normAutofit fontScale="92500"/>
          </a:bodyPr>
          <a:lstStyle/>
          <a:p>
            <a:pPr algn="just" rtl="0" eaLnBrk="1" hangingPunct="1">
              <a:defRPr/>
            </a:pPr>
            <a:r>
              <a:rPr lang="en-US" sz="2800" dirty="0">
                <a:latin typeface="+mj-lt"/>
              </a:rPr>
              <a:t>In computer science, all logarithms are to the base 2 unless specified otherwise.</a:t>
            </a:r>
          </a:p>
          <a:p>
            <a:pPr algn="just" rtl="0" eaLnBrk="1" hangingPunct="1">
              <a:defRPr/>
            </a:pPr>
            <a:r>
              <a:rPr lang="en-US" sz="2800" dirty="0">
                <a:latin typeface="+mj-lt"/>
              </a:rPr>
              <a:t>Definition:  </a:t>
            </a:r>
            <a:r>
              <a:rPr lang="en-US" sz="2800" i="1" dirty="0">
                <a:latin typeface="+mj-lt"/>
              </a:rPr>
              <a:t>X</a:t>
            </a:r>
            <a:r>
              <a:rPr lang="en-US" sz="2800" i="1" baseline="30000" dirty="0">
                <a:latin typeface="+mj-lt"/>
              </a:rPr>
              <a:t>A</a:t>
            </a:r>
            <a:r>
              <a:rPr lang="en-US" sz="2800" baseline="-25000" dirty="0">
                <a:latin typeface="+mj-lt"/>
              </a:rPr>
              <a:t> </a:t>
            </a:r>
            <a:r>
              <a:rPr lang="en-US" sz="2800" dirty="0">
                <a:latin typeface="+mj-lt"/>
              </a:rPr>
              <a:t>= </a:t>
            </a:r>
            <a:r>
              <a:rPr lang="en-US" sz="2800" i="1" dirty="0">
                <a:latin typeface="+mj-lt"/>
              </a:rPr>
              <a:t>B</a:t>
            </a:r>
            <a:r>
              <a:rPr lang="en-US" sz="2800" dirty="0">
                <a:latin typeface="+mj-lt"/>
              </a:rPr>
              <a:t>    if and only if   </a:t>
            </a:r>
            <a:r>
              <a:rPr lang="en-US" sz="2800" dirty="0" err="1">
                <a:latin typeface="+mj-lt"/>
              </a:rPr>
              <a:t>log</a:t>
            </a:r>
            <a:r>
              <a:rPr lang="en-US" sz="2800" i="1" baseline="-25000" dirty="0" err="1">
                <a:latin typeface="+mj-lt"/>
              </a:rPr>
              <a:t>X</a:t>
            </a:r>
            <a:r>
              <a:rPr lang="en-US" sz="2800" dirty="0">
                <a:latin typeface="+mj-lt"/>
              </a:rPr>
              <a:t> </a:t>
            </a:r>
            <a:r>
              <a:rPr lang="en-US" sz="2800" i="1" dirty="0">
                <a:latin typeface="+mj-lt"/>
              </a:rPr>
              <a:t>B</a:t>
            </a:r>
            <a:r>
              <a:rPr lang="en-US" sz="2800" dirty="0">
                <a:latin typeface="+mj-lt"/>
              </a:rPr>
              <a:t> = </a:t>
            </a:r>
            <a:r>
              <a:rPr lang="en-US" sz="2800" i="1" dirty="0">
                <a:latin typeface="+mj-lt"/>
              </a:rPr>
              <a:t>A</a:t>
            </a:r>
            <a:r>
              <a:rPr lang="en-US" sz="2800" dirty="0">
                <a:latin typeface="+mj-lt"/>
              </a:rPr>
              <a:t>.</a:t>
            </a:r>
          </a:p>
          <a:p>
            <a:pPr algn="just" rtl="0" eaLnBrk="1" hangingPunct="1">
              <a:defRPr/>
            </a:pPr>
            <a:r>
              <a:rPr lang="en-US" sz="2800" dirty="0">
                <a:latin typeface="+mj-lt"/>
              </a:rPr>
              <a:t>Examples, log</a:t>
            </a:r>
            <a:r>
              <a:rPr lang="en-US" sz="2800" baseline="-25000" dirty="0">
                <a:latin typeface="+mj-lt"/>
              </a:rPr>
              <a:t>3</a:t>
            </a:r>
            <a:r>
              <a:rPr lang="en-US" sz="2800" dirty="0">
                <a:latin typeface="+mj-lt"/>
              </a:rPr>
              <a:t> 9 = 2, log 1 = 0, log 2 = 1, and   log 1024 = 10. </a:t>
            </a:r>
          </a:p>
          <a:p>
            <a:pPr algn="just" rtl="0" eaLnBrk="1" hangingPunct="1">
              <a:buFont typeface="Wingdings" pitchFamily="2" charset="2"/>
              <a:buNone/>
              <a:defRPr/>
            </a:pPr>
            <a:r>
              <a:rPr lang="en-US" sz="2800" dirty="0">
                <a:latin typeface="+mj-lt"/>
              </a:rPr>
              <a:t>    log = log</a:t>
            </a:r>
            <a:r>
              <a:rPr lang="en-US" sz="2800" baseline="-25000" dirty="0">
                <a:latin typeface="+mj-lt"/>
              </a:rPr>
              <a:t>2</a:t>
            </a:r>
            <a:r>
              <a:rPr lang="en-US" sz="2800" dirty="0">
                <a:latin typeface="+mj-lt"/>
              </a:rPr>
              <a:t>  and  ln = log</a:t>
            </a:r>
            <a:r>
              <a:rPr lang="en-US" sz="2800" i="1" baseline="-25000" dirty="0">
                <a:latin typeface="+mj-lt"/>
              </a:rPr>
              <a:t>e</a:t>
            </a:r>
            <a:endParaRPr lang="en-US" sz="2800" i="1" dirty="0">
              <a:latin typeface="+mj-lt"/>
            </a:endParaRPr>
          </a:p>
          <a:p>
            <a:pPr algn="just" rtl="0" eaLnBrk="1" hangingPunct="1">
              <a:defRPr/>
            </a:pPr>
            <a:r>
              <a:rPr lang="en-US" sz="2800" dirty="0">
                <a:latin typeface="+mj-lt"/>
              </a:rPr>
              <a:t>Theorem:</a:t>
            </a:r>
          </a:p>
        </p:txBody>
      </p:sp>
      <p:graphicFrame>
        <p:nvGraphicFramePr>
          <p:cNvPr id="187398" name="Object 6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337201511"/>
              </p:ext>
            </p:extLst>
          </p:nvPr>
        </p:nvGraphicFramePr>
        <p:xfrm>
          <a:off x="2286000" y="3606800"/>
          <a:ext cx="3657600" cy="309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Équation" r:id="rId3" imgW="1460160" imgH="1447560" progId="Equation.3">
                  <p:embed/>
                </p:oleObj>
              </mc:Choice>
              <mc:Fallback>
                <p:oleObj name="Équation" r:id="rId3" imgW="1460160" imgH="144756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606800"/>
                        <a:ext cx="3657600" cy="309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2" name="Rectangle 8"/>
          <p:cNvSpPr>
            <a:spLocks noChangeArrowheads="1"/>
          </p:cNvSpPr>
          <p:nvPr/>
        </p:nvSpPr>
        <p:spPr bwMode="auto">
          <a:xfrm>
            <a:off x="457200" y="76200"/>
            <a:ext cx="82296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0" eaLnBrk="1" hangingPunct="1"/>
            <a:r>
              <a:rPr lang="en-US" altLang="ar-SA" sz="4800" b="1" dirty="0">
                <a:solidFill>
                  <a:srgbClr val="000099"/>
                </a:solidFill>
                <a:latin typeface="+mj-lt"/>
                <a:ea typeface="+mj-ea"/>
                <a:cs typeface="+mj-cs"/>
              </a:rPr>
              <a:t>Logarithms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>
          <a:xfrm>
            <a:off x="5181600" y="640080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CS 2321: D.S.A (-Introduction-)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E361D5-47DD-4A8D-8C7C-0A1A10566005}" type="slidenum">
              <a:rPr lang="ar-SA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87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" name="Object 8"/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2082433487"/>
              </p:ext>
            </p:extLst>
          </p:nvPr>
        </p:nvGraphicFramePr>
        <p:xfrm>
          <a:off x="990600" y="914400"/>
          <a:ext cx="7086600" cy="442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صورة نقطية" r:id="rId3" imgW="4495238" imgH="2809524" progId="PBrush">
                  <p:embed/>
                </p:oleObj>
              </mc:Choice>
              <mc:Fallback>
                <p:oleObj name="صورة نقطية" r:id="rId3" imgW="4495238" imgH="2809524" progId="PBrush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914400"/>
                        <a:ext cx="7086600" cy="442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88428" name="Rectangle 12"/>
              <p:cNvSpPr>
                <a:spLocks noChangeArrowheads="1"/>
              </p:cNvSpPr>
              <p:nvPr/>
            </p:nvSpPr>
            <p:spPr bwMode="auto">
              <a:xfrm>
                <a:off x="152400" y="5392738"/>
                <a:ext cx="8839200" cy="1371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marL="342900" indent="-342900" algn="l" rtl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/>
                </a:pPr>
                <a:r>
                  <a:rPr lang="en-US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+mj-lt"/>
                  </a:rPr>
                  <a:t>If </a:t>
                </a:r>
                <a14:m>
                  <m:oMath xmlns:m="http://schemas.openxmlformats.org/officeDocument/2006/math">
                    <m:r>
                      <a:rPr lang="fr-CA" sz="2400" b="0" i="1" smtClean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ambria Math" charset="0"/>
                      </a:rPr>
                      <m:t>𝑎</m:t>
                    </m:r>
                    <m:r>
                      <a:rPr lang="fr-CA" sz="2400" b="0" i="1" smtClean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ambria Math" charset="0"/>
                        <a:ea typeface="Cambria Math" charset="0"/>
                        <a:cs typeface="Cambria Math" charset="0"/>
                      </a:rPr>
                      <m:t>≥</m:t>
                    </m:r>
                    <m:r>
                      <a:rPr lang="fr-CA" sz="2400" b="0" i="1" smtClean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ambria Math" charset="0"/>
                        <a:ea typeface="Cambria Math" charset="0"/>
                        <a:cs typeface="Cambria Math" charset="0"/>
                      </a:rPr>
                      <m:t>𝑏</m:t>
                    </m:r>
                  </m:oMath>
                </a14:m>
                <a:r>
                  <a:rPr lang="en-US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+mj-lt"/>
                    <a:sym typeface="Symbol" pitchFamily="18" charset="2"/>
                  </a:rPr>
                  <a:t>, then log</a:t>
                </a:r>
                <a:r>
                  <a:rPr lang="en-US" sz="2400" i="1" baseline="-250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+mj-lt"/>
                    <a:sym typeface="Symbol" pitchFamily="18" charset="2"/>
                  </a:rPr>
                  <a:t>a </a:t>
                </a:r>
                <a:r>
                  <a:rPr lang="en-US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+mj-lt"/>
                    <a:sym typeface="Symbol" pitchFamily="18" charset="2"/>
                  </a:rPr>
                  <a:t>x </a:t>
                </a:r>
                <a14:m>
                  <m:oMath xmlns:m="http://schemas.openxmlformats.org/officeDocument/2006/math">
                    <m:r>
                      <a:rPr lang="en-US" sz="2400" i="1" smtClean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ambria Math" charset="0"/>
                        <a:ea typeface="Cambria Math" charset="0"/>
                        <a:cs typeface="Cambria Math" charset="0"/>
                        <a:sym typeface="Symbol" pitchFamily="18" charset="2"/>
                      </a:rPr>
                      <m:t>≤</m:t>
                    </m:r>
                    <m:r>
                      <a:rPr lang="en-US" sz="2400" b="0" i="1" smtClean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ambria Math"/>
                        <a:ea typeface="Cambria Math" charset="0"/>
                        <a:cs typeface="Cambria Math" charset="0"/>
                        <a:sym typeface="Symbol" pitchFamily="18" charset="2"/>
                      </a:rPr>
                      <m:t> </m:t>
                    </m:r>
                  </m:oMath>
                </a14:m>
                <a:r>
                  <a:rPr lang="en-US" sz="2400" dirty="0" err="1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+mj-lt"/>
                    <a:sym typeface="Symbol" pitchFamily="18" charset="2"/>
                  </a:rPr>
                  <a:t>log</a:t>
                </a:r>
                <a:r>
                  <a:rPr lang="en-US" sz="2400" i="1" baseline="-25000" dirty="0" err="1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+mj-lt"/>
                    <a:sym typeface="Symbol" pitchFamily="18" charset="2"/>
                  </a:rPr>
                  <a:t>b</a:t>
                </a:r>
                <a:r>
                  <a:rPr lang="en-US" sz="2400" i="1" baseline="-250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+mj-lt"/>
                    <a:sym typeface="Symbol" pitchFamily="18" charset="2"/>
                  </a:rPr>
                  <a:t> </a:t>
                </a:r>
                <a:r>
                  <a:rPr lang="en-US" sz="2400" i="1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+mj-lt"/>
                    <a:sym typeface="Symbol" pitchFamily="18" charset="2"/>
                  </a:rPr>
                  <a:t>x</a:t>
                </a:r>
                <a:r>
                  <a:rPr lang="en-US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+mj-lt"/>
                    <a:sym typeface="Symbol" pitchFamily="18" charset="2"/>
                  </a:rPr>
                  <a:t>.</a:t>
                </a:r>
              </a:p>
              <a:p>
                <a:pPr marL="342900" indent="-342900" algn="l" rtl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/>
                </a:pPr>
                <a:r>
                  <a:rPr lang="en-US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+mj-lt"/>
                  </a:rPr>
                  <a:t>If x → 0, then log x → </a:t>
                </a:r>
                <a14:m>
                  <m:oMath xmlns:m="http://schemas.openxmlformats.org/officeDocument/2006/math">
                    <m:r>
                      <a:rPr lang="fr-CA" sz="2400" b="0" i="1" smtClean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ambria Math" charset="0"/>
                      </a:rPr>
                      <m:t>−</m:t>
                    </m:r>
                    <m:r>
                      <a:rPr lang="fr-CA" sz="2400" b="0" i="1" smtClean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ambria Math" charset="0"/>
                        <a:ea typeface="Cambria Math" charset="0"/>
                        <a:cs typeface="Cambria Math" charset="0"/>
                      </a:rPr>
                      <m:t>∞</m:t>
                    </m:r>
                  </m:oMath>
                </a14:m>
                <a:r>
                  <a:rPr lang="en-US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+mj-lt"/>
                    <a:sym typeface="Symbol" pitchFamily="18" charset="2"/>
                  </a:rPr>
                  <a:t>.</a:t>
                </a:r>
              </a:p>
              <a:p>
                <a:pPr marL="342900" indent="-342900" algn="l" rtl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/>
                </a:pPr>
                <a:r>
                  <a:rPr lang="en-US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+mj-lt"/>
                    <a:sym typeface="Symbol" pitchFamily="18" charset="2"/>
                  </a:rPr>
                  <a:t>log </a:t>
                </a:r>
                <a:r>
                  <a:rPr lang="en-US" sz="2400" i="1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+mj-lt"/>
                    <a:sym typeface="Symbol" pitchFamily="18" charset="2"/>
                  </a:rPr>
                  <a:t>x </a:t>
                </a:r>
                <a:r>
                  <a:rPr lang="en-US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+mj-lt"/>
                    <a:sym typeface="Symbol" pitchFamily="18" charset="2"/>
                  </a:rPr>
                  <a:t>is not define if </a:t>
                </a:r>
                <a:r>
                  <a:rPr lang="en-US" sz="2400" i="1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+mj-lt"/>
                    <a:sym typeface="Symbol" pitchFamily="18" charset="2"/>
                  </a:rPr>
                  <a:t>x</a:t>
                </a:r>
                <a:r>
                  <a:rPr lang="en-US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+mj-lt"/>
                    <a:sym typeface="Symbol" pitchFamily="18" charset="2"/>
                  </a:rPr>
                  <a:t> &lt; 0.</a:t>
                </a:r>
              </a:p>
            </p:txBody>
          </p:sp>
        </mc:Choice>
        <mc:Fallback xmlns="">
          <p:sp>
            <p:nvSpPr>
              <p:cNvPr id="188428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" y="5392738"/>
                <a:ext cx="8839200" cy="1371600"/>
              </a:xfrm>
              <a:prstGeom prst="rect">
                <a:avLst/>
              </a:prstGeom>
              <a:blipFill rotWithShape="1">
                <a:blip r:embed="rId6"/>
                <a:stretch>
                  <a:fillRect l="-552" t="-4000" b="-9778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457200" y="76200"/>
            <a:ext cx="82296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0" eaLnBrk="1" hangingPunct="1"/>
            <a:r>
              <a:rPr lang="en-US" altLang="ar-SA" sz="4800" b="1" dirty="0">
                <a:solidFill>
                  <a:srgbClr val="000099"/>
                </a:solidFill>
                <a:latin typeface="+mj-lt"/>
                <a:ea typeface="+mj-ea"/>
                <a:cs typeface="+mj-cs"/>
              </a:rPr>
              <a:t>Logarithms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>
          <a:xfrm>
            <a:off x="5410200" y="6420644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CS 2321: D.S.A (-Introduction-)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F2C678-B954-41BD-8868-293083CBF35E}" type="slidenum">
              <a:rPr lang="ar-SA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990600"/>
            <a:ext cx="3886200" cy="5486400"/>
          </a:xfrm>
        </p:spPr>
        <p:txBody>
          <a:bodyPr/>
          <a:lstStyle/>
          <a:p>
            <a:pPr algn="l" rtl="0" eaLnBrk="1" hangingPunct="1">
              <a:defRPr/>
            </a:pPr>
            <a:r>
              <a:rPr lang="en-US" sz="2800" b="1" dirty="0">
                <a:solidFill>
                  <a:srgbClr val="FF0000"/>
                </a:solidFill>
                <a:latin typeface="+mj-lt"/>
              </a:rPr>
              <a:t>Geometric Series</a:t>
            </a:r>
          </a:p>
          <a:p>
            <a:pPr algn="l" rtl="0" eaLnBrk="1" hangingPunct="1">
              <a:defRPr/>
            </a:pPr>
            <a:endParaRPr lang="en-US" sz="2800" b="1" dirty="0">
              <a:solidFill>
                <a:srgbClr val="00FF00"/>
              </a:solidFill>
              <a:latin typeface="+mj-lt"/>
            </a:endParaRPr>
          </a:p>
          <a:p>
            <a:pPr algn="l" rtl="0" eaLnBrk="1" hangingPunct="1">
              <a:defRPr/>
            </a:pPr>
            <a:endParaRPr lang="en-US" sz="3600" b="1" dirty="0">
              <a:solidFill>
                <a:srgbClr val="00FF00"/>
              </a:solidFill>
              <a:latin typeface="+mj-lt"/>
            </a:endParaRPr>
          </a:p>
          <a:p>
            <a:pPr marL="0" indent="0" algn="l" rtl="0" eaLnBrk="1" hangingPunct="1">
              <a:buNone/>
              <a:defRPr/>
            </a:pPr>
            <a:endParaRPr lang="en-US" sz="2800" b="1" dirty="0">
              <a:latin typeface="+mj-lt"/>
            </a:endParaRPr>
          </a:p>
          <a:p>
            <a:pPr marL="0" indent="0" algn="l" rtl="0" eaLnBrk="1" hangingPunct="1">
              <a:buNone/>
              <a:defRPr/>
            </a:pPr>
            <a:r>
              <a:rPr lang="en-US" sz="2800" b="1" dirty="0">
                <a:latin typeface="+mj-lt"/>
              </a:rPr>
              <a:t>For example:</a:t>
            </a:r>
          </a:p>
        </p:txBody>
      </p:sp>
      <p:graphicFrame>
        <p:nvGraphicFramePr>
          <p:cNvPr id="4098" name="Object 3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8856491"/>
              </p:ext>
            </p:extLst>
          </p:nvPr>
        </p:nvGraphicFramePr>
        <p:xfrm>
          <a:off x="809625" y="1801673"/>
          <a:ext cx="2571750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Équation" r:id="rId3" imgW="1028520" imgH="444240" progId="Equation.3">
                  <p:embed/>
                </p:oleObj>
              </mc:Choice>
              <mc:Fallback>
                <p:oleObj name="Équation" r:id="rId3" imgW="1028520" imgH="4442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625" y="1801673"/>
                        <a:ext cx="2571750" cy="111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15046" name="Rectangle 6"/>
              <p:cNvSpPr>
                <a:spLocks noChangeArrowheads="1"/>
              </p:cNvSpPr>
              <p:nvPr/>
            </p:nvSpPr>
            <p:spPr bwMode="auto">
              <a:xfrm>
                <a:off x="4433513" y="571500"/>
                <a:ext cx="4741863" cy="57150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marL="342900" indent="-342900" algn="l" rtl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Arial" pitchFamily="34" charset="0"/>
                  <a:buChar char="•"/>
                  <a:defRPr/>
                </a:pPr>
                <a:endParaRPr lang="en-US" sz="2800" b="1" dirty="0">
                  <a:latin typeface="+mj-lt"/>
                  <a:cs typeface="+mn-cs"/>
                </a:endParaRPr>
              </a:p>
              <a:p>
                <a:pPr marL="342900" indent="-342900" algn="l" rtl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Arial" pitchFamily="34" charset="0"/>
                  <a:buChar char="•"/>
                  <a:defRPr/>
                </a:pPr>
                <a:r>
                  <a:rPr lang="en-US" sz="2800" b="1" dirty="0"/>
                  <a:t>If 0 &lt; </a:t>
                </a:r>
                <a:r>
                  <a:rPr lang="en-US" sz="2800" b="1" i="1" dirty="0"/>
                  <a:t>A </a:t>
                </a:r>
                <a:r>
                  <a:rPr lang="en-US" sz="2800" b="1" dirty="0"/>
                  <a:t>&lt; 1, then</a:t>
                </a:r>
              </a:p>
              <a:p>
                <a:pPr marL="342900" indent="-342900" algn="l" rtl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Arial" pitchFamily="34" charset="0"/>
                  <a:buChar char="•"/>
                  <a:defRPr/>
                </a:pPr>
                <a:endParaRPr lang="en-US" sz="2800" b="1" dirty="0">
                  <a:latin typeface="+mj-lt"/>
                  <a:cs typeface="+mn-cs"/>
                </a:endParaRPr>
              </a:p>
              <a:p>
                <a:pPr marL="342900" indent="-342900" algn="l" rtl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Arial" pitchFamily="34" charset="0"/>
                  <a:buChar char="•"/>
                  <a:defRPr/>
                </a:pPr>
                <a:endParaRPr lang="en-US" sz="2800" b="1" dirty="0">
                  <a:latin typeface="+mj-lt"/>
                  <a:cs typeface="+mn-cs"/>
                </a:endParaRPr>
              </a:p>
              <a:p>
                <a:pPr marL="342900" indent="-342900" algn="l" rtl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Arial" pitchFamily="34" charset="0"/>
                  <a:buChar char="•"/>
                  <a:defRPr/>
                </a:pPr>
                <a:endParaRPr lang="en-US" sz="2800" b="1" dirty="0">
                  <a:latin typeface="+mj-lt"/>
                  <a:cs typeface="+mn-cs"/>
                </a:endParaRPr>
              </a:p>
              <a:p>
                <a:pPr marL="342900" indent="-342900" algn="l" rtl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Arial" pitchFamily="34" charset="0"/>
                  <a:buChar char="•"/>
                  <a:defRPr/>
                </a:pPr>
                <a:r>
                  <a:rPr lang="en-US" sz="2800" b="1" dirty="0">
                    <a:latin typeface="+mj-lt"/>
                    <a:cs typeface="+mn-cs"/>
                  </a:rPr>
                  <a:t>If N → </a:t>
                </a:r>
                <a14:m>
                  <m:oMath xmlns:m="http://schemas.openxmlformats.org/officeDocument/2006/math">
                    <m:r>
                      <a:rPr lang="en-US" sz="2800" b="1">
                        <a:latin typeface="Cambria Math" charset="0"/>
                        <a:cs typeface="+mn-cs"/>
                      </a:rPr>
                      <m:t>∞</m:t>
                    </m:r>
                  </m:oMath>
                </a14:m>
                <a:r>
                  <a:rPr lang="en-US" sz="2800" b="1" dirty="0">
                    <a:latin typeface="+mj-lt"/>
                    <a:cs typeface="+mn-cs"/>
                    <a:sym typeface="Symbol" pitchFamily="18" charset="2"/>
                  </a:rPr>
                  <a:t>, and </a:t>
                </a:r>
                <a:r>
                  <a:rPr lang="en-US" sz="2800" b="1" dirty="0">
                    <a:latin typeface="+mj-lt"/>
                    <a:cs typeface="+mn-cs"/>
                  </a:rPr>
                  <a:t>0&lt;A&lt;1</a:t>
                </a:r>
                <a:r>
                  <a:rPr lang="en-US" sz="2800" b="1" dirty="0">
                    <a:latin typeface="+mj-lt"/>
                    <a:cs typeface="+mn-cs"/>
                    <a:sym typeface="Symbol" pitchFamily="18" charset="2"/>
                  </a:rPr>
                  <a:t> then</a:t>
                </a:r>
              </a:p>
            </p:txBody>
          </p:sp>
        </mc:Choice>
        <mc:Fallback xmlns="">
          <p:sp>
            <p:nvSpPr>
              <p:cNvPr id="215046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33513" y="571500"/>
                <a:ext cx="4741863" cy="5715000"/>
              </a:xfrm>
              <a:prstGeom prst="rect">
                <a:avLst/>
              </a:prstGeom>
              <a:blipFill rotWithShape="0">
                <a:blip r:embed="rId6"/>
                <a:stretch>
                  <a:fillRect l="-1542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100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5759399"/>
              </p:ext>
            </p:extLst>
          </p:nvPr>
        </p:nvGraphicFramePr>
        <p:xfrm>
          <a:off x="5488641" y="1801673"/>
          <a:ext cx="20955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Équation" r:id="rId7" imgW="838080" imgH="431640" progId="Equation.3">
                  <p:embed/>
                </p:oleObj>
              </mc:Choice>
              <mc:Fallback>
                <p:oleObj name="Équation" r:id="rId7" imgW="838080" imgH="4316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8641" y="1801673"/>
                        <a:ext cx="2095500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1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3206299"/>
              </p:ext>
            </p:extLst>
          </p:nvPr>
        </p:nvGraphicFramePr>
        <p:xfrm>
          <a:off x="904875" y="4559300"/>
          <a:ext cx="238125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Équation" r:id="rId9" imgW="952200" imgH="431640" progId="Equation.3">
                  <p:embed/>
                </p:oleObj>
              </mc:Choice>
              <mc:Fallback>
                <p:oleObj name="Équation" r:id="rId9" imgW="952200" imgH="4316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875" y="4559300"/>
                        <a:ext cx="2381250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5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3723330"/>
              </p:ext>
            </p:extLst>
          </p:nvPr>
        </p:nvGraphicFramePr>
        <p:xfrm>
          <a:off x="5488641" y="4559300"/>
          <a:ext cx="20955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838080" imgH="431640" progId="Equation.3">
                  <p:embed/>
                </p:oleObj>
              </mc:Choice>
              <mc:Fallback>
                <p:oleObj name="Equation" r:id="rId11" imgW="838080" imgH="43164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8641" y="4559300"/>
                        <a:ext cx="2095500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457200" y="76200"/>
            <a:ext cx="82296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0" eaLnBrk="1" hangingPunct="1"/>
            <a:r>
              <a:rPr lang="en-US" altLang="ar-SA" sz="4800" b="1" dirty="0">
                <a:solidFill>
                  <a:srgbClr val="000099"/>
                </a:solidFill>
                <a:latin typeface="+mj-lt"/>
                <a:ea typeface="+mj-ea"/>
                <a:cs typeface="+mj-cs"/>
              </a:rPr>
              <a:t>Series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(-Introduction-)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B49171-20A2-4B2E-91E4-8AB0C3DA6430}" type="slidenum">
              <a:rPr lang="ar-SA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2150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150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50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50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46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990600"/>
            <a:ext cx="4419600" cy="533400"/>
          </a:xfrm>
        </p:spPr>
        <p:txBody>
          <a:bodyPr/>
          <a:lstStyle/>
          <a:p>
            <a:pPr algn="l" rtl="0" eaLnBrk="1" hangingPunct="1">
              <a:defRPr/>
            </a:pPr>
            <a:r>
              <a:rPr lang="en-US" sz="2800" b="1" dirty="0">
                <a:solidFill>
                  <a:srgbClr val="FF0000"/>
                </a:solidFill>
                <a:latin typeface="+mj-lt"/>
              </a:rPr>
              <a:t>Arithmetic Series</a:t>
            </a:r>
          </a:p>
        </p:txBody>
      </p:sp>
      <p:graphicFrame>
        <p:nvGraphicFramePr>
          <p:cNvPr id="216067" name="Object 3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013641671"/>
              </p:ext>
            </p:extLst>
          </p:nvPr>
        </p:nvGraphicFramePr>
        <p:xfrm>
          <a:off x="609600" y="1828800"/>
          <a:ext cx="2741613" cy="89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Équation" r:id="rId3" imgW="1358640" imgH="444240" progId="Equation.3">
                  <p:embed/>
                </p:oleObj>
              </mc:Choice>
              <mc:Fallback>
                <p:oleObj name="Équation" r:id="rId3" imgW="1358640" imgH="4442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828800"/>
                        <a:ext cx="2741613" cy="896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071" name="Object 7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448030818"/>
              </p:ext>
            </p:extLst>
          </p:nvPr>
        </p:nvGraphicFramePr>
        <p:xfrm>
          <a:off x="914400" y="5265738"/>
          <a:ext cx="1981200" cy="83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39600" imgH="393480" progId="Equation.3">
                  <p:embed/>
                </p:oleObj>
              </mc:Choice>
              <mc:Fallback>
                <p:oleObj name="Equation" r:id="rId5" imgW="939600" imgH="3934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5265738"/>
                        <a:ext cx="1981200" cy="830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6070" name="Rectangle 6"/>
          <p:cNvSpPr>
            <a:spLocks noChangeArrowheads="1"/>
          </p:cNvSpPr>
          <p:nvPr/>
        </p:nvSpPr>
        <p:spPr bwMode="auto">
          <a:xfrm>
            <a:off x="396607" y="2971800"/>
            <a:ext cx="4175393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l" rtl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sz="2800" b="1" dirty="0">
                <a:latin typeface="+mj-lt"/>
              </a:rPr>
              <a:t>Example: To find the summation </a:t>
            </a:r>
          </a:p>
          <a:p>
            <a:pPr marL="742950" lvl="1" indent="-285750" algn="l" rtl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None/>
              <a:defRPr/>
            </a:pPr>
            <a:r>
              <a:rPr lang="en-US" sz="2400" dirty="0">
                <a:latin typeface="+mj-lt"/>
              </a:rPr>
              <a:t>2+5+8+….+ (3k-1)</a:t>
            </a:r>
          </a:p>
          <a:p>
            <a:pPr marL="742950" lvl="1" indent="-285750" algn="l" rtl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None/>
              <a:defRPr/>
            </a:pPr>
            <a:r>
              <a:rPr lang="en-US" sz="2400" dirty="0">
                <a:latin typeface="+mj-lt"/>
              </a:rPr>
              <a:t>= 3(1+2+3+…+k) </a:t>
            </a:r>
          </a:p>
          <a:p>
            <a:pPr marL="742950" lvl="1" indent="-285750" algn="l" rtl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None/>
              <a:defRPr/>
            </a:pPr>
            <a:r>
              <a:rPr lang="en-US" sz="2400" dirty="0">
                <a:latin typeface="+mj-lt"/>
              </a:rPr>
              <a:t>   - (1+1+1+….+1)</a:t>
            </a:r>
          </a:p>
        </p:txBody>
      </p:sp>
      <p:sp>
        <p:nvSpPr>
          <p:cNvPr id="216076" name="Rectangle 12"/>
          <p:cNvSpPr>
            <a:spLocks noChangeArrowheads="1"/>
          </p:cNvSpPr>
          <p:nvPr/>
        </p:nvSpPr>
        <p:spPr bwMode="auto">
          <a:xfrm>
            <a:off x="4572000" y="1143000"/>
            <a:ext cx="3124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457200" indent="-457200" algn="l" rtl="0">
              <a:spcBef>
                <a:spcPct val="20000"/>
              </a:spcBef>
              <a:buClr>
                <a:schemeClr val="hlink"/>
              </a:buClr>
              <a:buSzPct val="80000"/>
              <a:buFont typeface="Arial" pitchFamily="34" charset="0"/>
              <a:buChar char="•"/>
              <a:defRPr/>
            </a:pPr>
            <a:r>
              <a:rPr lang="en-US" sz="2800" b="1" dirty="0">
                <a:latin typeface="+mj-lt"/>
              </a:rPr>
              <a:t>Note That:</a:t>
            </a:r>
          </a:p>
        </p:txBody>
      </p:sp>
      <p:graphicFrame>
        <p:nvGraphicFramePr>
          <p:cNvPr id="21607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6334726"/>
              </p:ext>
            </p:extLst>
          </p:nvPr>
        </p:nvGraphicFramePr>
        <p:xfrm>
          <a:off x="4676775" y="1876425"/>
          <a:ext cx="4010025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057400" imgH="444240" progId="Equation.3">
                  <p:embed/>
                </p:oleObj>
              </mc:Choice>
              <mc:Fallback>
                <p:oleObj name="Equation" r:id="rId7" imgW="2057400" imgH="44424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6775" y="1876425"/>
                        <a:ext cx="4010025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07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8120499"/>
              </p:ext>
            </p:extLst>
          </p:nvPr>
        </p:nvGraphicFramePr>
        <p:xfrm>
          <a:off x="4695825" y="2836863"/>
          <a:ext cx="3305175" cy="89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38000" imgH="444240" progId="Equation.3">
                  <p:embed/>
                </p:oleObj>
              </mc:Choice>
              <mc:Fallback>
                <p:oleObj name="Equation" r:id="rId9" imgW="1638000" imgH="44424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5825" y="2836863"/>
                        <a:ext cx="3305175" cy="896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07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9300914"/>
              </p:ext>
            </p:extLst>
          </p:nvPr>
        </p:nvGraphicFramePr>
        <p:xfrm>
          <a:off x="4702175" y="3852862"/>
          <a:ext cx="2613025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295280" imgH="431640" progId="Equation.3">
                  <p:embed/>
                </p:oleObj>
              </mc:Choice>
              <mc:Fallback>
                <p:oleObj name="Equation" r:id="rId11" imgW="1295280" imgH="43164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2175" y="3852862"/>
                        <a:ext cx="2613025" cy="871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08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4670995"/>
              </p:ext>
            </p:extLst>
          </p:nvPr>
        </p:nvGraphicFramePr>
        <p:xfrm>
          <a:off x="4724400" y="4843463"/>
          <a:ext cx="3663950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815840" imgH="469800" progId="Equation.3">
                  <p:embed/>
                </p:oleObj>
              </mc:Choice>
              <mc:Fallback>
                <p:oleObj name="Equation" r:id="rId13" imgW="1815840" imgH="4698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4843463"/>
                        <a:ext cx="3663950" cy="947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2669322"/>
              </p:ext>
            </p:extLst>
          </p:nvPr>
        </p:nvGraphicFramePr>
        <p:xfrm>
          <a:off x="4724400" y="5867400"/>
          <a:ext cx="1766888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معادلة" r:id="rId15" imgW="876240" imgH="431640" progId="Equation.3">
                  <p:embed/>
                </p:oleObj>
              </mc:Choice>
              <mc:Fallback>
                <p:oleObj name="معادلة" r:id="rId15" imgW="876240" imgH="43164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5867400"/>
                        <a:ext cx="1766888" cy="871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457200" y="76200"/>
            <a:ext cx="82296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0" eaLnBrk="1" hangingPunct="1"/>
            <a:r>
              <a:rPr lang="en-US" altLang="ar-SA" sz="4800" b="1" dirty="0">
                <a:solidFill>
                  <a:srgbClr val="000099"/>
                </a:solidFill>
                <a:latin typeface="+mj-lt"/>
                <a:ea typeface="+mj-ea"/>
                <a:cs typeface="+mj-cs"/>
              </a:rPr>
              <a:t>Series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1295400" y="640080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CS 2321: D.S.A (-Introduction-)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B49171-20A2-4B2E-91E4-8AB0C3DA6430}" type="slidenum">
              <a:rPr lang="ar-SA" smtClean="0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16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60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60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60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60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60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60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60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60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216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216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216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216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216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070" grpId="0" build="p" autoUpdateAnimBg="0"/>
      <p:bldP spid="21607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1" dirty="0"/>
              <a:t>Recursion</a:t>
            </a:r>
          </a:p>
        </p:txBody>
      </p:sp>
      <p:sp>
        <p:nvSpPr>
          <p:cNvPr id="5123" name="Rectangle 1"/>
          <p:cNvSpPr>
            <a:spLocks noChangeArrowheads="1"/>
          </p:cNvSpPr>
          <p:nvPr/>
        </p:nvSpPr>
        <p:spPr bwMode="auto">
          <a:xfrm>
            <a:off x="1167626" y="4343400"/>
            <a:ext cx="37044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l"/>
            </a:pPr>
            <a:r>
              <a:rPr lang="fr-FR" b="1" dirty="0">
                <a:solidFill>
                  <a:srgbClr val="FF0000"/>
                </a:solidFill>
              </a:rPr>
              <a:t>Reading: </a:t>
            </a:r>
            <a:r>
              <a:rPr lang="fr-FR" b="1" dirty="0" err="1">
                <a:solidFill>
                  <a:srgbClr val="FF0000"/>
                </a:solidFill>
              </a:rPr>
              <a:t>Textbook</a:t>
            </a:r>
            <a:r>
              <a:rPr lang="fr-FR" b="1" dirty="0">
                <a:solidFill>
                  <a:srgbClr val="FF0000"/>
                </a:solidFill>
              </a:rPr>
              <a:t> (Weiss) 1.3 </a:t>
            </a:r>
          </a:p>
        </p:txBody>
      </p:sp>
    </p:spTree>
    <p:extLst>
      <p:ext uri="{BB962C8B-B14F-4D97-AF65-F5344CB8AC3E}">
        <p14:creationId xmlns:p14="http://schemas.microsoft.com/office/powerpoint/2010/main" val="3350012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242C11-A002-C6ED-2F45-C1374C853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9492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/>
              <a:t>CS 2321: D.S.A (-Introduction-)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57C54C-BA86-3AB7-D5E7-2535A860F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42117F-2C73-4D66-97C1-4AE4EF459FFA}" type="slidenum">
              <a:rPr lang="ar-SA" smtClean="0"/>
              <a:pPr>
                <a:defRPr/>
              </a:pPr>
              <a:t>14</a:t>
            </a:fld>
            <a:endParaRPr lang="en-US"/>
          </a:p>
        </p:txBody>
      </p:sp>
      <p:pic>
        <p:nvPicPr>
          <p:cNvPr id="7" name="Picture 6" descr="A picture containing lit&#10;&#10;Description automatically generated">
            <a:extLst>
              <a:ext uri="{FF2B5EF4-FFF2-40B4-BE49-F238E27FC236}">
                <a16:creationId xmlns:a16="http://schemas.microsoft.com/office/drawing/2014/main" id="{EF7612DA-0E57-8C64-DDFB-F301A1AA57C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6032" y="3532879"/>
            <a:ext cx="3500683" cy="3032330"/>
          </a:xfrm>
          <a:prstGeom prst="rect">
            <a:avLst/>
          </a:prstGeom>
        </p:spPr>
      </p:pic>
      <p:pic>
        <p:nvPicPr>
          <p:cNvPr id="9" name="Picture 8" descr="A black and white drawing of a tree&#10;&#10;Description automatically generated with medium confidence">
            <a:extLst>
              <a:ext uri="{FF2B5EF4-FFF2-40B4-BE49-F238E27FC236}">
                <a16:creationId xmlns:a16="http://schemas.microsoft.com/office/drawing/2014/main" id="{21DDDD54-D50C-4FF8-26B3-00986EA573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9585" y="136525"/>
            <a:ext cx="2734492" cy="360521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FF2E950-80DB-70B2-B5D4-9A2D8BF35F43}"/>
              </a:ext>
            </a:extLst>
          </p:cNvPr>
          <p:cNvSpPr txBox="1"/>
          <p:nvPr/>
        </p:nvSpPr>
        <p:spPr>
          <a:xfrm>
            <a:off x="279923" y="180847"/>
            <a:ext cx="15946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dirty="0"/>
              <a:t>Recursion</a:t>
            </a:r>
            <a:endParaRPr lang="en-001" sz="2000" dirty="0"/>
          </a:p>
        </p:txBody>
      </p:sp>
      <p:pic>
        <p:nvPicPr>
          <p:cNvPr id="14" name="Picture 13" descr="Text&#10;&#10;Description automatically generated">
            <a:extLst>
              <a:ext uri="{FF2B5EF4-FFF2-40B4-BE49-F238E27FC236}">
                <a16:creationId xmlns:a16="http://schemas.microsoft.com/office/drawing/2014/main" id="{3337FB84-1708-53A2-0537-A1FD9934F36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01" t="3232" r="20000" b="4790"/>
          <a:stretch/>
        </p:blipFill>
        <p:spPr>
          <a:xfrm>
            <a:off x="495820" y="1066800"/>
            <a:ext cx="3669578" cy="3032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7676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-76200" y="990600"/>
            <a:ext cx="9067800" cy="5638800"/>
          </a:xfrm>
        </p:spPr>
        <p:txBody>
          <a:bodyPr/>
          <a:lstStyle/>
          <a:p>
            <a:pPr marL="0" indent="0" algn="l" rtl="0" eaLnBrk="1" hangingPunct="1">
              <a:lnSpc>
                <a:spcPct val="90000"/>
              </a:lnSpc>
              <a:buNone/>
              <a:defRPr/>
            </a:pPr>
            <a:r>
              <a:rPr lang="en-US" sz="2600" b="1" dirty="0">
                <a:solidFill>
                  <a:srgbClr val="FF0000"/>
                </a:solidFill>
                <a:latin typeface="+mj-lt"/>
              </a:rPr>
              <a:t> A function that is defined in terms of itself is called recursive.</a:t>
            </a:r>
          </a:p>
          <a:p>
            <a:pPr marL="0" indent="0" algn="l" rtl="0" eaLnBrk="1" hangingPunct="1">
              <a:lnSpc>
                <a:spcPct val="90000"/>
              </a:lnSpc>
              <a:buNone/>
              <a:defRPr/>
            </a:pPr>
            <a:r>
              <a:rPr lang="en-US" sz="2800" dirty="0">
                <a:latin typeface="+mj-lt"/>
              </a:rPr>
              <a:t>For example, the factorial</a:t>
            </a:r>
          </a:p>
          <a:p>
            <a:pPr algn="l" rtl="0" eaLnBrk="1" hangingPunct="1">
              <a:lnSpc>
                <a:spcPct val="90000"/>
              </a:lnSpc>
              <a:defRPr/>
            </a:pPr>
            <a:endParaRPr lang="en-US" sz="2800" dirty="0">
              <a:latin typeface="+mj-lt"/>
            </a:endParaRPr>
          </a:p>
          <a:p>
            <a:pPr algn="l" rtl="0" eaLnBrk="1" hangingPunct="1">
              <a:lnSpc>
                <a:spcPct val="90000"/>
              </a:lnSpc>
              <a:defRPr/>
            </a:pPr>
            <a:endParaRPr lang="en-US" sz="3600" dirty="0">
              <a:latin typeface="+mj-lt"/>
            </a:endParaRPr>
          </a:p>
          <a:p>
            <a:pPr algn="l" rtl="0" eaLnBrk="1" hangingPunct="1">
              <a:lnSpc>
                <a:spcPct val="90000"/>
              </a:lnSpc>
              <a:defRPr/>
            </a:pPr>
            <a:endParaRPr lang="en-US" sz="2800" dirty="0">
              <a:latin typeface="+mj-lt"/>
            </a:endParaRPr>
          </a:p>
          <a:p>
            <a:pPr algn="l" rtl="0" eaLnBrk="1" hangingPunct="1">
              <a:lnSpc>
                <a:spcPct val="90000"/>
              </a:lnSpc>
              <a:defRPr/>
            </a:pPr>
            <a:r>
              <a:rPr lang="en-US" sz="2800" dirty="0">
                <a:latin typeface="+mj-lt"/>
              </a:rPr>
              <a:t>Characteristics of a recursive definition</a:t>
            </a:r>
            <a:endParaRPr lang="en-US" sz="2800" b="1" dirty="0">
              <a:latin typeface="+mj-lt"/>
            </a:endParaRPr>
          </a:p>
          <a:p>
            <a:pPr lvl="1" algn="l" rtl="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endParaRPr lang="en-US" sz="2400" dirty="0">
              <a:latin typeface="+mj-lt"/>
            </a:endParaRPr>
          </a:p>
          <a:p>
            <a:pPr lvl="1" algn="l" rtl="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400" dirty="0">
                <a:latin typeface="+mj-lt"/>
              </a:rPr>
              <a:t>- 	It has a stopping point (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base case</a:t>
            </a:r>
            <a:r>
              <a:rPr lang="en-US" sz="2400" dirty="0">
                <a:latin typeface="+mj-lt"/>
              </a:rPr>
              <a:t>).</a:t>
            </a:r>
          </a:p>
          <a:p>
            <a:pPr lvl="1" algn="l" rtl="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endParaRPr lang="en-US" sz="2400" dirty="0">
              <a:latin typeface="+mj-lt"/>
            </a:endParaRPr>
          </a:p>
          <a:p>
            <a:pPr lvl="1" algn="l" rtl="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400" dirty="0">
                <a:latin typeface="+mj-lt"/>
              </a:rPr>
              <a:t>-	It (recursively) allows evaluation of an expression involving a variable </a:t>
            </a:r>
            <a:r>
              <a:rPr lang="en-US" sz="2400" i="1" dirty="0">
                <a:latin typeface="+mj-lt"/>
              </a:rPr>
              <a:t>n</a:t>
            </a:r>
            <a:r>
              <a:rPr lang="en-US" sz="2400" dirty="0">
                <a:latin typeface="+mj-lt"/>
              </a:rPr>
              <a:t> from a higher value to a lower value of </a:t>
            </a:r>
            <a:r>
              <a:rPr lang="en-US" sz="2400" i="1" dirty="0">
                <a:latin typeface="+mj-lt"/>
              </a:rPr>
              <a:t>n</a:t>
            </a:r>
            <a:r>
              <a:rPr lang="en-US" sz="2400" dirty="0">
                <a:latin typeface="+mj-lt"/>
              </a:rPr>
              <a:t>.</a:t>
            </a:r>
          </a:p>
        </p:txBody>
      </p:sp>
      <p:graphicFrame>
        <p:nvGraphicFramePr>
          <p:cNvPr id="9218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2232906"/>
              </p:ext>
            </p:extLst>
          </p:nvPr>
        </p:nvGraphicFramePr>
        <p:xfrm>
          <a:off x="1676400" y="2133600"/>
          <a:ext cx="4114800" cy="1166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Équation" r:id="rId3" imgW="1612800" imgH="457200" progId="Equation.3">
                  <p:embed/>
                </p:oleObj>
              </mc:Choice>
              <mc:Fallback>
                <p:oleObj name="Équation" r:id="rId3" imgW="161280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133600"/>
                        <a:ext cx="4114800" cy="1166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57200" y="76200"/>
            <a:ext cx="82296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0" eaLnBrk="1" hangingPunct="1"/>
            <a:r>
              <a:rPr lang="en-US" altLang="ar-SA" sz="4800" b="1" dirty="0">
                <a:solidFill>
                  <a:srgbClr val="000099"/>
                </a:solidFill>
                <a:latin typeface="+mj-lt"/>
                <a:ea typeface="+mj-ea"/>
                <a:cs typeface="+mj-cs"/>
              </a:rPr>
              <a:t>Recursion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(-Introduction-)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E361D5-47DD-4A8D-8C7C-0A1A10566005}" type="slidenum">
              <a:rPr lang="ar-SA" smtClean="0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5" name="Text Box 5"/>
          <p:cNvSpPr txBox="1">
            <a:spLocks noChangeArrowheads="1"/>
          </p:cNvSpPr>
          <p:nvPr/>
        </p:nvSpPr>
        <p:spPr bwMode="auto">
          <a:xfrm>
            <a:off x="304800" y="2000250"/>
            <a:ext cx="609600" cy="376237"/>
          </a:xfrm>
          <a:prstGeom prst="rect">
            <a:avLst/>
          </a:prstGeom>
          <a:solidFill>
            <a:srgbClr val="00FF00"/>
          </a:solidFill>
          <a:ln w="9525">
            <a:solidFill>
              <a:srgbClr val="0099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rtl="0">
              <a:spcBef>
                <a:spcPct val="50000"/>
              </a:spcBef>
            </a:pPr>
            <a:r>
              <a:rPr lang="en-US" altLang="ar-SA">
                <a:solidFill>
                  <a:srgbClr val="000000"/>
                </a:solidFill>
                <a:latin typeface="+mj-lt"/>
              </a:rPr>
              <a:t>5!</a:t>
            </a:r>
          </a:p>
        </p:txBody>
      </p:sp>
      <p:sp>
        <p:nvSpPr>
          <p:cNvPr id="204806" name="Text Box 6"/>
          <p:cNvSpPr txBox="1">
            <a:spLocks noChangeArrowheads="1"/>
          </p:cNvSpPr>
          <p:nvPr/>
        </p:nvSpPr>
        <p:spPr bwMode="auto">
          <a:xfrm>
            <a:off x="304800" y="2749550"/>
            <a:ext cx="990600" cy="376237"/>
          </a:xfrm>
          <a:prstGeom prst="rect">
            <a:avLst/>
          </a:prstGeom>
          <a:solidFill>
            <a:srgbClr val="00FF00"/>
          </a:solidFill>
          <a:ln w="9525">
            <a:solidFill>
              <a:srgbClr val="0099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rtl="0">
              <a:spcBef>
                <a:spcPct val="50000"/>
              </a:spcBef>
            </a:pPr>
            <a:r>
              <a:rPr lang="en-US" altLang="ar-SA">
                <a:solidFill>
                  <a:srgbClr val="000000"/>
                </a:solidFill>
                <a:latin typeface="+mj-lt"/>
              </a:rPr>
              <a:t>5 * 4!</a:t>
            </a:r>
          </a:p>
        </p:txBody>
      </p:sp>
      <p:sp>
        <p:nvSpPr>
          <p:cNvPr id="204807" name="Text Box 7"/>
          <p:cNvSpPr txBox="1">
            <a:spLocks noChangeArrowheads="1"/>
          </p:cNvSpPr>
          <p:nvPr/>
        </p:nvSpPr>
        <p:spPr bwMode="auto">
          <a:xfrm>
            <a:off x="647700" y="3524250"/>
            <a:ext cx="990600" cy="376237"/>
          </a:xfrm>
          <a:prstGeom prst="rect">
            <a:avLst/>
          </a:prstGeom>
          <a:solidFill>
            <a:srgbClr val="00FF00"/>
          </a:solidFill>
          <a:ln w="9525">
            <a:solidFill>
              <a:srgbClr val="0099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rtl="0">
              <a:spcBef>
                <a:spcPct val="50000"/>
              </a:spcBef>
            </a:pPr>
            <a:r>
              <a:rPr lang="en-US" altLang="ar-SA">
                <a:solidFill>
                  <a:srgbClr val="000000"/>
                </a:solidFill>
                <a:latin typeface="+mj-lt"/>
              </a:rPr>
              <a:t>4 * 3!</a:t>
            </a:r>
          </a:p>
        </p:txBody>
      </p:sp>
      <p:sp>
        <p:nvSpPr>
          <p:cNvPr id="204808" name="Text Box 8"/>
          <p:cNvSpPr txBox="1">
            <a:spLocks noChangeArrowheads="1"/>
          </p:cNvSpPr>
          <p:nvPr/>
        </p:nvSpPr>
        <p:spPr bwMode="auto">
          <a:xfrm>
            <a:off x="990600" y="4286250"/>
            <a:ext cx="990600" cy="376237"/>
          </a:xfrm>
          <a:prstGeom prst="rect">
            <a:avLst/>
          </a:prstGeom>
          <a:solidFill>
            <a:srgbClr val="00FF00"/>
          </a:solidFill>
          <a:ln w="9525">
            <a:solidFill>
              <a:srgbClr val="0099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rtl="0">
              <a:spcBef>
                <a:spcPct val="50000"/>
              </a:spcBef>
            </a:pPr>
            <a:r>
              <a:rPr lang="en-US" altLang="ar-SA">
                <a:solidFill>
                  <a:srgbClr val="000000"/>
                </a:solidFill>
                <a:latin typeface="+mj-lt"/>
              </a:rPr>
              <a:t>3 * 2!</a:t>
            </a:r>
          </a:p>
        </p:txBody>
      </p:sp>
      <p:sp>
        <p:nvSpPr>
          <p:cNvPr id="204809" name="Text Box 9"/>
          <p:cNvSpPr txBox="1">
            <a:spLocks noChangeArrowheads="1"/>
          </p:cNvSpPr>
          <p:nvPr/>
        </p:nvSpPr>
        <p:spPr bwMode="auto">
          <a:xfrm>
            <a:off x="1320800" y="5048250"/>
            <a:ext cx="990600" cy="376237"/>
          </a:xfrm>
          <a:prstGeom prst="rect">
            <a:avLst/>
          </a:prstGeom>
          <a:solidFill>
            <a:srgbClr val="00FF00"/>
          </a:solidFill>
          <a:ln w="9525">
            <a:solidFill>
              <a:srgbClr val="0099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rtl="0">
              <a:spcBef>
                <a:spcPct val="50000"/>
              </a:spcBef>
            </a:pPr>
            <a:r>
              <a:rPr lang="en-US" altLang="ar-SA">
                <a:solidFill>
                  <a:srgbClr val="000000"/>
                </a:solidFill>
                <a:latin typeface="+mj-lt"/>
              </a:rPr>
              <a:t>2 * 1!</a:t>
            </a:r>
          </a:p>
        </p:txBody>
      </p:sp>
      <p:sp>
        <p:nvSpPr>
          <p:cNvPr id="204810" name="Text Box 10"/>
          <p:cNvSpPr txBox="1">
            <a:spLocks noChangeArrowheads="1"/>
          </p:cNvSpPr>
          <p:nvPr/>
        </p:nvSpPr>
        <p:spPr bwMode="auto">
          <a:xfrm>
            <a:off x="1676400" y="5810250"/>
            <a:ext cx="533400" cy="376237"/>
          </a:xfrm>
          <a:prstGeom prst="rect">
            <a:avLst/>
          </a:prstGeom>
          <a:solidFill>
            <a:srgbClr val="00FF00"/>
          </a:solidFill>
          <a:ln w="9525">
            <a:solidFill>
              <a:srgbClr val="0099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rtl="0">
              <a:spcBef>
                <a:spcPct val="50000"/>
              </a:spcBef>
            </a:pPr>
            <a:r>
              <a:rPr lang="en-US" altLang="ar-SA">
                <a:solidFill>
                  <a:srgbClr val="000000"/>
                </a:solidFill>
                <a:latin typeface="+mj-lt"/>
              </a:rPr>
              <a:t>1</a:t>
            </a:r>
          </a:p>
        </p:txBody>
      </p:sp>
      <p:sp>
        <p:nvSpPr>
          <p:cNvPr id="204811" name="Text Box 11"/>
          <p:cNvSpPr txBox="1">
            <a:spLocks noChangeArrowheads="1"/>
          </p:cNvSpPr>
          <p:nvPr/>
        </p:nvSpPr>
        <p:spPr bwMode="auto">
          <a:xfrm>
            <a:off x="228600" y="6338887"/>
            <a:ext cx="3505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rtl="0">
              <a:spcBef>
                <a:spcPct val="50000"/>
              </a:spcBef>
            </a:pPr>
            <a:r>
              <a:rPr lang="en-US" altLang="ar-SA">
                <a:latin typeface="+mj-lt"/>
              </a:rPr>
              <a:t>(a) Sequence of recursive calls.</a:t>
            </a:r>
          </a:p>
        </p:txBody>
      </p:sp>
      <p:sp>
        <p:nvSpPr>
          <p:cNvPr id="204812" name="Line 12"/>
          <p:cNvSpPr>
            <a:spLocks noChangeShapeType="1"/>
          </p:cNvSpPr>
          <p:nvPr/>
        </p:nvSpPr>
        <p:spPr bwMode="auto">
          <a:xfrm>
            <a:off x="558800" y="2300287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ar-SA">
              <a:latin typeface="+mj-lt"/>
            </a:endParaRPr>
          </a:p>
        </p:txBody>
      </p:sp>
      <p:sp>
        <p:nvSpPr>
          <p:cNvPr id="204813" name="Line 13"/>
          <p:cNvSpPr>
            <a:spLocks noChangeShapeType="1"/>
          </p:cNvSpPr>
          <p:nvPr/>
        </p:nvSpPr>
        <p:spPr bwMode="auto">
          <a:xfrm>
            <a:off x="952500" y="3062287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ar-SA">
              <a:latin typeface="+mj-lt"/>
            </a:endParaRPr>
          </a:p>
        </p:txBody>
      </p:sp>
      <p:sp>
        <p:nvSpPr>
          <p:cNvPr id="204814" name="Line 14"/>
          <p:cNvSpPr>
            <a:spLocks noChangeShapeType="1"/>
          </p:cNvSpPr>
          <p:nvPr/>
        </p:nvSpPr>
        <p:spPr bwMode="auto">
          <a:xfrm>
            <a:off x="1282700" y="3836987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ar-SA">
              <a:latin typeface="+mj-lt"/>
            </a:endParaRPr>
          </a:p>
        </p:txBody>
      </p:sp>
      <p:sp>
        <p:nvSpPr>
          <p:cNvPr id="204815" name="Line 15"/>
          <p:cNvSpPr>
            <a:spLocks noChangeShapeType="1"/>
          </p:cNvSpPr>
          <p:nvPr/>
        </p:nvSpPr>
        <p:spPr bwMode="auto">
          <a:xfrm>
            <a:off x="1612900" y="4598987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ar-SA">
              <a:latin typeface="+mj-lt"/>
            </a:endParaRPr>
          </a:p>
        </p:txBody>
      </p:sp>
      <p:sp>
        <p:nvSpPr>
          <p:cNvPr id="204816" name="Line 16"/>
          <p:cNvSpPr>
            <a:spLocks noChangeShapeType="1"/>
          </p:cNvSpPr>
          <p:nvPr/>
        </p:nvSpPr>
        <p:spPr bwMode="auto">
          <a:xfrm>
            <a:off x="1955800" y="5360987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ar-SA">
              <a:latin typeface="+mj-lt"/>
            </a:endParaRPr>
          </a:p>
        </p:txBody>
      </p:sp>
      <p:sp>
        <p:nvSpPr>
          <p:cNvPr id="204817" name="Text Box 17"/>
          <p:cNvSpPr txBox="1">
            <a:spLocks noChangeArrowheads="1"/>
          </p:cNvSpPr>
          <p:nvPr/>
        </p:nvSpPr>
        <p:spPr bwMode="auto">
          <a:xfrm>
            <a:off x="3962400" y="1995487"/>
            <a:ext cx="609600" cy="376238"/>
          </a:xfrm>
          <a:prstGeom prst="rect">
            <a:avLst/>
          </a:prstGeom>
          <a:solidFill>
            <a:srgbClr val="00FF00"/>
          </a:solidFill>
          <a:ln w="9525">
            <a:solidFill>
              <a:srgbClr val="0099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rtl="0">
              <a:spcBef>
                <a:spcPct val="50000"/>
              </a:spcBef>
            </a:pPr>
            <a:r>
              <a:rPr lang="en-US" altLang="ar-SA">
                <a:solidFill>
                  <a:srgbClr val="000000"/>
                </a:solidFill>
                <a:latin typeface="+mj-lt"/>
              </a:rPr>
              <a:t>5!</a:t>
            </a:r>
          </a:p>
        </p:txBody>
      </p:sp>
      <p:sp>
        <p:nvSpPr>
          <p:cNvPr id="204818" name="Text Box 18"/>
          <p:cNvSpPr txBox="1">
            <a:spLocks noChangeArrowheads="1"/>
          </p:cNvSpPr>
          <p:nvPr/>
        </p:nvSpPr>
        <p:spPr bwMode="auto">
          <a:xfrm>
            <a:off x="3962400" y="2744787"/>
            <a:ext cx="990600" cy="376238"/>
          </a:xfrm>
          <a:prstGeom prst="rect">
            <a:avLst/>
          </a:prstGeom>
          <a:solidFill>
            <a:srgbClr val="00FF00"/>
          </a:solidFill>
          <a:ln w="9525">
            <a:solidFill>
              <a:srgbClr val="0099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rtl="0">
              <a:spcBef>
                <a:spcPct val="50000"/>
              </a:spcBef>
            </a:pPr>
            <a:r>
              <a:rPr lang="en-US" altLang="ar-SA">
                <a:solidFill>
                  <a:srgbClr val="000000"/>
                </a:solidFill>
                <a:latin typeface="+mj-lt"/>
              </a:rPr>
              <a:t>5 * 4!</a:t>
            </a:r>
          </a:p>
        </p:txBody>
      </p:sp>
      <p:sp>
        <p:nvSpPr>
          <p:cNvPr id="204819" name="Text Box 19"/>
          <p:cNvSpPr txBox="1">
            <a:spLocks noChangeArrowheads="1"/>
          </p:cNvSpPr>
          <p:nvPr/>
        </p:nvSpPr>
        <p:spPr bwMode="auto">
          <a:xfrm>
            <a:off x="4305300" y="3519487"/>
            <a:ext cx="990600" cy="376238"/>
          </a:xfrm>
          <a:prstGeom prst="rect">
            <a:avLst/>
          </a:prstGeom>
          <a:solidFill>
            <a:srgbClr val="00FF00"/>
          </a:solidFill>
          <a:ln w="9525">
            <a:solidFill>
              <a:srgbClr val="0099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rtl="0">
              <a:spcBef>
                <a:spcPct val="50000"/>
              </a:spcBef>
            </a:pPr>
            <a:r>
              <a:rPr lang="en-US" altLang="ar-SA">
                <a:solidFill>
                  <a:srgbClr val="000000"/>
                </a:solidFill>
                <a:latin typeface="+mj-lt"/>
              </a:rPr>
              <a:t>4 * 3!</a:t>
            </a:r>
          </a:p>
        </p:txBody>
      </p:sp>
      <p:sp>
        <p:nvSpPr>
          <p:cNvPr id="204820" name="Text Box 20"/>
          <p:cNvSpPr txBox="1">
            <a:spLocks noChangeArrowheads="1"/>
          </p:cNvSpPr>
          <p:nvPr/>
        </p:nvSpPr>
        <p:spPr bwMode="auto">
          <a:xfrm>
            <a:off x="4648200" y="4281487"/>
            <a:ext cx="990600" cy="376238"/>
          </a:xfrm>
          <a:prstGeom prst="rect">
            <a:avLst/>
          </a:prstGeom>
          <a:solidFill>
            <a:srgbClr val="00FF00"/>
          </a:solidFill>
          <a:ln w="9525">
            <a:solidFill>
              <a:srgbClr val="0099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rtl="0">
              <a:spcBef>
                <a:spcPct val="50000"/>
              </a:spcBef>
            </a:pPr>
            <a:r>
              <a:rPr lang="en-US" altLang="ar-SA">
                <a:solidFill>
                  <a:srgbClr val="000000"/>
                </a:solidFill>
                <a:latin typeface="+mj-lt"/>
              </a:rPr>
              <a:t>3 * 2!</a:t>
            </a:r>
          </a:p>
        </p:txBody>
      </p:sp>
      <p:sp>
        <p:nvSpPr>
          <p:cNvPr id="204821" name="Text Box 21"/>
          <p:cNvSpPr txBox="1">
            <a:spLocks noChangeArrowheads="1"/>
          </p:cNvSpPr>
          <p:nvPr/>
        </p:nvSpPr>
        <p:spPr bwMode="auto">
          <a:xfrm>
            <a:off x="4978400" y="5043487"/>
            <a:ext cx="990600" cy="376238"/>
          </a:xfrm>
          <a:prstGeom prst="rect">
            <a:avLst/>
          </a:prstGeom>
          <a:solidFill>
            <a:srgbClr val="00FF00"/>
          </a:solidFill>
          <a:ln w="9525">
            <a:solidFill>
              <a:srgbClr val="0099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rtl="0">
              <a:spcBef>
                <a:spcPct val="50000"/>
              </a:spcBef>
            </a:pPr>
            <a:r>
              <a:rPr lang="en-US" altLang="ar-SA">
                <a:solidFill>
                  <a:srgbClr val="000000"/>
                </a:solidFill>
                <a:latin typeface="+mj-lt"/>
              </a:rPr>
              <a:t>2 * 1!</a:t>
            </a:r>
          </a:p>
        </p:txBody>
      </p:sp>
      <p:sp>
        <p:nvSpPr>
          <p:cNvPr id="204822" name="Text Box 22"/>
          <p:cNvSpPr txBox="1">
            <a:spLocks noChangeArrowheads="1"/>
          </p:cNvSpPr>
          <p:nvPr/>
        </p:nvSpPr>
        <p:spPr bwMode="auto">
          <a:xfrm>
            <a:off x="5334000" y="5805487"/>
            <a:ext cx="533400" cy="376238"/>
          </a:xfrm>
          <a:prstGeom prst="rect">
            <a:avLst/>
          </a:prstGeom>
          <a:solidFill>
            <a:srgbClr val="00FF00"/>
          </a:solidFill>
          <a:ln w="9525">
            <a:solidFill>
              <a:srgbClr val="0099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rtl="0">
              <a:spcBef>
                <a:spcPct val="50000"/>
              </a:spcBef>
            </a:pPr>
            <a:r>
              <a:rPr lang="en-US" altLang="ar-SA">
                <a:solidFill>
                  <a:srgbClr val="000000"/>
                </a:solidFill>
                <a:latin typeface="+mj-lt"/>
              </a:rPr>
              <a:t>1</a:t>
            </a:r>
          </a:p>
        </p:txBody>
      </p:sp>
      <p:sp>
        <p:nvSpPr>
          <p:cNvPr id="204823" name="Text Box 23"/>
          <p:cNvSpPr txBox="1">
            <a:spLocks noChangeArrowheads="1"/>
          </p:cNvSpPr>
          <p:nvPr/>
        </p:nvSpPr>
        <p:spPr bwMode="auto">
          <a:xfrm>
            <a:off x="3886200" y="6334125"/>
            <a:ext cx="4953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rtl="0">
              <a:spcBef>
                <a:spcPct val="50000"/>
              </a:spcBef>
            </a:pPr>
            <a:r>
              <a:rPr lang="en-US" altLang="ar-SA">
                <a:latin typeface="+mj-lt"/>
              </a:rPr>
              <a:t>(b) Values returned from each recursive call.</a:t>
            </a:r>
          </a:p>
        </p:txBody>
      </p:sp>
      <p:sp>
        <p:nvSpPr>
          <p:cNvPr id="204824" name="Line 24"/>
          <p:cNvSpPr>
            <a:spLocks noChangeShapeType="1"/>
          </p:cNvSpPr>
          <p:nvPr/>
        </p:nvSpPr>
        <p:spPr bwMode="auto">
          <a:xfrm>
            <a:off x="4216400" y="2295525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ar-SA">
              <a:latin typeface="+mj-lt"/>
            </a:endParaRPr>
          </a:p>
        </p:txBody>
      </p:sp>
      <p:sp>
        <p:nvSpPr>
          <p:cNvPr id="204825" name="Line 25"/>
          <p:cNvSpPr>
            <a:spLocks noChangeShapeType="1"/>
          </p:cNvSpPr>
          <p:nvPr/>
        </p:nvSpPr>
        <p:spPr bwMode="auto">
          <a:xfrm>
            <a:off x="4610100" y="3057525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ar-SA">
              <a:latin typeface="+mj-lt"/>
            </a:endParaRPr>
          </a:p>
        </p:txBody>
      </p:sp>
      <p:sp>
        <p:nvSpPr>
          <p:cNvPr id="204826" name="Line 26"/>
          <p:cNvSpPr>
            <a:spLocks noChangeShapeType="1"/>
          </p:cNvSpPr>
          <p:nvPr/>
        </p:nvSpPr>
        <p:spPr bwMode="auto">
          <a:xfrm>
            <a:off x="4940300" y="3832225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ar-SA">
              <a:latin typeface="+mj-lt"/>
            </a:endParaRPr>
          </a:p>
        </p:txBody>
      </p:sp>
      <p:sp>
        <p:nvSpPr>
          <p:cNvPr id="204827" name="Line 27"/>
          <p:cNvSpPr>
            <a:spLocks noChangeShapeType="1"/>
          </p:cNvSpPr>
          <p:nvPr/>
        </p:nvSpPr>
        <p:spPr bwMode="auto">
          <a:xfrm>
            <a:off x="5270500" y="4594225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ar-SA">
              <a:latin typeface="+mj-lt"/>
            </a:endParaRPr>
          </a:p>
        </p:txBody>
      </p:sp>
      <p:sp>
        <p:nvSpPr>
          <p:cNvPr id="204828" name="Line 28"/>
          <p:cNvSpPr>
            <a:spLocks noChangeShapeType="1"/>
          </p:cNvSpPr>
          <p:nvPr/>
        </p:nvSpPr>
        <p:spPr bwMode="auto">
          <a:xfrm>
            <a:off x="5613400" y="5356225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ar-SA">
              <a:latin typeface="+mj-lt"/>
            </a:endParaRPr>
          </a:p>
        </p:txBody>
      </p:sp>
      <p:sp>
        <p:nvSpPr>
          <p:cNvPr id="204829" name="Text Box 29"/>
          <p:cNvSpPr txBox="1">
            <a:spLocks noChangeArrowheads="1"/>
          </p:cNvSpPr>
          <p:nvPr/>
        </p:nvSpPr>
        <p:spPr bwMode="auto">
          <a:xfrm>
            <a:off x="5651500" y="5475287"/>
            <a:ext cx="2438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rtl="0">
              <a:spcBef>
                <a:spcPct val="50000"/>
              </a:spcBef>
            </a:pPr>
            <a:r>
              <a:rPr lang="en-US" altLang="ar-SA">
                <a:latin typeface="+mj-lt"/>
              </a:rPr>
              <a:t>1 returned</a:t>
            </a:r>
          </a:p>
        </p:txBody>
      </p:sp>
      <p:sp>
        <p:nvSpPr>
          <p:cNvPr id="204830" name="Text Box 30"/>
          <p:cNvSpPr txBox="1">
            <a:spLocks noChangeArrowheads="1"/>
          </p:cNvSpPr>
          <p:nvPr/>
        </p:nvSpPr>
        <p:spPr bwMode="auto">
          <a:xfrm>
            <a:off x="5499100" y="4687887"/>
            <a:ext cx="33401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rtl="0">
              <a:spcBef>
                <a:spcPct val="50000"/>
              </a:spcBef>
            </a:pPr>
            <a:r>
              <a:rPr lang="en-US" altLang="ar-SA">
                <a:latin typeface="+mj-lt"/>
              </a:rPr>
              <a:t>2! = 2 * 1 = 2 is returned</a:t>
            </a:r>
          </a:p>
        </p:txBody>
      </p:sp>
      <p:sp>
        <p:nvSpPr>
          <p:cNvPr id="204831" name="Text Box 31"/>
          <p:cNvSpPr txBox="1">
            <a:spLocks noChangeArrowheads="1"/>
          </p:cNvSpPr>
          <p:nvPr/>
        </p:nvSpPr>
        <p:spPr bwMode="auto">
          <a:xfrm>
            <a:off x="5181600" y="3951287"/>
            <a:ext cx="33401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rtl="0">
              <a:spcBef>
                <a:spcPct val="50000"/>
              </a:spcBef>
            </a:pPr>
            <a:r>
              <a:rPr lang="en-US" altLang="ar-SA">
                <a:latin typeface="+mj-lt"/>
              </a:rPr>
              <a:t>3! = 3 * 2 = 6 is returned</a:t>
            </a:r>
          </a:p>
        </p:txBody>
      </p:sp>
      <p:sp>
        <p:nvSpPr>
          <p:cNvPr id="204832" name="Text Box 32"/>
          <p:cNvSpPr txBox="1">
            <a:spLocks noChangeArrowheads="1"/>
          </p:cNvSpPr>
          <p:nvPr/>
        </p:nvSpPr>
        <p:spPr bwMode="auto">
          <a:xfrm>
            <a:off x="4813300" y="3189287"/>
            <a:ext cx="33401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rtl="0">
              <a:spcBef>
                <a:spcPct val="50000"/>
              </a:spcBef>
            </a:pPr>
            <a:r>
              <a:rPr lang="en-US" altLang="ar-SA">
                <a:latin typeface="+mj-lt"/>
              </a:rPr>
              <a:t>4! = 4 * 6 = 24 is returned</a:t>
            </a:r>
          </a:p>
        </p:txBody>
      </p:sp>
      <p:sp>
        <p:nvSpPr>
          <p:cNvPr id="204833" name="Text Box 33"/>
          <p:cNvSpPr txBox="1">
            <a:spLocks noChangeArrowheads="1"/>
          </p:cNvSpPr>
          <p:nvPr/>
        </p:nvSpPr>
        <p:spPr bwMode="auto">
          <a:xfrm>
            <a:off x="4445000" y="2401887"/>
            <a:ext cx="33401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rtl="0">
              <a:spcBef>
                <a:spcPct val="50000"/>
              </a:spcBef>
            </a:pPr>
            <a:r>
              <a:rPr lang="en-US" altLang="ar-SA">
                <a:latin typeface="+mj-lt"/>
              </a:rPr>
              <a:t>5! = 5 * 24 = 120 is returned</a:t>
            </a:r>
          </a:p>
        </p:txBody>
      </p:sp>
      <p:sp>
        <p:nvSpPr>
          <p:cNvPr id="204834" name="Text Box 34"/>
          <p:cNvSpPr txBox="1">
            <a:spLocks noChangeArrowheads="1"/>
          </p:cNvSpPr>
          <p:nvPr/>
        </p:nvSpPr>
        <p:spPr bwMode="auto">
          <a:xfrm>
            <a:off x="4572000" y="1781175"/>
            <a:ext cx="33401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rtl="0">
              <a:spcBef>
                <a:spcPct val="50000"/>
              </a:spcBef>
            </a:pPr>
            <a:r>
              <a:rPr lang="en-US" altLang="ar-SA">
                <a:latin typeface="+mj-lt"/>
              </a:rPr>
              <a:t>Final value = 120</a:t>
            </a:r>
          </a:p>
        </p:txBody>
      </p:sp>
      <p:graphicFrame>
        <p:nvGraphicFramePr>
          <p:cNvPr id="2" name="Object 1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744267138"/>
              </p:ext>
            </p:extLst>
          </p:nvPr>
        </p:nvGraphicFramePr>
        <p:xfrm>
          <a:off x="809625" y="847725"/>
          <a:ext cx="3433763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Équation" r:id="rId2" imgW="1612800" imgH="457200" progId="Equation.3">
                  <p:embed/>
                </p:oleObj>
              </mc:Choice>
              <mc:Fallback>
                <p:oleObj name="Équation" r:id="rId2" imgW="1612800" imgH="457200" progId="Equation.3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625" y="847725"/>
                        <a:ext cx="3433763" cy="973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Rectangle 34"/>
          <p:cNvSpPr>
            <a:spLocks noChangeArrowheads="1"/>
          </p:cNvSpPr>
          <p:nvPr/>
        </p:nvSpPr>
        <p:spPr bwMode="auto">
          <a:xfrm>
            <a:off x="457200" y="76200"/>
            <a:ext cx="82296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0" eaLnBrk="1" hangingPunct="1"/>
            <a:r>
              <a:rPr lang="en-US" altLang="ar-SA" sz="4800" b="1" dirty="0">
                <a:solidFill>
                  <a:srgbClr val="000099"/>
                </a:solidFill>
                <a:latin typeface="+mj-lt"/>
                <a:ea typeface="+mj-ea"/>
                <a:cs typeface="+mj-cs"/>
              </a:rPr>
              <a:t>Recursion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(-Introduction-)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42117F-2C73-4D66-97C1-4AE4EF459FFA}" type="slidenum">
              <a:rPr lang="ar-SA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2946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0" y="1089818"/>
            <a:ext cx="4343400" cy="4525963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sz="2800" b="1" dirty="0">
                <a:solidFill>
                  <a:srgbClr val="FF0000"/>
                </a:solidFill>
                <a:latin typeface="+mj-lt"/>
              </a:rPr>
              <a:t>Recursive algorithm</a:t>
            </a:r>
          </a:p>
        </p:txBody>
      </p:sp>
      <p:graphicFrame>
        <p:nvGraphicFramePr>
          <p:cNvPr id="223236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838363400"/>
              </p:ext>
            </p:extLst>
          </p:nvPr>
        </p:nvGraphicFramePr>
        <p:xfrm>
          <a:off x="5486400" y="1752600"/>
          <a:ext cx="3030538" cy="460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Équation" r:id="rId3" imgW="1434960" imgH="2489040" progId="Equation.3">
                  <p:embed/>
                </p:oleObj>
              </mc:Choice>
              <mc:Fallback>
                <p:oleObj name="Équation" r:id="rId3" imgW="1434960" imgH="24890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1752600"/>
                        <a:ext cx="3030538" cy="460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40" name="Object 8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74049528"/>
              </p:ext>
            </p:extLst>
          </p:nvPr>
        </p:nvGraphicFramePr>
        <p:xfrm>
          <a:off x="228600" y="2205038"/>
          <a:ext cx="3505200" cy="194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معادلة" r:id="rId5" imgW="1447560" imgH="888840" progId="Equation.3">
                  <p:embed/>
                </p:oleObj>
              </mc:Choice>
              <mc:Fallback>
                <p:oleObj name="معادلة" r:id="rId5" imgW="1447560" imgH="8888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205038"/>
                        <a:ext cx="3505200" cy="1947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39" name="Rectangle 7"/>
          <p:cNvSpPr>
            <a:spLocks noChangeArrowheads="1"/>
          </p:cNvSpPr>
          <p:nvPr/>
        </p:nvSpPr>
        <p:spPr bwMode="auto">
          <a:xfrm>
            <a:off x="151483" y="1121568"/>
            <a:ext cx="4343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l" rtl="0">
              <a:spcBef>
                <a:spcPct val="20000"/>
              </a:spcBef>
              <a:buClr>
                <a:schemeClr val="hlink"/>
              </a:buClr>
              <a:buSzPct val="80000"/>
              <a:defRPr/>
            </a:pPr>
            <a:r>
              <a:rPr lang="en-US" sz="2800" b="1" dirty="0">
                <a:solidFill>
                  <a:srgbClr val="FF0000"/>
                </a:solidFill>
                <a:latin typeface="+mj-lt"/>
              </a:rPr>
              <a:t>Iterative algorithm</a:t>
            </a:r>
          </a:p>
          <a:p>
            <a:pPr algn="l" rtl="0">
              <a:spcBef>
                <a:spcPct val="20000"/>
              </a:spcBef>
              <a:buClr>
                <a:schemeClr val="hlink"/>
              </a:buClr>
              <a:buSzPct val="80000"/>
              <a:defRPr/>
            </a:pPr>
            <a:endParaRPr lang="en-US" sz="28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457200" y="76200"/>
            <a:ext cx="82296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0" eaLnBrk="1" hangingPunct="1"/>
            <a:r>
              <a:rPr lang="en-US" altLang="ar-SA" sz="4800" b="1" dirty="0">
                <a:solidFill>
                  <a:srgbClr val="000099"/>
                </a:solidFill>
                <a:latin typeface="+mj-lt"/>
                <a:ea typeface="+mj-ea"/>
                <a:cs typeface="+mj-cs"/>
              </a:rPr>
              <a:t>Factorial n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>
          <a:xfrm>
            <a:off x="184534" y="6538912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CS 2321: D.S.A (-Introduction-)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B49171-20A2-4B2E-91E4-8AB0C3DA6430}" type="slidenum">
              <a:rPr lang="ar-SA" smtClean="0"/>
              <a:pPr>
                <a:defRPr/>
              </a:pPr>
              <a:t>17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1D6575F-2E1A-271D-E31E-EBDC40EDE665}"/>
                  </a:ext>
                </a:extLst>
              </p14:cNvPr>
              <p14:cNvContentPartPr/>
              <p14:nvPr/>
            </p14:nvContentPartPr>
            <p14:xfrm rot="2632926">
              <a:off x="2680657" y="2436093"/>
              <a:ext cx="3284837" cy="3284837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1D6575F-2E1A-271D-E31E-EBDC40EDE66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 rot="2632926">
                <a:off x="2663018" y="2418094"/>
                <a:ext cx="3320475" cy="3320475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990600"/>
            <a:ext cx="4343400" cy="4525963"/>
          </a:xfrm>
        </p:spPr>
        <p:txBody>
          <a:bodyPr/>
          <a:lstStyle/>
          <a:p>
            <a:pPr algn="l" rtl="0" eaLnBrk="1" hangingPunct="1">
              <a:defRPr/>
            </a:pPr>
            <a:r>
              <a:rPr lang="en-US" sz="2800" b="1" dirty="0">
                <a:solidFill>
                  <a:srgbClr val="FF0000"/>
                </a:solidFill>
                <a:latin typeface="+mj-lt"/>
              </a:rPr>
              <a:t>Recursive process</a:t>
            </a:r>
          </a:p>
        </p:txBody>
      </p:sp>
      <p:graphicFrame>
        <p:nvGraphicFramePr>
          <p:cNvPr id="223236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158566837"/>
              </p:ext>
            </p:extLst>
          </p:nvPr>
        </p:nvGraphicFramePr>
        <p:xfrm>
          <a:off x="619125" y="1524000"/>
          <a:ext cx="3030538" cy="525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34960" imgH="2489040" progId="Equation.3">
                  <p:embed/>
                </p:oleObj>
              </mc:Choice>
              <mc:Fallback>
                <p:oleObj name="Equation" r:id="rId3" imgW="1434960" imgH="248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125" y="1524000"/>
                        <a:ext cx="3030538" cy="525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092" y="2057401"/>
            <a:ext cx="4873508" cy="4114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57200" y="76200"/>
            <a:ext cx="82296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0" eaLnBrk="1" hangingPunct="1"/>
            <a:r>
              <a:rPr lang="en-US" altLang="ar-SA" sz="4800" b="1" dirty="0">
                <a:solidFill>
                  <a:srgbClr val="000099"/>
                </a:solidFill>
                <a:latin typeface="+mj-lt"/>
                <a:ea typeface="+mj-ea"/>
                <a:cs typeface="+mj-cs"/>
              </a:rPr>
              <a:t>Factorial n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(-Introduction-)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B49171-20A2-4B2E-91E4-8AB0C3DA6430}" type="slidenum">
              <a:rPr lang="ar-SA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882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3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3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ChangeArrowheads="1"/>
          </p:cNvSpPr>
          <p:nvPr>
            <p:ph idx="1"/>
          </p:nvPr>
        </p:nvSpPr>
        <p:spPr>
          <a:xfrm>
            <a:off x="304800" y="1828800"/>
            <a:ext cx="4038600" cy="4648200"/>
          </a:xfrm>
        </p:spPr>
        <p:txBody>
          <a:bodyPr/>
          <a:lstStyle/>
          <a:p>
            <a:pPr marL="0" indent="0" algn="l" rtl="0" eaLnBrk="1" hangingPunct="1">
              <a:lnSpc>
                <a:spcPct val="90000"/>
              </a:lnSpc>
              <a:buNone/>
              <a:defRPr/>
            </a:pPr>
            <a:r>
              <a:rPr lang="en-US" sz="2800" b="1" dirty="0">
                <a:solidFill>
                  <a:srgbClr val="FF0000"/>
                </a:solidFill>
                <a:latin typeface="+mj-lt"/>
              </a:rPr>
              <a:t>Using recursion</a:t>
            </a:r>
          </a:p>
          <a:p>
            <a:pPr algn="l" rtl="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800" dirty="0">
                <a:latin typeface="+mj-lt"/>
              </a:rPr>
              <a:t>   </a:t>
            </a:r>
            <a:r>
              <a:rPr lang="en-US" sz="2000" dirty="0">
                <a:latin typeface="+mj-lt"/>
              </a:rPr>
              <a:t>fib (int n)</a:t>
            </a:r>
          </a:p>
          <a:p>
            <a:pPr algn="l" rtl="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000" dirty="0">
                <a:latin typeface="+mj-lt"/>
              </a:rPr>
              <a:t>	{  </a:t>
            </a:r>
          </a:p>
          <a:p>
            <a:pPr algn="l" rtl="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000" dirty="0">
                <a:latin typeface="+mj-lt"/>
              </a:rPr>
              <a:t>        int x, y;</a:t>
            </a:r>
          </a:p>
          <a:p>
            <a:pPr algn="l" rtl="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000" dirty="0">
                <a:latin typeface="+mj-lt"/>
              </a:rPr>
              <a:t>	    if (n &lt;= 1) </a:t>
            </a:r>
          </a:p>
          <a:p>
            <a:pPr algn="l" rtl="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000" dirty="0">
                <a:latin typeface="+mj-lt"/>
              </a:rPr>
              <a:t>		return (n);</a:t>
            </a:r>
          </a:p>
          <a:p>
            <a:pPr algn="l" rtl="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000" dirty="0">
                <a:latin typeface="+mj-lt"/>
              </a:rPr>
              <a:t>	    else</a:t>
            </a:r>
          </a:p>
          <a:p>
            <a:pPr lvl="1" algn="l" rtl="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000" dirty="0">
                <a:latin typeface="+mj-lt"/>
              </a:rPr>
              <a:t>  { </a:t>
            </a:r>
          </a:p>
          <a:p>
            <a:pPr lvl="1" algn="l" rtl="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000" dirty="0">
                <a:latin typeface="+mj-lt"/>
              </a:rPr>
              <a:t>     x = fib (n - 1);</a:t>
            </a:r>
          </a:p>
          <a:p>
            <a:pPr lvl="1" algn="l" rtl="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000" dirty="0">
                <a:latin typeface="+mj-lt"/>
              </a:rPr>
              <a:t>	 y = fib (n - 2);</a:t>
            </a:r>
          </a:p>
          <a:p>
            <a:pPr lvl="1" algn="l" rtl="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000" dirty="0">
                <a:latin typeface="+mj-lt"/>
              </a:rPr>
              <a:t>	 return (x + y);</a:t>
            </a:r>
          </a:p>
          <a:p>
            <a:pPr lvl="1" algn="l" rtl="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000" dirty="0">
                <a:latin typeface="+mj-lt"/>
              </a:rPr>
              <a:t>  }</a:t>
            </a:r>
          </a:p>
          <a:p>
            <a:pPr lvl="1" algn="l" rtl="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000" dirty="0">
                <a:latin typeface="+mj-lt"/>
              </a:rPr>
              <a:t>}</a:t>
            </a:r>
          </a:p>
        </p:txBody>
      </p:sp>
      <p:sp>
        <p:nvSpPr>
          <p:cNvPr id="225283" name="Rectangle 3"/>
          <p:cNvSpPr>
            <a:spLocks noChangeArrowheads="1"/>
          </p:cNvSpPr>
          <p:nvPr/>
        </p:nvSpPr>
        <p:spPr bwMode="auto">
          <a:xfrm>
            <a:off x="4478338" y="1752600"/>
            <a:ext cx="4056062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l" rtl="0">
              <a:spcBef>
                <a:spcPct val="20000"/>
              </a:spcBef>
              <a:buClr>
                <a:schemeClr val="hlink"/>
              </a:buClr>
              <a:buSzPct val="80000"/>
              <a:defRPr/>
            </a:pPr>
            <a:r>
              <a:rPr lang="en-US" sz="2800" b="1" dirty="0">
                <a:solidFill>
                  <a:srgbClr val="FF0000"/>
                </a:solidFill>
                <a:latin typeface="+mj-lt"/>
              </a:rPr>
              <a:t>Using iterative</a:t>
            </a:r>
          </a:p>
          <a:p>
            <a:pPr marL="742950" lvl="1" indent="-285750" algn="l" rtl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None/>
              <a:defRPr/>
            </a:pPr>
            <a:r>
              <a:rPr lang="en-US" sz="2000" dirty="0">
                <a:latin typeface="+mj-lt"/>
                <a:cs typeface="+mn-cs"/>
              </a:rPr>
              <a:t>if (n &lt;= 1) </a:t>
            </a:r>
          </a:p>
          <a:p>
            <a:pPr marL="742950" lvl="1" indent="-285750" algn="l" rtl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None/>
              <a:defRPr/>
            </a:pPr>
            <a:r>
              <a:rPr lang="en-US" sz="2000" dirty="0">
                <a:latin typeface="+mj-lt"/>
                <a:cs typeface="+mn-cs"/>
              </a:rPr>
              <a:t>     return (n);</a:t>
            </a:r>
          </a:p>
          <a:p>
            <a:pPr marL="742950" lvl="1" indent="-285750" algn="l" rtl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None/>
              <a:defRPr/>
            </a:pPr>
            <a:r>
              <a:rPr lang="en-US" sz="2000" dirty="0" err="1">
                <a:latin typeface="+mj-lt"/>
                <a:cs typeface="+mn-cs"/>
              </a:rPr>
              <a:t>lofib</a:t>
            </a:r>
            <a:r>
              <a:rPr lang="en-US" sz="2000" dirty="0">
                <a:latin typeface="+mj-lt"/>
                <a:cs typeface="+mn-cs"/>
              </a:rPr>
              <a:t> = 0;</a:t>
            </a:r>
          </a:p>
          <a:p>
            <a:pPr marL="742950" lvl="1" indent="-285750" algn="l" rtl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None/>
              <a:defRPr/>
            </a:pPr>
            <a:r>
              <a:rPr lang="en-US" sz="2000" dirty="0" err="1">
                <a:latin typeface="+mj-lt"/>
                <a:cs typeface="+mn-cs"/>
              </a:rPr>
              <a:t>hifib</a:t>
            </a:r>
            <a:r>
              <a:rPr lang="en-US" sz="2000" dirty="0">
                <a:latin typeface="+mj-lt"/>
                <a:cs typeface="+mn-cs"/>
              </a:rPr>
              <a:t> = 1;</a:t>
            </a:r>
          </a:p>
          <a:p>
            <a:pPr marL="742950" lvl="1" indent="-285750" algn="l" rtl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None/>
              <a:defRPr/>
            </a:pPr>
            <a:r>
              <a:rPr lang="en-US" sz="2000" dirty="0">
                <a:latin typeface="+mj-lt"/>
                <a:cs typeface="+mn-cs"/>
              </a:rPr>
              <a:t>for (</a:t>
            </a:r>
            <a:r>
              <a:rPr lang="en-US" sz="2000" dirty="0" err="1">
                <a:latin typeface="+mj-lt"/>
                <a:cs typeface="+mn-cs"/>
              </a:rPr>
              <a:t>i</a:t>
            </a:r>
            <a:r>
              <a:rPr lang="en-US" sz="2000" dirty="0">
                <a:latin typeface="+mj-lt"/>
                <a:cs typeface="+mn-cs"/>
              </a:rPr>
              <a:t>=2; </a:t>
            </a:r>
            <a:r>
              <a:rPr lang="en-US" sz="2000" dirty="0" err="1">
                <a:latin typeface="+mj-lt"/>
                <a:cs typeface="+mn-cs"/>
              </a:rPr>
              <a:t>i</a:t>
            </a:r>
            <a:r>
              <a:rPr lang="en-US" sz="2000" dirty="0">
                <a:latin typeface="+mj-lt"/>
                <a:cs typeface="+mn-cs"/>
              </a:rPr>
              <a:t>&lt;=n; </a:t>
            </a:r>
            <a:r>
              <a:rPr lang="en-US" sz="2000" dirty="0" err="1">
                <a:latin typeface="+mj-lt"/>
                <a:cs typeface="+mn-cs"/>
              </a:rPr>
              <a:t>i</a:t>
            </a:r>
            <a:r>
              <a:rPr lang="en-US" sz="2000" dirty="0">
                <a:latin typeface="+mj-lt"/>
                <a:cs typeface="+mn-cs"/>
              </a:rPr>
              <a:t>++)</a:t>
            </a:r>
          </a:p>
          <a:p>
            <a:pPr marL="742950" lvl="1" indent="-285750" algn="l" rtl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None/>
              <a:defRPr/>
            </a:pPr>
            <a:r>
              <a:rPr lang="en-US" sz="2000" dirty="0">
                <a:latin typeface="+mj-lt"/>
                <a:cs typeface="+mn-cs"/>
              </a:rPr>
              <a:t>{  </a:t>
            </a:r>
          </a:p>
          <a:p>
            <a:pPr marL="742950" lvl="1" indent="-285750" algn="l" rtl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None/>
              <a:defRPr/>
            </a:pPr>
            <a:r>
              <a:rPr lang="en-US" sz="2000" dirty="0">
                <a:latin typeface="+mj-lt"/>
                <a:cs typeface="+mn-cs"/>
              </a:rPr>
              <a:t>   	x = </a:t>
            </a:r>
            <a:r>
              <a:rPr lang="en-US" sz="2000" dirty="0" err="1">
                <a:latin typeface="+mj-lt"/>
                <a:cs typeface="+mn-cs"/>
              </a:rPr>
              <a:t>lofib</a:t>
            </a:r>
            <a:r>
              <a:rPr lang="en-US" sz="2000" dirty="0">
                <a:latin typeface="+mj-lt"/>
                <a:cs typeface="+mn-cs"/>
              </a:rPr>
              <a:t>;</a:t>
            </a:r>
          </a:p>
          <a:p>
            <a:pPr marL="742950" lvl="1" indent="-285750" algn="l" rtl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None/>
              <a:defRPr/>
            </a:pPr>
            <a:r>
              <a:rPr lang="en-US" sz="2000" dirty="0">
                <a:latin typeface="+mj-lt"/>
                <a:cs typeface="+mn-cs"/>
              </a:rPr>
              <a:t>	</a:t>
            </a:r>
            <a:r>
              <a:rPr lang="en-US" sz="2000" dirty="0" err="1">
                <a:latin typeface="+mj-lt"/>
                <a:cs typeface="+mn-cs"/>
              </a:rPr>
              <a:t>lofib</a:t>
            </a:r>
            <a:r>
              <a:rPr lang="en-US" sz="2000" dirty="0">
                <a:latin typeface="+mj-lt"/>
                <a:cs typeface="+mn-cs"/>
              </a:rPr>
              <a:t> = </a:t>
            </a:r>
            <a:r>
              <a:rPr lang="en-US" sz="2000" dirty="0" err="1">
                <a:latin typeface="+mj-lt"/>
                <a:cs typeface="+mn-cs"/>
              </a:rPr>
              <a:t>hifib</a:t>
            </a:r>
            <a:r>
              <a:rPr lang="en-US" sz="2000" dirty="0">
                <a:latin typeface="+mj-lt"/>
                <a:cs typeface="+mn-cs"/>
              </a:rPr>
              <a:t>;</a:t>
            </a:r>
          </a:p>
          <a:p>
            <a:pPr marL="742950" lvl="1" indent="-285750" algn="l" rtl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None/>
              <a:defRPr/>
            </a:pPr>
            <a:r>
              <a:rPr lang="en-US" sz="2000" dirty="0">
                <a:latin typeface="+mj-lt"/>
                <a:cs typeface="+mn-cs"/>
              </a:rPr>
              <a:t>	</a:t>
            </a:r>
            <a:r>
              <a:rPr lang="en-US" sz="2000" dirty="0" err="1">
                <a:latin typeface="+mj-lt"/>
                <a:cs typeface="+mn-cs"/>
              </a:rPr>
              <a:t>hifib</a:t>
            </a:r>
            <a:r>
              <a:rPr lang="en-US" sz="2000" dirty="0">
                <a:latin typeface="+mj-lt"/>
                <a:cs typeface="+mn-cs"/>
              </a:rPr>
              <a:t> = x + </a:t>
            </a:r>
            <a:r>
              <a:rPr lang="en-US" sz="2000" dirty="0" err="1">
                <a:latin typeface="+mj-lt"/>
                <a:cs typeface="+mn-cs"/>
              </a:rPr>
              <a:t>lofib</a:t>
            </a:r>
            <a:r>
              <a:rPr lang="en-US" sz="2000" dirty="0">
                <a:latin typeface="+mj-lt"/>
                <a:cs typeface="+mn-cs"/>
              </a:rPr>
              <a:t>;</a:t>
            </a:r>
          </a:p>
          <a:p>
            <a:pPr marL="742950" lvl="1" indent="-285750" algn="l" rtl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None/>
              <a:defRPr/>
            </a:pPr>
            <a:r>
              <a:rPr lang="en-US" sz="2000" dirty="0">
                <a:latin typeface="+mj-lt"/>
                <a:cs typeface="+mn-cs"/>
              </a:rPr>
              <a:t>}</a:t>
            </a:r>
          </a:p>
          <a:p>
            <a:pPr marL="742950" lvl="1" indent="-285750" algn="l" rtl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None/>
              <a:defRPr/>
            </a:pPr>
            <a:r>
              <a:rPr lang="en-US" sz="2000" dirty="0">
                <a:latin typeface="+mj-lt"/>
                <a:cs typeface="+mn-cs"/>
              </a:rPr>
              <a:t>return (</a:t>
            </a:r>
            <a:r>
              <a:rPr lang="en-US" sz="2000" dirty="0" err="1">
                <a:latin typeface="+mj-lt"/>
                <a:cs typeface="+mn-cs"/>
              </a:rPr>
              <a:t>hifib</a:t>
            </a:r>
            <a:r>
              <a:rPr lang="en-US" sz="2000" dirty="0">
                <a:latin typeface="+mj-lt"/>
                <a:cs typeface="+mn-cs"/>
              </a:rPr>
              <a:t>);</a:t>
            </a:r>
          </a:p>
        </p:txBody>
      </p:sp>
      <p:sp>
        <p:nvSpPr>
          <p:cNvPr id="225285" name="Rectangle 5"/>
          <p:cNvSpPr>
            <a:spLocks noChangeArrowheads="1"/>
          </p:cNvSpPr>
          <p:nvPr/>
        </p:nvSpPr>
        <p:spPr bwMode="auto">
          <a:xfrm>
            <a:off x="228600" y="1143000"/>
            <a:ext cx="8534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l" rtl="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sz="2800" i="1" dirty="0">
                <a:latin typeface="+mj-lt"/>
              </a:rPr>
              <a:t>F</a:t>
            </a:r>
            <a:r>
              <a:rPr lang="en-US" sz="2800" i="1" baseline="-25000" dirty="0">
                <a:latin typeface="+mj-lt"/>
              </a:rPr>
              <a:t>i </a:t>
            </a:r>
            <a:r>
              <a:rPr lang="en-US" sz="2800" dirty="0">
                <a:latin typeface="+mj-lt"/>
              </a:rPr>
              <a:t>=</a:t>
            </a:r>
            <a:r>
              <a:rPr lang="en-US" sz="2800" i="1" dirty="0">
                <a:latin typeface="+mj-lt"/>
              </a:rPr>
              <a:t> F</a:t>
            </a:r>
            <a:r>
              <a:rPr lang="en-US" sz="2800" i="1" baseline="-25000" dirty="0">
                <a:latin typeface="+mj-lt"/>
              </a:rPr>
              <a:t>i</a:t>
            </a:r>
            <a:r>
              <a:rPr lang="en-US" sz="2800" baseline="-25000" dirty="0">
                <a:latin typeface="+mj-lt"/>
              </a:rPr>
              <a:t>-1</a:t>
            </a:r>
            <a:r>
              <a:rPr lang="en-US" sz="2800" i="1" baseline="-25000" dirty="0">
                <a:latin typeface="+mj-lt"/>
              </a:rPr>
              <a:t> </a:t>
            </a:r>
            <a:r>
              <a:rPr lang="en-US" sz="2800" dirty="0">
                <a:latin typeface="+mj-lt"/>
              </a:rPr>
              <a:t>+</a:t>
            </a:r>
            <a:r>
              <a:rPr lang="en-US" sz="2800" i="1" dirty="0">
                <a:latin typeface="+mj-lt"/>
              </a:rPr>
              <a:t> F</a:t>
            </a:r>
            <a:r>
              <a:rPr lang="en-US" sz="2800" i="1" baseline="-25000" dirty="0">
                <a:latin typeface="+mj-lt"/>
              </a:rPr>
              <a:t>i</a:t>
            </a:r>
            <a:r>
              <a:rPr lang="en-US" sz="2800" baseline="-25000" dirty="0">
                <a:latin typeface="+mj-lt"/>
              </a:rPr>
              <a:t>-2</a:t>
            </a:r>
            <a:r>
              <a:rPr lang="en-US" sz="2800" i="1" baseline="-25000" dirty="0">
                <a:latin typeface="+mj-lt"/>
              </a:rPr>
              <a:t>  </a:t>
            </a:r>
            <a:r>
              <a:rPr lang="en-US" sz="2800" dirty="0">
                <a:latin typeface="+mj-lt"/>
              </a:rPr>
              <a:t>for</a:t>
            </a:r>
            <a:r>
              <a:rPr lang="en-US" sz="2800" i="1" dirty="0">
                <a:latin typeface="+mj-lt"/>
              </a:rPr>
              <a:t> </a:t>
            </a:r>
            <a:r>
              <a:rPr lang="en-US" sz="2800" i="1" dirty="0" err="1">
                <a:latin typeface="+mj-lt"/>
              </a:rPr>
              <a:t>i</a:t>
            </a:r>
            <a:r>
              <a:rPr lang="en-US" sz="2800" i="1" dirty="0">
                <a:latin typeface="+mj-lt"/>
              </a:rPr>
              <a:t> </a:t>
            </a:r>
            <a:r>
              <a:rPr lang="en-US" sz="2800" dirty="0">
                <a:latin typeface="+mj-lt"/>
              </a:rPr>
              <a:t>&gt;</a:t>
            </a:r>
            <a:r>
              <a:rPr lang="en-US" sz="2800" i="1" dirty="0">
                <a:latin typeface="+mj-lt"/>
              </a:rPr>
              <a:t> </a:t>
            </a:r>
            <a:r>
              <a:rPr lang="en-US" sz="2800" dirty="0">
                <a:latin typeface="+mj-lt"/>
              </a:rPr>
              <a:t>1</a:t>
            </a:r>
            <a:r>
              <a:rPr lang="en-US" sz="2800" i="1" dirty="0">
                <a:latin typeface="+mj-lt"/>
              </a:rPr>
              <a:t> </a:t>
            </a:r>
            <a:r>
              <a:rPr lang="en-US" sz="2800" dirty="0">
                <a:latin typeface="+mj-lt"/>
              </a:rPr>
              <a:t>where </a:t>
            </a:r>
            <a:r>
              <a:rPr lang="en-US" sz="2800" i="1" dirty="0">
                <a:latin typeface="+mj-lt"/>
              </a:rPr>
              <a:t>F</a:t>
            </a:r>
            <a:r>
              <a:rPr lang="en-US" sz="2800" baseline="-25000" dirty="0">
                <a:latin typeface="+mj-lt"/>
              </a:rPr>
              <a:t>0</a:t>
            </a:r>
            <a:r>
              <a:rPr lang="en-US" sz="2800" i="1" baseline="-25000" dirty="0">
                <a:latin typeface="+mj-lt"/>
              </a:rPr>
              <a:t> </a:t>
            </a:r>
            <a:r>
              <a:rPr lang="en-US" sz="2800" dirty="0">
                <a:latin typeface="+mj-lt"/>
              </a:rPr>
              <a:t>=</a:t>
            </a:r>
            <a:r>
              <a:rPr lang="en-US" sz="2800" i="1" dirty="0">
                <a:latin typeface="+mj-lt"/>
              </a:rPr>
              <a:t> </a:t>
            </a:r>
            <a:r>
              <a:rPr lang="en-US" sz="2800" dirty="0">
                <a:latin typeface="+mj-lt"/>
              </a:rPr>
              <a:t>0</a:t>
            </a:r>
            <a:r>
              <a:rPr lang="en-US" sz="2800" i="1" dirty="0">
                <a:latin typeface="+mj-lt"/>
              </a:rPr>
              <a:t>, F</a:t>
            </a:r>
            <a:r>
              <a:rPr lang="en-US" sz="2800" baseline="-25000" dirty="0">
                <a:latin typeface="+mj-lt"/>
              </a:rPr>
              <a:t>1 </a:t>
            </a:r>
            <a:r>
              <a:rPr lang="en-US" sz="2800" i="1" dirty="0">
                <a:latin typeface="+mj-lt"/>
              </a:rPr>
              <a:t>=</a:t>
            </a:r>
            <a:r>
              <a:rPr lang="en-US" sz="2800" dirty="0">
                <a:latin typeface="+mj-lt"/>
              </a:rPr>
              <a:t> 1</a:t>
            </a:r>
            <a:r>
              <a:rPr lang="en-US" sz="2800" i="1" dirty="0">
                <a:latin typeface="+mj-lt"/>
              </a:rPr>
              <a:t>.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57200" y="76200"/>
            <a:ext cx="82296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0" eaLnBrk="1" hangingPunct="1"/>
            <a:r>
              <a:rPr lang="en-US" altLang="ar-SA" sz="4800" b="1" dirty="0">
                <a:solidFill>
                  <a:srgbClr val="000099"/>
                </a:solidFill>
                <a:latin typeface="+mj-lt"/>
                <a:ea typeface="+mj-ea"/>
                <a:cs typeface="+mj-cs"/>
              </a:rPr>
              <a:t>Fibonacci numbers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(-Introduction-)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42117F-2C73-4D66-97C1-4AE4EF459FFA}" type="slidenum">
              <a:rPr lang="ar-SA" smtClean="0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5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5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25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5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5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5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5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5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5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5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52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52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252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252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52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52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252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252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252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252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283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Grp="1" noChangeArrowheads="1"/>
          </p:cNvSpPr>
          <p:nvPr>
            <p:ph idx="1"/>
          </p:nvPr>
        </p:nvSpPr>
        <p:spPr>
          <a:xfrm>
            <a:off x="88900" y="914400"/>
            <a:ext cx="8915400" cy="5715000"/>
          </a:xfrm>
        </p:spPr>
        <p:txBody>
          <a:bodyPr/>
          <a:lstStyle/>
          <a:p>
            <a:pPr marL="0" indent="0" algn="just" rtl="0" eaLnBrk="1" hangingPunct="1">
              <a:buNone/>
              <a:defRPr/>
            </a:pPr>
            <a:r>
              <a:rPr lang="en-US" sz="2800" dirty="0">
                <a:latin typeface="+mj-lt"/>
              </a:rPr>
              <a:t>Four Basic Rules of Recursion:</a:t>
            </a:r>
            <a:endParaRPr lang="en-US" sz="2000" dirty="0">
              <a:latin typeface="+mj-lt"/>
            </a:endParaRPr>
          </a:p>
          <a:p>
            <a:pPr algn="just" rtl="0" eaLnBrk="1" hangingPunct="1">
              <a:buFont typeface="Wingdings" pitchFamily="2" charset="2"/>
              <a:buNone/>
              <a:defRPr/>
            </a:pPr>
            <a:r>
              <a:rPr lang="en-US" sz="2800" dirty="0">
                <a:latin typeface="+mj-lt"/>
              </a:rPr>
              <a:t>(1) </a:t>
            </a:r>
            <a:r>
              <a:rPr lang="en-US" sz="2800" b="1" dirty="0">
                <a:solidFill>
                  <a:srgbClr val="FF0000"/>
                </a:solidFill>
                <a:latin typeface="+mj-lt"/>
              </a:rPr>
              <a:t>Base cases:</a:t>
            </a:r>
            <a:r>
              <a:rPr lang="en-US" sz="2800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800" dirty="0">
                <a:latin typeface="+mj-lt"/>
              </a:rPr>
              <a:t>You must always have some base cases, which can be solved without recursion.</a:t>
            </a:r>
          </a:p>
          <a:p>
            <a:pPr algn="just" rtl="0" eaLnBrk="1" hangingPunct="1">
              <a:buFont typeface="Wingdings" pitchFamily="2" charset="2"/>
              <a:buNone/>
              <a:defRPr/>
            </a:pPr>
            <a:r>
              <a:rPr lang="en-US" sz="2800" dirty="0">
                <a:latin typeface="+mj-lt"/>
              </a:rPr>
              <a:t>(2) </a:t>
            </a:r>
            <a:r>
              <a:rPr lang="en-US" sz="2800" b="1" dirty="0">
                <a:solidFill>
                  <a:srgbClr val="FF0000"/>
                </a:solidFill>
                <a:latin typeface="+mj-lt"/>
              </a:rPr>
              <a:t>Making progress:</a:t>
            </a:r>
            <a:r>
              <a:rPr lang="en-US" sz="2800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800" dirty="0">
                <a:latin typeface="+mj-lt"/>
              </a:rPr>
              <a:t>For the cases that are to be solved recursively, the recursive call must always be to a case that makes progress toward a base case.</a:t>
            </a:r>
          </a:p>
          <a:p>
            <a:pPr algn="just" rtl="0" eaLnBrk="1" hangingPunct="1">
              <a:buFont typeface="Wingdings" pitchFamily="2" charset="2"/>
              <a:buNone/>
              <a:defRPr/>
            </a:pPr>
            <a:r>
              <a:rPr lang="en-US" sz="2800" dirty="0">
                <a:latin typeface="+mj-lt"/>
              </a:rPr>
              <a:t>(3) </a:t>
            </a:r>
            <a:r>
              <a:rPr lang="en-US" sz="2800" b="1" dirty="0">
                <a:solidFill>
                  <a:srgbClr val="FF0000"/>
                </a:solidFill>
                <a:latin typeface="+mj-lt"/>
              </a:rPr>
              <a:t>Design rule:</a:t>
            </a:r>
            <a:r>
              <a:rPr lang="en-US" sz="2800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800" dirty="0">
                <a:latin typeface="+mj-lt"/>
              </a:rPr>
              <a:t>Assume that all the recursive calls work.</a:t>
            </a:r>
          </a:p>
          <a:p>
            <a:pPr algn="just" rtl="0" eaLnBrk="1" hangingPunct="1">
              <a:buFont typeface="Wingdings" pitchFamily="2" charset="2"/>
              <a:buNone/>
              <a:defRPr/>
            </a:pPr>
            <a:r>
              <a:rPr lang="en-US" sz="2800" dirty="0">
                <a:latin typeface="+mj-lt"/>
              </a:rPr>
              <a:t>(4) </a:t>
            </a:r>
            <a:r>
              <a:rPr lang="en-US" sz="2800" b="1" dirty="0">
                <a:solidFill>
                  <a:srgbClr val="FF0000"/>
                </a:solidFill>
                <a:latin typeface="+mj-lt"/>
              </a:rPr>
              <a:t>Compound interest rule:</a:t>
            </a:r>
            <a:r>
              <a:rPr lang="en-US" sz="2800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800" dirty="0">
                <a:latin typeface="+mj-lt"/>
              </a:rPr>
              <a:t>Never duplicate work by solving the same instance of a problem in separate recursive calls (i.e., it is a bad idea to use recursion to evaluate Fibonacci numbers). 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57200" y="76200"/>
            <a:ext cx="82296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0" eaLnBrk="1" hangingPunct="1"/>
            <a:r>
              <a:rPr lang="en-US" altLang="ar-SA" sz="4800" b="1" dirty="0">
                <a:solidFill>
                  <a:srgbClr val="000099"/>
                </a:solidFill>
                <a:latin typeface="+mj-lt"/>
                <a:ea typeface="+mj-ea"/>
                <a:cs typeface="+mj-cs"/>
              </a:rPr>
              <a:t>Recursion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CS 2321: D.S.A (-Introduction-)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42117F-2C73-4D66-97C1-4AE4EF459FFA}" type="slidenum">
              <a:rPr lang="ar-SA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idx="1"/>
          </p:nvPr>
        </p:nvSpPr>
        <p:spPr>
          <a:xfrm>
            <a:off x="88900" y="914400"/>
            <a:ext cx="8915400" cy="5715000"/>
          </a:xfrm>
        </p:spPr>
        <p:txBody>
          <a:bodyPr/>
          <a:lstStyle/>
          <a:p>
            <a:pPr marL="0" indent="0" algn="l" rtl="0">
              <a:buNone/>
            </a:pPr>
            <a:endParaRPr lang="fr-FR" sz="2800" dirty="0">
              <a:effectLst/>
            </a:endParaRPr>
          </a:p>
          <a:p>
            <a:pPr marL="0" indent="0" algn="l" rtl="0">
              <a:buNone/>
            </a:pPr>
            <a:r>
              <a:rPr lang="fr-FR" sz="2800" dirty="0">
                <a:effectLst/>
              </a:rPr>
              <a:t>1     </a:t>
            </a:r>
            <a:r>
              <a:rPr lang="fr-FR" sz="2800" dirty="0" err="1">
                <a:effectLst/>
              </a:rPr>
              <a:t>void</a:t>
            </a:r>
            <a:r>
              <a:rPr lang="fr-FR" sz="2800" dirty="0">
                <a:effectLst/>
              </a:rPr>
              <a:t> </a:t>
            </a:r>
            <a:r>
              <a:rPr lang="fr-FR" sz="2800" dirty="0" err="1">
                <a:effectLst/>
              </a:rPr>
              <a:t>printOut</a:t>
            </a:r>
            <a:r>
              <a:rPr lang="fr-FR" sz="2800" dirty="0">
                <a:effectLst/>
              </a:rPr>
              <a:t>( </a:t>
            </a:r>
            <a:r>
              <a:rPr lang="fr-FR" sz="2800" dirty="0" err="1">
                <a:effectLst/>
              </a:rPr>
              <a:t>int</a:t>
            </a:r>
            <a:r>
              <a:rPr lang="fr-FR" sz="2800" dirty="0">
                <a:effectLst/>
              </a:rPr>
              <a:t> n ) // </a:t>
            </a:r>
            <a:r>
              <a:rPr lang="fr-FR" sz="2800" dirty="0" err="1">
                <a:effectLst/>
              </a:rPr>
              <a:t>Print</a:t>
            </a:r>
            <a:r>
              <a:rPr lang="fr-FR" sz="2800" dirty="0">
                <a:effectLst/>
              </a:rPr>
              <a:t> </a:t>
            </a:r>
            <a:r>
              <a:rPr lang="fr-FR" sz="2800" dirty="0" err="1">
                <a:effectLst/>
              </a:rPr>
              <a:t>nonnegative</a:t>
            </a:r>
            <a:r>
              <a:rPr lang="fr-FR" sz="2800" dirty="0">
                <a:effectLst/>
              </a:rPr>
              <a:t> n</a:t>
            </a:r>
            <a:endParaRPr lang="en-US" sz="2800" dirty="0">
              <a:effectLst/>
            </a:endParaRPr>
          </a:p>
          <a:p>
            <a:pPr marL="0" indent="0" algn="l" rtl="0">
              <a:buNone/>
            </a:pPr>
            <a:r>
              <a:rPr lang="en-US" sz="2800" dirty="0">
                <a:effectLst/>
              </a:rPr>
              <a:t>2     {</a:t>
            </a:r>
            <a:endParaRPr lang="ar-SA" sz="2800" dirty="0">
              <a:effectLst/>
            </a:endParaRPr>
          </a:p>
          <a:p>
            <a:pPr marL="0" indent="0" algn="l" rtl="0">
              <a:buNone/>
            </a:pPr>
            <a:r>
              <a:rPr lang="en-US" sz="2800" dirty="0">
                <a:effectLst/>
              </a:rPr>
              <a:t>3 		if( n &gt;= 10 )</a:t>
            </a:r>
          </a:p>
          <a:p>
            <a:pPr marL="0" indent="0" algn="l" rtl="0">
              <a:buNone/>
            </a:pPr>
            <a:r>
              <a:rPr lang="en-US" sz="2800" dirty="0">
                <a:effectLst/>
              </a:rPr>
              <a:t>4 			</a:t>
            </a:r>
            <a:r>
              <a:rPr lang="en-US" sz="2800" dirty="0" err="1">
                <a:effectLst/>
              </a:rPr>
              <a:t>printOut</a:t>
            </a:r>
            <a:r>
              <a:rPr lang="en-US" sz="2800" dirty="0">
                <a:effectLst/>
              </a:rPr>
              <a:t>( n / 10 );</a:t>
            </a:r>
          </a:p>
          <a:p>
            <a:pPr marL="0" indent="0" algn="l" rtl="0">
              <a:buNone/>
            </a:pPr>
            <a:r>
              <a:rPr lang="en-US" sz="2800" dirty="0">
                <a:effectLst/>
              </a:rPr>
              <a:t>5 		</a:t>
            </a:r>
            <a:r>
              <a:rPr lang="en-US" sz="2800" dirty="0" err="1">
                <a:effectLst/>
              </a:rPr>
              <a:t>printDigit</a:t>
            </a:r>
            <a:r>
              <a:rPr lang="en-US" sz="2800" dirty="0">
                <a:effectLst/>
              </a:rPr>
              <a:t>( n % 10 );</a:t>
            </a:r>
          </a:p>
          <a:p>
            <a:pPr marL="0" indent="0" algn="l" rtl="0">
              <a:buNone/>
            </a:pPr>
            <a:r>
              <a:rPr lang="en-US" sz="2800" dirty="0">
                <a:effectLst/>
              </a:rPr>
              <a:t>6     }</a:t>
            </a:r>
          </a:p>
          <a:p>
            <a:pPr marL="0" indent="0" algn="l" rtl="0">
              <a:buNone/>
            </a:pPr>
            <a:endParaRPr lang="en-US" sz="2800" dirty="0">
              <a:effectLst/>
            </a:endParaRPr>
          </a:p>
          <a:p>
            <a:pPr marL="0" indent="0" algn="l" rtl="0">
              <a:buNone/>
            </a:pPr>
            <a:r>
              <a:rPr lang="en-US" sz="2800" dirty="0">
                <a:latin typeface="+mj-lt"/>
              </a:rPr>
              <a:t>Recursive routine to print an integer</a:t>
            </a:r>
          </a:p>
          <a:p>
            <a:pPr marL="0" indent="0" algn="l" rtl="0">
              <a:buNone/>
            </a:pPr>
            <a:endParaRPr lang="en-US" sz="2800" dirty="0">
              <a:effectLst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57200" y="76200"/>
            <a:ext cx="82296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0" eaLnBrk="1" hangingPunct="1"/>
            <a:r>
              <a:rPr lang="en-US" altLang="ar-SA" sz="4800" b="1" dirty="0">
                <a:solidFill>
                  <a:srgbClr val="000099"/>
                </a:solidFill>
                <a:latin typeface="+mj-lt"/>
                <a:ea typeface="+mj-ea"/>
                <a:cs typeface="+mj-cs"/>
              </a:rPr>
              <a:t>Recursion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(-Introduction-)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42117F-2C73-4D66-97C1-4AE4EF459FFA}" type="slidenum">
              <a:rPr lang="ar-SA" smtClean="0"/>
              <a:pPr>
                <a:defRPr/>
              </a:pPr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/>
          <p:cNvSpPr>
            <a:spLocks noGrp="1" noChangeArrowheads="1"/>
          </p:cNvSpPr>
          <p:nvPr>
            <p:ph idx="1"/>
          </p:nvPr>
        </p:nvSpPr>
        <p:spPr>
          <a:xfrm>
            <a:off x="88900" y="914400"/>
            <a:ext cx="4483100" cy="5715000"/>
          </a:xfrm>
        </p:spPr>
        <p:txBody>
          <a:bodyPr/>
          <a:lstStyle/>
          <a:p>
            <a:pPr algn="l" rtl="0" eaLnBrk="1" hangingPunct="1">
              <a:defRPr/>
            </a:pPr>
            <a:r>
              <a:rPr lang="en-US" sz="3400" b="1" dirty="0">
                <a:solidFill>
                  <a:srgbClr val="FF0000"/>
                </a:solidFill>
                <a:latin typeface="+mj-lt"/>
              </a:rPr>
              <a:t>Recursive process</a:t>
            </a:r>
          </a:p>
          <a:p>
            <a:pPr algn="l" rtl="0" eaLnBrk="1" hangingPunct="1">
              <a:buFont typeface="Wingdings" pitchFamily="2" charset="2"/>
              <a:buNone/>
              <a:defRPr/>
            </a:pPr>
            <a:r>
              <a:rPr lang="en-US" dirty="0">
                <a:latin typeface="+mj-lt"/>
              </a:rPr>
              <a:t>	Recursive definition defines an object in terms of a simpler case of itself.</a:t>
            </a:r>
          </a:p>
        </p:txBody>
      </p:sp>
      <p:sp>
        <p:nvSpPr>
          <p:cNvPr id="222211" name="Rectangle 3"/>
          <p:cNvSpPr>
            <a:spLocks noChangeArrowheads="1"/>
          </p:cNvSpPr>
          <p:nvPr/>
        </p:nvSpPr>
        <p:spPr bwMode="auto">
          <a:xfrm>
            <a:off x="4572000" y="990600"/>
            <a:ext cx="44196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457200" indent="-457200" algn="l" rtl="0">
              <a:spcBef>
                <a:spcPct val="20000"/>
              </a:spcBef>
              <a:buClr>
                <a:schemeClr val="hlink"/>
              </a:buClr>
              <a:buSzPct val="80000"/>
              <a:buFont typeface="Arial" pitchFamily="34" charset="0"/>
              <a:buChar char="•"/>
              <a:defRPr/>
            </a:pPr>
            <a:r>
              <a:rPr lang="en-US" sz="3400" b="1" dirty="0">
                <a:solidFill>
                  <a:srgbClr val="FF0000"/>
                </a:solidFill>
                <a:latin typeface="+mj-lt"/>
                <a:cs typeface="+mn-cs"/>
              </a:rPr>
              <a:t>Iterative process</a:t>
            </a:r>
          </a:p>
          <a:p>
            <a:pPr marL="342900" indent="-342900" algn="l" rtl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sz="3600" dirty="0">
                <a:latin typeface="+mj-lt"/>
              </a:rPr>
              <a:t>   </a:t>
            </a:r>
            <a:r>
              <a:rPr lang="en-US" sz="3200" dirty="0">
                <a:latin typeface="+mj-lt"/>
              </a:rPr>
              <a:t>Iterative evaluation calls for explicit repetition of similar computations. Such computations can generally be carried out in a for loop operation.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57200" y="76200"/>
            <a:ext cx="82296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0" eaLnBrk="1" hangingPunct="1"/>
            <a:r>
              <a:rPr lang="en-US" altLang="ar-SA" sz="4800" b="1" dirty="0">
                <a:solidFill>
                  <a:srgbClr val="000099"/>
                </a:solidFill>
                <a:latin typeface="+mj-lt"/>
                <a:ea typeface="+mj-ea"/>
                <a:cs typeface="+mj-cs"/>
              </a:rPr>
              <a:t>Recursion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(-Introduction-)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42117F-2C73-4D66-97C1-4AE4EF459FFA}" type="slidenum">
              <a:rPr lang="ar-SA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852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2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2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2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2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211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Grp="1" noChangeArrowheads="1"/>
          </p:cNvSpPr>
          <p:nvPr>
            <p:ph idx="1"/>
          </p:nvPr>
        </p:nvSpPr>
        <p:spPr>
          <a:xfrm>
            <a:off x="88900" y="914400"/>
            <a:ext cx="8915400" cy="5715000"/>
          </a:xfrm>
        </p:spPr>
        <p:txBody>
          <a:bodyPr/>
          <a:lstStyle/>
          <a:p>
            <a:pPr algn="just" rtl="0" eaLnBrk="1" hangingPunct="1">
              <a:defRPr/>
            </a:pPr>
            <a:r>
              <a:rPr lang="en-US" sz="2800" dirty="0">
                <a:latin typeface="+mj-lt"/>
              </a:rPr>
              <a:t>Every recursive solution has a corresponding iterative solution.</a:t>
            </a:r>
          </a:p>
          <a:p>
            <a:pPr marL="0" indent="0" algn="just" rtl="0" eaLnBrk="1" hangingPunct="1">
              <a:buNone/>
              <a:defRPr/>
            </a:pPr>
            <a:r>
              <a:rPr lang="en-US" sz="2800" dirty="0">
                <a:latin typeface="+mj-lt"/>
              </a:rPr>
              <a:t> </a:t>
            </a:r>
          </a:p>
          <a:p>
            <a:pPr algn="just" rtl="0"/>
            <a:r>
              <a:rPr lang="en-US" sz="2800" dirty="0">
                <a:latin typeface="+mj-lt"/>
              </a:rPr>
              <a:t>For some problems recursive solutions are often more simple and elegant than iterative solutions.</a:t>
            </a:r>
          </a:p>
          <a:p>
            <a:pPr algn="just" rtl="0"/>
            <a:endParaRPr lang="en-US" sz="2800" dirty="0">
              <a:latin typeface="+mj-lt"/>
            </a:endParaRPr>
          </a:p>
          <a:p>
            <a:pPr algn="just" rtl="0"/>
            <a:r>
              <a:rPr lang="en-US" sz="2800" dirty="0">
                <a:latin typeface="+mj-lt"/>
              </a:rPr>
              <a:t>You must be able to determine when recursion is the correct technique to use.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57200" y="76200"/>
            <a:ext cx="82296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0" eaLnBrk="1" hangingPunct="1"/>
            <a:r>
              <a:rPr lang="en-US" altLang="ar-SA" sz="4800" b="1" dirty="0">
                <a:solidFill>
                  <a:srgbClr val="000099"/>
                </a:solidFill>
                <a:latin typeface="+mj-lt"/>
                <a:ea typeface="+mj-ea"/>
                <a:cs typeface="+mj-cs"/>
              </a:rPr>
              <a:t>Recursion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(-Introduction-)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42117F-2C73-4D66-97C1-4AE4EF459FFA}" type="slidenum">
              <a:rPr lang="ar-SA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3228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1" dirty="0"/>
              <a:t>Pointer and Arrays</a:t>
            </a:r>
          </a:p>
        </p:txBody>
      </p:sp>
      <p:sp>
        <p:nvSpPr>
          <p:cNvPr id="5123" name="Rectangle 1"/>
          <p:cNvSpPr>
            <a:spLocks noChangeArrowheads="1"/>
          </p:cNvSpPr>
          <p:nvPr/>
        </p:nvSpPr>
        <p:spPr bwMode="auto">
          <a:xfrm>
            <a:off x="1167626" y="4343400"/>
            <a:ext cx="37044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l"/>
            </a:pPr>
            <a:r>
              <a:rPr lang="fr-FR" b="1" dirty="0">
                <a:solidFill>
                  <a:srgbClr val="FF0000"/>
                </a:solidFill>
              </a:rPr>
              <a:t>Reading: </a:t>
            </a:r>
            <a:r>
              <a:rPr lang="fr-FR" b="1" dirty="0" err="1">
                <a:solidFill>
                  <a:srgbClr val="FF0000"/>
                </a:solidFill>
              </a:rPr>
              <a:t>Textbook</a:t>
            </a:r>
            <a:r>
              <a:rPr lang="fr-FR" b="1" dirty="0">
                <a:solidFill>
                  <a:srgbClr val="FF0000"/>
                </a:solidFill>
              </a:rPr>
              <a:t> (Weiss) 1.5 </a:t>
            </a:r>
          </a:p>
        </p:txBody>
      </p:sp>
    </p:spTree>
    <p:extLst>
      <p:ext uri="{BB962C8B-B14F-4D97-AF65-F5344CB8AC3E}">
        <p14:creationId xmlns:p14="http://schemas.microsoft.com/office/powerpoint/2010/main" val="34876683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66675" y="85725"/>
            <a:ext cx="8991600" cy="523875"/>
          </a:xfrm>
        </p:spPr>
        <p:txBody>
          <a:bodyPr>
            <a:noAutofit/>
          </a:bodyPr>
          <a:lstStyle/>
          <a:p>
            <a:pPr rtl="0" eaLnBrk="1" hangingPunct="1"/>
            <a:r>
              <a:rPr lang="en-US" altLang="ar-SA" sz="4800" b="1" dirty="0">
                <a:solidFill>
                  <a:srgbClr val="000099"/>
                </a:solidFill>
              </a:rPr>
              <a:t>Pointer and Arrays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914400"/>
            <a:ext cx="8839200" cy="5791200"/>
          </a:xfrm>
        </p:spPr>
        <p:txBody>
          <a:bodyPr/>
          <a:lstStyle/>
          <a:p>
            <a:pPr algn="l" rtl="0" eaLnBrk="1" hangingPunct="1">
              <a:defRPr/>
            </a:pPr>
            <a:r>
              <a:rPr lang="en-US" sz="3400" b="1" dirty="0">
                <a:solidFill>
                  <a:srgbClr val="FF0000"/>
                </a:solidFill>
                <a:latin typeface="+mj-lt"/>
              </a:rPr>
              <a:t>Pointer variables:</a:t>
            </a:r>
          </a:p>
          <a:p>
            <a:pPr lvl="1" algn="l" rtl="0" eaLnBrk="1" hangingPunct="1">
              <a:defRPr/>
            </a:pPr>
            <a:r>
              <a:rPr lang="en-US" dirty="0">
                <a:latin typeface="+mj-lt"/>
              </a:rPr>
              <a:t>Contain memory addresses as their values</a:t>
            </a:r>
          </a:p>
          <a:p>
            <a:pPr lvl="1" algn="l" rtl="0" eaLnBrk="1" hangingPunct="1">
              <a:defRPr/>
            </a:pPr>
            <a:r>
              <a:rPr lang="en-US" dirty="0">
                <a:latin typeface="+mj-lt"/>
              </a:rPr>
              <a:t>Normal variables contain a specific value (direct reference)</a:t>
            </a:r>
          </a:p>
          <a:p>
            <a:pPr lvl="1" algn="l" rtl="0" eaLnBrk="1" hangingPunct="1">
              <a:defRPr/>
            </a:pPr>
            <a:endParaRPr lang="en-US" dirty="0">
              <a:latin typeface="+mj-lt"/>
            </a:endParaRPr>
          </a:p>
          <a:p>
            <a:pPr lvl="1" algn="l" rtl="0" eaLnBrk="1" hangingPunct="1">
              <a:buFont typeface="Wingdings" pitchFamily="2" charset="2"/>
              <a:buNone/>
              <a:defRPr/>
            </a:pPr>
            <a:endParaRPr lang="en-US" dirty="0">
              <a:latin typeface="+mj-lt"/>
            </a:endParaRPr>
          </a:p>
          <a:p>
            <a:pPr lvl="1" algn="l" rtl="0" eaLnBrk="1" hangingPunct="1">
              <a:buFont typeface="Wingdings" pitchFamily="2" charset="2"/>
              <a:buNone/>
              <a:defRPr/>
            </a:pPr>
            <a:endParaRPr lang="en-US" dirty="0">
              <a:latin typeface="+mj-lt"/>
            </a:endParaRPr>
          </a:p>
          <a:p>
            <a:pPr lvl="1" algn="l" rtl="0" eaLnBrk="1" hangingPunct="1">
              <a:buFont typeface="Wingdings" pitchFamily="2" charset="2"/>
              <a:buNone/>
              <a:defRPr/>
            </a:pPr>
            <a:endParaRPr lang="en-US" dirty="0">
              <a:latin typeface="+mj-lt"/>
            </a:endParaRPr>
          </a:p>
          <a:p>
            <a:pPr lvl="1" algn="l" rtl="0" eaLnBrk="1" hangingPunct="1">
              <a:defRPr/>
            </a:pPr>
            <a:r>
              <a:rPr lang="en-US" dirty="0">
                <a:latin typeface="+mj-lt"/>
              </a:rPr>
              <a:t>Pointers contain address of a variable that has a specific value (indirect reference)</a:t>
            </a:r>
          </a:p>
        </p:txBody>
      </p:sp>
      <p:grpSp>
        <p:nvGrpSpPr>
          <p:cNvPr id="9220" name="Group 7"/>
          <p:cNvGrpSpPr>
            <a:grpSpLocks/>
          </p:cNvGrpSpPr>
          <p:nvPr/>
        </p:nvGrpSpPr>
        <p:grpSpPr bwMode="auto">
          <a:xfrm>
            <a:off x="1981200" y="3540125"/>
            <a:ext cx="990600" cy="838200"/>
            <a:chOff x="2496" y="1498"/>
            <a:chExt cx="534" cy="470"/>
          </a:xfrm>
        </p:grpSpPr>
        <p:sp>
          <p:nvSpPr>
            <p:cNvPr id="9229" name="Rectangle 8"/>
            <p:cNvSpPr>
              <a:spLocks noChangeArrowheads="1"/>
            </p:cNvSpPr>
            <p:nvPr/>
          </p:nvSpPr>
          <p:spPr bwMode="auto">
            <a:xfrm>
              <a:off x="2496" y="1498"/>
              <a:ext cx="534" cy="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l" rtl="0" eaLnBrk="1" hangingPunct="1"/>
              <a:r>
                <a:rPr lang="en-US" altLang="ar-SA">
                  <a:latin typeface="+mj-lt"/>
                  <a:cs typeface="Courier New" pitchFamily="49" charset="0"/>
                </a:rPr>
                <a:t>count</a:t>
              </a:r>
              <a:endParaRPr lang="en-US" altLang="ar-SA">
                <a:latin typeface="+mj-lt"/>
                <a:cs typeface="Times New Roman" pitchFamily="18" charset="0"/>
              </a:endParaRPr>
            </a:p>
            <a:p>
              <a:pPr algn="l" rtl="0"/>
              <a:endParaRPr lang="en-US" altLang="ar-SA">
                <a:latin typeface="+mj-lt"/>
              </a:endParaRPr>
            </a:p>
          </p:txBody>
        </p:sp>
        <p:grpSp>
          <p:nvGrpSpPr>
            <p:cNvPr id="9230" name="Group 9"/>
            <p:cNvGrpSpPr>
              <a:grpSpLocks/>
            </p:cNvGrpSpPr>
            <p:nvPr/>
          </p:nvGrpSpPr>
          <p:grpSpPr bwMode="auto">
            <a:xfrm>
              <a:off x="2544" y="1672"/>
              <a:ext cx="353" cy="296"/>
              <a:chOff x="0" y="0"/>
              <a:chExt cx="20000" cy="20000"/>
            </a:xfrm>
          </p:grpSpPr>
          <p:sp>
            <p:nvSpPr>
              <p:cNvPr id="9231" name="Freeform 10"/>
              <p:cNvSpPr>
                <a:spLocks/>
              </p:cNvSpPr>
              <p:nvPr/>
            </p:nvSpPr>
            <p:spPr bwMode="auto">
              <a:xfrm>
                <a:off x="0" y="0"/>
                <a:ext cx="20000" cy="20000"/>
              </a:xfrm>
              <a:custGeom>
                <a:avLst/>
                <a:gdLst>
                  <a:gd name="T0" fmla="*/ 19967 w 20000"/>
                  <a:gd name="T1" fmla="*/ 0 h 20000"/>
                  <a:gd name="T2" fmla="*/ 19967 w 20000"/>
                  <a:gd name="T3" fmla="*/ 19967 h 20000"/>
                  <a:gd name="T4" fmla="*/ 0 w 20000"/>
                  <a:gd name="T5" fmla="*/ 19967 h 20000"/>
                  <a:gd name="T6" fmla="*/ 0 w 20000"/>
                  <a:gd name="T7" fmla="*/ 0 h 20000"/>
                  <a:gd name="T8" fmla="*/ 19967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000"/>
                  <a:gd name="T16" fmla="*/ 0 h 20000"/>
                  <a:gd name="T17" fmla="*/ 20000 w 20000"/>
                  <a:gd name="T18" fmla="*/ 20000 h 2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000" h="20000">
                    <a:moveTo>
                      <a:pt x="19967" y="0"/>
                    </a:moveTo>
                    <a:lnTo>
                      <a:pt x="19967" y="19967"/>
                    </a:lnTo>
                    <a:lnTo>
                      <a:pt x="0" y="19967"/>
                    </a:lnTo>
                    <a:lnTo>
                      <a:pt x="0" y="0"/>
                    </a:lnTo>
                    <a:lnTo>
                      <a:pt x="19967" y="0"/>
                    </a:lnTo>
                    <a:close/>
                  </a:path>
                </a:pathLst>
              </a:custGeom>
              <a:solidFill>
                <a:srgbClr val="00FF00"/>
              </a:solidFill>
              <a:ln w="3175">
                <a:solidFill>
                  <a:srgbClr val="00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ar-SA">
                  <a:latin typeface="+mj-lt"/>
                </a:endParaRPr>
              </a:p>
            </p:txBody>
          </p:sp>
          <p:sp>
            <p:nvSpPr>
              <p:cNvPr id="9232" name="Rectangle 11"/>
              <p:cNvSpPr>
                <a:spLocks noChangeArrowheads="1"/>
              </p:cNvSpPr>
              <p:nvPr/>
            </p:nvSpPr>
            <p:spPr bwMode="auto">
              <a:xfrm>
                <a:off x="7501" y="6399"/>
                <a:ext cx="4966" cy="8701"/>
              </a:xfrm>
              <a:prstGeom prst="rect">
                <a:avLst/>
              </a:prstGeom>
              <a:solidFill>
                <a:srgbClr val="00FF00"/>
              </a:solidFill>
              <a:ln w="0">
                <a:solidFill>
                  <a:srgbClr val="00FF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algn="l" rtl="0" eaLnBrk="1" hangingPunct="1"/>
                <a:r>
                  <a:rPr lang="en-US" altLang="ar-SA" b="1">
                    <a:solidFill>
                      <a:srgbClr val="000000"/>
                    </a:solidFill>
                    <a:latin typeface="+mj-lt"/>
                    <a:cs typeface="Courier New" pitchFamily="49" charset="0"/>
                  </a:rPr>
                  <a:t>7</a:t>
                </a:r>
                <a:endParaRPr lang="en-US" altLang="ar-SA">
                  <a:solidFill>
                    <a:srgbClr val="000000"/>
                  </a:solidFill>
                  <a:latin typeface="+mj-lt"/>
                </a:endParaRPr>
              </a:p>
            </p:txBody>
          </p:sp>
        </p:grpSp>
      </p:grpSp>
      <p:grpSp>
        <p:nvGrpSpPr>
          <p:cNvPr id="9221" name="Group 12"/>
          <p:cNvGrpSpPr>
            <a:grpSpLocks/>
          </p:cNvGrpSpPr>
          <p:nvPr/>
        </p:nvGrpSpPr>
        <p:grpSpPr bwMode="auto">
          <a:xfrm>
            <a:off x="4191000" y="3463925"/>
            <a:ext cx="2667000" cy="838200"/>
            <a:chOff x="1776" y="2784"/>
            <a:chExt cx="1488" cy="432"/>
          </a:xfrm>
        </p:grpSpPr>
        <p:sp>
          <p:nvSpPr>
            <p:cNvPr id="9222" name="Rectangle 13"/>
            <p:cNvSpPr>
              <a:spLocks noChangeArrowheads="1"/>
            </p:cNvSpPr>
            <p:nvPr/>
          </p:nvSpPr>
          <p:spPr bwMode="auto">
            <a:xfrm>
              <a:off x="2736" y="2784"/>
              <a:ext cx="528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l" rtl="0" eaLnBrk="1" hangingPunct="1"/>
              <a:r>
                <a:rPr lang="en-US" altLang="ar-SA">
                  <a:latin typeface="+mj-lt"/>
                  <a:cs typeface="Courier New" pitchFamily="49" charset="0"/>
                </a:rPr>
                <a:t>count</a:t>
              </a:r>
              <a:endParaRPr lang="en-US" altLang="ar-SA">
                <a:latin typeface="+mj-lt"/>
                <a:cs typeface="Times New Roman" pitchFamily="18" charset="0"/>
              </a:endParaRPr>
            </a:p>
            <a:p>
              <a:pPr algn="l" rtl="0"/>
              <a:endParaRPr lang="en-US" altLang="ar-SA" sz="1200">
                <a:latin typeface="+mj-lt"/>
              </a:endParaRPr>
            </a:p>
          </p:txBody>
        </p:sp>
        <p:sp>
          <p:nvSpPr>
            <p:cNvPr id="9223" name="Freeform 14"/>
            <p:cNvSpPr>
              <a:spLocks/>
            </p:cNvSpPr>
            <p:nvPr/>
          </p:nvSpPr>
          <p:spPr bwMode="auto">
            <a:xfrm>
              <a:off x="2784" y="2938"/>
              <a:ext cx="319" cy="278"/>
            </a:xfrm>
            <a:custGeom>
              <a:avLst/>
              <a:gdLst>
                <a:gd name="T0" fmla="*/ 19967 w 20000"/>
                <a:gd name="T1" fmla="*/ 0 h 20000"/>
                <a:gd name="T2" fmla="*/ 19967 w 20000"/>
                <a:gd name="T3" fmla="*/ 19967 h 20000"/>
                <a:gd name="T4" fmla="*/ 0 w 20000"/>
                <a:gd name="T5" fmla="*/ 19967 h 20000"/>
                <a:gd name="T6" fmla="*/ 0 w 20000"/>
                <a:gd name="T7" fmla="*/ 0 h 20000"/>
                <a:gd name="T8" fmla="*/ 19967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67" y="0"/>
                  </a:moveTo>
                  <a:lnTo>
                    <a:pt x="19967" y="19967"/>
                  </a:lnTo>
                  <a:lnTo>
                    <a:pt x="0" y="19967"/>
                  </a:lnTo>
                  <a:lnTo>
                    <a:pt x="0" y="0"/>
                  </a:lnTo>
                  <a:lnTo>
                    <a:pt x="19967" y="0"/>
                  </a:lnTo>
                  <a:close/>
                </a:path>
              </a:pathLst>
            </a:custGeom>
            <a:solidFill>
              <a:srgbClr val="00FF00"/>
            </a:solidFill>
            <a:ln w="3175">
              <a:solidFill>
                <a:srgbClr val="009900"/>
              </a:solidFill>
              <a:round/>
              <a:headEnd/>
              <a:tailEnd/>
            </a:ln>
          </p:spPr>
          <p:txBody>
            <a:bodyPr/>
            <a:lstStyle/>
            <a:p>
              <a:endParaRPr lang="ar-SA">
                <a:latin typeface="+mj-lt"/>
              </a:endParaRPr>
            </a:p>
          </p:txBody>
        </p:sp>
        <p:sp>
          <p:nvSpPr>
            <p:cNvPr id="9224" name="Rectangle 15"/>
            <p:cNvSpPr>
              <a:spLocks noChangeArrowheads="1"/>
            </p:cNvSpPr>
            <p:nvPr/>
          </p:nvSpPr>
          <p:spPr bwMode="auto">
            <a:xfrm>
              <a:off x="2897" y="2986"/>
              <a:ext cx="79" cy="125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l" rtl="0" eaLnBrk="1" hangingPunct="1"/>
              <a:r>
                <a:rPr lang="en-US" altLang="ar-SA" b="1">
                  <a:solidFill>
                    <a:srgbClr val="000000"/>
                  </a:solidFill>
                  <a:latin typeface="+mj-lt"/>
                  <a:cs typeface="Courier New" pitchFamily="49" charset="0"/>
                </a:rPr>
                <a:t>7</a:t>
              </a:r>
              <a:endParaRPr lang="en-US" altLang="ar-SA" sz="12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9225" name="Rectangle 16"/>
            <p:cNvSpPr>
              <a:spLocks noChangeArrowheads="1"/>
            </p:cNvSpPr>
            <p:nvPr/>
          </p:nvSpPr>
          <p:spPr bwMode="auto">
            <a:xfrm>
              <a:off x="1776" y="2784"/>
              <a:ext cx="817" cy="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l" rtl="0" eaLnBrk="1" hangingPunct="1"/>
              <a:r>
                <a:rPr lang="en-US" altLang="ar-SA">
                  <a:latin typeface="+mj-lt"/>
                  <a:cs typeface="Courier New" pitchFamily="49" charset="0"/>
                </a:rPr>
                <a:t>countPtr</a:t>
              </a:r>
              <a:endParaRPr lang="en-US" altLang="ar-SA">
                <a:latin typeface="+mj-lt"/>
                <a:cs typeface="Times New Roman" pitchFamily="18" charset="0"/>
              </a:endParaRPr>
            </a:p>
            <a:p>
              <a:pPr algn="l" rtl="0"/>
              <a:endParaRPr lang="en-US" altLang="ar-SA" sz="1200">
                <a:latin typeface="+mj-lt"/>
              </a:endParaRPr>
            </a:p>
          </p:txBody>
        </p:sp>
        <p:sp>
          <p:nvSpPr>
            <p:cNvPr id="9226" name="Freeform 17"/>
            <p:cNvSpPr>
              <a:spLocks/>
            </p:cNvSpPr>
            <p:nvPr/>
          </p:nvSpPr>
          <p:spPr bwMode="auto">
            <a:xfrm>
              <a:off x="1968" y="2928"/>
              <a:ext cx="384" cy="288"/>
            </a:xfrm>
            <a:custGeom>
              <a:avLst/>
              <a:gdLst>
                <a:gd name="T0" fmla="*/ 19967 w 20000"/>
                <a:gd name="T1" fmla="*/ 0 h 20000"/>
                <a:gd name="T2" fmla="*/ 19967 w 20000"/>
                <a:gd name="T3" fmla="*/ 19967 h 20000"/>
                <a:gd name="T4" fmla="*/ 0 w 20000"/>
                <a:gd name="T5" fmla="*/ 19967 h 20000"/>
                <a:gd name="T6" fmla="*/ 0 w 20000"/>
                <a:gd name="T7" fmla="*/ 0 h 20000"/>
                <a:gd name="T8" fmla="*/ 19967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67" y="0"/>
                  </a:moveTo>
                  <a:lnTo>
                    <a:pt x="19967" y="19967"/>
                  </a:lnTo>
                  <a:lnTo>
                    <a:pt x="0" y="19967"/>
                  </a:lnTo>
                  <a:lnTo>
                    <a:pt x="0" y="0"/>
                  </a:lnTo>
                  <a:lnTo>
                    <a:pt x="19967" y="0"/>
                  </a:lnTo>
                  <a:close/>
                </a:path>
              </a:pathLst>
            </a:custGeom>
            <a:solidFill>
              <a:srgbClr val="00FF00"/>
            </a:solidFill>
            <a:ln w="3175">
              <a:solidFill>
                <a:srgbClr val="009900"/>
              </a:solidFill>
              <a:round/>
              <a:headEnd/>
              <a:tailEnd/>
            </a:ln>
          </p:spPr>
          <p:txBody>
            <a:bodyPr/>
            <a:lstStyle/>
            <a:p>
              <a:endParaRPr lang="ar-SA">
                <a:latin typeface="+mj-lt"/>
              </a:endParaRPr>
            </a:p>
          </p:txBody>
        </p:sp>
        <p:sp>
          <p:nvSpPr>
            <p:cNvPr id="9227" name="Oval 18"/>
            <p:cNvSpPr>
              <a:spLocks noChangeArrowheads="1"/>
            </p:cNvSpPr>
            <p:nvPr/>
          </p:nvSpPr>
          <p:spPr bwMode="auto">
            <a:xfrm>
              <a:off x="2112" y="2938"/>
              <a:ext cx="96" cy="26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ar-SA" altLang="ar-SA">
                <a:latin typeface="+mj-lt"/>
              </a:endParaRPr>
            </a:p>
          </p:txBody>
        </p:sp>
        <p:sp>
          <p:nvSpPr>
            <p:cNvPr id="9228" name="Line 19"/>
            <p:cNvSpPr>
              <a:spLocks noChangeShapeType="1"/>
            </p:cNvSpPr>
            <p:nvPr/>
          </p:nvSpPr>
          <p:spPr bwMode="auto">
            <a:xfrm>
              <a:off x="2160" y="3072"/>
              <a:ext cx="7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ar-SA">
                <a:latin typeface="+mj-lt"/>
              </a:endParaRPr>
            </a:p>
          </p:txBody>
        </p:sp>
      </p:grp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(-Introduction-)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42117F-2C73-4D66-97C1-4AE4EF459FFA}" type="slidenum">
              <a:rPr lang="ar-SA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9032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914400"/>
            <a:ext cx="8839200" cy="5791200"/>
          </a:xfrm>
        </p:spPr>
        <p:txBody>
          <a:bodyPr/>
          <a:lstStyle/>
          <a:p>
            <a:pPr algn="l" rtl="0" eaLnBrk="1" hangingPunct="1">
              <a:defRPr/>
            </a:pPr>
            <a:r>
              <a:rPr lang="en-US" sz="3400" b="1" dirty="0">
                <a:solidFill>
                  <a:srgbClr val="FF0000"/>
                </a:solidFill>
                <a:latin typeface="+mj-lt"/>
              </a:rPr>
              <a:t>Pointer definitions:</a:t>
            </a:r>
          </a:p>
          <a:p>
            <a:pPr lvl="1" algn="l" rtl="0" eaLnBrk="1" hangingPunct="1">
              <a:defRPr/>
            </a:pPr>
            <a:r>
              <a:rPr lang="en-US" sz="2500" dirty="0">
                <a:latin typeface="+mj-lt"/>
              </a:rPr>
              <a:t>*</a:t>
            </a:r>
            <a:r>
              <a:rPr lang="en-US" dirty="0">
                <a:latin typeface="+mj-lt"/>
              </a:rPr>
              <a:t> used with pointer variables</a:t>
            </a:r>
          </a:p>
          <a:p>
            <a:pPr lvl="1" algn="ctr" rtl="0" eaLnBrk="1" hangingPunct="1">
              <a:buFont typeface="Wingdings" pitchFamily="2" charset="2"/>
              <a:buNone/>
              <a:defRPr/>
            </a:pPr>
            <a:r>
              <a:rPr lang="en-US" sz="2400" dirty="0" err="1">
                <a:latin typeface="+mj-lt"/>
              </a:rPr>
              <a:t>int</a:t>
            </a:r>
            <a:r>
              <a:rPr lang="en-US" sz="2400" dirty="0">
                <a:latin typeface="+mj-lt"/>
              </a:rPr>
              <a:t> *</a:t>
            </a:r>
            <a:r>
              <a:rPr lang="en-US" sz="2400" dirty="0" err="1">
                <a:latin typeface="+mj-lt"/>
              </a:rPr>
              <a:t>myPtr</a:t>
            </a:r>
            <a:r>
              <a:rPr lang="en-US" sz="2400" dirty="0">
                <a:latin typeface="+mj-lt"/>
              </a:rPr>
              <a:t>;</a:t>
            </a:r>
            <a:r>
              <a:rPr lang="en-US" dirty="0">
                <a:latin typeface="+mj-lt"/>
              </a:rPr>
              <a:t> </a:t>
            </a:r>
          </a:p>
          <a:p>
            <a:pPr lvl="1" algn="l" rtl="0" eaLnBrk="1" hangingPunct="1">
              <a:defRPr/>
            </a:pPr>
            <a:r>
              <a:rPr lang="en-US" dirty="0">
                <a:latin typeface="+mj-lt"/>
              </a:rPr>
              <a:t>Defines a pointer to an </a:t>
            </a:r>
            <a:r>
              <a:rPr lang="en-US" sz="2500" dirty="0" err="1">
                <a:latin typeface="+mj-lt"/>
              </a:rPr>
              <a:t>int</a:t>
            </a:r>
            <a:r>
              <a:rPr lang="en-US" dirty="0">
                <a:latin typeface="+mj-lt"/>
              </a:rPr>
              <a:t> (pointer of type </a:t>
            </a:r>
            <a:r>
              <a:rPr lang="en-US" sz="2500" dirty="0" err="1">
                <a:latin typeface="+mj-lt"/>
              </a:rPr>
              <a:t>int</a:t>
            </a:r>
            <a:r>
              <a:rPr lang="en-US" sz="2500" dirty="0">
                <a:latin typeface="+mj-lt"/>
              </a:rPr>
              <a:t> *)</a:t>
            </a:r>
          </a:p>
          <a:p>
            <a:pPr lvl="1" algn="l" rtl="0" eaLnBrk="1" hangingPunct="1">
              <a:defRPr/>
            </a:pPr>
            <a:r>
              <a:rPr lang="en-US" dirty="0">
                <a:latin typeface="+mj-lt"/>
              </a:rPr>
              <a:t>Multiple pointers require using a </a:t>
            </a:r>
            <a:r>
              <a:rPr lang="en-US" sz="2500" dirty="0">
                <a:latin typeface="+mj-lt"/>
              </a:rPr>
              <a:t>*</a:t>
            </a:r>
            <a:r>
              <a:rPr lang="en-US" dirty="0">
                <a:latin typeface="+mj-lt"/>
              </a:rPr>
              <a:t> before each variable definition</a:t>
            </a:r>
          </a:p>
          <a:p>
            <a:pPr lvl="1" algn="ctr" rtl="0" eaLnBrk="1" hangingPunct="1">
              <a:buFont typeface="Wingdings" pitchFamily="2" charset="2"/>
              <a:buNone/>
              <a:defRPr/>
            </a:pPr>
            <a:r>
              <a:rPr lang="en-US" sz="2400" dirty="0" err="1">
                <a:latin typeface="+mj-lt"/>
              </a:rPr>
              <a:t>int</a:t>
            </a:r>
            <a:r>
              <a:rPr lang="en-US" sz="2400" dirty="0">
                <a:latin typeface="+mj-lt"/>
              </a:rPr>
              <a:t> *myPtr1, *myPtr2;</a:t>
            </a:r>
          </a:p>
          <a:p>
            <a:pPr lvl="1" algn="l" rtl="0" eaLnBrk="1" hangingPunct="1">
              <a:defRPr/>
            </a:pPr>
            <a:r>
              <a:rPr lang="en-US" dirty="0">
                <a:latin typeface="+mj-lt"/>
              </a:rPr>
              <a:t>Can define pointers to any data type</a:t>
            </a:r>
          </a:p>
          <a:p>
            <a:pPr lvl="1" algn="l" rtl="0" eaLnBrk="1" hangingPunct="1">
              <a:defRPr/>
            </a:pPr>
            <a:r>
              <a:rPr lang="en-US" dirty="0">
                <a:latin typeface="+mj-lt"/>
              </a:rPr>
              <a:t>Initialize pointers to </a:t>
            </a:r>
            <a:r>
              <a:rPr lang="en-US" sz="2500" dirty="0">
                <a:latin typeface="+mj-lt"/>
              </a:rPr>
              <a:t>0</a:t>
            </a:r>
            <a:r>
              <a:rPr lang="en-US" dirty="0">
                <a:latin typeface="+mj-lt"/>
              </a:rPr>
              <a:t>, </a:t>
            </a:r>
            <a:r>
              <a:rPr lang="en-US" sz="2500" dirty="0">
                <a:latin typeface="+mj-lt"/>
              </a:rPr>
              <a:t>NULL</a:t>
            </a:r>
            <a:r>
              <a:rPr lang="en-US" dirty="0">
                <a:latin typeface="+mj-lt"/>
              </a:rPr>
              <a:t>, or an address</a:t>
            </a:r>
          </a:p>
          <a:p>
            <a:pPr lvl="1" algn="l" rtl="0" eaLnBrk="1" hangingPunct="1">
              <a:defRPr/>
            </a:pPr>
            <a:r>
              <a:rPr lang="en-US" sz="2400" dirty="0">
                <a:latin typeface="+mj-lt"/>
              </a:rPr>
              <a:t>0</a:t>
            </a:r>
            <a:r>
              <a:rPr lang="en-US" dirty="0">
                <a:latin typeface="+mj-lt"/>
              </a:rPr>
              <a:t> or </a:t>
            </a:r>
            <a:r>
              <a:rPr lang="en-US" sz="2400" dirty="0">
                <a:latin typeface="+mj-lt"/>
              </a:rPr>
              <a:t>NULL</a:t>
            </a:r>
            <a:r>
              <a:rPr lang="en-US" dirty="0">
                <a:latin typeface="+mj-lt"/>
              </a:rPr>
              <a:t> </a:t>
            </a:r>
            <a:r>
              <a:rPr lang="en-US" dirty="0">
                <a:latin typeface="+mj-lt"/>
                <a:cs typeface="Times New Roman" pitchFamily="18" charset="0"/>
              </a:rPr>
              <a:t>–</a:t>
            </a:r>
            <a:r>
              <a:rPr lang="en-US" dirty="0">
                <a:latin typeface="+mj-lt"/>
              </a:rPr>
              <a:t> points to nothing (</a:t>
            </a:r>
            <a:r>
              <a:rPr lang="en-US" sz="2400" dirty="0">
                <a:latin typeface="+mj-lt"/>
              </a:rPr>
              <a:t>NULL</a:t>
            </a:r>
            <a:r>
              <a:rPr lang="en-US" dirty="0">
                <a:latin typeface="+mj-lt"/>
              </a:rPr>
              <a:t> preferred)</a:t>
            </a: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0" y="1946275"/>
            <a:ext cx="54864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ar-SA" altLang="ar-SA">
              <a:latin typeface="+mj-lt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66675" y="85725"/>
            <a:ext cx="8991600" cy="523875"/>
          </a:xfrm>
        </p:spPr>
        <p:txBody>
          <a:bodyPr>
            <a:noAutofit/>
          </a:bodyPr>
          <a:lstStyle/>
          <a:p>
            <a:pPr rtl="0" eaLnBrk="1" hangingPunct="1"/>
            <a:r>
              <a:rPr lang="en-US" altLang="ar-SA" sz="4800" b="1" dirty="0">
                <a:solidFill>
                  <a:srgbClr val="000099"/>
                </a:solidFill>
              </a:rPr>
              <a:t>Pointer and Arrays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(-Introduction-)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6553200" y="6324600"/>
            <a:ext cx="2133600" cy="365125"/>
          </a:xfrm>
        </p:spPr>
        <p:txBody>
          <a:bodyPr/>
          <a:lstStyle/>
          <a:p>
            <a:pPr>
              <a:defRPr/>
            </a:pPr>
            <a:fld id="{2942117F-2C73-4D66-97C1-4AE4EF459FFA}" type="slidenum">
              <a:rPr lang="ar-SA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4285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9" name="Rectangle 3"/>
          <p:cNvSpPr>
            <a:spLocks noGrp="1" noChangeArrowheads="1"/>
          </p:cNvSpPr>
          <p:nvPr>
            <p:ph idx="1"/>
          </p:nvPr>
        </p:nvSpPr>
        <p:spPr>
          <a:xfrm>
            <a:off x="129070" y="973138"/>
            <a:ext cx="8839200" cy="5791200"/>
          </a:xfrm>
        </p:spPr>
        <p:txBody>
          <a:bodyPr/>
          <a:lstStyle/>
          <a:p>
            <a:pPr algn="l" rtl="0" eaLnBrk="1" hangingPunct="1">
              <a:defRPr/>
            </a:pPr>
            <a:r>
              <a:rPr lang="en-US" sz="3400" b="1" dirty="0">
                <a:solidFill>
                  <a:srgbClr val="FF0000"/>
                </a:solidFill>
                <a:latin typeface="+mj-lt"/>
              </a:rPr>
              <a:t>Address operator (&amp;):</a:t>
            </a:r>
          </a:p>
          <a:p>
            <a:pPr lvl="1" algn="l" rtl="0" eaLnBrk="1" hangingPunct="1">
              <a:defRPr/>
            </a:pPr>
            <a:r>
              <a:rPr lang="en-US" dirty="0">
                <a:latin typeface="+mj-lt"/>
              </a:rPr>
              <a:t>Returns address of operand</a:t>
            </a:r>
          </a:p>
          <a:p>
            <a:pPr lvl="2" algn="l" rtl="0" eaLnBrk="1" hangingPunct="1">
              <a:buFontTx/>
              <a:buNone/>
              <a:defRPr/>
            </a:pPr>
            <a:r>
              <a:rPr lang="en-US" dirty="0" err="1">
                <a:latin typeface="+mj-lt"/>
              </a:rPr>
              <a:t>int</a:t>
            </a:r>
            <a:r>
              <a:rPr lang="en-US" dirty="0">
                <a:latin typeface="+mj-lt"/>
              </a:rPr>
              <a:t> y = 5;</a:t>
            </a:r>
          </a:p>
          <a:p>
            <a:pPr lvl="2" algn="l" rtl="0" eaLnBrk="1" hangingPunct="1">
              <a:buFontTx/>
              <a:buNone/>
              <a:defRPr/>
            </a:pPr>
            <a:r>
              <a:rPr lang="en-US" dirty="0" err="1">
                <a:latin typeface="+mj-lt"/>
              </a:rPr>
              <a:t>int</a:t>
            </a:r>
            <a:r>
              <a:rPr lang="en-US" dirty="0">
                <a:latin typeface="+mj-lt"/>
              </a:rPr>
              <a:t> *</a:t>
            </a:r>
            <a:r>
              <a:rPr lang="en-US" dirty="0" err="1">
                <a:latin typeface="+mj-lt"/>
              </a:rPr>
              <a:t>yPtr</a:t>
            </a:r>
            <a:r>
              <a:rPr lang="en-US" dirty="0">
                <a:latin typeface="+mj-lt"/>
              </a:rPr>
              <a:t>; </a:t>
            </a:r>
          </a:p>
          <a:p>
            <a:pPr lvl="2" algn="l" rtl="0" eaLnBrk="1" hangingPunct="1">
              <a:buFontTx/>
              <a:buNone/>
              <a:defRPr/>
            </a:pPr>
            <a:r>
              <a:rPr lang="en-US" dirty="0" err="1">
                <a:latin typeface="+mj-lt"/>
              </a:rPr>
              <a:t>yPtr</a:t>
            </a:r>
            <a:r>
              <a:rPr lang="en-US" dirty="0">
                <a:latin typeface="+mj-lt"/>
              </a:rPr>
              <a:t> = &amp;y;   /* </a:t>
            </a:r>
            <a:r>
              <a:rPr lang="en-US" dirty="0" err="1">
                <a:latin typeface="+mj-lt"/>
              </a:rPr>
              <a:t>yPtr</a:t>
            </a:r>
            <a:r>
              <a:rPr lang="en-US" dirty="0">
                <a:latin typeface="+mj-lt"/>
              </a:rPr>
              <a:t> gets address of y */</a:t>
            </a:r>
          </a:p>
          <a:p>
            <a:pPr lvl="2" algn="l" rtl="0" eaLnBrk="1" hangingPunct="1">
              <a:buFontTx/>
              <a:buNone/>
              <a:defRPr/>
            </a:pPr>
            <a:endParaRPr lang="en-US" dirty="0">
              <a:latin typeface="+mj-lt"/>
            </a:endParaRPr>
          </a:p>
          <a:p>
            <a:pPr lvl="2" algn="l" rtl="0" eaLnBrk="1" hangingPunct="1">
              <a:buFontTx/>
              <a:buNone/>
              <a:defRPr/>
            </a:pPr>
            <a:r>
              <a:rPr lang="en-US" sz="2800" dirty="0" err="1">
                <a:latin typeface="+mj-lt"/>
              </a:rPr>
              <a:t>yPtr</a:t>
            </a:r>
            <a:r>
              <a:rPr lang="en-US" sz="2800" dirty="0">
                <a:latin typeface="+mj-lt"/>
              </a:rPr>
              <a:t> “points to” y</a:t>
            </a:r>
          </a:p>
          <a:p>
            <a:pPr lvl="1" algn="l" rtl="0" eaLnBrk="1" hangingPunct="1">
              <a:defRPr/>
            </a:pPr>
            <a:endParaRPr lang="en-US" dirty="0">
              <a:latin typeface="+mj-lt"/>
            </a:endParaRPr>
          </a:p>
        </p:txBody>
      </p:sp>
      <p:grpSp>
        <p:nvGrpSpPr>
          <p:cNvPr id="11268" name="Group 33"/>
          <p:cNvGrpSpPr>
            <a:grpSpLocks/>
          </p:cNvGrpSpPr>
          <p:nvPr/>
        </p:nvGrpSpPr>
        <p:grpSpPr bwMode="auto">
          <a:xfrm>
            <a:off x="533400" y="4648200"/>
            <a:ext cx="2590800" cy="1576388"/>
            <a:chOff x="432" y="3039"/>
            <a:chExt cx="1469" cy="671"/>
          </a:xfrm>
        </p:grpSpPr>
        <p:sp>
          <p:nvSpPr>
            <p:cNvPr id="11279" name="Freeform 5"/>
            <p:cNvSpPr>
              <a:spLocks/>
            </p:cNvSpPr>
            <p:nvPr/>
          </p:nvSpPr>
          <p:spPr bwMode="auto">
            <a:xfrm>
              <a:off x="441" y="3468"/>
              <a:ext cx="354" cy="242"/>
            </a:xfrm>
            <a:custGeom>
              <a:avLst/>
              <a:gdLst>
                <a:gd name="T0" fmla="*/ 19956 w 20000"/>
                <a:gd name="T1" fmla="*/ 0 h 20000"/>
                <a:gd name="T2" fmla="*/ 19956 w 20000"/>
                <a:gd name="T3" fmla="*/ 19956 h 20000"/>
                <a:gd name="T4" fmla="*/ 0 w 20000"/>
                <a:gd name="T5" fmla="*/ 19956 h 20000"/>
                <a:gd name="T6" fmla="*/ 0 w 20000"/>
                <a:gd name="T7" fmla="*/ 0 h 20000"/>
                <a:gd name="T8" fmla="*/ 19956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56" y="0"/>
                  </a:moveTo>
                  <a:lnTo>
                    <a:pt x="19956" y="19956"/>
                  </a:lnTo>
                  <a:lnTo>
                    <a:pt x="0" y="19956"/>
                  </a:lnTo>
                  <a:lnTo>
                    <a:pt x="0" y="0"/>
                  </a:lnTo>
                  <a:lnTo>
                    <a:pt x="19956" y="0"/>
                  </a:lnTo>
                  <a:close/>
                </a:path>
              </a:pathLst>
            </a:custGeom>
            <a:solidFill>
              <a:srgbClr val="00FF00"/>
            </a:solidFill>
            <a:ln w="3175" cap="flat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ar-SA">
                <a:latin typeface="+mj-lt"/>
              </a:endParaRPr>
            </a:p>
          </p:txBody>
        </p:sp>
        <p:sp>
          <p:nvSpPr>
            <p:cNvPr id="11280" name="Freeform 6"/>
            <p:cNvSpPr>
              <a:spLocks/>
            </p:cNvSpPr>
            <p:nvPr/>
          </p:nvSpPr>
          <p:spPr bwMode="auto">
            <a:xfrm>
              <a:off x="1548" y="3183"/>
              <a:ext cx="353" cy="242"/>
            </a:xfrm>
            <a:custGeom>
              <a:avLst/>
              <a:gdLst>
                <a:gd name="T0" fmla="*/ 19956 w 20000"/>
                <a:gd name="T1" fmla="*/ 0 h 20000"/>
                <a:gd name="T2" fmla="*/ 19956 w 20000"/>
                <a:gd name="T3" fmla="*/ 19956 h 20000"/>
                <a:gd name="T4" fmla="*/ 0 w 20000"/>
                <a:gd name="T5" fmla="*/ 19956 h 20000"/>
                <a:gd name="T6" fmla="*/ 0 w 20000"/>
                <a:gd name="T7" fmla="*/ 0 h 20000"/>
                <a:gd name="T8" fmla="*/ 19956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56" y="0"/>
                  </a:moveTo>
                  <a:lnTo>
                    <a:pt x="19956" y="19956"/>
                  </a:lnTo>
                  <a:lnTo>
                    <a:pt x="0" y="19956"/>
                  </a:lnTo>
                  <a:lnTo>
                    <a:pt x="0" y="0"/>
                  </a:lnTo>
                  <a:lnTo>
                    <a:pt x="19956" y="0"/>
                  </a:lnTo>
                  <a:close/>
                </a:path>
              </a:pathLst>
            </a:custGeom>
            <a:solidFill>
              <a:srgbClr val="00FF00"/>
            </a:solidFill>
            <a:ln w="3175" cap="flat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ar-SA">
                <a:latin typeface="+mj-lt"/>
              </a:endParaRPr>
            </a:p>
          </p:txBody>
        </p:sp>
        <p:sp>
          <p:nvSpPr>
            <p:cNvPr id="11281" name="Freeform 7"/>
            <p:cNvSpPr>
              <a:spLocks/>
            </p:cNvSpPr>
            <p:nvPr/>
          </p:nvSpPr>
          <p:spPr bwMode="auto">
            <a:xfrm>
              <a:off x="619" y="3318"/>
              <a:ext cx="929" cy="271"/>
            </a:xfrm>
            <a:custGeom>
              <a:avLst/>
              <a:gdLst>
                <a:gd name="T0" fmla="*/ 19983 w 20000"/>
                <a:gd name="T1" fmla="*/ 0 h 20000"/>
                <a:gd name="T2" fmla="*/ 0 w 20000"/>
                <a:gd name="T3" fmla="*/ 19960 h 20000"/>
                <a:gd name="T4" fmla="*/ 0 60000 65536"/>
                <a:gd name="T5" fmla="*/ 0 60000 65536"/>
                <a:gd name="T6" fmla="*/ 0 w 20000"/>
                <a:gd name="T7" fmla="*/ 0 h 20000"/>
                <a:gd name="T8" fmla="*/ 20000 w 20000"/>
                <a:gd name="T9" fmla="*/ 20000 h 200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000" h="20000">
                  <a:moveTo>
                    <a:pt x="19983" y="0"/>
                  </a:moveTo>
                  <a:lnTo>
                    <a:pt x="0" y="1996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triangle" w="med" len="sm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ar-SA">
                <a:latin typeface="+mj-lt"/>
              </a:endParaRPr>
            </a:p>
          </p:txBody>
        </p:sp>
        <p:sp>
          <p:nvSpPr>
            <p:cNvPr id="11282" name="Rectangle 8"/>
            <p:cNvSpPr>
              <a:spLocks noChangeArrowheads="1"/>
            </p:cNvSpPr>
            <p:nvPr/>
          </p:nvSpPr>
          <p:spPr bwMode="auto">
            <a:xfrm>
              <a:off x="432" y="3325"/>
              <a:ext cx="371" cy="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l" rtl="0">
                <a:lnSpc>
                  <a:spcPct val="72000"/>
                </a:lnSpc>
              </a:pPr>
              <a:r>
                <a:rPr lang="en-US" altLang="ar-SA" b="1" noProof="1">
                  <a:latin typeface="+mj-lt"/>
                </a:rPr>
                <a:t>yPtr</a:t>
              </a:r>
            </a:p>
          </p:txBody>
        </p:sp>
        <p:sp>
          <p:nvSpPr>
            <p:cNvPr id="11283" name="Oval 9"/>
            <p:cNvSpPr>
              <a:spLocks noChangeArrowheads="1"/>
            </p:cNvSpPr>
            <p:nvPr/>
          </p:nvSpPr>
          <p:spPr bwMode="auto">
            <a:xfrm>
              <a:off x="582" y="3564"/>
              <a:ext cx="71" cy="49"/>
            </a:xfrm>
            <a:prstGeom prst="ellipse">
              <a:avLst/>
            </a:prstGeom>
            <a:solidFill>
              <a:srgbClr val="009900"/>
            </a:solidFill>
            <a:ln w="3175">
              <a:solidFill>
                <a:srgbClr val="0099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ar-SA" altLang="ar-SA">
                <a:latin typeface="+mj-lt"/>
              </a:endParaRPr>
            </a:p>
          </p:txBody>
        </p:sp>
        <p:sp>
          <p:nvSpPr>
            <p:cNvPr id="11284" name="Rectangle 10"/>
            <p:cNvSpPr>
              <a:spLocks noChangeArrowheads="1"/>
            </p:cNvSpPr>
            <p:nvPr/>
          </p:nvSpPr>
          <p:spPr bwMode="auto">
            <a:xfrm>
              <a:off x="1665" y="3039"/>
              <a:ext cx="117" cy="1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l" rtl="0">
                <a:lnSpc>
                  <a:spcPct val="72000"/>
                </a:lnSpc>
              </a:pPr>
              <a:r>
                <a:rPr lang="en-US" altLang="ar-SA" b="1" noProof="1">
                  <a:latin typeface="+mj-lt"/>
                </a:rPr>
                <a:t>y</a:t>
              </a:r>
            </a:p>
          </p:txBody>
        </p:sp>
        <p:sp>
          <p:nvSpPr>
            <p:cNvPr id="11285" name="Rectangle 11"/>
            <p:cNvSpPr>
              <a:spLocks noChangeArrowheads="1"/>
            </p:cNvSpPr>
            <p:nvPr/>
          </p:nvSpPr>
          <p:spPr bwMode="auto">
            <a:xfrm>
              <a:off x="1665" y="3245"/>
              <a:ext cx="117" cy="1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l" rtl="0">
                <a:lnSpc>
                  <a:spcPct val="72000"/>
                </a:lnSpc>
              </a:pPr>
              <a:r>
                <a:rPr lang="en-US" altLang="ar-SA" b="1" noProof="1">
                  <a:solidFill>
                    <a:srgbClr val="000000"/>
                  </a:solidFill>
                  <a:latin typeface="+mj-lt"/>
                </a:rPr>
                <a:t>5</a:t>
              </a:r>
              <a:endParaRPr lang="ar-SA" altLang="ar-SA" b="1" noProof="1">
                <a:solidFill>
                  <a:srgbClr val="000000"/>
                </a:solidFill>
                <a:latin typeface="+mj-lt"/>
              </a:endParaRPr>
            </a:p>
          </p:txBody>
        </p:sp>
      </p:grpSp>
      <p:sp>
        <p:nvSpPr>
          <p:cNvPr id="11269" name="Text Box 28"/>
          <p:cNvSpPr txBox="1">
            <a:spLocks noChangeArrowheads="1"/>
          </p:cNvSpPr>
          <p:nvPr/>
        </p:nvSpPr>
        <p:spPr bwMode="auto">
          <a:xfrm>
            <a:off x="5348288" y="6122988"/>
            <a:ext cx="18256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0">
              <a:spcBef>
                <a:spcPct val="50000"/>
              </a:spcBef>
            </a:pPr>
            <a:r>
              <a:rPr lang="en-US" altLang="ar-SA">
                <a:latin typeface="+mj-lt"/>
              </a:rPr>
              <a:t>Address of</a:t>
            </a:r>
            <a:r>
              <a:rPr lang="en-US" altLang="ar-SA">
                <a:latin typeface="+mj-lt"/>
                <a:cs typeface="Times New Roman" pitchFamily="18" charset="0"/>
              </a:rPr>
              <a:t> y </a:t>
            </a:r>
            <a:r>
              <a:rPr lang="en-US" altLang="ar-SA">
                <a:latin typeface="+mj-lt"/>
              </a:rPr>
              <a:t>is value of</a:t>
            </a:r>
            <a:r>
              <a:rPr lang="en-US" altLang="ar-SA">
                <a:latin typeface="+mj-lt"/>
                <a:cs typeface="Times New Roman" pitchFamily="18" charset="0"/>
              </a:rPr>
              <a:t> yptr</a:t>
            </a:r>
          </a:p>
        </p:txBody>
      </p:sp>
      <p:sp>
        <p:nvSpPr>
          <p:cNvPr id="11270" name="Line 29"/>
          <p:cNvSpPr>
            <a:spLocks noChangeShapeType="1"/>
          </p:cNvSpPr>
          <p:nvPr/>
        </p:nvSpPr>
        <p:spPr bwMode="auto">
          <a:xfrm flipV="1">
            <a:off x="6513513" y="5387975"/>
            <a:ext cx="268287" cy="7683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>
              <a:latin typeface="+mj-lt"/>
            </a:endParaRPr>
          </a:p>
        </p:txBody>
      </p:sp>
      <p:sp>
        <p:nvSpPr>
          <p:cNvPr id="11271" name="Line 30"/>
          <p:cNvSpPr>
            <a:spLocks noChangeShapeType="1"/>
          </p:cNvSpPr>
          <p:nvPr/>
        </p:nvSpPr>
        <p:spPr bwMode="auto">
          <a:xfrm flipH="1" flipV="1">
            <a:off x="5181600" y="5464175"/>
            <a:ext cx="555625" cy="6921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>
              <a:latin typeface="+mj-lt"/>
            </a:endParaRPr>
          </a:p>
        </p:txBody>
      </p:sp>
      <p:grpSp>
        <p:nvGrpSpPr>
          <p:cNvPr id="11272" name="Group 34"/>
          <p:cNvGrpSpPr>
            <a:grpSpLocks/>
          </p:cNvGrpSpPr>
          <p:nvPr/>
        </p:nvGrpSpPr>
        <p:grpSpPr bwMode="auto">
          <a:xfrm>
            <a:off x="3581399" y="4495800"/>
            <a:ext cx="5226049" cy="1249363"/>
            <a:chOff x="2324" y="2984"/>
            <a:chExt cx="3004" cy="491"/>
          </a:xfrm>
        </p:grpSpPr>
        <p:sp>
          <p:nvSpPr>
            <p:cNvPr id="11273" name="Rectangle 14"/>
            <p:cNvSpPr>
              <a:spLocks noChangeArrowheads="1"/>
            </p:cNvSpPr>
            <p:nvPr/>
          </p:nvSpPr>
          <p:spPr bwMode="auto">
            <a:xfrm>
              <a:off x="3086" y="2984"/>
              <a:ext cx="332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l" rtl="0">
                <a:lnSpc>
                  <a:spcPct val="80000"/>
                </a:lnSpc>
              </a:pPr>
              <a:r>
                <a:rPr lang="en-US" altLang="ar-SA" b="1" noProof="1">
                  <a:latin typeface="+mj-lt"/>
                </a:rPr>
                <a:t>yptr</a:t>
              </a:r>
            </a:p>
          </p:txBody>
        </p:sp>
        <p:sp>
          <p:nvSpPr>
            <p:cNvPr id="11274" name="Rectangle 16"/>
            <p:cNvSpPr>
              <a:spLocks noChangeArrowheads="1"/>
            </p:cNvSpPr>
            <p:nvPr/>
          </p:nvSpPr>
          <p:spPr bwMode="auto">
            <a:xfrm>
              <a:off x="2324" y="3258"/>
              <a:ext cx="48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l" rtl="0">
                <a:lnSpc>
                  <a:spcPct val="80000"/>
                </a:lnSpc>
              </a:pPr>
              <a:r>
                <a:rPr lang="en-US" altLang="ar-SA" noProof="1">
                  <a:solidFill>
                    <a:srgbClr val="000000"/>
                  </a:solidFill>
                  <a:latin typeface="+mj-lt"/>
                </a:rPr>
                <a:t>500000</a:t>
              </a:r>
              <a:endParaRPr lang="ar-SA" altLang="ar-SA" noProof="1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1275" name="Rectangle 21"/>
            <p:cNvSpPr>
              <a:spLocks noChangeArrowheads="1"/>
            </p:cNvSpPr>
            <p:nvPr/>
          </p:nvSpPr>
          <p:spPr bwMode="auto">
            <a:xfrm>
              <a:off x="4905" y="2984"/>
              <a:ext cx="102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l" rtl="0">
                <a:lnSpc>
                  <a:spcPct val="80000"/>
                </a:lnSpc>
              </a:pPr>
              <a:r>
                <a:rPr lang="en-US" altLang="ar-SA" b="1" noProof="1">
                  <a:latin typeface="+mj-lt"/>
                </a:rPr>
                <a:t>y</a:t>
              </a:r>
            </a:p>
          </p:txBody>
        </p:sp>
        <p:sp>
          <p:nvSpPr>
            <p:cNvPr id="11276" name="Rectangle 23"/>
            <p:cNvSpPr>
              <a:spLocks noChangeArrowheads="1"/>
            </p:cNvSpPr>
            <p:nvPr/>
          </p:nvSpPr>
          <p:spPr bwMode="auto">
            <a:xfrm>
              <a:off x="4052" y="3254"/>
              <a:ext cx="48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l" rtl="0">
                <a:lnSpc>
                  <a:spcPct val="80000"/>
                </a:lnSpc>
              </a:pPr>
              <a:r>
                <a:rPr lang="en-US" altLang="ar-SA" noProof="1">
                  <a:solidFill>
                    <a:srgbClr val="000000"/>
                  </a:solidFill>
                  <a:latin typeface="+mj-lt"/>
                </a:rPr>
                <a:t>600000</a:t>
              </a:r>
              <a:endParaRPr lang="ar-SA" altLang="ar-SA" noProof="1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1277" name="Text Box 31"/>
            <p:cNvSpPr txBox="1">
              <a:spLocks noChangeArrowheads="1"/>
            </p:cNvSpPr>
            <p:nvPr/>
          </p:nvSpPr>
          <p:spPr bwMode="auto">
            <a:xfrm>
              <a:off x="2880" y="3215"/>
              <a:ext cx="768" cy="148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rgbClr val="0099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rtl="0" eaLnBrk="1" hangingPunct="1">
                <a:spcBef>
                  <a:spcPct val="50000"/>
                </a:spcBef>
              </a:pPr>
              <a:r>
                <a:rPr lang="en-US" altLang="ar-SA" dirty="0">
                  <a:solidFill>
                    <a:srgbClr val="000000"/>
                  </a:solidFill>
                  <a:latin typeface="+mj-lt"/>
                </a:rPr>
                <a:t>600000</a:t>
              </a:r>
            </a:p>
          </p:txBody>
        </p:sp>
        <p:sp>
          <p:nvSpPr>
            <p:cNvPr id="11278" name="Text Box 32"/>
            <p:cNvSpPr txBox="1">
              <a:spLocks noChangeArrowheads="1"/>
            </p:cNvSpPr>
            <p:nvPr/>
          </p:nvSpPr>
          <p:spPr bwMode="auto">
            <a:xfrm>
              <a:off x="4560" y="3215"/>
              <a:ext cx="768" cy="148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rgbClr val="0099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rtl="0" eaLnBrk="1" hangingPunct="1">
                <a:spcBef>
                  <a:spcPct val="50000"/>
                </a:spcBef>
              </a:pPr>
              <a:r>
                <a:rPr lang="en-US" altLang="ar-SA">
                  <a:solidFill>
                    <a:srgbClr val="000000"/>
                  </a:solidFill>
                  <a:latin typeface="+mj-lt"/>
                </a:rPr>
                <a:t>5</a:t>
              </a:r>
            </a:p>
          </p:txBody>
        </p:sp>
      </p:grpSp>
      <p:sp>
        <p:nvSpPr>
          <p:cNvPr id="23" name="Rectangle 2"/>
          <p:cNvSpPr txBox="1">
            <a:spLocks noChangeArrowheads="1"/>
          </p:cNvSpPr>
          <p:nvPr/>
        </p:nvSpPr>
        <p:spPr>
          <a:xfrm>
            <a:off x="66675" y="85725"/>
            <a:ext cx="8991600" cy="5238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ar-SA" sz="4800" b="1">
                <a:solidFill>
                  <a:srgbClr val="000099"/>
                </a:solidFill>
              </a:rPr>
              <a:t>Pointer and Arrays</a:t>
            </a:r>
            <a:endParaRPr lang="en-US" altLang="ar-SA" sz="4800" b="1" dirty="0">
              <a:solidFill>
                <a:srgbClr val="000099"/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2347913" y="6399213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/>
              <a:t>CS 2321: D.S.A (-Introduction-)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42117F-2C73-4D66-97C1-4AE4EF459FFA}" type="slidenum">
              <a:rPr lang="ar-SA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6882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7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915988"/>
            <a:ext cx="8839200" cy="5789612"/>
          </a:xfrm>
        </p:spPr>
        <p:txBody>
          <a:bodyPr/>
          <a:lstStyle/>
          <a:p>
            <a:pPr algn="just" rtl="0" eaLnBrk="1" hangingPunct="1">
              <a:defRPr/>
            </a:pPr>
            <a:r>
              <a:rPr lang="en-US" sz="2800" dirty="0">
                <a:latin typeface="+mj-lt"/>
              </a:rPr>
              <a:t>Assume that array </a:t>
            </a:r>
            <a:r>
              <a:rPr lang="en-US" sz="2400" dirty="0" err="1">
                <a:latin typeface="+mj-lt"/>
              </a:rPr>
              <a:t>int</a:t>
            </a:r>
            <a:r>
              <a:rPr lang="en-US" sz="2400" dirty="0">
                <a:latin typeface="+mj-lt"/>
              </a:rPr>
              <a:t> v[5] </a:t>
            </a:r>
            <a:r>
              <a:rPr lang="en-US" sz="2800" dirty="0">
                <a:latin typeface="+mj-lt"/>
              </a:rPr>
              <a:t>has been defined and its first element is at location 3000 in memory in a machine with 4-byte integers. Also let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vPtr</a:t>
            </a:r>
            <a:r>
              <a:rPr lang="en-US" sz="2400" dirty="0">
                <a:latin typeface="+mj-lt"/>
              </a:rPr>
              <a:t> </a:t>
            </a:r>
            <a:r>
              <a:rPr lang="en-US" sz="2800" dirty="0">
                <a:latin typeface="+mj-lt"/>
              </a:rPr>
              <a:t>is a pointer to v, i.e., </a:t>
            </a:r>
            <a:r>
              <a:rPr lang="en-US" sz="2400" dirty="0" err="1">
                <a:latin typeface="+mj-lt"/>
              </a:rPr>
              <a:t>vPtr</a:t>
            </a:r>
            <a:r>
              <a:rPr lang="en-US" sz="2400" dirty="0">
                <a:latin typeface="+mj-lt"/>
              </a:rPr>
              <a:t> = 3000. </a:t>
            </a:r>
          </a:p>
          <a:p>
            <a:pPr algn="l" rtl="0" eaLnBrk="1" hangingPunct="1">
              <a:defRPr/>
            </a:pPr>
            <a:endParaRPr lang="en-US" sz="2400" dirty="0">
              <a:latin typeface="+mj-lt"/>
            </a:endParaRPr>
          </a:p>
          <a:p>
            <a:pPr algn="l" rtl="0" eaLnBrk="1" hangingPunct="1">
              <a:defRPr/>
            </a:pPr>
            <a:endParaRPr lang="en-US" sz="2400" dirty="0">
              <a:latin typeface="+mj-lt"/>
            </a:endParaRPr>
          </a:p>
          <a:p>
            <a:pPr algn="l" rtl="0" eaLnBrk="1" hangingPunct="1">
              <a:defRPr/>
            </a:pPr>
            <a:endParaRPr lang="en-US" sz="2400" dirty="0">
              <a:latin typeface="+mj-lt"/>
            </a:endParaRPr>
          </a:p>
          <a:p>
            <a:pPr algn="l" rtl="0" eaLnBrk="1" hangingPunct="1">
              <a:defRPr/>
            </a:pPr>
            <a:endParaRPr lang="en-US" sz="2800" dirty="0">
              <a:latin typeface="+mj-lt"/>
            </a:endParaRPr>
          </a:p>
          <a:p>
            <a:pPr algn="l" rtl="0" eaLnBrk="1" hangingPunct="1">
              <a:defRPr/>
            </a:pPr>
            <a:r>
              <a:rPr lang="en-US" sz="2400" dirty="0" err="1">
                <a:latin typeface="+mj-lt"/>
              </a:rPr>
              <a:t>vPtr</a:t>
            </a:r>
            <a:r>
              <a:rPr lang="en-US" sz="2400" dirty="0">
                <a:latin typeface="+mj-lt"/>
              </a:rPr>
              <a:t> += 2; </a:t>
            </a:r>
            <a:r>
              <a:rPr lang="en-US" sz="2800" dirty="0">
                <a:latin typeface="+mj-lt"/>
              </a:rPr>
              <a:t>sets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vPtr</a:t>
            </a:r>
            <a:r>
              <a:rPr lang="en-US" sz="2400" dirty="0">
                <a:latin typeface="+mj-lt"/>
              </a:rPr>
              <a:t> to 3008</a:t>
            </a:r>
          </a:p>
        </p:txBody>
      </p:sp>
      <p:grpSp>
        <p:nvGrpSpPr>
          <p:cNvPr id="47108" name="Group 37"/>
          <p:cNvGrpSpPr>
            <a:grpSpLocks/>
          </p:cNvGrpSpPr>
          <p:nvPr/>
        </p:nvGrpSpPr>
        <p:grpSpPr bwMode="auto">
          <a:xfrm>
            <a:off x="1676400" y="2743200"/>
            <a:ext cx="5334000" cy="1828800"/>
            <a:chOff x="576" y="2751"/>
            <a:chExt cx="4259" cy="1569"/>
          </a:xfrm>
        </p:grpSpPr>
        <p:sp>
          <p:nvSpPr>
            <p:cNvPr id="47141" name="Rectangle 4"/>
            <p:cNvSpPr>
              <a:spLocks noChangeArrowheads="1"/>
            </p:cNvSpPr>
            <p:nvPr/>
          </p:nvSpPr>
          <p:spPr bwMode="auto">
            <a:xfrm>
              <a:off x="576" y="4128"/>
              <a:ext cx="177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l" rtl="0" eaLnBrk="1" hangingPunct="1"/>
              <a:r>
                <a:rPr lang="en-US" altLang="ar-SA" sz="1600">
                  <a:solidFill>
                    <a:srgbClr val="FF3300"/>
                  </a:solidFill>
                  <a:latin typeface="+mj-lt"/>
                </a:rPr>
                <a:t>pointer variable</a:t>
              </a:r>
              <a:r>
                <a:rPr lang="en-US" altLang="ar-SA" sz="1600">
                  <a:solidFill>
                    <a:srgbClr val="FF3300"/>
                  </a:solidFill>
                  <a:latin typeface="+mj-lt"/>
                  <a:cs typeface="Times New Roman" pitchFamily="18" charset="0"/>
                </a:rPr>
                <a:t> </a:t>
              </a:r>
              <a:r>
                <a:rPr lang="en-US" altLang="ar-SA" sz="1600">
                  <a:solidFill>
                    <a:srgbClr val="FF3300"/>
                  </a:solidFill>
                  <a:latin typeface="+mj-lt"/>
                  <a:ea typeface="Mincho" charset="-128"/>
                </a:rPr>
                <a:t>vPtr</a:t>
              </a:r>
              <a:endParaRPr lang="en-US" altLang="ar-SA" sz="1600">
                <a:solidFill>
                  <a:srgbClr val="FF3300"/>
                </a:solidFill>
                <a:latin typeface="+mj-lt"/>
              </a:endParaRPr>
            </a:p>
          </p:txBody>
        </p:sp>
        <p:sp>
          <p:nvSpPr>
            <p:cNvPr id="47142" name="Freeform 5"/>
            <p:cNvSpPr>
              <a:spLocks/>
            </p:cNvSpPr>
            <p:nvPr/>
          </p:nvSpPr>
          <p:spPr bwMode="auto">
            <a:xfrm>
              <a:off x="935" y="3813"/>
              <a:ext cx="354" cy="308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rgbClr val="00FF00"/>
            </a:solidFill>
            <a:ln w="3175">
              <a:solidFill>
                <a:srgbClr val="009900"/>
              </a:solidFill>
              <a:round/>
              <a:headEnd/>
              <a:tailEnd/>
            </a:ln>
          </p:spPr>
          <p:txBody>
            <a:bodyPr/>
            <a:lstStyle/>
            <a:p>
              <a:endParaRPr lang="ar-SA">
                <a:latin typeface="+mj-lt"/>
              </a:endParaRPr>
            </a:p>
          </p:txBody>
        </p:sp>
        <p:sp>
          <p:nvSpPr>
            <p:cNvPr id="47143" name="Oval 6"/>
            <p:cNvSpPr>
              <a:spLocks noChangeArrowheads="1"/>
            </p:cNvSpPr>
            <p:nvPr/>
          </p:nvSpPr>
          <p:spPr bwMode="auto">
            <a:xfrm>
              <a:off x="1053" y="3916"/>
              <a:ext cx="118" cy="102"/>
            </a:xfrm>
            <a:prstGeom prst="ellipse">
              <a:avLst/>
            </a:pr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ar-SA" altLang="ar-SA">
                <a:latin typeface="+mj-lt"/>
              </a:endParaRPr>
            </a:p>
          </p:txBody>
        </p:sp>
        <p:grpSp>
          <p:nvGrpSpPr>
            <p:cNvPr id="47144" name="Group 7"/>
            <p:cNvGrpSpPr>
              <a:grpSpLocks/>
            </p:cNvGrpSpPr>
            <p:nvPr/>
          </p:nvGrpSpPr>
          <p:grpSpPr bwMode="auto">
            <a:xfrm>
              <a:off x="1880" y="3328"/>
              <a:ext cx="591" cy="309"/>
              <a:chOff x="0" y="0"/>
              <a:chExt cx="20000" cy="20000"/>
            </a:xfrm>
          </p:grpSpPr>
          <p:sp>
            <p:nvSpPr>
              <p:cNvPr id="47169" name="Freeform 8"/>
              <p:cNvSpPr>
                <a:spLocks/>
              </p:cNvSpPr>
              <p:nvPr/>
            </p:nvSpPr>
            <p:spPr bwMode="auto">
              <a:xfrm>
                <a:off x="0" y="0"/>
                <a:ext cx="20000" cy="20000"/>
              </a:xfrm>
              <a:custGeom>
                <a:avLst/>
                <a:gdLst>
                  <a:gd name="T0" fmla="*/ 19967 w 20000"/>
                  <a:gd name="T1" fmla="*/ 0 h 20000"/>
                  <a:gd name="T2" fmla="*/ 19967 w 20000"/>
                  <a:gd name="T3" fmla="*/ 19944 h 20000"/>
                  <a:gd name="T4" fmla="*/ 0 w 20000"/>
                  <a:gd name="T5" fmla="*/ 19944 h 20000"/>
                  <a:gd name="T6" fmla="*/ 0 w 20000"/>
                  <a:gd name="T7" fmla="*/ 0 h 20000"/>
                  <a:gd name="T8" fmla="*/ 19967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000"/>
                  <a:gd name="T16" fmla="*/ 0 h 20000"/>
                  <a:gd name="T17" fmla="*/ 20000 w 20000"/>
                  <a:gd name="T18" fmla="*/ 20000 h 2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000" h="20000">
                    <a:moveTo>
                      <a:pt x="19967" y="0"/>
                    </a:moveTo>
                    <a:lnTo>
                      <a:pt x="19967" y="19944"/>
                    </a:lnTo>
                    <a:lnTo>
                      <a:pt x="0" y="19944"/>
                    </a:lnTo>
                    <a:lnTo>
                      <a:pt x="0" y="0"/>
                    </a:lnTo>
                    <a:lnTo>
                      <a:pt x="19967" y="0"/>
                    </a:lnTo>
                    <a:close/>
                  </a:path>
                </a:pathLst>
              </a:custGeom>
              <a:solidFill>
                <a:srgbClr val="00FF00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ar-SA">
                  <a:latin typeface="+mj-lt"/>
                </a:endParaRPr>
              </a:p>
            </p:txBody>
          </p:sp>
          <p:sp>
            <p:nvSpPr>
              <p:cNvPr id="47170" name="Rectangle 9"/>
              <p:cNvSpPr>
                <a:spLocks noChangeArrowheads="1"/>
              </p:cNvSpPr>
              <p:nvPr/>
            </p:nvSpPr>
            <p:spPr bwMode="auto">
              <a:xfrm>
                <a:off x="2100" y="4000"/>
                <a:ext cx="15767" cy="14500"/>
              </a:xfrm>
              <a:prstGeom prst="rect">
                <a:avLst/>
              </a:prstGeom>
              <a:solidFill>
                <a:srgbClr val="00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algn="ctr" rtl="0" eaLnBrk="1" hangingPunct="1"/>
                <a:r>
                  <a:rPr lang="en-US" altLang="ar-SA" sz="1600">
                    <a:latin typeface="+mj-lt"/>
                    <a:cs typeface="Courier New" pitchFamily="49" charset="0"/>
                  </a:rPr>
                  <a:t>v[0]</a:t>
                </a:r>
                <a:endParaRPr lang="en-US" altLang="ar-SA" sz="1600">
                  <a:latin typeface="+mj-lt"/>
                </a:endParaRPr>
              </a:p>
            </p:txBody>
          </p:sp>
        </p:grpSp>
        <p:grpSp>
          <p:nvGrpSpPr>
            <p:cNvPr id="47145" name="Group 10"/>
            <p:cNvGrpSpPr>
              <a:grpSpLocks/>
            </p:cNvGrpSpPr>
            <p:nvPr/>
          </p:nvGrpSpPr>
          <p:grpSpPr bwMode="auto">
            <a:xfrm>
              <a:off x="2471" y="3328"/>
              <a:ext cx="591" cy="309"/>
              <a:chOff x="0" y="0"/>
              <a:chExt cx="20000" cy="20000"/>
            </a:xfrm>
          </p:grpSpPr>
          <p:sp>
            <p:nvSpPr>
              <p:cNvPr id="47167" name="Freeform 11"/>
              <p:cNvSpPr>
                <a:spLocks/>
              </p:cNvSpPr>
              <p:nvPr/>
            </p:nvSpPr>
            <p:spPr bwMode="auto">
              <a:xfrm>
                <a:off x="0" y="0"/>
                <a:ext cx="20000" cy="20000"/>
              </a:xfrm>
              <a:custGeom>
                <a:avLst/>
                <a:gdLst>
                  <a:gd name="T0" fmla="*/ 19967 w 20000"/>
                  <a:gd name="T1" fmla="*/ 0 h 20000"/>
                  <a:gd name="T2" fmla="*/ 19967 w 20000"/>
                  <a:gd name="T3" fmla="*/ 19944 h 20000"/>
                  <a:gd name="T4" fmla="*/ 0 w 20000"/>
                  <a:gd name="T5" fmla="*/ 19944 h 20000"/>
                  <a:gd name="T6" fmla="*/ 0 w 20000"/>
                  <a:gd name="T7" fmla="*/ 0 h 20000"/>
                  <a:gd name="T8" fmla="*/ 19967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000"/>
                  <a:gd name="T16" fmla="*/ 0 h 20000"/>
                  <a:gd name="T17" fmla="*/ 20000 w 20000"/>
                  <a:gd name="T18" fmla="*/ 20000 h 2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000" h="20000">
                    <a:moveTo>
                      <a:pt x="19967" y="0"/>
                    </a:moveTo>
                    <a:lnTo>
                      <a:pt x="19967" y="19944"/>
                    </a:lnTo>
                    <a:lnTo>
                      <a:pt x="0" y="19944"/>
                    </a:lnTo>
                    <a:lnTo>
                      <a:pt x="0" y="0"/>
                    </a:lnTo>
                    <a:lnTo>
                      <a:pt x="19967" y="0"/>
                    </a:lnTo>
                    <a:close/>
                  </a:path>
                </a:pathLst>
              </a:custGeom>
              <a:solidFill>
                <a:srgbClr val="00FF00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ar-SA">
                  <a:latin typeface="+mj-lt"/>
                </a:endParaRPr>
              </a:p>
            </p:txBody>
          </p:sp>
          <p:sp>
            <p:nvSpPr>
              <p:cNvPr id="47168" name="Rectangle 12"/>
              <p:cNvSpPr>
                <a:spLocks noChangeArrowheads="1"/>
              </p:cNvSpPr>
              <p:nvPr/>
            </p:nvSpPr>
            <p:spPr bwMode="auto">
              <a:xfrm>
                <a:off x="2100" y="4000"/>
                <a:ext cx="15767" cy="14500"/>
              </a:xfrm>
              <a:prstGeom prst="rect">
                <a:avLst/>
              </a:prstGeom>
              <a:solidFill>
                <a:srgbClr val="00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algn="ctr" rtl="0" eaLnBrk="1" hangingPunct="1"/>
                <a:r>
                  <a:rPr lang="en-US" altLang="ar-SA" sz="1600">
                    <a:latin typeface="+mj-lt"/>
                    <a:cs typeface="Courier New" pitchFamily="49" charset="0"/>
                  </a:rPr>
                  <a:t>v[1]</a:t>
                </a:r>
                <a:endParaRPr lang="en-US" altLang="ar-SA" sz="1600">
                  <a:latin typeface="+mj-lt"/>
                </a:endParaRPr>
              </a:p>
            </p:txBody>
          </p:sp>
        </p:grpSp>
        <p:grpSp>
          <p:nvGrpSpPr>
            <p:cNvPr id="47146" name="Group 13"/>
            <p:cNvGrpSpPr>
              <a:grpSpLocks/>
            </p:cNvGrpSpPr>
            <p:nvPr/>
          </p:nvGrpSpPr>
          <p:grpSpPr bwMode="auto">
            <a:xfrm>
              <a:off x="3062" y="3328"/>
              <a:ext cx="591" cy="309"/>
              <a:chOff x="0" y="0"/>
              <a:chExt cx="20000" cy="20000"/>
            </a:xfrm>
          </p:grpSpPr>
          <p:sp>
            <p:nvSpPr>
              <p:cNvPr id="47165" name="Freeform 14"/>
              <p:cNvSpPr>
                <a:spLocks/>
              </p:cNvSpPr>
              <p:nvPr/>
            </p:nvSpPr>
            <p:spPr bwMode="auto">
              <a:xfrm>
                <a:off x="0" y="0"/>
                <a:ext cx="20000" cy="20000"/>
              </a:xfrm>
              <a:custGeom>
                <a:avLst/>
                <a:gdLst>
                  <a:gd name="T0" fmla="*/ 19967 w 20000"/>
                  <a:gd name="T1" fmla="*/ 0 h 20000"/>
                  <a:gd name="T2" fmla="*/ 19967 w 20000"/>
                  <a:gd name="T3" fmla="*/ 19944 h 20000"/>
                  <a:gd name="T4" fmla="*/ 0 w 20000"/>
                  <a:gd name="T5" fmla="*/ 19944 h 20000"/>
                  <a:gd name="T6" fmla="*/ 0 w 20000"/>
                  <a:gd name="T7" fmla="*/ 0 h 20000"/>
                  <a:gd name="T8" fmla="*/ 19967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000"/>
                  <a:gd name="T16" fmla="*/ 0 h 20000"/>
                  <a:gd name="T17" fmla="*/ 20000 w 20000"/>
                  <a:gd name="T18" fmla="*/ 20000 h 2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000" h="20000">
                    <a:moveTo>
                      <a:pt x="19967" y="0"/>
                    </a:moveTo>
                    <a:lnTo>
                      <a:pt x="19967" y="19944"/>
                    </a:lnTo>
                    <a:lnTo>
                      <a:pt x="0" y="19944"/>
                    </a:lnTo>
                    <a:lnTo>
                      <a:pt x="0" y="0"/>
                    </a:lnTo>
                    <a:lnTo>
                      <a:pt x="19967" y="0"/>
                    </a:lnTo>
                    <a:close/>
                  </a:path>
                </a:pathLst>
              </a:custGeom>
              <a:solidFill>
                <a:srgbClr val="00FF00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ar-SA">
                  <a:latin typeface="+mj-lt"/>
                </a:endParaRPr>
              </a:p>
            </p:txBody>
          </p:sp>
          <p:sp>
            <p:nvSpPr>
              <p:cNvPr id="47166" name="Rectangle 15"/>
              <p:cNvSpPr>
                <a:spLocks noChangeArrowheads="1"/>
              </p:cNvSpPr>
              <p:nvPr/>
            </p:nvSpPr>
            <p:spPr bwMode="auto">
              <a:xfrm>
                <a:off x="2100" y="4000"/>
                <a:ext cx="15767" cy="14500"/>
              </a:xfrm>
              <a:prstGeom prst="rect">
                <a:avLst/>
              </a:prstGeom>
              <a:solidFill>
                <a:srgbClr val="00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algn="ctr" rtl="0" eaLnBrk="1" hangingPunct="1"/>
                <a:r>
                  <a:rPr lang="en-US" altLang="ar-SA" sz="1600">
                    <a:latin typeface="+mj-lt"/>
                    <a:cs typeface="Courier New" pitchFamily="49" charset="0"/>
                  </a:rPr>
                  <a:t>v[2]</a:t>
                </a:r>
                <a:endParaRPr lang="en-US" altLang="ar-SA" sz="1600">
                  <a:latin typeface="+mj-lt"/>
                </a:endParaRPr>
              </a:p>
            </p:txBody>
          </p:sp>
        </p:grpSp>
        <p:grpSp>
          <p:nvGrpSpPr>
            <p:cNvPr id="47147" name="Group 16"/>
            <p:cNvGrpSpPr>
              <a:grpSpLocks/>
            </p:cNvGrpSpPr>
            <p:nvPr/>
          </p:nvGrpSpPr>
          <p:grpSpPr bwMode="auto">
            <a:xfrm>
              <a:off x="4244" y="3328"/>
              <a:ext cx="591" cy="309"/>
              <a:chOff x="0" y="0"/>
              <a:chExt cx="20000" cy="20000"/>
            </a:xfrm>
          </p:grpSpPr>
          <p:sp>
            <p:nvSpPr>
              <p:cNvPr id="47163" name="Freeform 17"/>
              <p:cNvSpPr>
                <a:spLocks/>
              </p:cNvSpPr>
              <p:nvPr/>
            </p:nvSpPr>
            <p:spPr bwMode="auto">
              <a:xfrm>
                <a:off x="0" y="0"/>
                <a:ext cx="20000" cy="20000"/>
              </a:xfrm>
              <a:custGeom>
                <a:avLst/>
                <a:gdLst>
                  <a:gd name="T0" fmla="*/ 19967 w 20000"/>
                  <a:gd name="T1" fmla="*/ 0 h 20000"/>
                  <a:gd name="T2" fmla="*/ 19967 w 20000"/>
                  <a:gd name="T3" fmla="*/ 19944 h 20000"/>
                  <a:gd name="T4" fmla="*/ 0 w 20000"/>
                  <a:gd name="T5" fmla="*/ 19944 h 20000"/>
                  <a:gd name="T6" fmla="*/ 0 w 20000"/>
                  <a:gd name="T7" fmla="*/ 0 h 20000"/>
                  <a:gd name="T8" fmla="*/ 19967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000"/>
                  <a:gd name="T16" fmla="*/ 0 h 20000"/>
                  <a:gd name="T17" fmla="*/ 20000 w 20000"/>
                  <a:gd name="T18" fmla="*/ 20000 h 2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000" h="20000">
                    <a:moveTo>
                      <a:pt x="19967" y="0"/>
                    </a:moveTo>
                    <a:lnTo>
                      <a:pt x="19967" y="19944"/>
                    </a:lnTo>
                    <a:lnTo>
                      <a:pt x="0" y="19944"/>
                    </a:lnTo>
                    <a:lnTo>
                      <a:pt x="0" y="0"/>
                    </a:lnTo>
                    <a:lnTo>
                      <a:pt x="19967" y="0"/>
                    </a:lnTo>
                    <a:close/>
                  </a:path>
                </a:pathLst>
              </a:custGeom>
              <a:solidFill>
                <a:srgbClr val="00FF00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ar-SA">
                  <a:latin typeface="+mj-lt"/>
                </a:endParaRPr>
              </a:p>
            </p:txBody>
          </p:sp>
          <p:sp>
            <p:nvSpPr>
              <p:cNvPr id="47164" name="Rectangle 18"/>
              <p:cNvSpPr>
                <a:spLocks noChangeArrowheads="1"/>
              </p:cNvSpPr>
              <p:nvPr/>
            </p:nvSpPr>
            <p:spPr bwMode="auto">
              <a:xfrm>
                <a:off x="2100" y="4000"/>
                <a:ext cx="15767" cy="14500"/>
              </a:xfrm>
              <a:prstGeom prst="rect">
                <a:avLst/>
              </a:prstGeom>
              <a:solidFill>
                <a:srgbClr val="00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algn="ctr" rtl="0" eaLnBrk="1" hangingPunct="1"/>
                <a:r>
                  <a:rPr lang="en-US" altLang="ar-SA" sz="1600">
                    <a:latin typeface="+mj-lt"/>
                    <a:cs typeface="Courier New" pitchFamily="49" charset="0"/>
                  </a:rPr>
                  <a:t>v[4]</a:t>
                </a:r>
                <a:endParaRPr lang="en-US" altLang="ar-SA" sz="1600">
                  <a:latin typeface="+mj-lt"/>
                </a:endParaRPr>
              </a:p>
            </p:txBody>
          </p:sp>
        </p:grpSp>
        <p:grpSp>
          <p:nvGrpSpPr>
            <p:cNvPr id="47148" name="Group 19"/>
            <p:cNvGrpSpPr>
              <a:grpSpLocks/>
            </p:cNvGrpSpPr>
            <p:nvPr/>
          </p:nvGrpSpPr>
          <p:grpSpPr bwMode="auto">
            <a:xfrm>
              <a:off x="3653" y="3328"/>
              <a:ext cx="591" cy="309"/>
              <a:chOff x="0" y="0"/>
              <a:chExt cx="20000" cy="20000"/>
            </a:xfrm>
          </p:grpSpPr>
          <p:sp>
            <p:nvSpPr>
              <p:cNvPr id="47161" name="Freeform 20"/>
              <p:cNvSpPr>
                <a:spLocks/>
              </p:cNvSpPr>
              <p:nvPr/>
            </p:nvSpPr>
            <p:spPr bwMode="auto">
              <a:xfrm>
                <a:off x="0" y="0"/>
                <a:ext cx="20000" cy="20000"/>
              </a:xfrm>
              <a:custGeom>
                <a:avLst/>
                <a:gdLst>
                  <a:gd name="T0" fmla="*/ 19967 w 20000"/>
                  <a:gd name="T1" fmla="*/ 0 h 20000"/>
                  <a:gd name="T2" fmla="*/ 19967 w 20000"/>
                  <a:gd name="T3" fmla="*/ 19944 h 20000"/>
                  <a:gd name="T4" fmla="*/ 0 w 20000"/>
                  <a:gd name="T5" fmla="*/ 19944 h 20000"/>
                  <a:gd name="T6" fmla="*/ 0 w 20000"/>
                  <a:gd name="T7" fmla="*/ 0 h 20000"/>
                  <a:gd name="T8" fmla="*/ 19967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000"/>
                  <a:gd name="T16" fmla="*/ 0 h 20000"/>
                  <a:gd name="T17" fmla="*/ 20000 w 20000"/>
                  <a:gd name="T18" fmla="*/ 20000 h 2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000" h="20000">
                    <a:moveTo>
                      <a:pt x="19967" y="0"/>
                    </a:moveTo>
                    <a:lnTo>
                      <a:pt x="19967" y="19944"/>
                    </a:lnTo>
                    <a:lnTo>
                      <a:pt x="0" y="19944"/>
                    </a:lnTo>
                    <a:lnTo>
                      <a:pt x="0" y="0"/>
                    </a:lnTo>
                    <a:lnTo>
                      <a:pt x="19967" y="0"/>
                    </a:lnTo>
                    <a:close/>
                  </a:path>
                </a:pathLst>
              </a:custGeom>
              <a:solidFill>
                <a:srgbClr val="00FF00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ar-SA">
                  <a:latin typeface="+mj-lt"/>
                </a:endParaRPr>
              </a:p>
            </p:txBody>
          </p:sp>
          <p:sp>
            <p:nvSpPr>
              <p:cNvPr id="47162" name="Rectangle 21"/>
              <p:cNvSpPr>
                <a:spLocks noChangeArrowheads="1"/>
              </p:cNvSpPr>
              <p:nvPr/>
            </p:nvSpPr>
            <p:spPr bwMode="auto">
              <a:xfrm>
                <a:off x="2100" y="4000"/>
                <a:ext cx="15767" cy="14500"/>
              </a:xfrm>
              <a:prstGeom prst="rect">
                <a:avLst/>
              </a:prstGeom>
              <a:solidFill>
                <a:srgbClr val="00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algn="ctr" rtl="0" eaLnBrk="1" hangingPunct="1"/>
                <a:r>
                  <a:rPr lang="en-US" altLang="ar-SA" sz="1600">
                    <a:latin typeface="+mj-lt"/>
                    <a:cs typeface="Courier New" pitchFamily="49" charset="0"/>
                  </a:rPr>
                  <a:t>v[3]</a:t>
                </a:r>
                <a:endParaRPr lang="en-US" altLang="ar-SA" sz="1600">
                  <a:latin typeface="+mj-lt"/>
                </a:endParaRPr>
              </a:p>
            </p:txBody>
          </p:sp>
        </p:grpSp>
        <p:sp>
          <p:nvSpPr>
            <p:cNvPr id="47149" name="Freeform 22"/>
            <p:cNvSpPr>
              <a:spLocks/>
            </p:cNvSpPr>
            <p:nvPr/>
          </p:nvSpPr>
          <p:spPr bwMode="auto">
            <a:xfrm>
              <a:off x="1880" y="3124"/>
              <a:ext cx="0" cy="20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19917 h 20000"/>
                <a:gd name="T4" fmla="*/ 0 60000 65536"/>
                <a:gd name="T5" fmla="*/ 0 60000 65536"/>
                <a:gd name="T6" fmla="*/ 0 w 20000"/>
                <a:gd name="T7" fmla="*/ 0 h 20000"/>
                <a:gd name="T8" fmla="*/ 0 w 20000"/>
                <a:gd name="T9" fmla="*/ 20000 h 200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000" h="20000">
                  <a:moveTo>
                    <a:pt x="0" y="0"/>
                  </a:moveTo>
                  <a:lnTo>
                    <a:pt x="0" y="19917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ar-SA">
                <a:latin typeface="+mj-lt"/>
              </a:endParaRPr>
            </a:p>
          </p:txBody>
        </p:sp>
        <p:sp>
          <p:nvSpPr>
            <p:cNvPr id="47150" name="Freeform 23"/>
            <p:cNvSpPr>
              <a:spLocks/>
            </p:cNvSpPr>
            <p:nvPr/>
          </p:nvSpPr>
          <p:spPr bwMode="auto">
            <a:xfrm>
              <a:off x="2471" y="3124"/>
              <a:ext cx="0" cy="20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19917 h 20000"/>
                <a:gd name="T4" fmla="*/ 0 60000 65536"/>
                <a:gd name="T5" fmla="*/ 0 60000 65536"/>
                <a:gd name="T6" fmla="*/ 0 w 20000"/>
                <a:gd name="T7" fmla="*/ 0 h 20000"/>
                <a:gd name="T8" fmla="*/ 0 w 20000"/>
                <a:gd name="T9" fmla="*/ 20000 h 200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000" h="20000">
                  <a:moveTo>
                    <a:pt x="0" y="0"/>
                  </a:moveTo>
                  <a:lnTo>
                    <a:pt x="0" y="19917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ar-SA">
                <a:latin typeface="+mj-lt"/>
              </a:endParaRPr>
            </a:p>
          </p:txBody>
        </p:sp>
        <p:sp>
          <p:nvSpPr>
            <p:cNvPr id="47151" name="Freeform 24"/>
            <p:cNvSpPr>
              <a:spLocks/>
            </p:cNvSpPr>
            <p:nvPr/>
          </p:nvSpPr>
          <p:spPr bwMode="auto">
            <a:xfrm>
              <a:off x="3062" y="3124"/>
              <a:ext cx="0" cy="20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19917 h 20000"/>
                <a:gd name="T4" fmla="*/ 0 60000 65536"/>
                <a:gd name="T5" fmla="*/ 0 60000 65536"/>
                <a:gd name="T6" fmla="*/ 0 w 20000"/>
                <a:gd name="T7" fmla="*/ 0 h 20000"/>
                <a:gd name="T8" fmla="*/ 0 w 20000"/>
                <a:gd name="T9" fmla="*/ 20000 h 200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000" h="20000">
                  <a:moveTo>
                    <a:pt x="0" y="0"/>
                  </a:moveTo>
                  <a:lnTo>
                    <a:pt x="0" y="19917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ar-SA">
                <a:latin typeface="+mj-lt"/>
              </a:endParaRPr>
            </a:p>
          </p:txBody>
        </p:sp>
        <p:sp>
          <p:nvSpPr>
            <p:cNvPr id="47152" name="Freeform 25"/>
            <p:cNvSpPr>
              <a:spLocks/>
            </p:cNvSpPr>
            <p:nvPr/>
          </p:nvSpPr>
          <p:spPr bwMode="auto">
            <a:xfrm>
              <a:off x="3653" y="3124"/>
              <a:ext cx="0" cy="20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19917 h 20000"/>
                <a:gd name="T4" fmla="*/ 0 60000 65536"/>
                <a:gd name="T5" fmla="*/ 0 60000 65536"/>
                <a:gd name="T6" fmla="*/ 0 w 20000"/>
                <a:gd name="T7" fmla="*/ 0 h 20000"/>
                <a:gd name="T8" fmla="*/ 0 w 20000"/>
                <a:gd name="T9" fmla="*/ 20000 h 200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000" h="20000">
                  <a:moveTo>
                    <a:pt x="0" y="0"/>
                  </a:moveTo>
                  <a:lnTo>
                    <a:pt x="0" y="19917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ar-SA">
                <a:latin typeface="+mj-lt"/>
              </a:endParaRPr>
            </a:p>
          </p:txBody>
        </p:sp>
        <p:sp>
          <p:nvSpPr>
            <p:cNvPr id="47153" name="Freeform 26"/>
            <p:cNvSpPr>
              <a:spLocks/>
            </p:cNvSpPr>
            <p:nvPr/>
          </p:nvSpPr>
          <p:spPr bwMode="auto">
            <a:xfrm>
              <a:off x="4244" y="3124"/>
              <a:ext cx="0" cy="20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19917 h 20000"/>
                <a:gd name="T4" fmla="*/ 0 60000 65536"/>
                <a:gd name="T5" fmla="*/ 0 60000 65536"/>
                <a:gd name="T6" fmla="*/ 0 w 20000"/>
                <a:gd name="T7" fmla="*/ 0 h 20000"/>
                <a:gd name="T8" fmla="*/ 0 w 20000"/>
                <a:gd name="T9" fmla="*/ 20000 h 200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000" h="20000">
                  <a:moveTo>
                    <a:pt x="0" y="0"/>
                  </a:moveTo>
                  <a:lnTo>
                    <a:pt x="0" y="19917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ar-SA">
                <a:latin typeface="+mj-lt"/>
              </a:endParaRPr>
            </a:p>
          </p:txBody>
        </p:sp>
        <p:sp>
          <p:nvSpPr>
            <p:cNvPr id="47154" name="Rectangle 27"/>
            <p:cNvSpPr>
              <a:spLocks noChangeArrowheads="1"/>
            </p:cNvSpPr>
            <p:nvPr/>
          </p:nvSpPr>
          <p:spPr bwMode="auto">
            <a:xfrm>
              <a:off x="1729" y="2925"/>
              <a:ext cx="466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l" rtl="0" eaLnBrk="1" hangingPunct="1"/>
              <a:r>
                <a:rPr lang="en-US" altLang="ar-SA" sz="1600">
                  <a:solidFill>
                    <a:srgbClr val="FF3300"/>
                  </a:solidFill>
                  <a:latin typeface="+mj-lt"/>
                  <a:cs typeface="Courier New" pitchFamily="49" charset="0"/>
                </a:rPr>
                <a:t>3000</a:t>
              </a:r>
              <a:endParaRPr lang="en-US" altLang="ar-SA" sz="1600">
                <a:solidFill>
                  <a:srgbClr val="FF3300"/>
                </a:solidFill>
                <a:latin typeface="+mj-lt"/>
              </a:endParaRPr>
            </a:p>
          </p:txBody>
        </p:sp>
        <p:sp>
          <p:nvSpPr>
            <p:cNvPr id="47155" name="Rectangle 28"/>
            <p:cNvSpPr>
              <a:spLocks noChangeArrowheads="1"/>
            </p:cNvSpPr>
            <p:nvPr/>
          </p:nvSpPr>
          <p:spPr bwMode="auto">
            <a:xfrm>
              <a:off x="2329" y="2925"/>
              <a:ext cx="465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l" rtl="0" eaLnBrk="1" hangingPunct="1"/>
              <a:r>
                <a:rPr lang="en-US" altLang="ar-SA" sz="1600">
                  <a:solidFill>
                    <a:srgbClr val="FF3300"/>
                  </a:solidFill>
                  <a:latin typeface="+mj-lt"/>
                  <a:cs typeface="Courier New" pitchFamily="49" charset="0"/>
                </a:rPr>
                <a:t>3004</a:t>
              </a:r>
              <a:endParaRPr lang="en-US" altLang="ar-SA" sz="1600">
                <a:solidFill>
                  <a:srgbClr val="FF3300"/>
                </a:solidFill>
                <a:latin typeface="+mj-lt"/>
              </a:endParaRPr>
            </a:p>
          </p:txBody>
        </p:sp>
        <p:sp>
          <p:nvSpPr>
            <p:cNvPr id="47156" name="Rectangle 29"/>
            <p:cNvSpPr>
              <a:spLocks noChangeArrowheads="1"/>
            </p:cNvSpPr>
            <p:nvPr/>
          </p:nvSpPr>
          <p:spPr bwMode="auto">
            <a:xfrm>
              <a:off x="2928" y="2925"/>
              <a:ext cx="465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l" rtl="0" eaLnBrk="1" hangingPunct="1"/>
              <a:r>
                <a:rPr lang="en-US" altLang="ar-SA" sz="1600">
                  <a:solidFill>
                    <a:srgbClr val="FF3300"/>
                  </a:solidFill>
                  <a:latin typeface="+mj-lt"/>
                  <a:cs typeface="Courier New" pitchFamily="49" charset="0"/>
                </a:rPr>
                <a:t>3008</a:t>
              </a:r>
              <a:endParaRPr lang="en-US" altLang="ar-SA" sz="1600">
                <a:solidFill>
                  <a:srgbClr val="FF3300"/>
                </a:solidFill>
                <a:latin typeface="+mj-lt"/>
              </a:endParaRPr>
            </a:p>
          </p:txBody>
        </p:sp>
        <p:sp>
          <p:nvSpPr>
            <p:cNvPr id="47157" name="Rectangle 30"/>
            <p:cNvSpPr>
              <a:spLocks noChangeArrowheads="1"/>
            </p:cNvSpPr>
            <p:nvPr/>
          </p:nvSpPr>
          <p:spPr bwMode="auto">
            <a:xfrm>
              <a:off x="3473" y="2925"/>
              <a:ext cx="465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l" rtl="0" eaLnBrk="1" hangingPunct="1"/>
              <a:r>
                <a:rPr lang="en-US" altLang="ar-SA" sz="1600">
                  <a:solidFill>
                    <a:srgbClr val="FF3300"/>
                  </a:solidFill>
                  <a:latin typeface="+mj-lt"/>
                  <a:cs typeface="Courier New" pitchFamily="49" charset="0"/>
                </a:rPr>
                <a:t>3012</a:t>
              </a:r>
              <a:endParaRPr lang="en-US" altLang="ar-SA" sz="1600">
                <a:solidFill>
                  <a:srgbClr val="FF3300"/>
                </a:solidFill>
                <a:latin typeface="+mj-lt"/>
              </a:endParaRPr>
            </a:p>
          </p:txBody>
        </p:sp>
        <p:sp>
          <p:nvSpPr>
            <p:cNvPr id="47158" name="Rectangle 31"/>
            <p:cNvSpPr>
              <a:spLocks noChangeArrowheads="1"/>
            </p:cNvSpPr>
            <p:nvPr/>
          </p:nvSpPr>
          <p:spPr bwMode="auto">
            <a:xfrm>
              <a:off x="4072" y="2925"/>
              <a:ext cx="466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l" rtl="0" eaLnBrk="1" hangingPunct="1"/>
              <a:r>
                <a:rPr lang="en-US" altLang="ar-SA" sz="1600">
                  <a:solidFill>
                    <a:srgbClr val="FF3300"/>
                  </a:solidFill>
                  <a:latin typeface="+mj-lt"/>
                  <a:cs typeface="Courier New" pitchFamily="49" charset="0"/>
                </a:rPr>
                <a:t>3016</a:t>
              </a:r>
              <a:endParaRPr lang="en-US" altLang="ar-SA" sz="1600">
                <a:solidFill>
                  <a:srgbClr val="FF3300"/>
                </a:solidFill>
                <a:latin typeface="+mj-lt"/>
              </a:endParaRPr>
            </a:p>
          </p:txBody>
        </p:sp>
        <p:sp>
          <p:nvSpPr>
            <p:cNvPr id="47159" name="Rectangle 32"/>
            <p:cNvSpPr>
              <a:spLocks noChangeArrowheads="1"/>
            </p:cNvSpPr>
            <p:nvPr/>
          </p:nvSpPr>
          <p:spPr bwMode="auto">
            <a:xfrm>
              <a:off x="1607" y="2751"/>
              <a:ext cx="798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l" rtl="0" eaLnBrk="1" hangingPunct="1"/>
              <a:r>
                <a:rPr lang="en-US" altLang="ar-SA" sz="1600">
                  <a:solidFill>
                    <a:srgbClr val="FF3300"/>
                  </a:solidFill>
                  <a:latin typeface="+mj-lt"/>
                </a:rPr>
                <a:t>location</a:t>
              </a:r>
            </a:p>
          </p:txBody>
        </p:sp>
        <p:sp>
          <p:nvSpPr>
            <p:cNvPr id="47160" name="Freeform 33"/>
            <p:cNvSpPr>
              <a:spLocks/>
            </p:cNvSpPr>
            <p:nvPr/>
          </p:nvSpPr>
          <p:spPr bwMode="auto">
            <a:xfrm>
              <a:off x="1106" y="3464"/>
              <a:ext cx="777" cy="458"/>
            </a:xfrm>
            <a:custGeom>
              <a:avLst/>
              <a:gdLst>
                <a:gd name="T0" fmla="*/ 19975 w 20000"/>
                <a:gd name="T1" fmla="*/ 0 h 20000"/>
                <a:gd name="T2" fmla="*/ 0 w 20000"/>
                <a:gd name="T3" fmla="*/ 0 h 20000"/>
                <a:gd name="T4" fmla="*/ 0 w 20000"/>
                <a:gd name="T5" fmla="*/ 19963 h 20000"/>
                <a:gd name="T6" fmla="*/ 0 60000 65536"/>
                <a:gd name="T7" fmla="*/ 0 60000 65536"/>
                <a:gd name="T8" fmla="*/ 0 60000 65536"/>
                <a:gd name="T9" fmla="*/ 0 w 20000"/>
                <a:gd name="T10" fmla="*/ 0 h 20000"/>
                <a:gd name="T11" fmla="*/ 20000 w 20000"/>
                <a:gd name="T12" fmla="*/ 20000 h 200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000" h="20000">
                  <a:moveTo>
                    <a:pt x="19975" y="0"/>
                  </a:moveTo>
                  <a:lnTo>
                    <a:pt x="0" y="0"/>
                  </a:lnTo>
                  <a:lnTo>
                    <a:pt x="0" y="1996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ar-SA">
                <a:latin typeface="+mj-lt"/>
              </a:endParaRPr>
            </a:p>
          </p:txBody>
        </p:sp>
      </p:grpSp>
      <p:grpSp>
        <p:nvGrpSpPr>
          <p:cNvPr id="47109" name="Group 71"/>
          <p:cNvGrpSpPr>
            <a:grpSpLocks/>
          </p:cNvGrpSpPr>
          <p:nvPr/>
        </p:nvGrpSpPr>
        <p:grpSpPr bwMode="auto">
          <a:xfrm>
            <a:off x="1676400" y="4953000"/>
            <a:ext cx="5334000" cy="1828800"/>
            <a:chOff x="1056" y="3072"/>
            <a:chExt cx="3360" cy="1152"/>
          </a:xfrm>
        </p:grpSpPr>
        <p:sp>
          <p:nvSpPr>
            <p:cNvPr id="47110" name="Rectangle 39"/>
            <p:cNvSpPr>
              <a:spLocks noChangeArrowheads="1"/>
            </p:cNvSpPr>
            <p:nvPr/>
          </p:nvSpPr>
          <p:spPr bwMode="auto">
            <a:xfrm>
              <a:off x="1056" y="4083"/>
              <a:ext cx="1401" cy="1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l" rtl="0" eaLnBrk="1" hangingPunct="1"/>
              <a:r>
                <a:rPr lang="en-US" altLang="ar-SA" sz="1600">
                  <a:solidFill>
                    <a:srgbClr val="FF3300"/>
                  </a:solidFill>
                  <a:latin typeface="+mj-lt"/>
                </a:rPr>
                <a:t>pointer variable</a:t>
              </a:r>
              <a:r>
                <a:rPr lang="en-US" altLang="ar-SA" sz="1600">
                  <a:solidFill>
                    <a:srgbClr val="FF3300"/>
                  </a:solidFill>
                  <a:latin typeface="+mj-lt"/>
                  <a:cs typeface="Times New Roman" pitchFamily="18" charset="0"/>
                </a:rPr>
                <a:t> </a:t>
              </a:r>
              <a:r>
                <a:rPr lang="en-US" altLang="ar-SA" sz="1600">
                  <a:solidFill>
                    <a:srgbClr val="FF3300"/>
                  </a:solidFill>
                  <a:latin typeface="+mj-lt"/>
                  <a:ea typeface="Mincho" charset="-128"/>
                </a:rPr>
                <a:t>vPtr</a:t>
              </a:r>
              <a:endParaRPr lang="en-US" altLang="ar-SA" sz="1600">
                <a:solidFill>
                  <a:srgbClr val="FF3300"/>
                </a:solidFill>
                <a:latin typeface="+mj-lt"/>
              </a:endParaRPr>
            </a:p>
          </p:txBody>
        </p:sp>
        <p:sp>
          <p:nvSpPr>
            <p:cNvPr id="47111" name="Freeform 40"/>
            <p:cNvSpPr>
              <a:spLocks/>
            </p:cNvSpPr>
            <p:nvPr/>
          </p:nvSpPr>
          <p:spPr bwMode="auto">
            <a:xfrm>
              <a:off x="1311" y="3852"/>
              <a:ext cx="279" cy="226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rgbClr val="00FF00"/>
            </a:solidFill>
            <a:ln w="3175">
              <a:solidFill>
                <a:srgbClr val="009900"/>
              </a:solidFill>
              <a:round/>
              <a:headEnd/>
              <a:tailEnd/>
            </a:ln>
          </p:spPr>
          <p:txBody>
            <a:bodyPr/>
            <a:lstStyle/>
            <a:p>
              <a:endParaRPr lang="ar-SA">
                <a:latin typeface="+mj-lt"/>
              </a:endParaRPr>
            </a:p>
          </p:txBody>
        </p:sp>
        <p:sp>
          <p:nvSpPr>
            <p:cNvPr id="47112" name="Oval 41"/>
            <p:cNvSpPr>
              <a:spLocks noChangeArrowheads="1"/>
            </p:cNvSpPr>
            <p:nvPr/>
          </p:nvSpPr>
          <p:spPr bwMode="auto">
            <a:xfrm>
              <a:off x="1404" y="3927"/>
              <a:ext cx="93" cy="75"/>
            </a:xfrm>
            <a:prstGeom prst="ellipse">
              <a:avLst/>
            </a:pr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ar-SA" altLang="ar-SA">
                <a:latin typeface="+mj-lt"/>
              </a:endParaRPr>
            </a:p>
          </p:txBody>
        </p:sp>
        <p:grpSp>
          <p:nvGrpSpPr>
            <p:cNvPr id="47113" name="Group 42"/>
            <p:cNvGrpSpPr>
              <a:grpSpLocks/>
            </p:cNvGrpSpPr>
            <p:nvPr/>
          </p:nvGrpSpPr>
          <p:grpSpPr bwMode="auto">
            <a:xfrm>
              <a:off x="2085" y="3496"/>
              <a:ext cx="466" cy="227"/>
              <a:chOff x="0" y="0"/>
              <a:chExt cx="20000" cy="20000"/>
            </a:xfrm>
          </p:grpSpPr>
          <p:sp>
            <p:nvSpPr>
              <p:cNvPr id="47139" name="Freeform 43"/>
              <p:cNvSpPr>
                <a:spLocks/>
              </p:cNvSpPr>
              <p:nvPr/>
            </p:nvSpPr>
            <p:spPr bwMode="auto">
              <a:xfrm>
                <a:off x="0" y="0"/>
                <a:ext cx="20000" cy="20000"/>
              </a:xfrm>
              <a:custGeom>
                <a:avLst/>
                <a:gdLst>
                  <a:gd name="T0" fmla="*/ 19967 w 20000"/>
                  <a:gd name="T1" fmla="*/ 0 h 20000"/>
                  <a:gd name="T2" fmla="*/ 19967 w 20000"/>
                  <a:gd name="T3" fmla="*/ 19944 h 20000"/>
                  <a:gd name="T4" fmla="*/ 0 w 20000"/>
                  <a:gd name="T5" fmla="*/ 19944 h 20000"/>
                  <a:gd name="T6" fmla="*/ 0 w 20000"/>
                  <a:gd name="T7" fmla="*/ 0 h 20000"/>
                  <a:gd name="T8" fmla="*/ 19967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000"/>
                  <a:gd name="T16" fmla="*/ 0 h 20000"/>
                  <a:gd name="T17" fmla="*/ 20000 w 20000"/>
                  <a:gd name="T18" fmla="*/ 20000 h 2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000" h="20000">
                    <a:moveTo>
                      <a:pt x="19967" y="0"/>
                    </a:moveTo>
                    <a:lnTo>
                      <a:pt x="19967" y="19944"/>
                    </a:lnTo>
                    <a:lnTo>
                      <a:pt x="0" y="19944"/>
                    </a:lnTo>
                    <a:lnTo>
                      <a:pt x="0" y="0"/>
                    </a:lnTo>
                    <a:lnTo>
                      <a:pt x="19967" y="0"/>
                    </a:lnTo>
                    <a:close/>
                  </a:path>
                </a:pathLst>
              </a:custGeom>
              <a:solidFill>
                <a:srgbClr val="00FF00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ar-SA">
                  <a:latin typeface="+mj-lt"/>
                </a:endParaRPr>
              </a:p>
            </p:txBody>
          </p:sp>
          <p:sp>
            <p:nvSpPr>
              <p:cNvPr id="47140" name="Rectangle 44"/>
              <p:cNvSpPr>
                <a:spLocks noChangeArrowheads="1"/>
              </p:cNvSpPr>
              <p:nvPr/>
            </p:nvSpPr>
            <p:spPr bwMode="auto">
              <a:xfrm>
                <a:off x="2100" y="4000"/>
                <a:ext cx="15767" cy="14500"/>
              </a:xfrm>
              <a:prstGeom prst="rect">
                <a:avLst/>
              </a:prstGeom>
              <a:solidFill>
                <a:srgbClr val="00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algn="ctr" rtl="0" eaLnBrk="1" hangingPunct="1"/>
                <a:r>
                  <a:rPr lang="en-US" altLang="ar-SA" sz="1600">
                    <a:latin typeface="+mj-lt"/>
                    <a:cs typeface="Courier New" pitchFamily="49" charset="0"/>
                  </a:rPr>
                  <a:t>v[0]</a:t>
                </a:r>
                <a:endParaRPr lang="en-US" altLang="ar-SA" sz="1600">
                  <a:latin typeface="+mj-lt"/>
                </a:endParaRPr>
              </a:p>
            </p:txBody>
          </p:sp>
        </p:grpSp>
        <p:grpSp>
          <p:nvGrpSpPr>
            <p:cNvPr id="47114" name="Group 45"/>
            <p:cNvGrpSpPr>
              <a:grpSpLocks/>
            </p:cNvGrpSpPr>
            <p:nvPr/>
          </p:nvGrpSpPr>
          <p:grpSpPr bwMode="auto">
            <a:xfrm>
              <a:off x="2551" y="3496"/>
              <a:ext cx="466" cy="227"/>
              <a:chOff x="0" y="0"/>
              <a:chExt cx="20000" cy="20000"/>
            </a:xfrm>
          </p:grpSpPr>
          <p:sp>
            <p:nvSpPr>
              <p:cNvPr id="47137" name="Freeform 46"/>
              <p:cNvSpPr>
                <a:spLocks/>
              </p:cNvSpPr>
              <p:nvPr/>
            </p:nvSpPr>
            <p:spPr bwMode="auto">
              <a:xfrm>
                <a:off x="0" y="0"/>
                <a:ext cx="20000" cy="20000"/>
              </a:xfrm>
              <a:custGeom>
                <a:avLst/>
                <a:gdLst>
                  <a:gd name="T0" fmla="*/ 19967 w 20000"/>
                  <a:gd name="T1" fmla="*/ 0 h 20000"/>
                  <a:gd name="T2" fmla="*/ 19967 w 20000"/>
                  <a:gd name="T3" fmla="*/ 19944 h 20000"/>
                  <a:gd name="T4" fmla="*/ 0 w 20000"/>
                  <a:gd name="T5" fmla="*/ 19944 h 20000"/>
                  <a:gd name="T6" fmla="*/ 0 w 20000"/>
                  <a:gd name="T7" fmla="*/ 0 h 20000"/>
                  <a:gd name="T8" fmla="*/ 19967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000"/>
                  <a:gd name="T16" fmla="*/ 0 h 20000"/>
                  <a:gd name="T17" fmla="*/ 20000 w 20000"/>
                  <a:gd name="T18" fmla="*/ 20000 h 2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000" h="20000">
                    <a:moveTo>
                      <a:pt x="19967" y="0"/>
                    </a:moveTo>
                    <a:lnTo>
                      <a:pt x="19967" y="19944"/>
                    </a:lnTo>
                    <a:lnTo>
                      <a:pt x="0" y="19944"/>
                    </a:lnTo>
                    <a:lnTo>
                      <a:pt x="0" y="0"/>
                    </a:lnTo>
                    <a:lnTo>
                      <a:pt x="19967" y="0"/>
                    </a:lnTo>
                    <a:close/>
                  </a:path>
                </a:pathLst>
              </a:custGeom>
              <a:solidFill>
                <a:srgbClr val="00FF00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ar-SA">
                  <a:latin typeface="+mj-lt"/>
                </a:endParaRPr>
              </a:p>
            </p:txBody>
          </p:sp>
          <p:sp>
            <p:nvSpPr>
              <p:cNvPr id="47138" name="Rectangle 47"/>
              <p:cNvSpPr>
                <a:spLocks noChangeArrowheads="1"/>
              </p:cNvSpPr>
              <p:nvPr/>
            </p:nvSpPr>
            <p:spPr bwMode="auto">
              <a:xfrm>
                <a:off x="2100" y="4000"/>
                <a:ext cx="15767" cy="14500"/>
              </a:xfrm>
              <a:prstGeom prst="rect">
                <a:avLst/>
              </a:prstGeom>
              <a:solidFill>
                <a:srgbClr val="00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algn="ctr" rtl="0" eaLnBrk="1" hangingPunct="1"/>
                <a:r>
                  <a:rPr lang="en-US" altLang="ar-SA" sz="1600">
                    <a:latin typeface="+mj-lt"/>
                    <a:cs typeface="Courier New" pitchFamily="49" charset="0"/>
                  </a:rPr>
                  <a:t>v[1]</a:t>
                </a:r>
                <a:endParaRPr lang="en-US" altLang="ar-SA" sz="1600">
                  <a:latin typeface="+mj-lt"/>
                </a:endParaRPr>
              </a:p>
            </p:txBody>
          </p:sp>
        </p:grpSp>
        <p:grpSp>
          <p:nvGrpSpPr>
            <p:cNvPr id="47115" name="Group 48"/>
            <p:cNvGrpSpPr>
              <a:grpSpLocks/>
            </p:cNvGrpSpPr>
            <p:nvPr/>
          </p:nvGrpSpPr>
          <p:grpSpPr bwMode="auto">
            <a:xfrm>
              <a:off x="3017" y="3496"/>
              <a:ext cx="466" cy="227"/>
              <a:chOff x="0" y="0"/>
              <a:chExt cx="20000" cy="20000"/>
            </a:xfrm>
          </p:grpSpPr>
          <p:sp>
            <p:nvSpPr>
              <p:cNvPr id="47135" name="Freeform 49"/>
              <p:cNvSpPr>
                <a:spLocks/>
              </p:cNvSpPr>
              <p:nvPr/>
            </p:nvSpPr>
            <p:spPr bwMode="auto">
              <a:xfrm>
                <a:off x="0" y="0"/>
                <a:ext cx="20000" cy="20000"/>
              </a:xfrm>
              <a:custGeom>
                <a:avLst/>
                <a:gdLst>
                  <a:gd name="T0" fmla="*/ 19967 w 20000"/>
                  <a:gd name="T1" fmla="*/ 0 h 20000"/>
                  <a:gd name="T2" fmla="*/ 19967 w 20000"/>
                  <a:gd name="T3" fmla="*/ 19944 h 20000"/>
                  <a:gd name="T4" fmla="*/ 0 w 20000"/>
                  <a:gd name="T5" fmla="*/ 19944 h 20000"/>
                  <a:gd name="T6" fmla="*/ 0 w 20000"/>
                  <a:gd name="T7" fmla="*/ 0 h 20000"/>
                  <a:gd name="T8" fmla="*/ 19967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000"/>
                  <a:gd name="T16" fmla="*/ 0 h 20000"/>
                  <a:gd name="T17" fmla="*/ 20000 w 20000"/>
                  <a:gd name="T18" fmla="*/ 20000 h 2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000" h="20000">
                    <a:moveTo>
                      <a:pt x="19967" y="0"/>
                    </a:moveTo>
                    <a:lnTo>
                      <a:pt x="19967" y="19944"/>
                    </a:lnTo>
                    <a:lnTo>
                      <a:pt x="0" y="19944"/>
                    </a:lnTo>
                    <a:lnTo>
                      <a:pt x="0" y="0"/>
                    </a:lnTo>
                    <a:lnTo>
                      <a:pt x="19967" y="0"/>
                    </a:lnTo>
                    <a:close/>
                  </a:path>
                </a:pathLst>
              </a:custGeom>
              <a:solidFill>
                <a:srgbClr val="00FF00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ar-SA">
                  <a:latin typeface="+mj-lt"/>
                </a:endParaRPr>
              </a:p>
            </p:txBody>
          </p:sp>
          <p:sp>
            <p:nvSpPr>
              <p:cNvPr id="47136" name="Rectangle 50"/>
              <p:cNvSpPr>
                <a:spLocks noChangeArrowheads="1"/>
              </p:cNvSpPr>
              <p:nvPr/>
            </p:nvSpPr>
            <p:spPr bwMode="auto">
              <a:xfrm>
                <a:off x="2100" y="4000"/>
                <a:ext cx="15767" cy="14500"/>
              </a:xfrm>
              <a:prstGeom prst="rect">
                <a:avLst/>
              </a:prstGeom>
              <a:solidFill>
                <a:srgbClr val="00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algn="ctr" rtl="0" eaLnBrk="1" hangingPunct="1"/>
                <a:r>
                  <a:rPr lang="en-US" altLang="ar-SA" sz="1600">
                    <a:latin typeface="+mj-lt"/>
                    <a:cs typeface="Courier New" pitchFamily="49" charset="0"/>
                  </a:rPr>
                  <a:t>v[2]</a:t>
                </a:r>
                <a:endParaRPr lang="en-US" altLang="ar-SA" sz="1600">
                  <a:latin typeface="+mj-lt"/>
                </a:endParaRPr>
              </a:p>
            </p:txBody>
          </p:sp>
        </p:grpSp>
        <p:grpSp>
          <p:nvGrpSpPr>
            <p:cNvPr id="47116" name="Group 51"/>
            <p:cNvGrpSpPr>
              <a:grpSpLocks/>
            </p:cNvGrpSpPr>
            <p:nvPr/>
          </p:nvGrpSpPr>
          <p:grpSpPr bwMode="auto">
            <a:xfrm>
              <a:off x="3950" y="3496"/>
              <a:ext cx="466" cy="227"/>
              <a:chOff x="0" y="0"/>
              <a:chExt cx="20000" cy="20000"/>
            </a:xfrm>
          </p:grpSpPr>
          <p:sp>
            <p:nvSpPr>
              <p:cNvPr id="47133" name="Freeform 52"/>
              <p:cNvSpPr>
                <a:spLocks/>
              </p:cNvSpPr>
              <p:nvPr/>
            </p:nvSpPr>
            <p:spPr bwMode="auto">
              <a:xfrm>
                <a:off x="0" y="0"/>
                <a:ext cx="20000" cy="20000"/>
              </a:xfrm>
              <a:custGeom>
                <a:avLst/>
                <a:gdLst>
                  <a:gd name="T0" fmla="*/ 19967 w 20000"/>
                  <a:gd name="T1" fmla="*/ 0 h 20000"/>
                  <a:gd name="T2" fmla="*/ 19967 w 20000"/>
                  <a:gd name="T3" fmla="*/ 19944 h 20000"/>
                  <a:gd name="T4" fmla="*/ 0 w 20000"/>
                  <a:gd name="T5" fmla="*/ 19944 h 20000"/>
                  <a:gd name="T6" fmla="*/ 0 w 20000"/>
                  <a:gd name="T7" fmla="*/ 0 h 20000"/>
                  <a:gd name="T8" fmla="*/ 19967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000"/>
                  <a:gd name="T16" fmla="*/ 0 h 20000"/>
                  <a:gd name="T17" fmla="*/ 20000 w 20000"/>
                  <a:gd name="T18" fmla="*/ 20000 h 2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000" h="20000">
                    <a:moveTo>
                      <a:pt x="19967" y="0"/>
                    </a:moveTo>
                    <a:lnTo>
                      <a:pt x="19967" y="19944"/>
                    </a:lnTo>
                    <a:lnTo>
                      <a:pt x="0" y="19944"/>
                    </a:lnTo>
                    <a:lnTo>
                      <a:pt x="0" y="0"/>
                    </a:lnTo>
                    <a:lnTo>
                      <a:pt x="19967" y="0"/>
                    </a:lnTo>
                    <a:close/>
                  </a:path>
                </a:pathLst>
              </a:custGeom>
              <a:solidFill>
                <a:srgbClr val="00FF00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ar-SA">
                  <a:latin typeface="+mj-lt"/>
                </a:endParaRPr>
              </a:p>
            </p:txBody>
          </p:sp>
          <p:sp>
            <p:nvSpPr>
              <p:cNvPr id="47134" name="Rectangle 53"/>
              <p:cNvSpPr>
                <a:spLocks noChangeArrowheads="1"/>
              </p:cNvSpPr>
              <p:nvPr/>
            </p:nvSpPr>
            <p:spPr bwMode="auto">
              <a:xfrm>
                <a:off x="2100" y="4000"/>
                <a:ext cx="15767" cy="14500"/>
              </a:xfrm>
              <a:prstGeom prst="rect">
                <a:avLst/>
              </a:prstGeom>
              <a:solidFill>
                <a:srgbClr val="00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algn="ctr" rtl="0" eaLnBrk="1" hangingPunct="1"/>
                <a:r>
                  <a:rPr lang="en-US" altLang="ar-SA" sz="1600">
                    <a:latin typeface="+mj-lt"/>
                    <a:cs typeface="Courier New" pitchFamily="49" charset="0"/>
                  </a:rPr>
                  <a:t>v[4]</a:t>
                </a:r>
                <a:endParaRPr lang="en-US" altLang="ar-SA" sz="1600">
                  <a:latin typeface="+mj-lt"/>
                </a:endParaRPr>
              </a:p>
            </p:txBody>
          </p:sp>
        </p:grpSp>
        <p:grpSp>
          <p:nvGrpSpPr>
            <p:cNvPr id="47117" name="Group 54"/>
            <p:cNvGrpSpPr>
              <a:grpSpLocks/>
            </p:cNvGrpSpPr>
            <p:nvPr/>
          </p:nvGrpSpPr>
          <p:grpSpPr bwMode="auto">
            <a:xfrm>
              <a:off x="3483" y="3496"/>
              <a:ext cx="467" cy="227"/>
              <a:chOff x="0" y="0"/>
              <a:chExt cx="20000" cy="20000"/>
            </a:xfrm>
          </p:grpSpPr>
          <p:sp>
            <p:nvSpPr>
              <p:cNvPr id="47131" name="Freeform 55"/>
              <p:cNvSpPr>
                <a:spLocks/>
              </p:cNvSpPr>
              <p:nvPr/>
            </p:nvSpPr>
            <p:spPr bwMode="auto">
              <a:xfrm>
                <a:off x="0" y="0"/>
                <a:ext cx="20000" cy="20000"/>
              </a:xfrm>
              <a:custGeom>
                <a:avLst/>
                <a:gdLst>
                  <a:gd name="T0" fmla="*/ 19967 w 20000"/>
                  <a:gd name="T1" fmla="*/ 0 h 20000"/>
                  <a:gd name="T2" fmla="*/ 19967 w 20000"/>
                  <a:gd name="T3" fmla="*/ 19944 h 20000"/>
                  <a:gd name="T4" fmla="*/ 0 w 20000"/>
                  <a:gd name="T5" fmla="*/ 19944 h 20000"/>
                  <a:gd name="T6" fmla="*/ 0 w 20000"/>
                  <a:gd name="T7" fmla="*/ 0 h 20000"/>
                  <a:gd name="T8" fmla="*/ 19967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000"/>
                  <a:gd name="T16" fmla="*/ 0 h 20000"/>
                  <a:gd name="T17" fmla="*/ 20000 w 20000"/>
                  <a:gd name="T18" fmla="*/ 20000 h 2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000" h="20000">
                    <a:moveTo>
                      <a:pt x="19967" y="0"/>
                    </a:moveTo>
                    <a:lnTo>
                      <a:pt x="19967" y="19944"/>
                    </a:lnTo>
                    <a:lnTo>
                      <a:pt x="0" y="19944"/>
                    </a:lnTo>
                    <a:lnTo>
                      <a:pt x="0" y="0"/>
                    </a:lnTo>
                    <a:lnTo>
                      <a:pt x="19967" y="0"/>
                    </a:lnTo>
                    <a:close/>
                  </a:path>
                </a:pathLst>
              </a:custGeom>
              <a:solidFill>
                <a:srgbClr val="00FF00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ar-SA">
                  <a:latin typeface="+mj-lt"/>
                </a:endParaRPr>
              </a:p>
            </p:txBody>
          </p:sp>
          <p:sp>
            <p:nvSpPr>
              <p:cNvPr id="47132" name="Rectangle 56"/>
              <p:cNvSpPr>
                <a:spLocks noChangeArrowheads="1"/>
              </p:cNvSpPr>
              <p:nvPr/>
            </p:nvSpPr>
            <p:spPr bwMode="auto">
              <a:xfrm>
                <a:off x="2100" y="4000"/>
                <a:ext cx="15767" cy="14500"/>
              </a:xfrm>
              <a:prstGeom prst="rect">
                <a:avLst/>
              </a:prstGeom>
              <a:solidFill>
                <a:srgbClr val="00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algn="ctr" rtl="0" eaLnBrk="1" hangingPunct="1"/>
                <a:r>
                  <a:rPr lang="en-US" altLang="ar-SA" sz="1600">
                    <a:latin typeface="+mj-lt"/>
                    <a:cs typeface="Courier New" pitchFamily="49" charset="0"/>
                  </a:rPr>
                  <a:t>v[3]</a:t>
                </a:r>
                <a:endParaRPr lang="en-US" altLang="ar-SA" sz="1600">
                  <a:latin typeface="+mj-lt"/>
                </a:endParaRPr>
              </a:p>
            </p:txBody>
          </p:sp>
        </p:grpSp>
        <p:sp>
          <p:nvSpPr>
            <p:cNvPr id="47118" name="Freeform 57"/>
            <p:cNvSpPr>
              <a:spLocks/>
            </p:cNvSpPr>
            <p:nvPr/>
          </p:nvSpPr>
          <p:spPr bwMode="auto">
            <a:xfrm>
              <a:off x="2085" y="3346"/>
              <a:ext cx="0" cy="15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19917 h 20000"/>
                <a:gd name="T4" fmla="*/ 0 60000 65536"/>
                <a:gd name="T5" fmla="*/ 0 60000 65536"/>
                <a:gd name="T6" fmla="*/ 0 w 20000"/>
                <a:gd name="T7" fmla="*/ 0 h 20000"/>
                <a:gd name="T8" fmla="*/ 0 w 20000"/>
                <a:gd name="T9" fmla="*/ 20000 h 200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000" h="20000">
                  <a:moveTo>
                    <a:pt x="0" y="0"/>
                  </a:moveTo>
                  <a:lnTo>
                    <a:pt x="0" y="19917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ar-SA">
                <a:latin typeface="+mj-lt"/>
              </a:endParaRPr>
            </a:p>
          </p:txBody>
        </p:sp>
        <p:sp>
          <p:nvSpPr>
            <p:cNvPr id="47119" name="Freeform 58"/>
            <p:cNvSpPr>
              <a:spLocks/>
            </p:cNvSpPr>
            <p:nvPr/>
          </p:nvSpPr>
          <p:spPr bwMode="auto">
            <a:xfrm>
              <a:off x="2551" y="3346"/>
              <a:ext cx="0" cy="15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19917 h 20000"/>
                <a:gd name="T4" fmla="*/ 0 60000 65536"/>
                <a:gd name="T5" fmla="*/ 0 60000 65536"/>
                <a:gd name="T6" fmla="*/ 0 w 20000"/>
                <a:gd name="T7" fmla="*/ 0 h 20000"/>
                <a:gd name="T8" fmla="*/ 0 w 20000"/>
                <a:gd name="T9" fmla="*/ 20000 h 200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000" h="20000">
                  <a:moveTo>
                    <a:pt x="0" y="0"/>
                  </a:moveTo>
                  <a:lnTo>
                    <a:pt x="0" y="19917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ar-SA">
                <a:latin typeface="+mj-lt"/>
              </a:endParaRPr>
            </a:p>
          </p:txBody>
        </p:sp>
        <p:sp>
          <p:nvSpPr>
            <p:cNvPr id="47120" name="Freeform 59"/>
            <p:cNvSpPr>
              <a:spLocks/>
            </p:cNvSpPr>
            <p:nvPr/>
          </p:nvSpPr>
          <p:spPr bwMode="auto">
            <a:xfrm>
              <a:off x="3017" y="3346"/>
              <a:ext cx="0" cy="15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19917 h 20000"/>
                <a:gd name="T4" fmla="*/ 0 60000 65536"/>
                <a:gd name="T5" fmla="*/ 0 60000 65536"/>
                <a:gd name="T6" fmla="*/ 0 w 20000"/>
                <a:gd name="T7" fmla="*/ 0 h 20000"/>
                <a:gd name="T8" fmla="*/ 0 w 20000"/>
                <a:gd name="T9" fmla="*/ 20000 h 200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000" h="20000">
                  <a:moveTo>
                    <a:pt x="0" y="0"/>
                  </a:moveTo>
                  <a:lnTo>
                    <a:pt x="0" y="19917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ar-SA">
                <a:latin typeface="+mj-lt"/>
              </a:endParaRPr>
            </a:p>
          </p:txBody>
        </p:sp>
        <p:sp>
          <p:nvSpPr>
            <p:cNvPr id="47121" name="Freeform 60"/>
            <p:cNvSpPr>
              <a:spLocks/>
            </p:cNvSpPr>
            <p:nvPr/>
          </p:nvSpPr>
          <p:spPr bwMode="auto">
            <a:xfrm>
              <a:off x="3483" y="3346"/>
              <a:ext cx="0" cy="15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19917 h 20000"/>
                <a:gd name="T4" fmla="*/ 0 60000 65536"/>
                <a:gd name="T5" fmla="*/ 0 60000 65536"/>
                <a:gd name="T6" fmla="*/ 0 w 20000"/>
                <a:gd name="T7" fmla="*/ 0 h 20000"/>
                <a:gd name="T8" fmla="*/ 0 w 20000"/>
                <a:gd name="T9" fmla="*/ 20000 h 200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000" h="20000">
                  <a:moveTo>
                    <a:pt x="0" y="0"/>
                  </a:moveTo>
                  <a:lnTo>
                    <a:pt x="0" y="19917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ar-SA">
                <a:latin typeface="+mj-lt"/>
              </a:endParaRPr>
            </a:p>
          </p:txBody>
        </p:sp>
        <p:sp>
          <p:nvSpPr>
            <p:cNvPr id="47122" name="Freeform 61"/>
            <p:cNvSpPr>
              <a:spLocks/>
            </p:cNvSpPr>
            <p:nvPr/>
          </p:nvSpPr>
          <p:spPr bwMode="auto">
            <a:xfrm>
              <a:off x="3950" y="3346"/>
              <a:ext cx="0" cy="15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19917 h 20000"/>
                <a:gd name="T4" fmla="*/ 0 60000 65536"/>
                <a:gd name="T5" fmla="*/ 0 60000 65536"/>
                <a:gd name="T6" fmla="*/ 0 w 20000"/>
                <a:gd name="T7" fmla="*/ 0 h 20000"/>
                <a:gd name="T8" fmla="*/ 0 w 20000"/>
                <a:gd name="T9" fmla="*/ 20000 h 200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000" h="20000">
                  <a:moveTo>
                    <a:pt x="0" y="0"/>
                  </a:moveTo>
                  <a:lnTo>
                    <a:pt x="0" y="19917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ar-SA">
                <a:latin typeface="+mj-lt"/>
              </a:endParaRPr>
            </a:p>
          </p:txBody>
        </p:sp>
        <p:sp>
          <p:nvSpPr>
            <p:cNvPr id="47123" name="Rectangle 62"/>
            <p:cNvSpPr>
              <a:spLocks noChangeArrowheads="1"/>
            </p:cNvSpPr>
            <p:nvPr/>
          </p:nvSpPr>
          <p:spPr bwMode="auto">
            <a:xfrm>
              <a:off x="1966" y="3200"/>
              <a:ext cx="367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l" rtl="0" eaLnBrk="1" hangingPunct="1"/>
              <a:r>
                <a:rPr lang="en-US" altLang="ar-SA" sz="1600">
                  <a:solidFill>
                    <a:srgbClr val="FF3300"/>
                  </a:solidFill>
                  <a:latin typeface="+mj-lt"/>
                  <a:cs typeface="Courier New" pitchFamily="49" charset="0"/>
                </a:rPr>
                <a:t>3000</a:t>
              </a:r>
              <a:endParaRPr lang="en-US" altLang="ar-SA" sz="1600">
                <a:solidFill>
                  <a:srgbClr val="FF3300"/>
                </a:solidFill>
                <a:latin typeface="+mj-lt"/>
              </a:endParaRPr>
            </a:p>
          </p:txBody>
        </p:sp>
        <p:sp>
          <p:nvSpPr>
            <p:cNvPr id="47124" name="Rectangle 63"/>
            <p:cNvSpPr>
              <a:spLocks noChangeArrowheads="1"/>
            </p:cNvSpPr>
            <p:nvPr/>
          </p:nvSpPr>
          <p:spPr bwMode="auto">
            <a:xfrm>
              <a:off x="2439" y="3200"/>
              <a:ext cx="367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l" rtl="0" eaLnBrk="1" hangingPunct="1"/>
              <a:r>
                <a:rPr lang="en-US" altLang="ar-SA" sz="1600">
                  <a:solidFill>
                    <a:srgbClr val="FF3300"/>
                  </a:solidFill>
                  <a:latin typeface="+mj-lt"/>
                  <a:cs typeface="Courier New" pitchFamily="49" charset="0"/>
                </a:rPr>
                <a:t>3004</a:t>
              </a:r>
              <a:endParaRPr lang="en-US" altLang="ar-SA" sz="1600">
                <a:solidFill>
                  <a:srgbClr val="FF3300"/>
                </a:solidFill>
                <a:latin typeface="+mj-lt"/>
              </a:endParaRPr>
            </a:p>
          </p:txBody>
        </p:sp>
        <p:sp>
          <p:nvSpPr>
            <p:cNvPr id="47125" name="Rectangle 64"/>
            <p:cNvSpPr>
              <a:spLocks noChangeArrowheads="1"/>
            </p:cNvSpPr>
            <p:nvPr/>
          </p:nvSpPr>
          <p:spPr bwMode="auto">
            <a:xfrm>
              <a:off x="2912" y="3200"/>
              <a:ext cx="366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l" rtl="0" eaLnBrk="1" hangingPunct="1"/>
              <a:r>
                <a:rPr lang="en-US" altLang="ar-SA" sz="1600">
                  <a:solidFill>
                    <a:srgbClr val="FF3300"/>
                  </a:solidFill>
                  <a:latin typeface="+mj-lt"/>
                  <a:cs typeface="Courier New" pitchFamily="49" charset="0"/>
                </a:rPr>
                <a:t>3008</a:t>
              </a:r>
              <a:endParaRPr lang="en-US" altLang="ar-SA" sz="1600">
                <a:solidFill>
                  <a:srgbClr val="FF3300"/>
                </a:solidFill>
                <a:latin typeface="+mj-lt"/>
              </a:endParaRPr>
            </a:p>
          </p:txBody>
        </p:sp>
        <p:sp>
          <p:nvSpPr>
            <p:cNvPr id="47126" name="Rectangle 65"/>
            <p:cNvSpPr>
              <a:spLocks noChangeArrowheads="1"/>
            </p:cNvSpPr>
            <p:nvPr/>
          </p:nvSpPr>
          <p:spPr bwMode="auto">
            <a:xfrm>
              <a:off x="3341" y="3200"/>
              <a:ext cx="367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l" rtl="0" eaLnBrk="1" hangingPunct="1"/>
              <a:r>
                <a:rPr lang="en-US" altLang="ar-SA" sz="1600">
                  <a:solidFill>
                    <a:srgbClr val="FF3300"/>
                  </a:solidFill>
                  <a:latin typeface="+mj-lt"/>
                  <a:cs typeface="Courier New" pitchFamily="49" charset="0"/>
                </a:rPr>
                <a:t>3012</a:t>
              </a:r>
              <a:endParaRPr lang="en-US" altLang="ar-SA" sz="1600">
                <a:solidFill>
                  <a:srgbClr val="FF3300"/>
                </a:solidFill>
                <a:latin typeface="+mj-lt"/>
              </a:endParaRPr>
            </a:p>
          </p:txBody>
        </p:sp>
        <p:sp>
          <p:nvSpPr>
            <p:cNvPr id="47127" name="Rectangle 66"/>
            <p:cNvSpPr>
              <a:spLocks noChangeArrowheads="1"/>
            </p:cNvSpPr>
            <p:nvPr/>
          </p:nvSpPr>
          <p:spPr bwMode="auto">
            <a:xfrm>
              <a:off x="3814" y="3200"/>
              <a:ext cx="3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l" rtl="0" eaLnBrk="1" hangingPunct="1"/>
              <a:r>
                <a:rPr lang="en-US" altLang="ar-SA" sz="1600">
                  <a:solidFill>
                    <a:srgbClr val="FF3300"/>
                  </a:solidFill>
                  <a:latin typeface="+mj-lt"/>
                  <a:cs typeface="Courier New" pitchFamily="49" charset="0"/>
                </a:rPr>
                <a:t>3016</a:t>
              </a:r>
              <a:endParaRPr lang="en-US" altLang="ar-SA" sz="1600">
                <a:solidFill>
                  <a:srgbClr val="FF3300"/>
                </a:solidFill>
                <a:latin typeface="+mj-lt"/>
              </a:endParaRPr>
            </a:p>
          </p:txBody>
        </p:sp>
        <p:sp>
          <p:nvSpPr>
            <p:cNvPr id="47128" name="Rectangle 67"/>
            <p:cNvSpPr>
              <a:spLocks noChangeArrowheads="1"/>
            </p:cNvSpPr>
            <p:nvPr/>
          </p:nvSpPr>
          <p:spPr bwMode="auto">
            <a:xfrm>
              <a:off x="1869" y="3072"/>
              <a:ext cx="630" cy="1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l" rtl="0" eaLnBrk="1" hangingPunct="1"/>
              <a:r>
                <a:rPr lang="en-US" altLang="ar-SA" sz="1600">
                  <a:solidFill>
                    <a:srgbClr val="FF3300"/>
                  </a:solidFill>
                  <a:latin typeface="+mj-lt"/>
                </a:rPr>
                <a:t>location</a:t>
              </a:r>
            </a:p>
          </p:txBody>
        </p:sp>
        <p:sp>
          <p:nvSpPr>
            <p:cNvPr id="47129" name="Line 69"/>
            <p:cNvSpPr>
              <a:spLocks noChangeShapeType="1"/>
            </p:cNvSpPr>
            <p:nvPr/>
          </p:nvSpPr>
          <p:spPr bwMode="auto">
            <a:xfrm>
              <a:off x="1495" y="3963"/>
              <a:ext cx="15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ar-SA">
                <a:latin typeface="+mj-lt"/>
              </a:endParaRPr>
            </a:p>
          </p:txBody>
        </p:sp>
        <p:sp>
          <p:nvSpPr>
            <p:cNvPr id="47130" name="Line 70"/>
            <p:cNvSpPr>
              <a:spLocks noChangeShapeType="1"/>
            </p:cNvSpPr>
            <p:nvPr/>
          </p:nvSpPr>
          <p:spPr bwMode="auto">
            <a:xfrm flipV="1">
              <a:off x="3024" y="3723"/>
              <a:ext cx="6" cy="24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ar-SA">
                <a:latin typeface="+mj-lt"/>
              </a:endParaRPr>
            </a:p>
          </p:txBody>
        </p:sp>
      </p:grpSp>
      <p:sp>
        <p:nvSpPr>
          <p:cNvPr id="68" name="Rectangle 2"/>
          <p:cNvSpPr>
            <a:spLocks noGrp="1" noChangeArrowheads="1"/>
          </p:cNvSpPr>
          <p:nvPr>
            <p:ph type="title"/>
          </p:nvPr>
        </p:nvSpPr>
        <p:spPr>
          <a:xfrm>
            <a:off x="66675" y="85725"/>
            <a:ext cx="8991600" cy="523875"/>
          </a:xfrm>
        </p:spPr>
        <p:txBody>
          <a:bodyPr>
            <a:noAutofit/>
          </a:bodyPr>
          <a:lstStyle/>
          <a:p>
            <a:pPr rtl="0" eaLnBrk="1" hangingPunct="1"/>
            <a:r>
              <a:rPr lang="en-US" altLang="ar-SA" sz="4800" b="1" dirty="0">
                <a:solidFill>
                  <a:srgbClr val="000099"/>
                </a:solidFill>
              </a:rPr>
              <a:t>Pointer and Arrays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4867164" y="6435151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CS 2321: D.S.A (-Introduction-)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42117F-2C73-4D66-97C1-4AE4EF459FFA}" type="slidenum">
              <a:rPr lang="ar-SA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0972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9" name="Rectangle 3"/>
          <p:cNvSpPr>
            <a:spLocks noGrp="1" noChangeArrowheads="1"/>
          </p:cNvSpPr>
          <p:nvPr>
            <p:ph idx="1"/>
          </p:nvPr>
        </p:nvSpPr>
        <p:spPr>
          <a:xfrm>
            <a:off x="163513" y="914400"/>
            <a:ext cx="8828087" cy="5791200"/>
          </a:xfrm>
        </p:spPr>
        <p:txBody>
          <a:bodyPr/>
          <a:lstStyle/>
          <a:p>
            <a:pPr algn="l" rtl="0" eaLnBrk="1" hangingPunct="1">
              <a:lnSpc>
                <a:spcPct val="90000"/>
              </a:lnSpc>
              <a:defRPr/>
            </a:pPr>
            <a:r>
              <a:rPr lang="en-US" sz="2800" dirty="0">
                <a:latin typeface="+mj-lt"/>
              </a:rPr>
              <a:t>Arrays and pointers closely related</a:t>
            </a:r>
          </a:p>
          <a:p>
            <a:pPr lvl="1" algn="l" rtl="0" eaLnBrk="1" hangingPunct="1">
              <a:lnSpc>
                <a:spcPct val="90000"/>
              </a:lnSpc>
              <a:defRPr/>
            </a:pPr>
            <a:r>
              <a:rPr lang="en-US" dirty="0">
                <a:latin typeface="+mj-lt"/>
              </a:rPr>
              <a:t>Array name like a constant pointer</a:t>
            </a:r>
          </a:p>
          <a:p>
            <a:pPr lvl="1" algn="l" rtl="0" eaLnBrk="1" hangingPunct="1">
              <a:lnSpc>
                <a:spcPct val="90000"/>
              </a:lnSpc>
              <a:defRPr/>
            </a:pPr>
            <a:r>
              <a:rPr lang="en-US" dirty="0">
                <a:latin typeface="+mj-lt"/>
              </a:rPr>
              <a:t>Pointers can do array subscripting operations</a:t>
            </a:r>
          </a:p>
          <a:p>
            <a:pPr lvl="1" algn="l" rtl="0" eaLnBrk="1" hangingPunct="1">
              <a:lnSpc>
                <a:spcPct val="90000"/>
              </a:lnSpc>
              <a:defRPr/>
            </a:pPr>
            <a:endParaRPr lang="en-US" dirty="0">
              <a:latin typeface="+mj-lt"/>
            </a:endParaRPr>
          </a:p>
          <a:p>
            <a:pPr algn="l" rtl="0" eaLnBrk="1" hangingPunct="1">
              <a:lnSpc>
                <a:spcPct val="90000"/>
              </a:lnSpc>
              <a:defRPr/>
            </a:pPr>
            <a:r>
              <a:rPr lang="en-US" sz="2800" dirty="0">
                <a:latin typeface="+mj-lt"/>
              </a:rPr>
              <a:t>Define an array b[ 5 ] and a pointer </a:t>
            </a:r>
            <a:r>
              <a:rPr lang="en-US" sz="2800" dirty="0" err="1">
                <a:latin typeface="+mj-lt"/>
              </a:rPr>
              <a:t>bPtr</a:t>
            </a:r>
            <a:r>
              <a:rPr lang="en-US" sz="2800" dirty="0">
                <a:latin typeface="+mj-lt"/>
              </a:rPr>
              <a:t>. To set them equal to one another use: </a:t>
            </a:r>
          </a:p>
          <a:p>
            <a:pPr lvl="1" algn="l" rtl="0" eaLnBrk="1" hangingPunct="1">
              <a:lnSpc>
                <a:spcPct val="90000"/>
              </a:lnSpc>
              <a:defRPr/>
            </a:pPr>
            <a:endParaRPr lang="en-US" sz="2400" dirty="0">
              <a:latin typeface="+mj-lt"/>
            </a:endParaRPr>
          </a:p>
          <a:p>
            <a:pPr marL="457200" lvl="1" indent="0" algn="l" rtl="0" eaLnBrk="1" hangingPunct="1">
              <a:lnSpc>
                <a:spcPct val="90000"/>
              </a:lnSpc>
              <a:buNone/>
              <a:defRPr/>
            </a:pPr>
            <a:r>
              <a:rPr lang="en-US" dirty="0" err="1">
                <a:latin typeface="+mj-lt"/>
              </a:rPr>
              <a:t>bPtr</a:t>
            </a:r>
            <a:r>
              <a:rPr lang="en-US" dirty="0">
                <a:latin typeface="+mj-lt"/>
              </a:rPr>
              <a:t> = b;</a:t>
            </a:r>
            <a:endParaRPr lang="en-US" b="1" dirty="0">
              <a:latin typeface="+mj-lt"/>
            </a:endParaRPr>
          </a:p>
          <a:p>
            <a:pPr marL="457200" lvl="1" indent="0" algn="l" rtl="0" eaLnBrk="1" hangingPunct="1">
              <a:lnSpc>
                <a:spcPct val="90000"/>
              </a:lnSpc>
              <a:buNone/>
              <a:defRPr/>
            </a:pPr>
            <a:r>
              <a:rPr lang="en-US" dirty="0" err="1">
                <a:latin typeface="+mj-lt"/>
              </a:rPr>
              <a:t>bPtr</a:t>
            </a:r>
            <a:r>
              <a:rPr lang="en-US" dirty="0">
                <a:latin typeface="+mj-lt"/>
              </a:rPr>
              <a:t> = &amp;b[ 0 ]</a:t>
            </a:r>
            <a:endParaRPr lang="en-US" b="1" dirty="0">
              <a:latin typeface="+mj-lt"/>
            </a:endParaRPr>
          </a:p>
          <a:p>
            <a:pPr marL="457200" lvl="1" indent="0" algn="l" rtl="0" eaLnBrk="1" hangingPunct="1">
              <a:lnSpc>
                <a:spcPct val="90000"/>
              </a:lnSpc>
              <a:buNone/>
              <a:defRPr/>
            </a:pPr>
            <a:r>
              <a:rPr lang="en-US" dirty="0">
                <a:latin typeface="+mj-lt"/>
              </a:rPr>
              <a:t>Explicitly assigns </a:t>
            </a:r>
            <a:r>
              <a:rPr lang="en-US" dirty="0" err="1">
                <a:latin typeface="+mj-lt"/>
              </a:rPr>
              <a:t>bPtr</a:t>
            </a:r>
            <a:r>
              <a:rPr lang="en-US" dirty="0">
                <a:latin typeface="+mj-lt"/>
              </a:rPr>
              <a:t> to address of first element of b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66675" y="85725"/>
            <a:ext cx="8991600" cy="523875"/>
          </a:xfrm>
        </p:spPr>
        <p:txBody>
          <a:bodyPr>
            <a:noAutofit/>
          </a:bodyPr>
          <a:lstStyle/>
          <a:p>
            <a:pPr rtl="0" eaLnBrk="1" hangingPunct="1"/>
            <a:r>
              <a:rPr lang="en-US" altLang="ar-SA" sz="4800" b="1" dirty="0">
                <a:solidFill>
                  <a:srgbClr val="000099"/>
                </a:solidFill>
              </a:rPr>
              <a:t>Pointer and Arrays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(-Introduction-)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42117F-2C73-4D66-97C1-4AE4EF459FFA}" type="slidenum">
              <a:rPr lang="ar-SA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1749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9" name="Rectangle 3"/>
          <p:cNvSpPr>
            <a:spLocks noGrp="1" noChangeArrowheads="1"/>
          </p:cNvSpPr>
          <p:nvPr>
            <p:ph idx="1"/>
          </p:nvPr>
        </p:nvSpPr>
        <p:spPr>
          <a:xfrm>
            <a:off x="163513" y="914400"/>
            <a:ext cx="8828087" cy="5791200"/>
          </a:xfrm>
        </p:spPr>
        <p:txBody>
          <a:bodyPr/>
          <a:lstStyle/>
          <a:p>
            <a:pPr algn="l" rtl="0" eaLnBrk="1" hangingPunct="1">
              <a:lnSpc>
                <a:spcPct val="90000"/>
              </a:lnSpc>
              <a:defRPr/>
            </a:pPr>
            <a:r>
              <a:rPr lang="en-US" sz="2800" dirty="0">
                <a:latin typeface="+mj-lt"/>
              </a:rPr>
              <a:t>Element b[ n ]</a:t>
            </a:r>
            <a:r>
              <a:rPr lang="en-US" sz="2800" b="1" dirty="0">
                <a:latin typeface="+mj-lt"/>
              </a:rPr>
              <a:t> </a:t>
            </a:r>
            <a:r>
              <a:rPr lang="en-US" sz="2800" dirty="0">
                <a:latin typeface="+mj-lt"/>
              </a:rPr>
              <a:t>can be accessed by:</a:t>
            </a:r>
          </a:p>
          <a:p>
            <a:pPr algn="l" rtl="0" eaLnBrk="1" hangingPunct="1">
              <a:lnSpc>
                <a:spcPct val="90000"/>
              </a:lnSpc>
              <a:defRPr/>
            </a:pPr>
            <a:endParaRPr lang="en-US" sz="2800" dirty="0">
              <a:latin typeface="+mj-lt"/>
            </a:endParaRPr>
          </a:p>
          <a:p>
            <a:pPr marL="0" indent="0">
              <a:lnSpc>
                <a:spcPct val="90000"/>
              </a:lnSpc>
              <a:buNone/>
              <a:defRPr/>
            </a:pPr>
            <a:r>
              <a:rPr lang="en-US" sz="2800" b="1" dirty="0">
                <a:solidFill>
                  <a:srgbClr val="FF0000"/>
                </a:solidFill>
                <a:latin typeface="+mj-lt"/>
              </a:rPr>
              <a:t>      - Pointer/subscript notation </a:t>
            </a:r>
            <a:r>
              <a:rPr lang="en-US" sz="2400" dirty="0" err="1">
                <a:latin typeface="+mj-lt"/>
              </a:rPr>
              <a:t>bptr</a:t>
            </a:r>
            <a:r>
              <a:rPr lang="en-US" sz="2400" dirty="0">
                <a:latin typeface="+mj-lt"/>
              </a:rPr>
              <a:t>[ n ].</a:t>
            </a:r>
          </a:p>
          <a:p>
            <a:pPr lvl="1" algn="l" rtl="0" eaLnBrk="1" hangingPunct="1">
              <a:lnSpc>
                <a:spcPct val="90000"/>
              </a:lnSpc>
              <a:defRPr/>
            </a:pPr>
            <a:endParaRPr lang="en-US" sz="2400" b="1" dirty="0">
              <a:solidFill>
                <a:srgbClr val="00FF00"/>
              </a:solidFill>
              <a:latin typeface="+mj-lt"/>
            </a:endParaRPr>
          </a:p>
          <a:p>
            <a:pPr lvl="1" algn="l" rtl="0" eaLnBrk="1" hangingPunct="1">
              <a:lnSpc>
                <a:spcPct val="90000"/>
              </a:lnSpc>
              <a:defRPr/>
            </a:pPr>
            <a:r>
              <a:rPr lang="en-US" b="1" dirty="0">
                <a:solidFill>
                  <a:srgbClr val="FF0000"/>
                </a:solidFill>
                <a:latin typeface="+mj-lt"/>
              </a:rPr>
              <a:t>Pointer/offset notation</a:t>
            </a:r>
            <a:r>
              <a:rPr lang="en-US" dirty="0">
                <a:latin typeface="+mj-lt"/>
              </a:rPr>
              <a:t> *( </a:t>
            </a:r>
            <a:r>
              <a:rPr lang="en-US" dirty="0" err="1">
                <a:latin typeface="+mj-lt"/>
              </a:rPr>
              <a:t>bPtr</a:t>
            </a:r>
            <a:r>
              <a:rPr lang="en-US" dirty="0">
                <a:latin typeface="+mj-lt"/>
              </a:rPr>
              <a:t> + n ) where n is called </a:t>
            </a:r>
            <a:r>
              <a:rPr lang="en-US" b="1" dirty="0">
                <a:solidFill>
                  <a:srgbClr val="FF0000"/>
                </a:solidFill>
                <a:latin typeface="+mj-lt"/>
              </a:rPr>
              <a:t>offset</a:t>
            </a:r>
            <a:r>
              <a:rPr lang="en-US" dirty="0">
                <a:latin typeface="+mj-lt"/>
              </a:rPr>
              <a:t>.</a:t>
            </a:r>
          </a:p>
          <a:p>
            <a:pPr lvl="1" algn="l" rtl="0" eaLnBrk="1" hangingPunct="1">
              <a:lnSpc>
                <a:spcPct val="90000"/>
              </a:lnSpc>
              <a:defRPr/>
            </a:pPr>
            <a:endParaRPr lang="en-US" b="1" dirty="0">
              <a:solidFill>
                <a:srgbClr val="00FF00"/>
              </a:solidFill>
              <a:latin typeface="+mj-lt"/>
            </a:endParaRPr>
          </a:p>
          <a:p>
            <a:pPr lvl="1" algn="l" rtl="0" eaLnBrk="1" hangingPunct="1">
              <a:lnSpc>
                <a:spcPct val="90000"/>
              </a:lnSpc>
              <a:defRPr/>
            </a:pPr>
            <a:r>
              <a:rPr lang="en-US" b="1" dirty="0">
                <a:solidFill>
                  <a:srgbClr val="FF0000"/>
                </a:solidFill>
                <a:latin typeface="+mj-lt"/>
              </a:rPr>
              <a:t>Pointer/offset notation where the pointer is the array name</a:t>
            </a:r>
            <a:r>
              <a:rPr lang="en-US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dirty="0">
                <a:latin typeface="+mj-lt"/>
              </a:rPr>
              <a:t>*( b + n ).</a:t>
            </a:r>
            <a:endParaRPr lang="en-US" b="1" dirty="0">
              <a:solidFill>
                <a:srgbClr val="00FF00"/>
              </a:solidFill>
              <a:latin typeface="+mj-lt"/>
            </a:endParaRPr>
          </a:p>
          <a:p>
            <a:pPr lvl="1" algn="l" rtl="0" eaLnBrk="1" hangingPunct="1">
              <a:lnSpc>
                <a:spcPct val="90000"/>
              </a:lnSpc>
              <a:defRPr/>
            </a:pPr>
            <a:endParaRPr lang="en-US" b="1" dirty="0">
              <a:solidFill>
                <a:srgbClr val="00FF00"/>
              </a:solidFill>
              <a:latin typeface="+mj-lt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66675" y="85725"/>
            <a:ext cx="8991600" cy="523875"/>
          </a:xfrm>
        </p:spPr>
        <p:txBody>
          <a:bodyPr>
            <a:noAutofit/>
          </a:bodyPr>
          <a:lstStyle/>
          <a:p>
            <a:pPr rtl="0" eaLnBrk="1" hangingPunct="1"/>
            <a:r>
              <a:rPr lang="en-US" altLang="ar-SA" sz="4800" b="1" dirty="0">
                <a:solidFill>
                  <a:srgbClr val="000099"/>
                </a:solidFill>
              </a:rPr>
              <a:t>Pointer and Arrays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(-Introduction-)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42117F-2C73-4D66-97C1-4AE4EF459FFA}" type="slidenum">
              <a:rPr lang="ar-SA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4196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5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914400"/>
            <a:ext cx="8763000" cy="2951199"/>
          </a:xfrm>
        </p:spPr>
        <p:txBody>
          <a:bodyPr/>
          <a:lstStyle/>
          <a:p>
            <a:pPr algn="l" rtl="0" eaLnBrk="1" hangingPunct="1">
              <a:lnSpc>
                <a:spcPct val="90000"/>
              </a:lnSpc>
              <a:defRPr/>
            </a:pPr>
            <a:r>
              <a:rPr lang="en-US" sz="2200" dirty="0">
                <a:latin typeface="+mj-lt"/>
              </a:rPr>
              <a:t>Arrays can contain pointers</a:t>
            </a:r>
          </a:p>
          <a:p>
            <a:pPr algn="l" rtl="0" eaLnBrk="1" hangingPunct="1">
              <a:lnSpc>
                <a:spcPct val="90000"/>
              </a:lnSpc>
              <a:defRPr/>
            </a:pPr>
            <a:r>
              <a:rPr lang="en-US" sz="2200" dirty="0">
                <a:latin typeface="+mj-lt"/>
              </a:rPr>
              <a:t>For example: an array of strings</a:t>
            </a:r>
          </a:p>
          <a:p>
            <a:pPr lvl="2" algn="l" rtl="0" eaLnBrk="1" hangingPunct="1">
              <a:lnSpc>
                <a:spcPct val="90000"/>
              </a:lnSpc>
              <a:buFontTx/>
              <a:buNone/>
              <a:defRPr/>
            </a:pPr>
            <a:r>
              <a:rPr lang="en-US" sz="2000" dirty="0">
                <a:latin typeface="+mj-lt"/>
              </a:rPr>
              <a:t>char *suit[ 4 ] = { "Hearts", "Diamonds",  "Clubs", "Spades" };</a:t>
            </a:r>
          </a:p>
          <a:p>
            <a:pPr lvl="1" algn="l" rtl="0" eaLnBrk="1" hangingPunct="1">
              <a:lnSpc>
                <a:spcPct val="90000"/>
              </a:lnSpc>
              <a:defRPr/>
            </a:pPr>
            <a:r>
              <a:rPr lang="en-US" sz="2200" dirty="0">
                <a:latin typeface="+mj-lt"/>
              </a:rPr>
              <a:t>Strings are pointers to the first character</a:t>
            </a:r>
          </a:p>
          <a:p>
            <a:pPr lvl="1" algn="l" rtl="0" eaLnBrk="1" hangingPunct="1">
              <a:lnSpc>
                <a:spcPct val="90000"/>
              </a:lnSpc>
              <a:defRPr/>
            </a:pPr>
            <a:r>
              <a:rPr lang="en-US" sz="2000" dirty="0">
                <a:latin typeface="+mj-lt"/>
              </a:rPr>
              <a:t>char * </a:t>
            </a:r>
            <a:r>
              <a:rPr lang="en-US" sz="2200" dirty="0">
                <a:latin typeface="+mj-lt"/>
              </a:rPr>
              <a:t>– each element of suit is a pointer to a </a:t>
            </a:r>
            <a:r>
              <a:rPr lang="en-US" sz="2000" dirty="0">
                <a:latin typeface="+mj-lt"/>
              </a:rPr>
              <a:t>char</a:t>
            </a:r>
          </a:p>
          <a:p>
            <a:pPr lvl="1" algn="l" rtl="0" eaLnBrk="1" hangingPunct="1">
              <a:lnSpc>
                <a:spcPct val="90000"/>
              </a:lnSpc>
              <a:defRPr/>
            </a:pPr>
            <a:r>
              <a:rPr lang="en-US" sz="2200" dirty="0">
                <a:latin typeface="+mj-lt"/>
              </a:rPr>
              <a:t>The strings are not actually stored in the array</a:t>
            </a:r>
            <a:r>
              <a:rPr lang="en-US" sz="2000" dirty="0">
                <a:latin typeface="+mj-lt"/>
              </a:rPr>
              <a:t> suit, </a:t>
            </a:r>
            <a:r>
              <a:rPr lang="en-US" sz="2200" dirty="0">
                <a:latin typeface="+mj-lt"/>
              </a:rPr>
              <a:t>only pointers to the strings are stored</a:t>
            </a:r>
          </a:p>
          <a:p>
            <a:pPr algn="l" rtl="0" eaLnBrk="1" hangingPunct="1">
              <a:lnSpc>
                <a:spcPct val="90000"/>
              </a:lnSpc>
              <a:defRPr/>
            </a:pPr>
            <a:r>
              <a:rPr lang="en-US" sz="2400" dirty="0">
                <a:latin typeface="+mj-lt"/>
              </a:rPr>
              <a:t>suit </a:t>
            </a:r>
            <a:r>
              <a:rPr lang="en-US" sz="2200" dirty="0">
                <a:latin typeface="+mj-lt"/>
              </a:rPr>
              <a:t>array has a fixed size, but strings can be of any size</a:t>
            </a:r>
          </a:p>
        </p:txBody>
      </p:sp>
      <p:grpSp>
        <p:nvGrpSpPr>
          <p:cNvPr id="56324" name="Group 6"/>
          <p:cNvGrpSpPr>
            <a:grpSpLocks/>
          </p:cNvGrpSpPr>
          <p:nvPr/>
        </p:nvGrpSpPr>
        <p:grpSpPr bwMode="auto">
          <a:xfrm>
            <a:off x="533400" y="5543550"/>
            <a:ext cx="2319338" cy="552450"/>
            <a:chOff x="-1" y="0"/>
            <a:chExt cx="20005" cy="20000"/>
          </a:xfrm>
        </p:grpSpPr>
        <p:grpSp>
          <p:nvGrpSpPr>
            <p:cNvPr id="56375" name="Group 7"/>
            <p:cNvGrpSpPr>
              <a:grpSpLocks/>
            </p:cNvGrpSpPr>
            <p:nvPr/>
          </p:nvGrpSpPr>
          <p:grpSpPr bwMode="auto">
            <a:xfrm>
              <a:off x="-1" y="0"/>
              <a:ext cx="14292" cy="20000"/>
              <a:chOff x="0" y="0"/>
              <a:chExt cx="20000" cy="20000"/>
            </a:xfrm>
          </p:grpSpPr>
          <p:grpSp>
            <p:nvGrpSpPr>
              <p:cNvPr id="56377" name="Group 8"/>
              <p:cNvGrpSpPr>
                <a:grpSpLocks/>
              </p:cNvGrpSpPr>
              <p:nvPr/>
            </p:nvGrpSpPr>
            <p:grpSpPr bwMode="auto">
              <a:xfrm>
                <a:off x="14005" y="0"/>
                <a:ext cx="5995" cy="20000"/>
                <a:chOff x="0" y="0"/>
                <a:chExt cx="20000" cy="20000"/>
              </a:xfrm>
            </p:grpSpPr>
            <p:sp>
              <p:nvSpPr>
                <p:cNvPr id="56379" name="Freeform 9"/>
                <p:cNvSpPr>
                  <a:spLocks/>
                </p:cNvSpPr>
                <p:nvPr/>
              </p:nvSpPr>
              <p:spPr bwMode="auto">
                <a:xfrm>
                  <a:off x="0" y="0"/>
                  <a:ext cx="20000" cy="20000"/>
                </a:xfrm>
                <a:custGeom>
                  <a:avLst/>
                  <a:gdLst>
                    <a:gd name="T0" fmla="*/ 19944 w 20000"/>
                    <a:gd name="T1" fmla="*/ 0 h 20000"/>
                    <a:gd name="T2" fmla="*/ 19944 w 20000"/>
                    <a:gd name="T3" fmla="*/ 19944 h 20000"/>
                    <a:gd name="T4" fmla="*/ 0 w 20000"/>
                    <a:gd name="T5" fmla="*/ 19944 h 20000"/>
                    <a:gd name="T6" fmla="*/ 0 w 20000"/>
                    <a:gd name="T7" fmla="*/ 0 h 20000"/>
                    <a:gd name="T8" fmla="*/ 19944 w 20000"/>
                    <a:gd name="T9" fmla="*/ 0 h 200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000"/>
                    <a:gd name="T16" fmla="*/ 0 h 20000"/>
                    <a:gd name="T17" fmla="*/ 20000 w 20000"/>
                    <a:gd name="T18" fmla="*/ 20000 h 200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000" h="20000">
                      <a:moveTo>
                        <a:pt x="19944" y="0"/>
                      </a:moveTo>
                      <a:lnTo>
                        <a:pt x="19944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44" y="0"/>
                      </a:lnTo>
                      <a:close/>
                    </a:path>
                  </a:pathLst>
                </a:custGeom>
                <a:solidFill>
                  <a:srgbClr val="00FF00"/>
                </a:solidFill>
                <a:ln w="3175">
                  <a:solidFill>
                    <a:srgbClr val="0099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ar-SA">
                    <a:latin typeface="+mj-lt"/>
                  </a:endParaRPr>
                </a:p>
              </p:txBody>
            </p:sp>
            <p:sp>
              <p:nvSpPr>
                <p:cNvPr id="56380" name="Oval 10"/>
                <p:cNvSpPr>
                  <a:spLocks noChangeArrowheads="1"/>
                </p:cNvSpPr>
                <p:nvPr/>
              </p:nvSpPr>
              <p:spPr bwMode="auto">
                <a:xfrm>
                  <a:off x="6606" y="6668"/>
                  <a:ext cx="6722" cy="6720"/>
                </a:xfrm>
                <a:prstGeom prst="ellipse">
                  <a:avLst/>
                </a:prstGeom>
                <a:solidFill>
                  <a:srgbClr val="000000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eaLnBrk="1" hangingPunct="1"/>
                  <a:endParaRPr lang="ar-SA" altLang="ar-SA">
                    <a:latin typeface="+mj-lt"/>
                  </a:endParaRPr>
                </a:p>
              </p:txBody>
            </p:sp>
          </p:grpSp>
          <p:sp>
            <p:nvSpPr>
              <p:cNvPr id="56378" name="Rectangle 11"/>
              <p:cNvSpPr>
                <a:spLocks noChangeArrowheads="1"/>
              </p:cNvSpPr>
              <p:nvPr/>
            </p:nvSpPr>
            <p:spPr bwMode="auto">
              <a:xfrm>
                <a:off x="0" y="3332"/>
                <a:ext cx="14671" cy="156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algn="l" rtl="0" eaLnBrk="1" hangingPunct="1"/>
                <a:r>
                  <a:rPr lang="en-US" altLang="ar-SA">
                    <a:latin typeface="+mj-lt"/>
                    <a:cs typeface="Courier New" pitchFamily="49" charset="0"/>
                  </a:rPr>
                  <a:t>suit[3]</a:t>
                </a:r>
                <a:endParaRPr lang="en-US" altLang="ar-SA">
                  <a:latin typeface="+mj-lt"/>
                </a:endParaRPr>
              </a:p>
            </p:txBody>
          </p:sp>
        </p:grpSp>
        <p:sp>
          <p:nvSpPr>
            <p:cNvPr id="56376" name="Freeform 12"/>
            <p:cNvSpPr>
              <a:spLocks/>
            </p:cNvSpPr>
            <p:nvPr/>
          </p:nvSpPr>
          <p:spPr bwMode="auto">
            <a:xfrm>
              <a:off x="12862" y="10000"/>
              <a:ext cx="7142" cy="56"/>
            </a:xfrm>
            <a:custGeom>
              <a:avLst/>
              <a:gdLst>
                <a:gd name="T0" fmla="*/ 19967 w 20000"/>
                <a:gd name="T1" fmla="*/ 0 h 20000"/>
                <a:gd name="T2" fmla="*/ 0 w 20000"/>
                <a:gd name="T3" fmla="*/ 0 h 20000"/>
                <a:gd name="T4" fmla="*/ 0 60000 65536"/>
                <a:gd name="T5" fmla="*/ 0 60000 65536"/>
                <a:gd name="T6" fmla="*/ 0 w 20000"/>
                <a:gd name="T7" fmla="*/ 0 h 20000"/>
                <a:gd name="T8" fmla="*/ 20000 w 20000"/>
                <a:gd name="T9" fmla="*/ 20000 h 200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000" h="20000">
                  <a:moveTo>
                    <a:pt x="19967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38100" cmpd="sng">
              <a:solidFill>
                <a:schemeClr val="tx1"/>
              </a:solidFill>
              <a:round/>
              <a:headEnd type="triangle" w="med" len="sm"/>
              <a:tailEnd/>
            </a:ln>
          </p:spPr>
          <p:txBody>
            <a:bodyPr/>
            <a:lstStyle/>
            <a:p>
              <a:endParaRPr lang="ar-SA">
                <a:latin typeface="+mj-lt"/>
              </a:endParaRPr>
            </a:p>
          </p:txBody>
        </p:sp>
      </p:grpSp>
      <p:grpSp>
        <p:nvGrpSpPr>
          <p:cNvPr id="56325" name="Group 13"/>
          <p:cNvGrpSpPr>
            <a:grpSpLocks/>
          </p:cNvGrpSpPr>
          <p:nvPr/>
        </p:nvGrpSpPr>
        <p:grpSpPr bwMode="auto">
          <a:xfrm>
            <a:off x="533400" y="4979988"/>
            <a:ext cx="2319338" cy="552450"/>
            <a:chOff x="-1" y="0"/>
            <a:chExt cx="20001" cy="20000"/>
          </a:xfrm>
        </p:grpSpPr>
        <p:grpSp>
          <p:nvGrpSpPr>
            <p:cNvPr id="56369" name="Group 14"/>
            <p:cNvGrpSpPr>
              <a:grpSpLocks/>
            </p:cNvGrpSpPr>
            <p:nvPr/>
          </p:nvGrpSpPr>
          <p:grpSpPr bwMode="auto">
            <a:xfrm>
              <a:off x="-1" y="0"/>
              <a:ext cx="14289" cy="20000"/>
              <a:chOff x="-1" y="0"/>
              <a:chExt cx="20001" cy="20000"/>
            </a:xfrm>
          </p:grpSpPr>
          <p:grpSp>
            <p:nvGrpSpPr>
              <p:cNvPr id="56371" name="Group 15"/>
              <p:cNvGrpSpPr>
                <a:grpSpLocks/>
              </p:cNvGrpSpPr>
              <p:nvPr/>
            </p:nvGrpSpPr>
            <p:grpSpPr bwMode="auto">
              <a:xfrm>
                <a:off x="14005" y="0"/>
                <a:ext cx="5995" cy="20000"/>
                <a:chOff x="0" y="0"/>
                <a:chExt cx="20000" cy="20000"/>
              </a:xfrm>
            </p:grpSpPr>
            <p:sp>
              <p:nvSpPr>
                <p:cNvPr id="56373" name="Freeform 16"/>
                <p:cNvSpPr>
                  <a:spLocks/>
                </p:cNvSpPr>
                <p:nvPr/>
              </p:nvSpPr>
              <p:spPr bwMode="auto">
                <a:xfrm>
                  <a:off x="0" y="0"/>
                  <a:ext cx="20000" cy="20000"/>
                </a:xfrm>
                <a:custGeom>
                  <a:avLst/>
                  <a:gdLst>
                    <a:gd name="T0" fmla="*/ 19944 w 20000"/>
                    <a:gd name="T1" fmla="*/ 0 h 20000"/>
                    <a:gd name="T2" fmla="*/ 19944 w 20000"/>
                    <a:gd name="T3" fmla="*/ 19944 h 20000"/>
                    <a:gd name="T4" fmla="*/ 0 w 20000"/>
                    <a:gd name="T5" fmla="*/ 19944 h 20000"/>
                    <a:gd name="T6" fmla="*/ 0 w 20000"/>
                    <a:gd name="T7" fmla="*/ 0 h 20000"/>
                    <a:gd name="T8" fmla="*/ 19944 w 20000"/>
                    <a:gd name="T9" fmla="*/ 0 h 200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000"/>
                    <a:gd name="T16" fmla="*/ 0 h 20000"/>
                    <a:gd name="T17" fmla="*/ 20000 w 20000"/>
                    <a:gd name="T18" fmla="*/ 20000 h 200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000" h="20000">
                      <a:moveTo>
                        <a:pt x="19944" y="0"/>
                      </a:moveTo>
                      <a:lnTo>
                        <a:pt x="19944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44" y="0"/>
                      </a:lnTo>
                      <a:close/>
                    </a:path>
                  </a:pathLst>
                </a:custGeom>
                <a:solidFill>
                  <a:srgbClr val="00FF00"/>
                </a:solidFill>
                <a:ln w="3175">
                  <a:solidFill>
                    <a:srgbClr val="0099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ar-SA">
                    <a:latin typeface="+mj-lt"/>
                  </a:endParaRPr>
                </a:p>
              </p:txBody>
            </p:sp>
            <p:sp>
              <p:nvSpPr>
                <p:cNvPr id="56374" name="Oval 17"/>
                <p:cNvSpPr>
                  <a:spLocks noChangeArrowheads="1"/>
                </p:cNvSpPr>
                <p:nvPr/>
              </p:nvSpPr>
              <p:spPr bwMode="auto">
                <a:xfrm>
                  <a:off x="6622" y="6668"/>
                  <a:ext cx="6722" cy="6720"/>
                </a:xfrm>
                <a:prstGeom prst="ellipse">
                  <a:avLst/>
                </a:prstGeom>
                <a:solidFill>
                  <a:srgbClr val="000000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eaLnBrk="1" hangingPunct="1"/>
                  <a:endParaRPr lang="ar-SA" altLang="ar-SA">
                    <a:latin typeface="+mj-lt"/>
                  </a:endParaRPr>
                </a:p>
              </p:txBody>
            </p:sp>
          </p:grpSp>
          <p:sp>
            <p:nvSpPr>
              <p:cNvPr id="56372" name="Rectangle 18"/>
              <p:cNvSpPr>
                <a:spLocks noChangeArrowheads="1"/>
              </p:cNvSpPr>
              <p:nvPr/>
            </p:nvSpPr>
            <p:spPr bwMode="auto">
              <a:xfrm>
                <a:off x="-1" y="3332"/>
                <a:ext cx="14672" cy="156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algn="l" rtl="0" eaLnBrk="1" hangingPunct="1"/>
                <a:r>
                  <a:rPr lang="en-US" altLang="ar-SA">
                    <a:latin typeface="+mj-lt"/>
                    <a:cs typeface="Courier New" pitchFamily="49" charset="0"/>
                  </a:rPr>
                  <a:t>suit[2]</a:t>
                </a:r>
                <a:endParaRPr lang="en-US" altLang="ar-SA">
                  <a:latin typeface="+mj-lt"/>
                </a:endParaRPr>
              </a:p>
            </p:txBody>
          </p:sp>
        </p:grpSp>
        <p:sp>
          <p:nvSpPr>
            <p:cNvPr id="56370" name="Freeform 19"/>
            <p:cNvSpPr>
              <a:spLocks/>
            </p:cNvSpPr>
            <p:nvPr/>
          </p:nvSpPr>
          <p:spPr bwMode="auto">
            <a:xfrm>
              <a:off x="12863" y="10000"/>
              <a:ext cx="7137" cy="56"/>
            </a:xfrm>
            <a:custGeom>
              <a:avLst/>
              <a:gdLst>
                <a:gd name="T0" fmla="*/ 19967 w 20000"/>
                <a:gd name="T1" fmla="*/ 0 h 20000"/>
                <a:gd name="T2" fmla="*/ 0 w 20000"/>
                <a:gd name="T3" fmla="*/ 0 h 20000"/>
                <a:gd name="T4" fmla="*/ 0 60000 65536"/>
                <a:gd name="T5" fmla="*/ 0 60000 65536"/>
                <a:gd name="T6" fmla="*/ 0 w 20000"/>
                <a:gd name="T7" fmla="*/ 0 h 20000"/>
                <a:gd name="T8" fmla="*/ 20000 w 20000"/>
                <a:gd name="T9" fmla="*/ 20000 h 200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000" h="20000">
                  <a:moveTo>
                    <a:pt x="19967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38100" cmpd="sng">
              <a:solidFill>
                <a:schemeClr val="tx1"/>
              </a:solidFill>
              <a:round/>
              <a:headEnd type="triangle" w="med" len="sm"/>
              <a:tailEnd/>
            </a:ln>
          </p:spPr>
          <p:txBody>
            <a:bodyPr/>
            <a:lstStyle/>
            <a:p>
              <a:endParaRPr lang="ar-SA">
                <a:latin typeface="+mj-lt"/>
              </a:endParaRPr>
            </a:p>
          </p:txBody>
        </p:sp>
      </p:grpSp>
      <p:grpSp>
        <p:nvGrpSpPr>
          <p:cNvPr id="56326" name="Group 20"/>
          <p:cNvGrpSpPr>
            <a:grpSpLocks/>
          </p:cNvGrpSpPr>
          <p:nvPr/>
        </p:nvGrpSpPr>
        <p:grpSpPr bwMode="auto">
          <a:xfrm>
            <a:off x="533400" y="4438650"/>
            <a:ext cx="2319338" cy="552450"/>
            <a:chOff x="-1" y="0"/>
            <a:chExt cx="20001" cy="20000"/>
          </a:xfrm>
        </p:grpSpPr>
        <p:grpSp>
          <p:nvGrpSpPr>
            <p:cNvPr id="56363" name="Group 21"/>
            <p:cNvGrpSpPr>
              <a:grpSpLocks/>
            </p:cNvGrpSpPr>
            <p:nvPr/>
          </p:nvGrpSpPr>
          <p:grpSpPr bwMode="auto">
            <a:xfrm>
              <a:off x="-1" y="0"/>
              <a:ext cx="14289" cy="20000"/>
              <a:chOff x="-1" y="0"/>
              <a:chExt cx="20001" cy="20000"/>
            </a:xfrm>
          </p:grpSpPr>
          <p:grpSp>
            <p:nvGrpSpPr>
              <p:cNvPr id="56365" name="Group 22"/>
              <p:cNvGrpSpPr>
                <a:grpSpLocks/>
              </p:cNvGrpSpPr>
              <p:nvPr/>
            </p:nvGrpSpPr>
            <p:grpSpPr bwMode="auto">
              <a:xfrm>
                <a:off x="14005" y="0"/>
                <a:ext cx="5995" cy="20000"/>
                <a:chOff x="0" y="0"/>
                <a:chExt cx="20000" cy="20000"/>
              </a:xfrm>
            </p:grpSpPr>
            <p:sp>
              <p:nvSpPr>
                <p:cNvPr id="56367" name="Freeform 23"/>
                <p:cNvSpPr>
                  <a:spLocks/>
                </p:cNvSpPr>
                <p:nvPr/>
              </p:nvSpPr>
              <p:spPr bwMode="auto">
                <a:xfrm>
                  <a:off x="0" y="0"/>
                  <a:ext cx="20000" cy="20000"/>
                </a:xfrm>
                <a:custGeom>
                  <a:avLst/>
                  <a:gdLst>
                    <a:gd name="T0" fmla="*/ 19944 w 20000"/>
                    <a:gd name="T1" fmla="*/ 0 h 20000"/>
                    <a:gd name="T2" fmla="*/ 19944 w 20000"/>
                    <a:gd name="T3" fmla="*/ 19944 h 20000"/>
                    <a:gd name="T4" fmla="*/ 0 w 20000"/>
                    <a:gd name="T5" fmla="*/ 19944 h 20000"/>
                    <a:gd name="T6" fmla="*/ 0 w 20000"/>
                    <a:gd name="T7" fmla="*/ 0 h 20000"/>
                    <a:gd name="T8" fmla="*/ 19944 w 20000"/>
                    <a:gd name="T9" fmla="*/ 0 h 200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000"/>
                    <a:gd name="T16" fmla="*/ 0 h 20000"/>
                    <a:gd name="T17" fmla="*/ 20000 w 20000"/>
                    <a:gd name="T18" fmla="*/ 20000 h 200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000" h="20000">
                      <a:moveTo>
                        <a:pt x="19944" y="0"/>
                      </a:moveTo>
                      <a:lnTo>
                        <a:pt x="19944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44" y="0"/>
                      </a:lnTo>
                      <a:close/>
                    </a:path>
                  </a:pathLst>
                </a:custGeom>
                <a:solidFill>
                  <a:srgbClr val="00FF00"/>
                </a:solidFill>
                <a:ln w="3175">
                  <a:solidFill>
                    <a:srgbClr val="0099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ar-SA">
                    <a:latin typeface="+mj-lt"/>
                  </a:endParaRPr>
                </a:p>
              </p:txBody>
            </p:sp>
            <p:sp>
              <p:nvSpPr>
                <p:cNvPr id="56368" name="Oval 24"/>
                <p:cNvSpPr>
                  <a:spLocks noChangeArrowheads="1"/>
                </p:cNvSpPr>
                <p:nvPr/>
              </p:nvSpPr>
              <p:spPr bwMode="auto">
                <a:xfrm>
                  <a:off x="6622" y="6668"/>
                  <a:ext cx="6722" cy="6720"/>
                </a:xfrm>
                <a:prstGeom prst="ellipse">
                  <a:avLst/>
                </a:prstGeom>
                <a:solidFill>
                  <a:srgbClr val="000000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eaLnBrk="1" hangingPunct="1"/>
                  <a:endParaRPr lang="ar-SA" altLang="ar-SA">
                    <a:latin typeface="+mj-lt"/>
                  </a:endParaRPr>
                </a:p>
              </p:txBody>
            </p:sp>
          </p:grpSp>
          <p:sp>
            <p:nvSpPr>
              <p:cNvPr id="56366" name="Rectangle 25"/>
              <p:cNvSpPr>
                <a:spLocks noChangeArrowheads="1"/>
              </p:cNvSpPr>
              <p:nvPr/>
            </p:nvSpPr>
            <p:spPr bwMode="auto">
              <a:xfrm>
                <a:off x="-1" y="3332"/>
                <a:ext cx="14672" cy="156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algn="l" rtl="0" eaLnBrk="1" hangingPunct="1"/>
                <a:r>
                  <a:rPr lang="en-US" altLang="ar-SA">
                    <a:latin typeface="+mj-lt"/>
                    <a:cs typeface="Courier New" pitchFamily="49" charset="0"/>
                  </a:rPr>
                  <a:t>suit[1]</a:t>
                </a:r>
                <a:endParaRPr lang="en-US" altLang="ar-SA">
                  <a:latin typeface="+mj-lt"/>
                </a:endParaRPr>
              </a:p>
            </p:txBody>
          </p:sp>
        </p:grpSp>
        <p:sp>
          <p:nvSpPr>
            <p:cNvPr id="56364" name="Freeform 26"/>
            <p:cNvSpPr>
              <a:spLocks/>
            </p:cNvSpPr>
            <p:nvPr/>
          </p:nvSpPr>
          <p:spPr bwMode="auto">
            <a:xfrm>
              <a:off x="12863" y="10000"/>
              <a:ext cx="7137" cy="56"/>
            </a:xfrm>
            <a:custGeom>
              <a:avLst/>
              <a:gdLst>
                <a:gd name="T0" fmla="*/ 19967 w 20000"/>
                <a:gd name="T1" fmla="*/ 0 h 20000"/>
                <a:gd name="T2" fmla="*/ 0 w 20000"/>
                <a:gd name="T3" fmla="*/ 0 h 20000"/>
                <a:gd name="T4" fmla="*/ 0 60000 65536"/>
                <a:gd name="T5" fmla="*/ 0 60000 65536"/>
                <a:gd name="T6" fmla="*/ 0 w 20000"/>
                <a:gd name="T7" fmla="*/ 0 h 20000"/>
                <a:gd name="T8" fmla="*/ 20000 w 20000"/>
                <a:gd name="T9" fmla="*/ 20000 h 200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000" h="20000">
                  <a:moveTo>
                    <a:pt x="19967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38100" cmpd="sng">
              <a:solidFill>
                <a:schemeClr val="tx1"/>
              </a:solidFill>
              <a:round/>
              <a:headEnd type="triangle" w="med" len="sm"/>
              <a:tailEnd/>
            </a:ln>
          </p:spPr>
          <p:txBody>
            <a:bodyPr/>
            <a:lstStyle/>
            <a:p>
              <a:endParaRPr lang="ar-SA">
                <a:latin typeface="+mj-lt"/>
              </a:endParaRPr>
            </a:p>
          </p:txBody>
        </p:sp>
      </p:grpSp>
      <p:grpSp>
        <p:nvGrpSpPr>
          <p:cNvPr id="56327" name="Group 27"/>
          <p:cNvGrpSpPr>
            <a:grpSpLocks/>
          </p:cNvGrpSpPr>
          <p:nvPr/>
        </p:nvGrpSpPr>
        <p:grpSpPr bwMode="auto">
          <a:xfrm>
            <a:off x="533400" y="3886200"/>
            <a:ext cx="2319338" cy="552450"/>
            <a:chOff x="-1" y="0"/>
            <a:chExt cx="20001" cy="20000"/>
          </a:xfrm>
        </p:grpSpPr>
        <p:grpSp>
          <p:nvGrpSpPr>
            <p:cNvPr id="56357" name="Group 28"/>
            <p:cNvGrpSpPr>
              <a:grpSpLocks/>
            </p:cNvGrpSpPr>
            <p:nvPr/>
          </p:nvGrpSpPr>
          <p:grpSpPr bwMode="auto">
            <a:xfrm>
              <a:off x="-1" y="0"/>
              <a:ext cx="14289" cy="20000"/>
              <a:chOff x="-1" y="0"/>
              <a:chExt cx="20001" cy="20000"/>
            </a:xfrm>
          </p:grpSpPr>
          <p:grpSp>
            <p:nvGrpSpPr>
              <p:cNvPr id="56359" name="Group 29"/>
              <p:cNvGrpSpPr>
                <a:grpSpLocks/>
              </p:cNvGrpSpPr>
              <p:nvPr/>
            </p:nvGrpSpPr>
            <p:grpSpPr bwMode="auto">
              <a:xfrm>
                <a:off x="14005" y="0"/>
                <a:ext cx="5995" cy="20000"/>
                <a:chOff x="0" y="0"/>
                <a:chExt cx="20000" cy="20000"/>
              </a:xfrm>
            </p:grpSpPr>
            <p:sp>
              <p:nvSpPr>
                <p:cNvPr id="56361" name="Freeform 30"/>
                <p:cNvSpPr>
                  <a:spLocks/>
                </p:cNvSpPr>
                <p:nvPr/>
              </p:nvSpPr>
              <p:spPr bwMode="auto">
                <a:xfrm>
                  <a:off x="0" y="0"/>
                  <a:ext cx="20000" cy="20000"/>
                </a:xfrm>
                <a:custGeom>
                  <a:avLst/>
                  <a:gdLst>
                    <a:gd name="T0" fmla="*/ 19944 w 20000"/>
                    <a:gd name="T1" fmla="*/ 0 h 20000"/>
                    <a:gd name="T2" fmla="*/ 19944 w 20000"/>
                    <a:gd name="T3" fmla="*/ 19944 h 20000"/>
                    <a:gd name="T4" fmla="*/ 0 w 20000"/>
                    <a:gd name="T5" fmla="*/ 19944 h 20000"/>
                    <a:gd name="T6" fmla="*/ 0 w 20000"/>
                    <a:gd name="T7" fmla="*/ 0 h 20000"/>
                    <a:gd name="T8" fmla="*/ 19944 w 20000"/>
                    <a:gd name="T9" fmla="*/ 0 h 200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000"/>
                    <a:gd name="T16" fmla="*/ 0 h 20000"/>
                    <a:gd name="T17" fmla="*/ 20000 w 20000"/>
                    <a:gd name="T18" fmla="*/ 20000 h 200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000" h="20000">
                      <a:moveTo>
                        <a:pt x="19944" y="0"/>
                      </a:moveTo>
                      <a:lnTo>
                        <a:pt x="19944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44" y="0"/>
                      </a:lnTo>
                      <a:close/>
                    </a:path>
                  </a:pathLst>
                </a:custGeom>
                <a:solidFill>
                  <a:srgbClr val="00FF00"/>
                </a:solidFill>
                <a:ln w="3175">
                  <a:solidFill>
                    <a:srgbClr val="0099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ar-SA">
                    <a:latin typeface="+mj-lt"/>
                  </a:endParaRPr>
                </a:p>
              </p:txBody>
            </p:sp>
            <p:sp>
              <p:nvSpPr>
                <p:cNvPr id="56362" name="Oval 31"/>
                <p:cNvSpPr>
                  <a:spLocks noChangeArrowheads="1"/>
                </p:cNvSpPr>
                <p:nvPr/>
              </p:nvSpPr>
              <p:spPr bwMode="auto">
                <a:xfrm>
                  <a:off x="6622" y="6668"/>
                  <a:ext cx="6722" cy="6720"/>
                </a:xfrm>
                <a:prstGeom prst="ellipse">
                  <a:avLst/>
                </a:prstGeom>
                <a:solidFill>
                  <a:srgbClr val="000000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eaLnBrk="1" hangingPunct="1"/>
                  <a:endParaRPr lang="ar-SA" altLang="ar-SA">
                    <a:latin typeface="+mj-lt"/>
                  </a:endParaRPr>
                </a:p>
              </p:txBody>
            </p:sp>
          </p:grpSp>
          <p:sp>
            <p:nvSpPr>
              <p:cNvPr id="56360" name="Rectangle 32"/>
              <p:cNvSpPr>
                <a:spLocks noChangeArrowheads="1"/>
              </p:cNvSpPr>
              <p:nvPr/>
            </p:nvSpPr>
            <p:spPr bwMode="auto">
              <a:xfrm>
                <a:off x="-1" y="3332"/>
                <a:ext cx="14672" cy="156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algn="l" rtl="0" eaLnBrk="1" hangingPunct="1"/>
                <a:r>
                  <a:rPr lang="en-US" altLang="ar-SA" dirty="0">
                    <a:latin typeface="+mj-lt"/>
                    <a:cs typeface="Courier New" pitchFamily="49" charset="0"/>
                  </a:rPr>
                  <a:t>suit[0]</a:t>
                </a:r>
                <a:endParaRPr lang="en-US" altLang="ar-SA" dirty="0">
                  <a:latin typeface="+mj-lt"/>
                </a:endParaRPr>
              </a:p>
            </p:txBody>
          </p:sp>
        </p:grpSp>
        <p:sp>
          <p:nvSpPr>
            <p:cNvPr id="56358" name="Freeform 33"/>
            <p:cNvSpPr>
              <a:spLocks/>
            </p:cNvSpPr>
            <p:nvPr/>
          </p:nvSpPr>
          <p:spPr bwMode="auto">
            <a:xfrm>
              <a:off x="12863" y="10000"/>
              <a:ext cx="7137" cy="56"/>
            </a:xfrm>
            <a:custGeom>
              <a:avLst/>
              <a:gdLst>
                <a:gd name="T0" fmla="*/ 19967 w 20000"/>
                <a:gd name="T1" fmla="*/ 0 h 20000"/>
                <a:gd name="T2" fmla="*/ 0 w 20000"/>
                <a:gd name="T3" fmla="*/ 0 h 20000"/>
                <a:gd name="T4" fmla="*/ 0 60000 65536"/>
                <a:gd name="T5" fmla="*/ 0 60000 65536"/>
                <a:gd name="T6" fmla="*/ 0 w 20000"/>
                <a:gd name="T7" fmla="*/ 0 h 20000"/>
                <a:gd name="T8" fmla="*/ 20000 w 20000"/>
                <a:gd name="T9" fmla="*/ 20000 h 200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000" h="20000">
                  <a:moveTo>
                    <a:pt x="19967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38100" cmpd="sng">
              <a:solidFill>
                <a:schemeClr val="tx1"/>
              </a:solidFill>
              <a:round/>
              <a:headEnd type="triangle" w="med" len="sm"/>
              <a:tailEnd/>
            </a:ln>
          </p:spPr>
          <p:txBody>
            <a:bodyPr/>
            <a:lstStyle/>
            <a:p>
              <a:endParaRPr lang="ar-SA">
                <a:latin typeface="+mj-lt"/>
              </a:endParaRPr>
            </a:p>
          </p:txBody>
        </p:sp>
      </p:grpSp>
      <p:sp>
        <p:nvSpPr>
          <p:cNvPr id="56328" name="Text Box 123"/>
          <p:cNvSpPr txBox="1">
            <a:spLocks noChangeArrowheads="1"/>
          </p:cNvSpPr>
          <p:nvPr/>
        </p:nvSpPr>
        <p:spPr bwMode="auto">
          <a:xfrm>
            <a:off x="2873375" y="3970338"/>
            <a:ext cx="609600" cy="376237"/>
          </a:xfrm>
          <a:prstGeom prst="rect">
            <a:avLst/>
          </a:prstGeom>
          <a:solidFill>
            <a:srgbClr val="00FF00"/>
          </a:solidFill>
          <a:ln w="9525">
            <a:solidFill>
              <a:srgbClr val="0099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0" eaLnBrk="1" hangingPunct="1">
              <a:spcBef>
                <a:spcPct val="50000"/>
              </a:spcBef>
            </a:pPr>
            <a:r>
              <a:rPr lang="en-US" altLang="ar-SA">
                <a:solidFill>
                  <a:srgbClr val="000000"/>
                </a:solidFill>
                <a:latin typeface="+mj-lt"/>
              </a:rPr>
              <a:t>‘H’</a:t>
            </a:r>
          </a:p>
        </p:txBody>
      </p:sp>
      <p:sp>
        <p:nvSpPr>
          <p:cNvPr id="56329" name="Text Box 124"/>
          <p:cNvSpPr txBox="1">
            <a:spLocks noChangeArrowheads="1"/>
          </p:cNvSpPr>
          <p:nvPr/>
        </p:nvSpPr>
        <p:spPr bwMode="auto">
          <a:xfrm>
            <a:off x="3482975" y="3970338"/>
            <a:ext cx="609600" cy="376237"/>
          </a:xfrm>
          <a:prstGeom prst="rect">
            <a:avLst/>
          </a:prstGeom>
          <a:solidFill>
            <a:srgbClr val="00FF00"/>
          </a:solidFill>
          <a:ln w="9525">
            <a:solidFill>
              <a:srgbClr val="0099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0" eaLnBrk="1" hangingPunct="1">
              <a:spcBef>
                <a:spcPct val="50000"/>
              </a:spcBef>
            </a:pPr>
            <a:r>
              <a:rPr lang="en-US" altLang="ar-SA">
                <a:solidFill>
                  <a:srgbClr val="000000"/>
                </a:solidFill>
                <a:latin typeface="+mj-lt"/>
              </a:rPr>
              <a:t>‘e’</a:t>
            </a:r>
          </a:p>
        </p:txBody>
      </p:sp>
      <p:sp>
        <p:nvSpPr>
          <p:cNvPr id="56330" name="Text Box 125"/>
          <p:cNvSpPr txBox="1">
            <a:spLocks noChangeArrowheads="1"/>
          </p:cNvSpPr>
          <p:nvPr/>
        </p:nvSpPr>
        <p:spPr bwMode="auto">
          <a:xfrm>
            <a:off x="4092575" y="3970338"/>
            <a:ext cx="609600" cy="376237"/>
          </a:xfrm>
          <a:prstGeom prst="rect">
            <a:avLst/>
          </a:prstGeom>
          <a:solidFill>
            <a:srgbClr val="00FF00"/>
          </a:solidFill>
          <a:ln w="9525">
            <a:solidFill>
              <a:srgbClr val="0099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0" eaLnBrk="1" hangingPunct="1">
              <a:spcBef>
                <a:spcPct val="50000"/>
              </a:spcBef>
            </a:pPr>
            <a:r>
              <a:rPr lang="en-US" altLang="ar-SA">
                <a:solidFill>
                  <a:srgbClr val="000000"/>
                </a:solidFill>
                <a:latin typeface="+mj-lt"/>
              </a:rPr>
              <a:t>‘a’</a:t>
            </a:r>
          </a:p>
        </p:txBody>
      </p:sp>
      <p:sp>
        <p:nvSpPr>
          <p:cNvPr id="56331" name="Text Box 126"/>
          <p:cNvSpPr txBox="1">
            <a:spLocks noChangeArrowheads="1"/>
          </p:cNvSpPr>
          <p:nvPr/>
        </p:nvSpPr>
        <p:spPr bwMode="auto">
          <a:xfrm>
            <a:off x="4702175" y="3970338"/>
            <a:ext cx="609600" cy="376237"/>
          </a:xfrm>
          <a:prstGeom prst="rect">
            <a:avLst/>
          </a:prstGeom>
          <a:solidFill>
            <a:srgbClr val="00FF00"/>
          </a:solidFill>
          <a:ln w="9525">
            <a:solidFill>
              <a:srgbClr val="0099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0" eaLnBrk="1" hangingPunct="1">
              <a:spcBef>
                <a:spcPct val="50000"/>
              </a:spcBef>
            </a:pPr>
            <a:r>
              <a:rPr lang="en-US" altLang="ar-SA">
                <a:solidFill>
                  <a:srgbClr val="000000"/>
                </a:solidFill>
                <a:latin typeface="+mj-lt"/>
              </a:rPr>
              <a:t>‘r’</a:t>
            </a:r>
          </a:p>
        </p:txBody>
      </p:sp>
      <p:sp>
        <p:nvSpPr>
          <p:cNvPr id="56332" name="Text Box 127"/>
          <p:cNvSpPr txBox="1">
            <a:spLocks noChangeArrowheads="1"/>
          </p:cNvSpPr>
          <p:nvPr/>
        </p:nvSpPr>
        <p:spPr bwMode="auto">
          <a:xfrm>
            <a:off x="5311775" y="3970338"/>
            <a:ext cx="609600" cy="376237"/>
          </a:xfrm>
          <a:prstGeom prst="rect">
            <a:avLst/>
          </a:prstGeom>
          <a:solidFill>
            <a:srgbClr val="00FF00"/>
          </a:solidFill>
          <a:ln w="9525">
            <a:solidFill>
              <a:srgbClr val="0099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0" eaLnBrk="1" hangingPunct="1">
              <a:spcBef>
                <a:spcPct val="50000"/>
              </a:spcBef>
            </a:pPr>
            <a:r>
              <a:rPr lang="en-US" altLang="ar-SA">
                <a:solidFill>
                  <a:srgbClr val="000000"/>
                </a:solidFill>
                <a:latin typeface="+mj-lt"/>
              </a:rPr>
              <a:t>‘t’</a:t>
            </a:r>
          </a:p>
        </p:txBody>
      </p:sp>
      <p:sp>
        <p:nvSpPr>
          <p:cNvPr id="56333" name="Text Box 128"/>
          <p:cNvSpPr txBox="1">
            <a:spLocks noChangeArrowheads="1"/>
          </p:cNvSpPr>
          <p:nvPr/>
        </p:nvSpPr>
        <p:spPr bwMode="auto">
          <a:xfrm>
            <a:off x="5921375" y="3970338"/>
            <a:ext cx="609600" cy="376237"/>
          </a:xfrm>
          <a:prstGeom prst="rect">
            <a:avLst/>
          </a:prstGeom>
          <a:solidFill>
            <a:srgbClr val="00FF00"/>
          </a:solidFill>
          <a:ln w="9525">
            <a:solidFill>
              <a:srgbClr val="0099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0" eaLnBrk="1" hangingPunct="1">
              <a:spcBef>
                <a:spcPct val="50000"/>
              </a:spcBef>
            </a:pPr>
            <a:r>
              <a:rPr lang="en-US" altLang="ar-SA">
                <a:solidFill>
                  <a:srgbClr val="000000"/>
                </a:solidFill>
                <a:latin typeface="+mj-lt"/>
              </a:rPr>
              <a:t>‘s’</a:t>
            </a:r>
          </a:p>
        </p:txBody>
      </p:sp>
      <p:sp>
        <p:nvSpPr>
          <p:cNvPr id="56334" name="Text Box 129"/>
          <p:cNvSpPr txBox="1">
            <a:spLocks noChangeArrowheads="1"/>
          </p:cNvSpPr>
          <p:nvPr/>
        </p:nvSpPr>
        <p:spPr bwMode="auto">
          <a:xfrm>
            <a:off x="6530975" y="3970338"/>
            <a:ext cx="609600" cy="376237"/>
          </a:xfrm>
          <a:prstGeom prst="rect">
            <a:avLst/>
          </a:prstGeom>
          <a:solidFill>
            <a:srgbClr val="00FF00"/>
          </a:solidFill>
          <a:ln w="9525">
            <a:solidFill>
              <a:srgbClr val="0099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0" eaLnBrk="1" hangingPunct="1">
              <a:spcBef>
                <a:spcPct val="50000"/>
              </a:spcBef>
            </a:pPr>
            <a:r>
              <a:rPr lang="en-US" altLang="ar-SA">
                <a:solidFill>
                  <a:srgbClr val="000000"/>
                </a:solidFill>
                <a:latin typeface="+mj-lt"/>
              </a:rPr>
              <a:t>‘\0’</a:t>
            </a:r>
          </a:p>
        </p:txBody>
      </p:sp>
      <p:sp>
        <p:nvSpPr>
          <p:cNvPr id="56335" name="Text Box 131"/>
          <p:cNvSpPr txBox="1">
            <a:spLocks noChangeArrowheads="1"/>
          </p:cNvSpPr>
          <p:nvPr/>
        </p:nvSpPr>
        <p:spPr bwMode="auto">
          <a:xfrm>
            <a:off x="2873375" y="4525963"/>
            <a:ext cx="609600" cy="376237"/>
          </a:xfrm>
          <a:prstGeom prst="rect">
            <a:avLst/>
          </a:prstGeom>
          <a:solidFill>
            <a:srgbClr val="00FF00"/>
          </a:solidFill>
          <a:ln w="9525">
            <a:solidFill>
              <a:srgbClr val="0099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0" eaLnBrk="1" hangingPunct="1">
              <a:spcBef>
                <a:spcPct val="50000"/>
              </a:spcBef>
            </a:pPr>
            <a:r>
              <a:rPr lang="en-US" altLang="ar-SA">
                <a:solidFill>
                  <a:srgbClr val="000000"/>
                </a:solidFill>
                <a:latin typeface="+mj-lt"/>
              </a:rPr>
              <a:t>‘D’</a:t>
            </a:r>
          </a:p>
        </p:txBody>
      </p:sp>
      <p:sp>
        <p:nvSpPr>
          <p:cNvPr id="56336" name="Text Box 132"/>
          <p:cNvSpPr txBox="1">
            <a:spLocks noChangeArrowheads="1"/>
          </p:cNvSpPr>
          <p:nvPr/>
        </p:nvSpPr>
        <p:spPr bwMode="auto">
          <a:xfrm>
            <a:off x="3482975" y="4525963"/>
            <a:ext cx="609600" cy="376237"/>
          </a:xfrm>
          <a:prstGeom prst="rect">
            <a:avLst/>
          </a:prstGeom>
          <a:solidFill>
            <a:srgbClr val="00FF00"/>
          </a:solidFill>
          <a:ln w="9525">
            <a:solidFill>
              <a:srgbClr val="0099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0" eaLnBrk="1" hangingPunct="1">
              <a:spcBef>
                <a:spcPct val="50000"/>
              </a:spcBef>
            </a:pPr>
            <a:r>
              <a:rPr lang="en-US" altLang="ar-SA">
                <a:solidFill>
                  <a:srgbClr val="000000"/>
                </a:solidFill>
                <a:latin typeface="+mj-lt"/>
              </a:rPr>
              <a:t>‘i’</a:t>
            </a:r>
          </a:p>
        </p:txBody>
      </p:sp>
      <p:sp>
        <p:nvSpPr>
          <p:cNvPr id="56337" name="Text Box 133"/>
          <p:cNvSpPr txBox="1">
            <a:spLocks noChangeArrowheads="1"/>
          </p:cNvSpPr>
          <p:nvPr/>
        </p:nvSpPr>
        <p:spPr bwMode="auto">
          <a:xfrm>
            <a:off x="4092575" y="4525963"/>
            <a:ext cx="609600" cy="376237"/>
          </a:xfrm>
          <a:prstGeom prst="rect">
            <a:avLst/>
          </a:prstGeom>
          <a:solidFill>
            <a:srgbClr val="00FF00"/>
          </a:solidFill>
          <a:ln w="9525">
            <a:solidFill>
              <a:srgbClr val="0099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0" eaLnBrk="1" hangingPunct="1">
              <a:spcBef>
                <a:spcPct val="50000"/>
              </a:spcBef>
            </a:pPr>
            <a:r>
              <a:rPr lang="en-US" altLang="ar-SA">
                <a:solidFill>
                  <a:srgbClr val="000000"/>
                </a:solidFill>
                <a:latin typeface="+mj-lt"/>
              </a:rPr>
              <a:t>‘a’</a:t>
            </a:r>
          </a:p>
        </p:txBody>
      </p:sp>
      <p:sp>
        <p:nvSpPr>
          <p:cNvPr id="56338" name="Text Box 134"/>
          <p:cNvSpPr txBox="1">
            <a:spLocks noChangeArrowheads="1"/>
          </p:cNvSpPr>
          <p:nvPr/>
        </p:nvSpPr>
        <p:spPr bwMode="auto">
          <a:xfrm>
            <a:off x="4702175" y="4525963"/>
            <a:ext cx="609600" cy="376237"/>
          </a:xfrm>
          <a:prstGeom prst="rect">
            <a:avLst/>
          </a:prstGeom>
          <a:solidFill>
            <a:srgbClr val="00FF00"/>
          </a:solidFill>
          <a:ln w="9525">
            <a:solidFill>
              <a:srgbClr val="0099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0" eaLnBrk="1" hangingPunct="1">
              <a:spcBef>
                <a:spcPct val="50000"/>
              </a:spcBef>
            </a:pPr>
            <a:r>
              <a:rPr lang="en-US" altLang="ar-SA">
                <a:solidFill>
                  <a:srgbClr val="000000"/>
                </a:solidFill>
                <a:latin typeface="+mj-lt"/>
              </a:rPr>
              <a:t>‘m’</a:t>
            </a:r>
          </a:p>
        </p:txBody>
      </p:sp>
      <p:sp>
        <p:nvSpPr>
          <p:cNvPr id="56339" name="Text Box 135"/>
          <p:cNvSpPr txBox="1">
            <a:spLocks noChangeArrowheads="1"/>
          </p:cNvSpPr>
          <p:nvPr/>
        </p:nvSpPr>
        <p:spPr bwMode="auto">
          <a:xfrm>
            <a:off x="5311775" y="4525963"/>
            <a:ext cx="609600" cy="376237"/>
          </a:xfrm>
          <a:prstGeom prst="rect">
            <a:avLst/>
          </a:prstGeom>
          <a:solidFill>
            <a:srgbClr val="00FF00"/>
          </a:solidFill>
          <a:ln w="9525">
            <a:solidFill>
              <a:srgbClr val="0099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0" eaLnBrk="1" hangingPunct="1">
              <a:spcBef>
                <a:spcPct val="50000"/>
              </a:spcBef>
            </a:pPr>
            <a:r>
              <a:rPr lang="en-US" altLang="ar-SA">
                <a:solidFill>
                  <a:srgbClr val="000000"/>
                </a:solidFill>
                <a:latin typeface="+mj-lt"/>
              </a:rPr>
              <a:t>‘o’</a:t>
            </a:r>
          </a:p>
        </p:txBody>
      </p:sp>
      <p:sp>
        <p:nvSpPr>
          <p:cNvPr id="56340" name="Text Box 136"/>
          <p:cNvSpPr txBox="1">
            <a:spLocks noChangeArrowheads="1"/>
          </p:cNvSpPr>
          <p:nvPr/>
        </p:nvSpPr>
        <p:spPr bwMode="auto">
          <a:xfrm>
            <a:off x="5921375" y="4525963"/>
            <a:ext cx="609600" cy="376237"/>
          </a:xfrm>
          <a:prstGeom prst="rect">
            <a:avLst/>
          </a:prstGeom>
          <a:solidFill>
            <a:srgbClr val="00FF00"/>
          </a:solidFill>
          <a:ln w="9525">
            <a:solidFill>
              <a:srgbClr val="0099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0" eaLnBrk="1" hangingPunct="1">
              <a:spcBef>
                <a:spcPct val="50000"/>
              </a:spcBef>
            </a:pPr>
            <a:r>
              <a:rPr lang="en-US" altLang="ar-SA">
                <a:solidFill>
                  <a:srgbClr val="000000"/>
                </a:solidFill>
                <a:latin typeface="+mj-lt"/>
              </a:rPr>
              <a:t>‘n’</a:t>
            </a:r>
          </a:p>
        </p:txBody>
      </p:sp>
      <p:sp>
        <p:nvSpPr>
          <p:cNvPr id="56341" name="Text Box 137"/>
          <p:cNvSpPr txBox="1">
            <a:spLocks noChangeArrowheads="1"/>
          </p:cNvSpPr>
          <p:nvPr/>
        </p:nvSpPr>
        <p:spPr bwMode="auto">
          <a:xfrm>
            <a:off x="7750175" y="4525963"/>
            <a:ext cx="609600" cy="376237"/>
          </a:xfrm>
          <a:prstGeom prst="rect">
            <a:avLst/>
          </a:prstGeom>
          <a:solidFill>
            <a:srgbClr val="00FF00"/>
          </a:solidFill>
          <a:ln w="9525">
            <a:solidFill>
              <a:srgbClr val="0099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0" eaLnBrk="1" hangingPunct="1">
              <a:spcBef>
                <a:spcPct val="50000"/>
              </a:spcBef>
            </a:pPr>
            <a:r>
              <a:rPr lang="en-US" altLang="ar-SA">
                <a:solidFill>
                  <a:srgbClr val="000000"/>
                </a:solidFill>
                <a:latin typeface="+mj-lt"/>
              </a:rPr>
              <a:t>‘\0’</a:t>
            </a:r>
          </a:p>
        </p:txBody>
      </p:sp>
      <p:sp>
        <p:nvSpPr>
          <p:cNvPr id="56342" name="Text Box 138"/>
          <p:cNvSpPr txBox="1">
            <a:spLocks noChangeArrowheads="1"/>
          </p:cNvSpPr>
          <p:nvPr/>
        </p:nvSpPr>
        <p:spPr bwMode="auto">
          <a:xfrm>
            <a:off x="6530975" y="4525963"/>
            <a:ext cx="609600" cy="376237"/>
          </a:xfrm>
          <a:prstGeom prst="rect">
            <a:avLst/>
          </a:prstGeom>
          <a:solidFill>
            <a:srgbClr val="00FF00"/>
          </a:solidFill>
          <a:ln w="9525">
            <a:solidFill>
              <a:srgbClr val="0099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0" eaLnBrk="1" hangingPunct="1">
              <a:spcBef>
                <a:spcPct val="50000"/>
              </a:spcBef>
            </a:pPr>
            <a:r>
              <a:rPr lang="en-US" altLang="ar-SA">
                <a:solidFill>
                  <a:srgbClr val="000000"/>
                </a:solidFill>
                <a:latin typeface="+mj-lt"/>
              </a:rPr>
              <a:t>‘d’</a:t>
            </a:r>
          </a:p>
        </p:txBody>
      </p:sp>
      <p:sp>
        <p:nvSpPr>
          <p:cNvPr id="56343" name="Text Box 139"/>
          <p:cNvSpPr txBox="1">
            <a:spLocks noChangeArrowheads="1"/>
          </p:cNvSpPr>
          <p:nvPr/>
        </p:nvSpPr>
        <p:spPr bwMode="auto">
          <a:xfrm>
            <a:off x="7140575" y="4525963"/>
            <a:ext cx="609600" cy="376237"/>
          </a:xfrm>
          <a:prstGeom prst="rect">
            <a:avLst/>
          </a:prstGeom>
          <a:solidFill>
            <a:srgbClr val="00FF00"/>
          </a:solidFill>
          <a:ln w="9525">
            <a:solidFill>
              <a:srgbClr val="0099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0" eaLnBrk="1" hangingPunct="1">
              <a:spcBef>
                <a:spcPct val="50000"/>
              </a:spcBef>
            </a:pPr>
            <a:r>
              <a:rPr lang="en-US" altLang="ar-SA">
                <a:solidFill>
                  <a:srgbClr val="000000"/>
                </a:solidFill>
                <a:latin typeface="+mj-lt"/>
              </a:rPr>
              <a:t>‘s’</a:t>
            </a:r>
          </a:p>
        </p:txBody>
      </p:sp>
      <p:sp>
        <p:nvSpPr>
          <p:cNvPr id="56344" name="Text Box 140"/>
          <p:cNvSpPr txBox="1">
            <a:spLocks noChangeArrowheads="1"/>
          </p:cNvSpPr>
          <p:nvPr/>
        </p:nvSpPr>
        <p:spPr bwMode="auto">
          <a:xfrm>
            <a:off x="2862263" y="5059363"/>
            <a:ext cx="609600" cy="376237"/>
          </a:xfrm>
          <a:prstGeom prst="rect">
            <a:avLst/>
          </a:prstGeom>
          <a:solidFill>
            <a:srgbClr val="00FF00"/>
          </a:solidFill>
          <a:ln w="9525">
            <a:solidFill>
              <a:srgbClr val="0099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0" eaLnBrk="1" hangingPunct="1">
              <a:spcBef>
                <a:spcPct val="50000"/>
              </a:spcBef>
            </a:pPr>
            <a:r>
              <a:rPr lang="en-US" altLang="ar-SA">
                <a:solidFill>
                  <a:srgbClr val="000000"/>
                </a:solidFill>
                <a:latin typeface="+mj-lt"/>
              </a:rPr>
              <a:t>‘C’</a:t>
            </a:r>
          </a:p>
        </p:txBody>
      </p:sp>
      <p:sp>
        <p:nvSpPr>
          <p:cNvPr id="56345" name="Text Box 141"/>
          <p:cNvSpPr txBox="1">
            <a:spLocks noChangeArrowheads="1"/>
          </p:cNvSpPr>
          <p:nvPr/>
        </p:nvSpPr>
        <p:spPr bwMode="auto">
          <a:xfrm>
            <a:off x="3471863" y="5059363"/>
            <a:ext cx="609600" cy="376237"/>
          </a:xfrm>
          <a:prstGeom prst="rect">
            <a:avLst/>
          </a:prstGeom>
          <a:solidFill>
            <a:srgbClr val="00FF00"/>
          </a:solidFill>
          <a:ln w="9525">
            <a:solidFill>
              <a:srgbClr val="0099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0" eaLnBrk="1" hangingPunct="1">
              <a:spcBef>
                <a:spcPct val="50000"/>
              </a:spcBef>
            </a:pPr>
            <a:r>
              <a:rPr lang="en-US" altLang="ar-SA">
                <a:solidFill>
                  <a:srgbClr val="000000"/>
                </a:solidFill>
                <a:latin typeface="+mj-lt"/>
              </a:rPr>
              <a:t>‘l’</a:t>
            </a:r>
          </a:p>
        </p:txBody>
      </p:sp>
      <p:sp>
        <p:nvSpPr>
          <p:cNvPr id="56346" name="Text Box 142"/>
          <p:cNvSpPr txBox="1">
            <a:spLocks noChangeArrowheads="1"/>
          </p:cNvSpPr>
          <p:nvPr/>
        </p:nvSpPr>
        <p:spPr bwMode="auto">
          <a:xfrm>
            <a:off x="4081463" y="5059363"/>
            <a:ext cx="609600" cy="376237"/>
          </a:xfrm>
          <a:prstGeom prst="rect">
            <a:avLst/>
          </a:prstGeom>
          <a:solidFill>
            <a:srgbClr val="00FF00"/>
          </a:solidFill>
          <a:ln w="9525">
            <a:solidFill>
              <a:srgbClr val="0099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0" eaLnBrk="1" hangingPunct="1">
              <a:spcBef>
                <a:spcPct val="50000"/>
              </a:spcBef>
            </a:pPr>
            <a:r>
              <a:rPr lang="en-US" altLang="ar-SA">
                <a:solidFill>
                  <a:srgbClr val="000000"/>
                </a:solidFill>
                <a:latin typeface="+mj-lt"/>
              </a:rPr>
              <a:t>‘u’</a:t>
            </a:r>
          </a:p>
        </p:txBody>
      </p:sp>
      <p:sp>
        <p:nvSpPr>
          <p:cNvPr id="56347" name="Text Box 143"/>
          <p:cNvSpPr txBox="1">
            <a:spLocks noChangeArrowheads="1"/>
          </p:cNvSpPr>
          <p:nvPr/>
        </p:nvSpPr>
        <p:spPr bwMode="auto">
          <a:xfrm>
            <a:off x="4691063" y="5059363"/>
            <a:ext cx="609600" cy="376237"/>
          </a:xfrm>
          <a:prstGeom prst="rect">
            <a:avLst/>
          </a:prstGeom>
          <a:solidFill>
            <a:srgbClr val="00FF00"/>
          </a:solidFill>
          <a:ln w="9525">
            <a:solidFill>
              <a:srgbClr val="0099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0" eaLnBrk="1" hangingPunct="1">
              <a:spcBef>
                <a:spcPct val="50000"/>
              </a:spcBef>
            </a:pPr>
            <a:r>
              <a:rPr lang="en-US" altLang="ar-SA">
                <a:solidFill>
                  <a:srgbClr val="000000"/>
                </a:solidFill>
                <a:latin typeface="+mj-lt"/>
              </a:rPr>
              <a:t>‘b’</a:t>
            </a:r>
          </a:p>
        </p:txBody>
      </p:sp>
      <p:sp>
        <p:nvSpPr>
          <p:cNvPr id="56348" name="Text Box 144"/>
          <p:cNvSpPr txBox="1">
            <a:spLocks noChangeArrowheads="1"/>
          </p:cNvSpPr>
          <p:nvPr/>
        </p:nvSpPr>
        <p:spPr bwMode="auto">
          <a:xfrm>
            <a:off x="5300663" y="5059363"/>
            <a:ext cx="609600" cy="376237"/>
          </a:xfrm>
          <a:prstGeom prst="rect">
            <a:avLst/>
          </a:prstGeom>
          <a:solidFill>
            <a:srgbClr val="00FF00"/>
          </a:solidFill>
          <a:ln w="9525">
            <a:solidFill>
              <a:srgbClr val="0099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0" eaLnBrk="1" hangingPunct="1">
              <a:spcBef>
                <a:spcPct val="50000"/>
              </a:spcBef>
            </a:pPr>
            <a:r>
              <a:rPr lang="en-US" altLang="ar-SA">
                <a:solidFill>
                  <a:srgbClr val="000000"/>
                </a:solidFill>
                <a:latin typeface="+mj-lt"/>
              </a:rPr>
              <a:t>‘s’</a:t>
            </a:r>
          </a:p>
        </p:txBody>
      </p:sp>
      <p:sp>
        <p:nvSpPr>
          <p:cNvPr id="56349" name="Text Box 145"/>
          <p:cNvSpPr txBox="1">
            <a:spLocks noChangeArrowheads="1"/>
          </p:cNvSpPr>
          <p:nvPr/>
        </p:nvSpPr>
        <p:spPr bwMode="auto">
          <a:xfrm>
            <a:off x="5910263" y="5059363"/>
            <a:ext cx="609600" cy="376237"/>
          </a:xfrm>
          <a:prstGeom prst="rect">
            <a:avLst/>
          </a:prstGeom>
          <a:solidFill>
            <a:srgbClr val="00FF00"/>
          </a:solidFill>
          <a:ln w="9525">
            <a:solidFill>
              <a:srgbClr val="0099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0" eaLnBrk="1" hangingPunct="1">
              <a:spcBef>
                <a:spcPct val="50000"/>
              </a:spcBef>
            </a:pPr>
            <a:r>
              <a:rPr lang="en-US" altLang="ar-SA">
                <a:solidFill>
                  <a:srgbClr val="000000"/>
                </a:solidFill>
                <a:latin typeface="+mj-lt"/>
              </a:rPr>
              <a:t>‘\0’</a:t>
            </a:r>
          </a:p>
        </p:txBody>
      </p:sp>
      <p:sp>
        <p:nvSpPr>
          <p:cNvPr id="56350" name="Text Box 146"/>
          <p:cNvSpPr txBox="1">
            <a:spLocks noChangeArrowheads="1"/>
          </p:cNvSpPr>
          <p:nvPr/>
        </p:nvSpPr>
        <p:spPr bwMode="auto">
          <a:xfrm>
            <a:off x="2862263" y="5614988"/>
            <a:ext cx="609600" cy="376237"/>
          </a:xfrm>
          <a:prstGeom prst="rect">
            <a:avLst/>
          </a:prstGeom>
          <a:solidFill>
            <a:srgbClr val="00FF00"/>
          </a:solidFill>
          <a:ln w="9525">
            <a:solidFill>
              <a:srgbClr val="0099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0" eaLnBrk="1" hangingPunct="1">
              <a:spcBef>
                <a:spcPct val="50000"/>
              </a:spcBef>
            </a:pPr>
            <a:r>
              <a:rPr lang="en-US" altLang="ar-SA">
                <a:solidFill>
                  <a:srgbClr val="000000"/>
                </a:solidFill>
                <a:latin typeface="+mj-lt"/>
              </a:rPr>
              <a:t>‘S’</a:t>
            </a:r>
          </a:p>
        </p:txBody>
      </p:sp>
      <p:sp>
        <p:nvSpPr>
          <p:cNvPr id="56351" name="Text Box 147"/>
          <p:cNvSpPr txBox="1">
            <a:spLocks noChangeArrowheads="1"/>
          </p:cNvSpPr>
          <p:nvPr/>
        </p:nvSpPr>
        <p:spPr bwMode="auto">
          <a:xfrm>
            <a:off x="3471863" y="5614988"/>
            <a:ext cx="609600" cy="376237"/>
          </a:xfrm>
          <a:prstGeom prst="rect">
            <a:avLst/>
          </a:prstGeom>
          <a:solidFill>
            <a:srgbClr val="00FF00"/>
          </a:solidFill>
          <a:ln w="9525">
            <a:solidFill>
              <a:srgbClr val="0099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0" eaLnBrk="1" hangingPunct="1">
              <a:spcBef>
                <a:spcPct val="50000"/>
              </a:spcBef>
            </a:pPr>
            <a:r>
              <a:rPr lang="en-US" altLang="ar-SA">
                <a:solidFill>
                  <a:srgbClr val="000000"/>
                </a:solidFill>
                <a:latin typeface="+mj-lt"/>
              </a:rPr>
              <a:t>‘p’</a:t>
            </a:r>
          </a:p>
        </p:txBody>
      </p:sp>
      <p:sp>
        <p:nvSpPr>
          <p:cNvPr id="56352" name="Text Box 148"/>
          <p:cNvSpPr txBox="1">
            <a:spLocks noChangeArrowheads="1"/>
          </p:cNvSpPr>
          <p:nvPr/>
        </p:nvSpPr>
        <p:spPr bwMode="auto">
          <a:xfrm>
            <a:off x="4081463" y="5614988"/>
            <a:ext cx="609600" cy="376237"/>
          </a:xfrm>
          <a:prstGeom prst="rect">
            <a:avLst/>
          </a:prstGeom>
          <a:solidFill>
            <a:srgbClr val="00FF00"/>
          </a:solidFill>
          <a:ln w="9525">
            <a:solidFill>
              <a:srgbClr val="0099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0" eaLnBrk="1" hangingPunct="1">
              <a:spcBef>
                <a:spcPct val="50000"/>
              </a:spcBef>
            </a:pPr>
            <a:r>
              <a:rPr lang="en-US" altLang="ar-SA">
                <a:solidFill>
                  <a:srgbClr val="000000"/>
                </a:solidFill>
                <a:latin typeface="+mj-lt"/>
              </a:rPr>
              <a:t>‘a’</a:t>
            </a:r>
          </a:p>
        </p:txBody>
      </p:sp>
      <p:sp>
        <p:nvSpPr>
          <p:cNvPr id="56353" name="Text Box 149"/>
          <p:cNvSpPr txBox="1">
            <a:spLocks noChangeArrowheads="1"/>
          </p:cNvSpPr>
          <p:nvPr/>
        </p:nvSpPr>
        <p:spPr bwMode="auto">
          <a:xfrm>
            <a:off x="4691063" y="5614988"/>
            <a:ext cx="609600" cy="376237"/>
          </a:xfrm>
          <a:prstGeom prst="rect">
            <a:avLst/>
          </a:prstGeom>
          <a:solidFill>
            <a:srgbClr val="00FF00"/>
          </a:solidFill>
          <a:ln w="9525">
            <a:solidFill>
              <a:srgbClr val="0099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0" eaLnBrk="1" hangingPunct="1">
              <a:spcBef>
                <a:spcPct val="50000"/>
              </a:spcBef>
            </a:pPr>
            <a:r>
              <a:rPr lang="en-US" altLang="ar-SA">
                <a:solidFill>
                  <a:srgbClr val="000000"/>
                </a:solidFill>
                <a:latin typeface="+mj-lt"/>
              </a:rPr>
              <a:t>‘d’</a:t>
            </a:r>
          </a:p>
        </p:txBody>
      </p:sp>
      <p:sp>
        <p:nvSpPr>
          <p:cNvPr id="56354" name="Text Box 150"/>
          <p:cNvSpPr txBox="1">
            <a:spLocks noChangeArrowheads="1"/>
          </p:cNvSpPr>
          <p:nvPr/>
        </p:nvSpPr>
        <p:spPr bwMode="auto">
          <a:xfrm>
            <a:off x="5300663" y="5614988"/>
            <a:ext cx="609600" cy="376237"/>
          </a:xfrm>
          <a:prstGeom prst="rect">
            <a:avLst/>
          </a:prstGeom>
          <a:solidFill>
            <a:srgbClr val="00FF00"/>
          </a:solidFill>
          <a:ln w="9525">
            <a:solidFill>
              <a:srgbClr val="0099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0" eaLnBrk="1" hangingPunct="1">
              <a:spcBef>
                <a:spcPct val="50000"/>
              </a:spcBef>
            </a:pPr>
            <a:r>
              <a:rPr lang="en-US" altLang="ar-SA">
                <a:solidFill>
                  <a:srgbClr val="000000"/>
                </a:solidFill>
                <a:latin typeface="+mj-lt"/>
              </a:rPr>
              <a:t>‘e’</a:t>
            </a:r>
          </a:p>
        </p:txBody>
      </p:sp>
      <p:sp>
        <p:nvSpPr>
          <p:cNvPr id="56355" name="Text Box 151"/>
          <p:cNvSpPr txBox="1">
            <a:spLocks noChangeArrowheads="1"/>
          </p:cNvSpPr>
          <p:nvPr/>
        </p:nvSpPr>
        <p:spPr bwMode="auto">
          <a:xfrm>
            <a:off x="6508750" y="5614988"/>
            <a:ext cx="609600" cy="376237"/>
          </a:xfrm>
          <a:prstGeom prst="rect">
            <a:avLst/>
          </a:prstGeom>
          <a:solidFill>
            <a:srgbClr val="00FF00"/>
          </a:solidFill>
          <a:ln w="9525">
            <a:solidFill>
              <a:srgbClr val="0099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0" eaLnBrk="1" hangingPunct="1">
              <a:spcBef>
                <a:spcPct val="50000"/>
              </a:spcBef>
            </a:pPr>
            <a:r>
              <a:rPr lang="en-US" altLang="ar-SA">
                <a:solidFill>
                  <a:srgbClr val="000000"/>
                </a:solidFill>
                <a:latin typeface="+mj-lt"/>
              </a:rPr>
              <a:t>‘\0’</a:t>
            </a:r>
          </a:p>
        </p:txBody>
      </p:sp>
      <p:sp>
        <p:nvSpPr>
          <p:cNvPr id="56356" name="Text Box 152"/>
          <p:cNvSpPr txBox="1">
            <a:spLocks noChangeArrowheads="1"/>
          </p:cNvSpPr>
          <p:nvPr/>
        </p:nvSpPr>
        <p:spPr bwMode="auto">
          <a:xfrm>
            <a:off x="5900738" y="5614988"/>
            <a:ext cx="609600" cy="376237"/>
          </a:xfrm>
          <a:prstGeom prst="rect">
            <a:avLst/>
          </a:prstGeom>
          <a:solidFill>
            <a:srgbClr val="00FF00"/>
          </a:solidFill>
          <a:ln w="9525">
            <a:solidFill>
              <a:srgbClr val="0099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0" eaLnBrk="1" hangingPunct="1">
              <a:spcBef>
                <a:spcPct val="50000"/>
              </a:spcBef>
            </a:pPr>
            <a:r>
              <a:rPr lang="en-US" altLang="ar-SA">
                <a:solidFill>
                  <a:srgbClr val="000000"/>
                </a:solidFill>
                <a:latin typeface="+mj-lt"/>
              </a:rPr>
              <a:t>‘s’</a:t>
            </a:r>
          </a:p>
        </p:txBody>
      </p:sp>
      <p:sp>
        <p:nvSpPr>
          <p:cNvPr id="62" name="Rectangle 2"/>
          <p:cNvSpPr>
            <a:spLocks noGrp="1" noChangeArrowheads="1"/>
          </p:cNvSpPr>
          <p:nvPr>
            <p:ph type="title"/>
          </p:nvPr>
        </p:nvSpPr>
        <p:spPr>
          <a:xfrm>
            <a:off x="66675" y="85725"/>
            <a:ext cx="8991600" cy="523875"/>
          </a:xfrm>
        </p:spPr>
        <p:txBody>
          <a:bodyPr>
            <a:noAutofit/>
          </a:bodyPr>
          <a:lstStyle/>
          <a:p>
            <a:pPr rtl="0" eaLnBrk="1" hangingPunct="1"/>
            <a:r>
              <a:rPr lang="en-US" altLang="ar-SA" sz="4800" b="1" dirty="0">
                <a:solidFill>
                  <a:srgbClr val="000099"/>
                </a:solidFill>
              </a:rPr>
              <a:t>Pointer and Arrays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5311775" y="6427348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CS 2321: D.S.A (-Introduction-)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42117F-2C73-4D66-97C1-4AE4EF459FFA}" type="slidenum">
              <a:rPr lang="ar-SA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2801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2"/>
          <p:cNvSpPr>
            <a:spLocks noGrp="1" noChangeArrowheads="1"/>
          </p:cNvSpPr>
          <p:nvPr>
            <p:ph idx="1"/>
          </p:nvPr>
        </p:nvSpPr>
        <p:spPr>
          <a:xfrm>
            <a:off x="152400" y="914400"/>
            <a:ext cx="8839200" cy="5791200"/>
          </a:xfrm>
        </p:spPr>
        <p:txBody>
          <a:bodyPr>
            <a:normAutofit/>
          </a:bodyPr>
          <a:lstStyle/>
          <a:p>
            <a:pPr algn="just" rtl="0"/>
            <a:r>
              <a:rPr lang="en-US" altLang="ar-SA" sz="2800" dirty="0">
                <a:effectLst/>
              </a:rPr>
              <a:t>C++ enables programmer to control the </a:t>
            </a:r>
            <a:r>
              <a:rPr lang="en-US" altLang="ar-SA" sz="2800" b="1" dirty="0">
                <a:solidFill>
                  <a:srgbClr val="FF0000"/>
                </a:solidFill>
                <a:effectLst/>
              </a:rPr>
              <a:t>allocation</a:t>
            </a:r>
            <a:r>
              <a:rPr lang="en-US" altLang="ar-SA" sz="2800" dirty="0">
                <a:solidFill>
                  <a:srgbClr val="FF0000"/>
                </a:solidFill>
                <a:effectLst/>
              </a:rPr>
              <a:t> </a:t>
            </a:r>
            <a:r>
              <a:rPr lang="en-US" altLang="ar-SA" sz="2800" dirty="0">
                <a:effectLst/>
              </a:rPr>
              <a:t>and </a:t>
            </a:r>
            <a:r>
              <a:rPr lang="en-US" altLang="ar-SA" sz="2800" b="1" dirty="0">
                <a:solidFill>
                  <a:srgbClr val="FF0000"/>
                </a:solidFill>
                <a:effectLst/>
              </a:rPr>
              <a:t>deallocation</a:t>
            </a:r>
            <a:r>
              <a:rPr lang="en-US" altLang="ar-SA" sz="2800" dirty="0">
                <a:solidFill>
                  <a:srgbClr val="FF0000"/>
                </a:solidFill>
                <a:effectLst/>
              </a:rPr>
              <a:t> </a:t>
            </a:r>
            <a:r>
              <a:rPr lang="en-US" altLang="ar-SA" sz="2800" dirty="0">
                <a:effectLst/>
              </a:rPr>
              <a:t>of memory in a program for any built-in or user-defined type. </a:t>
            </a:r>
          </a:p>
          <a:p>
            <a:pPr algn="just" rtl="0"/>
            <a:endParaRPr lang="en-US" altLang="ar-SA" sz="2800" dirty="0">
              <a:effectLst/>
            </a:endParaRPr>
          </a:p>
          <a:p>
            <a:pPr algn="just" rtl="0"/>
            <a:r>
              <a:rPr lang="en-US" altLang="ar-SA" sz="2800" dirty="0">
                <a:effectLst/>
              </a:rPr>
              <a:t>This is known as </a:t>
            </a:r>
            <a:r>
              <a:rPr lang="en-US" altLang="ar-SA" sz="2800" b="1" dirty="0">
                <a:solidFill>
                  <a:srgbClr val="FF0000"/>
                </a:solidFill>
                <a:effectLst/>
              </a:rPr>
              <a:t>dynamic memory management</a:t>
            </a:r>
            <a:r>
              <a:rPr lang="en-US" altLang="ar-SA" sz="2800" dirty="0">
                <a:solidFill>
                  <a:srgbClr val="FF0000"/>
                </a:solidFill>
                <a:effectLst/>
              </a:rPr>
              <a:t> </a:t>
            </a:r>
            <a:r>
              <a:rPr lang="en-US" altLang="ar-SA" sz="2800" dirty="0">
                <a:effectLst/>
              </a:rPr>
              <a:t>and is performed with operators </a:t>
            </a:r>
            <a:r>
              <a:rPr lang="en-US" altLang="ar-SA" sz="2800" b="1" u="sng" dirty="0">
                <a:solidFill>
                  <a:srgbClr val="FF0000"/>
                </a:solidFill>
                <a:latin typeface="Lucida Console" pitchFamily="49" charset="0"/>
              </a:rPr>
              <a:t>new</a:t>
            </a:r>
            <a:r>
              <a:rPr lang="en-US" altLang="ar-SA" sz="2800" dirty="0">
                <a:solidFill>
                  <a:srgbClr val="FF0000"/>
                </a:solidFill>
                <a:effectLst/>
              </a:rPr>
              <a:t> </a:t>
            </a:r>
            <a:r>
              <a:rPr lang="en-US" altLang="ar-SA" sz="2800" dirty="0">
                <a:effectLst/>
              </a:rPr>
              <a:t>and </a:t>
            </a:r>
            <a:r>
              <a:rPr lang="en-US" altLang="ar-SA" sz="2800" b="1" u="sng" dirty="0">
                <a:solidFill>
                  <a:srgbClr val="FF0000"/>
                </a:solidFill>
                <a:latin typeface="Lucida Console" pitchFamily="49" charset="0"/>
              </a:rPr>
              <a:t>delete</a:t>
            </a:r>
            <a:r>
              <a:rPr lang="en-US" altLang="ar-SA" sz="2800" dirty="0">
                <a:effectLst/>
              </a:rPr>
              <a:t>.</a:t>
            </a:r>
          </a:p>
          <a:p>
            <a:pPr algn="just" rtl="0"/>
            <a:endParaRPr lang="en-US" altLang="ar-SA" sz="2800" dirty="0">
              <a:effectLst/>
            </a:endParaRPr>
          </a:p>
          <a:p>
            <a:pPr algn="just" rtl="0"/>
            <a:r>
              <a:rPr lang="en-US" altLang="ar-SA" sz="2800" dirty="0">
                <a:effectLst/>
              </a:rPr>
              <a:t>The </a:t>
            </a:r>
            <a:r>
              <a:rPr lang="en-US" altLang="ar-SA" sz="2800" b="1" u="sng" dirty="0">
                <a:solidFill>
                  <a:srgbClr val="FF0000"/>
                </a:solidFill>
                <a:latin typeface="Lucida Console" pitchFamily="49" charset="0"/>
              </a:rPr>
              <a:t>new</a:t>
            </a:r>
            <a:r>
              <a:rPr lang="en-US" altLang="ar-SA" sz="2800" b="1" dirty="0">
                <a:effectLst/>
              </a:rPr>
              <a:t> </a:t>
            </a:r>
            <a:r>
              <a:rPr lang="en-US" altLang="ar-SA" sz="2800" dirty="0">
                <a:effectLst/>
              </a:rPr>
              <a:t>operator</a:t>
            </a:r>
            <a:r>
              <a:rPr lang="en-US" altLang="ar-SA" sz="2800" b="1" dirty="0">
                <a:effectLst/>
              </a:rPr>
              <a:t> </a:t>
            </a:r>
            <a:r>
              <a:rPr lang="en-US" altLang="ar-SA" sz="2800" dirty="0">
                <a:effectLst/>
              </a:rPr>
              <a:t>automatically creates object of proper size, calls constructor, returns pointer of the correct type.</a:t>
            </a:r>
          </a:p>
          <a:p>
            <a:pPr marL="0" indent="0" algn="just" rtl="0">
              <a:buNone/>
            </a:pPr>
            <a:endParaRPr lang="en-US" altLang="ar-SA" sz="2800" dirty="0">
              <a:effectLst/>
            </a:endParaRPr>
          </a:p>
          <a:p>
            <a:pPr algn="just" rtl="0"/>
            <a:r>
              <a:rPr lang="en-US" altLang="ar-SA" sz="2800" dirty="0">
                <a:effectLst/>
              </a:rPr>
              <a:t>The </a:t>
            </a:r>
            <a:r>
              <a:rPr lang="en-US" altLang="ar-SA" sz="2800" u="sng" dirty="0">
                <a:solidFill>
                  <a:srgbClr val="FF0000"/>
                </a:solidFill>
                <a:latin typeface="Lucida Console" pitchFamily="49" charset="0"/>
              </a:rPr>
              <a:t>delete</a:t>
            </a:r>
            <a:r>
              <a:rPr lang="en-US" altLang="ar-SA" sz="2800" u="sng" dirty="0">
                <a:solidFill>
                  <a:srgbClr val="FF0000"/>
                </a:solidFill>
                <a:effectLst/>
              </a:rPr>
              <a:t> </a:t>
            </a:r>
            <a:r>
              <a:rPr lang="en-US" altLang="ar-SA" sz="2800" dirty="0">
                <a:effectLst/>
              </a:rPr>
              <a:t>operator destroys object and frees space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66675" y="85725"/>
            <a:ext cx="8991600" cy="523875"/>
          </a:xfrm>
        </p:spPr>
        <p:txBody>
          <a:bodyPr>
            <a:noAutofit/>
          </a:bodyPr>
          <a:lstStyle/>
          <a:p>
            <a:pPr rtl="0" eaLnBrk="1" hangingPunct="1"/>
            <a:r>
              <a:rPr lang="en-US" altLang="ar-SA" sz="4800" b="1" dirty="0">
                <a:solidFill>
                  <a:srgbClr val="000099"/>
                </a:solidFill>
              </a:rPr>
              <a:t>Pointer and Arrays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(-Introduction-)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42117F-2C73-4D66-97C1-4AE4EF459FFA}" type="slidenum">
              <a:rPr lang="ar-SA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8553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7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914400"/>
            <a:ext cx="8991600" cy="5791200"/>
          </a:xfrm>
        </p:spPr>
        <p:txBody>
          <a:bodyPr/>
          <a:lstStyle/>
          <a:p>
            <a:pPr algn="l" rtl="0"/>
            <a:r>
              <a:rPr lang="en-US" altLang="ar-SA" sz="3600" dirty="0">
                <a:effectLst/>
                <a:latin typeface="+mj-lt"/>
              </a:rPr>
              <a:t>Example:</a:t>
            </a:r>
            <a:r>
              <a:rPr lang="en-US" altLang="ar-SA" sz="2800" dirty="0">
                <a:latin typeface="+mj-lt"/>
              </a:rPr>
              <a:t> </a:t>
            </a:r>
            <a:endParaRPr lang="en-US" altLang="ar-SA" sz="1400" dirty="0">
              <a:effectLst/>
              <a:latin typeface="+mj-lt"/>
            </a:endParaRPr>
          </a:p>
          <a:p>
            <a:pPr lvl="1" algn="l" rtl="0"/>
            <a:r>
              <a:rPr lang="en-US" altLang="ar-SA" dirty="0">
                <a:effectLst/>
                <a:latin typeface="+mj-lt"/>
              </a:rPr>
              <a:t>Consider the following declaration and statement:</a:t>
            </a:r>
          </a:p>
          <a:p>
            <a:pPr lvl="1" algn="l" rtl="0">
              <a:buFont typeface="Wingdings" pitchFamily="2" charset="2"/>
              <a:buNone/>
            </a:pPr>
            <a:r>
              <a:rPr lang="en-US" altLang="ar-SA" dirty="0">
                <a:latin typeface="+mj-lt"/>
              </a:rPr>
              <a:t>			</a:t>
            </a:r>
            <a:r>
              <a:rPr lang="en-US" altLang="ar-SA" dirty="0" err="1">
                <a:latin typeface="+mj-lt"/>
              </a:rPr>
              <a:t>TypeName</a:t>
            </a:r>
            <a:r>
              <a:rPr lang="en-US" altLang="ar-SA" dirty="0">
                <a:latin typeface="+mj-lt"/>
              </a:rPr>
              <a:t> *</a:t>
            </a:r>
            <a:r>
              <a:rPr lang="en-US" altLang="ar-SA" dirty="0" err="1">
                <a:latin typeface="+mj-lt"/>
              </a:rPr>
              <a:t>typeNamePtr</a:t>
            </a:r>
            <a:r>
              <a:rPr lang="en-US" altLang="ar-SA" dirty="0">
                <a:latin typeface="+mj-lt"/>
              </a:rPr>
              <a:t>;</a:t>
            </a:r>
            <a:endParaRPr lang="en-US" altLang="ar-SA" dirty="0">
              <a:effectLst/>
              <a:latin typeface="+mj-lt"/>
            </a:endParaRPr>
          </a:p>
          <a:p>
            <a:pPr lvl="1" algn="l" rtl="0">
              <a:buFont typeface="Wingdings" pitchFamily="2" charset="2"/>
              <a:buNone/>
            </a:pPr>
            <a:r>
              <a:rPr lang="en-US" altLang="ar-SA" dirty="0">
                <a:latin typeface="+mj-lt"/>
              </a:rPr>
              <a:t>			</a:t>
            </a:r>
            <a:r>
              <a:rPr lang="en-US" altLang="ar-SA" dirty="0" err="1">
                <a:latin typeface="+mj-lt"/>
              </a:rPr>
              <a:t>typeNamePtr</a:t>
            </a:r>
            <a:r>
              <a:rPr lang="en-US" altLang="ar-SA" dirty="0">
                <a:latin typeface="+mj-lt"/>
              </a:rPr>
              <a:t> = </a:t>
            </a:r>
            <a:r>
              <a:rPr lang="en-US" altLang="ar-SA" b="1" dirty="0">
                <a:solidFill>
                  <a:srgbClr val="FF0000"/>
                </a:solidFill>
                <a:latin typeface="+mj-lt"/>
              </a:rPr>
              <a:t>new</a:t>
            </a:r>
            <a:r>
              <a:rPr lang="en-US" altLang="ar-SA" dirty="0">
                <a:latin typeface="+mj-lt"/>
              </a:rPr>
              <a:t> TypeName;</a:t>
            </a:r>
          </a:p>
          <a:p>
            <a:pPr lvl="1" algn="l" rtl="0">
              <a:buFont typeface="Wingdings" pitchFamily="2" charset="2"/>
              <a:buNone/>
            </a:pPr>
            <a:r>
              <a:rPr lang="en-US" altLang="ar-SA" dirty="0">
                <a:effectLst/>
                <a:latin typeface="+mj-lt"/>
              </a:rPr>
              <a:t>- </a:t>
            </a:r>
            <a:r>
              <a:rPr lang="en-US" altLang="ar-SA" sz="2400" dirty="0">
                <a:effectLst/>
                <a:latin typeface="+mj-lt"/>
              </a:rPr>
              <a:t>creates pointer to a </a:t>
            </a:r>
            <a:r>
              <a:rPr lang="en-US" altLang="ar-SA" sz="2400" dirty="0">
                <a:latin typeface="+mj-lt"/>
              </a:rPr>
              <a:t>TypeName</a:t>
            </a:r>
            <a:r>
              <a:rPr lang="en-US" altLang="ar-SA" sz="2400" dirty="0">
                <a:effectLst/>
                <a:latin typeface="+mj-lt"/>
              </a:rPr>
              <a:t> object</a:t>
            </a:r>
          </a:p>
          <a:p>
            <a:pPr lvl="1" algn="l" rtl="0">
              <a:buFont typeface="Wingdings" pitchFamily="2" charset="2"/>
              <a:buNone/>
            </a:pPr>
            <a:r>
              <a:rPr lang="en-US" altLang="ar-SA" dirty="0">
                <a:effectLst/>
                <a:latin typeface="+mj-lt"/>
              </a:rPr>
              <a:t>- </a:t>
            </a:r>
            <a:r>
              <a:rPr lang="en-US" altLang="ar-SA" b="1" dirty="0">
                <a:solidFill>
                  <a:srgbClr val="FF0000"/>
                </a:solidFill>
                <a:latin typeface="+mj-lt"/>
              </a:rPr>
              <a:t>new</a:t>
            </a:r>
            <a:r>
              <a:rPr lang="en-US" altLang="ar-SA" dirty="0">
                <a:effectLst/>
                <a:latin typeface="+mj-lt"/>
              </a:rPr>
              <a:t> creates </a:t>
            </a:r>
            <a:r>
              <a:rPr lang="en-US" altLang="ar-SA" dirty="0" err="1">
                <a:latin typeface="+mj-lt"/>
              </a:rPr>
              <a:t>TypeName</a:t>
            </a:r>
            <a:r>
              <a:rPr lang="en-US" altLang="ar-SA" dirty="0">
                <a:effectLst/>
                <a:latin typeface="+mj-lt"/>
              </a:rPr>
              <a:t> object, returns pointer (which </a:t>
            </a:r>
            <a:r>
              <a:rPr lang="en-US" altLang="ar-SA" dirty="0" err="1">
                <a:latin typeface="+mj-lt"/>
              </a:rPr>
              <a:t>typeNamePtr</a:t>
            </a:r>
            <a:r>
              <a:rPr lang="en-US" altLang="ar-SA" dirty="0">
                <a:effectLst/>
                <a:latin typeface="+mj-lt"/>
              </a:rPr>
              <a:t> is set equal to)</a:t>
            </a:r>
          </a:p>
          <a:p>
            <a:pPr lvl="1" algn="l" rtl="0"/>
            <a:r>
              <a:rPr lang="en-US" altLang="ar-SA" dirty="0">
                <a:effectLst/>
                <a:latin typeface="+mj-lt"/>
              </a:rPr>
              <a:t>The statement:</a:t>
            </a:r>
          </a:p>
          <a:p>
            <a:pPr lvl="1" algn="ctr" rtl="0">
              <a:buFont typeface="Wingdings" pitchFamily="2" charset="2"/>
              <a:buNone/>
            </a:pPr>
            <a:r>
              <a:rPr lang="en-US" altLang="ar-SA" b="1" dirty="0">
                <a:solidFill>
                  <a:srgbClr val="FF0000"/>
                </a:solidFill>
                <a:latin typeface="+mj-lt"/>
              </a:rPr>
              <a:t>delete</a:t>
            </a:r>
            <a:r>
              <a:rPr lang="en-US" altLang="ar-SA" dirty="0">
                <a:latin typeface="+mj-lt"/>
              </a:rPr>
              <a:t> </a:t>
            </a:r>
            <a:r>
              <a:rPr lang="en-US" altLang="ar-SA" dirty="0" err="1">
                <a:latin typeface="+mj-lt"/>
              </a:rPr>
              <a:t>typeNamePtr</a:t>
            </a:r>
            <a:r>
              <a:rPr lang="en-US" altLang="ar-SA" dirty="0">
                <a:latin typeface="+mj-lt"/>
              </a:rPr>
              <a:t>;</a:t>
            </a:r>
            <a:r>
              <a:rPr lang="en-US" altLang="ar-SA" b="1" dirty="0">
                <a:effectLst/>
                <a:latin typeface="+mj-lt"/>
              </a:rPr>
              <a:t>  </a:t>
            </a:r>
            <a:endParaRPr lang="en-US" altLang="ar-SA" sz="1000" b="1" dirty="0">
              <a:effectLst/>
              <a:latin typeface="+mj-lt"/>
            </a:endParaRPr>
          </a:p>
          <a:p>
            <a:pPr lvl="1" algn="l" rtl="0">
              <a:buFont typeface="Wingdings" pitchFamily="2" charset="2"/>
              <a:buNone/>
            </a:pPr>
            <a:r>
              <a:rPr lang="en-US" altLang="ar-SA" dirty="0">
                <a:effectLst/>
                <a:latin typeface="+mj-lt"/>
              </a:rPr>
              <a:t>   calls destructor for </a:t>
            </a:r>
            <a:r>
              <a:rPr lang="en-US" altLang="ar-SA" dirty="0" err="1">
                <a:latin typeface="+mj-lt"/>
              </a:rPr>
              <a:t>TypeName</a:t>
            </a:r>
            <a:r>
              <a:rPr lang="en-US" altLang="ar-SA" dirty="0">
                <a:effectLst/>
                <a:latin typeface="+mj-lt"/>
              </a:rPr>
              <a:t> object and frees memory</a:t>
            </a:r>
            <a:endParaRPr lang="en-US" altLang="ar-SA" sz="1000" b="1" dirty="0">
              <a:latin typeface="+mj-lt"/>
              <a:cs typeface="Courier New" pitchFamily="49" charset="0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66675" y="85725"/>
            <a:ext cx="8991600" cy="523875"/>
          </a:xfrm>
        </p:spPr>
        <p:txBody>
          <a:bodyPr>
            <a:noAutofit/>
          </a:bodyPr>
          <a:lstStyle/>
          <a:p>
            <a:pPr rtl="0" eaLnBrk="1" hangingPunct="1"/>
            <a:r>
              <a:rPr lang="en-US" altLang="ar-SA" sz="4800" b="1" dirty="0">
                <a:solidFill>
                  <a:srgbClr val="000099"/>
                </a:solidFill>
              </a:rPr>
              <a:t>Pointer and Arrays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>
          <a:xfrm>
            <a:off x="5181600" y="6340092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CS 2321: D.S.A (-Introduction-)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42117F-2C73-4D66-97C1-4AE4EF459FFA}" type="slidenum">
              <a:rPr lang="ar-SA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5547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ChangeArrowheads="1"/>
          </p:cNvSpPr>
          <p:nvPr>
            <p:ph idx="1"/>
          </p:nvPr>
        </p:nvSpPr>
        <p:spPr>
          <a:xfrm>
            <a:off x="152400" y="914400"/>
            <a:ext cx="8839200" cy="5791200"/>
          </a:xfrm>
        </p:spPr>
        <p:txBody>
          <a:bodyPr/>
          <a:lstStyle/>
          <a:p>
            <a:pPr algn="l" rtl="0"/>
            <a:r>
              <a:rPr lang="en-US" altLang="ar-SA" sz="3600" dirty="0">
                <a:effectLst/>
                <a:latin typeface="+mj-lt"/>
              </a:rPr>
              <a:t>Initializer:</a:t>
            </a:r>
            <a:r>
              <a:rPr lang="en-US" altLang="ar-SA" dirty="0">
                <a:latin typeface="+mj-lt"/>
              </a:rPr>
              <a:t> </a:t>
            </a:r>
            <a:endParaRPr lang="en-US" altLang="ar-SA" sz="1600" dirty="0">
              <a:effectLst/>
              <a:latin typeface="+mj-lt"/>
            </a:endParaRPr>
          </a:p>
          <a:p>
            <a:pPr lvl="1" algn="l" rtl="0"/>
            <a:r>
              <a:rPr lang="en-US" altLang="ar-SA" dirty="0">
                <a:effectLst/>
                <a:latin typeface="+mj-lt"/>
              </a:rPr>
              <a:t>The following statement i</a:t>
            </a:r>
            <a:r>
              <a:rPr lang="en-US" altLang="ar-SA" dirty="0">
                <a:latin typeface="+mj-lt"/>
                <a:cs typeface="Times New Roman" pitchFamily="18" charset="0"/>
              </a:rPr>
              <a:t>nitializes object of type </a:t>
            </a:r>
            <a:r>
              <a:rPr lang="en-US" altLang="ar-SA" dirty="0">
                <a:latin typeface="+mj-lt"/>
                <a:cs typeface="Courier New" pitchFamily="49" charset="0"/>
              </a:rPr>
              <a:t>double</a:t>
            </a:r>
            <a:r>
              <a:rPr lang="en-US" altLang="ar-SA" dirty="0">
                <a:latin typeface="+mj-lt"/>
                <a:cs typeface="Times New Roman" pitchFamily="18" charset="0"/>
              </a:rPr>
              <a:t> to 3.14159</a:t>
            </a:r>
            <a:endParaRPr lang="en-US" altLang="ar-SA" b="1" dirty="0">
              <a:latin typeface="+mj-lt"/>
              <a:cs typeface="Courier New" pitchFamily="49" charset="0"/>
            </a:endParaRPr>
          </a:p>
          <a:p>
            <a:pPr lvl="1" algn="ctr" rtl="0">
              <a:buFont typeface="Wingdings" pitchFamily="2" charset="2"/>
              <a:buNone/>
            </a:pPr>
            <a:endParaRPr lang="en-US" altLang="ar-SA" sz="1600" dirty="0">
              <a:latin typeface="+mj-lt"/>
              <a:cs typeface="Courier New" pitchFamily="49" charset="0"/>
            </a:endParaRPr>
          </a:p>
          <a:p>
            <a:pPr lvl="1" algn="ctr" rtl="0">
              <a:buFont typeface="Wingdings" pitchFamily="2" charset="2"/>
              <a:buNone/>
            </a:pPr>
            <a:r>
              <a:rPr lang="en-US" altLang="ar-SA" sz="2600" dirty="0">
                <a:latin typeface="+mj-lt"/>
                <a:cs typeface="Courier New" pitchFamily="49" charset="0"/>
              </a:rPr>
              <a:t>double</a:t>
            </a:r>
            <a:r>
              <a:rPr lang="en-US" altLang="ar-SA" sz="2600" b="1" dirty="0">
                <a:latin typeface="+mj-lt"/>
                <a:cs typeface="Courier New" pitchFamily="49" charset="0"/>
              </a:rPr>
              <a:t> </a:t>
            </a:r>
            <a:r>
              <a:rPr lang="en-US" altLang="ar-SA" sz="2600" dirty="0">
                <a:latin typeface="+mj-lt"/>
                <a:cs typeface="Courier New" pitchFamily="49" charset="0"/>
              </a:rPr>
              <a:t>*</a:t>
            </a:r>
            <a:r>
              <a:rPr lang="en-US" altLang="ar-SA" sz="2600" dirty="0" err="1">
                <a:latin typeface="+mj-lt"/>
                <a:cs typeface="Courier New" pitchFamily="49" charset="0"/>
              </a:rPr>
              <a:t>thingPtr</a:t>
            </a:r>
            <a:r>
              <a:rPr lang="en-US" altLang="ar-SA" sz="2600" dirty="0">
                <a:latin typeface="+mj-lt"/>
                <a:cs typeface="Courier New" pitchFamily="49" charset="0"/>
              </a:rPr>
              <a:t> = </a:t>
            </a:r>
            <a:r>
              <a:rPr lang="en-US" altLang="ar-SA" sz="2600" b="1" dirty="0">
                <a:solidFill>
                  <a:srgbClr val="FF0000"/>
                </a:solidFill>
                <a:latin typeface="+mj-lt"/>
                <a:cs typeface="Courier New" pitchFamily="49" charset="0"/>
              </a:rPr>
              <a:t>new</a:t>
            </a:r>
            <a:r>
              <a:rPr lang="en-US" altLang="ar-SA" sz="2600" dirty="0">
                <a:latin typeface="+mj-lt"/>
                <a:cs typeface="Courier New" pitchFamily="49" charset="0"/>
              </a:rPr>
              <a:t> double( 3.14159 );</a:t>
            </a:r>
            <a:endParaRPr lang="en-US" altLang="ar-SA" sz="2600" b="1" dirty="0">
              <a:latin typeface="+mj-lt"/>
              <a:cs typeface="Times New Roman" pitchFamily="18" charset="0"/>
            </a:endParaRPr>
          </a:p>
          <a:p>
            <a:pPr lvl="1" algn="l" rtl="0"/>
            <a:endParaRPr lang="en-US" altLang="ar-SA" sz="1600" dirty="0">
              <a:latin typeface="+mj-lt"/>
              <a:cs typeface="Times New Roman" pitchFamily="18" charset="0"/>
            </a:endParaRPr>
          </a:p>
          <a:p>
            <a:pPr lvl="1" algn="l" rtl="0"/>
            <a:r>
              <a:rPr lang="en-US" altLang="ar-SA" dirty="0">
                <a:latin typeface="+mj-lt"/>
                <a:cs typeface="Times New Roman" pitchFamily="18" charset="0"/>
              </a:rPr>
              <a:t>To create ten element </a:t>
            </a:r>
            <a:r>
              <a:rPr lang="en-US" altLang="ar-SA" dirty="0" err="1">
                <a:latin typeface="+mj-lt"/>
                <a:cs typeface="Times New Roman" pitchFamily="18" charset="0"/>
              </a:rPr>
              <a:t>int</a:t>
            </a:r>
            <a:r>
              <a:rPr lang="en-US" altLang="ar-SA" dirty="0">
                <a:latin typeface="+mj-lt"/>
                <a:cs typeface="Times New Roman" pitchFamily="18" charset="0"/>
              </a:rPr>
              <a:t> array, assign to </a:t>
            </a:r>
            <a:r>
              <a:rPr lang="en-US" altLang="ar-SA" dirty="0" err="1">
                <a:latin typeface="+mj-lt"/>
                <a:cs typeface="Times New Roman" pitchFamily="18" charset="0"/>
              </a:rPr>
              <a:t>arrayPtr</a:t>
            </a:r>
            <a:r>
              <a:rPr lang="en-US" altLang="ar-SA" dirty="0">
                <a:latin typeface="+mj-lt"/>
                <a:cs typeface="Times New Roman" pitchFamily="18" charset="0"/>
              </a:rPr>
              <a:t>. </a:t>
            </a:r>
          </a:p>
          <a:p>
            <a:pPr lvl="1" algn="l" rtl="0"/>
            <a:endParaRPr lang="en-US" altLang="ar-SA" sz="1600" dirty="0">
              <a:latin typeface="+mj-lt"/>
              <a:cs typeface="Times New Roman" pitchFamily="18" charset="0"/>
            </a:endParaRPr>
          </a:p>
          <a:p>
            <a:pPr lvl="1" algn="ctr" rtl="0">
              <a:buFont typeface="Wingdings" pitchFamily="2" charset="2"/>
              <a:buNone/>
            </a:pPr>
            <a:r>
              <a:rPr lang="en-US" altLang="ar-SA" dirty="0" err="1">
                <a:latin typeface="+mj-lt"/>
                <a:cs typeface="Times New Roman" pitchFamily="18" charset="0"/>
              </a:rPr>
              <a:t>int</a:t>
            </a:r>
            <a:r>
              <a:rPr lang="en-US" altLang="ar-SA" dirty="0">
                <a:latin typeface="+mj-lt"/>
                <a:cs typeface="Times New Roman" pitchFamily="18" charset="0"/>
              </a:rPr>
              <a:t> *</a:t>
            </a:r>
            <a:r>
              <a:rPr lang="en-US" altLang="ar-SA" dirty="0" err="1">
                <a:latin typeface="+mj-lt"/>
                <a:cs typeface="Times New Roman" pitchFamily="18" charset="0"/>
              </a:rPr>
              <a:t>arrayPtr</a:t>
            </a:r>
            <a:r>
              <a:rPr lang="en-US" altLang="ar-SA" dirty="0">
                <a:latin typeface="+mj-lt"/>
                <a:cs typeface="Times New Roman" pitchFamily="18" charset="0"/>
              </a:rPr>
              <a:t> = </a:t>
            </a:r>
            <a:r>
              <a:rPr lang="en-US" altLang="ar-SA" b="1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new</a:t>
            </a:r>
            <a:r>
              <a:rPr lang="en-US" altLang="ar-SA" dirty="0">
                <a:latin typeface="+mj-lt"/>
                <a:cs typeface="Times New Roman" pitchFamily="18" charset="0"/>
              </a:rPr>
              <a:t> </a:t>
            </a:r>
            <a:r>
              <a:rPr lang="en-US" altLang="ar-SA" dirty="0" err="1">
                <a:latin typeface="+mj-lt"/>
                <a:cs typeface="Times New Roman" pitchFamily="18" charset="0"/>
              </a:rPr>
              <a:t>int</a:t>
            </a:r>
            <a:r>
              <a:rPr lang="en-US" altLang="ar-SA" dirty="0">
                <a:latin typeface="+mj-lt"/>
                <a:cs typeface="Times New Roman" pitchFamily="18" charset="0"/>
              </a:rPr>
              <a:t>[ 10 ];</a:t>
            </a:r>
          </a:p>
          <a:p>
            <a:pPr lvl="1" algn="l" rtl="0"/>
            <a:endParaRPr lang="en-US" altLang="ar-SA" sz="1600" dirty="0">
              <a:latin typeface="+mj-lt"/>
              <a:cs typeface="Times New Roman" pitchFamily="18" charset="0"/>
            </a:endParaRPr>
          </a:p>
          <a:p>
            <a:pPr lvl="1" algn="l" rtl="0"/>
            <a:r>
              <a:rPr lang="en-US" altLang="ar-SA" dirty="0">
                <a:latin typeface="+mj-lt"/>
                <a:cs typeface="Times New Roman" pitchFamily="18" charset="0"/>
              </a:rPr>
              <a:t>To delete this arrays</a:t>
            </a:r>
          </a:p>
          <a:p>
            <a:pPr lvl="1" algn="ctr" rtl="0">
              <a:buFont typeface="Wingdings" pitchFamily="2" charset="2"/>
              <a:buNone/>
            </a:pPr>
            <a:r>
              <a:rPr lang="en-US" altLang="ar-SA" b="1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delete</a:t>
            </a:r>
            <a:r>
              <a:rPr lang="en-US" altLang="ar-SA" dirty="0">
                <a:latin typeface="+mj-lt"/>
                <a:cs typeface="Times New Roman" pitchFamily="18" charset="0"/>
              </a:rPr>
              <a:t> [] </a:t>
            </a:r>
            <a:r>
              <a:rPr lang="en-US" altLang="ar-SA" dirty="0" err="1">
                <a:latin typeface="+mj-lt"/>
                <a:cs typeface="Times New Roman" pitchFamily="18" charset="0"/>
              </a:rPr>
              <a:t>arrayPtr</a:t>
            </a:r>
            <a:r>
              <a:rPr lang="en-US" altLang="ar-SA" b="1" dirty="0">
                <a:latin typeface="+mj-lt"/>
                <a:cs typeface="Times New Roman" pitchFamily="18" charset="0"/>
              </a:rPr>
              <a:t>;</a:t>
            </a:r>
            <a:endParaRPr lang="en-US" altLang="ar-SA" dirty="0">
              <a:latin typeface="+mj-lt"/>
              <a:cs typeface="Times New Roman" pitchFamily="18" charset="0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66675" y="85725"/>
            <a:ext cx="8991600" cy="523875"/>
          </a:xfrm>
        </p:spPr>
        <p:txBody>
          <a:bodyPr>
            <a:noAutofit/>
          </a:bodyPr>
          <a:lstStyle/>
          <a:p>
            <a:pPr rtl="0" eaLnBrk="1" hangingPunct="1"/>
            <a:r>
              <a:rPr lang="en-US" altLang="ar-SA" sz="4800" b="1" dirty="0">
                <a:solidFill>
                  <a:srgbClr val="000099"/>
                </a:solidFill>
              </a:rPr>
              <a:t>Pointer and Arrays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(-Introduction-)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42117F-2C73-4D66-97C1-4AE4EF459FFA}" type="slidenum">
              <a:rPr lang="ar-SA" smtClean="0"/>
              <a:pPr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57714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13245</TotalTime>
  <Words>2252</Words>
  <Application>Microsoft Office PowerPoint</Application>
  <PresentationFormat>On-screen Show (4:3)</PresentationFormat>
  <Paragraphs>412</Paragraphs>
  <Slides>34</Slides>
  <Notes>23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34</vt:i4>
      </vt:variant>
    </vt:vector>
  </HeadingPairs>
  <TitlesOfParts>
    <vt:vector size="45" baseType="lpstr">
      <vt:lpstr>Arial</vt:lpstr>
      <vt:lpstr>Calibri</vt:lpstr>
      <vt:lpstr>Cambria Math</vt:lpstr>
      <vt:lpstr>Lucida Console</vt:lpstr>
      <vt:lpstr>Monotype Sorts</vt:lpstr>
      <vt:lpstr>Wingdings</vt:lpstr>
      <vt:lpstr>Thème Office</vt:lpstr>
      <vt:lpstr>Équation</vt:lpstr>
      <vt:lpstr>Equation</vt:lpstr>
      <vt:lpstr>صورة نقطية</vt:lpstr>
      <vt:lpstr>معادلة</vt:lpstr>
      <vt:lpstr>Introduction</vt:lpstr>
      <vt:lpstr>Outlines</vt:lpstr>
      <vt:lpstr>1. Introduction</vt:lpstr>
      <vt:lpstr>Objectives</vt:lpstr>
      <vt:lpstr>Introduction</vt:lpstr>
      <vt:lpstr>PowerPoint Presentation</vt:lpstr>
      <vt:lpstr>2. Mathematical Review</vt:lpstr>
      <vt:lpstr>Exponents</vt:lpstr>
      <vt:lpstr>PowerPoint Presentation</vt:lpstr>
      <vt:lpstr>PowerPoint Presentation</vt:lpstr>
      <vt:lpstr>PowerPoint Presentation</vt:lpstr>
      <vt:lpstr>PowerPoint Presentation</vt:lpstr>
      <vt:lpstr>Recursion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Pointer and Arrays</vt:lpstr>
      <vt:lpstr>Pointer and Arrays</vt:lpstr>
      <vt:lpstr>Pointer and Arrays</vt:lpstr>
      <vt:lpstr>PowerPoint Presentation</vt:lpstr>
      <vt:lpstr>Pointer and Arrays</vt:lpstr>
      <vt:lpstr>Pointer and Arrays</vt:lpstr>
      <vt:lpstr>Pointer and Arrays</vt:lpstr>
      <vt:lpstr>Pointer and Arrays</vt:lpstr>
      <vt:lpstr>Pointer and Arrays</vt:lpstr>
      <vt:lpstr>Pointer and Arrays</vt:lpstr>
      <vt:lpstr>Pointer and Arrays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Ahmed Naghamish</dc:creator>
  <cp:lastModifiedBy>Mahmoud Hassaballah</cp:lastModifiedBy>
  <cp:revision>1263</cp:revision>
  <cp:lastPrinted>1601-01-01T00:00:00Z</cp:lastPrinted>
  <dcterms:created xsi:type="dcterms:W3CDTF">1601-01-01T00:00:00Z</dcterms:created>
  <dcterms:modified xsi:type="dcterms:W3CDTF">2023-09-02T22:30:46Z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